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Lst>
  <p:sldSz cy="6858000" cx="9906000"/>
  <p:notesSz cx="9601200" cy="7313600"/>
  <p:embeddedFontLst>
    <p:embeddedFont>
      <p:font typeface="Helvetica Neue"/>
      <p:regular r:id="rId187"/>
      <p:bold r:id="rId188"/>
      <p:italic r:id="rId189"/>
      <p:boldItalic r:id="rId1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120">
          <p15:clr>
            <a:srgbClr val="000000"/>
          </p15:clr>
        </p15:guide>
        <p15:guide id="3" orient="horz">
          <p15:clr>
            <a:srgbClr val="747775"/>
          </p15:clr>
        </p15:guide>
      </p15:sldGuideLst>
    </p:ext>
    <p:ext uri="{2D200454-40CA-4A62-9FC3-DE9A4176ACB9}">
      <p15:notesGuideLst>
        <p15:guide id="1" orient="horz" pos="2303">
          <p15:clr>
            <a:srgbClr val="000000"/>
          </p15:clr>
        </p15:guide>
        <p15:guide id="2" pos="3024">
          <p15:clr>
            <a:srgbClr val="000000"/>
          </p15:clr>
        </p15:guide>
      </p15:notesGuideLst>
    </p:ext>
    <p:ext uri="GoogleSlidesCustomDataVersion2">
      <go:slidesCustomData xmlns:go="http://customooxmlschemas.google.com/" r:id="rId191" roundtripDataSignature="AMtx7mgHgbdeoBH+HefRtEtscLy+E146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D7EECE-6296-4E87-9BD6-23A6A938FC80}">
  <a:tblStyle styleId="{ECD7EECE-6296-4E87-9BD6-23A6A938FC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 orient="horz"/>
      </p:guideLst>
    </p:cSldViewPr>
  </p:slideViewPr>
  <p:notesViewPr>
    <p:cSldViewPr snapToGrid="0">
      <p:cViewPr varScale="1">
        <p:scale>
          <a:sx n="100" d="100"/>
          <a:sy n="100" d="100"/>
        </p:scale>
        <p:origin x="0" y="0"/>
      </p:cViewPr>
      <p:guideLst>
        <p:guide pos="2303" orient="horz"/>
        <p:guide pos="302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font" Target="fonts/HelveticaNeue-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91" Type="http://customschemas.google.com/relationships/presentationmetadata" Target="metadata"/><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187" Type="http://schemas.openxmlformats.org/officeDocument/2006/relationships/font" Target="fonts/HelveticaNeue-regular.fntdata"/><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89" Type="http://schemas.openxmlformats.org/officeDocument/2006/relationships/font" Target="fonts/HelveticaNeue-italic.fntdata"/><Relationship Id="rId100" Type="http://schemas.openxmlformats.org/officeDocument/2006/relationships/slide" Target="slides/slide94.xml"/><Relationship Id="rId188" Type="http://schemas.openxmlformats.org/officeDocument/2006/relationships/font" Target="fonts/HelveticaNeue-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160837" cy="366712"/>
          </a:xfrm>
          <a:prstGeom prst="rect">
            <a:avLst/>
          </a:prstGeom>
          <a:noFill/>
          <a:ln>
            <a:noFill/>
          </a:ln>
        </p:spPr>
        <p:txBody>
          <a:bodyPr anchorCtr="0" anchor="t" bIns="48300" lIns="96625" spcFirstLastPara="1" rIns="96625" wrap="square" tIns="483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p:nvPr>
            <p:ph idx="3"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 name="Google Shape;5;n"/>
          <p:cNvSpPr txBox="1"/>
          <p:nvPr>
            <p:ph idx="1" type="body"/>
          </p:nvPr>
        </p:nvSpPr>
        <p:spPr>
          <a:xfrm>
            <a:off x="960437" y="3475037"/>
            <a:ext cx="7680325" cy="3290887"/>
          </a:xfrm>
          <a:prstGeom prst="rect">
            <a:avLst/>
          </a:prstGeom>
          <a:noFill/>
          <a:ln>
            <a:noFill/>
          </a:ln>
        </p:spPr>
        <p:txBody>
          <a:bodyPr anchorCtr="0" anchor="t" bIns="48300" lIns="96625" spcFirstLastPara="1" rIns="96625" wrap="square" tIns="483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 name="Google Shape;6;n"/>
          <p:cNvSpPr txBox="1"/>
          <p:nvPr>
            <p:ph idx="11" type="ftr"/>
          </p:nvPr>
        </p:nvSpPr>
        <p:spPr>
          <a:xfrm>
            <a:off x="0" y="6945312"/>
            <a:ext cx="4160837" cy="366712"/>
          </a:xfrm>
          <a:prstGeom prst="rect">
            <a:avLst/>
          </a:prstGeom>
          <a:noFill/>
          <a:ln>
            <a:noFill/>
          </a:ln>
        </p:spPr>
        <p:txBody>
          <a:bodyPr anchorCtr="0" anchor="b" bIns="48300" lIns="96625" spcFirstLastPara="1" rIns="96625" wrap="square" tIns="483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2" type="sldNum"/>
          </p:nvPr>
        </p:nvSpPr>
        <p:spPr>
          <a:xfrm>
            <a:off x="5438775" y="6945312"/>
            <a:ext cx="4160837" cy="366712"/>
          </a:xfrm>
          <a:prstGeom prst="rect">
            <a:avLst/>
          </a:prstGeom>
          <a:noFill/>
          <a:ln>
            <a:noFill/>
          </a:ln>
        </p:spPr>
        <p:txBody>
          <a:bodyPr anchorCtr="0" anchor="b" bIns="48300" lIns="96625" spcFirstLastPara="1" rIns="96625" wrap="square" tIns="483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9" name="Google Shape;59;p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1" name="Google Shape;71;p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7" name="Google Shape;77;p1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3" name="Google Shape;93;p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9" name="Google Shape;99;p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9" name="Google Shape;119;p1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5" name="Google Shape;125;p1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1" name="Google Shape;131;p1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7" name="Google Shape;137;p1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44" name="Google Shape;144;p1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50" name="Google Shape;150;p5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1:notes"/>
          <p:cNvSpPr txBox="1"/>
          <p:nvPr/>
        </p:nvSpPr>
        <p:spPr>
          <a:xfrm>
            <a:off x="5438775" y="0"/>
            <a:ext cx="4160700" cy="36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hung</a:t>
            </a:r>
            <a:endParaRPr/>
          </a:p>
        </p:txBody>
      </p:sp>
      <p:sp>
        <p:nvSpPr>
          <p:cNvPr id="156" name="Google Shape;156;p21:notes"/>
          <p:cNvSpPr txBox="1"/>
          <p:nvPr/>
        </p:nvSpPr>
        <p:spPr>
          <a:xfrm>
            <a:off x="5438775" y="6945312"/>
            <a:ext cx="4160700" cy="366600"/>
          </a:xfrm>
          <a:prstGeom prst="rect">
            <a:avLst/>
          </a:prstGeom>
          <a:noFill/>
          <a:ln>
            <a:noFill/>
          </a:ln>
        </p:spPr>
        <p:txBody>
          <a:bodyPr anchorCtr="0" anchor="b" bIns="48300" lIns="96625" spcFirstLastPara="1" rIns="96625" wrap="square" tIns="483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57" name="Google Shape;157;p2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21:notes"/>
          <p:cNvSpPr txBox="1"/>
          <p:nvPr>
            <p:ph idx="1" type="body"/>
          </p:nvPr>
        </p:nvSpPr>
        <p:spPr>
          <a:xfrm>
            <a:off x="960437" y="3475037"/>
            <a:ext cx="7680300" cy="3291000"/>
          </a:xfrm>
          <a:prstGeom prst="rect">
            <a:avLst/>
          </a:prstGeom>
          <a:noFill/>
          <a:ln>
            <a:noFill/>
          </a:ln>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2: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4" name="Google Shape;164;p2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3: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70" name="Google Shape;170;p2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4: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84" name="Google Shape;184;p2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1" name="Google Shape;201;p2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6: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9" name="Google Shape;219;p2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7: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6" name="Google Shape;236;p2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8: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53" name="Google Shape;253;p2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9: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64" name="Google Shape;264;p2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70" name="Google Shape;270;p3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1: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95" name="Google Shape;295;p3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2: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20" name="Google Shape;320;p3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4: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45" name="Google Shape;345;p3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3: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67" name="Google Shape;367;p3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5: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92" name="Google Shape;392;p3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6: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98" name="Google Shape;398;p3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7: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04" name="Google Shape;404;p3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8: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10" name="Google Shape;410;p3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9: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16" name="Google Shape;416;p3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23" name="Google Shape;423;p4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1: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34" name="Google Shape;434;p4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48" name="Google Shape;448;p4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59" name="Google Shape;459;p4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65" name="Google Shape;465;p4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491" name="Google Shape;491;p4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17" name="Google Shape;517;p4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43" name="Google Shape;543;p4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69" name="Google Shape;569;p4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595" name="Google Shape;595;p4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5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21" name="Google Shape;621;p5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48" name="Google Shape;648;p5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3: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56" name="Google Shape;656;p5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54: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62" name="Google Shape;662;p5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5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68" name="Google Shape;668;p5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5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82" name="Google Shape;682;p5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5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699" name="Google Shape;699;p5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5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16" name="Google Shape;716;p5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5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33" name="Google Shape;733;p5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6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50" name="Google Shape;750;p6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6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56" name="Google Shape;756;p6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6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81" name="Google Shape;781;p6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6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06" name="Google Shape;806;p6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6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31" name="Google Shape;831;p6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6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56" name="Google Shape;856;p6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6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81" name="Google Shape;881;p6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6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06" name="Google Shape;906;p6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6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32" name="Google Shape;932;p6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7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39" name="Google Shape;939;p7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7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45" name="Google Shape;945;p7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72: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51" name="Google Shape;951;p7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7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57" name="Google Shape;957;p7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7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63" name="Google Shape;963;p7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7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69" name="Google Shape;969;p7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7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81" name="Google Shape;981;p7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7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95" name="Google Shape;995;p7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7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006" name="Google Shape;1006;p7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8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012" name="Google Shape;1012;p8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8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034" name="Google Shape;1034;p8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8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061" name="Google Shape;1061;p8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8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088" name="Google Shape;1088;p8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8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15" name="Google Shape;1115;p8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8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42" name="Google Shape;1142;p8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8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69" name="Google Shape;1169;p8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8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96" name="Google Shape;1196;p8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8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23" name="Google Shape;1223;p8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p8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46" name="Google Shape;1246;p8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9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52" name="Google Shape;1252;p9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91: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58" name="Google Shape;1258;p9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92: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64" name="Google Shape;1264;p9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9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70" name="Google Shape;1270;p9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9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76" name="Google Shape;1276;p9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p9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82" name="Google Shape;1282;p9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9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88" name="Google Shape;1288;p9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9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294" name="Google Shape;1294;p9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9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00" name="Google Shape;1300;p9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9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06" name="Google Shape;1306;p9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p10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12" name="Google Shape;1312;p10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10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19" name="Google Shape;1319;p10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10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26" name="Google Shape;1326;p10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0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33" name="Google Shape;1333;p10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p10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39" name="Google Shape;1339;p10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p10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45" name="Google Shape;1345;p10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10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72" name="Google Shape;1372;p10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10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397" name="Google Shape;1397;p10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10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424" name="Google Shape;1424;p10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p10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452" name="Google Shape;1452;p10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p11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476" name="Google Shape;1476;p11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11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505" name="Google Shape;1505;p11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11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539" name="Google Shape;1539;p11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p11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563" name="Google Shape;1563;p11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p11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569" name="Google Shape;1569;p11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p11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575" name="Google Shape;1575;p11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p11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06" name="Google Shape;1606;p11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0" name="Shape 1610"/>
        <p:cNvGrpSpPr/>
        <p:nvPr/>
      </p:nvGrpSpPr>
      <p:grpSpPr>
        <a:xfrm>
          <a:off x="0" y="0"/>
          <a:ext cx="0" cy="0"/>
          <a:chOff x="0" y="0"/>
          <a:chExt cx="0" cy="0"/>
        </a:xfrm>
      </p:grpSpPr>
      <p:sp>
        <p:nvSpPr>
          <p:cNvPr id="1611" name="Google Shape;1611;p11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12" name="Google Shape;1612;p11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p11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18" name="Google Shape;1618;p11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2d02ef7b72f_1_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2d02ef7b72f_1_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48" name="Google Shape;1648;g2d02ef7b72f_1_0:notes"/>
          <p:cNvSpPr txBox="1"/>
          <p:nvPr>
            <p:ph idx="12" type="sldNum"/>
          </p:nvPr>
        </p:nvSpPr>
        <p:spPr>
          <a:xfrm>
            <a:off x="5438775" y="6945312"/>
            <a:ext cx="4160700" cy="366600"/>
          </a:xfrm>
          <a:prstGeom prst="rect">
            <a:avLst/>
          </a:prstGeom>
        </p:spPr>
        <p:txBody>
          <a:bodyPr anchorCtr="0" anchor="b" bIns="48300" lIns="96625" spcFirstLastPara="1" rIns="96625" wrap="square" tIns="483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p11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54" name="Google Shape;1654;p11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12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701" name="Google Shape;1701;p12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6" name="Shape 1746"/>
        <p:cNvGrpSpPr/>
        <p:nvPr/>
      </p:nvGrpSpPr>
      <p:grpSpPr>
        <a:xfrm>
          <a:off x="0" y="0"/>
          <a:ext cx="0" cy="0"/>
          <a:chOff x="0" y="0"/>
          <a:chExt cx="0" cy="0"/>
        </a:xfrm>
      </p:grpSpPr>
      <p:sp>
        <p:nvSpPr>
          <p:cNvPr id="1747" name="Google Shape;1747;p12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748" name="Google Shape;1748;p12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p12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808" name="Google Shape;1808;p12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p12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856" name="Google Shape;1856;p12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p12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901" name="Google Shape;1901;p12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p12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946" name="Google Shape;1946;p12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2" name="Shape 2002"/>
        <p:cNvGrpSpPr/>
        <p:nvPr/>
      </p:nvGrpSpPr>
      <p:grpSpPr>
        <a:xfrm>
          <a:off x="0" y="0"/>
          <a:ext cx="0" cy="0"/>
          <a:chOff x="0" y="0"/>
          <a:chExt cx="0" cy="0"/>
        </a:xfrm>
      </p:grpSpPr>
      <p:sp>
        <p:nvSpPr>
          <p:cNvPr id="2003" name="Google Shape;2003;p12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04" name="Google Shape;2004;p12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p12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10" name="Google Shape;2010;p12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p12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16" name="Google Shape;2016;p12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p12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22" name="Google Shape;2022;p12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p13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28" name="Google Shape;2028;p13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p13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34" name="Google Shape;2034;p13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8" name="Shape 2038"/>
        <p:cNvGrpSpPr/>
        <p:nvPr/>
      </p:nvGrpSpPr>
      <p:grpSpPr>
        <a:xfrm>
          <a:off x="0" y="0"/>
          <a:ext cx="0" cy="0"/>
          <a:chOff x="0" y="0"/>
          <a:chExt cx="0" cy="0"/>
        </a:xfrm>
      </p:grpSpPr>
      <p:sp>
        <p:nvSpPr>
          <p:cNvPr id="2039" name="Google Shape;2039;p13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40" name="Google Shape;2040;p13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8" name="Shape 2048"/>
        <p:cNvGrpSpPr/>
        <p:nvPr/>
      </p:nvGrpSpPr>
      <p:grpSpPr>
        <a:xfrm>
          <a:off x="0" y="0"/>
          <a:ext cx="0" cy="0"/>
          <a:chOff x="0" y="0"/>
          <a:chExt cx="0" cy="0"/>
        </a:xfrm>
      </p:grpSpPr>
      <p:sp>
        <p:nvSpPr>
          <p:cNvPr id="2049" name="Google Shape;2049;p13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50" name="Google Shape;2050;p13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8" name="Shape 2058"/>
        <p:cNvGrpSpPr/>
        <p:nvPr/>
      </p:nvGrpSpPr>
      <p:grpSpPr>
        <a:xfrm>
          <a:off x="0" y="0"/>
          <a:ext cx="0" cy="0"/>
          <a:chOff x="0" y="0"/>
          <a:chExt cx="0" cy="0"/>
        </a:xfrm>
      </p:grpSpPr>
      <p:sp>
        <p:nvSpPr>
          <p:cNvPr id="2059" name="Google Shape;2059;p13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60" name="Google Shape;2060;p13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8" name="Shape 2068"/>
        <p:cNvGrpSpPr/>
        <p:nvPr/>
      </p:nvGrpSpPr>
      <p:grpSpPr>
        <a:xfrm>
          <a:off x="0" y="0"/>
          <a:ext cx="0" cy="0"/>
          <a:chOff x="0" y="0"/>
          <a:chExt cx="0" cy="0"/>
        </a:xfrm>
      </p:grpSpPr>
      <p:sp>
        <p:nvSpPr>
          <p:cNvPr id="2069" name="Google Shape;2069;p13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70" name="Google Shape;2070;p13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p13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76" name="Google Shape;2076;p13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p13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97" name="Google Shape;2097;p13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p13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03" name="Google Shape;2103;p13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p13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14" name="Google Shape;2114;p13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4" name="Shape 2124"/>
        <p:cNvGrpSpPr/>
        <p:nvPr/>
      </p:nvGrpSpPr>
      <p:grpSpPr>
        <a:xfrm>
          <a:off x="0" y="0"/>
          <a:ext cx="0" cy="0"/>
          <a:chOff x="0" y="0"/>
          <a:chExt cx="0" cy="0"/>
        </a:xfrm>
      </p:grpSpPr>
      <p:sp>
        <p:nvSpPr>
          <p:cNvPr id="2125" name="Google Shape;2125;p14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26" name="Google Shape;2126;p14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p14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37" name="Google Shape;2137;p14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p14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49" name="Google Shape;2149;p14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3" name="Shape 2153"/>
        <p:cNvGrpSpPr/>
        <p:nvPr/>
      </p:nvGrpSpPr>
      <p:grpSpPr>
        <a:xfrm>
          <a:off x="0" y="0"/>
          <a:ext cx="0" cy="0"/>
          <a:chOff x="0" y="0"/>
          <a:chExt cx="0" cy="0"/>
        </a:xfrm>
      </p:grpSpPr>
      <p:sp>
        <p:nvSpPr>
          <p:cNvPr id="2154" name="Google Shape;2154;p14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55" name="Google Shape;2155;p14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p14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196" name="Google Shape;2196;p14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4" name="Shape 2234"/>
        <p:cNvGrpSpPr/>
        <p:nvPr/>
      </p:nvGrpSpPr>
      <p:grpSpPr>
        <a:xfrm>
          <a:off x="0" y="0"/>
          <a:ext cx="0" cy="0"/>
          <a:chOff x="0" y="0"/>
          <a:chExt cx="0" cy="0"/>
        </a:xfrm>
      </p:grpSpPr>
      <p:sp>
        <p:nvSpPr>
          <p:cNvPr id="2235" name="Google Shape;2235;p14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236" name="Google Shape;2236;p14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p14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267" name="Google Shape;2267;p14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7" name="Shape 2307"/>
        <p:cNvGrpSpPr/>
        <p:nvPr/>
      </p:nvGrpSpPr>
      <p:grpSpPr>
        <a:xfrm>
          <a:off x="0" y="0"/>
          <a:ext cx="0" cy="0"/>
          <a:chOff x="0" y="0"/>
          <a:chExt cx="0" cy="0"/>
        </a:xfrm>
      </p:grpSpPr>
      <p:sp>
        <p:nvSpPr>
          <p:cNvPr id="2308" name="Google Shape;2308;p14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09" name="Google Shape;2309;p14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9" name="Shape 2339"/>
        <p:cNvGrpSpPr/>
        <p:nvPr/>
      </p:nvGrpSpPr>
      <p:grpSpPr>
        <a:xfrm>
          <a:off x="0" y="0"/>
          <a:ext cx="0" cy="0"/>
          <a:chOff x="0" y="0"/>
          <a:chExt cx="0" cy="0"/>
        </a:xfrm>
      </p:grpSpPr>
      <p:sp>
        <p:nvSpPr>
          <p:cNvPr id="2340" name="Google Shape;2340;p14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41" name="Google Shape;2341;p14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5" name="Shape 2345"/>
        <p:cNvGrpSpPr/>
        <p:nvPr/>
      </p:nvGrpSpPr>
      <p:grpSpPr>
        <a:xfrm>
          <a:off x="0" y="0"/>
          <a:ext cx="0" cy="0"/>
          <a:chOff x="0" y="0"/>
          <a:chExt cx="0" cy="0"/>
        </a:xfrm>
      </p:grpSpPr>
      <p:sp>
        <p:nvSpPr>
          <p:cNvPr id="2346" name="Google Shape;2346;p14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47" name="Google Shape;2347;p14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1" name="Shape 2351"/>
        <p:cNvGrpSpPr/>
        <p:nvPr/>
      </p:nvGrpSpPr>
      <p:grpSpPr>
        <a:xfrm>
          <a:off x="0" y="0"/>
          <a:ext cx="0" cy="0"/>
          <a:chOff x="0" y="0"/>
          <a:chExt cx="0" cy="0"/>
        </a:xfrm>
      </p:grpSpPr>
      <p:sp>
        <p:nvSpPr>
          <p:cNvPr id="2352" name="Google Shape;2352;p15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53" name="Google Shape;2353;p15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7" name="Shape 2357"/>
        <p:cNvGrpSpPr/>
        <p:nvPr/>
      </p:nvGrpSpPr>
      <p:grpSpPr>
        <a:xfrm>
          <a:off x="0" y="0"/>
          <a:ext cx="0" cy="0"/>
          <a:chOff x="0" y="0"/>
          <a:chExt cx="0" cy="0"/>
        </a:xfrm>
      </p:grpSpPr>
      <p:sp>
        <p:nvSpPr>
          <p:cNvPr id="2358" name="Google Shape;2358;p15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59" name="Google Shape;2359;p15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3" name="Shape 2363"/>
        <p:cNvGrpSpPr/>
        <p:nvPr/>
      </p:nvGrpSpPr>
      <p:grpSpPr>
        <a:xfrm>
          <a:off x="0" y="0"/>
          <a:ext cx="0" cy="0"/>
          <a:chOff x="0" y="0"/>
          <a:chExt cx="0" cy="0"/>
        </a:xfrm>
      </p:grpSpPr>
      <p:sp>
        <p:nvSpPr>
          <p:cNvPr id="2364" name="Google Shape;2364;p15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65" name="Google Shape;2365;p15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p15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75" name="Google Shape;2375;p15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9" name="Shape 2379"/>
        <p:cNvGrpSpPr/>
        <p:nvPr/>
      </p:nvGrpSpPr>
      <p:grpSpPr>
        <a:xfrm>
          <a:off x="0" y="0"/>
          <a:ext cx="0" cy="0"/>
          <a:chOff x="0" y="0"/>
          <a:chExt cx="0" cy="0"/>
        </a:xfrm>
      </p:grpSpPr>
      <p:sp>
        <p:nvSpPr>
          <p:cNvPr id="2380" name="Google Shape;2380;p15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81" name="Google Shape;2381;p15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5" name="Shape 2385"/>
        <p:cNvGrpSpPr/>
        <p:nvPr/>
      </p:nvGrpSpPr>
      <p:grpSpPr>
        <a:xfrm>
          <a:off x="0" y="0"/>
          <a:ext cx="0" cy="0"/>
          <a:chOff x="0" y="0"/>
          <a:chExt cx="0" cy="0"/>
        </a:xfrm>
      </p:grpSpPr>
      <p:sp>
        <p:nvSpPr>
          <p:cNvPr id="2386" name="Google Shape;2386;p15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87" name="Google Shape;2387;p15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p15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93" name="Google Shape;2393;p15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8" name="Shape 2398"/>
        <p:cNvGrpSpPr/>
        <p:nvPr/>
      </p:nvGrpSpPr>
      <p:grpSpPr>
        <a:xfrm>
          <a:off x="0" y="0"/>
          <a:ext cx="0" cy="0"/>
          <a:chOff x="0" y="0"/>
          <a:chExt cx="0" cy="0"/>
        </a:xfrm>
      </p:grpSpPr>
      <p:sp>
        <p:nvSpPr>
          <p:cNvPr id="2399" name="Google Shape;2399;p15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400" name="Google Shape;2400;p15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1" name="Shape 2541"/>
        <p:cNvGrpSpPr/>
        <p:nvPr/>
      </p:nvGrpSpPr>
      <p:grpSpPr>
        <a:xfrm>
          <a:off x="0" y="0"/>
          <a:ext cx="0" cy="0"/>
          <a:chOff x="0" y="0"/>
          <a:chExt cx="0" cy="0"/>
        </a:xfrm>
      </p:grpSpPr>
      <p:sp>
        <p:nvSpPr>
          <p:cNvPr id="2542" name="Google Shape;2542;p15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543" name="Google Shape;2543;p15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4" name="Shape 2774"/>
        <p:cNvGrpSpPr/>
        <p:nvPr/>
      </p:nvGrpSpPr>
      <p:grpSpPr>
        <a:xfrm>
          <a:off x="0" y="0"/>
          <a:ext cx="0" cy="0"/>
          <a:chOff x="0" y="0"/>
          <a:chExt cx="0" cy="0"/>
        </a:xfrm>
      </p:grpSpPr>
      <p:sp>
        <p:nvSpPr>
          <p:cNvPr id="2775" name="Google Shape;2775;p159:notes"/>
          <p:cNvSpPr txBox="1"/>
          <p:nvPr/>
        </p:nvSpPr>
        <p:spPr>
          <a:xfrm>
            <a:off x="5438775" y="0"/>
            <a:ext cx="4160837"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hung</a:t>
            </a:r>
            <a:endParaRPr/>
          </a:p>
        </p:txBody>
      </p:sp>
      <p:sp>
        <p:nvSpPr>
          <p:cNvPr id="2776" name="Google Shape;2776;p159:notes"/>
          <p:cNvSpPr txBox="1"/>
          <p:nvPr/>
        </p:nvSpPr>
        <p:spPr>
          <a:xfrm>
            <a:off x="5438775" y="6945312"/>
            <a:ext cx="4160837" cy="366712"/>
          </a:xfrm>
          <a:prstGeom prst="rect">
            <a:avLst/>
          </a:prstGeom>
          <a:noFill/>
          <a:ln>
            <a:noFill/>
          </a:ln>
        </p:spPr>
        <p:txBody>
          <a:bodyPr anchorCtr="0" anchor="b" bIns="48300" lIns="96625" spcFirstLastPara="1" rIns="96625" wrap="square" tIns="483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777" name="Google Shape;2777;p159:notes"/>
          <p:cNvSpPr/>
          <p:nvPr>
            <p:ph idx="2" type="sldImg"/>
          </p:nvPr>
        </p:nvSpPr>
        <p:spPr>
          <a:xfrm>
            <a:off x="2822575" y="549275"/>
            <a:ext cx="3957637" cy="27416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8" name="Google Shape;2778;p159:notes"/>
          <p:cNvSpPr txBox="1"/>
          <p:nvPr>
            <p:ph idx="1" type="body"/>
          </p:nvPr>
        </p:nvSpPr>
        <p:spPr>
          <a:xfrm>
            <a:off x="1281112" y="3473450"/>
            <a:ext cx="7038975" cy="3290887"/>
          </a:xfrm>
          <a:prstGeom prst="rect">
            <a:avLst/>
          </a:prstGeom>
          <a:noFill/>
          <a:ln>
            <a:noFill/>
          </a:ln>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3" name="Shape 2783"/>
        <p:cNvGrpSpPr/>
        <p:nvPr/>
      </p:nvGrpSpPr>
      <p:grpSpPr>
        <a:xfrm>
          <a:off x="0" y="0"/>
          <a:ext cx="0" cy="0"/>
          <a:chOff x="0" y="0"/>
          <a:chExt cx="0" cy="0"/>
        </a:xfrm>
      </p:grpSpPr>
      <p:sp>
        <p:nvSpPr>
          <p:cNvPr id="2784" name="Google Shape;2784;p16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785" name="Google Shape;2785;p16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9" name="Shape 2789"/>
        <p:cNvGrpSpPr/>
        <p:nvPr/>
      </p:nvGrpSpPr>
      <p:grpSpPr>
        <a:xfrm>
          <a:off x="0" y="0"/>
          <a:ext cx="0" cy="0"/>
          <a:chOff x="0" y="0"/>
          <a:chExt cx="0" cy="0"/>
        </a:xfrm>
      </p:grpSpPr>
      <p:sp>
        <p:nvSpPr>
          <p:cNvPr id="2790" name="Google Shape;2790;p16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791" name="Google Shape;2791;p16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5" name="Shape 2795"/>
        <p:cNvGrpSpPr/>
        <p:nvPr/>
      </p:nvGrpSpPr>
      <p:grpSpPr>
        <a:xfrm>
          <a:off x="0" y="0"/>
          <a:ext cx="0" cy="0"/>
          <a:chOff x="0" y="0"/>
          <a:chExt cx="0" cy="0"/>
        </a:xfrm>
      </p:grpSpPr>
      <p:sp>
        <p:nvSpPr>
          <p:cNvPr id="2796" name="Google Shape;2796;p16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797" name="Google Shape;2797;p16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9" name="Shape 2819"/>
        <p:cNvGrpSpPr/>
        <p:nvPr/>
      </p:nvGrpSpPr>
      <p:grpSpPr>
        <a:xfrm>
          <a:off x="0" y="0"/>
          <a:ext cx="0" cy="0"/>
          <a:chOff x="0" y="0"/>
          <a:chExt cx="0" cy="0"/>
        </a:xfrm>
      </p:grpSpPr>
      <p:sp>
        <p:nvSpPr>
          <p:cNvPr id="2820" name="Google Shape;2820;p16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821" name="Google Shape;2821;p16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3" name="Shape 2843"/>
        <p:cNvGrpSpPr/>
        <p:nvPr/>
      </p:nvGrpSpPr>
      <p:grpSpPr>
        <a:xfrm>
          <a:off x="0" y="0"/>
          <a:ext cx="0" cy="0"/>
          <a:chOff x="0" y="0"/>
          <a:chExt cx="0" cy="0"/>
        </a:xfrm>
      </p:grpSpPr>
      <p:sp>
        <p:nvSpPr>
          <p:cNvPr id="2844" name="Google Shape;2844;p16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845" name="Google Shape;2845;p16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7" name="Shape 2867"/>
        <p:cNvGrpSpPr/>
        <p:nvPr/>
      </p:nvGrpSpPr>
      <p:grpSpPr>
        <a:xfrm>
          <a:off x="0" y="0"/>
          <a:ext cx="0" cy="0"/>
          <a:chOff x="0" y="0"/>
          <a:chExt cx="0" cy="0"/>
        </a:xfrm>
      </p:grpSpPr>
      <p:sp>
        <p:nvSpPr>
          <p:cNvPr id="2868" name="Google Shape;2868;p16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869" name="Google Shape;2869;p16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1" name="Shape 2891"/>
        <p:cNvGrpSpPr/>
        <p:nvPr/>
      </p:nvGrpSpPr>
      <p:grpSpPr>
        <a:xfrm>
          <a:off x="0" y="0"/>
          <a:ext cx="0" cy="0"/>
          <a:chOff x="0" y="0"/>
          <a:chExt cx="0" cy="0"/>
        </a:xfrm>
      </p:grpSpPr>
      <p:sp>
        <p:nvSpPr>
          <p:cNvPr id="2892" name="Google Shape;2892;p16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893" name="Google Shape;2893;p16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5" name="Shape 2915"/>
        <p:cNvGrpSpPr/>
        <p:nvPr/>
      </p:nvGrpSpPr>
      <p:grpSpPr>
        <a:xfrm>
          <a:off x="0" y="0"/>
          <a:ext cx="0" cy="0"/>
          <a:chOff x="0" y="0"/>
          <a:chExt cx="0" cy="0"/>
        </a:xfrm>
      </p:grpSpPr>
      <p:sp>
        <p:nvSpPr>
          <p:cNvPr id="2916" name="Google Shape;2916;p16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917" name="Google Shape;2917;p16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9" name="Shape 2939"/>
        <p:cNvGrpSpPr/>
        <p:nvPr/>
      </p:nvGrpSpPr>
      <p:grpSpPr>
        <a:xfrm>
          <a:off x="0" y="0"/>
          <a:ext cx="0" cy="0"/>
          <a:chOff x="0" y="0"/>
          <a:chExt cx="0" cy="0"/>
        </a:xfrm>
      </p:grpSpPr>
      <p:sp>
        <p:nvSpPr>
          <p:cNvPr id="2940" name="Google Shape;2940;p16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941" name="Google Shape;2941;p16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3" name="Shape 2963"/>
        <p:cNvGrpSpPr/>
        <p:nvPr/>
      </p:nvGrpSpPr>
      <p:grpSpPr>
        <a:xfrm>
          <a:off x="0" y="0"/>
          <a:ext cx="0" cy="0"/>
          <a:chOff x="0" y="0"/>
          <a:chExt cx="0" cy="0"/>
        </a:xfrm>
      </p:grpSpPr>
      <p:sp>
        <p:nvSpPr>
          <p:cNvPr id="2964" name="Google Shape;2964;p16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965" name="Google Shape;2965;p16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7" name="Shape 2987"/>
        <p:cNvGrpSpPr/>
        <p:nvPr/>
      </p:nvGrpSpPr>
      <p:grpSpPr>
        <a:xfrm>
          <a:off x="0" y="0"/>
          <a:ext cx="0" cy="0"/>
          <a:chOff x="0" y="0"/>
          <a:chExt cx="0" cy="0"/>
        </a:xfrm>
      </p:grpSpPr>
      <p:sp>
        <p:nvSpPr>
          <p:cNvPr id="2988" name="Google Shape;2988;p17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989" name="Google Shape;2989;p17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1" name="Shape 3011"/>
        <p:cNvGrpSpPr/>
        <p:nvPr/>
      </p:nvGrpSpPr>
      <p:grpSpPr>
        <a:xfrm>
          <a:off x="0" y="0"/>
          <a:ext cx="0" cy="0"/>
          <a:chOff x="0" y="0"/>
          <a:chExt cx="0" cy="0"/>
        </a:xfrm>
      </p:grpSpPr>
      <p:sp>
        <p:nvSpPr>
          <p:cNvPr id="3012" name="Google Shape;3012;p17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013" name="Google Shape;3013;p17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5" name="Shape 3035"/>
        <p:cNvGrpSpPr/>
        <p:nvPr/>
      </p:nvGrpSpPr>
      <p:grpSpPr>
        <a:xfrm>
          <a:off x="0" y="0"/>
          <a:ext cx="0" cy="0"/>
          <a:chOff x="0" y="0"/>
          <a:chExt cx="0" cy="0"/>
        </a:xfrm>
      </p:grpSpPr>
      <p:sp>
        <p:nvSpPr>
          <p:cNvPr id="3036" name="Google Shape;3036;p17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037" name="Google Shape;3037;p17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2" name="Shape 3062"/>
        <p:cNvGrpSpPr/>
        <p:nvPr/>
      </p:nvGrpSpPr>
      <p:grpSpPr>
        <a:xfrm>
          <a:off x="0" y="0"/>
          <a:ext cx="0" cy="0"/>
          <a:chOff x="0" y="0"/>
          <a:chExt cx="0" cy="0"/>
        </a:xfrm>
      </p:grpSpPr>
      <p:sp>
        <p:nvSpPr>
          <p:cNvPr id="3063" name="Google Shape;3063;p17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064" name="Google Shape;3064;p17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6" name="Shape 3086"/>
        <p:cNvGrpSpPr/>
        <p:nvPr/>
      </p:nvGrpSpPr>
      <p:grpSpPr>
        <a:xfrm>
          <a:off x="0" y="0"/>
          <a:ext cx="0" cy="0"/>
          <a:chOff x="0" y="0"/>
          <a:chExt cx="0" cy="0"/>
        </a:xfrm>
      </p:grpSpPr>
      <p:sp>
        <p:nvSpPr>
          <p:cNvPr id="3087" name="Google Shape;3087;p17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088" name="Google Shape;3088;p17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2" name="Shape 3092"/>
        <p:cNvGrpSpPr/>
        <p:nvPr/>
      </p:nvGrpSpPr>
      <p:grpSpPr>
        <a:xfrm>
          <a:off x="0" y="0"/>
          <a:ext cx="0" cy="0"/>
          <a:chOff x="0" y="0"/>
          <a:chExt cx="0" cy="0"/>
        </a:xfrm>
      </p:grpSpPr>
      <p:sp>
        <p:nvSpPr>
          <p:cNvPr id="3093" name="Google Shape;3093;p17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094" name="Google Shape;3094;p17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8" name="Shape 3098"/>
        <p:cNvGrpSpPr/>
        <p:nvPr/>
      </p:nvGrpSpPr>
      <p:grpSpPr>
        <a:xfrm>
          <a:off x="0" y="0"/>
          <a:ext cx="0" cy="0"/>
          <a:chOff x="0" y="0"/>
          <a:chExt cx="0" cy="0"/>
        </a:xfrm>
      </p:grpSpPr>
      <p:sp>
        <p:nvSpPr>
          <p:cNvPr id="3099" name="Google Shape;3099;p17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00" name="Google Shape;3100;p17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4" name="Shape 3104"/>
        <p:cNvGrpSpPr/>
        <p:nvPr/>
      </p:nvGrpSpPr>
      <p:grpSpPr>
        <a:xfrm>
          <a:off x="0" y="0"/>
          <a:ext cx="0" cy="0"/>
          <a:chOff x="0" y="0"/>
          <a:chExt cx="0" cy="0"/>
        </a:xfrm>
      </p:grpSpPr>
      <p:sp>
        <p:nvSpPr>
          <p:cNvPr id="3105" name="Google Shape;3105;p17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06" name="Google Shape;3106;p17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0" name="Shape 3110"/>
        <p:cNvGrpSpPr/>
        <p:nvPr/>
      </p:nvGrpSpPr>
      <p:grpSpPr>
        <a:xfrm>
          <a:off x="0" y="0"/>
          <a:ext cx="0" cy="0"/>
          <a:chOff x="0" y="0"/>
          <a:chExt cx="0" cy="0"/>
        </a:xfrm>
      </p:grpSpPr>
      <p:sp>
        <p:nvSpPr>
          <p:cNvPr id="3111" name="Google Shape;3111;p17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12" name="Google Shape;3112;p17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6" name="Shape 3116"/>
        <p:cNvGrpSpPr/>
        <p:nvPr/>
      </p:nvGrpSpPr>
      <p:grpSpPr>
        <a:xfrm>
          <a:off x="0" y="0"/>
          <a:ext cx="0" cy="0"/>
          <a:chOff x="0" y="0"/>
          <a:chExt cx="0" cy="0"/>
        </a:xfrm>
      </p:grpSpPr>
      <p:sp>
        <p:nvSpPr>
          <p:cNvPr id="3117" name="Google Shape;3117;p17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18" name="Google Shape;3118;p17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2" name="Shape 3122"/>
        <p:cNvGrpSpPr/>
        <p:nvPr/>
      </p:nvGrpSpPr>
      <p:grpSpPr>
        <a:xfrm>
          <a:off x="0" y="0"/>
          <a:ext cx="0" cy="0"/>
          <a:chOff x="0" y="0"/>
          <a:chExt cx="0" cy="0"/>
        </a:xfrm>
      </p:grpSpPr>
      <p:sp>
        <p:nvSpPr>
          <p:cNvPr id="3123" name="Google Shape;3123;p18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24" name="Google Shape;3124;p18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8" name="Shape 3128"/>
        <p:cNvGrpSpPr/>
        <p:nvPr/>
      </p:nvGrpSpPr>
      <p:grpSpPr>
        <a:xfrm>
          <a:off x="0" y="0"/>
          <a:ext cx="0" cy="0"/>
          <a:chOff x="0" y="0"/>
          <a:chExt cx="0" cy="0"/>
        </a:xfrm>
      </p:grpSpPr>
      <p:sp>
        <p:nvSpPr>
          <p:cNvPr id="3129" name="Google Shape;3129;p18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30" name="Google Shape;3130;p18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4" name="Shape 3134"/>
        <p:cNvGrpSpPr/>
        <p:nvPr/>
      </p:nvGrpSpPr>
      <p:grpSpPr>
        <a:xfrm>
          <a:off x="0" y="0"/>
          <a:ext cx="0" cy="0"/>
          <a:chOff x="0" y="0"/>
          <a:chExt cx="0" cy="0"/>
        </a:xfrm>
      </p:grpSpPr>
      <p:sp>
        <p:nvSpPr>
          <p:cNvPr id="3135" name="Google Shape;3135;p18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36" name="Google Shape;3136;p18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0" name="Shape 3140"/>
        <p:cNvGrpSpPr/>
        <p:nvPr/>
      </p:nvGrpSpPr>
      <p:grpSpPr>
        <a:xfrm>
          <a:off x="0" y="0"/>
          <a:ext cx="0" cy="0"/>
          <a:chOff x="0" y="0"/>
          <a:chExt cx="0" cy="0"/>
        </a:xfrm>
      </p:grpSpPr>
      <p:sp>
        <p:nvSpPr>
          <p:cNvPr id="3141" name="Google Shape;3141;p18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42" name="Google Shape;3142;p18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6" name="Shape 3146"/>
        <p:cNvGrpSpPr/>
        <p:nvPr/>
      </p:nvGrpSpPr>
      <p:grpSpPr>
        <a:xfrm>
          <a:off x="0" y="0"/>
          <a:ext cx="0" cy="0"/>
          <a:chOff x="0" y="0"/>
          <a:chExt cx="0" cy="0"/>
        </a:xfrm>
      </p:grpSpPr>
      <p:sp>
        <p:nvSpPr>
          <p:cNvPr id="3147" name="Google Shape;3147;p18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48" name="Google Shape;3148;p18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2" name="Shape 3152"/>
        <p:cNvGrpSpPr/>
        <p:nvPr/>
      </p:nvGrpSpPr>
      <p:grpSpPr>
        <a:xfrm>
          <a:off x="0" y="0"/>
          <a:ext cx="0" cy="0"/>
          <a:chOff x="0" y="0"/>
          <a:chExt cx="0" cy="0"/>
        </a:xfrm>
      </p:grpSpPr>
      <p:sp>
        <p:nvSpPr>
          <p:cNvPr id="3153" name="Google Shape;3153;p18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54" name="Google Shape;3154;p18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8" name="Shape 3158"/>
        <p:cNvGrpSpPr/>
        <p:nvPr/>
      </p:nvGrpSpPr>
      <p:grpSpPr>
        <a:xfrm>
          <a:off x="0" y="0"/>
          <a:ext cx="0" cy="0"/>
          <a:chOff x="0" y="0"/>
          <a:chExt cx="0" cy="0"/>
        </a:xfrm>
      </p:grpSpPr>
      <p:sp>
        <p:nvSpPr>
          <p:cNvPr id="3159" name="Google Shape;3159;p18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60" name="Google Shape;3160;p18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4" name="Shape 3164"/>
        <p:cNvGrpSpPr/>
        <p:nvPr/>
      </p:nvGrpSpPr>
      <p:grpSpPr>
        <a:xfrm>
          <a:off x="0" y="0"/>
          <a:ext cx="0" cy="0"/>
          <a:chOff x="0" y="0"/>
          <a:chExt cx="0" cy="0"/>
        </a:xfrm>
      </p:grpSpPr>
      <p:sp>
        <p:nvSpPr>
          <p:cNvPr id="3165" name="Google Shape;3165;p18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66" name="Google Shape;3166;p18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0" name="Shape 3170"/>
        <p:cNvGrpSpPr/>
        <p:nvPr/>
      </p:nvGrpSpPr>
      <p:grpSpPr>
        <a:xfrm>
          <a:off x="0" y="0"/>
          <a:ext cx="0" cy="0"/>
          <a:chOff x="0" y="0"/>
          <a:chExt cx="0" cy="0"/>
        </a:xfrm>
      </p:grpSpPr>
      <p:sp>
        <p:nvSpPr>
          <p:cNvPr id="3171" name="Google Shape;3171;p18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72" name="Google Shape;3172;p18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6" name="Shape 3176"/>
        <p:cNvGrpSpPr/>
        <p:nvPr/>
      </p:nvGrpSpPr>
      <p:grpSpPr>
        <a:xfrm>
          <a:off x="0" y="0"/>
          <a:ext cx="0" cy="0"/>
          <a:chOff x="0" y="0"/>
          <a:chExt cx="0" cy="0"/>
        </a:xfrm>
      </p:grpSpPr>
      <p:sp>
        <p:nvSpPr>
          <p:cNvPr id="3177" name="Google Shape;3177;p18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78" name="Google Shape;3178;p18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91"/>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1"/>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0" name="Shape 20"/>
        <p:cNvGrpSpPr/>
        <p:nvPr/>
      </p:nvGrpSpPr>
      <p:grpSpPr>
        <a:xfrm>
          <a:off x="0" y="0"/>
          <a:ext cx="0" cy="0"/>
          <a:chOff x="0" y="0"/>
          <a:chExt cx="0" cy="0"/>
        </a:xfrm>
      </p:grpSpPr>
      <p:sp>
        <p:nvSpPr>
          <p:cNvPr id="21" name="Google Shape;21;p192"/>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92"/>
          <p:cNvSpPr txBox="1"/>
          <p:nvPr>
            <p:ph idx="1" type="body"/>
          </p:nvPr>
        </p:nvSpPr>
        <p:spPr>
          <a:xfrm>
            <a:off x="992188" y="981075"/>
            <a:ext cx="4208462"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 name="Google Shape;23;p192"/>
          <p:cNvSpPr txBox="1"/>
          <p:nvPr>
            <p:ph idx="2" type="body"/>
          </p:nvPr>
        </p:nvSpPr>
        <p:spPr>
          <a:xfrm>
            <a:off x="5353050" y="981075"/>
            <a:ext cx="4208463" cy="55435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193"/>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195"/>
          <p:cNvSpPr txBox="1"/>
          <p:nvPr>
            <p:ph type="title"/>
          </p:nvPr>
        </p:nvSpPr>
        <p:spPr>
          <a:xfrm rot="5400000">
            <a:off x="5385594" y="2204244"/>
            <a:ext cx="6445250" cy="21955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5"/>
          <p:cNvSpPr txBox="1"/>
          <p:nvPr>
            <p:ph idx="1" type="body"/>
          </p:nvPr>
        </p:nvSpPr>
        <p:spPr>
          <a:xfrm rot="5400000">
            <a:off x="916781" y="83344"/>
            <a:ext cx="6445250" cy="643731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 name="Shape 30"/>
        <p:cNvGrpSpPr/>
        <p:nvPr/>
      </p:nvGrpSpPr>
      <p:grpSpPr>
        <a:xfrm>
          <a:off x="0" y="0"/>
          <a:ext cx="0" cy="0"/>
          <a:chOff x="0" y="0"/>
          <a:chExt cx="0" cy="0"/>
        </a:xfrm>
      </p:grpSpPr>
      <p:sp>
        <p:nvSpPr>
          <p:cNvPr id="31" name="Google Shape;31;p196"/>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6"/>
          <p:cNvSpPr txBox="1"/>
          <p:nvPr>
            <p:ph idx="1" type="body"/>
          </p:nvPr>
        </p:nvSpPr>
        <p:spPr>
          <a:xfrm rot="5400000">
            <a:off x="2505074" y="-531812"/>
            <a:ext cx="5543550" cy="85693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197"/>
          <p:cNvSpPr txBox="1"/>
          <p:nvPr>
            <p:ph type="title"/>
          </p:nvPr>
        </p:nvSpPr>
        <p:spPr>
          <a:xfrm>
            <a:off x="1941513" y="4800600"/>
            <a:ext cx="59436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7"/>
          <p:cNvSpPr/>
          <p:nvPr>
            <p:ph idx="2" type="pic"/>
          </p:nvPr>
        </p:nvSpPr>
        <p:spPr>
          <a:xfrm>
            <a:off x="1941513" y="612775"/>
            <a:ext cx="5943600" cy="4114800"/>
          </a:xfrm>
          <a:prstGeom prst="rect">
            <a:avLst/>
          </a:prstGeom>
          <a:noFill/>
          <a:ln>
            <a:noFill/>
          </a:ln>
        </p:spPr>
      </p:sp>
      <p:sp>
        <p:nvSpPr>
          <p:cNvPr id="36" name="Google Shape;36;p197"/>
          <p:cNvSpPr txBox="1"/>
          <p:nvPr>
            <p:ph idx="1" type="body"/>
          </p:nvPr>
        </p:nvSpPr>
        <p:spPr>
          <a:xfrm>
            <a:off x="1941513" y="5367338"/>
            <a:ext cx="59436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7" name="Shape 37"/>
        <p:cNvGrpSpPr/>
        <p:nvPr/>
      </p:nvGrpSpPr>
      <p:grpSpPr>
        <a:xfrm>
          <a:off x="0" y="0"/>
          <a:ext cx="0" cy="0"/>
          <a:chOff x="0" y="0"/>
          <a:chExt cx="0" cy="0"/>
        </a:xfrm>
      </p:grpSpPr>
      <p:sp>
        <p:nvSpPr>
          <p:cNvPr id="38" name="Google Shape;38;p198"/>
          <p:cNvSpPr txBox="1"/>
          <p:nvPr>
            <p:ph type="title"/>
          </p:nvPr>
        </p:nvSpPr>
        <p:spPr>
          <a:xfrm>
            <a:off x="495300" y="273050"/>
            <a:ext cx="3259138"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8"/>
          <p:cNvSpPr txBox="1"/>
          <p:nvPr>
            <p:ph idx="1" type="body"/>
          </p:nvPr>
        </p:nvSpPr>
        <p:spPr>
          <a:xfrm>
            <a:off x="3873500" y="273050"/>
            <a:ext cx="553720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0" name="Google Shape;40;p198"/>
          <p:cNvSpPr txBox="1"/>
          <p:nvPr>
            <p:ph idx="2" type="body"/>
          </p:nvPr>
        </p:nvSpPr>
        <p:spPr>
          <a:xfrm>
            <a:off x="495300" y="1435100"/>
            <a:ext cx="3259138"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9"/>
          <p:cNvSpPr txBox="1"/>
          <p:nvPr>
            <p:ph type="title"/>
          </p:nvPr>
        </p:nvSpPr>
        <p:spPr>
          <a:xfrm>
            <a:off x="495300" y="274638"/>
            <a:ext cx="8915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9"/>
          <p:cNvSpPr txBox="1"/>
          <p:nvPr>
            <p:ph idx="1" type="body"/>
          </p:nvPr>
        </p:nvSpPr>
        <p:spPr>
          <a:xfrm>
            <a:off x="495300" y="1535113"/>
            <a:ext cx="437673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4" name="Google Shape;44;p199"/>
          <p:cNvSpPr txBox="1"/>
          <p:nvPr>
            <p:ph idx="2" type="body"/>
          </p:nvPr>
        </p:nvSpPr>
        <p:spPr>
          <a:xfrm>
            <a:off x="495300" y="2174875"/>
            <a:ext cx="437673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5" name="Google Shape;45;p199"/>
          <p:cNvSpPr txBox="1"/>
          <p:nvPr>
            <p:ph idx="3" type="body"/>
          </p:nvPr>
        </p:nvSpPr>
        <p:spPr>
          <a:xfrm>
            <a:off x="5032375" y="1535113"/>
            <a:ext cx="437832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6" name="Google Shape;46;p199"/>
          <p:cNvSpPr txBox="1"/>
          <p:nvPr>
            <p:ph idx="4" type="body"/>
          </p:nvPr>
        </p:nvSpPr>
        <p:spPr>
          <a:xfrm>
            <a:off x="5032375" y="2174875"/>
            <a:ext cx="437832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200"/>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0"/>
          <p:cNvSpPr txBox="1"/>
          <p:nvPr>
            <p:ph idx="1" type="body"/>
          </p:nvPr>
        </p:nvSpPr>
        <p:spPr>
          <a:xfrm>
            <a:off x="992188" y="981075"/>
            <a:ext cx="4208462" cy="554355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50" name="Google Shape;50;p200"/>
          <p:cNvSpPr txBox="1"/>
          <p:nvPr>
            <p:ph idx="2" type="body"/>
          </p:nvPr>
        </p:nvSpPr>
        <p:spPr>
          <a:xfrm>
            <a:off x="5353050" y="981075"/>
            <a:ext cx="4208463" cy="554355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201"/>
          <p:cNvSpPr txBox="1"/>
          <p:nvPr>
            <p:ph type="title"/>
          </p:nvPr>
        </p:nvSpPr>
        <p:spPr>
          <a:xfrm>
            <a:off x="782638" y="4406900"/>
            <a:ext cx="84201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1"/>
          <p:cNvSpPr txBox="1"/>
          <p:nvPr>
            <p:ph idx="1" type="body"/>
          </p:nvPr>
        </p:nvSpPr>
        <p:spPr>
          <a:xfrm>
            <a:off x="782638" y="2906713"/>
            <a:ext cx="84201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None/>
              <a:defRPr sz="2000"/>
            </a:lvl1pPr>
            <a:lvl2pPr indent="-228600" lvl="1" marL="914400" algn="l">
              <a:spcBef>
                <a:spcPts val="360"/>
              </a:spcBef>
              <a:spcAft>
                <a:spcPts val="0"/>
              </a:spcAft>
              <a:buClr>
                <a:schemeClr val="dk1"/>
              </a:buClr>
              <a:buSzPts val="1800"/>
              <a:buNone/>
              <a:defRPr sz="1800"/>
            </a:lvl2pPr>
            <a:lvl3pPr indent="-228600" lvl="2" marL="1371600" algn="l">
              <a:spcBef>
                <a:spcPts val="320"/>
              </a:spcBef>
              <a:spcAft>
                <a:spcPts val="0"/>
              </a:spcAft>
              <a:buClr>
                <a:schemeClr val="dk1"/>
              </a:buClr>
              <a:buSzPts val="1600"/>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202"/>
          <p:cNvSpPr txBox="1"/>
          <p:nvPr>
            <p:ph type="ctrTitle"/>
          </p:nvPr>
        </p:nvSpPr>
        <p:spPr>
          <a:xfrm>
            <a:off x="742950" y="2130425"/>
            <a:ext cx="84201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2"/>
          <p:cNvSpPr txBox="1"/>
          <p:nvPr>
            <p:ph idx="1" type="subTitle"/>
          </p:nvPr>
        </p:nvSpPr>
        <p:spPr>
          <a:xfrm>
            <a:off x="1485900" y="3886200"/>
            <a:ext cx="6934200" cy="1752600"/>
          </a:xfrm>
          <a:prstGeom prst="rect">
            <a:avLst/>
          </a:prstGeom>
          <a:noFill/>
          <a:ln>
            <a:noFill/>
          </a:ln>
        </p:spPr>
        <p:txBody>
          <a:bodyPr anchorCtr="0" anchor="t" bIns="45700" lIns="91425" spcFirstLastPara="1" rIns="91425" wrap="square" tIns="45700">
            <a:noAutofit/>
          </a:bodyPr>
          <a:lstStyle>
            <a:lvl1pPr lvl="0" algn="ctr">
              <a:spcBef>
                <a:spcPts val="560"/>
              </a:spcBef>
              <a:spcAft>
                <a:spcPts val="0"/>
              </a:spcAft>
              <a:buClr>
                <a:schemeClr val="dk1"/>
              </a:buClr>
              <a:buSzPts val="2800"/>
              <a:buNone/>
              <a:defRPr/>
            </a:lvl1pPr>
            <a:lvl2pPr lvl="1" algn="ctr">
              <a:spcBef>
                <a:spcPts val="560"/>
              </a:spcBef>
              <a:spcAft>
                <a:spcPts val="0"/>
              </a:spcAft>
              <a:buClr>
                <a:schemeClr val="dk1"/>
              </a:buClr>
              <a:buSzPts val="2800"/>
              <a:buNone/>
              <a:defRPr/>
            </a:lvl2pPr>
            <a:lvl3pPr lvl="2" algn="ctr">
              <a:spcBef>
                <a:spcPts val="480"/>
              </a:spcBef>
              <a:spcAft>
                <a:spcPts val="0"/>
              </a:spcAft>
              <a:buClr>
                <a:schemeClr val="dk1"/>
              </a:buClr>
              <a:buSzPts val="2400"/>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190"/>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0" name="Google Shape;10;p190"/>
          <p:cNvSpPr txBox="1"/>
          <p:nvPr/>
        </p:nvSpPr>
        <p:spPr>
          <a:xfrm>
            <a:off x="0" y="908050"/>
            <a:ext cx="4159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 name="Google Shape;11;p190"/>
          <p:cNvSpPr txBox="1"/>
          <p:nvPr/>
        </p:nvSpPr>
        <p:spPr>
          <a:xfrm>
            <a:off x="0" y="762000"/>
            <a:ext cx="704850" cy="6096000"/>
          </a:xfrm>
          <a:prstGeom prst="rect">
            <a:avLst/>
          </a:prstGeom>
          <a:solidFill>
            <a:srgbClr val="FFCC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 name="Google Shape;12;p190"/>
          <p:cNvSpPr txBox="1"/>
          <p:nvPr/>
        </p:nvSpPr>
        <p:spPr>
          <a:xfrm rot="-5400000">
            <a:off x="-1199356" y="4937918"/>
            <a:ext cx="3303587"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66"/>
              </a:buClr>
              <a:buSzPts val="1400"/>
              <a:buFont typeface="Arial"/>
              <a:buNone/>
            </a:pPr>
            <a:r>
              <a:rPr b="1" i="0" lang="en-US" sz="1400" u="none">
                <a:solidFill>
                  <a:srgbClr val="003366"/>
                </a:solidFill>
                <a:latin typeface="Arial"/>
                <a:ea typeface="Arial"/>
                <a:cs typeface="Arial"/>
                <a:sym typeface="Arial"/>
              </a:rPr>
              <a:t>CẤU TRÚC DỮ LIỆU VÀ GIẢI THUẬT </a:t>
            </a:r>
            <a:endParaRPr/>
          </a:p>
        </p:txBody>
      </p:sp>
      <p:pic>
        <p:nvPicPr>
          <p:cNvPr id="13" name="Google Shape;13;p190"/>
          <p:cNvPicPr preferRelativeResize="0"/>
          <p:nvPr/>
        </p:nvPicPr>
        <p:blipFill rotWithShape="1">
          <a:blip r:embed="rId1">
            <a:alphaModFix/>
          </a:blip>
          <a:srcRect b="0" l="0" r="0" t="0"/>
          <a:stretch/>
        </p:blipFill>
        <p:spPr>
          <a:xfrm>
            <a:off x="0" y="0"/>
            <a:ext cx="704850" cy="762000"/>
          </a:xfrm>
          <a:prstGeom prst="rect">
            <a:avLst/>
          </a:prstGeom>
          <a:noFill/>
          <a:ln>
            <a:noFill/>
          </a:ln>
        </p:spPr>
      </p:pic>
      <p:sp>
        <p:nvSpPr>
          <p:cNvPr id="14" name="Google Shape;14;p190"/>
          <p:cNvSpPr txBox="1"/>
          <p:nvPr/>
        </p:nvSpPr>
        <p:spPr>
          <a:xfrm>
            <a:off x="704850" y="3175"/>
            <a:ext cx="9217025" cy="762000"/>
          </a:xfrm>
          <a:prstGeom prst="rect">
            <a:avLst/>
          </a:prstGeom>
          <a:gradFill>
            <a:gsLst>
              <a:gs pos="0">
                <a:srgbClr val="002F00"/>
              </a:gs>
              <a:gs pos="100000">
                <a:srgbClr val="00660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 name="Google Shape;15;p190"/>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3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1" i="0" sz="32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32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32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32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32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1" i="0" sz="32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1" i="0" sz="32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1" i="0" sz="3200" u="none" cap="none" strike="noStrike">
                <a:solidFill>
                  <a:schemeClr val="lt1"/>
                </a:solidFill>
                <a:latin typeface="Arial"/>
                <a:ea typeface="Arial"/>
                <a:cs typeface="Arial"/>
                <a:sym typeface="Arial"/>
              </a:defRPr>
            </a:lvl9pPr>
          </a:lstStyle>
          <a:p/>
        </p:txBody>
      </p:sp>
      <p:sp>
        <p:nvSpPr>
          <p:cNvPr id="16" name="Google Shape;16;p190"/>
          <p:cNvSpPr txBox="1"/>
          <p:nvPr/>
        </p:nvSpPr>
        <p:spPr>
          <a:xfrm>
            <a:off x="9086850" y="6430962"/>
            <a:ext cx="762000"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200"/>
              <a:buFont typeface="Arial"/>
              <a:buNone/>
            </a:pPr>
            <a:fld id="{00000000-1234-1234-1234-123412341234}" type="slidenum">
              <a:rPr b="1" i="0" lang="en-US" sz="1200" u="none">
                <a:solidFill>
                  <a:schemeClr val="dk2"/>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5.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4.png"/><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8.png"/><Relationship Id="rId4"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9.png"/><Relationship Id="rId4" Type="http://schemas.openxmlformats.org/officeDocument/2006/relationships/image" Target="../media/image36.png"/><Relationship Id="rId5"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2.png"/><Relationship Id="rId4" Type="http://schemas.openxmlformats.org/officeDocument/2006/relationships/image" Target="../media/image29.png"/><Relationship Id="rId5"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1.png"/><Relationship Id="rId4" Type="http://schemas.openxmlformats.org/officeDocument/2006/relationships/image" Target="../media/image32.png"/><Relationship Id="rId5" Type="http://schemas.openxmlformats.org/officeDocument/2006/relationships/image" Target="../media/image37.png"/><Relationship Id="rId6"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4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44.png"/><Relationship Id="rId4" Type="http://schemas.openxmlformats.org/officeDocument/2006/relationships/image" Target="../media/image5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5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8.png"/><Relationship Id="rId4" Type="http://schemas.openxmlformats.org/officeDocument/2006/relationships/image" Target="../media/image4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5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5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5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5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5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5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5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5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60.png"/><Relationship Id="rId4" Type="http://schemas.openxmlformats.org/officeDocument/2006/relationships/image" Target="../media/image63.png"/><Relationship Id="rId5" Type="http://schemas.openxmlformats.org/officeDocument/2006/relationships/image" Target="../media/image5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62.png"/><Relationship Id="rId4" Type="http://schemas.openxmlformats.org/officeDocument/2006/relationships/image" Target="../media/image6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64.png"/><Relationship Id="rId4" Type="http://schemas.openxmlformats.org/officeDocument/2006/relationships/image" Target="../media/image7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65.png"/><Relationship Id="rId4" Type="http://schemas.openxmlformats.org/officeDocument/2006/relationships/image" Target="../media/image6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67.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68.png"/><Relationship Id="rId4" Type="http://schemas.openxmlformats.org/officeDocument/2006/relationships/image" Target="../media/image70.png"/><Relationship Id="rId5" Type="http://schemas.openxmlformats.org/officeDocument/2006/relationships/image" Target="../media/image7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7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69.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73.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7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 Id="rId3" Type="http://schemas.openxmlformats.org/officeDocument/2006/relationships/image" Target="../media/image80.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 Id="rId3" Type="http://schemas.openxmlformats.org/officeDocument/2006/relationships/image" Target="../media/image79.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 Id="rId3" Type="http://schemas.openxmlformats.org/officeDocument/2006/relationships/image" Target="../media/image76.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77.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 Id="rId3" Type="http://schemas.openxmlformats.org/officeDocument/2006/relationships/image" Target="../media/image78.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8.xml"/><Relationship Id="rId3" Type="http://schemas.openxmlformats.org/officeDocument/2006/relationships/hyperlink" Target="http://math.hws.edu/TMCM/java/xSortLab/" TargetMode="External"/><Relationship Id="rId4" Type="http://schemas.openxmlformats.org/officeDocument/2006/relationships/hyperlink" Target="http://www.cs.ubc.ca/~harrison/Java/sorting-demo.html" TargetMode="External"/><Relationship Id="rId5" Type="http://schemas.openxmlformats.org/officeDocument/2006/relationships/hyperlink" Target="http://www.cs.uwaterloo.ca/~bwbecker/sortingDemo/" TargetMode="External"/><Relationship Id="rId6" Type="http://schemas.openxmlformats.org/officeDocument/2006/relationships/hyperlink" Target="http://www2.hawaii.edu/~copley/665/HSApplet.html" TargetMode="External"/><Relationship Id="rId7" Type="http://schemas.openxmlformats.org/officeDocument/2006/relationships/hyperlink" Target="http://pages.stern.nyu.edu/~panos/java/Quicksort/" TargetMode="Externa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p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Bài Toán Tìm Kiếm</a:t>
            </a:r>
            <a:endParaRPr/>
          </a:p>
        </p:txBody>
      </p:sp>
      <p:sp>
        <p:nvSpPr>
          <p:cNvPr id="62" name="Google Shape;62;p4"/>
          <p:cNvSpPr txBox="1"/>
          <p:nvPr>
            <p:ph idx="1" type="body"/>
          </p:nvPr>
        </p:nvSpPr>
        <p:spPr>
          <a:xfrm>
            <a:off x="992187" y="1055687"/>
            <a:ext cx="8569325" cy="4389437"/>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danh sách có n phần tử a</a:t>
            </a:r>
            <a:r>
              <a:rPr b="0" baseline="-25000" i="0" lang="en-US" sz="2800" u="none">
                <a:solidFill>
                  <a:schemeClr val="dk1"/>
                </a:solidFill>
                <a:latin typeface="Arial"/>
                <a:ea typeface="Arial"/>
                <a:cs typeface="Arial"/>
                <a:sym typeface="Arial"/>
              </a:rPr>
              <a:t>0</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n-1</a:t>
            </a:r>
            <a:r>
              <a:rPr b="0" i="0" lang="en-US" sz="2800" u="none">
                <a:solidFill>
                  <a:schemeClr val="dk1"/>
                </a:solidFill>
                <a:latin typeface="Arial"/>
                <a:ea typeface="Arial"/>
                <a:cs typeface="Arial"/>
                <a:sym typeface="Arial"/>
              </a:rPr>
              <a:t>. </a:t>
            </a:r>
            <a:endParaRPr/>
          </a:p>
          <a:p>
            <a:pPr indent="-463550" lvl="0" marL="463550" rtl="0" algn="l">
              <a:lnSpc>
                <a:spcPct val="10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Để đơn giản trong việc trình bày giải thuật ta dùng mảng 1 chiều a để lưu danh sách các phần tử nói trên trong bộ nhớ chính.</a:t>
            </a:r>
            <a:endParaRPr/>
          </a:p>
          <a:p>
            <a:pPr indent="-463550" lvl="0" marL="463550" rtl="0" algn="l">
              <a:lnSpc>
                <a:spcPct val="10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Tìm phần tử có khoá bằng X trong mảng</a:t>
            </a:r>
            <a:endParaRPr/>
          </a:p>
          <a:p>
            <a:pPr indent="-446087" lvl="1" marL="1023937" rtl="0" algn="l">
              <a:lnSpc>
                <a:spcPct val="10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Giải thuật tìm kiếm tuyến tính (tìm tuần tự)</a:t>
            </a:r>
            <a:endParaRPr/>
          </a:p>
          <a:p>
            <a:pPr indent="-446087" lvl="1" marL="1023937" rtl="0" algn="l">
              <a:lnSpc>
                <a:spcPct val="10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Giải thuật tìm kiếm nhị phân  </a:t>
            </a:r>
            <a:endParaRPr/>
          </a:p>
          <a:p>
            <a:pPr indent="-463550" lvl="0" marL="463550" rtl="0" algn="l">
              <a:lnSpc>
                <a:spcPct val="100000"/>
              </a:lnSpc>
              <a:spcBef>
                <a:spcPts val="1680"/>
              </a:spcBef>
              <a:spcAft>
                <a:spcPts val="0"/>
              </a:spcAft>
              <a:buClr>
                <a:schemeClr val="dk1"/>
              </a:buClr>
              <a:buSzPts val="2800"/>
              <a:buFont typeface="Noto Sans Symbols"/>
              <a:buChar char="❖"/>
            </a:pPr>
            <a:r>
              <a:rPr b="1" i="1" lang="en-US" sz="2800" u="none">
                <a:solidFill>
                  <a:schemeClr val="dk1"/>
                </a:solidFill>
                <a:latin typeface="Arial"/>
                <a:ea typeface="Arial"/>
                <a:cs typeface="Arial"/>
                <a:sym typeface="Arial"/>
              </a:rPr>
              <a:t>Lưu ý</a:t>
            </a:r>
            <a:r>
              <a:rPr b="0" i="1" lang="en-US" sz="2800" u="none">
                <a:solidFill>
                  <a:schemeClr val="dk1"/>
                </a:solidFill>
                <a:latin typeface="Arial"/>
                <a:ea typeface="Arial"/>
                <a:cs typeface="Arial"/>
                <a:sym typeface="Arial"/>
              </a:rPr>
              <a:t>: Trong quá trình trình bày thuật giải ta dùng ngôn ngữ lập trình 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Nội Dung</a:t>
            </a:r>
            <a:endParaRPr/>
          </a:p>
        </p:txBody>
      </p:sp>
      <p:sp>
        <p:nvSpPr>
          <p:cNvPr id="68" name="Google Shape;68;p2"/>
          <p:cNvSpPr txBox="1"/>
          <p:nvPr>
            <p:ph idx="1" type="body"/>
          </p:nvPr>
        </p:nvSpPr>
        <p:spPr>
          <a:xfrm>
            <a:off x="1152300" y="1032294"/>
            <a:ext cx="8055600" cy="53859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a:t>
            </a:r>
            <a:r>
              <a:rPr b="0" i="0" lang="en-US" sz="1800" u="none">
                <a:solidFill>
                  <a:schemeClr val="dk1"/>
                </a:solidFill>
                <a:latin typeface="Arial"/>
                <a:ea typeface="Arial"/>
                <a:cs typeface="Arial"/>
                <a:sym typeface="Arial"/>
              </a:rPr>
              <a:t>Các giải thuật tìm kiếm nội</a:t>
            </a:r>
            <a:endParaRPr sz="1800"/>
          </a:p>
          <a:p>
            <a:pPr indent="-446087" lvl="1" marL="1023937" rtl="0" algn="l">
              <a:lnSpc>
                <a:spcPct val="100000"/>
              </a:lnSpc>
              <a:spcBef>
                <a:spcPts val="0"/>
              </a:spcBef>
              <a:spcAft>
                <a:spcPts val="0"/>
              </a:spcAft>
              <a:buClr>
                <a:schemeClr val="dk1"/>
              </a:buClr>
              <a:buSzPts val="2800"/>
              <a:buNone/>
            </a:pPr>
            <a:r>
              <a:rPr b="0" i="0" lang="en-US" sz="1800" u="none">
                <a:solidFill>
                  <a:schemeClr val="dk1"/>
                </a:solidFill>
                <a:latin typeface="Arial"/>
                <a:ea typeface="Arial"/>
                <a:cs typeface="Arial"/>
                <a:sym typeface="Arial"/>
              </a:rPr>
              <a:t>1. Tìm kiếm </a:t>
            </a:r>
            <a:r>
              <a:rPr b="0" i="0" lang="en-US" sz="1800" u="none">
                <a:solidFill>
                  <a:schemeClr val="dk1"/>
                </a:solidFill>
                <a:highlight>
                  <a:srgbClr val="FFCC00"/>
                </a:highlight>
                <a:latin typeface="Arial"/>
                <a:ea typeface="Arial"/>
                <a:cs typeface="Arial"/>
                <a:sym typeface="Arial"/>
              </a:rPr>
              <a:t>tuyến tính</a:t>
            </a:r>
            <a:endParaRPr b="0" i="0" sz="1800" u="none">
              <a:solidFill>
                <a:schemeClr val="dk1"/>
              </a:solidFill>
              <a:highlight>
                <a:srgbClr val="FFCC00"/>
              </a:highlight>
              <a:latin typeface="Arial"/>
              <a:ea typeface="Arial"/>
              <a:cs typeface="Arial"/>
              <a:sym typeface="Arial"/>
            </a:endParaRPr>
          </a:p>
          <a:p>
            <a:pPr indent="-446087" lvl="1" marL="1023937" rtl="0" algn="l">
              <a:lnSpc>
                <a:spcPct val="100000"/>
              </a:lnSpc>
              <a:spcBef>
                <a:spcPts val="0"/>
              </a:spcBef>
              <a:spcAft>
                <a:spcPts val="0"/>
              </a:spcAft>
              <a:buClr>
                <a:schemeClr val="dk1"/>
              </a:buClr>
              <a:buSzPts val="2800"/>
              <a:buNone/>
            </a:pPr>
            <a:r>
              <a:rPr lang="en-US" sz="1800">
                <a:highlight>
                  <a:srgbClr val="FFCC00"/>
                </a:highlight>
              </a:rPr>
              <a:t>void TimKiemTuanTu(int a[], int n, int x)</a:t>
            </a:r>
            <a:endParaRPr sz="1800">
              <a:highlight>
                <a:srgbClr val="FFCC00"/>
              </a:highlight>
            </a:endParaRPr>
          </a:p>
          <a:p>
            <a:pPr indent="-446087" lvl="1" marL="1023937" rtl="0" algn="l">
              <a:lnSpc>
                <a:spcPct val="100000"/>
              </a:lnSpc>
              <a:spcBef>
                <a:spcPts val="0"/>
              </a:spcBef>
              <a:spcAft>
                <a:spcPts val="0"/>
              </a:spcAft>
              <a:buClr>
                <a:schemeClr val="dk1"/>
              </a:buClr>
              <a:buSzPts val="2800"/>
              <a:buNone/>
            </a:pPr>
            <a:r>
              <a:rPr lang="en-US" sz="1800">
                <a:highlight>
                  <a:srgbClr val="FFCC00"/>
                </a:highlight>
              </a:rPr>
              <a:t>{for (int i=0;i&lt;</a:t>
            </a:r>
            <a:r>
              <a:rPr lang="en-US" sz="1800">
                <a:highlight>
                  <a:srgbClr val="FFCC00"/>
                </a:highlight>
              </a:rPr>
              <a:t>n</a:t>
            </a:r>
            <a:r>
              <a:rPr lang="en-US" sz="1800">
                <a:highlight>
                  <a:srgbClr val="FFCC00"/>
                </a:highlight>
              </a:rPr>
              <a:t>;i++)</a:t>
            </a:r>
            <a:endParaRPr sz="1800">
              <a:highlight>
                <a:srgbClr val="FFCC00"/>
              </a:highlight>
            </a:endParaRPr>
          </a:p>
          <a:p>
            <a:pPr indent="-446087" lvl="1" marL="1023937" rtl="0" algn="l">
              <a:lnSpc>
                <a:spcPct val="100000"/>
              </a:lnSpc>
              <a:spcBef>
                <a:spcPts val="0"/>
              </a:spcBef>
              <a:spcAft>
                <a:spcPts val="0"/>
              </a:spcAft>
              <a:buClr>
                <a:schemeClr val="dk1"/>
              </a:buClr>
              <a:buSzPts val="2800"/>
              <a:buNone/>
            </a:pPr>
            <a:r>
              <a:rPr lang="en-US" sz="1800">
                <a:highlight>
                  <a:srgbClr val="FFCC00"/>
                </a:highlight>
              </a:rPr>
              <a:t>	{if (a[i]==x) return i;</a:t>
            </a:r>
            <a:endParaRPr sz="1800">
              <a:highlight>
                <a:srgbClr val="FFCC00"/>
              </a:highlight>
            </a:endParaRPr>
          </a:p>
          <a:p>
            <a:pPr indent="-446087" lvl="1" marL="1481137" rtl="0" algn="l">
              <a:lnSpc>
                <a:spcPct val="100000"/>
              </a:lnSpc>
              <a:spcBef>
                <a:spcPts val="0"/>
              </a:spcBef>
              <a:spcAft>
                <a:spcPts val="0"/>
              </a:spcAft>
              <a:buClr>
                <a:schemeClr val="dk1"/>
              </a:buClr>
              <a:buSzPts val="2800"/>
              <a:buNone/>
            </a:pPr>
            <a:r>
              <a:rPr lang="en-US" sz="1800">
                <a:highlight>
                  <a:srgbClr val="FFCC00"/>
                </a:highlight>
              </a:rPr>
              <a:t>else return -1;}</a:t>
            </a:r>
            <a:endParaRPr sz="1800">
              <a:highlight>
                <a:srgbClr val="FFCC00"/>
              </a:highlight>
            </a:endParaRPr>
          </a:p>
          <a:p>
            <a:pPr indent="-446087" lvl="1" marL="1023937" rtl="0" algn="l">
              <a:lnSpc>
                <a:spcPct val="100000"/>
              </a:lnSpc>
              <a:spcBef>
                <a:spcPts val="0"/>
              </a:spcBef>
              <a:spcAft>
                <a:spcPts val="0"/>
              </a:spcAft>
              <a:buClr>
                <a:schemeClr val="dk1"/>
              </a:buClr>
              <a:buSzPts val="2800"/>
              <a:buNone/>
            </a:pPr>
            <a:r>
              <a:rPr lang="en-US" sz="1800">
                <a:highlight>
                  <a:srgbClr val="FFCC00"/>
                </a:highlight>
              </a:rPr>
              <a:t>}</a:t>
            </a:r>
            <a:endParaRPr sz="1800">
              <a:highlight>
                <a:srgbClr val="FFCC00"/>
              </a:highlight>
            </a:endParaRPr>
          </a:p>
          <a:p>
            <a:pPr indent="-446087" lvl="1" marL="1023937" rtl="0" algn="l">
              <a:lnSpc>
                <a:spcPct val="100000"/>
              </a:lnSpc>
              <a:spcBef>
                <a:spcPts val="0"/>
              </a:spcBef>
              <a:spcAft>
                <a:spcPts val="0"/>
              </a:spcAft>
              <a:buClr>
                <a:schemeClr val="dk1"/>
              </a:buClr>
              <a:buSzPts val="2800"/>
              <a:buNone/>
            </a:pPr>
            <a:r>
              <a:rPr b="0" i="0" lang="en-US" sz="1800" u="none">
                <a:solidFill>
                  <a:schemeClr val="dk1"/>
                </a:solidFill>
                <a:latin typeface="Arial"/>
                <a:ea typeface="Arial"/>
                <a:cs typeface="Arial"/>
                <a:sym typeface="Arial"/>
              </a:rPr>
              <a:t>2. Tìm kiếm </a:t>
            </a:r>
            <a:r>
              <a:rPr b="0" i="0" lang="en-US" sz="1800" u="none">
                <a:solidFill>
                  <a:schemeClr val="dk1"/>
                </a:solidFill>
                <a:highlight>
                  <a:srgbClr val="FFCC00"/>
                </a:highlight>
                <a:latin typeface="Arial"/>
                <a:ea typeface="Arial"/>
                <a:cs typeface="Arial"/>
                <a:sym typeface="Arial"/>
              </a:rPr>
              <a:t>nhị phân</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5"/>
          <p:cNvSpPr txBox="1"/>
          <p:nvPr>
            <p:ph type="title"/>
          </p:nvPr>
        </p:nvSpPr>
        <p:spPr>
          <a:xfrm>
            <a:off x="676125"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Tìm Kiếm Tuyến Tính</a:t>
            </a:r>
            <a:endParaRPr/>
          </a:p>
        </p:txBody>
      </p:sp>
      <p:sp>
        <p:nvSpPr>
          <p:cNvPr id="74" name="Google Shape;74;p5"/>
          <p:cNvSpPr txBox="1"/>
          <p:nvPr>
            <p:ph idx="1" type="body"/>
          </p:nvPr>
        </p:nvSpPr>
        <p:spPr>
          <a:xfrm>
            <a:off x="992187" y="1111250"/>
            <a:ext cx="8569200" cy="51768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1" i="0" lang="en-US" sz="2800" u="none">
                <a:solidFill>
                  <a:schemeClr val="dk1"/>
                </a:solidFill>
                <a:latin typeface="Arial"/>
                <a:ea typeface="Arial"/>
                <a:cs typeface="Arial"/>
                <a:sym typeface="Arial"/>
              </a:rPr>
              <a:t>Ý tưởng</a:t>
            </a:r>
            <a:r>
              <a:rPr b="0" i="0" lang="en-US" sz="2800" u="none">
                <a:solidFill>
                  <a:schemeClr val="dk1"/>
                </a:solidFill>
                <a:latin typeface="Arial"/>
                <a:ea typeface="Arial"/>
                <a:cs typeface="Arial"/>
                <a:sym typeface="Arial"/>
              </a:rPr>
              <a:t> : So sánh X lần lượt với phần tử thứ 1, thứ 2,…của mảng a cho đến khi gặp được khóa cần tìm, hoặc tìm hết mảng mà không thấy.</a:t>
            </a:r>
            <a:endParaRPr/>
          </a:p>
          <a:p>
            <a:pPr indent="-463550" lvl="0" marL="463550" rtl="0" algn="l">
              <a:lnSpc>
                <a:spcPct val="100000"/>
              </a:lnSpc>
              <a:spcBef>
                <a:spcPts val="560"/>
              </a:spcBef>
              <a:spcAft>
                <a:spcPts val="0"/>
              </a:spcAft>
              <a:buClr>
                <a:schemeClr val="dk1"/>
              </a:buClr>
              <a:buSzPts val="2800"/>
              <a:buFont typeface="Noto Sans Symbols"/>
              <a:buChar char="⮚"/>
            </a:pPr>
            <a:r>
              <a:rPr b="1" i="0" lang="en-US" sz="2800" u="none">
                <a:solidFill>
                  <a:schemeClr val="dk1"/>
                </a:solidFill>
                <a:latin typeface="Arial"/>
                <a:ea typeface="Arial"/>
                <a:cs typeface="Arial"/>
                <a:sym typeface="Arial"/>
              </a:rPr>
              <a:t>Các bước tiến hành</a:t>
            </a:r>
            <a:endParaRPr/>
          </a:p>
          <a:p>
            <a:pPr indent="-446087" lvl="1" marL="1023937" rtl="0" algn="l">
              <a:lnSpc>
                <a:spcPct val="100000"/>
              </a:lnSpc>
              <a:spcBef>
                <a:spcPts val="480"/>
              </a:spcBef>
              <a:spcAft>
                <a:spcPts val="0"/>
              </a:spcAft>
              <a:buClr>
                <a:schemeClr val="dk1"/>
              </a:buClr>
              <a:buSzPts val="2400"/>
              <a:buChar char="•"/>
            </a:pPr>
            <a:r>
              <a:rPr b="0" i="0" lang="en-US" sz="2400" u="sng">
                <a:solidFill>
                  <a:schemeClr val="dk1"/>
                </a:solidFill>
                <a:latin typeface="Arial"/>
                <a:ea typeface="Arial"/>
                <a:cs typeface="Arial"/>
                <a:sym typeface="Arial"/>
              </a:rPr>
              <a:t>Bước 1</a:t>
            </a:r>
            <a:r>
              <a:rPr b="0" i="0" lang="en-US" sz="2400" u="none">
                <a:solidFill>
                  <a:schemeClr val="dk1"/>
                </a:solidFill>
                <a:latin typeface="Arial"/>
                <a:ea typeface="Arial"/>
                <a:cs typeface="Arial"/>
                <a:sym typeface="Arial"/>
              </a:rPr>
              <a:t>: Khởi gán i=0;</a:t>
            </a:r>
            <a:endParaRPr/>
          </a:p>
          <a:p>
            <a:pPr indent="-446087" lvl="1" marL="1023937" rtl="0" algn="l">
              <a:lnSpc>
                <a:spcPct val="100000"/>
              </a:lnSpc>
              <a:spcBef>
                <a:spcPts val="480"/>
              </a:spcBef>
              <a:spcAft>
                <a:spcPts val="0"/>
              </a:spcAft>
              <a:buClr>
                <a:schemeClr val="dk1"/>
              </a:buClr>
              <a:buSzPts val="2400"/>
              <a:buChar char="•"/>
            </a:pPr>
            <a:r>
              <a:rPr b="0" i="0" lang="en-US" sz="2400" u="sng">
                <a:solidFill>
                  <a:schemeClr val="dk1"/>
                </a:solidFill>
                <a:latin typeface="Arial"/>
                <a:ea typeface="Arial"/>
                <a:cs typeface="Arial"/>
                <a:sym typeface="Arial"/>
              </a:rPr>
              <a:t>Bước 2</a:t>
            </a:r>
            <a:r>
              <a:rPr b="0" i="0" lang="en-US" sz="2400" u="none">
                <a:solidFill>
                  <a:schemeClr val="dk1"/>
                </a:solidFill>
                <a:latin typeface="Arial"/>
                <a:ea typeface="Arial"/>
                <a:cs typeface="Arial"/>
                <a:sym typeface="Arial"/>
              </a:rPr>
              <a:t>: So sánh a[i] với giá trị x cần tìm, có 2 khả năng</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 a[i] == x tìm thấy x. Dừng;</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 a[i] != x sang bước 3;</a:t>
            </a:r>
            <a:endParaRPr/>
          </a:p>
          <a:p>
            <a:pPr indent="-446087" lvl="1" marL="1023937" rtl="0" algn="l">
              <a:lnSpc>
                <a:spcPct val="100000"/>
              </a:lnSpc>
              <a:spcBef>
                <a:spcPts val="480"/>
              </a:spcBef>
              <a:spcAft>
                <a:spcPts val="0"/>
              </a:spcAft>
              <a:buClr>
                <a:schemeClr val="dk1"/>
              </a:buClr>
              <a:buSzPts val="2400"/>
              <a:buChar char="•"/>
            </a:pPr>
            <a:r>
              <a:rPr b="0" i="0" lang="en-US" sz="2400" u="sng">
                <a:solidFill>
                  <a:schemeClr val="dk1"/>
                </a:solidFill>
                <a:latin typeface="Arial"/>
                <a:ea typeface="Arial"/>
                <a:cs typeface="Arial"/>
                <a:sym typeface="Arial"/>
              </a:rPr>
              <a:t>Bước 3</a:t>
            </a:r>
            <a:r>
              <a:rPr b="0" i="0" lang="en-US" sz="2400" u="none">
                <a:solidFill>
                  <a:schemeClr val="dk1"/>
                </a:solidFill>
                <a:latin typeface="Arial"/>
                <a:ea typeface="Arial"/>
                <a:cs typeface="Arial"/>
                <a:sym typeface="Arial"/>
              </a:rPr>
              <a:t>: i=i+1 // Xét tiếp p</a:t>
            </a:r>
            <a:endParaRPr b="0" i="0" sz="2400" u="none">
              <a:solidFill>
                <a:schemeClr val="dk1"/>
              </a:solidFill>
              <a:latin typeface="Arial"/>
              <a:ea typeface="Arial"/>
              <a:cs typeface="Arial"/>
              <a:sym typeface="Arial"/>
            </a:endParaRPr>
          </a:p>
          <a:p>
            <a:pPr indent="0" lvl="0" marL="1023937" rtl="0" algn="l">
              <a:lnSpc>
                <a:spcPct val="100000"/>
              </a:lnSpc>
              <a:spcBef>
                <a:spcPts val="480"/>
              </a:spcBef>
              <a:spcAft>
                <a:spcPts val="0"/>
              </a:spcAft>
              <a:buNone/>
            </a:pPr>
            <a:r>
              <a:rPr lang="en-US" sz="2400"/>
              <a:t>p</a:t>
            </a:r>
            <a:r>
              <a:rPr b="0" i="0" lang="en-US" sz="2400" u="none">
                <a:solidFill>
                  <a:schemeClr val="dk1"/>
                </a:solidFill>
                <a:latin typeface="Arial"/>
                <a:ea typeface="Arial"/>
                <a:cs typeface="Arial"/>
                <a:sym typeface="Arial"/>
              </a:rPr>
              <a:t>hần tử kế tiếp trong mảng</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Nếu i==N: Hết mảng. Dừng;</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Ngược lại: Lặp lại bước 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Cải Tiến Thuật Toán Tìm Tuyến Tính</a:t>
            </a:r>
            <a:endParaRPr/>
          </a:p>
        </p:txBody>
      </p:sp>
      <p:sp>
        <p:nvSpPr>
          <p:cNvPr id="80" name="Google Shape;80;p10"/>
          <p:cNvSpPr txBox="1"/>
          <p:nvPr>
            <p:ph idx="1" type="body"/>
          </p:nvPr>
        </p:nvSpPr>
        <p:spPr>
          <a:xfrm>
            <a:off x="785462" y="956750"/>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Nhận xét: Số phép so sánh của thuật toán trong trường hợp xấu nhất là 2*n.</a:t>
            </a:r>
            <a:endParaRPr/>
          </a:p>
          <a:p>
            <a:pPr indent="-463550" lvl="0" marL="463550" rtl="0" algn="l">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Để giảm thiểu số phép so sá</a:t>
            </a:r>
            <a:r>
              <a:rPr b="0" i="0" lang="en-US" sz="2400" u="none">
                <a:solidFill>
                  <a:schemeClr val="dk1"/>
                </a:solidFill>
                <a:latin typeface="Arial"/>
                <a:ea typeface="Arial"/>
                <a:cs typeface="Arial"/>
                <a:sym typeface="Arial"/>
              </a:rPr>
              <a:t>nh trong vòng lặp cho thuật toán, ta thêm phần tử “lính ca</a:t>
            </a:r>
            <a:r>
              <a:rPr b="0" i="0" lang="en-US" sz="2400" u="none">
                <a:solidFill>
                  <a:schemeClr val="dk1"/>
                </a:solidFill>
                <a:latin typeface="Arial"/>
                <a:ea typeface="Arial"/>
                <a:cs typeface="Arial"/>
                <a:sym typeface="Arial"/>
              </a:rPr>
              <a:t>nh” vào cuối dãy.</a:t>
            </a:r>
            <a:endParaRPr b="0" i="0" sz="2400" u="none">
              <a:solidFill>
                <a:srgbClr val="0000FF"/>
              </a:solidFill>
              <a:latin typeface="Arial"/>
              <a:ea typeface="Arial"/>
              <a:cs typeface="Arial"/>
              <a:sym typeface="Arial"/>
            </a:endParaRPr>
          </a:p>
          <a:p>
            <a:pPr indent="-446087" lvl="1" marL="1023937" rtl="0" algn="l">
              <a:lnSpc>
                <a:spcPct val="100000"/>
              </a:lnSpc>
              <a:spcBef>
                <a:spcPts val="1100"/>
              </a:spcBef>
              <a:spcAft>
                <a:spcPts val="0"/>
              </a:spcAft>
              <a:buClr>
                <a:srgbClr val="0000FF"/>
              </a:buClr>
              <a:buSzPts val="2200"/>
              <a:buNone/>
            </a:pPr>
            <a:r>
              <a:rPr b="0" i="0" lang="en-US" sz="2200" u="none">
                <a:solidFill>
                  <a:srgbClr val="0000FF"/>
                </a:solidFill>
                <a:latin typeface="Arial"/>
                <a:ea typeface="Arial"/>
                <a:cs typeface="Arial"/>
                <a:sym typeface="Arial"/>
              </a:rPr>
              <a:t>int</a:t>
            </a:r>
            <a:r>
              <a:rPr b="0" i="0" lang="en-US" sz="2200" u="none">
                <a:solidFill>
                  <a:schemeClr val="dk1"/>
                </a:solidFill>
                <a:latin typeface="Arial"/>
                <a:ea typeface="Arial"/>
                <a:cs typeface="Arial"/>
                <a:sym typeface="Arial"/>
              </a:rPr>
              <a:t> LinearSearch(</a:t>
            </a:r>
            <a:r>
              <a:rPr b="0" i="0" lang="en-US" sz="2200" u="none">
                <a:solidFill>
                  <a:srgbClr val="0000FF"/>
                </a:solidFill>
                <a:latin typeface="Arial"/>
                <a:ea typeface="Arial"/>
                <a:cs typeface="Arial"/>
                <a:sym typeface="Arial"/>
              </a:rPr>
              <a:t>int</a:t>
            </a:r>
            <a:r>
              <a:rPr b="0" i="0" lang="en-US" sz="2200" u="none">
                <a:solidFill>
                  <a:schemeClr val="dk1"/>
                </a:solidFill>
                <a:latin typeface="Arial"/>
                <a:ea typeface="Arial"/>
                <a:cs typeface="Arial"/>
                <a:sym typeface="Arial"/>
              </a:rPr>
              <a:t> a[],</a:t>
            </a:r>
            <a:r>
              <a:rPr b="0" i="0" lang="en-US" sz="2200" u="none">
                <a:solidFill>
                  <a:srgbClr val="0000FF"/>
                </a:solidFill>
                <a:latin typeface="Arial"/>
                <a:ea typeface="Arial"/>
                <a:cs typeface="Arial"/>
                <a:sym typeface="Arial"/>
              </a:rPr>
              <a:t>int</a:t>
            </a:r>
            <a:r>
              <a:rPr b="0" i="0" lang="en-US" sz="2200" u="none">
                <a:solidFill>
                  <a:schemeClr val="dk1"/>
                </a:solidFill>
                <a:latin typeface="Arial"/>
                <a:ea typeface="Arial"/>
                <a:cs typeface="Arial"/>
                <a:sym typeface="Arial"/>
              </a:rPr>
              <a:t> n, </a:t>
            </a:r>
            <a:r>
              <a:rPr b="0" i="0" lang="en-US" sz="2200" u="none">
                <a:solidFill>
                  <a:srgbClr val="0000FF"/>
                </a:solidFill>
                <a:latin typeface="Arial"/>
                <a:ea typeface="Arial"/>
                <a:cs typeface="Arial"/>
                <a:sym typeface="Arial"/>
              </a:rPr>
              <a:t>int</a:t>
            </a:r>
            <a:r>
              <a:rPr b="0" i="0" lang="en-US" sz="2200" u="none">
                <a:solidFill>
                  <a:schemeClr val="dk1"/>
                </a:solidFill>
                <a:latin typeface="Arial"/>
                <a:ea typeface="Arial"/>
                <a:cs typeface="Arial"/>
                <a:sym typeface="Arial"/>
              </a:rPr>
              <a:t> x)</a:t>
            </a:r>
            <a:endParaRPr/>
          </a:p>
          <a:p>
            <a:pPr indent="-446087" lvl="1" marL="1023937" rtl="0" algn="l">
              <a:lnSpc>
                <a:spcPct val="100000"/>
              </a:lnSpc>
              <a:spcBef>
                <a:spcPts val="440"/>
              </a:spcBef>
              <a:spcAft>
                <a:spcPts val="0"/>
              </a:spcAft>
              <a:buClr>
                <a:schemeClr val="dk1"/>
              </a:buClr>
              <a:buSzPts val="2200"/>
              <a:buNone/>
            </a:pPr>
            <a:r>
              <a:rPr b="0" i="0" lang="en-US" sz="2200" u="none">
                <a:solidFill>
                  <a:schemeClr val="dk1"/>
                </a:solidFill>
                <a:latin typeface="Arial"/>
                <a:ea typeface="Arial"/>
                <a:cs typeface="Arial"/>
                <a:sym typeface="Arial"/>
              </a:rPr>
              <a:t>{		</a:t>
            </a:r>
            <a:r>
              <a:rPr b="0" i="0" lang="en-US" sz="2200" u="none">
                <a:solidFill>
                  <a:srgbClr val="0000FF"/>
                </a:solidFill>
                <a:latin typeface="Arial"/>
                <a:ea typeface="Arial"/>
                <a:cs typeface="Arial"/>
                <a:sym typeface="Arial"/>
              </a:rPr>
              <a:t>int</a:t>
            </a:r>
            <a:r>
              <a:rPr b="0" i="0" lang="en-US" sz="2200" u="none">
                <a:solidFill>
                  <a:schemeClr val="dk1"/>
                </a:solidFill>
                <a:latin typeface="Arial"/>
                <a:ea typeface="Arial"/>
                <a:cs typeface="Arial"/>
                <a:sym typeface="Arial"/>
              </a:rPr>
              <a:t> i=0; a[n]=x;   </a:t>
            </a:r>
            <a:r>
              <a:rPr b="0" i="1" lang="en-US" sz="2200" u="none">
                <a:solidFill>
                  <a:schemeClr val="dk1"/>
                </a:solidFill>
                <a:latin typeface="Arial"/>
                <a:ea typeface="Arial"/>
                <a:cs typeface="Arial"/>
                <a:sym typeface="Arial"/>
              </a:rPr>
              <a:t>// a[n] là phần tử “lính canh”</a:t>
            </a:r>
            <a:endParaRPr/>
          </a:p>
          <a:p>
            <a:pPr indent="-446087" lvl="1" marL="1023937" rtl="0" algn="l">
              <a:lnSpc>
                <a:spcPct val="100000"/>
              </a:lnSpc>
              <a:spcBef>
                <a:spcPts val="440"/>
              </a:spcBef>
              <a:spcAft>
                <a:spcPts val="0"/>
              </a:spcAft>
              <a:buClr>
                <a:schemeClr val="dk1"/>
              </a:buClr>
              <a:buSzPts val="2200"/>
              <a:buNone/>
            </a:pPr>
            <a:r>
              <a:rPr b="0" i="0" lang="en-US" sz="2200" u="none">
                <a:solidFill>
                  <a:schemeClr val="dk1"/>
                </a:solidFill>
                <a:latin typeface="Arial"/>
                <a:ea typeface="Arial"/>
                <a:cs typeface="Arial"/>
                <a:sym typeface="Arial"/>
              </a:rPr>
              <a:t>		</a:t>
            </a:r>
            <a:r>
              <a:rPr b="0" i="0" lang="en-US" sz="2200" u="none">
                <a:solidFill>
                  <a:srgbClr val="0000FF"/>
                </a:solidFill>
                <a:latin typeface="Arial"/>
                <a:ea typeface="Arial"/>
                <a:cs typeface="Arial"/>
                <a:sym typeface="Arial"/>
              </a:rPr>
              <a:t>while</a:t>
            </a:r>
            <a:r>
              <a:rPr b="0" i="0" lang="en-US" sz="2200" u="none">
                <a:solidFill>
                  <a:schemeClr val="dk1"/>
                </a:solidFill>
                <a:latin typeface="Arial"/>
                <a:ea typeface="Arial"/>
                <a:cs typeface="Arial"/>
                <a:sym typeface="Arial"/>
              </a:rPr>
              <a:t>(a[i]!=x) 	</a:t>
            </a:r>
            <a:endParaRPr/>
          </a:p>
          <a:p>
            <a:pPr indent="-446087" lvl="1" marL="1023937" rtl="0" algn="l">
              <a:lnSpc>
                <a:spcPct val="100000"/>
              </a:lnSpc>
              <a:spcBef>
                <a:spcPts val="440"/>
              </a:spcBef>
              <a:spcAft>
                <a:spcPts val="0"/>
              </a:spcAft>
              <a:buClr>
                <a:schemeClr val="dk1"/>
              </a:buClr>
              <a:buSzPts val="2200"/>
              <a:buNone/>
            </a:pPr>
            <a:r>
              <a:rPr b="0" i="0" lang="en-US" sz="2200" u="none">
                <a:solidFill>
                  <a:schemeClr val="dk1"/>
                </a:solidFill>
                <a:latin typeface="Arial"/>
                <a:ea typeface="Arial"/>
                <a:cs typeface="Arial"/>
                <a:sym typeface="Arial"/>
              </a:rPr>
              <a:t>			i++;</a:t>
            </a:r>
            <a:endParaRPr/>
          </a:p>
          <a:p>
            <a:pPr indent="-446087" lvl="1" marL="1023937" rtl="0" algn="l">
              <a:lnSpc>
                <a:spcPct val="100000"/>
              </a:lnSpc>
              <a:spcBef>
                <a:spcPts val="440"/>
              </a:spcBef>
              <a:spcAft>
                <a:spcPts val="0"/>
              </a:spcAft>
              <a:buClr>
                <a:schemeClr val="dk1"/>
              </a:buClr>
              <a:buSzPts val="2200"/>
              <a:buNone/>
            </a:pPr>
            <a:r>
              <a:rPr b="0" i="0" lang="en-US" sz="2200" u="none">
                <a:solidFill>
                  <a:schemeClr val="dk1"/>
                </a:solidFill>
                <a:latin typeface="Arial"/>
                <a:ea typeface="Arial"/>
                <a:cs typeface="Arial"/>
                <a:sym typeface="Arial"/>
              </a:rPr>
              <a:t>		</a:t>
            </a:r>
            <a:r>
              <a:rPr b="0" i="0" lang="en-US" sz="2200" u="none">
                <a:solidFill>
                  <a:srgbClr val="0000FF"/>
                </a:solidFill>
                <a:latin typeface="Arial"/>
                <a:ea typeface="Arial"/>
                <a:cs typeface="Arial"/>
                <a:sym typeface="Arial"/>
              </a:rPr>
              <a:t>if</a:t>
            </a:r>
            <a:r>
              <a:rPr b="0" i="0" lang="en-US" sz="2200" u="none">
                <a:solidFill>
                  <a:schemeClr val="dk1"/>
                </a:solidFill>
                <a:latin typeface="Arial"/>
                <a:ea typeface="Arial"/>
                <a:cs typeface="Arial"/>
                <a:sym typeface="Arial"/>
              </a:rPr>
              <a:t>(i==n)</a:t>
            </a:r>
            <a:endParaRPr/>
          </a:p>
          <a:p>
            <a:pPr indent="-446087" lvl="1" marL="1023937" rtl="0" algn="l">
              <a:lnSpc>
                <a:spcPct val="100000"/>
              </a:lnSpc>
              <a:spcBef>
                <a:spcPts val="440"/>
              </a:spcBef>
              <a:spcAft>
                <a:spcPts val="0"/>
              </a:spcAft>
              <a:buClr>
                <a:schemeClr val="dk1"/>
              </a:buClr>
              <a:buSzPts val="2200"/>
              <a:buNone/>
            </a:pPr>
            <a:r>
              <a:rPr b="0" i="0" lang="en-US" sz="2200" u="none">
                <a:solidFill>
                  <a:schemeClr val="dk1"/>
                </a:solidFill>
                <a:latin typeface="Arial"/>
                <a:ea typeface="Arial"/>
                <a:cs typeface="Arial"/>
                <a:sym typeface="Arial"/>
              </a:rPr>
              <a:t>			</a:t>
            </a:r>
            <a:r>
              <a:rPr b="0" i="0" lang="en-US" sz="2200" u="none">
                <a:solidFill>
                  <a:srgbClr val="0000FF"/>
                </a:solidFill>
                <a:latin typeface="Arial"/>
                <a:ea typeface="Arial"/>
                <a:cs typeface="Arial"/>
                <a:sym typeface="Arial"/>
              </a:rPr>
              <a:t>return</a:t>
            </a:r>
            <a:r>
              <a:rPr b="0" i="0" lang="en-US" sz="2200" u="none">
                <a:solidFill>
                  <a:schemeClr val="dk1"/>
                </a:solidFill>
                <a:latin typeface="Arial"/>
                <a:ea typeface="Arial"/>
                <a:cs typeface="Arial"/>
                <a:sym typeface="Arial"/>
              </a:rPr>
              <a:t> 0; </a:t>
            </a:r>
            <a:r>
              <a:rPr b="0" i="1" lang="en-US" sz="2200" u="none">
                <a:solidFill>
                  <a:schemeClr val="dk1"/>
                </a:solidFill>
                <a:latin typeface="Arial"/>
                <a:ea typeface="Arial"/>
                <a:cs typeface="Arial"/>
                <a:sym typeface="Arial"/>
              </a:rPr>
              <a:t>// Tìm không thấy x</a:t>
            </a:r>
            <a:endParaRPr/>
          </a:p>
          <a:p>
            <a:pPr indent="-446087" lvl="1" marL="1023937" rtl="0" algn="l">
              <a:lnSpc>
                <a:spcPct val="100000"/>
              </a:lnSpc>
              <a:spcBef>
                <a:spcPts val="440"/>
              </a:spcBef>
              <a:spcAft>
                <a:spcPts val="0"/>
              </a:spcAft>
              <a:buClr>
                <a:schemeClr val="dk1"/>
              </a:buClr>
              <a:buSzPts val="2200"/>
              <a:buNone/>
            </a:pPr>
            <a:r>
              <a:rPr b="0" i="0" lang="en-US" sz="2200" u="none">
                <a:solidFill>
                  <a:schemeClr val="dk1"/>
                </a:solidFill>
                <a:latin typeface="Arial"/>
                <a:ea typeface="Arial"/>
                <a:cs typeface="Arial"/>
                <a:sym typeface="Arial"/>
              </a:rPr>
              <a:t>		</a:t>
            </a:r>
            <a:r>
              <a:rPr b="0" i="0" lang="en-US" sz="2200" u="none">
                <a:solidFill>
                  <a:srgbClr val="0000FF"/>
                </a:solidFill>
                <a:latin typeface="Arial"/>
                <a:ea typeface="Arial"/>
                <a:cs typeface="Arial"/>
                <a:sym typeface="Arial"/>
              </a:rPr>
              <a:t>else</a:t>
            </a:r>
            <a:r>
              <a:rPr b="0" i="0" lang="en-US" sz="2200" u="none">
                <a:solidFill>
                  <a:schemeClr val="dk1"/>
                </a:solidFill>
                <a:latin typeface="Arial"/>
                <a:ea typeface="Arial"/>
                <a:cs typeface="Arial"/>
                <a:sym typeface="Arial"/>
              </a:rPr>
              <a:t>	</a:t>
            </a:r>
            <a:endParaRPr/>
          </a:p>
          <a:p>
            <a:pPr indent="-446087" lvl="1" marL="1023937" rtl="0" algn="l">
              <a:lnSpc>
                <a:spcPct val="100000"/>
              </a:lnSpc>
              <a:spcBef>
                <a:spcPts val="440"/>
              </a:spcBef>
              <a:spcAft>
                <a:spcPts val="0"/>
              </a:spcAft>
              <a:buClr>
                <a:schemeClr val="dk1"/>
              </a:buClr>
              <a:buSzPts val="2200"/>
              <a:buNone/>
            </a:pPr>
            <a:r>
              <a:rPr b="0" i="0" lang="en-US" sz="2200" u="none">
                <a:solidFill>
                  <a:schemeClr val="dk1"/>
                </a:solidFill>
                <a:latin typeface="Arial"/>
                <a:ea typeface="Arial"/>
                <a:cs typeface="Arial"/>
                <a:sym typeface="Arial"/>
              </a:rPr>
              <a:t>			</a:t>
            </a:r>
            <a:r>
              <a:rPr b="0" i="0" lang="en-US" sz="2200" u="none">
                <a:solidFill>
                  <a:srgbClr val="0000FF"/>
                </a:solidFill>
                <a:latin typeface="Arial"/>
                <a:ea typeface="Arial"/>
                <a:cs typeface="Arial"/>
                <a:sym typeface="Arial"/>
              </a:rPr>
              <a:t>return</a:t>
            </a:r>
            <a:r>
              <a:rPr b="0" i="0" lang="en-US" sz="2200" u="none">
                <a:solidFill>
                  <a:schemeClr val="dk1"/>
                </a:solidFill>
                <a:latin typeface="Arial"/>
                <a:ea typeface="Arial"/>
                <a:cs typeface="Arial"/>
                <a:sym typeface="Arial"/>
              </a:rPr>
              <a:t> 1; </a:t>
            </a:r>
            <a:r>
              <a:rPr b="0" i="1" lang="en-US" sz="2200" u="none">
                <a:solidFill>
                  <a:schemeClr val="dk1"/>
                </a:solidFill>
                <a:latin typeface="Arial"/>
                <a:ea typeface="Arial"/>
                <a:cs typeface="Arial"/>
                <a:sym typeface="Arial"/>
              </a:rPr>
              <a:t>// Tìm</a:t>
            </a:r>
            <a:endParaRPr/>
          </a:p>
          <a:p>
            <a:pPr indent="-446087" lvl="1" marL="1023937" rtl="0" algn="l">
              <a:lnSpc>
                <a:spcPct val="100000"/>
              </a:lnSpc>
              <a:spcBef>
                <a:spcPts val="440"/>
              </a:spcBef>
              <a:spcAft>
                <a:spcPts val="0"/>
              </a:spcAft>
              <a:buClr>
                <a:schemeClr val="dk1"/>
              </a:buClr>
              <a:buSzPts val="2200"/>
              <a:buNone/>
            </a:pPr>
            <a:r>
              <a:rPr b="0" i="1" lang="en-US" sz="2200" u="none">
                <a:solidFill>
                  <a:schemeClr val="dk1"/>
                </a:solidFill>
                <a:latin typeface="Arial"/>
                <a:ea typeface="Arial"/>
                <a:cs typeface="Arial"/>
                <a:sym typeface="Arial"/>
              </a:rPr>
              <a:t> thấy</a:t>
            </a:r>
            <a:r>
              <a:rPr b="0" i="0" lang="en-US" sz="2200" u="none">
                <a:solidFill>
                  <a:schemeClr val="dk1"/>
                </a:solidFill>
                <a:latin typeface="Arial"/>
                <a:ea typeface="Arial"/>
                <a:cs typeface="Arial"/>
                <a:sym typeface="Arial"/>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CHƯƠNG 2</a:t>
            </a:r>
            <a:endParaRPr/>
          </a:p>
        </p:txBody>
      </p:sp>
      <p:grpSp>
        <p:nvGrpSpPr>
          <p:cNvPr id="86" name="Google Shape;86;p1"/>
          <p:cNvGrpSpPr/>
          <p:nvPr/>
        </p:nvGrpSpPr>
        <p:grpSpPr>
          <a:xfrm>
            <a:off x="1712912" y="2995612"/>
            <a:ext cx="7127875" cy="1081087"/>
            <a:chOff x="960" y="2256"/>
            <a:chExt cx="4320" cy="624"/>
          </a:xfrm>
        </p:grpSpPr>
        <p:sp>
          <p:nvSpPr>
            <p:cNvPr id="87" name="Google Shape;87;p1"/>
            <p:cNvSpPr/>
            <p:nvPr/>
          </p:nvSpPr>
          <p:spPr>
            <a:xfrm>
              <a:off x="1320" y="2364"/>
              <a:ext cx="3960" cy="416"/>
            </a:xfrm>
            <a:prstGeom prst="roundRect">
              <a:avLst>
                <a:gd fmla="val 16667" name="adj"/>
              </a:avLst>
            </a:prstGeom>
            <a:solidFill>
              <a:schemeClr val="hlink"/>
            </a:solidFill>
            <a:ln cap="flat" cmpd="sng" w="12700">
              <a:solidFill>
                <a:schemeClr val="lt1"/>
              </a:solidFill>
              <a:prstDash val="solid"/>
              <a:miter lim="800000"/>
              <a:headEnd len="sm" w="sm" type="none"/>
              <a:tailEnd len="sm" w="sm" type="none"/>
            </a:ln>
            <a:effectLst>
              <a:outerShdw blurRad="63500" dir="2388334" dist="99190">
                <a:srgbClr val="333333">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 name="Google Shape;88;p1"/>
            <p:cNvSpPr/>
            <p:nvPr/>
          </p:nvSpPr>
          <p:spPr>
            <a:xfrm>
              <a:off x="960" y="2256"/>
              <a:ext cx="648" cy="624"/>
            </a:xfrm>
            <a:prstGeom prst="diamond">
              <a:avLst/>
            </a:prstGeom>
            <a:solidFill>
              <a:schemeClr val="hlink"/>
            </a:solidFill>
            <a:ln cap="flat" cmpd="sng" w="25400">
              <a:solidFill>
                <a:schemeClr val="lt1"/>
              </a:solidFill>
              <a:prstDash val="solid"/>
              <a:miter lim="800000"/>
              <a:headEnd len="sm" w="sm" type="none"/>
              <a:tailEnd len="sm" w="sm" type="none"/>
            </a:ln>
            <a:effectLst>
              <a:outerShdw blurRad="63500" dir="2212194" dist="63500">
                <a:srgbClr val="333333">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 name="Google Shape;89;p1"/>
            <p:cNvSpPr txBox="1"/>
            <p:nvPr/>
          </p:nvSpPr>
          <p:spPr>
            <a:xfrm>
              <a:off x="1560" y="2457"/>
              <a:ext cx="3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TÌM KIẾM VÀ SẮP XẾP </a:t>
              </a:r>
              <a:endParaRPr/>
            </a:p>
          </p:txBody>
        </p:sp>
        <p:sp>
          <p:nvSpPr>
            <p:cNvPr id="90" name="Google Shape;90;p1"/>
            <p:cNvSpPr txBox="1"/>
            <p:nvPr/>
          </p:nvSpPr>
          <p:spPr>
            <a:xfrm>
              <a:off x="1218" y="2400"/>
              <a:ext cx="111" cy="2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Thuật Toán Tìm Kiếm Tuyến Tính</a:t>
            </a:r>
            <a:endParaRPr/>
          </a:p>
        </p:txBody>
      </p:sp>
      <p:sp>
        <p:nvSpPr>
          <p:cNvPr id="96" name="Google Shape;96;p6"/>
          <p:cNvSpPr txBox="1"/>
          <p:nvPr>
            <p:ph idx="1" type="body"/>
          </p:nvPr>
        </p:nvSpPr>
        <p:spPr>
          <a:xfrm>
            <a:off x="910938" y="1119450"/>
            <a:ext cx="8434500" cy="5111700"/>
          </a:xfrm>
          <a:prstGeom prst="rect">
            <a:avLst/>
          </a:prstGeom>
          <a:noFill/>
          <a:ln>
            <a:noFill/>
          </a:ln>
        </p:spPr>
        <p:txBody>
          <a:bodyPr anchorCtr="0" anchor="t" bIns="45700" lIns="91425" spcFirstLastPara="1" rIns="91425" wrap="square" tIns="45700">
            <a:noAutofit/>
          </a:bodyPr>
          <a:lstStyle/>
          <a:p>
            <a:pPr indent="-463550" lvl="0" marL="46355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Hàm trả về 1 nếu tìm thấy, ngược lại trả về 0:</a:t>
            </a:r>
            <a:endParaRPr/>
          </a:p>
          <a:p>
            <a:pPr indent="-446087" lvl="1" marL="1023937" rtl="0" algn="l">
              <a:lnSpc>
                <a:spcPct val="100000"/>
              </a:lnSpc>
              <a:spcBef>
                <a:spcPts val="1400"/>
              </a:spcBef>
              <a:spcAft>
                <a:spcPts val="0"/>
              </a:spcAft>
              <a:buClr>
                <a:srgbClr val="0000FF"/>
              </a:buClr>
              <a:buSzPts val="2800"/>
              <a:buNone/>
            </a:pP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LinearSearch(</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a[],</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n,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x)</a:t>
            </a:r>
            <a:endParaRPr/>
          </a:p>
          <a:p>
            <a:pPr indent="-446087" lvl="1" marL="1023937"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a:p>
            <a:pPr indent="-446087" lvl="1" marL="1023937" rtl="0" algn="l">
              <a:lnSpc>
                <a:spcPct val="80000"/>
              </a:lnSpc>
              <a:spcBef>
                <a:spcPts val="560"/>
              </a:spcBef>
              <a:spcAft>
                <a:spcPts val="0"/>
              </a:spcAft>
              <a:buClr>
                <a:srgbClr val="0000FF"/>
              </a:buClr>
              <a:buSzPts val="2800"/>
              <a:buNone/>
            </a:pPr>
            <a:r>
              <a:rPr b="0" i="0" lang="en-US" sz="2800" u="none">
                <a:solidFill>
                  <a:srgbClr val="0000FF"/>
                </a:solidFill>
                <a:latin typeface="Arial"/>
                <a:ea typeface="Arial"/>
                <a:cs typeface="Arial"/>
                <a:sym typeface="Arial"/>
              </a:rPr>
              <a:t>		int</a:t>
            </a:r>
            <a:r>
              <a:rPr b="0" i="0" lang="en-US" sz="2800" u="none">
                <a:solidFill>
                  <a:schemeClr val="dk1"/>
                </a:solidFill>
                <a:latin typeface="Arial"/>
                <a:ea typeface="Arial"/>
                <a:cs typeface="Arial"/>
                <a:sym typeface="Arial"/>
              </a:rPr>
              <a:t> i=0;</a:t>
            </a:r>
            <a:endParaRPr/>
          </a:p>
          <a:p>
            <a:pPr indent="-446087" lvl="1" marL="1023937"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while</a:t>
            </a:r>
            <a:r>
              <a:rPr b="0" i="0" lang="en-US" sz="2800" u="none">
                <a:solidFill>
                  <a:schemeClr val="dk1"/>
                </a:solidFill>
                <a:latin typeface="Arial"/>
                <a:ea typeface="Arial"/>
                <a:cs typeface="Arial"/>
                <a:sym typeface="Arial"/>
              </a:rPr>
              <a:t>((i&lt;n)&amp;&amp;(a[i]!=x)) 	</a:t>
            </a:r>
            <a:endParaRPr/>
          </a:p>
          <a:p>
            <a:pPr indent="-446087" lvl="1" marL="1023937"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i++;</a:t>
            </a:r>
            <a:endParaRPr/>
          </a:p>
          <a:p>
            <a:pPr indent="-446087" lvl="1" marL="1023937"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(i==n)</a:t>
            </a:r>
            <a:endParaRPr/>
          </a:p>
          <a:p>
            <a:pPr indent="-446087" lvl="1" marL="1023937"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chemeClr val="dk1"/>
                </a:solidFill>
                <a:latin typeface="Arial"/>
                <a:ea typeface="Arial"/>
                <a:cs typeface="Arial"/>
                <a:sym typeface="Arial"/>
              </a:rPr>
              <a:t> 0; </a:t>
            </a:r>
            <a:r>
              <a:rPr b="0" i="1" lang="en-US" sz="2600" u="none">
                <a:solidFill>
                  <a:schemeClr val="dk1"/>
                </a:solidFill>
                <a:latin typeface="Arial"/>
                <a:ea typeface="Arial"/>
                <a:cs typeface="Arial"/>
                <a:sym typeface="Arial"/>
              </a:rPr>
              <a:t>//Tìm không thấy x</a:t>
            </a:r>
            <a:endParaRPr/>
          </a:p>
          <a:p>
            <a:pPr indent="-446087" lvl="1" marL="1023937"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else</a:t>
            </a:r>
            <a:r>
              <a:rPr b="0" i="0" lang="en-US" sz="2800" u="none">
                <a:solidFill>
                  <a:schemeClr val="dk1"/>
                </a:solidFill>
                <a:latin typeface="Arial"/>
                <a:ea typeface="Arial"/>
                <a:cs typeface="Arial"/>
                <a:sym typeface="Arial"/>
              </a:rPr>
              <a:t>	</a:t>
            </a:r>
            <a:endParaRPr/>
          </a:p>
          <a:p>
            <a:pPr indent="-446087" lvl="1" marL="1023937"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return</a:t>
            </a:r>
            <a:r>
              <a:rPr b="0" i="0" lang="en-US" sz="2800" u="none">
                <a:solidFill>
                  <a:schemeClr val="dk1"/>
                </a:solidFill>
                <a:latin typeface="Arial"/>
                <a:ea typeface="Arial"/>
                <a:cs typeface="Arial"/>
                <a:sym typeface="Arial"/>
              </a:rPr>
              <a:t> 1; </a:t>
            </a:r>
            <a:r>
              <a:rPr b="0" i="1" lang="en-US" sz="2600" u="none">
                <a:solidFill>
                  <a:schemeClr val="dk1"/>
                </a:solidFill>
                <a:latin typeface="Arial"/>
                <a:ea typeface="Arial"/>
                <a:cs typeface="Arial"/>
                <a:sym typeface="Arial"/>
              </a:rPr>
              <a:t>//Tìm thấy</a:t>
            </a:r>
            <a:endParaRPr/>
          </a:p>
          <a:p>
            <a:pPr indent="-446087" lvl="1" marL="1023937"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Ðánh Giá Thuật Toán Tìm Tuyến Tính</a:t>
            </a:r>
            <a:endParaRPr/>
          </a:p>
        </p:txBody>
      </p:sp>
      <p:grpSp>
        <p:nvGrpSpPr>
          <p:cNvPr id="102" name="Google Shape;102;p9"/>
          <p:cNvGrpSpPr/>
          <p:nvPr/>
        </p:nvGrpSpPr>
        <p:grpSpPr>
          <a:xfrm>
            <a:off x="2194387" y="1468300"/>
            <a:ext cx="7416800" cy="4668837"/>
            <a:chOff x="897" y="880"/>
            <a:chExt cx="4672" cy="2941"/>
          </a:xfrm>
        </p:grpSpPr>
        <p:cxnSp>
          <p:nvCxnSpPr>
            <p:cNvPr id="103" name="Google Shape;103;p9"/>
            <p:cNvCxnSpPr/>
            <p:nvPr/>
          </p:nvCxnSpPr>
          <p:spPr>
            <a:xfrm>
              <a:off x="897" y="1888"/>
              <a:ext cx="4656" cy="0"/>
            </a:xfrm>
            <a:prstGeom prst="straightConnector1">
              <a:avLst/>
            </a:prstGeom>
            <a:noFill/>
            <a:ln cap="flat" cmpd="sng" w="76200">
              <a:solidFill>
                <a:srgbClr val="000000"/>
              </a:solidFill>
              <a:prstDash val="solid"/>
              <a:miter lim="800000"/>
              <a:headEnd len="med" w="med" type="none"/>
              <a:tailEnd len="med" w="med" type="none"/>
            </a:ln>
          </p:spPr>
        </p:cxnSp>
        <p:cxnSp>
          <p:nvCxnSpPr>
            <p:cNvPr id="104" name="Google Shape;104;p9"/>
            <p:cNvCxnSpPr/>
            <p:nvPr/>
          </p:nvCxnSpPr>
          <p:spPr>
            <a:xfrm>
              <a:off x="3120" y="1162"/>
              <a:ext cx="1" cy="2102"/>
            </a:xfrm>
            <a:prstGeom prst="straightConnector1">
              <a:avLst/>
            </a:prstGeom>
            <a:noFill/>
            <a:ln cap="flat" cmpd="sng" w="76200">
              <a:solidFill>
                <a:srgbClr val="000000"/>
              </a:solidFill>
              <a:prstDash val="solid"/>
              <a:miter lim="800000"/>
              <a:headEnd len="med" w="med" type="none"/>
              <a:tailEnd len="med" w="med" type="none"/>
            </a:ln>
          </p:spPr>
        </p:cxnSp>
        <p:cxnSp>
          <p:nvCxnSpPr>
            <p:cNvPr id="105" name="Google Shape;105;p9"/>
            <p:cNvCxnSpPr/>
            <p:nvPr/>
          </p:nvCxnSpPr>
          <p:spPr>
            <a:xfrm>
              <a:off x="913" y="2496"/>
              <a:ext cx="4656" cy="0"/>
            </a:xfrm>
            <a:prstGeom prst="straightConnector1">
              <a:avLst/>
            </a:prstGeom>
            <a:noFill/>
            <a:ln cap="flat" cmpd="sng" w="76200">
              <a:solidFill>
                <a:srgbClr val="000000"/>
              </a:solidFill>
              <a:prstDash val="solid"/>
              <a:miter lim="800000"/>
              <a:headEnd len="med" w="med" type="none"/>
              <a:tailEnd len="med" w="med" type="none"/>
            </a:ln>
          </p:spPr>
        </p:cxnSp>
        <p:cxnSp>
          <p:nvCxnSpPr>
            <p:cNvPr id="106" name="Google Shape;106;p9"/>
            <p:cNvCxnSpPr/>
            <p:nvPr/>
          </p:nvCxnSpPr>
          <p:spPr>
            <a:xfrm>
              <a:off x="913" y="3024"/>
              <a:ext cx="4656" cy="0"/>
            </a:xfrm>
            <a:prstGeom prst="straightConnector1">
              <a:avLst/>
            </a:prstGeom>
            <a:noFill/>
            <a:ln cap="flat" cmpd="sng" w="76200">
              <a:solidFill>
                <a:srgbClr val="000000"/>
              </a:solidFill>
              <a:prstDash val="solid"/>
              <a:miter lim="800000"/>
              <a:headEnd len="med" w="med" type="none"/>
              <a:tailEnd len="med" w="med" type="none"/>
            </a:ln>
          </p:spPr>
        </p:cxnSp>
        <p:sp>
          <p:nvSpPr>
            <p:cNvPr id="107" name="Google Shape;107;p9"/>
            <p:cNvSpPr txBox="1"/>
            <p:nvPr/>
          </p:nvSpPr>
          <p:spPr>
            <a:xfrm>
              <a:off x="1578" y="890"/>
              <a:ext cx="15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Trường hợp</a:t>
              </a:r>
              <a:endParaRPr/>
            </a:p>
          </p:txBody>
        </p:sp>
        <p:sp>
          <p:nvSpPr>
            <p:cNvPr id="108" name="Google Shape;108;p9"/>
            <p:cNvSpPr txBox="1"/>
            <p:nvPr/>
          </p:nvSpPr>
          <p:spPr>
            <a:xfrm>
              <a:off x="3755" y="880"/>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Css</a:t>
              </a:r>
              <a:endParaRPr/>
            </a:p>
          </p:txBody>
        </p:sp>
        <p:sp>
          <p:nvSpPr>
            <p:cNvPr id="109" name="Google Shape;109;p9"/>
            <p:cNvSpPr txBox="1"/>
            <p:nvPr/>
          </p:nvSpPr>
          <p:spPr>
            <a:xfrm>
              <a:off x="1633" y="2000"/>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Xấu nhất</a:t>
              </a:r>
              <a:endParaRPr/>
            </a:p>
          </p:txBody>
        </p:sp>
        <p:sp>
          <p:nvSpPr>
            <p:cNvPr id="110" name="Google Shape;110;p9"/>
            <p:cNvSpPr txBox="1"/>
            <p:nvPr/>
          </p:nvSpPr>
          <p:spPr>
            <a:xfrm>
              <a:off x="1585" y="2576"/>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Trung bình </a:t>
              </a:r>
              <a:endParaRPr/>
            </a:p>
          </p:txBody>
        </p:sp>
        <p:sp>
          <p:nvSpPr>
            <p:cNvPr id="111" name="Google Shape;111;p9"/>
            <p:cNvSpPr txBox="1"/>
            <p:nvPr/>
          </p:nvSpPr>
          <p:spPr>
            <a:xfrm>
              <a:off x="3889" y="2048"/>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N </a:t>
              </a:r>
              <a:endParaRPr/>
            </a:p>
          </p:txBody>
        </p:sp>
        <p:sp>
          <p:nvSpPr>
            <p:cNvPr id="112" name="Google Shape;112;p9"/>
            <p:cNvSpPr txBox="1"/>
            <p:nvPr/>
          </p:nvSpPr>
          <p:spPr>
            <a:xfrm>
              <a:off x="3793" y="2576"/>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(N+1) / 2</a:t>
              </a:r>
              <a:endParaRPr/>
            </a:p>
          </p:txBody>
        </p:sp>
        <p:sp>
          <p:nvSpPr>
            <p:cNvPr id="113" name="Google Shape;113;p9"/>
            <p:cNvSpPr txBox="1"/>
            <p:nvPr/>
          </p:nvSpPr>
          <p:spPr>
            <a:xfrm>
              <a:off x="1623" y="3521"/>
              <a:ext cx="3000" cy="300"/>
            </a:xfrm>
            <a:prstGeom prst="rect">
              <a:avLst/>
            </a:prstGeom>
            <a:noFill/>
            <a:ln>
              <a:noFill/>
            </a:ln>
          </p:spPr>
          <p:txBody>
            <a:bodyPr anchorCtr="0" anchor="t" bIns="45700" lIns="91425" spcFirstLastPara="1" rIns="91425" wrap="square" tIns="45700">
              <a:spAutoFit/>
            </a:bodyPr>
            <a:lstStyle/>
            <a:p>
              <a:pPr indent="-228600" lvl="0" marL="0" marR="0" rtl="0" algn="l">
                <a:lnSpc>
                  <a:spcPct val="100000"/>
                </a:lnSpc>
                <a:spcBef>
                  <a:spcPts val="0"/>
                </a:spcBef>
                <a:spcAft>
                  <a:spcPts val="0"/>
                </a:spcAft>
                <a:buClr>
                  <a:schemeClr val="dk1"/>
                </a:buClr>
                <a:buSzPts val="3600"/>
                <a:buFont typeface="Noto Sans Symbols"/>
                <a:buChar char="⮚"/>
              </a:pPr>
              <a:r>
                <a:rPr b="0" i="0" lang="en-US" sz="3600" u="none">
                  <a:solidFill>
                    <a:schemeClr val="dk1"/>
                  </a:solidFill>
                  <a:latin typeface="Arial"/>
                  <a:ea typeface="Arial"/>
                  <a:cs typeface="Arial"/>
                  <a:sym typeface="Arial"/>
                </a:rPr>
                <a:t> Độ phức tạp O(N)</a:t>
              </a:r>
              <a:endParaRPr/>
            </a:p>
          </p:txBody>
        </p:sp>
        <p:cxnSp>
          <p:nvCxnSpPr>
            <p:cNvPr id="114" name="Google Shape;114;p9"/>
            <p:cNvCxnSpPr/>
            <p:nvPr/>
          </p:nvCxnSpPr>
          <p:spPr>
            <a:xfrm>
              <a:off x="897" y="1344"/>
              <a:ext cx="4656" cy="0"/>
            </a:xfrm>
            <a:prstGeom prst="straightConnector1">
              <a:avLst/>
            </a:prstGeom>
            <a:noFill/>
            <a:ln cap="flat" cmpd="sng" w="76200">
              <a:solidFill>
                <a:srgbClr val="000000"/>
              </a:solidFill>
              <a:prstDash val="solid"/>
              <a:miter lim="800000"/>
              <a:headEnd len="med" w="med" type="none"/>
              <a:tailEnd len="med" w="med" type="none"/>
            </a:ln>
          </p:spPr>
        </p:cxnSp>
        <p:sp>
          <p:nvSpPr>
            <p:cNvPr id="115" name="Google Shape;115;p9"/>
            <p:cNvSpPr txBox="1"/>
            <p:nvPr/>
          </p:nvSpPr>
          <p:spPr>
            <a:xfrm>
              <a:off x="1578" y="1425"/>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Tốt nhất</a:t>
              </a:r>
              <a:endParaRPr/>
            </a:p>
          </p:txBody>
        </p:sp>
        <p:sp>
          <p:nvSpPr>
            <p:cNvPr id="116" name="Google Shape;116;p9"/>
            <p:cNvSpPr txBox="1"/>
            <p:nvPr/>
          </p:nvSpPr>
          <p:spPr>
            <a:xfrm>
              <a:off x="3891" y="1389"/>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800"/>
                <a:buFont typeface="Arial"/>
                <a:buNone/>
              </a:pPr>
              <a:r>
                <a:rPr b="0" i="0" lang="en-US" sz="2800" u="none">
                  <a:solidFill>
                    <a:srgbClr val="080808"/>
                  </a:solidFill>
                  <a:latin typeface="Arial"/>
                  <a:ea typeface="Arial"/>
                  <a:cs typeface="Arial"/>
                  <a:sym typeface="Arial"/>
                </a:rPr>
                <a:t>1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Thuật Toán Tìm Kiếm Nhị Phân</a:t>
            </a:r>
            <a:endParaRPr/>
          </a:p>
        </p:txBody>
      </p:sp>
      <p:sp>
        <p:nvSpPr>
          <p:cNvPr id="122" name="Google Shape;122;p11"/>
          <p:cNvSpPr txBox="1"/>
          <p:nvPr>
            <p:ph idx="1" type="body"/>
          </p:nvPr>
        </p:nvSpPr>
        <p:spPr>
          <a:xfrm>
            <a:off x="992187" y="981075"/>
            <a:ext cx="8424862"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Được áp dụng trên mảng đã có thứ tự.</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Ý tưởng</a:t>
            </a:r>
            <a:r>
              <a:rPr b="0" i="0" lang="en-US" sz="2800" u="none">
                <a:solidFill>
                  <a:schemeClr val="dk1"/>
                </a:solidFill>
                <a:latin typeface="Arial"/>
                <a:ea typeface="Arial"/>
                <a:cs typeface="Arial"/>
                <a:sym typeface="Arial"/>
              </a:rPr>
              <a:t>: </a:t>
            </a:r>
            <a:endParaRPr/>
          </a:p>
          <a:p>
            <a:pPr indent="-446087" lvl="1" marL="1023937"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Giả xử ta xét mảng có thứ tự tăng, khi ấy ta có </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a:t>
            </a:r>
            <a:r>
              <a:rPr b="0" baseline="-25000" i="0" lang="en-US" sz="2400" u="none">
                <a:solidFill>
                  <a:schemeClr val="dk1"/>
                </a:solidFill>
                <a:latin typeface="Arial"/>
                <a:ea typeface="Arial"/>
                <a:cs typeface="Arial"/>
                <a:sym typeface="Arial"/>
              </a:rPr>
              <a:t>i-1</a:t>
            </a:r>
            <a:r>
              <a:rPr b="0" i="0" lang="en-US" sz="2400" u="none">
                <a:solidFill>
                  <a:schemeClr val="dk1"/>
                </a:solidFill>
                <a:latin typeface="Arial"/>
                <a:ea typeface="Arial"/>
                <a:cs typeface="Arial"/>
                <a:sym typeface="Arial"/>
              </a:rPr>
              <a:t>&lt;a</a:t>
            </a:r>
            <a:r>
              <a:rPr b="0" baseline="-25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&lt;a</a:t>
            </a:r>
            <a:r>
              <a:rPr b="0" baseline="-25000" i="0" lang="en-US" sz="2400" u="none">
                <a:solidFill>
                  <a:schemeClr val="dk1"/>
                </a:solidFill>
                <a:latin typeface="Arial"/>
                <a:ea typeface="Arial"/>
                <a:cs typeface="Arial"/>
                <a:sym typeface="Arial"/>
              </a:rPr>
              <a:t>i+1</a:t>
            </a:r>
            <a:endParaRPr/>
          </a:p>
          <a:p>
            <a:pPr indent="-446087" lvl="1" marL="1023937"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Nếu X&gt;a</a:t>
            </a:r>
            <a:r>
              <a:rPr b="0" baseline="-25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 thì X chỉ có thể xuất hiện trong đoạn [a</a:t>
            </a:r>
            <a:r>
              <a:rPr b="0" baseline="-25000" i="0" lang="en-US" sz="2400" u="none">
                <a:solidFill>
                  <a:schemeClr val="dk1"/>
                </a:solidFill>
                <a:latin typeface="Arial"/>
                <a:ea typeface="Arial"/>
                <a:cs typeface="Arial"/>
                <a:sym typeface="Arial"/>
              </a:rPr>
              <a:t>i+1</a:t>
            </a:r>
            <a:r>
              <a:rPr b="0" i="0" lang="en-US" sz="2400" u="none">
                <a:solidFill>
                  <a:schemeClr val="dk1"/>
                </a:solidFill>
                <a:latin typeface="Arial"/>
                <a:ea typeface="Arial"/>
                <a:cs typeface="Arial"/>
                <a:sym typeface="Arial"/>
              </a:rPr>
              <a:t>, a</a:t>
            </a:r>
            <a:r>
              <a:rPr b="0" baseline="-25000" i="0" lang="en-US" sz="2400" u="none">
                <a:solidFill>
                  <a:schemeClr val="dk1"/>
                </a:solidFill>
                <a:latin typeface="Arial"/>
                <a:ea typeface="Arial"/>
                <a:cs typeface="Arial"/>
                <a:sym typeface="Arial"/>
              </a:rPr>
              <a:t>n-1</a:t>
            </a:r>
            <a:r>
              <a:rPr b="0" i="0" lang="en-US" sz="2400" u="none">
                <a:solidFill>
                  <a:schemeClr val="dk1"/>
                </a:solidFill>
                <a:latin typeface="Arial"/>
                <a:ea typeface="Arial"/>
                <a:cs typeface="Arial"/>
                <a:sym typeface="Arial"/>
              </a:rPr>
              <a:t>]</a:t>
            </a:r>
            <a:endParaRPr/>
          </a:p>
          <a:p>
            <a:pPr indent="-446087" lvl="1" marL="1023937"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Nếu X&lt;a</a:t>
            </a:r>
            <a:r>
              <a:rPr b="0" baseline="-25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 thì X chỉ có thể xuất hiện trong đoạn [a</a:t>
            </a:r>
            <a:r>
              <a:rPr b="0" baseline="-25000" i="0" lang="en-US" sz="2400" u="none">
                <a:solidFill>
                  <a:schemeClr val="dk1"/>
                </a:solidFill>
                <a:latin typeface="Arial"/>
                <a:ea typeface="Arial"/>
                <a:cs typeface="Arial"/>
                <a:sym typeface="Arial"/>
              </a:rPr>
              <a:t>0</a:t>
            </a:r>
            <a:r>
              <a:rPr b="0" i="0" lang="en-US" sz="2400" u="none">
                <a:solidFill>
                  <a:schemeClr val="dk1"/>
                </a:solidFill>
                <a:latin typeface="Arial"/>
                <a:ea typeface="Arial"/>
                <a:cs typeface="Arial"/>
                <a:sym typeface="Arial"/>
              </a:rPr>
              <a:t>,   a</a:t>
            </a:r>
            <a:r>
              <a:rPr b="0" baseline="-25000" i="0" lang="en-US" sz="2400" u="none">
                <a:solidFill>
                  <a:schemeClr val="dk1"/>
                </a:solidFill>
                <a:latin typeface="Arial"/>
                <a:ea typeface="Arial"/>
                <a:cs typeface="Arial"/>
                <a:sym typeface="Arial"/>
              </a:rPr>
              <a:t>i-1</a:t>
            </a:r>
            <a:r>
              <a:rPr b="0" i="0" lang="en-US" sz="2400" u="none">
                <a:solidFill>
                  <a:schemeClr val="dk1"/>
                </a:solidFill>
                <a:latin typeface="Arial"/>
                <a:ea typeface="Arial"/>
                <a:cs typeface="Arial"/>
                <a:sym typeface="Arial"/>
              </a:rPr>
              <a:t>]</a:t>
            </a:r>
            <a:endParaRPr/>
          </a:p>
          <a:p>
            <a:pPr indent="-446087" lvl="1" marL="1023937" rtl="0" algn="l">
              <a:lnSpc>
                <a:spcPct val="100000"/>
              </a:lnSpc>
              <a:spcBef>
                <a:spcPts val="120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Ý tưởng của giải thuật là tại mỗi bước ta so sánh X với phần tử đứng giữa trong dãy tìm kiếm hiện hành, dựa vào kết quả so sánh này mà ta quyết định giới hạn dãy tìm kiếm ở n</a:t>
            </a:r>
            <a:r>
              <a:rPr lang="en-US" sz="2400"/>
              <a:t>ửa</a:t>
            </a:r>
            <a:r>
              <a:rPr b="0" i="0" lang="en-US" sz="2400" u="none">
                <a:solidFill>
                  <a:schemeClr val="dk1"/>
                </a:solidFill>
                <a:latin typeface="Arial"/>
                <a:ea typeface="Arial"/>
                <a:cs typeface="Arial"/>
                <a:sym typeface="Arial"/>
              </a:rPr>
              <a:t> dưới hay nữa trên của dãy tìm kiếm hiện hành.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Các Bước Thuật Toán Tìm Kiếm Nhị Phân1</a:t>
            </a:r>
            <a:endParaRPr/>
          </a:p>
        </p:txBody>
      </p:sp>
      <p:sp>
        <p:nvSpPr>
          <p:cNvPr id="128" name="Google Shape;128;p12"/>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Giả sử dãy tìm kiếm hiện hành bao gồm các phần tử nằm trong a</a:t>
            </a:r>
            <a:r>
              <a:rPr b="0" baseline="-25000" i="0" lang="en-US" sz="2600" u="none">
                <a:solidFill>
                  <a:schemeClr val="dk1"/>
                </a:solidFill>
                <a:latin typeface="Arial"/>
                <a:ea typeface="Arial"/>
                <a:cs typeface="Arial"/>
                <a:sym typeface="Arial"/>
              </a:rPr>
              <a:t>left</a:t>
            </a:r>
            <a:r>
              <a:rPr b="0" i="0" lang="en-US" sz="2600" u="none">
                <a:solidFill>
                  <a:schemeClr val="dk1"/>
                </a:solidFill>
                <a:latin typeface="Arial"/>
                <a:ea typeface="Arial"/>
                <a:cs typeface="Arial"/>
                <a:sym typeface="Arial"/>
              </a:rPr>
              <a:t>, a</a:t>
            </a:r>
            <a:r>
              <a:rPr b="0" baseline="-25000" i="0" lang="en-US" sz="2600" u="none">
                <a:solidFill>
                  <a:schemeClr val="dk1"/>
                </a:solidFill>
                <a:latin typeface="Arial"/>
                <a:ea typeface="Arial"/>
                <a:cs typeface="Arial"/>
                <a:sym typeface="Arial"/>
              </a:rPr>
              <a:t>right</a:t>
            </a:r>
            <a:r>
              <a:rPr b="0" i="0" lang="en-US" sz="2600" u="none">
                <a:solidFill>
                  <a:schemeClr val="dk1"/>
                </a:solidFill>
                <a:latin typeface="Arial"/>
                <a:ea typeface="Arial"/>
                <a:cs typeface="Arial"/>
                <a:sym typeface="Arial"/>
              </a:rPr>
              <a:t>, các bước của giải thuật như sau:</a:t>
            </a:r>
            <a:endParaRPr/>
          </a:p>
          <a:p>
            <a:pPr indent="-463550" lvl="0" marL="463550" rtl="0" algn="l">
              <a:lnSpc>
                <a:spcPct val="100000"/>
              </a:lnSpc>
              <a:spcBef>
                <a:spcPts val="48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1</a:t>
            </a:r>
            <a:r>
              <a:rPr b="0" i="0" lang="en-US" sz="2400" u="none">
                <a:solidFill>
                  <a:schemeClr val="dk1"/>
                </a:solidFill>
                <a:latin typeface="Arial"/>
                <a:ea typeface="Arial"/>
                <a:cs typeface="Arial"/>
                <a:sym typeface="Arial"/>
              </a:rPr>
              <a:t>: left=0; right=N-1;</a:t>
            </a:r>
            <a:endParaRPr/>
          </a:p>
          <a:p>
            <a:pPr indent="-463550" lvl="0" marL="463550" rtl="0" algn="l">
              <a:lnSpc>
                <a:spcPct val="100000"/>
              </a:lnSpc>
              <a:spcBef>
                <a:spcPts val="48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2</a:t>
            </a:r>
            <a:r>
              <a:rPr b="0" i="0" lang="en-US" sz="2400" u="none">
                <a:solidFill>
                  <a:schemeClr val="dk1"/>
                </a:solidFill>
                <a:latin typeface="Arial"/>
                <a:ea typeface="Arial"/>
                <a:cs typeface="Arial"/>
                <a:sym typeface="Arial"/>
              </a:rPr>
              <a:t>: </a:t>
            </a:r>
            <a:endParaRPr/>
          </a:p>
          <a:p>
            <a:pPr indent="-446087" lvl="1" marL="1023937"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mid=(left+right)/2; </a:t>
            </a:r>
            <a:r>
              <a:rPr b="0" i="1" lang="en-US" sz="2400" u="none">
                <a:solidFill>
                  <a:schemeClr val="dk1"/>
                </a:solidFill>
                <a:latin typeface="Arial"/>
                <a:ea typeface="Arial"/>
                <a:cs typeface="Arial"/>
                <a:sym typeface="Arial"/>
              </a:rPr>
              <a:t>//chỉ số phần tử giữa dãy hiện hành</a:t>
            </a:r>
            <a:endParaRPr/>
          </a:p>
          <a:p>
            <a:pPr indent="-446087" lvl="1" marL="1023937"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So sánh a[mid] với x. Có 3 khả năng</a:t>
            </a:r>
            <a:endParaRPr/>
          </a:p>
          <a:p>
            <a:pPr indent="-336549" lvl="3" marL="1938336"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a[mid]= x: tìm thấy. Dừng</a:t>
            </a:r>
            <a:endParaRPr/>
          </a:p>
          <a:p>
            <a:pPr indent="-336549" lvl="3" marL="1938336"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a[mid]&gt;x :  Right= mid-1; </a:t>
            </a:r>
            <a:endParaRPr/>
          </a:p>
          <a:p>
            <a:pPr indent="-336549" lvl="3" marL="1938336"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a[mid]&lt;x : Left= mid+1;</a:t>
            </a:r>
            <a:endParaRPr/>
          </a:p>
          <a:p>
            <a:pPr indent="-463550" lvl="0" marL="463550" rtl="0" algn="l">
              <a:lnSpc>
                <a:spcPct val="100000"/>
              </a:lnSpc>
              <a:spcBef>
                <a:spcPts val="48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3</a:t>
            </a:r>
            <a:r>
              <a:rPr b="0" i="0" lang="en-US" sz="2400" u="none">
                <a:solidFill>
                  <a:schemeClr val="dk1"/>
                </a:solidFill>
                <a:latin typeface="Arial"/>
                <a:ea typeface="Arial"/>
                <a:cs typeface="Arial"/>
                <a:sym typeface="Arial"/>
              </a:rPr>
              <a:t>: Nếu Left &lt;=Right ; </a:t>
            </a:r>
            <a:r>
              <a:rPr b="0" i="1" lang="en-US" sz="2400" u="none">
                <a:solidFill>
                  <a:schemeClr val="dk1"/>
                </a:solidFill>
                <a:latin typeface="Arial"/>
                <a:ea typeface="Arial"/>
                <a:cs typeface="Arial"/>
                <a:sym typeface="Arial"/>
              </a:rPr>
              <a:t>//  còn phần tử trong dãy hiện 					hành</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 Lặp lại bước 2</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Ngược lại : Dừng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Cài Đặt Thuật Toán Tìm Nhị Phân</a:t>
            </a:r>
            <a:endParaRPr/>
          </a:p>
        </p:txBody>
      </p:sp>
      <p:sp>
        <p:nvSpPr>
          <p:cNvPr id="134" name="Google Shape;134;p13"/>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Hàm trả về giá trị 1 nếu tìm thấy, ngược lại hàm trả về giá trị 0</a:t>
            </a:r>
            <a:endParaRPr/>
          </a:p>
          <a:p>
            <a:pPr indent="-446087" lvl="1" marL="1023937" rtl="0" algn="l">
              <a:lnSpc>
                <a:spcPct val="100000"/>
              </a:lnSpc>
              <a:spcBef>
                <a:spcPts val="480"/>
              </a:spcBef>
              <a:spcAft>
                <a:spcPts val="0"/>
              </a:spcAft>
              <a:buClr>
                <a:srgbClr val="0000FF"/>
              </a:buClr>
              <a:buSzPts val="2400"/>
              <a:buNone/>
            </a:pP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BinarySearch(</a:t>
            </a: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a[],</a:t>
            </a:r>
            <a:r>
              <a:rPr b="0" i="0" lang="en-US" sz="2400" u="none">
                <a:solidFill>
                  <a:srgbClr val="0000FF"/>
                </a:solidFill>
                <a:latin typeface="Arial"/>
                <a:ea typeface="Arial"/>
                <a:cs typeface="Arial"/>
                <a:sym typeface="Arial"/>
              </a:rPr>
              <a:t>int </a:t>
            </a:r>
            <a:r>
              <a:rPr b="0" i="0" lang="en-US" sz="2400" u="none">
                <a:solidFill>
                  <a:schemeClr val="dk1"/>
                </a:solidFill>
                <a:latin typeface="Arial"/>
                <a:ea typeface="Arial"/>
                <a:cs typeface="Arial"/>
                <a:sym typeface="Arial"/>
              </a:rPr>
              <a:t>n,</a:t>
            </a: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x)</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left, right, mid; left=0; right=n-1;</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do </a:t>
            </a:r>
            <a:endParaRPr sz="2400">
              <a:solidFill>
                <a:srgbClr val="0000FF"/>
              </a:solidFill>
            </a:endParaRPr>
          </a:p>
          <a:p>
            <a:pPr indent="-446087" lvl="1" marL="1023937" rtl="0" algn="l">
              <a:lnSpc>
                <a:spcPct val="100000"/>
              </a:lnSpc>
              <a:spcBef>
                <a:spcPts val="480"/>
              </a:spcBef>
              <a:spcAft>
                <a:spcPts val="0"/>
              </a:spcAft>
              <a:buClr>
                <a:schemeClr val="dk1"/>
              </a:buClr>
              <a:buSzPts val="2400"/>
              <a:buNone/>
            </a:pPr>
            <a:r>
              <a:rPr lang="en-US" sz="2400"/>
              <a:t>         </a:t>
            </a:r>
            <a:r>
              <a:rPr b="0" i="0" lang="en-US" sz="2400" u="none">
                <a:solidFill>
                  <a:schemeClr val="dk1"/>
                </a:solidFill>
                <a:latin typeface="Arial"/>
                <a:ea typeface="Arial"/>
                <a:cs typeface="Arial"/>
                <a:sym typeface="Arial"/>
              </a:rPr>
              <a:t>{mid=(left+right)/2;</a:t>
            </a:r>
            <a:endParaRPr/>
          </a:p>
          <a:p>
            <a:pPr indent="0" lvl="1" marL="0" rtl="0" algn="l">
              <a:lnSpc>
                <a:spcPct val="100000"/>
              </a:lnSpc>
              <a:spcBef>
                <a:spcPts val="480"/>
              </a:spcBef>
              <a:spcAft>
                <a:spcPts val="0"/>
              </a:spcAft>
              <a:buClr>
                <a:schemeClr val="dk1"/>
              </a:buClr>
              <a:buSzPts val="2400"/>
              <a:buNone/>
            </a:pPr>
            <a:r>
              <a:rPr lang="en-US" sz="2400"/>
              <a:t> </a:t>
            </a: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if </a:t>
            </a:r>
            <a:r>
              <a:rPr b="0" i="0" lang="en-US" sz="2400" u="none">
                <a:solidFill>
                  <a:schemeClr val="dk1"/>
                </a:solidFill>
                <a:latin typeface="Arial"/>
                <a:ea typeface="Arial"/>
                <a:cs typeface="Arial"/>
                <a:sym typeface="Arial"/>
              </a:rPr>
              <a:t>(a[mid]==x) return 1;</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else</a:t>
            </a: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if</a:t>
            </a:r>
            <a:r>
              <a:rPr b="0" i="0" lang="en-US" sz="2400" u="none">
                <a:solidFill>
                  <a:schemeClr val="dk1"/>
                </a:solidFill>
                <a:latin typeface="Arial"/>
                <a:ea typeface="Arial"/>
                <a:cs typeface="Arial"/>
                <a:sym typeface="Arial"/>
              </a:rPr>
              <a:t>(a[mid]&lt;x)  left=mid+1;		</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else</a:t>
            </a:r>
            <a:r>
              <a:rPr b="0" i="0" lang="en-US" sz="2400" u="none">
                <a:solidFill>
                  <a:schemeClr val="dk1"/>
                </a:solidFill>
                <a:latin typeface="Arial"/>
                <a:ea typeface="Arial"/>
                <a:cs typeface="Arial"/>
                <a:sym typeface="Arial"/>
              </a:rPr>
              <a:t>  right=mid-1;</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endParaRPr b="0" i="0" sz="2400" u="none">
              <a:solidFill>
                <a:schemeClr val="dk1"/>
              </a:solidFill>
              <a:latin typeface="Arial"/>
              <a:ea typeface="Arial"/>
              <a:cs typeface="Arial"/>
              <a:sym typeface="Arial"/>
            </a:endParaRPr>
          </a:p>
          <a:p>
            <a:pPr indent="-446087" lvl="1" marL="1023937" rtl="0" algn="l">
              <a:lnSpc>
                <a:spcPct val="100000"/>
              </a:lnSpc>
              <a:spcBef>
                <a:spcPts val="480"/>
              </a:spcBef>
              <a:spcAft>
                <a:spcPts val="0"/>
              </a:spcAft>
              <a:buClr>
                <a:schemeClr val="dk1"/>
              </a:buClr>
              <a:buSzPts val="2400"/>
              <a:buNone/>
            </a:pPr>
            <a:r>
              <a:rPr lang="en-US" sz="2400">
                <a:solidFill>
                  <a:srgbClr val="0000FF"/>
                </a:solidFill>
              </a:rPr>
              <a:t>     </a:t>
            </a:r>
            <a:r>
              <a:rPr b="0" i="0" lang="en-US" sz="2400" u="none">
                <a:solidFill>
                  <a:srgbClr val="0000FF"/>
                </a:solidFill>
                <a:latin typeface="Arial"/>
                <a:ea typeface="Arial"/>
                <a:cs typeface="Arial"/>
                <a:sym typeface="Arial"/>
              </a:rPr>
              <a:t>while</a:t>
            </a:r>
            <a:r>
              <a:rPr b="0" i="0" lang="en-US" sz="2400" u="none">
                <a:solidFill>
                  <a:schemeClr val="dk1"/>
                </a:solidFill>
                <a:latin typeface="Arial"/>
                <a:ea typeface="Arial"/>
                <a:cs typeface="Arial"/>
                <a:sym typeface="Arial"/>
              </a:rPr>
              <a:t>(left&lt;=right);</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return</a:t>
            </a:r>
            <a:r>
              <a:rPr b="0" i="0" lang="en-US" sz="2400" u="none">
                <a:solidFill>
                  <a:schemeClr val="dk1"/>
                </a:solidFill>
                <a:latin typeface="Arial"/>
                <a:ea typeface="Arial"/>
                <a:cs typeface="Arial"/>
                <a:sym typeface="Arial"/>
              </a:rPr>
              <a:t> 0</a:t>
            </a:r>
            <a:r>
              <a:rPr lang="en-US" sz="2400"/>
              <a:t>; </a:t>
            </a:r>
            <a:endParaRPr/>
          </a:p>
          <a:p>
            <a:pPr indent="-446087" lvl="1" marL="1023937"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Bài Toán Sắp Xếp (tt)</a:t>
            </a:r>
            <a:endParaRPr/>
          </a:p>
        </p:txBody>
      </p:sp>
      <p:sp>
        <p:nvSpPr>
          <p:cNvPr id="140" name="Google Shape;140;p18"/>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a: là dãy các phần tử dữ liệu</a:t>
            </a:r>
            <a:endParaRPr/>
          </a:p>
          <a:p>
            <a:pPr indent="-463550" lvl="0" marL="463550" rtl="0" algn="l">
              <a:lnSpc>
                <a:spcPct val="100000"/>
              </a:lnSpc>
              <a:spcBef>
                <a:spcPts val="52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Để sắp xếp dãy a theo thứ tự (giả sử theo thứ tự tăng), ta tiến hành triệt tiêu tất cả các nghịch thế trong a.</a:t>
            </a:r>
            <a:endParaRPr/>
          </a:p>
          <a:p>
            <a:pPr indent="-446087" lvl="1" marL="1023937" rtl="0" algn="l">
              <a:lnSpc>
                <a:spcPct val="100000"/>
              </a:lnSpc>
              <a:spcBef>
                <a:spcPts val="52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Nghịch thế: </a:t>
            </a:r>
            <a:endParaRPr/>
          </a:p>
          <a:p>
            <a:pPr indent="-349249" lvl="2" marL="1487487" rtl="0" algn="l">
              <a:lnSpc>
                <a:spcPct val="100000"/>
              </a:lnSpc>
              <a:spcBef>
                <a:spcPts val="520"/>
              </a:spcBef>
              <a:spcAft>
                <a:spcPts val="0"/>
              </a:spcAft>
              <a:buClr>
                <a:schemeClr val="dk1"/>
              </a:buClr>
              <a:buSzPts val="2600"/>
              <a:buChar char="•"/>
            </a:pPr>
            <a:r>
              <a:rPr b="0" i="0" lang="en-US" sz="2600" u="none">
                <a:solidFill>
                  <a:schemeClr val="dk1"/>
                </a:solidFill>
                <a:latin typeface="Arial"/>
                <a:ea typeface="Arial"/>
                <a:cs typeface="Arial"/>
                <a:sym typeface="Arial"/>
              </a:rPr>
              <a:t>Cho dãy có n phần tử a</a:t>
            </a:r>
            <a:r>
              <a:rPr b="0" baseline="-25000" i="0" lang="en-US" sz="2600" u="none">
                <a:solidFill>
                  <a:schemeClr val="dk1"/>
                </a:solidFill>
                <a:latin typeface="Arial"/>
                <a:ea typeface="Arial"/>
                <a:cs typeface="Arial"/>
                <a:sym typeface="Arial"/>
              </a:rPr>
              <a:t>0</a:t>
            </a:r>
            <a:r>
              <a:rPr b="0" i="0" lang="en-US" sz="2600" u="none">
                <a:solidFill>
                  <a:schemeClr val="dk1"/>
                </a:solidFill>
                <a:latin typeface="Arial"/>
                <a:ea typeface="Arial"/>
                <a:cs typeface="Arial"/>
                <a:sym typeface="Arial"/>
              </a:rPr>
              <a:t>, a</a:t>
            </a:r>
            <a:r>
              <a:rPr b="0" baseline="-25000" i="0" lang="en-US" sz="2600" u="none">
                <a:solidFill>
                  <a:schemeClr val="dk1"/>
                </a:solidFill>
                <a:latin typeface="Arial"/>
                <a:ea typeface="Arial"/>
                <a:cs typeface="Arial"/>
                <a:sym typeface="Arial"/>
              </a:rPr>
              <a:t>1</a:t>
            </a:r>
            <a:r>
              <a:rPr b="0" i="0" lang="en-US" sz="2600" u="none">
                <a:solidFill>
                  <a:schemeClr val="dk1"/>
                </a:solidFill>
                <a:latin typeface="Arial"/>
                <a:ea typeface="Arial"/>
                <a:cs typeface="Arial"/>
                <a:sym typeface="Arial"/>
              </a:rPr>
              <a:t>,…,a</a:t>
            </a:r>
            <a:r>
              <a:rPr b="0" baseline="-25000" i="0" lang="en-US" sz="2600" u="none">
                <a:solidFill>
                  <a:schemeClr val="dk1"/>
                </a:solidFill>
                <a:latin typeface="Arial"/>
                <a:ea typeface="Arial"/>
                <a:cs typeface="Arial"/>
                <a:sym typeface="Arial"/>
              </a:rPr>
              <a:t>n-1</a:t>
            </a:r>
            <a:endParaRPr/>
          </a:p>
          <a:p>
            <a:pPr indent="-349249" lvl="2" marL="1487487" rtl="0" algn="l">
              <a:lnSpc>
                <a:spcPct val="100000"/>
              </a:lnSpc>
              <a:spcBef>
                <a:spcPts val="520"/>
              </a:spcBef>
              <a:spcAft>
                <a:spcPts val="0"/>
              </a:spcAft>
              <a:buClr>
                <a:schemeClr val="dk1"/>
              </a:buClr>
              <a:buSzPts val="2600"/>
              <a:buChar char="•"/>
            </a:pPr>
            <a:r>
              <a:rPr b="0" i="0" lang="en-US" sz="2600" u="none">
                <a:solidFill>
                  <a:schemeClr val="dk1"/>
                </a:solidFill>
                <a:latin typeface="Arial"/>
                <a:ea typeface="Arial"/>
                <a:cs typeface="Arial"/>
                <a:sym typeface="Arial"/>
              </a:rPr>
              <a:t>Nếu i&lt;j và a</a:t>
            </a:r>
            <a:r>
              <a:rPr b="0" baseline="-25000" i="0" lang="en-US" sz="2600" u="none">
                <a:solidFill>
                  <a:schemeClr val="dk1"/>
                </a:solidFill>
                <a:latin typeface="Arial"/>
                <a:ea typeface="Arial"/>
                <a:cs typeface="Arial"/>
                <a:sym typeface="Arial"/>
              </a:rPr>
              <a:t>i</a:t>
            </a:r>
            <a:r>
              <a:rPr b="0" i="0" lang="en-US" sz="2600" u="none">
                <a:solidFill>
                  <a:schemeClr val="dk1"/>
                </a:solidFill>
                <a:latin typeface="Arial"/>
                <a:ea typeface="Arial"/>
                <a:cs typeface="Arial"/>
                <a:sym typeface="Arial"/>
              </a:rPr>
              <a:t> &gt;a</a:t>
            </a:r>
            <a:r>
              <a:rPr b="0" baseline="-25000" i="0" lang="en-US" sz="2600" u="none">
                <a:solidFill>
                  <a:schemeClr val="dk1"/>
                </a:solidFill>
                <a:latin typeface="Arial"/>
                <a:ea typeface="Arial"/>
                <a:cs typeface="Arial"/>
                <a:sym typeface="Arial"/>
              </a:rPr>
              <a:t>j</a:t>
            </a:r>
            <a:endParaRPr/>
          </a:p>
          <a:p>
            <a:pPr indent="-463550" lvl="0" marL="463550" rtl="0" algn="ctr">
              <a:lnSpc>
                <a:spcPct val="100000"/>
              </a:lnSpc>
              <a:spcBef>
                <a:spcPts val="520"/>
              </a:spcBef>
              <a:spcAft>
                <a:spcPts val="0"/>
              </a:spcAft>
              <a:buClr>
                <a:schemeClr val="dk1"/>
              </a:buClr>
              <a:buSzPts val="2600"/>
              <a:buNone/>
            </a:pPr>
            <a:r>
              <a:rPr lang="en-US" sz="2600"/>
              <a:t>a[0], a[1] là cặp nghịch thế</a:t>
            </a:r>
            <a:endParaRPr b="0" i="0" sz="2600" u="none">
              <a:solidFill>
                <a:schemeClr val="dk1"/>
              </a:solidFill>
              <a:latin typeface="Arial"/>
              <a:ea typeface="Arial"/>
              <a:cs typeface="Arial"/>
              <a:sym typeface="Arial"/>
            </a:endParaRPr>
          </a:p>
          <a:p>
            <a:pPr indent="-463550" lvl="0" marL="463550" rtl="0" algn="ctr">
              <a:lnSpc>
                <a:spcPct val="100000"/>
              </a:lnSpc>
              <a:spcBef>
                <a:spcPts val="520"/>
              </a:spcBef>
              <a:spcAft>
                <a:spcPts val="0"/>
              </a:spcAft>
              <a:buClr>
                <a:schemeClr val="dk1"/>
              </a:buClr>
              <a:buSzPts val="2600"/>
              <a:buNone/>
            </a:pPr>
            <a:r>
              <a:rPr b="0" i="0" lang="en-US" sz="2600" u="none">
                <a:solidFill>
                  <a:schemeClr val="dk1"/>
                </a:solidFill>
                <a:latin typeface="Arial"/>
                <a:ea typeface="Arial"/>
                <a:cs typeface="Arial"/>
                <a:sym typeface="Arial"/>
              </a:rPr>
              <a:t> </a:t>
            </a:r>
            <a:endParaRPr/>
          </a:p>
          <a:p>
            <a:pPr indent="-463550" lvl="0" marL="463550" rtl="0" algn="l">
              <a:lnSpc>
                <a:spcPct val="100000"/>
              </a:lnSpc>
              <a:spcBef>
                <a:spcPts val="52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Đánh giá độ phức tạp của giải thuật, ta tính</a:t>
            </a:r>
            <a:endParaRPr/>
          </a:p>
          <a:p>
            <a:pPr indent="-349250" lvl="2" marL="1487487" rtl="0" algn="l">
              <a:lnSpc>
                <a:spcPct val="100000"/>
              </a:lnSpc>
              <a:spcBef>
                <a:spcPts val="520"/>
              </a:spcBef>
              <a:spcAft>
                <a:spcPts val="0"/>
              </a:spcAft>
              <a:buClr>
                <a:schemeClr val="dk1"/>
              </a:buClr>
              <a:buSzPts val="2600"/>
              <a:buNone/>
            </a:pPr>
            <a:r>
              <a:rPr b="0" i="0" lang="en-US" sz="2600" u="none">
                <a:solidFill>
                  <a:schemeClr val="dk1"/>
                </a:solidFill>
                <a:latin typeface="Arial"/>
                <a:ea typeface="Arial"/>
                <a:cs typeface="Arial"/>
                <a:sym typeface="Arial"/>
              </a:rPr>
              <a:t>C</a:t>
            </a:r>
            <a:r>
              <a:rPr b="0" baseline="-25000" i="0" lang="en-US" sz="2600" u="none">
                <a:solidFill>
                  <a:schemeClr val="dk1"/>
                </a:solidFill>
                <a:latin typeface="Arial"/>
                <a:ea typeface="Arial"/>
                <a:cs typeface="Arial"/>
                <a:sym typeface="Arial"/>
              </a:rPr>
              <a:t>ss</a:t>
            </a:r>
            <a:r>
              <a:rPr b="0" i="0" lang="en-US" sz="2600" u="none">
                <a:solidFill>
                  <a:schemeClr val="dk1"/>
                </a:solidFill>
                <a:latin typeface="Arial"/>
                <a:ea typeface="Arial"/>
                <a:cs typeface="Arial"/>
                <a:sym typeface="Arial"/>
              </a:rPr>
              <a:t>: Số lượng phép so sánh cần</a:t>
            </a:r>
            <a:r>
              <a:rPr b="0" i="0" lang="en-US" sz="2600" u="none">
                <a:solidFill>
                  <a:schemeClr val="dk1"/>
                </a:solidFill>
                <a:latin typeface="Arial"/>
                <a:ea typeface="Arial"/>
                <a:cs typeface="Arial"/>
                <a:sym typeface="Arial"/>
              </a:rPr>
              <a:t> thực hiện</a:t>
            </a:r>
            <a:endParaRPr/>
          </a:p>
          <a:p>
            <a:pPr indent="-349249" lvl="2" marL="1487487" rtl="0" algn="l">
              <a:lnSpc>
                <a:spcPct val="100000"/>
              </a:lnSpc>
              <a:spcBef>
                <a:spcPts val="520"/>
              </a:spcBef>
              <a:spcAft>
                <a:spcPts val="0"/>
              </a:spcAft>
              <a:buClr>
                <a:schemeClr val="dk1"/>
              </a:buClr>
              <a:buSzPts val="2600"/>
              <a:buNone/>
            </a:pPr>
            <a:r>
              <a:rPr b="0" i="0" lang="en-US" sz="2600" u="none">
                <a:solidFill>
                  <a:schemeClr val="dk1"/>
                </a:solidFill>
                <a:latin typeface="Arial"/>
                <a:ea typeface="Arial"/>
                <a:cs typeface="Arial"/>
                <a:sym typeface="Arial"/>
              </a:rPr>
              <a:t>C</a:t>
            </a:r>
            <a:r>
              <a:rPr b="0" baseline="-25000" i="0" lang="en-US" sz="2600" u="none">
                <a:solidFill>
                  <a:schemeClr val="dk1"/>
                </a:solidFill>
                <a:latin typeface="Arial"/>
                <a:ea typeface="Arial"/>
                <a:cs typeface="Arial"/>
                <a:sym typeface="Arial"/>
              </a:rPr>
              <a:t>HV</a:t>
            </a:r>
            <a:r>
              <a:rPr b="0" i="0" lang="en-US" sz="2600" u="none">
                <a:solidFill>
                  <a:schemeClr val="dk1"/>
                </a:solidFill>
                <a:latin typeface="Arial"/>
                <a:ea typeface="Arial"/>
                <a:cs typeface="Arial"/>
                <a:sym typeface="Arial"/>
              </a:rPr>
              <a:t>: Số lượng phép hoán vị cần thực hiện</a:t>
            </a:r>
            <a:endParaRPr/>
          </a:p>
        </p:txBody>
      </p:sp>
      <p:sp>
        <p:nvSpPr>
          <p:cNvPr id="141" name="Google Shape;141;p18"/>
          <p:cNvSpPr txBox="1"/>
          <p:nvPr/>
        </p:nvSpPr>
        <p:spPr>
          <a:xfrm>
            <a:off x="5240337" y="4292600"/>
            <a:ext cx="22320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Bài Toán Sắp Xếp</a:t>
            </a:r>
            <a:endParaRPr/>
          </a:p>
        </p:txBody>
      </p:sp>
      <p:sp>
        <p:nvSpPr>
          <p:cNvPr id="147" name="Google Shape;147;p17"/>
          <p:cNvSpPr txBox="1"/>
          <p:nvPr>
            <p:ph idx="1" type="body"/>
          </p:nvPr>
        </p:nvSpPr>
        <p:spPr>
          <a:xfrm>
            <a:off x="992187" y="1209675"/>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Cho danh sách có n phần tử a</a:t>
            </a:r>
            <a:r>
              <a:rPr b="0" baseline="-25000" i="0" lang="en-US" sz="2600" u="none">
                <a:solidFill>
                  <a:schemeClr val="dk1"/>
                </a:solidFill>
                <a:latin typeface="Arial"/>
                <a:ea typeface="Arial"/>
                <a:cs typeface="Arial"/>
                <a:sym typeface="Arial"/>
              </a:rPr>
              <a:t>0</a:t>
            </a:r>
            <a:r>
              <a:rPr b="0" i="0" lang="en-US" sz="2600" u="none">
                <a:solidFill>
                  <a:schemeClr val="dk1"/>
                </a:solidFill>
                <a:latin typeface="Arial"/>
                <a:ea typeface="Arial"/>
                <a:cs typeface="Arial"/>
                <a:sym typeface="Arial"/>
              </a:rPr>
              <a:t>, a</a:t>
            </a:r>
            <a:r>
              <a:rPr b="0" baseline="-25000" i="0" lang="en-US" sz="2600" u="none">
                <a:solidFill>
                  <a:schemeClr val="dk1"/>
                </a:solidFill>
                <a:latin typeface="Arial"/>
                <a:ea typeface="Arial"/>
                <a:cs typeface="Arial"/>
                <a:sym typeface="Arial"/>
              </a:rPr>
              <a:t>1</a:t>
            </a:r>
            <a:r>
              <a:rPr b="0" i="0" lang="en-US" sz="2600" u="none">
                <a:solidFill>
                  <a:schemeClr val="dk1"/>
                </a:solidFill>
                <a:latin typeface="Arial"/>
                <a:ea typeface="Arial"/>
                <a:cs typeface="Arial"/>
                <a:sym typeface="Arial"/>
              </a:rPr>
              <a:t>, a</a:t>
            </a:r>
            <a:r>
              <a:rPr b="0" baseline="-25000" i="0" lang="en-US" sz="2600" u="none">
                <a:solidFill>
                  <a:schemeClr val="dk1"/>
                </a:solidFill>
                <a:latin typeface="Arial"/>
                <a:ea typeface="Arial"/>
                <a:cs typeface="Arial"/>
                <a:sym typeface="Arial"/>
              </a:rPr>
              <a:t>2</a:t>
            </a:r>
            <a:r>
              <a:rPr b="0" i="0" lang="en-US" sz="2600" u="none">
                <a:solidFill>
                  <a:schemeClr val="dk1"/>
                </a:solidFill>
                <a:latin typeface="Arial"/>
                <a:ea typeface="Arial"/>
                <a:cs typeface="Arial"/>
                <a:sym typeface="Arial"/>
              </a:rPr>
              <a:t>…, a</a:t>
            </a:r>
            <a:r>
              <a:rPr b="0" baseline="-25000" i="0" lang="en-US" sz="2600" u="none">
                <a:solidFill>
                  <a:schemeClr val="dk1"/>
                </a:solidFill>
                <a:latin typeface="Arial"/>
                <a:ea typeface="Arial"/>
                <a:cs typeface="Arial"/>
                <a:sym typeface="Arial"/>
              </a:rPr>
              <a:t>n-1</a:t>
            </a:r>
            <a:r>
              <a:rPr b="0" i="0" lang="en-US" sz="2600" u="none">
                <a:solidFill>
                  <a:schemeClr val="dk1"/>
                </a:solidFill>
                <a:latin typeface="Arial"/>
                <a:ea typeface="Arial"/>
                <a:cs typeface="Arial"/>
                <a:sym typeface="Arial"/>
              </a:rPr>
              <a:t>. </a:t>
            </a:r>
            <a:endParaRPr/>
          </a:p>
          <a:p>
            <a:pPr indent="-463550" lvl="0" marL="463550" rtl="0" algn="l">
              <a:lnSpc>
                <a:spcPct val="100000"/>
              </a:lnSpc>
              <a:spcBef>
                <a:spcPts val="78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Sắp xếp là quá trình xử lý các phần tử trong danh sách để đặt chúng theo một thứ tự thỏa mãn một số tiêu chuẩn nào đó dựa trên thông tin lưu tại mỗi phần tử, như:</a:t>
            </a:r>
            <a:endParaRPr/>
          </a:p>
          <a:p>
            <a:pPr indent="-446087" lvl="1" marL="1023937" rtl="0" algn="l">
              <a:lnSpc>
                <a:spcPct val="100000"/>
              </a:lnSpc>
              <a:spcBef>
                <a:spcPts val="78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Sắp xếp danh sách lớp học tăng theo điểm trung bình.</a:t>
            </a:r>
            <a:endParaRPr/>
          </a:p>
          <a:p>
            <a:pPr indent="-446087" lvl="1" marL="1023937" rtl="0" algn="l">
              <a:lnSpc>
                <a:spcPct val="100000"/>
              </a:lnSpc>
              <a:spcBef>
                <a:spcPts val="78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Sắp xếp danh sách sinh viên tăng theo tên.</a:t>
            </a:r>
            <a:endParaRPr/>
          </a:p>
          <a:p>
            <a:pPr indent="-446087" lvl="1" marL="1023937" rtl="0" algn="l">
              <a:lnSpc>
                <a:spcPct val="100000"/>
              </a:lnSpc>
              <a:spcBef>
                <a:spcPts val="78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a:t>
            </a:r>
            <a:endParaRPr/>
          </a:p>
          <a:p>
            <a:pPr indent="-463550" lvl="0" marL="463550" rtl="0" algn="l">
              <a:lnSpc>
                <a:spcPct val="100000"/>
              </a:lnSpc>
              <a:spcBef>
                <a:spcPts val="78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Để đơn giản trong việc trình bày giải thuật ta dùng mảng 1 chiều </a:t>
            </a:r>
            <a:r>
              <a:rPr b="1" i="0" lang="en-US" sz="2600" u="none">
                <a:solidFill>
                  <a:schemeClr val="dk1"/>
                </a:solidFill>
                <a:latin typeface="Arial"/>
                <a:ea typeface="Arial"/>
                <a:cs typeface="Arial"/>
                <a:sym typeface="Arial"/>
              </a:rPr>
              <a:t>a </a:t>
            </a:r>
            <a:r>
              <a:rPr b="0" i="0" lang="en-US" sz="2600" u="none">
                <a:solidFill>
                  <a:schemeClr val="dk1"/>
                </a:solidFill>
                <a:latin typeface="Arial"/>
                <a:ea typeface="Arial"/>
                <a:cs typeface="Arial"/>
                <a:sym typeface="Arial"/>
              </a:rPr>
              <a:t>để lưu danh sách trên trong bộ nhớ chính.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5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Các Thuật Toán Sắp Xếp</a:t>
            </a:r>
            <a:endParaRPr/>
          </a:p>
        </p:txBody>
      </p:sp>
      <p:sp>
        <p:nvSpPr>
          <p:cNvPr id="153" name="Google Shape;153;p52"/>
          <p:cNvSpPr txBox="1"/>
          <p:nvPr>
            <p:ph idx="1" type="body"/>
          </p:nvPr>
        </p:nvSpPr>
        <p:spPr>
          <a:xfrm>
            <a:off x="1020837" y="996025"/>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	1. Đổi chỗ trực tiếp – Interchange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2. Chọn trực tiếp – Selection Sort </a:t>
            </a:r>
            <a:endParaRPr/>
          </a:p>
          <a:p>
            <a:pPr indent="-463550" lvl="0" marL="463550" rtl="0" algn="l">
              <a:lnSpc>
                <a:spcPct val="100000"/>
              </a:lnSpc>
              <a:spcBef>
                <a:spcPts val="560"/>
              </a:spcBef>
              <a:spcAft>
                <a:spcPts val="0"/>
              </a:spcAft>
              <a:buClr>
                <a:schemeClr val="dk1"/>
              </a:buClr>
              <a:buSzPts val="2800"/>
              <a:buNone/>
            </a:pPr>
            <a:r>
              <a:rPr b="1" i="0" lang="en-US" sz="2800" u="none">
                <a:solidFill>
                  <a:schemeClr val="dk1"/>
                </a:solidFill>
                <a:latin typeface="Arial"/>
                <a:ea typeface="Arial"/>
                <a:cs typeface="Arial"/>
                <a:sym typeface="Arial"/>
              </a:rPr>
              <a:t>	3. Nổi bọt – Bubble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4. </a:t>
            </a:r>
            <a:r>
              <a:rPr b="0" i="0" lang="en-US" sz="2800" u="none">
                <a:solidFill>
                  <a:schemeClr val="dk1"/>
                </a:solidFill>
                <a:latin typeface="Arial"/>
                <a:ea typeface="Arial"/>
                <a:cs typeface="Arial"/>
                <a:sym typeface="Arial"/>
              </a:rPr>
              <a:t>Shaker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5. Chèn trực tiếp –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6. Chèn nhị phân – Binary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7. </a:t>
            </a:r>
            <a:r>
              <a:rPr b="0" i="0" lang="en-US" sz="2800" u="none">
                <a:solidFill>
                  <a:schemeClr val="dk1"/>
                </a:solidFill>
                <a:latin typeface="Arial"/>
                <a:ea typeface="Arial"/>
                <a:cs typeface="Arial"/>
                <a:sym typeface="Arial"/>
              </a:rPr>
              <a:t>Shell </a:t>
            </a:r>
            <a:r>
              <a:rPr b="0" i="0" lang="en-US" sz="2800" u="none">
                <a:solidFill>
                  <a:schemeClr val="dk1"/>
                </a:solidFill>
                <a:latin typeface="Arial"/>
                <a:ea typeface="Arial"/>
                <a:cs typeface="Arial"/>
                <a:sym typeface="Arial"/>
              </a:rPr>
              <a:t>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8. Heap Sort</a:t>
            </a:r>
            <a:r>
              <a:rPr b="1"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9. Quick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10. Merge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11. Radix Sort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Đổi Chỗ Trực Tiếp – Interchange Sort</a:t>
            </a:r>
            <a:endParaRPr/>
          </a:p>
        </p:txBody>
      </p:sp>
      <p:sp>
        <p:nvSpPr>
          <p:cNvPr id="161" name="Google Shape;161;p21"/>
          <p:cNvSpPr txBox="1"/>
          <p:nvPr>
            <p:ph idx="1" type="body"/>
          </p:nvPr>
        </p:nvSpPr>
        <p:spPr>
          <a:xfrm>
            <a:off x="1062025" y="1570023"/>
            <a:ext cx="7905900" cy="4530000"/>
          </a:xfrm>
          <a:prstGeom prst="rect">
            <a:avLst/>
          </a:prstGeom>
          <a:noFill/>
          <a:ln>
            <a:noFill/>
          </a:ln>
        </p:spPr>
        <p:txBody>
          <a:bodyPr anchorCtr="0" anchor="t" bIns="45700" lIns="91425" spcFirstLastPara="1" rIns="91425" wrap="square" tIns="45700">
            <a:noAutofit/>
          </a:bodyPr>
          <a:lstStyle/>
          <a:p>
            <a:pPr indent="-463550" lvl="0" marL="463550" rtl="0" algn="l">
              <a:lnSpc>
                <a:spcPct val="150000"/>
              </a:lnSpc>
              <a:spcBef>
                <a:spcPts val="0"/>
              </a:spcBef>
              <a:spcAft>
                <a:spcPts val="0"/>
              </a:spcAft>
              <a:buClr>
                <a:schemeClr val="dk1"/>
              </a:buClr>
              <a:buSzPts val="2800"/>
              <a:buFont typeface="Noto Sans Symbols"/>
              <a:buChar char="⮚"/>
            </a:pPr>
            <a:r>
              <a:rPr b="1" i="0" lang="en-US" sz="2800" u="none">
                <a:solidFill>
                  <a:schemeClr val="dk1"/>
                </a:solidFill>
                <a:latin typeface="Arial"/>
                <a:ea typeface="Arial"/>
                <a:cs typeface="Arial"/>
                <a:sym typeface="Arial"/>
              </a:rPr>
              <a:t>Ý tưởng</a:t>
            </a:r>
            <a:r>
              <a:rPr b="0" i="0" lang="en-US" sz="2800" u="none">
                <a:solidFill>
                  <a:schemeClr val="dk1"/>
                </a:solidFill>
                <a:latin typeface="Arial"/>
                <a:ea typeface="Arial"/>
                <a:cs typeface="Arial"/>
                <a:sym typeface="Arial"/>
              </a:rPr>
              <a:t>: Xuất phát từ đầu dãy, tìm tất c</a:t>
            </a:r>
            <a:r>
              <a:rPr lang="en-US"/>
              <a:t>ả</a:t>
            </a:r>
            <a:r>
              <a:rPr b="0" i="0" lang="en-US" sz="2800" u="none">
                <a:solidFill>
                  <a:schemeClr val="dk1"/>
                </a:solidFill>
                <a:latin typeface="Arial"/>
                <a:ea typeface="Arial"/>
                <a:cs typeface="Arial"/>
                <a:sym typeface="Arial"/>
              </a:rPr>
              <a:t> các nghịch thế chứa phần tử này, triệt tiêu chúng bằng cách đổi chỗ 2 phần tử trong cặp nghịch thế. Lặp lại xử lý trên với phần tử kế trong dãy</a:t>
            </a:r>
            <a:r>
              <a:rPr lang="en-US"/>
              <a:t>.</a:t>
            </a:r>
            <a:endParaRPr/>
          </a:p>
          <a:p>
            <a:pPr indent="-285750" lvl="0" marL="463550" rtl="0" algn="l">
              <a:spcBef>
                <a:spcPts val="56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Các Bước Tiến Hành</a:t>
            </a:r>
            <a:endParaRPr/>
          </a:p>
        </p:txBody>
      </p:sp>
      <p:sp>
        <p:nvSpPr>
          <p:cNvPr id="167" name="Google Shape;167;p22"/>
          <p:cNvSpPr txBox="1"/>
          <p:nvPr>
            <p:ph idx="1" type="body"/>
          </p:nvPr>
        </p:nvSpPr>
        <p:spPr>
          <a:xfrm>
            <a:off x="985837" y="1111250"/>
            <a:ext cx="8499600" cy="51768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i = 0; 	</a:t>
            </a:r>
            <a:r>
              <a:rPr b="0" i="1" lang="en-US" sz="2000" u="none">
                <a:solidFill>
                  <a:schemeClr val="dk1"/>
                </a:solidFill>
                <a:latin typeface="Arial"/>
                <a:ea typeface="Arial"/>
                <a:cs typeface="Arial"/>
                <a:sym typeface="Arial"/>
              </a:rPr>
              <a:t>// bắt đầu từ đầu dãy </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 j = i+1; </a:t>
            </a:r>
            <a:r>
              <a:rPr b="0" i="1" lang="en-US" sz="2000" u="none">
                <a:solidFill>
                  <a:schemeClr val="dk1"/>
                </a:solidFill>
                <a:latin typeface="Arial"/>
                <a:ea typeface="Arial"/>
                <a:cs typeface="Arial"/>
                <a:sym typeface="Arial"/>
              </a:rPr>
              <a:t>//tìm các nghịch thế với a[i] </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3</a:t>
            </a:r>
            <a:r>
              <a:rPr b="0"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Trong khi j &lt; N thực hiện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Nếu a[j]&lt;a[i] </a:t>
            </a:r>
            <a:r>
              <a:rPr b="0" i="1" lang="en-US" sz="2000" u="none">
                <a:solidFill>
                  <a:schemeClr val="dk1"/>
                </a:solidFill>
                <a:latin typeface="Arial"/>
                <a:ea typeface="Arial"/>
                <a:cs typeface="Arial"/>
                <a:sym typeface="Arial"/>
              </a:rPr>
              <a:t>//xét cặp a[i], a[j]</a:t>
            </a:r>
            <a:r>
              <a:rPr b="0" i="0" lang="en-US" sz="20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Swap(a[i],a[j]);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j = j+1;		</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4</a:t>
            </a:r>
            <a:r>
              <a:rPr b="0" i="0" lang="en-US" sz="2800" u="none">
                <a:solidFill>
                  <a:schemeClr val="dk1"/>
                </a:solidFill>
                <a:latin typeface="Arial"/>
                <a:ea typeface="Arial"/>
                <a:cs typeface="Arial"/>
                <a:sym typeface="Arial"/>
              </a:rPr>
              <a:t>: i = i+1;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Nếu  i &lt; N-1: Lặp lại Bước 2.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Ngược lại:  Dừng.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Đổi Chỗ Trực Tiếp – Interchange Sort</a:t>
            </a:r>
            <a:endParaRPr/>
          </a:p>
        </p:txBody>
      </p:sp>
      <p:sp>
        <p:nvSpPr>
          <p:cNvPr id="173" name="Google Shape;173;p23"/>
          <p:cNvSpPr txBox="1"/>
          <p:nvPr>
            <p:ph idx="1" type="body"/>
          </p:nvPr>
        </p:nvSpPr>
        <p:spPr>
          <a:xfrm>
            <a:off x="992187" y="981075"/>
            <a:ext cx="8569200" cy="14478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dãy số a: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12	  2	 8	5	1	6	4	15 </a:t>
            </a:r>
            <a:endParaRPr/>
          </a:p>
        </p:txBody>
      </p:sp>
      <p:grpSp>
        <p:nvGrpSpPr>
          <p:cNvPr id="174" name="Google Shape;174;p23"/>
          <p:cNvGrpSpPr/>
          <p:nvPr/>
        </p:nvGrpSpPr>
        <p:grpSpPr>
          <a:xfrm>
            <a:off x="1423987" y="2205037"/>
            <a:ext cx="7993674" cy="1777290"/>
            <a:chOff x="897" y="1389"/>
            <a:chExt cx="4899" cy="1026"/>
          </a:xfrm>
        </p:grpSpPr>
        <p:pic>
          <p:nvPicPr>
            <p:cNvPr id="175" name="Google Shape;175;p23"/>
            <p:cNvPicPr preferRelativeResize="0"/>
            <p:nvPr/>
          </p:nvPicPr>
          <p:blipFill rotWithShape="1">
            <a:blip r:embed="rId3">
              <a:alphaModFix/>
            </a:blip>
            <a:srcRect b="0" l="0" r="0" t="0"/>
            <a:stretch/>
          </p:blipFill>
          <p:spPr>
            <a:xfrm>
              <a:off x="897" y="1389"/>
              <a:ext cx="4899" cy="998"/>
            </a:xfrm>
            <a:prstGeom prst="rect">
              <a:avLst/>
            </a:prstGeom>
            <a:noFill/>
            <a:ln>
              <a:noFill/>
            </a:ln>
          </p:spPr>
        </p:pic>
        <p:sp>
          <p:nvSpPr>
            <p:cNvPr id="176" name="Google Shape;176;p23"/>
            <p:cNvSpPr txBox="1"/>
            <p:nvPr/>
          </p:nvSpPr>
          <p:spPr>
            <a:xfrm>
              <a:off x="1623" y="2115"/>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j=1</a:t>
              </a:r>
              <a:endParaRPr/>
            </a:p>
          </p:txBody>
        </p:sp>
        <p:sp>
          <p:nvSpPr>
            <p:cNvPr id="177" name="Google Shape;177;p23"/>
            <p:cNvSpPr txBox="1"/>
            <p:nvPr/>
          </p:nvSpPr>
          <p:spPr>
            <a:xfrm>
              <a:off x="1033" y="2115"/>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i=0</a:t>
              </a:r>
              <a:endParaRPr/>
            </a:p>
          </p:txBody>
        </p:sp>
      </p:grpSp>
      <p:grpSp>
        <p:nvGrpSpPr>
          <p:cNvPr id="178" name="Google Shape;178;p23"/>
          <p:cNvGrpSpPr/>
          <p:nvPr/>
        </p:nvGrpSpPr>
        <p:grpSpPr>
          <a:xfrm>
            <a:off x="1281112" y="4292600"/>
            <a:ext cx="7847981" cy="1800225"/>
            <a:chOff x="807" y="2704"/>
            <a:chExt cx="4944" cy="1134"/>
          </a:xfrm>
        </p:grpSpPr>
        <p:pic>
          <p:nvPicPr>
            <p:cNvPr id="179" name="Google Shape;179;p23"/>
            <p:cNvPicPr preferRelativeResize="0"/>
            <p:nvPr/>
          </p:nvPicPr>
          <p:blipFill rotWithShape="1">
            <a:blip r:embed="rId4">
              <a:alphaModFix/>
            </a:blip>
            <a:srcRect b="0" l="0" r="0" t="0"/>
            <a:stretch/>
          </p:blipFill>
          <p:spPr>
            <a:xfrm>
              <a:off x="807" y="2704"/>
              <a:ext cx="4944" cy="1134"/>
            </a:xfrm>
            <a:prstGeom prst="rect">
              <a:avLst/>
            </a:prstGeom>
            <a:noFill/>
            <a:ln>
              <a:noFill/>
            </a:ln>
          </p:spPr>
        </p:pic>
        <p:sp>
          <p:nvSpPr>
            <p:cNvPr id="180" name="Google Shape;180;p23"/>
            <p:cNvSpPr txBox="1"/>
            <p:nvPr/>
          </p:nvSpPr>
          <p:spPr>
            <a:xfrm>
              <a:off x="955" y="353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i=0</a:t>
              </a:r>
              <a:endParaRPr/>
            </a:p>
          </p:txBody>
        </p:sp>
        <p:sp>
          <p:nvSpPr>
            <p:cNvPr id="181" name="Google Shape;181;p23"/>
            <p:cNvSpPr txBox="1"/>
            <p:nvPr/>
          </p:nvSpPr>
          <p:spPr>
            <a:xfrm>
              <a:off x="3404" y="3533"/>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j=4</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Đổi Chỗ Trực Tiếp – Interchange Sort</a:t>
            </a:r>
            <a:endParaRPr/>
          </a:p>
        </p:txBody>
      </p:sp>
      <p:grpSp>
        <p:nvGrpSpPr>
          <p:cNvPr id="187" name="Google Shape;187;p24"/>
          <p:cNvGrpSpPr/>
          <p:nvPr/>
        </p:nvGrpSpPr>
        <p:grpSpPr>
          <a:xfrm>
            <a:off x="1280748" y="937549"/>
            <a:ext cx="8208962" cy="1728660"/>
            <a:chOff x="222" y="663"/>
            <a:chExt cx="5171" cy="1089"/>
          </a:xfrm>
        </p:grpSpPr>
        <p:pic>
          <p:nvPicPr>
            <p:cNvPr id="188" name="Google Shape;188;p24"/>
            <p:cNvPicPr preferRelativeResize="0"/>
            <p:nvPr/>
          </p:nvPicPr>
          <p:blipFill rotWithShape="1">
            <a:blip r:embed="rId3">
              <a:alphaModFix/>
            </a:blip>
            <a:srcRect b="0" l="0" r="0" t="0"/>
            <a:stretch/>
          </p:blipFill>
          <p:spPr>
            <a:xfrm>
              <a:off x="222" y="663"/>
              <a:ext cx="5171" cy="1089"/>
            </a:xfrm>
            <a:prstGeom prst="rect">
              <a:avLst/>
            </a:prstGeom>
            <a:noFill/>
            <a:ln>
              <a:noFill/>
            </a:ln>
          </p:spPr>
        </p:pic>
        <p:sp>
          <p:nvSpPr>
            <p:cNvPr id="189" name="Google Shape;189;p24"/>
            <p:cNvSpPr txBox="1"/>
            <p:nvPr/>
          </p:nvSpPr>
          <p:spPr>
            <a:xfrm>
              <a:off x="973" y="1415"/>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i=1</a:t>
              </a:r>
              <a:endParaRPr/>
            </a:p>
          </p:txBody>
        </p:sp>
        <p:sp>
          <p:nvSpPr>
            <p:cNvPr id="190" name="Google Shape;190;p24"/>
            <p:cNvSpPr txBox="1"/>
            <p:nvPr/>
          </p:nvSpPr>
          <p:spPr>
            <a:xfrm>
              <a:off x="1666" y="1415"/>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j=2</a:t>
              </a:r>
              <a:endParaRPr/>
            </a:p>
          </p:txBody>
        </p:sp>
      </p:grpSp>
      <p:grpSp>
        <p:nvGrpSpPr>
          <p:cNvPr id="191" name="Google Shape;191;p24"/>
          <p:cNvGrpSpPr/>
          <p:nvPr/>
        </p:nvGrpSpPr>
        <p:grpSpPr>
          <a:xfrm>
            <a:off x="1280537" y="2719863"/>
            <a:ext cx="8209375" cy="2148975"/>
            <a:chOff x="761" y="1788"/>
            <a:chExt cx="5171" cy="1234"/>
          </a:xfrm>
        </p:grpSpPr>
        <p:pic>
          <p:nvPicPr>
            <p:cNvPr id="192" name="Google Shape;192;p24"/>
            <p:cNvPicPr preferRelativeResize="0"/>
            <p:nvPr/>
          </p:nvPicPr>
          <p:blipFill rotWithShape="1">
            <a:blip r:embed="rId4">
              <a:alphaModFix/>
            </a:blip>
            <a:srcRect b="0" l="0" r="0" t="0"/>
            <a:stretch/>
          </p:blipFill>
          <p:spPr>
            <a:xfrm>
              <a:off x="761" y="1788"/>
              <a:ext cx="5171" cy="1234"/>
            </a:xfrm>
            <a:prstGeom prst="rect">
              <a:avLst/>
            </a:prstGeom>
            <a:noFill/>
            <a:ln>
              <a:noFill/>
            </a:ln>
          </p:spPr>
        </p:pic>
        <p:sp>
          <p:nvSpPr>
            <p:cNvPr id="193" name="Google Shape;193;p24"/>
            <p:cNvSpPr txBox="1"/>
            <p:nvPr/>
          </p:nvSpPr>
          <p:spPr>
            <a:xfrm>
              <a:off x="1532" y="2587"/>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i=1</a:t>
              </a:r>
              <a:endParaRPr/>
            </a:p>
          </p:txBody>
        </p:sp>
        <p:sp>
          <p:nvSpPr>
            <p:cNvPr id="194" name="Google Shape;194;p24"/>
            <p:cNvSpPr txBox="1"/>
            <p:nvPr/>
          </p:nvSpPr>
          <p:spPr>
            <a:xfrm>
              <a:off x="2848" y="261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j=3</a:t>
              </a:r>
              <a:endParaRPr/>
            </a:p>
          </p:txBody>
        </p:sp>
      </p:grpSp>
      <p:grpSp>
        <p:nvGrpSpPr>
          <p:cNvPr id="195" name="Google Shape;195;p24"/>
          <p:cNvGrpSpPr/>
          <p:nvPr/>
        </p:nvGrpSpPr>
        <p:grpSpPr>
          <a:xfrm>
            <a:off x="1281112" y="4868862"/>
            <a:ext cx="8208248" cy="1916306"/>
            <a:chOff x="807" y="3067"/>
            <a:chExt cx="5171" cy="1207"/>
          </a:xfrm>
        </p:grpSpPr>
        <p:pic>
          <p:nvPicPr>
            <p:cNvPr id="196" name="Google Shape;196;p24"/>
            <p:cNvPicPr preferRelativeResize="0"/>
            <p:nvPr/>
          </p:nvPicPr>
          <p:blipFill rotWithShape="1">
            <a:blip r:embed="rId5">
              <a:alphaModFix/>
            </a:blip>
            <a:srcRect b="0" l="0" r="0" t="0"/>
            <a:stretch/>
          </p:blipFill>
          <p:spPr>
            <a:xfrm>
              <a:off x="807" y="3067"/>
              <a:ext cx="5171" cy="1207"/>
            </a:xfrm>
            <a:prstGeom prst="rect">
              <a:avLst/>
            </a:prstGeom>
            <a:noFill/>
            <a:ln>
              <a:noFill/>
            </a:ln>
          </p:spPr>
        </p:pic>
        <p:sp>
          <p:nvSpPr>
            <p:cNvPr id="197" name="Google Shape;197;p24"/>
            <p:cNvSpPr txBox="1"/>
            <p:nvPr/>
          </p:nvSpPr>
          <p:spPr>
            <a:xfrm>
              <a:off x="1532" y="3941"/>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i=1</a:t>
              </a:r>
              <a:endParaRPr/>
            </a:p>
          </p:txBody>
        </p:sp>
        <p:sp>
          <p:nvSpPr>
            <p:cNvPr id="198" name="Google Shape;198;p24"/>
            <p:cNvSpPr txBox="1"/>
            <p:nvPr/>
          </p:nvSpPr>
          <p:spPr>
            <a:xfrm>
              <a:off x="3483" y="395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j=4</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Đổi Chỗ Trực Tiếp – Interchange Sort</a:t>
            </a:r>
            <a:endParaRPr/>
          </a:p>
        </p:txBody>
      </p:sp>
      <p:grpSp>
        <p:nvGrpSpPr>
          <p:cNvPr id="204" name="Google Shape;204;p25"/>
          <p:cNvGrpSpPr/>
          <p:nvPr/>
        </p:nvGrpSpPr>
        <p:grpSpPr>
          <a:xfrm>
            <a:off x="1136650" y="4932362"/>
            <a:ext cx="8496467" cy="1773364"/>
            <a:chOff x="716" y="3203"/>
            <a:chExt cx="5352" cy="1117"/>
          </a:xfrm>
        </p:grpSpPr>
        <p:pic>
          <p:nvPicPr>
            <p:cNvPr id="205" name="Google Shape;205;p25"/>
            <p:cNvPicPr preferRelativeResize="0"/>
            <p:nvPr/>
          </p:nvPicPr>
          <p:blipFill rotWithShape="1">
            <a:blip r:embed="rId3">
              <a:alphaModFix/>
            </a:blip>
            <a:srcRect b="0" l="0" r="0" t="0"/>
            <a:stretch/>
          </p:blipFill>
          <p:spPr>
            <a:xfrm>
              <a:off x="716" y="3203"/>
              <a:ext cx="5352" cy="1117"/>
            </a:xfrm>
            <a:prstGeom prst="rect">
              <a:avLst/>
            </a:prstGeom>
            <a:noFill/>
            <a:ln>
              <a:noFill/>
            </a:ln>
          </p:spPr>
        </p:pic>
        <p:sp>
          <p:nvSpPr>
            <p:cNvPr id="206" name="Google Shape;206;p25"/>
            <p:cNvSpPr txBox="1"/>
            <p:nvPr/>
          </p:nvSpPr>
          <p:spPr>
            <a:xfrm>
              <a:off x="2213" y="397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i=2</a:t>
              </a:r>
              <a:endParaRPr/>
            </a:p>
          </p:txBody>
        </p:sp>
        <p:sp>
          <p:nvSpPr>
            <p:cNvPr id="207" name="Google Shape;207;p25"/>
            <p:cNvSpPr txBox="1"/>
            <p:nvPr/>
          </p:nvSpPr>
          <p:spPr>
            <a:xfrm>
              <a:off x="4889" y="397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j=6</a:t>
              </a:r>
              <a:endParaRPr/>
            </a:p>
          </p:txBody>
        </p:sp>
      </p:grpSp>
      <p:grpSp>
        <p:nvGrpSpPr>
          <p:cNvPr id="208" name="Google Shape;208;p25"/>
          <p:cNvGrpSpPr/>
          <p:nvPr/>
        </p:nvGrpSpPr>
        <p:grpSpPr>
          <a:xfrm>
            <a:off x="1136650" y="2997200"/>
            <a:ext cx="8496205" cy="1944901"/>
            <a:chOff x="716" y="1888"/>
            <a:chExt cx="5352" cy="1225"/>
          </a:xfrm>
        </p:grpSpPr>
        <p:pic>
          <p:nvPicPr>
            <p:cNvPr id="209" name="Google Shape;209;p25"/>
            <p:cNvPicPr preferRelativeResize="0"/>
            <p:nvPr/>
          </p:nvPicPr>
          <p:blipFill rotWithShape="1">
            <a:blip r:embed="rId4">
              <a:alphaModFix/>
            </a:blip>
            <a:srcRect b="0" l="0" r="0" t="0"/>
            <a:stretch/>
          </p:blipFill>
          <p:spPr>
            <a:xfrm>
              <a:off x="716" y="1888"/>
              <a:ext cx="5352" cy="1225"/>
            </a:xfrm>
            <a:prstGeom prst="rect">
              <a:avLst/>
            </a:prstGeom>
            <a:noFill/>
            <a:ln>
              <a:noFill/>
            </a:ln>
          </p:spPr>
        </p:pic>
        <p:grpSp>
          <p:nvGrpSpPr>
            <p:cNvPr id="210" name="Google Shape;210;p25"/>
            <p:cNvGrpSpPr/>
            <p:nvPr/>
          </p:nvGrpSpPr>
          <p:grpSpPr>
            <a:xfrm>
              <a:off x="2213" y="2745"/>
              <a:ext cx="1961" cy="300"/>
              <a:chOff x="2213" y="2745"/>
              <a:chExt cx="1961" cy="300"/>
            </a:xfrm>
          </p:grpSpPr>
          <p:sp>
            <p:nvSpPr>
              <p:cNvPr id="211" name="Google Shape;211;p25"/>
              <p:cNvSpPr txBox="1"/>
              <p:nvPr/>
            </p:nvSpPr>
            <p:spPr>
              <a:xfrm>
                <a:off x="2213" y="2745"/>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i=2</a:t>
                </a:r>
                <a:endParaRPr/>
              </a:p>
            </p:txBody>
          </p:sp>
          <p:sp>
            <p:nvSpPr>
              <p:cNvPr id="212" name="Google Shape;212;p25"/>
              <p:cNvSpPr txBox="1"/>
              <p:nvPr/>
            </p:nvSpPr>
            <p:spPr>
              <a:xfrm>
                <a:off x="3574" y="2745"/>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j=4</a:t>
                </a:r>
                <a:endParaRPr/>
              </a:p>
            </p:txBody>
          </p:sp>
        </p:grpSp>
      </p:grpSp>
      <p:grpSp>
        <p:nvGrpSpPr>
          <p:cNvPr id="213" name="Google Shape;213;p25"/>
          <p:cNvGrpSpPr/>
          <p:nvPr/>
        </p:nvGrpSpPr>
        <p:grpSpPr>
          <a:xfrm>
            <a:off x="1136650" y="836612"/>
            <a:ext cx="8408908" cy="2015982"/>
            <a:chOff x="716" y="527"/>
            <a:chExt cx="5297" cy="1270"/>
          </a:xfrm>
        </p:grpSpPr>
        <p:pic>
          <p:nvPicPr>
            <p:cNvPr id="214" name="Google Shape;214;p25"/>
            <p:cNvPicPr preferRelativeResize="0"/>
            <p:nvPr/>
          </p:nvPicPr>
          <p:blipFill rotWithShape="1">
            <a:blip r:embed="rId5">
              <a:alphaModFix/>
            </a:blip>
            <a:srcRect b="0" l="0" r="0" t="0"/>
            <a:stretch/>
          </p:blipFill>
          <p:spPr>
            <a:xfrm>
              <a:off x="716" y="527"/>
              <a:ext cx="5297" cy="1270"/>
            </a:xfrm>
            <a:prstGeom prst="rect">
              <a:avLst/>
            </a:prstGeom>
            <a:noFill/>
            <a:ln>
              <a:noFill/>
            </a:ln>
          </p:spPr>
        </p:pic>
        <p:sp>
          <p:nvSpPr>
            <p:cNvPr id="215" name="Google Shape;215;p25"/>
            <p:cNvSpPr txBox="1"/>
            <p:nvPr/>
          </p:nvSpPr>
          <p:spPr>
            <a:xfrm>
              <a:off x="2146" y="1456"/>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i=2</a:t>
              </a:r>
              <a:endParaRPr/>
            </a:p>
          </p:txBody>
        </p:sp>
        <p:sp>
          <p:nvSpPr>
            <p:cNvPr id="216" name="Google Shape;216;p25"/>
            <p:cNvSpPr txBox="1"/>
            <p:nvPr/>
          </p:nvSpPr>
          <p:spPr>
            <a:xfrm>
              <a:off x="2848" y="1463"/>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j=3</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Đổi Chỗ Trực Tiếp – Interchange Sort</a:t>
            </a:r>
            <a:endParaRPr/>
          </a:p>
        </p:txBody>
      </p:sp>
      <p:grpSp>
        <p:nvGrpSpPr>
          <p:cNvPr id="222" name="Google Shape;222;p26"/>
          <p:cNvGrpSpPr/>
          <p:nvPr/>
        </p:nvGrpSpPr>
        <p:grpSpPr>
          <a:xfrm>
            <a:off x="992187" y="836612"/>
            <a:ext cx="8769668" cy="1800011"/>
            <a:chOff x="625" y="527"/>
            <a:chExt cx="5524" cy="1134"/>
          </a:xfrm>
        </p:grpSpPr>
        <p:pic>
          <p:nvPicPr>
            <p:cNvPr id="223" name="Google Shape;223;p26"/>
            <p:cNvPicPr preferRelativeResize="0"/>
            <p:nvPr/>
          </p:nvPicPr>
          <p:blipFill rotWithShape="1">
            <a:blip r:embed="rId3">
              <a:alphaModFix/>
            </a:blip>
            <a:srcRect b="0" l="0" r="0" t="0"/>
            <a:stretch/>
          </p:blipFill>
          <p:spPr>
            <a:xfrm>
              <a:off x="625" y="527"/>
              <a:ext cx="5524" cy="1134"/>
            </a:xfrm>
            <a:prstGeom prst="rect">
              <a:avLst/>
            </a:prstGeom>
            <a:noFill/>
            <a:ln>
              <a:noFill/>
            </a:ln>
          </p:spPr>
        </p:pic>
        <p:sp>
          <p:nvSpPr>
            <p:cNvPr id="224" name="Google Shape;224;p26"/>
            <p:cNvSpPr txBox="1"/>
            <p:nvPr/>
          </p:nvSpPr>
          <p:spPr>
            <a:xfrm>
              <a:off x="2820" y="1316"/>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i=3</a:t>
              </a:r>
              <a:endParaRPr/>
            </a:p>
          </p:txBody>
        </p:sp>
        <p:sp>
          <p:nvSpPr>
            <p:cNvPr id="225" name="Google Shape;225;p26"/>
            <p:cNvSpPr txBox="1"/>
            <p:nvPr/>
          </p:nvSpPr>
          <p:spPr>
            <a:xfrm>
              <a:off x="3555" y="1327"/>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j=4</a:t>
              </a:r>
              <a:endParaRPr/>
            </a:p>
          </p:txBody>
        </p:sp>
      </p:grpSp>
      <p:grpSp>
        <p:nvGrpSpPr>
          <p:cNvPr id="226" name="Google Shape;226;p26"/>
          <p:cNvGrpSpPr/>
          <p:nvPr/>
        </p:nvGrpSpPr>
        <p:grpSpPr>
          <a:xfrm>
            <a:off x="1136650" y="2708275"/>
            <a:ext cx="8769159" cy="1873123"/>
            <a:chOff x="716" y="1706"/>
            <a:chExt cx="5524" cy="1180"/>
          </a:xfrm>
        </p:grpSpPr>
        <p:pic>
          <p:nvPicPr>
            <p:cNvPr id="227" name="Google Shape;227;p26"/>
            <p:cNvPicPr preferRelativeResize="0"/>
            <p:nvPr/>
          </p:nvPicPr>
          <p:blipFill rotWithShape="1">
            <a:blip r:embed="rId4">
              <a:alphaModFix/>
            </a:blip>
            <a:srcRect b="0" l="0" r="0" t="0"/>
            <a:stretch/>
          </p:blipFill>
          <p:spPr>
            <a:xfrm>
              <a:off x="716" y="1706"/>
              <a:ext cx="5524" cy="1180"/>
            </a:xfrm>
            <a:prstGeom prst="rect">
              <a:avLst/>
            </a:prstGeom>
            <a:noFill/>
            <a:ln>
              <a:noFill/>
            </a:ln>
          </p:spPr>
        </p:pic>
        <p:sp>
          <p:nvSpPr>
            <p:cNvPr id="228" name="Google Shape;228;p26"/>
            <p:cNvSpPr txBox="1"/>
            <p:nvPr/>
          </p:nvSpPr>
          <p:spPr>
            <a:xfrm>
              <a:off x="2939" y="256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i=3</a:t>
              </a:r>
              <a:endParaRPr/>
            </a:p>
          </p:txBody>
        </p:sp>
        <p:sp>
          <p:nvSpPr>
            <p:cNvPr id="229" name="Google Shape;229;p26"/>
            <p:cNvSpPr txBox="1"/>
            <p:nvPr/>
          </p:nvSpPr>
          <p:spPr>
            <a:xfrm>
              <a:off x="4390" y="256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j=5</a:t>
              </a:r>
              <a:endParaRPr/>
            </a:p>
          </p:txBody>
        </p:sp>
      </p:grpSp>
      <p:grpSp>
        <p:nvGrpSpPr>
          <p:cNvPr id="230" name="Google Shape;230;p26"/>
          <p:cNvGrpSpPr/>
          <p:nvPr/>
        </p:nvGrpSpPr>
        <p:grpSpPr>
          <a:xfrm>
            <a:off x="1208087" y="4724400"/>
            <a:ext cx="8624800" cy="2133814"/>
            <a:chOff x="761" y="2976"/>
            <a:chExt cx="5433" cy="1344"/>
          </a:xfrm>
        </p:grpSpPr>
        <p:pic>
          <p:nvPicPr>
            <p:cNvPr id="231" name="Google Shape;231;p26"/>
            <p:cNvPicPr preferRelativeResize="0"/>
            <p:nvPr/>
          </p:nvPicPr>
          <p:blipFill rotWithShape="1">
            <a:blip r:embed="rId5">
              <a:alphaModFix/>
            </a:blip>
            <a:srcRect b="0" l="0" r="0" t="0"/>
            <a:stretch/>
          </p:blipFill>
          <p:spPr>
            <a:xfrm>
              <a:off x="761" y="2976"/>
              <a:ext cx="5433" cy="1344"/>
            </a:xfrm>
            <a:prstGeom prst="rect">
              <a:avLst/>
            </a:prstGeom>
            <a:noFill/>
            <a:ln>
              <a:noFill/>
            </a:ln>
          </p:spPr>
        </p:pic>
        <p:sp>
          <p:nvSpPr>
            <p:cNvPr id="232" name="Google Shape;232;p26"/>
            <p:cNvSpPr txBox="1"/>
            <p:nvPr/>
          </p:nvSpPr>
          <p:spPr>
            <a:xfrm>
              <a:off x="2939" y="3958"/>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i=3</a:t>
              </a:r>
              <a:endParaRPr/>
            </a:p>
          </p:txBody>
        </p:sp>
        <p:sp>
          <p:nvSpPr>
            <p:cNvPr id="233" name="Google Shape;233;p26"/>
            <p:cNvSpPr txBox="1"/>
            <p:nvPr/>
          </p:nvSpPr>
          <p:spPr>
            <a:xfrm>
              <a:off x="5037" y="3937"/>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j=6</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7"/>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Đổi Chỗ Trực Tiếp – Interchange Sort</a:t>
            </a:r>
            <a:endParaRPr/>
          </a:p>
        </p:txBody>
      </p:sp>
      <p:grpSp>
        <p:nvGrpSpPr>
          <p:cNvPr id="239" name="Google Shape;239;p27"/>
          <p:cNvGrpSpPr/>
          <p:nvPr/>
        </p:nvGrpSpPr>
        <p:grpSpPr>
          <a:xfrm>
            <a:off x="1136650" y="4797425"/>
            <a:ext cx="8353854" cy="1800261"/>
            <a:chOff x="716" y="3022"/>
            <a:chExt cx="5262" cy="1134"/>
          </a:xfrm>
        </p:grpSpPr>
        <p:pic>
          <p:nvPicPr>
            <p:cNvPr id="240" name="Google Shape;240;p27"/>
            <p:cNvPicPr preferRelativeResize="0"/>
            <p:nvPr/>
          </p:nvPicPr>
          <p:blipFill rotWithShape="1">
            <a:blip r:embed="rId3">
              <a:alphaModFix/>
            </a:blip>
            <a:srcRect b="0" l="0" r="0" t="0"/>
            <a:stretch/>
          </p:blipFill>
          <p:spPr>
            <a:xfrm>
              <a:off x="716" y="3022"/>
              <a:ext cx="5262" cy="1134"/>
            </a:xfrm>
            <a:prstGeom prst="rect">
              <a:avLst/>
            </a:prstGeom>
            <a:noFill/>
            <a:ln>
              <a:noFill/>
            </a:ln>
          </p:spPr>
        </p:pic>
        <p:sp>
          <p:nvSpPr>
            <p:cNvPr id="241" name="Google Shape;241;p27"/>
            <p:cNvSpPr txBox="1"/>
            <p:nvPr/>
          </p:nvSpPr>
          <p:spPr>
            <a:xfrm>
              <a:off x="4206" y="383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i=5</a:t>
              </a:r>
              <a:endParaRPr/>
            </a:p>
          </p:txBody>
        </p:sp>
        <p:sp>
          <p:nvSpPr>
            <p:cNvPr id="242" name="Google Shape;242;p27"/>
            <p:cNvSpPr txBox="1"/>
            <p:nvPr/>
          </p:nvSpPr>
          <p:spPr>
            <a:xfrm>
              <a:off x="4844" y="3838"/>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j=6</a:t>
              </a:r>
              <a:endParaRPr/>
            </a:p>
          </p:txBody>
        </p:sp>
      </p:grpSp>
      <p:grpSp>
        <p:nvGrpSpPr>
          <p:cNvPr id="243" name="Google Shape;243;p27"/>
          <p:cNvGrpSpPr/>
          <p:nvPr/>
        </p:nvGrpSpPr>
        <p:grpSpPr>
          <a:xfrm>
            <a:off x="1030287" y="2924175"/>
            <a:ext cx="8352727" cy="1873254"/>
            <a:chOff x="649" y="1842"/>
            <a:chExt cx="5262" cy="1180"/>
          </a:xfrm>
        </p:grpSpPr>
        <p:pic>
          <p:nvPicPr>
            <p:cNvPr id="244" name="Google Shape;244;p27"/>
            <p:cNvPicPr preferRelativeResize="0"/>
            <p:nvPr/>
          </p:nvPicPr>
          <p:blipFill rotWithShape="1">
            <a:blip r:embed="rId4">
              <a:alphaModFix/>
            </a:blip>
            <a:srcRect b="0" l="0" r="0" t="0"/>
            <a:stretch/>
          </p:blipFill>
          <p:spPr>
            <a:xfrm>
              <a:off x="649" y="1842"/>
              <a:ext cx="5262" cy="1180"/>
            </a:xfrm>
            <a:prstGeom prst="rect">
              <a:avLst/>
            </a:prstGeom>
            <a:noFill/>
            <a:ln>
              <a:noFill/>
            </a:ln>
          </p:spPr>
        </p:pic>
        <p:sp>
          <p:nvSpPr>
            <p:cNvPr id="245" name="Google Shape;245;p27"/>
            <p:cNvSpPr txBox="1"/>
            <p:nvPr/>
          </p:nvSpPr>
          <p:spPr>
            <a:xfrm>
              <a:off x="3471" y="2716"/>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i=4</a:t>
              </a:r>
              <a:endParaRPr/>
            </a:p>
          </p:txBody>
        </p:sp>
        <p:sp>
          <p:nvSpPr>
            <p:cNvPr id="246" name="Google Shape;246;p27"/>
            <p:cNvSpPr txBox="1"/>
            <p:nvPr/>
          </p:nvSpPr>
          <p:spPr>
            <a:xfrm>
              <a:off x="4860" y="270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j=6</a:t>
              </a:r>
              <a:endParaRPr/>
            </a:p>
          </p:txBody>
        </p:sp>
      </p:grpSp>
      <p:grpSp>
        <p:nvGrpSpPr>
          <p:cNvPr id="247" name="Google Shape;247;p27"/>
          <p:cNvGrpSpPr/>
          <p:nvPr/>
        </p:nvGrpSpPr>
        <p:grpSpPr>
          <a:xfrm>
            <a:off x="992187" y="981075"/>
            <a:ext cx="8425505" cy="1800066"/>
            <a:chOff x="625" y="618"/>
            <a:chExt cx="5307" cy="1134"/>
          </a:xfrm>
        </p:grpSpPr>
        <p:pic>
          <p:nvPicPr>
            <p:cNvPr id="248" name="Google Shape;248;p27"/>
            <p:cNvPicPr preferRelativeResize="0"/>
            <p:nvPr/>
          </p:nvPicPr>
          <p:blipFill rotWithShape="1">
            <a:blip r:embed="rId5">
              <a:alphaModFix/>
            </a:blip>
            <a:srcRect b="0" l="0" r="0" t="0"/>
            <a:stretch/>
          </p:blipFill>
          <p:spPr>
            <a:xfrm>
              <a:off x="625" y="618"/>
              <a:ext cx="5307" cy="1134"/>
            </a:xfrm>
            <a:prstGeom prst="rect">
              <a:avLst/>
            </a:prstGeom>
            <a:noFill/>
            <a:ln>
              <a:noFill/>
            </a:ln>
          </p:spPr>
        </p:pic>
        <p:sp>
          <p:nvSpPr>
            <p:cNvPr id="249" name="Google Shape;249;p27"/>
            <p:cNvSpPr txBox="1"/>
            <p:nvPr/>
          </p:nvSpPr>
          <p:spPr>
            <a:xfrm>
              <a:off x="3404" y="1386"/>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i=4</a:t>
              </a:r>
              <a:endParaRPr/>
            </a:p>
          </p:txBody>
        </p:sp>
        <p:sp>
          <p:nvSpPr>
            <p:cNvPr id="250" name="Google Shape;250;p27"/>
            <p:cNvSpPr txBox="1"/>
            <p:nvPr/>
          </p:nvSpPr>
          <p:spPr>
            <a:xfrm>
              <a:off x="4146" y="1389"/>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j=5</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Đổi Chỗ Trực Tiếp – Interchange Sort</a:t>
            </a:r>
            <a:endParaRPr/>
          </a:p>
        </p:txBody>
      </p:sp>
      <p:pic>
        <p:nvPicPr>
          <p:cNvPr id="256" name="Google Shape;256;p28"/>
          <p:cNvPicPr preferRelativeResize="0"/>
          <p:nvPr/>
        </p:nvPicPr>
        <p:blipFill rotWithShape="1">
          <a:blip r:embed="rId3">
            <a:alphaModFix/>
          </a:blip>
          <a:srcRect b="0" l="0" r="0" t="0"/>
          <a:stretch/>
        </p:blipFill>
        <p:spPr>
          <a:xfrm>
            <a:off x="1065212" y="4149725"/>
            <a:ext cx="7777162" cy="1117600"/>
          </a:xfrm>
          <a:prstGeom prst="rect">
            <a:avLst/>
          </a:prstGeom>
          <a:noFill/>
          <a:ln>
            <a:noFill/>
          </a:ln>
        </p:spPr>
      </p:pic>
      <p:grpSp>
        <p:nvGrpSpPr>
          <p:cNvPr id="257" name="Google Shape;257;p28"/>
          <p:cNvGrpSpPr/>
          <p:nvPr/>
        </p:nvGrpSpPr>
        <p:grpSpPr>
          <a:xfrm>
            <a:off x="1036637" y="1412875"/>
            <a:ext cx="7896797" cy="1800415"/>
            <a:chOff x="653" y="890"/>
            <a:chExt cx="4957" cy="1134"/>
          </a:xfrm>
        </p:grpSpPr>
        <p:pic>
          <p:nvPicPr>
            <p:cNvPr id="258" name="Google Shape;258;p28"/>
            <p:cNvPicPr preferRelativeResize="0"/>
            <p:nvPr/>
          </p:nvPicPr>
          <p:blipFill rotWithShape="1">
            <a:blip r:embed="rId4">
              <a:alphaModFix/>
            </a:blip>
            <a:srcRect b="0" l="0" r="0" t="0"/>
            <a:stretch/>
          </p:blipFill>
          <p:spPr>
            <a:xfrm>
              <a:off x="653" y="890"/>
              <a:ext cx="4854" cy="1134"/>
            </a:xfrm>
            <a:prstGeom prst="rect">
              <a:avLst/>
            </a:prstGeom>
            <a:noFill/>
            <a:ln>
              <a:noFill/>
            </a:ln>
          </p:spPr>
        </p:pic>
        <p:sp>
          <p:nvSpPr>
            <p:cNvPr id="259" name="Google Shape;259;p28"/>
            <p:cNvSpPr txBox="1"/>
            <p:nvPr/>
          </p:nvSpPr>
          <p:spPr>
            <a:xfrm>
              <a:off x="4466" y="1692"/>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i=6</a:t>
              </a:r>
              <a:endParaRPr/>
            </a:p>
          </p:txBody>
        </p:sp>
        <p:sp>
          <p:nvSpPr>
            <p:cNvPr id="260" name="Google Shape;260;p28"/>
            <p:cNvSpPr txBox="1"/>
            <p:nvPr/>
          </p:nvSpPr>
          <p:spPr>
            <a:xfrm>
              <a:off x="5010" y="1661"/>
              <a:ext cx="600" cy="300"/>
            </a:xfrm>
            <a:prstGeom prst="rect">
              <a:avLst/>
            </a:prstGeom>
            <a:noFill/>
            <a:ln cap="flat" cmpd="sng" w="19050">
              <a:solidFill>
                <a:srgbClr val="80008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j=7</a:t>
              </a:r>
              <a:endParaRPr/>
            </a:p>
          </p:txBody>
        </p:sp>
        <p:cxnSp>
          <p:nvCxnSpPr>
            <p:cNvPr id="261" name="Google Shape;261;p28"/>
            <p:cNvCxnSpPr/>
            <p:nvPr/>
          </p:nvCxnSpPr>
          <p:spPr>
            <a:xfrm rot="10800000">
              <a:off x="5207" y="1361"/>
              <a:ext cx="0" cy="300"/>
            </a:xfrm>
            <a:prstGeom prst="straightConnector1">
              <a:avLst/>
            </a:prstGeom>
            <a:noFill/>
            <a:ln cap="flat" cmpd="sng" w="28575">
              <a:solidFill>
                <a:srgbClr val="800080"/>
              </a:solidFill>
              <a:prstDash val="solid"/>
              <a:miter lim="800000"/>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9"/>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lang="en-US" sz="2800">
                <a:solidFill>
                  <a:srgbClr val="FFF3F3"/>
                </a:solidFill>
              </a:rPr>
              <a:t>1`1</a:t>
            </a:r>
            <a:r>
              <a:rPr b="1" i="0" lang="en-US" sz="2800" u="none">
                <a:solidFill>
                  <a:srgbClr val="FFF3F3"/>
                </a:solidFill>
                <a:latin typeface="Arial"/>
                <a:ea typeface="Arial"/>
                <a:cs typeface="Arial"/>
                <a:sym typeface="Arial"/>
              </a:rPr>
              <a:t>Cài Đặt Đổi Chỗ Trực Tiếp</a:t>
            </a:r>
            <a:endParaRPr/>
          </a:p>
        </p:txBody>
      </p:sp>
      <p:sp>
        <p:nvSpPr>
          <p:cNvPr id="267" name="Google Shape;267;p29"/>
          <p:cNvSpPr txBox="1"/>
          <p:nvPr>
            <p:ph idx="1" type="body"/>
          </p:nvPr>
        </p:nvSpPr>
        <p:spPr>
          <a:xfrm>
            <a:off x="580712" y="912500"/>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None/>
            </a:pPr>
            <a:r>
              <a:rPr b="1" i="0" lang="en-US" sz="2400" u="none">
                <a:solidFill>
                  <a:schemeClr val="dk1"/>
                </a:solidFill>
                <a:latin typeface="Arial"/>
                <a:ea typeface="Arial"/>
                <a:cs typeface="Arial"/>
                <a:sym typeface="Arial"/>
              </a:rPr>
              <a:t>	</a:t>
            </a:r>
            <a:r>
              <a:rPr b="1" i="0" lang="en-US" sz="2400" u="none">
                <a:solidFill>
                  <a:srgbClr val="0000FF"/>
                </a:solidFill>
                <a:latin typeface="Arial"/>
                <a:ea typeface="Arial"/>
                <a:cs typeface="Arial"/>
                <a:sym typeface="Arial"/>
              </a:rPr>
              <a:t>void</a:t>
            </a:r>
            <a:r>
              <a:rPr b="1" i="0" lang="en-US" sz="2400" u="none">
                <a:solidFill>
                  <a:schemeClr val="dk1"/>
                </a:solidFill>
                <a:latin typeface="Arial"/>
                <a:ea typeface="Arial"/>
                <a:cs typeface="Arial"/>
                <a:sym typeface="Arial"/>
              </a:rPr>
              <a:t> InterchangeSort(</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N )</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endParaRPr/>
          </a:p>
          <a:p>
            <a:pPr indent="-463550" lvl="0" marL="463550" rtl="0" algn="l">
              <a:lnSpc>
                <a:spcPct val="100000"/>
              </a:lnSpc>
              <a:spcBef>
                <a:spcPts val="480"/>
              </a:spcBef>
              <a:spcAft>
                <a:spcPts val="0"/>
              </a:spcAft>
              <a:buClr>
                <a:schemeClr val="dk1"/>
              </a:buClr>
              <a:buSzPts val="2400"/>
              <a:buNone/>
            </a:pPr>
            <a:r>
              <a:rPr b="1" i="0" lang="en-US" sz="2400" u="none">
                <a:solidFill>
                  <a:schemeClr val="dk1"/>
                </a:solidFill>
                <a:latin typeface="Arial"/>
                <a:ea typeface="Arial"/>
                <a:cs typeface="Arial"/>
                <a:sym typeface="Arial"/>
              </a:rPr>
              <a:t>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i, j;</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r>
              <a:rPr b="1" i="0" lang="en-US" sz="2400" u="none">
                <a:solidFill>
                  <a:srgbClr val="0000FF"/>
                </a:solidFill>
                <a:latin typeface="Arial"/>
                <a:ea typeface="Arial"/>
                <a:cs typeface="Arial"/>
                <a:sym typeface="Arial"/>
              </a:rPr>
              <a:t>for</a:t>
            </a:r>
            <a:r>
              <a:rPr b="1" i="0" lang="en-US" sz="2400" u="none">
                <a:solidFill>
                  <a:schemeClr val="dk1"/>
                </a:solidFill>
                <a:latin typeface="Arial"/>
                <a:ea typeface="Arial"/>
                <a:cs typeface="Arial"/>
                <a:sym typeface="Arial"/>
              </a:rPr>
              <a:t> (i = 0 ; i&lt;N-1 ; i++)</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r>
              <a:rPr b="1" i="0" lang="en-US" sz="2400" u="none">
                <a:solidFill>
                  <a:srgbClr val="0000FF"/>
                </a:solidFill>
                <a:latin typeface="Arial"/>
                <a:ea typeface="Arial"/>
                <a:cs typeface="Arial"/>
                <a:sym typeface="Arial"/>
              </a:rPr>
              <a:t>for</a:t>
            </a:r>
            <a:r>
              <a:rPr b="1" i="0" lang="en-US" sz="2400" u="none">
                <a:solidFill>
                  <a:schemeClr val="dk1"/>
                </a:solidFill>
                <a:latin typeface="Arial"/>
                <a:ea typeface="Arial"/>
                <a:cs typeface="Arial"/>
                <a:sym typeface="Arial"/>
              </a:rPr>
              <a:t> (j =i+1; j &lt; N ; j++)</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r>
              <a:rPr b="1" i="0" lang="en-US" sz="2400" u="none">
                <a:solidFill>
                  <a:srgbClr val="0000FF"/>
                </a:solidFill>
                <a:latin typeface="Arial"/>
                <a:ea typeface="Arial"/>
                <a:cs typeface="Arial"/>
                <a:sym typeface="Arial"/>
              </a:rPr>
              <a:t>if</a:t>
            </a:r>
            <a:r>
              <a:rPr b="1" i="0" lang="en-US" sz="2400" u="none">
                <a:solidFill>
                  <a:schemeClr val="dk1"/>
                </a:solidFill>
                <a:latin typeface="Arial"/>
                <a:ea typeface="Arial"/>
                <a:cs typeface="Arial"/>
                <a:sym typeface="Arial"/>
              </a:rPr>
              <a:t>(a[j ]</a:t>
            </a:r>
            <a:r>
              <a:rPr b="1" lang="en-US" sz="2400"/>
              <a:t> &lt; </a:t>
            </a:r>
            <a:r>
              <a:rPr b="1" i="0" lang="en-US" sz="2400" u="none">
                <a:solidFill>
                  <a:schemeClr val="dk1"/>
                </a:solidFill>
                <a:latin typeface="Arial"/>
                <a:ea typeface="Arial"/>
                <a:cs typeface="Arial"/>
                <a:sym typeface="Arial"/>
              </a:rPr>
              <a:t>a[i])	</a:t>
            </a:r>
            <a:r>
              <a:rPr b="1" i="1" lang="en-US" sz="2400" u="none">
                <a:solidFill>
                  <a:schemeClr val="dk1"/>
                </a:solidFill>
                <a:latin typeface="Arial"/>
                <a:ea typeface="Arial"/>
                <a:cs typeface="Arial"/>
                <a:sym typeface="Arial"/>
              </a:rPr>
              <a:t>// Thỏa 1 cặp nghịch thế</a:t>
            </a:r>
            <a:r>
              <a:rPr b="1" i="0" lang="en-US" sz="2400" u="none">
                <a:solidFill>
                  <a:schemeClr val="dk1"/>
                </a:solidFill>
                <a:latin typeface="Arial"/>
                <a:ea typeface="Arial"/>
                <a:cs typeface="Arial"/>
                <a:sym typeface="Arial"/>
              </a:rPr>
              <a:t>					Swap(a[i], a[j]);</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0"/>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a:t>
            </a:r>
            <a:endParaRPr/>
          </a:p>
        </p:txBody>
      </p:sp>
      <p:sp>
        <p:nvSpPr>
          <p:cNvPr id="273" name="Google Shape;273;p30"/>
          <p:cNvSpPr/>
          <p:nvPr/>
        </p:nvSpPr>
        <p:spPr>
          <a:xfrm>
            <a:off x="2198687" y="2871787"/>
            <a:ext cx="8097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74" name="Google Shape;274;p30"/>
          <p:cNvSpPr/>
          <p:nvPr/>
        </p:nvSpPr>
        <p:spPr>
          <a:xfrm>
            <a:off x="3324225"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75" name="Google Shape;275;p30"/>
          <p:cNvSpPr/>
          <p:nvPr/>
        </p:nvSpPr>
        <p:spPr>
          <a:xfrm>
            <a:off x="443230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76" name="Google Shape;276;p30"/>
          <p:cNvSpPr/>
          <p:nvPr/>
        </p:nvSpPr>
        <p:spPr>
          <a:xfrm>
            <a:off x="552450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77" name="Google Shape;277;p30"/>
          <p:cNvSpPr/>
          <p:nvPr/>
        </p:nvSpPr>
        <p:spPr>
          <a:xfrm>
            <a:off x="6630987" y="2871787"/>
            <a:ext cx="7923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78" name="Google Shape;278;p30"/>
          <p:cNvSpPr/>
          <p:nvPr/>
        </p:nvSpPr>
        <p:spPr>
          <a:xfrm>
            <a:off x="774065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79" name="Google Shape;279;p30"/>
          <p:cNvSpPr/>
          <p:nvPr/>
        </p:nvSpPr>
        <p:spPr>
          <a:xfrm>
            <a:off x="8867775"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80" name="Google Shape;280;p30"/>
          <p:cNvSpPr/>
          <p:nvPr/>
        </p:nvSpPr>
        <p:spPr>
          <a:xfrm>
            <a:off x="1108075"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281" name="Google Shape;281;p30"/>
          <p:cNvGrpSpPr/>
          <p:nvPr/>
        </p:nvGrpSpPr>
        <p:grpSpPr>
          <a:xfrm>
            <a:off x="987426" y="3425825"/>
            <a:ext cx="8911680" cy="476250"/>
            <a:chOff x="574" y="1153"/>
            <a:chExt cx="5182" cy="300"/>
          </a:xfrm>
        </p:grpSpPr>
        <p:sp>
          <p:nvSpPr>
            <p:cNvPr id="282" name="Google Shape;282;p30"/>
            <p:cNvSpPr/>
            <p:nvPr/>
          </p:nvSpPr>
          <p:spPr>
            <a:xfrm>
              <a:off x="1288" y="1153"/>
              <a:ext cx="600" cy="300"/>
            </a:xfrm>
            <a:prstGeom prst="ellipse">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83" name="Google Shape;283;p30"/>
            <p:cNvSpPr/>
            <p:nvPr/>
          </p:nvSpPr>
          <p:spPr>
            <a:xfrm>
              <a:off x="1863" y="1153"/>
              <a:ext cx="600" cy="300"/>
            </a:xfrm>
            <a:prstGeom prst="ellipse">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84" name="Google Shape;284;p30"/>
            <p:cNvSpPr/>
            <p:nvPr/>
          </p:nvSpPr>
          <p:spPr>
            <a:xfrm>
              <a:off x="2577" y="1153"/>
              <a:ext cx="600" cy="300"/>
            </a:xfrm>
            <a:prstGeom prst="ellipse">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85" name="Google Shape;285;p30"/>
            <p:cNvSpPr/>
            <p:nvPr/>
          </p:nvSpPr>
          <p:spPr>
            <a:xfrm>
              <a:off x="3222" y="1153"/>
              <a:ext cx="600" cy="300"/>
            </a:xfrm>
            <a:prstGeom prst="ellipse">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86" name="Google Shape;286;p30"/>
            <p:cNvSpPr/>
            <p:nvPr/>
          </p:nvSpPr>
          <p:spPr>
            <a:xfrm>
              <a:off x="3866" y="1153"/>
              <a:ext cx="600" cy="300"/>
            </a:xfrm>
            <a:prstGeom prst="ellipse">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7" name="Google Shape;287;p30"/>
            <p:cNvSpPr/>
            <p:nvPr/>
          </p:nvSpPr>
          <p:spPr>
            <a:xfrm>
              <a:off x="4511" y="1153"/>
              <a:ext cx="600" cy="300"/>
            </a:xfrm>
            <a:prstGeom prst="ellipse">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88" name="Google Shape;288;p30"/>
            <p:cNvSpPr/>
            <p:nvPr/>
          </p:nvSpPr>
          <p:spPr>
            <a:xfrm>
              <a:off x="5156" y="1153"/>
              <a:ext cx="600" cy="300"/>
            </a:xfrm>
            <a:prstGeom prst="ellipse">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89" name="Google Shape;289;p30"/>
            <p:cNvSpPr/>
            <p:nvPr/>
          </p:nvSpPr>
          <p:spPr>
            <a:xfrm>
              <a:off x="574" y="1153"/>
              <a:ext cx="600" cy="300"/>
            </a:xfrm>
            <a:prstGeom prst="ellipse">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290" name="Google Shape;290;p30"/>
          <p:cNvSpPr/>
          <p:nvPr/>
        </p:nvSpPr>
        <p:spPr>
          <a:xfrm>
            <a:off x="1092337" y="2871775"/>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91" name="Google Shape;291;p30"/>
          <p:cNvSpPr/>
          <p:nvPr/>
        </p:nvSpPr>
        <p:spPr>
          <a:xfrm>
            <a:off x="1127287" y="3902087"/>
            <a:ext cx="720600" cy="816000"/>
          </a:xfrm>
          <a:prstGeom prst="upArrow">
            <a:avLst>
              <a:gd fmla="val 50000" name="adj1"/>
              <a:gd fmla="val 50000" name="adj2"/>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
              <a:buFont typeface="Arial"/>
              <a:buNone/>
            </a:pPr>
            <a:r>
              <a:t/>
            </a:r>
            <a:endParaRPr b="0" i="0" sz="400" u="none">
              <a:solidFill>
                <a:schemeClr val="dk1"/>
              </a:solidFill>
              <a:latin typeface="Times New Roman"/>
              <a:ea typeface="Times New Roman"/>
              <a:cs typeface="Times New Roman"/>
              <a:sym typeface="Times New Roman"/>
            </a:endParaRPr>
          </a:p>
          <a:p>
            <a:pPr indent="0" lvl="0" marL="0" marR="0" rtl="0" algn="ctr">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292" name="Google Shape;292;p30"/>
          <p:cNvSpPr/>
          <p:nvPr/>
        </p:nvSpPr>
        <p:spPr>
          <a:xfrm>
            <a:off x="2289175" y="2133600"/>
            <a:ext cx="576300" cy="608100"/>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18287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j</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276"/>
                                        </p:tgtEl>
                                      </p:cBhvr>
                                    </p:animEffect>
                                    <p:set>
                                      <p:cBhvr>
                                        <p:cTn dur="1" fill="hold">
                                          <p:stCondLst>
                                            <p:cond delay="1000"/>
                                          </p:stCondLst>
                                        </p:cTn>
                                        <p:tgtEl>
                                          <p:spTgt spid="27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92"/>
                                        </p:tgtEl>
                                      </p:cBhvr>
                                    </p:animEffect>
                                    <p:set>
                                      <p:cBhvr>
                                        <p:cTn dur="1" fill="hold">
                                          <p:stCondLst>
                                            <p:cond delay="500"/>
                                          </p:stCondLst>
                                        </p:cTn>
                                        <p:tgtEl>
                                          <p:spTgt spid="2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1"/>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a:t>
            </a:r>
            <a:endParaRPr/>
          </a:p>
        </p:txBody>
      </p:sp>
      <p:sp>
        <p:nvSpPr>
          <p:cNvPr id="298" name="Google Shape;298;p31"/>
          <p:cNvSpPr/>
          <p:nvPr/>
        </p:nvSpPr>
        <p:spPr>
          <a:xfrm>
            <a:off x="2198687"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299" name="Google Shape;299;p31"/>
          <p:cNvSpPr/>
          <p:nvPr/>
        </p:nvSpPr>
        <p:spPr>
          <a:xfrm>
            <a:off x="3324225" y="2955925"/>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300" name="Google Shape;300;p31"/>
          <p:cNvSpPr/>
          <p:nvPr/>
        </p:nvSpPr>
        <p:spPr>
          <a:xfrm>
            <a:off x="443230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01" name="Google Shape;301;p31"/>
          <p:cNvSpPr/>
          <p:nvPr/>
        </p:nvSpPr>
        <p:spPr>
          <a:xfrm>
            <a:off x="552450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02" name="Google Shape;302;p31"/>
          <p:cNvSpPr/>
          <p:nvPr/>
        </p:nvSpPr>
        <p:spPr>
          <a:xfrm>
            <a:off x="6630987" y="2871787"/>
            <a:ext cx="7923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03" name="Google Shape;303;p31"/>
          <p:cNvSpPr/>
          <p:nvPr/>
        </p:nvSpPr>
        <p:spPr>
          <a:xfrm>
            <a:off x="774065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04" name="Google Shape;304;p31"/>
          <p:cNvSpPr/>
          <p:nvPr/>
        </p:nvSpPr>
        <p:spPr>
          <a:xfrm>
            <a:off x="8867775"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305" name="Google Shape;305;p31"/>
          <p:cNvSpPr/>
          <p:nvPr/>
        </p:nvSpPr>
        <p:spPr>
          <a:xfrm>
            <a:off x="1108075"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306" name="Google Shape;306;p31"/>
          <p:cNvGrpSpPr/>
          <p:nvPr/>
        </p:nvGrpSpPr>
        <p:grpSpPr>
          <a:xfrm>
            <a:off x="1011675" y="3489187"/>
            <a:ext cx="8791031" cy="476250"/>
            <a:chOff x="644" y="1153"/>
            <a:chExt cx="5112" cy="300"/>
          </a:xfrm>
        </p:grpSpPr>
        <p:sp>
          <p:nvSpPr>
            <p:cNvPr id="307" name="Google Shape;307;p31"/>
            <p:cNvSpPr/>
            <p:nvPr/>
          </p:nvSpPr>
          <p:spPr>
            <a:xfrm>
              <a:off x="1288"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308" name="Google Shape;308;p31"/>
            <p:cNvSpPr/>
            <p:nvPr/>
          </p:nvSpPr>
          <p:spPr>
            <a:xfrm>
              <a:off x="1933"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09" name="Google Shape;309;p31"/>
            <p:cNvSpPr/>
            <p:nvPr/>
          </p:nvSpPr>
          <p:spPr>
            <a:xfrm>
              <a:off x="2577"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310" name="Google Shape;310;p31"/>
            <p:cNvSpPr/>
            <p:nvPr/>
          </p:nvSpPr>
          <p:spPr>
            <a:xfrm>
              <a:off x="3222"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11" name="Google Shape;311;p31"/>
            <p:cNvSpPr/>
            <p:nvPr/>
          </p:nvSpPr>
          <p:spPr>
            <a:xfrm>
              <a:off x="3866"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12" name="Google Shape;312;p31"/>
            <p:cNvSpPr/>
            <p:nvPr/>
          </p:nvSpPr>
          <p:spPr>
            <a:xfrm>
              <a:off x="4511"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13" name="Google Shape;313;p31"/>
            <p:cNvSpPr/>
            <p:nvPr/>
          </p:nvSpPr>
          <p:spPr>
            <a:xfrm>
              <a:off x="5156"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314" name="Google Shape;314;p31"/>
            <p:cNvSpPr/>
            <p:nvPr/>
          </p:nvSpPr>
          <p:spPr>
            <a:xfrm>
              <a:off x="644"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315" name="Google Shape;315;p31"/>
          <p:cNvSpPr/>
          <p:nvPr/>
        </p:nvSpPr>
        <p:spPr>
          <a:xfrm>
            <a:off x="2216162"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16" name="Google Shape;316;p31"/>
          <p:cNvSpPr/>
          <p:nvPr/>
        </p:nvSpPr>
        <p:spPr>
          <a:xfrm>
            <a:off x="1143025" y="4200087"/>
            <a:ext cx="720600" cy="816000"/>
          </a:xfrm>
          <a:prstGeom prst="upArrow">
            <a:avLst>
              <a:gd fmla="val 50000" name="adj1"/>
              <a:gd fmla="val 50000" name="adj2"/>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0"/>
              </a:buClr>
              <a:buSzPts val="400"/>
              <a:buFont typeface="Times New Roman"/>
              <a:buNone/>
            </a:pPr>
            <a:r>
              <a:rPr b="1" i="0" lang="en-US" sz="400" u="none">
                <a:solidFill>
                  <a:srgbClr val="0000F0"/>
                </a:solidFill>
                <a:latin typeface="Times New Roman"/>
                <a:ea typeface="Times New Roman"/>
                <a:cs typeface="Times New Roman"/>
                <a:sym typeface="Times New Roman"/>
              </a:rPr>
              <a:t>0</a:t>
            </a:r>
            <a:endParaRPr/>
          </a:p>
          <a:p>
            <a:pPr indent="0" lvl="0" marL="0" marR="0" rtl="0" algn="ctr">
              <a:lnSpc>
                <a:spcPct val="100000"/>
              </a:lnSpc>
              <a:spcBef>
                <a:spcPts val="1200"/>
              </a:spcBef>
              <a:spcAft>
                <a:spcPts val="0"/>
              </a:spcAft>
              <a:buClr>
                <a:srgbClr val="0000F0"/>
              </a:buClr>
              <a:buSzPts val="2400"/>
              <a:buFont typeface="Times New Roman"/>
              <a:buNone/>
            </a:pPr>
            <a:r>
              <a:rPr b="1" i="0" lang="en-US" sz="2400" u="none">
                <a:solidFill>
                  <a:srgbClr val="0000F0"/>
                </a:solidFill>
                <a:latin typeface="Times New Roman"/>
                <a:ea typeface="Times New Roman"/>
                <a:cs typeface="Times New Roman"/>
                <a:sym typeface="Times New Roman"/>
              </a:rPr>
              <a:t>i</a:t>
            </a:r>
            <a:endParaRPr/>
          </a:p>
        </p:txBody>
      </p:sp>
      <p:sp>
        <p:nvSpPr>
          <p:cNvPr id="317" name="Google Shape;317;p31"/>
          <p:cNvSpPr/>
          <p:nvPr/>
        </p:nvSpPr>
        <p:spPr>
          <a:xfrm>
            <a:off x="3368675" y="1989137"/>
            <a:ext cx="649200" cy="608100"/>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18287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j</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301"/>
                                        </p:tgtEl>
                                      </p:cBhvr>
                                    </p:animEffect>
                                    <p:set>
                                      <p:cBhvr>
                                        <p:cTn dur="1" fill="hold">
                                          <p:stCondLst>
                                            <p:cond delay="1000"/>
                                          </p:stCondLst>
                                        </p:cTn>
                                        <p:tgtEl>
                                          <p:spTgt spid="30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2"/>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a:t>
            </a:r>
            <a:endParaRPr/>
          </a:p>
        </p:txBody>
      </p:sp>
      <p:sp>
        <p:nvSpPr>
          <p:cNvPr id="323" name="Google Shape;323;p32"/>
          <p:cNvSpPr/>
          <p:nvPr/>
        </p:nvSpPr>
        <p:spPr>
          <a:xfrm>
            <a:off x="2198687"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24" name="Google Shape;324;p32"/>
          <p:cNvSpPr/>
          <p:nvPr/>
        </p:nvSpPr>
        <p:spPr>
          <a:xfrm>
            <a:off x="3324225"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325" name="Google Shape;325;p32"/>
          <p:cNvSpPr/>
          <p:nvPr/>
        </p:nvSpPr>
        <p:spPr>
          <a:xfrm>
            <a:off x="443230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326" name="Google Shape;326;p32"/>
          <p:cNvSpPr/>
          <p:nvPr/>
        </p:nvSpPr>
        <p:spPr>
          <a:xfrm>
            <a:off x="552450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27" name="Google Shape;327;p32"/>
          <p:cNvSpPr/>
          <p:nvPr/>
        </p:nvSpPr>
        <p:spPr>
          <a:xfrm>
            <a:off x="6630987" y="2871787"/>
            <a:ext cx="7923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28" name="Google Shape;328;p32"/>
          <p:cNvSpPr/>
          <p:nvPr/>
        </p:nvSpPr>
        <p:spPr>
          <a:xfrm>
            <a:off x="774065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29" name="Google Shape;329;p32"/>
          <p:cNvSpPr/>
          <p:nvPr/>
        </p:nvSpPr>
        <p:spPr>
          <a:xfrm>
            <a:off x="8867775"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330" name="Google Shape;330;p32"/>
          <p:cNvSpPr/>
          <p:nvPr/>
        </p:nvSpPr>
        <p:spPr>
          <a:xfrm>
            <a:off x="1108075"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331" name="Google Shape;331;p32"/>
          <p:cNvGrpSpPr/>
          <p:nvPr/>
        </p:nvGrpSpPr>
        <p:grpSpPr>
          <a:xfrm>
            <a:off x="909987" y="3489187"/>
            <a:ext cx="8791031" cy="476250"/>
            <a:chOff x="644" y="1153"/>
            <a:chExt cx="5112" cy="300"/>
          </a:xfrm>
        </p:grpSpPr>
        <p:sp>
          <p:nvSpPr>
            <p:cNvPr id="332" name="Google Shape;332;p32"/>
            <p:cNvSpPr/>
            <p:nvPr/>
          </p:nvSpPr>
          <p:spPr>
            <a:xfrm>
              <a:off x="1288"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333" name="Google Shape;333;p32"/>
            <p:cNvSpPr/>
            <p:nvPr/>
          </p:nvSpPr>
          <p:spPr>
            <a:xfrm>
              <a:off x="1933"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34" name="Google Shape;334;p32"/>
            <p:cNvSpPr/>
            <p:nvPr/>
          </p:nvSpPr>
          <p:spPr>
            <a:xfrm>
              <a:off x="2577"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335" name="Google Shape;335;p32"/>
            <p:cNvSpPr/>
            <p:nvPr/>
          </p:nvSpPr>
          <p:spPr>
            <a:xfrm>
              <a:off x="3222"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36" name="Google Shape;336;p32"/>
            <p:cNvSpPr/>
            <p:nvPr/>
          </p:nvSpPr>
          <p:spPr>
            <a:xfrm>
              <a:off x="3866"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37" name="Google Shape;337;p32"/>
            <p:cNvSpPr/>
            <p:nvPr/>
          </p:nvSpPr>
          <p:spPr>
            <a:xfrm>
              <a:off x="4511"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38" name="Google Shape;338;p32"/>
            <p:cNvSpPr/>
            <p:nvPr/>
          </p:nvSpPr>
          <p:spPr>
            <a:xfrm>
              <a:off x="5156"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339" name="Google Shape;339;p32"/>
            <p:cNvSpPr/>
            <p:nvPr/>
          </p:nvSpPr>
          <p:spPr>
            <a:xfrm>
              <a:off x="644"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340" name="Google Shape;340;p32"/>
          <p:cNvSpPr/>
          <p:nvPr/>
        </p:nvSpPr>
        <p:spPr>
          <a:xfrm>
            <a:off x="3333750" y="2870200"/>
            <a:ext cx="7923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41" name="Google Shape;341;p32"/>
          <p:cNvSpPr/>
          <p:nvPr/>
        </p:nvSpPr>
        <p:spPr>
          <a:xfrm>
            <a:off x="2233625" y="4151987"/>
            <a:ext cx="720600" cy="816000"/>
          </a:xfrm>
          <a:prstGeom prst="upArrow">
            <a:avLst>
              <a:gd fmla="val 50000" name="adj1"/>
              <a:gd fmla="val 50000" name="adj2"/>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
              <a:buFont typeface="Times New Roman"/>
              <a:buNone/>
            </a:pPr>
            <a:r>
              <a:rPr b="0" i="0" lang="en-US" sz="400" u="none">
                <a:solidFill>
                  <a:schemeClr val="dk1"/>
                </a:solidFill>
                <a:latin typeface="Times New Roman"/>
                <a:ea typeface="Times New Roman"/>
                <a:cs typeface="Times New Roman"/>
                <a:sym typeface="Times New Roman"/>
              </a:rPr>
              <a:t>0</a:t>
            </a:r>
            <a:endParaRPr/>
          </a:p>
          <a:p>
            <a:pPr indent="0" lvl="0" marL="0" marR="0" rtl="0" algn="ctr">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342" name="Google Shape;342;p32"/>
          <p:cNvSpPr/>
          <p:nvPr/>
        </p:nvSpPr>
        <p:spPr>
          <a:xfrm>
            <a:off x="4521200" y="2100262"/>
            <a:ext cx="649200" cy="608100"/>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18287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j</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328"/>
                                        </p:tgtEl>
                                      </p:cBhvr>
                                    </p:animEffect>
                                    <p:set>
                                      <p:cBhvr>
                                        <p:cTn dur="1" fill="hold">
                                          <p:stCondLst>
                                            <p:cond delay="1000"/>
                                          </p:stCondLst>
                                        </p:cTn>
                                        <p:tgtEl>
                                          <p:spTgt spid="32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4"/>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a:t>
            </a:r>
            <a:endParaRPr/>
          </a:p>
        </p:txBody>
      </p:sp>
      <p:sp>
        <p:nvSpPr>
          <p:cNvPr id="348" name="Google Shape;348;p34"/>
          <p:cNvSpPr/>
          <p:nvPr/>
        </p:nvSpPr>
        <p:spPr>
          <a:xfrm>
            <a:off x="2198687"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49" name="Google Shape;349;p34"/>
          <p:cNvSpPr/>
          <p:nvPr/>
        </p:nvSpPr>
        <p:spPr>
          <a:xfrm>
            <a:off x="3324225"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50" name="Google Shape;350;p34"/>
          <p:cNvSpPr/>
          <p:nvPr/>
        </p:nvSpPr>
        <p:spPr>
          <a:xfrm>
            <a:off x="4432300"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51" name="Google Shape;351;p34"/>
          <p:cNvSpPr/>
          <p:nvPr/>
        </p:nvSpPr>
        <p:spPr>
          <a:xfrm>
            <a:off x="5524500"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52" name="Google Shape;352;p34"/>
          <p:cNvSpPr/>
          <p:nvPr/>
        </p:nvSpPr>
        <p:spPr>
          <a:xfrm>
            <a:off x="6630987" y="2871787"/>
            <a:ext cx="7923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353" name="Google Shape;353;p34"/>
          <p:cNvSpPr/>
          <p:nvPr/>
        </p:nvSpPr>
        <p:spPr>
          <a:xfrm>
            <a:off x="7740650"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354" name="Google Shape;354;p34"/>
          <p:cNvSpPr/>
          <p:nvPr/>
        </p:nvSpPr>
        <p:spPr>
          <a:xfrm>
            <a:off x="8867775"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355" name="Google Shape;355;p34"/>
          <p:cNvSpPr/>
          <p:nvPr/>
        </p:nvSpPr>
        <p:spPr>
          <a:xfrm>
            <a:off x="1108075"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356" name="Google Shape;356;p34"/>
          <p:cNvGrpSpPr/>
          <p:nvPr/>
        </p:nvGrpSpPr>
        <p:grpSpPr>
          <a:xfrm>
            <a:off x="1108075" y="2287587"/>
            <a:ext cx="8791031" cy="476250"/>
            <a:chOff x="644" y="1153"/>
            <a:chExt cx="5112" cy="300"/>
          </a:xfrm>
        </p:grpSpPr>
        <p:sp>
          <p:nvSpPr>
            <p:cNvPr id="357" name="Google Shape;357;p34"/>
            <p:cNvSpPr/>
            <p:nvPr/>
          </p:nvSpPr>
          <p:spPr>
            <a:xfrm>
              <a:off x="1288"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58" name="Google Shape;358;p34"/>
            <p:cNvSpPr/>
            <p:nvPr/>
          </p:nvSpPr>
          <p:spPr>
            <a:xfrm>
              <a:off x="1933"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359" name="Google Shape;359;p34"/>
            <p:cNvSpPr/>
            <p:nvPr/>
          </p:nvSpPr>
          <p:spPr>
            <a:xfrm>
              <a:off x="2577"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60" name="Google Shape;360;p34"/>
            <p:cNvSpPr/>
            <p:nvPr/>
          </p:nvSpPr>
          <p:spPr>
            <a:xfrm>
              <a:off x="3222"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61" name="Google Shape;361;p34"/>
            <p:cNvSpPr/>
            <p:nvPr/>
          </p:nvSpPr>
          <p:spPr>
            <a:xfrm>
              <a:off x="3866"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62" name="Google Shape;362;p34"/>
            <p:cNvSpPr/>
            <p:nvPr/>
          </p:nvSpPr>
          <p:spPr>
            <a:xfrm>
              <a:off x="4511"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363" name="Google Shape;363;p34"/>
            <p:cNvSpPr/>
            <p:nvPr/>
          </p:nvSpPr>
          <p:spPr>
            <a:xfrm>
              <a:off x="5156"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364" name="Google Shape;364;p34"/>
            <p:cNvSpPr/>
            <p:nvPr/>
          </p:nvSpPr>
          <p:spPr>
            <a:xfrm>
              <a:off x="644"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par>
                                <p:cTn fill="hold" nodeType="with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par>
                                <p:cTn fill="hold" nodeType="with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3"/>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a:t>
            </a:r>
            <a:endParaRPr/>
          </a:p>
        </p:txBody>
      </p:sp>
      <p:sp>
        <p:nvSpPr>
          <p:cNvPr id="370" name="Google Shape;370;p33"/>
          <p:cNvSpPr/>
          <p:nvPr/>
        </p:nvSpPr>
        <p:spPr>
          <a:xfrm>
            <a:off x="2198687"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71" name="Google Shape;371;p33"/>
          <p:cNvSpPr/>
          <p:nvPr/>
        </p:nvSpPr>
        <p:spPr>
          <a:xfrm>
            <a:off x="3324225"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72" name="Google Shape;372;p33"/>
          <p:cNvSpPr/>
          <p:nvPr/>
        </p:nvSpPr>
        <p:spPr>
          <a:xfrm>
            <a:off x="443230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373" name="Google Shape;373;p33"/>
          <p:cNvSpPr/>
          <p:nvPr/>
        </p:nvSpPr>
        <p:spPr>
          <a:xfrm>
            <a:off x="552450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374" name="Google Shape;374;p33"/>
          <p:cNvSpPr/>
          <p:nvPr/>
        </p:nvSpPr>
        <p:spPr>
          <a:xfrm>
            <a:off x="6630987" y="2871787"/>
            <a:ext cx="7923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75" name="Google Shape;375;p33"/>
          <p:cNvSpPr/>
          <p:nvPr/>
        </p:nvSpPr>
        <p:spPr>
          <a:xfrm>
            <a:off x="7740650"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76" name="Google Shape;376;p33"/>
          <p:cNvSpPr/>
          <p:nvPr/>
        </p:nvSpPr>
        <p:spPr>
          <a:xfrm>
            <a:off x="8867775"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377" name="Google Shape;377;p33"/>
          <p:cNvSpPr/>
          <p:nvPr/>
        </p:nvSpPr>
        <p:spPr>
          <a:xfrm>
            <a:off x="1108075" y="2871787"/>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378" name="Google Shape;378;p33"/>
          <p:cNvGrpSpPr/>
          <p:nvPr/>
        </p:nvGrpSpPr>
        <p:grpSpPr>
          <a:xfrm>
            <a:off x="970237" y="3487600"/>
            <a:ext cx="8791031" cy="476250"/>
            <a:chOff x="644" y="1153"/>
            <a:chExt cx="5112" cy="300"/>
          </a:xfrm>
        </p:grpSpPr>
        <p:sp>
          <p:nvSpPr>
            <p:cNvPr id="379" name="Google Shape;379;p33"/>
            <p:cNvSpPr/>
            <p:nvPr/>
          </p:nvSpPr>
          <p:spPr>
            <a:xfrm>
              <a:off x="1288"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380" name="Google Shape;380;p33"/>
            <p:cNvSpPr/>
            <p:nvPr/>
          </p:nvSpPr>
          <p:spPr>
            <a:xfrm>
              <a:off x="1933"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81" name="Google Shape;381;p33"/>
            <p:cNvSpPr/>
            <p:nvPr/>
          </p:nvSpPr>
          <p:spPr>
            <a:xfrm>
              <a:off x="2577"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382" name="Google Shape;382;p33"/>
            <p:cNvSpPr/>
            <p:nvPr/>
          </p:nvSpPr>
          <p:spPr>
            <a:xfrm>
              <a:off x="3222"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83" name="Google Shape;383;p33"/>
            <p:cNvSpPr/>
            <p:nvPr/>
          </p:nvSpPr>
          <p:spPr>
            <a:xfrm>
              <a:off x="3866"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84" name="Google Shape;384;p33"/>
            <p:cNvSpPr/>
            <p:nvPr/>
          </p:nvSpPr>
          <p:spPr>
            <a:xfrm>
              <a:off x="4511"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85" name="Google Shape;385;p33"/>
            <p:cNvSpPr/>
            <p:nvPr/>
          </p:nvSpPr>
          <p:spPr>
            <a:xfrm>
              <a:off x="5156"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386" name="Google Shape;386;p33"/>
            <p:cNvSpPr/>
            <p:nvPr/>
          </p:nvSpPr>
          <p:spPr>
            <a:xfrm>
              <a:off x="644"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387" name="Google Shape;387;p33"/>
          <p:cNvSpPr/>
          <p:nvPr/>
        </p:nvSpPr>
        <p:spPr>
          <a:xfrm>
            <a:off x="4430712" y="2870200"/>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88" name="Google Shape;388;p33"/>
          <p:cNvSpPr/>
          <p:nvPr/>
        </p:nvSpPr>
        <p:spPr>
          <a:xfrm>
            <a:off x="3359175" y="4144512"/>
            <a:ext cx="720600" cy="816000"/>
          </a:xfrm>
          <a:prstGeom prst="upArrow">
            <a:avLst>
              <a:gd fmla="val 50000" name="adj1"/>
              <a:gd fmla="val 50000" name="adj2"/>
            </a:avLst>
          </a:prstGeom>
          <a:noFill/>
          <a:ln cap="flat" cmpd="sng" w="2857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
              <a:buFont typeface="Times New Roman"/>
              <a:buNone/>
            </a:pPr>
            <a:r>
              <a:rPr b="0" i="0" lang="en-US" sz="400" u="none">
                <a:solidFill>
                  <a:schemeClr val="dk1"/>
                </a:solidFill>
                <a:latin typeface="Times New Roman"/>
                <a:ea typeface="Times New Roman"/>
                <a:cs typeface="Times New Roman"/>
                <a:sym typeface="Times New Roman"/>
              </a:rPr>
              <a:t>0</a:t>
            </a:r>
            <a:endParaRPr/>
          </a:p>
          <a:p>
            <a:pPr indent="0" lvl="0" marL="0" marR="0" rtl="0" algn="ctr">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389" name="Google Shape;389;p33"/>
          <p:cNvSpPr/>
          <p:nvPr/>
        </p:nvSpPr>
        <p:spPr>
          <a:xfrm>
            <a:off x="5529262" y="2100262"/>
            <a:ext cx="649200" cy="608100"/>
          </a:xfrm>
          <a:prstGeom prst="downArrow">
            <a:avLst>
              <a:gd fmla="val 50000" name="adj1"/>
              <a:gd fmla="val 50000" name="adj2"/>
            </a:avLst>
          </a:prstGeom>
          <a:noFill/>
          <a:ln cap="flat" cmpd="sng" w="28575">
            <a:solidFill>
              <a:srgbClr val="0000FF"/>
            </a:solidFill>
            <a:prstDash val="solid"/>
            <a:miter lim="800000"/>
            <a:headEnd len="sm" w="sm" type="none"/>
            <a:tailEnd len="sm" w="sm" type="none"/>
          </a:ln>
        </p:spPr>
        <p:txBody>
          <a:bodyPr anchorCtr="0" anchor="t" bIns="45700" lIns="18287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j</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375"/>
                                        </p:tgtEl>
                                      </p:cBhvr>
                                    </p:animEffect>
                                    <p:set>
                                      <p:cBhvr>
                                        <p:cTn dur="1" fill="hold">
                                          <p:stCondLst>
                                            <p:cond delay="1000"/>
                                          </p:stCondLst>
                                        </p:cTn>
                                        <p:tgtEl>
                                          <p:spTgt spid="37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5"/>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Độ Phức Tạp Của Thuật Toán</a:t>
            </a:r>
            <a:endParaRPr/>
          </a:p>
        </p:txBody>
      </p:sp>
      <p:pic>
        <p:nvPicPr>
          <p:cNvPr id="395" name="Google Shape;395;p35"/>
          <p:cNvPicPr preferRelativeResize="0"/>
          <p:nvPr>
            <p:ph idx="1" type="body"/>
          </p:nvPr>
        </p:nvPicPr>
        <p:blipFill rotWithShape="1">
          <a:blip r:embed="rId3">
            <a:alphaModFix/>
          </a:blip>
          <a:srcRect b="0" l="0" r="0" t="0"/>
          <a:stretch/>
        </p:blipFill>
        <p:spPr>
          <a:xfrm>
            <a:off x="958125" y="1073373"/>
            <a:ext cx="8598000" cy="4694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6"/>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Các Thuật Toán Sắp Xếp</a:t>
            </a:r>
            <a:endParaRPr/>
          </a:p>
        </p:txBody>
      </p:sp>
      <p:sp>
        <p:nvSpPr>
          <p:cNvPr id="401" name="Google Shape;401;p36"/>
          <p:cNvSpPr txBox="1"/>
          <p:nvPr>
            <p:ph idx="1" type="body"/>
          </p:nvPr>
        </p:nvSpPr>
        <p:spPr>
          <a:xfrm>
            <a:off x="992187" y="981075"/>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	1. Đổi chỗ trực tiếp – Interchange Sort</a:t>
            </a:r>
            <a:endParaRPr/>
          </a:p>
          <a:p>
            <a:pPr indent="-463550" lvl="0" marL="463550" rtl="0" algn="l">
              <a:lnSpc>
                <a:spcPct val="100000"/>
              </a:lnSpc>
              <a:spcBef>
                <a:spcPts val="560"/>
              </a:spcBef>
              <a:spcAft>
                <a:spcPts val="0"/>
              </a:spcAft>
              <a:buClr>
                <a:schemeClr val="dk1"/>
              </a:buClr>
              <a:buSzPts val="2800"/>
              <a:buNone/>
            </a:pPr>
            <a:r>
              <a:rPr b="1" i="0" lang="en-US" sz="2800" u="none">
                <a:solidFill>
                  <a:schemeClr val="dk1"/>
                </a:solidFill>
                <a:latin typeface="Arial"/>
                <a:ea typeface="Arial"/>
                <a:cs typeface="Arial"/>
                <a:sym typeface="Arial"/>
              </a:rPr>
              <a:t>	2. Chọn trực tiếp – Selection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3. Nổi bọt – Bubble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4. Shaker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5. Chèn trực tiếp –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6. Chèn nhị phân – Binary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7. Shell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8. Heap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9. Quick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10. Merge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11. Radix Sort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7"/>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Chọn Trực Tiếp – Selection Sort</a:t>
            </a:r>
            <a:endParaRPr/>
          </a:p>
        </p:txBody>
      </p:sp>
      <p:sp>
        <p:nvSpPr>
          <p:cNvPr id="407" name="Google Shape;407;p37"/>
          <p:cNvSpPr txBox="1"/>
          <p:nvPr>
            <p:ph idx="1" type="body"/>
          </p:nvPr>
        </p:nvSpPr>
        <p:spPr>
          <a:xfrm>
            <a:off x="992187" y="981075"/>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Font typeface="Noto Sans Symbols"/>
              <a:buChar char="⮚"/>
            </a:pPr>
            <a:r>
              <a:rPr b="1" i="0" lang="en-US" sz="2400" u="none">
                <a:solidFill>
                  <a:schemeClr val="dk1"/>
                </a:solidFill>
                <a:latin typeface="Arial"/>
                <a:ea typeface="Arial"/>
                <a:cs typeface="Arial"/>
                <a:sym typeface="Arial"/>
              </a:rPr>
              <a:t>Ý tưởng</a:t>
            </a:r>
            <a:r>
              <a:rPr b="0" i="0" lang="en-US" sz="2400" u="none">
                <a:solidFill>
                  <a:schemeClr val="dk1"/>
                </a:solidFill>
                <a:latin typeface="Arial"/>
                <a:ea typeface="Arial"/>
                <a:cs typeface="Arial"/>
                <a:sym typeface="Arial"/>
              </a:rPr>
              <a:t>:</a:t>
            </a:r>
            <a:endParaRPr/>
          </a:p>
          <a:p>
            <a:pPr indent="-446087" lvl="1" marL="1023937"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Chọn phần tử nhỏ nhất trong N phần tử trong dãy hiện hành ban đầu.</a:t>
            </a:r>
            <a:endParaRPr/>
          </a:p>
          <a:p>
            <a:pPr indent="-446087" lvl="1" marL="1023937"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Đưa phần tử này về vị trí đầu dãy hiện hành</a:t>
            </a:r>
            <a:endParaRPr/>
          </a:p>
          <a:p>
            <a:pPr indent="-446087" lvl="1" marL="1023937"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Xem dãy hiện hành chỉ còn N-1 phần tử của dãy hiện hành ban đầu</a:t>
            </a:r>
            <a:endParaRPr/>
          </a:p>
          <a:p>
            <a:pPr indent="-349250" lvl="2" marL="1487487"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Bắt đầu từ vị trí thứ 2;</a:t>
            </a:r>
            <a:endParaRPr/>
          </a:p>
          <a:p>
            <a:pPr indent="-349250" lvl="2" marL="1487487"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Lặp lại quá trình trên cho dãy hiện hành... đến khi dãy hiện hành chỉ còn 1 phần tử </a:t>
            </a:r>
            <a:endParaRPr sz="2800"/>
          </a:p>
          <a:p>
            <a:pPr indent="0" lvl="0" marL="1487487" rtl="0" algn="l">
              <a:lnSpc>
                <a:spcPct val="100000"/>
              </a:lnSpc>
              <a:spcBef>
                <a:spcPts val="1400"/>
              </a:spcBef>
              <a:spcAft>
                <a:spcPts val="0"/>
              </a:spcAft>
              <a:buNone/>
            </a:pPr>
            <a:r>
              <a:t/>
            </a:r>
            <a:endParaRPr sz="2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8"/>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Các Bước Của Thuật Toán Chọn Trực Tiếp</a:t>
            </a:r>
            <a:endParaRPr/>
          </a:p>
        </p:txBody>
      </p:sp>
      <p:sp>
        <p:nvSpPr>
          <p:cNvPr id="413" name="Google Shape;413;p38"/>
          <p:cNvSpPr txBox="1"/>
          <p:nvPr>
            <p:ph idx="1" type="body"/>
          </p:nvPr>
        </p:nvSpPr>
        <p:spPr>
          <a:xfrm>
            <a:off x="992187" y="1438275"/>
            <a:ext cx="8569200" cy="41910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i = 0; </a:t>
            </a:r>
            <a:endParaRPr/>
          </a:p>
          <a:p>
            <a:pPr indent="-463550" lvl="0" marL="463550" rtl="0" algn="l">
              <a:lnSpc>
                <a:spcPct val="100000"/>
              </a:lnSpc>
              <a:spcBef>
                <a:spcPts val="140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  Tìm phần tử </a:t>
            </a:r>
            <a:r>
              <a:rPr b="1" i="0" lang="en-US" sz="2800" u="none">
                <a:solidFill>
                  <a:srgbClr val="FF0000"/>
                </a:solidFill>
                <a:latin typeface="Arial"/>
                <a:ea typeface="Arial"/>
                <a:cs typeface="Arial"/>
                <a:sym typeface="Arial"/>
              </a:rPr>
              <a:t>a[min]</a:t>
            </a:r>
            <a:r>
              <a:rPr b="0" i="0" lang="en-US" sz="2800" u="none">
                <a:solidFill>
                  <a:schemeClr val="dk1"/>
                </a:solidFill>
                <a:latin typeface="Arial"/>
                <a:ea typeface="Arial"/>
                <a:cs typeface="Arial"/>
                <a:sym typeface="Arial"/>
              </a:rPr>
              <a:t> nhỏ nhất trong 			  dãy hiện hành từ a[i] đến a[N] </a:t>
            </a:r>
            <a:endParaRPr/>
          </a:p>
          <a:p>
            <a:pPr indent="-463550" lvl="0" marL="463550" rtl="0" algn="l">
              <a:lnSpc>
                <a:spcPct val="100000"/>
              </a:lnSpc>
              <a:spcBef>
                <a:spcPts val="140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3 :</a:t>
            </a:r>
            <a:r>
              <a:rPr b="0" i="0" lang="en-US" sz="2800" u="none">
                <a:solidFill>
                  <a:schemeClr val="dk1"/>
                </a:solidFill>
                <a:latin typeface="Arial"/>
                <a:ea typeface="Arial"/>
                <a:cs typeface="Arial"/>
                <a:sym typeface="Arial"/>
              </a:rPr>
              <a:t>  Đổi chỗ a[min] và a[i] </a:t>
            </a:r>
            <a:endParaRPr/>
          </a:p>
          <a:p>
            <a:pPr indent="-463550" lvl="0" marL="463550" rtl="0" algn="l">
              <a:lnSpc>
                <a:spcPct val="100000"/>
              </a:lnSpc>
              <a:spcBef>
                <a:spcPts val="140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4</a:t>
            </a:r>
            <a:r>
              <a:rPr b="0" i="0" lang="en-US" sz="2800" u="none">
                <a:solidFill>
                  <a:schemeClr val="dk1"/>
                </a:solidFill>
                <a:latin typeface="Arial"/>
                <a:ea typeface="Arial"/>
                <a:cs typeface="Arial"/>
                <a:sym typeface="Arial"/>
              </a:rPr>
              <a:t> :  Nếu  i &lt; N-1 thì </a:t>
            </a:r>
            <a:endParaRPr/>
          </a:p>
          <a:p>
            <a:pPr indent="-463550" lvl="0" marL="463550" rtl="0" algn="l">
              <a:lnSpc>
                <a:spcPct val="100000"/>
              </a:lnSpc>
              <a:spcBef>
                <a:spcPts val="1400"/>
              </a:spcBef>
              <a:spcAft>
                <a:spcPts val="0"/>
              </a:spcAft>
              <a:buClr>
                <a:schemeClr val="dk1"/>
              </a:buClr>
              <a:buSzPts val="2800"/>
              <a:buNone/>
            </a:pPr>
            <a:r>
              <a:rPr b="0" i="0" lang="en-US" sz="2800" u="none">
                <a:solidFill>
                  <a:schemeClr val="dk1"/>
                </a:solidFill>
                <a:latin typeface="Arial"/>
                <a:ea typeface="Arial"/>
                <a:cs typeface="Arial"/>
                <a:sym typeface="Arial"/>
              </a:rPr>
              <a:t> 				i = i+1; Lặp lại Bước 2;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Ngược lại: Dừng.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9"/>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Chọn Trực Tiếp – Selection Sort</a:t>
            </a:r>
            <a:endParaRPr/>
          </a:p>
        </p:txBody>
      </p:sp>
      <p:sp>
        <p:nvSpPr>
          <p:cNvPr id="419" name="Google Shape;419;p39"/>
          <p:cNvSpPr txBox="1"/>
          <p:nvPr>
            <p:ph idx="1" type="body"/>
          </p:nvPr>
        </p:nvSpPr>
        <p:spPr>
          <a:xfrm>
            <a:off x="1127125" y="1504950"/>
            <a:ext cx="8434500" cy="15351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dãy số a: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12    	2	8	5	1	6	4	15 </a:t>
            </a:r>
            <a:endParaRPr/>
          </a:p>
        </p:txBody>
      </p:sp>
      <p:pic>
        <p:nvPicPr>
          <p:cNvPr descr="th103-31" id="420" name="Google Shape;420;p39"/>
          <p:cNvPicPr preferRelativeResize="0"/>
          <p:nvPr/>
        </p:nvPicPr>
        <p:blipFill rotWithShape="1">
          <a:blip r:embed="rId3">
            <a:alphaModFix/>
          </a:blip>
          <a:srcRect b="0" l="0" r="0" t="0"/>
          <a:stretch/>
        </p:blipFill>
        <p:spPr>
          <a:xfrm>
            <a:off x="1136650" y="3284537"/>
            <a:ext cx="7488237" cy="200183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0"/>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Chọn Trực Tiếp – Selection Sort</a:t>
            </a:r>
            <a:endParaRPr/>
          </a:p>
        </p:txBody>
      </p:sp>
      <p:grpSp>
        <p:nvGrpSpPr>
          <p:cNvPr id="426" name="Google Shape;426;p40"/>
          <p:cNvGrpSpPr/>
          <p:nvPr/>
        </p:nvGrpSpPr>
        <p:grpSpPr>
          <a:xfrm>
            <a:off x="1136650" y="1343025"/>
            <a:ext cx="8424656" cy="1798637"/>
            <a:chOff x="716" y="846"/>
            <a:chExt cx="5307" cy="1133"/>
          </a:xfrm>
        </p:grpSpPr>
        <p:pic>
          <p:nvPicPr>
            <p:cNvPr id="427" name="Google Shape;427;p40"/>
            <p:cNvPicPr preferRelativeResize="0"/>
            <p:nvPr/>
          </p:nvPicPr>
          <p:blipFill rotWithShape="1">
            <a:blip r:embed="rId3">
              <a:alphaModFix/>
            </a:blip>
            <a:srcRect b="0" l="0" r="0" t="0"/>
            <a:stretch/>
          </p:blipFill>
          <p:spPr>
            <a:xfrm>
              <a:off x="716" y="846"/>
              <a:ext cx="5307" cy="1133"/>
            </a:xfrm>
            <a:prstGeom prst="rect">
              <a:avLst/>
            </a:prstGeom>
            <a:noFill/>
            <a:ln>
              <a:noFill/>
            </a:ln>
          </p:spPr>
        </p:pic>
        <p:sp>
          <p:nvSpPr>
            <p:cNvPr id="428" name="Google Shape;428;p40"/>
            <p:cNvSpPr txBox="1"/>
            <p:nvPr/>
          </p:nvSpPr>
          <p:spPr>
            <a:xfrm>
              <a:off x="807" y="1661"/>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i=0</a:t>
              </a:r>
              <a:endParaRPr/>
            </a:p>
          </p:txBody>
        </p:sp>
      </p:grpSp>
      <p:grpSp>
        <p:nvGrpSpPr>
          <p:cNvPr id="429" name="Google Shape;429;p40"/>
          <p:cNvGrpSpPr/>
          <p:nvPr/>
        </p:nvGrpSpPr>
        <p:grpSpPr>
          <a:xfrm>
            <a:off x="1208087" y="3825875"/>
            <a:ext cx="8424620" cy="1944688"/>
            <a:chOff x="761" y="2410"/>
            <a:chExt cx="5307" cy="1225"/>
          </a:xfrm>
        </p:grpSpPr>
        <p:pic>
          <p:nvPicPr>
            <p:cNvPr id="430" name="Google Shape;430;p40"/>
            <p:cNvPicPr preferRelativeResize="0"/>
            <p:nvPr/>
          </p:nvPicPr>
          <p:blipFill rotWithShape="1">
            <a:blip r:embed="rId4">
              <a:alphaModFix/>
            </a:blip>
            <a:srcRect b="0" l="0" r="0" t="0"/>
            <a:stretch/>
          </p:blipFill>
          <p:spPr>
            <a:xfrm>
              <a:off x="761" y="2410"/>
              <a:ext cx="5307" cy="1202"/>
            </a:xfrm>
            <a:prstGeom prst="rect">
              <a:avLst/>
            </a:prstGeom>
            <a:noFill/>
            <a:ln>
              <a:noFill/>
            </a:ln>
          </p:spPr>
        </p:pic>
        <p:sp>
          <p:nvSpPr>
            <p:cNvPr id="431" name="Google Shape;431;p40"/>
            <p:cNvSpPr txBox="1"/>
            <p:nvPr/>
          </p:nvSpPr>
          <p:spPr>
            <a:xfrm>
              <a:off x="1442" y="3335"/>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i=1</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1"/>
          <p:cNvSpPr txBox="1"/>
          <p:nvPr>
            <p:ph type="title"/>
          </p:nvPr>
        </p:nvSpPr>
        <p:spPr>
          <a:xfrm>
            <a:off x="704850" y="-26987"/>
            <a:ext cx="9201300" cy="792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Chọn Trực Tiếp – Selection Sort</a:t>
            </a:r>
            <a:endParaRPr/>
          </a:p>
        </p:txBody>
      </p:sp>
      <p:grpSp>
        <p:nvGrpSpPr>
          <p:cNvPr id="437" name="Google Shape;437;p41"/>
          <p:cNvGrpSpPr/>
          <p:nvPr/>
        </p:nvGrpSpPr>
        <p:grpSpPr>
          <a:xfrm>
            <a:off x="1136650" y="908050"/>
            <a:ext cx="7920251" cy="1701800"/>
            <a:chOff x="716" y="572"/>
            <a:chExt cx="4989" cy="1072"/>
          </a:xfrm>
        </p:grpSpPr>
        <p:pic>
          <p:nvPicPr>
            <p:cNvPr id="438" name="Google Shape;438;p41"/>
            <p:cNvPicPr preferRelativeResize="0"/>
            <p:nvPr/>
          </p:nvPicPr>
          <p:blipFill rotWithShape="1">
            <a:blip r:embed="rId3">
              <a:alphaModFix/>
            </a:blip>
            <a:srcRect b="0" l="0" r="0" t="0"/>
            <a:stretch/>
          </p:blipFill>
          <p:spPr>
            <a:xfrm>
              <a:off x="716" y="572"/>
              <a:ext cx="4989" cy="1044"/>
            </a:xfrm>
            <a:prstGeom prst="rect">
              <a:avLst/>
            </a:prstGeom>
            <a:noFill/>
            <a:ln>
              <a:noFill/>
            </a:ln>
          </p:spPr>
        </p:pic>
        <p:sp>
          <p:nvSpPr>
            <p:cNvPr id="439" name="Google Shape;439;p41"/>
            <p:cNvSpPr txBox="1"/>
            <p:nvPr/>
          </p:nvSpPr>
          <p:spPr>
            <a:xfrm>
              <a:off x="2076" y="1344"/>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i=2</a:t>
              </a:r>
              <a:endParaRPr/>
            </a:p>
          </p:txBody>
        </p:sp>
      </p:grpSp>
      <p:grpSp>
        <p:nvGrpSpPr>
          <p:cNvPr id="440" name="Google Shape;440;p41"/>
          <p:cNvGrpSpPr/>
          <p:nvPr/>
        </p:nvGrpSpPr>
        <p:grpSpPr>
          <a:xfrm>
            <a:off x="1208087" y="2867025"/>
            <a:ext cx="7993443" cy="1857327"/>
            <a:chOff x="761" y="1806"/>
            <a:chExt cx="5035" cy="1170"/>
          </a:xfrm>
        </p:grpSpPr>
        <p:pic>
          <p:nvPicPr>
            <p:cNvPr id="441" name="Google Shape;441;p41"/>
            <p:cNvPicPr preferRelativeResize="0"/>
            <p:nvPr/>
          </p:nvPicPr>
          <p:blipFill rotWithShape="1">
            <a:blip r:embed="rId4">
              <a:alphaModFix/>
            </a:blip>
            <a:srcRect b="0" l="0" r="0" t="0"/>
            <a:stretch/>
          </p:blipFill>
          <p:spPr>
            <a:xfrm>
              <a:off x="761" y="1806"/>
              <a:ext cx="5035" cy="1170"/>
            </a:xfrm>
            <a:prstGeom prst="rect">
              <a:avLst/>
            </a:prstGeom>
            <a:noFill/>
            <a:ln>
              <a:noFill/>
            </a:ln>
          </p:spPr>
        </p:pic>
        <p:sp>
          <p:nvSpPr>
            <p:cNvPr id="442" name="Google Shape;442;p41"/>
            <p:cNvSpPr txBox="1"/>
            <p:nvPr/>
          </p:nvSpPr>
          <p:spPr>
            <a:xfrm>
              <a:off x="2712" y="2568"/>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i=3</a:t>
              </a:r>
              <a:endParaRPr/>
            </a:p>
          </p:txBody>
        </p:sp>
      </p:grpSp>
      <p:grpSp>
        <p:nvGrpSpPr>
          <p:cNvPr id="443" name="Google Shape;443;p41"/>
          <p:cNvGrpSpPr/>
          <p:nvPr/>
        </p:nvGrpSpPr>
        <p:grpSpPr>
          <a:xfrm>
            <a:off x="1208087" y="4941887"/>
            <a:ext cx="7993225" cy="1655778"/>
            <a:chOff x="761" y="3113"/>
            <a:chExt cx="5035" cy="1043"/>
          </a:xfrm>
        </p:grpSpPr>
        <p:pic>
          <p:nvPicPr>
            <p:cNvPr id="444" name="Google Shape;444;p41"/>
            <p:cNvPicPr preferRelativeResize="0"/>
            <p:nvPr/>
          </p:nvPicPr>
          <p:blipFill rotWithShape="1">
            <a:blip r:embed="rId5">
              <a:alphaModFix/>
            </a:blip>
            <a:srcRect b="0" l="0" r="0" t="0"/>
            <a:stretch/>
          </p:blipFill>
          <p:spPr>
            <a:xfrm>
              <a:off x="761" y="3113"/>
              <a:ext cx="5035" cy="1043"/>
            </a:xfrm>
            <a:prstGeom prst="rect">
              <a:avLst/>
            </a:prstGeom>
            <a:noFill/>
            <a:ln>
              <a:noFill/>
            </a:ln>
          </p:spPr>
        </p:pic>
        <p:sp>
          <p:nvSpPr>
            <p:cNvPr id="445" name="Google Shape;445;p41"/>
            <p:cNvSpPr txBox="1"/>
            <p:nvPr/>
          </p:nvSpPr>
          <p:spPr>
            <a:xfrm>
              <a:off x="3347" y="3834"/>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i=4</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Chọn Trực Tiếp – Selection Sort</a:t>
            </a:r>
            <a:endParaRPr/>
          </a:p>
        </p:txBody>
      </p:sp>
      <p:grpSp>
        <p:nvGrpSpPr>
          <p:cNvPr id="451" name="Google Shape;451;p42"/>
          <p:cNvGrpSpPr/>
          <p:nvPr/>
        </p:nvGrpSpPr>
        <p:grpSpPr>
          <a:xfrm>
            <a:off x="992187" y="4292600"/>
            <a:ext cx="8567737" cy="2016125"/>
            <a:chOff x="625" y="2704"/>
            <a:chExt cx="5397" cy="1270"/>
          </a:xfrm>
        </p:grpSpPr>
        <p:pic>
          <p:nvPicPr>
            <p:cNvPr id="452" name="Google Shape;452;p42"/>
            <p:cNvPicPr preferRelativeResize="0"/>
            <p:nvPr/>
          </p:nvPicPr>
          <p:blipFill rotWithShape="1">
            <a:blip r:embed="rId3">
              <a:alphaModFix/>
            </a:blip>
            <a:srcRect b="0" l="0" r="0" t="0"/>
            <a:stretch/>
          </p:blipFill>
          <p:spPr>
            <a:xfrm>
              <a:off x="625" y="2704"/>
              <a:ext cx="5397" cy="1270"/>
            </a:xfrm>
            <a:prstGeom prst="rect">
              <a:avLst/>
            </a:prstGeom>
            <a:noFill/>
            <a:ln>
              <a:noFill/>
            </a:ln>
          </p:spPr>
        </p:pic>
        <p:sp>
          <p:nvSpPr>
            <p:cNvPr id="453" name="Google Shape;453;p42"/>
            <p:cNvSpPr txBox="1"/>
            <p:nvPr/>
          </p:nvSpPr>
          <p:spPr>
            <a:xfrm>
              <a:off x="4934" y="3657"/>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i=6</a:t>
              </a:r>
              <a:endParaRPr/>
            </a:p>
          </p:txBody>
        </p:sp>
      </p:grpSp>
      <p:grpSp>
        <p:nvGrpSpPr>
          <p:cNvPr id="454" name="Google Shape;454;p42"/>
          <p:cNvGrpSpPr/>
          <p:nvPr/>
        </p:nvGrpSpPr>
        <p:grpSpPr>
          <a:xfrm>
            <a:off x="1079500" y="1412875"/>
            <a:ext cx="8353822" cy="2087372"/>
            <a:chOff x="680" y="890"/>
            <a:chExt cx="5262" cy="1315"/>
          </a:xfrm>
        </p:grpSpPr>
        <p:pic>
          <p:nvPicPr>
            <p:cNvPr id="455" name="Google Shape;455;p42"/>
            <p:cNvPicPr preferRelativeResize="0"/>
            <p:nvPr/>
          </p:nvPicPr>
          <p:blipFill rotWithShape="1">
            <a:blip r:embed="rId4">
              <a:alphaModFix/>
            </a:blip>
            <a:srcRect b="0" l="0" r="0" t="0"/>
            <a:stretch/>
          </p:blipFill>
          <p:spPr>
            <a:xfrm>
              <a:off x="680" y="890"/>
              <a:ext cx="5262" cy="1315"/>
            </a:xfrm>
            <a:prstGeom prst="rect">
              <a:avLst/>
            </a:prstGeom>
            <a:noFill/>
            <a:ln>
              <a:noFill/>
            </a:ln>
          </p:spPr>
        </p:pic>
        <p:sp>
          <p:nvSpPr>
            <p:cNvPr id="456" name="Google Shape;456;p42"/>
            <p:cNvSpPr txBox="1"/>
            <p:nvPr/>
          </p:nvSpPr>
          <p:spPr>
            <a:xfrm>
              <a:off x="4175" y="1888"/>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i=5</a:t>
              </a: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3"/>
          <p:cNvSpPr txBox="1"/>
          <p:nvPr>
            <p:ph type="title"/>
          </p:nvPr>
        </p:nvSpPr>
        <p:spPr>
          <a:xfrm>
            <a:off x="704850" y="7620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Cài Đặt Thuật Toán Chọn Trực Tiếp</a:t>
            </a:r>
            <a:endParaRPr/>
          </a:p>
        </p:txBody>
      </p:sp>
      <p:sp>
        <p:nvSpPr>
          <p:cNvPr id="462" name="Google Shape;462;p43"/>
          <p:cNvSpPr txBox="1"/>
          <p:nvPr>
            <p:ph idx="1" type="body"/>
          </p:nvPr>
        </p:nvSpPr>
        <p:spPr>
          <a:xfrm>
            <a:off x="802762" y="960950"/>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rgbClr val="0000FF"/>
              </a:buClr>
              <a:buSzPts val="2800"/>
              <a:buNone/>
            </a:pPr>
            <a:r>
              <a:rPr b="0" i="0" lang="en-US" sz="2800" u="none">
                <a:solidFill>
                  <a:srgbClr val="0000FF"/>
                </a:solidFill>
                <a:latin typeface="Arial"/>
                <a:ea typeface="Arial"/>
                <a:cs typeface="Arial"/>
                <a:sym typeface="Arial"/>
              </a:rPr>
              <a:t>void</a:t>
            </a:r>
            <a:r>
              <a:rPr b="0" i="0"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SelectionSort(</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a[],</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n )</a:t>
            </a:r>
            <a:endParaRPr/>
          </a:p>
          <a:p>
            <a:pPr indent="-463550" lvl="0" marL="463550" rtl="0" algn="l">
              <a:lnSpc>
                <a:spcPct val="90000"/>
              </a:lnSpc>
              <a:spcBef>
                <a:spcPts val="28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a:p>
            <a:pPr indent="-463550" lvl="0" marL="463550" rtl="0" algn="l">
              <a:lnSpc>
                <a:spcPct val="90000"/>
              </a:lnSpc>
              <a:spcBef>
                <a:spcPts val="28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min,i,j; </a:t>
            </a:r>
            <a:r>
              <a:rPr b="0" i="1" lang="en-US" sz="20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 </a:t>
            </a:r>
            <a:r>
              <a:rPr b="0" i="1" lang="en-US" sz="2000" u="none">
                <a:solidFill>
                  <a:schemeClr val="dk1"/>
                </a:solidFill>
                <a:latin typeface="Arial"/>
                <a:ea typeface="Arial"/>
                <a:cs typeface="Arial"/>
                <a:sym typeface="Arial"/>
              </a:rPr>
              <a:t>chỉ số phần tử nhỏ nhất trong dãy hiện hành </a:t>
            </a:r>
            <a:endParaRPr/>
          </a:p>
          <a:p>
            <a:pPr indent="-463550" lvl="0" marL="463550" rtl="0" algn="l">
              <a:lnSpc>
                <a:spcPct val="90000"/>
              </a:lnSpc>
              <a:spcBef>
                <a:spcPts val="28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for</a:t>
            </a:r>
            <a:r>
              <a:rPr b="0" i="0" lang="en-US" sz="2800" u="none">
                <a:solidFill>
                  <a:schemeClr val="dk1"/>
                </a:solidFill>
                <a:latin typeface="Arial"/>
                <a:ea typeface="Arial"/>
                <a:cs typeface="Arial"/>
                <a:sym typeface="Arial"/>
              </a:rPr>
              <a:t> (i=0; i&lt;n-1 ; i++) </a:t>
            </a:r>
            <a:r>
              <a:rPr b="0" i="1" lang="en-US" sz="2000" u="none">
                <a:solidFill>
                  <a:schemeClr val="dk1"/>
                </a:solidFill>
                <a:latin typeface="Arial"/>
                <a:ea typeface="Arial"/>
                <a:cs typeface="Arial"/>
                <a:sym typeface="Arial"/>
              </a:rPr>
              <a:t>//chỉ số đầu tiên của dãy hiện</a:t>
            </a:r>
            <a:r>
              <a:rPr b="0" i="1" lang="en-US" sz="2800" u="none">
                <a:solidFill>
                  <a:schemeClr val="dk1"/>
                </a:solidFill>
                <a:latin typeface="Arial"/>
                <a:ea typeface="Arial"/>
                <a:cs typeface="Arial"/>
                <a:sym typeface="Arial"/>
              </a:rPr>
              <a:t> </a:t>
            </a:r>
            <a:r>
              <a:rPr b="0" i="1" lang="en-US" sz="2000" u="none">
                <a:solidFill>
                  <a:schemeClr val="dk1"/>
                </a:solidFill>
                <a:latin typeface="Arial"/>
                <a:ea typeface="Arial"/>
                <a:cs typeface="Arial"/>
                <a:sym typeface="Arial"/>
              </a:rPr>
              <a:t>hành</a:t>
            </a:r>
            <a:endParaRPr/>
          </a:p>
          <a:p>
            <a:pPr indent="-463550" lvl="0" marL="463550" rtl="0" algn="l">
              <a:lnSpc>
                <a:spcPct val="90000"/>
              </a:lnSpc>
              <a:spcBef>
                <a:spcPts val="280"/>
              </a:spcBef>
              <a:spcAft>
                <a:spcPts val="0"/>
              </a:spcAft>
              <a:buClr>
                <a:schemeClr val="dk1"/>
              </a:buClr>
              <a:buSzPts val="2800"/>
              <a:buNone/>
            </a:pP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a:t>
            </a:r>
            <a:r>
              <a:rPr b="0" i="0" lang="en-US" sz="2800" u="none">
                <a:solidFill>
                  <a:srgbClr val="FF0000"/>
                </a:solidFill>
                <a:latin typeface="Arial"/>
                <a:ea typeface="Arial"/>
                <a:cs typeface="Arial"/>
                <a:sym typeface="Arial"/>
              </a:rPr>
              <a:t>min = i;</a:t>
            </a:r>
            <a:endParaRPr/>
          </a:p>
          <a:p>
            <a:pPr indent="-463550" lvl="0" marL="463550" rtl="0" algn="l">
              <a:lnSpc>
                <a:spcPct val="90000"/>
              </a:lnSpc>
              <a:spcBef>
                <a:spcPts val="28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for</a:t>
            </a:r>
            <a:r>
              <a:rPr b="0" i="0" lang="en-US" sz="2800" u="none">
                <a:solidFill>
                  <a:schemeClr val="dk1"/>
                </a:solidFill>
                <a:latin typeface="Arial"/>
                <a:ea typeface="Arial"/>
                <a:cs typeface="Arial"/>
                <a:sym typeface="Arial"/>
              </a:rPr>
              <a:t>(j = i+1; j &lt;N ; j++)</a:t>
            </a:r>
            <a:endParaRPr/>
          </a:p>
          <a:p>
            <a:pPr indent="-463550" lvl="0" marL="463550" rtl="0" algn="l">
              <a:lnSpc>
                <a:spcPct val="90000"/>
              </a:lnSpc>
              <a:spcBef>
                <a:spcPts val="28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 (a[j ] &lt; a[min]) </a:t>
            </a:r>
            <a:endParaRPr/>
          </a:p>
          <a:p>
            <a:pPr indent="-463550" lvl="0" marL="463550" rtl="0" algn="l">
              <a:lnSpc>
                <a:spcPct val="90000"/>
              </a:lnSpc>
              <a:spcBef>
                <a:spcPts val="280"/>
              </a:spcBef>
              <a:spcAft>
                <a:spcPts val="0"/>
              </a:spcAft>
              <a:buClr>
                <a:srgbClr val="FF0000"/>
              </a:buClr>
              <a:buSzPts val="2800"/>
              <a:buNone/>
            </a:pPr>
            <a:r>
              <a:rPr b="0" i="0" lang="en-US" sz="2800" u="none">
                <a:solidFill>
                  <a:srgbClr val="FF0000"/>
                </a:solidFill>
                <a:latin typeface="Arial"/>
                <a:ea typeface="Arial"/>
                <a:cs typeface="Arial"/>
                <a:sym typeface="Arial"/>
              </a:rPr>
              <a:t>					min = j</a:t>
            </a:r>
            <a:r>
              <a:rPr b="0" i="0" lang="en-US" sz="2800" u="none">
                <a:solidFill>
                  <a:schemeClr val="dk1"/>
                </a:solidFill>
                <a:latin typeface="Arial"/>
                <a:ea typeface="Arial"/>
                <a:cs typeface="Arial"/>
                <a:sym typeface="Arial"/>
              </a:rPr>
              <a:t>;</a:t>
            </a:r>
            <a:r>
              <a:rPr b="0" i="0" lang="en-US" sz="2000" u="none">
                <a:solidFill>
                  <a:schemeClr val="dk1"/>
                </a:solidFill>
                <a:latin typeface="Arial"/>
                <a:ea typeface="Arial"/>
                <a:cs typeface="Arial"/>
                <a:sym typeface="Arial"/>
              </a:rPr>
              <a:t> </a:t>
            </a:r>
            <a:r>
              <a:rPr b="0" i="1" lang="en-US" sz="20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lưu</a:t>
            </a:r>
            <a:r>
              <a:rPr b="0" i="1" lang="en-US" sz="2000" u="none">
                <a:solidFill>
                  <a:schemeClr val="dk1"/>
                </a:solidFill>
                <a:latin typeface="Arial"/>
                <a:ea typeface="Arial"/>
                <a:cs typeface="Arial"/>
                <a:sym typeface="Arial"/>
              </a:rPr>
              <a:t> vtrí phần tử hiện nhỏ nhất </a:t>
            </a:r>
            <a:endParaRPr/>
          </a:p>
          <a:p>
            <a:pPr indent="-463550" lvl="0" marL="463550" rtl="0" algn="l">
              <a:lnSpc>
                <a:spcPct val="90000"/>
              </a:lnSpc>
              <a:spcBef>
                <a:spcPts val="280"/>
              </a:spcBef>
              <a:spcAft>
                <a:spcPts val="0"/>
              </a:spcAft>
              <a:buClr>
                <a:schemeClr val="dk1"/>
              </a:buClr>
              <a:buSzPts val="2800"/>
              <a:buNone/>
            </a:pPr>
            <a:r>
              <a:rPr b="0" i="0" lang="en-US" sz="2800" u="none">
                <a:solidFill>
                  <a:schemeClr val="dk1"/>
                </a:solidFill>
                <a:latin typeface="Arial"/>
                <a:ea typeface="Arial"/>
                <a:cs typeface="Arial"/>
                <a:sym typeface="Arial"/>
              </a:rPr>
              <a:t>				Swap(a[min],a[i]);</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 Chọn Trực Tiếp</a:t>
            </a:r>
            <a:endParaRPr/>
          </a:p>
        </p:txBody>
      </p:sp>
      <p:sp>
        <p:nvSpPr>
          <p:cNvPr id="468" name="Google Shape;468;p44"/>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469" name="Google Shape;469;p44"/>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470" name="Google Shape;470;p44"/>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471" name="Google Shape;471;p44"/>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472" name="Google Shape;472;p44"/>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473" name="Google Shape;473;p44"/>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474" name="Google Shape;474;p44"/>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475" name="Google Shape;475;p44"/>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476" name="Google Shape;476;p44"/>
          <p:cNvSpPr/>
          <p:nvPr/>
        </p:nvSpPr>
        <p:spPr>
          <a:xfrm>
            <a:off x="990600" y="3571875"/>
            <a:ext cx="990600" cy="823912"/>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477" name="Google Shape;477;p44"/>
          <p:cNvSpPr/>
          <p:nvPr/>
        </p:nvSpPr>
        <p:spPr>
          <a:xfrm>
            <a:off x="874712"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min</a:t>
            </a:r>
            <a:endParaRPr/>
          </a:p>
        </p:txBody>
      </p:sp>
      <p:grpSp>
        <p:nvGrpSpPr>
          <p:cNvPr id="478" name="Google Shape;478;p44"/>
          <p:cNvGrpSpPr/>
          <p:nvPr/>
        </p:nvGrpSpPr>
        <p:grpSpPr>
          <a:xfrm>
            <a:off x="1089025" y="3449637"/>
            <a:ext cx="8550275" cy="608012"/>
            <a:chOff x="644" y="1153"/>
            <a:chExt cx="4972" cy="383"/>
          </a:xfrm>
        </p:grpSpPr>
        <p:sp>
          <p:nvSpPr>
            <p:cNvPr id="479" name="Google Shape;479;p44"/>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480" name="Google Shape;480;p44"/>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481" name="Google Shape;481;p44"/>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482" name="Google Shape;482;p44"/>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483" name="Google Shape;483;p44"/>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484" name="Google Shape;484;p44"/>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485" name="Google Shape;485;p44"/>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486" name="Google Shape;486;p44"/>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487" name="Google Shape;487;p44"/>
          <p:cNvSpPr txBox="1"/>
          <p:nvPr/>
        </p:nvSpPr>
        <p:spPr>
          <a:xfrm>
            <a:off x="2085975" y="1384300"/>
            <a:ext cx="3227387"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0" i="0" lang="en-US" sz="2400" u="none">
                <a:solidFill>
                  <a:srgbClr val="362AD4"/>
                </a:solidFill>
                <a:latin typeface="Helvetica Neue"/>
                <a:ea typeface="Helvetica Neue"/>
                <a:cs typeface="Helvetica Neue"/>
                <a:sym typeface="Helvetica Neue"/>
              </a:rPr>
              <a:t>Vị trí nhỏ nhất(0,7)</a:t>
            </a:r>
            <a:endParaRPr/>
          </a:p>
        </p:txBody>
      </p:sp>
      <p:sp>
        <p:nvSpPr>
          <p:cNvPr id="488" name="Google Shape;488;p44"/>
          <p:cNvSpPr txBox="1"/>
          <p:nvPr/>
        </p:nvSpPr>
        <p:spPr>
          <a:xfrm>
            <a:off x="5748337" y="1379537"/>
            <a:ext cx="3597275"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Swap(a[0], a[4])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87"/>
                                        </p:tgtEl>
                                        <p:attrNameLst>
                                          <p:attrName>style.visibility</p:attrName>
                                        </p:attrNameLst>
                                      </p:cBhvr>
                                      <p:to>
                                        <p:strVal val="visible"/>
                                      </p:to>
                                    </p:set>
                                    <p:anim calcmode="lin" valueType="num">
                                      <p:cBhvr additive="base">
                                        <p:cTn dur="500"/>
                                        <p:tgtEl>
                                          <p:spTgt spid="487"/>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par>
                          <p:cTn fill="hold">
                            <p:stCondLst>
                              <p:cond delay="1000"/>
                            </p:stCondLst>
                            <p:childTnLst>
                              <p:par>
                                <p:cTn fill="hold" nodeType="afterEffect" presetClass="exit" presetID="2" presetSubtype="8">
                                  <p:stCondLst>
                                    <p:cond delay="0"/>
                                  </p:stCondLst>
                                  <p:childTnLst>
                                    <p:anim calcmode="lin" valueType="num">
                                      <p:cBhvr additive="base">
                                        <p:cTn dur="500"/>
                                        <p:tgtEl>
                                          <p:spTgt spid="487"/>
                                        </p:tgtEl>
                                        <p:attrNameLst>
                                          <p:attrName>ppt_x</p:attrName>
                                        </p:attrNameLst>
                                      </p:cBhvr>
                                      <p:tavLst>
                                        <p:tav fmla="" tm="0">
                                          <p:val>
                                            <p:strVal val="#ppt_x"/>
                                          </p:val>
                                        </p:tav>
                                        <p:tav fmla="" tm="100000">
                                          <p:val>
                                            <p:strVal val="#ppt_x-1"/>
                                          </p:val>
                                        </p:tav>
                                      </p:tavLst>
                                    </p:anim>
                                    <p:set>
                                      <p:cBhvr>
                                        <p:cTn dur="1" fill="hold">
                                          <p:stCondLst>
                                            <p:cond delay="500"/>
                                          </p:stCondLst>
                                        </p:cTn>
                                        <p:tgtEl>
                                          <p:spTgt spid="487"/>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2" presetSubtype="2">
                                  <p:stCondLst>
                                    <p:cond delay="0"/>
                                  </p:stCondLst>
                                  <p:childTnLst>
                                    <p:set>
                                      <p:cBhvr>
                                        <p:cTn dur="1" fill="hold">
                                          <p:stCondLst>
                                            <p:cond delay="0"/>
                                          </p:stCondLst>
                                        </p:cTn>
                                        <p:tgtEl>
                                          <p:spTgt spid="488"/>
                                        </p:tgtEl>
                                        <p:attrNameLst>
                                          <p:attrName>style.visibility</p:attrName>
                                        </p:attrNameLst>
                                      </p:cBhvr>
                                      <p:to>
                                        <p:strVal val="visible"/>
                                      </p:to>
                                    </p:set>
                                    <p:anim calcmode="lin" valueType="num">
                                      <p:cBhvr additive="base">
                                        <p:cTn dur="500"/>
                                        <p:tgtEl>
                                          <p:spTgt spid="488"/>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477"/>
                                        </p:tgtEl>
                                      </p:cBhvr>
                                    </p:animEffect>
                                    <p:set>
                                      <p:cBhvr>
                                        <p:cTn dur="1" fill="hold">
                                          <p:stCondLst>
                                            <p:cond delay="500"/>
                                          </p:stCondLst>
                                        </p:cTn>
                                        <p:tgtEl>
                                          <p:spTgt spid="477"/>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2">
                                  <p:stCondLst>
                                    <p:cond delay="0"/>
                                  </p:stCondLst>
                                  <p:childTnLst>
                                    <p:anim calcmode="lin" valueType="num">
                                      <p:cBhvr additive="base">
                                        <p:cTn dur="500"/>
                                        <p:tgtEl>
                                          <p:spTgt spid="488"/>
                                        </p:tgtEl>
                                        <p:attrNameLst>
                                          <p:attrName>ppt_x</p:attrName>
                                        </p:attrNameLst>
                                      </p:cBhvr>
                                      <p:tavLst>
                                        <p:tav fmla="" tm="0">
                                          <p:val>
                                            <p:strVal val="#ppt_x"/>
                                          </p:val>
                                        </p:tav>
                                        <p:tav fmla="" tm="100000">
                                          <p:val>
                                            <p:strVal val="#ppt_x+1"/>
                                          </p:val>
                                        </p:tav>
                                      </p:tavLst>
                                    </p:anim>
                                    <p:set>
                                      <p:cBhvr>
                                        <p:cTn dur="1" fill="hold">
                                          <p:stCondLst>
                                            <p:cond delay="500"/>
                                          </p:stCondLst>
                                        </p:cTn>
                                        <p:tgtEl>
                                          <p:spTgt spid="4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 Chọn Trực Tiếp</a:t>
            </a:r>
            <a:endParaRPr/>
          </a:p>
        </p:txBody>
      </p:sp>
      <p:sp>
        <p:nvSpPr>
          <p:cNvPr id="494" name="Google Shape;494;p45"/>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495" name="Google Shape;495;p45"/>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496" name="Google Shape;496;p45"/>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497" name="Google Shape;497;p45"/>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498" name="Google Shape;498;p45"/>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499" name="Google Shape;499;p45"/>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500" name="Google Shape;500;p45"/>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501" name="Google Shape;501;p45"/>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502" name="Google Shape;502;p45"/>
          <p:cNvSpPr/>
          <p:nvPr/>
        </p:nvSpPr>
        <p:spPr>
          <a:xfrm>
            <a:off x="1008063" y="405765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503" name="Google Shape;503;p45"/>
          <p:cNvSpPr/>
          <p:nvPr/>
        </p:nvSpPr>
        <p:spPr>
          <a:xfrm>
            <a:off x="1976437"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min</a:t>
            </a:r>
            <a:endParaRPr/>
          </a:p>
        </p:txBody>
      </p:sp>
      <p:grpSp>
        <p:nvGrpSpPr>
          <p:cNvPr id="504" name="Google Shape;504;p45"/>
          <p:cNvGrpSpPr/>
          <p:nvPr/>
        </p:nvGrpSpPr>
        <p:grpSpPr>
          <a:xfrm>
            <a:off x="1089025" y="3449637"/>
            <a:ext cx="8550275" cy="608012"/>
            <a:chOff x="644" y="1153"/>
            <a:chExt cx="4972" cy="383"/>
          </a:xfrm>
        </p:grpSpPr>
        <p:sp>
          <p:nvSpPr>
            <p:cNvPr id="505" name="Google Shape;505;p4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506" name="Google Shape;506;p4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507" name="Google Shape;507;p4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508" name="Google Shape;508;p4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509" name="Google Shape;509;p4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510" name="Google Shape;510;p4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511" name="Google Shape;511;p4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512" name="Google Shape;512;p4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513" name="Google Shape;513;p45"/>
          <p:cNvSpPr txBox="1"/>
          <p:nvPr/>
        </p:nvSpPr>
        <p:spPr>
          <a:xfrm>
            <a:off x="2085975" y="1384300"/>
            <a:ext cx="3136900"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0" i="0" lang="en-US" sz="2400" u="none">
                <a:solidFill>
                  <a:srgbClr val="362AD4"/>
                </a:solidFill>
                <a:latin typeface="Helvetica Neue"/>
                <a:ea typeface="Helvetica Neue"/>
                <a:cs typeface="Helvetica Neue"/>
                <a:sym typeface="Helvetica Neue"/>
              </a:rPr>
              <a:t>Vị trí nhỏ nhất(1,7)</a:t>
            </a:r>
            <a:endParaRPr/>
          </a:p>
        </p:txBody>
      </p:sp>
      <p:sp>
        <p:nvSpPr>
          <p:cNvPr id="514" name="Google Shape;514;p45"/>
          <p:cNvSpPr txBox="1"/>
          <p:nvPr/>
        </p:nvSpPr>
        <p:spPr>
          <a:xfrm>
            <a:off x="5748337" y="1379537"/>
            <a:ext cx="3236912"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Swap(a[1], a[1])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2000"/>
                                        <p:tgtEl>
                                          <p:spTgt spid="501"/>
                                        </p:tgtEl>
                                      </p:cBhvr>
                                    </p:animEffect>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513"/>
                                        </p:tgtEl>
                                        <p:attrNameLst>
                                          <p:attrName>style.visibility</p:attrName>
                                        </p:attrNameLst>
                                      </p:cBhvr>
                                      <p:to>
                                        <p:strVal val="visible"/>
                                      </p:to>
                                    </p:set>
                                    <p:anim calcmode="lin" valueType="num">
                                      <p:cBhvr additive="base">
                                        <p:cTn dur="500"/>
                                        <p:tgtEl>
                                          <p:spTgt spid="513"/>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childTnLst>
                          </p:cTn>
                        </p:par>
                        <p:par>
                          <p:cTn fill="hold">
                            <p:stCondLst>
                              <p:cond delay="3000"/>
                            </p:stCondLst>
                            <p:childTnLst>
                              <p:par>
                                <p:cTn fill="hold" nodeType="afterEffect" presetClass="exit" presetID="2" presetSubtype="8">
                                  <p:stCondLst>
                                    <p:cond delay="0"/>
                                  </p:stCondLst>
                                  <p:childTnLst>
                                    <p:anim calcmode="lin" valueType="num">
                                      <p:cBhvr additive="base">
                                        <p:cTn dur="500"/>
                                        <p:tgtEl>
                                          <p:spTgt spid="513"/>
                                        </p:tgtEl>
                                        <p:attrNameLst>
                                          <p:attrName>ppt_x</p:attrName>
                                        </p:attrNameLst>
                                      </p:cBhvr>
                                      <p:tavLst>
                                        <p:tav fmla="" tm="0">
                                          <p:val>
                                            <p:strVal val="#ppt_x"/>
                                          </p:val>
                                        </p:tav>
                                        <p:tav fmla="" tm="100000">
                                          <p:val>
                                            <p:strVal val="#ppt_x-1"/>
                                          </p:val>
                                        </p:tav>
                                      </p:tavLst>
                                    </p:anim>
                                    <p:set>
                                      <p:cBhvr>
                                        <p:cTn dur="1" fill="hold">
                                          <p:stCondLst>
                                            <p:cond delay="500"/>
                                          </p:stCondLst>
                                        </p:cTn>
                                        <p:tgtEl>
                                          <p:spTgt spid="513"/>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2" presetSubtype="2">
                                  <p:stCondLst>
                                    <p:cond delay="0"/>
                                  </p:stCondLst>
                                  <p:childTnLst>
                                    <p:set>
                                      <p:cBhvr>
                                        <p:cTn dur="1" fill="hold">
                                          <p:stCondLst>
                                            <p:cond delay="0"/>
                                          </p:stCondLst>
                                        </p:cTn>
                                        <p:tgtEl>
                                          <p:spTgt spid="514"/>
                                        </p:tgtEl>
                                        <p:attrNameLst>
                                          <p:attrName>style.visibility</p:attrName>
                                        </p:attrNameLst>
                                      </p:cBhvr>
                                      <p:to>
                                        <p:strVal val="visible"/>
                                      </p:to>
                                    </p:set>
                                    <p:anim calcmode="lin" valueType="num">
                                      <p:cBhvr additive="base">
                                        <p:cTn dur="500"/>
                                        <p:tgtEl>
                                          <p:spTgt spid="514"/>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503"/>
                                        </p:tgtEl>
                                      </p:cBhvr>
                                    </p:animEffect>
                                    <p:set>
                                      <p:cBhvr>
                                        <p:cTn dur="1" fill="hold">
                                          <p:stCondLst>
                                            <p:cond delay="500"/>
                                          </p:stCondLst>
                                        </p:cTn>
                                        <p:tgtEl>
                                          <p:spTgt spid="503"/>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2" presetSubtype="2">
                                  <p:stCondLst>
                                    <p:cond delay="0"/>
                                  </p:stCondLst>
                                  <p:childTnLst>
                                    <p:anim calcmode="lin" valueType="num">
                                      <p:cBhvr additive="base">
                                        <p:cTn dur="500"/>
                                        <p:tgtEl>
                                          <p:spTgt spid="514"/>
                                        </p:tgtEl>
                                        <p:attrNameLst>
                                          <p:attrName>ppt_x</p:attrName>
                                        </p:attrNameLst>
                                      </p:cBhvr>
                                      <p:tavLst>
                                        <p:tav fmla="" tm="0">
                                          <p:val>
                                            <p:strVal val="#ppt_x"/>
                                          </p:val>
                                        </p:tav>
                                        <p:tav fmla="" tm="100000">
                                          <p:val>
                                            <p:strVal val="#ppt_x+1"/>
                                          </p:val>
                                        </p:tav>
                                      </p:tavLst>
                                    </p:anim>
                                    <p:set>
                                      <p:cBhvr>
                                        <p:cTn dur="1" fill="hold">
                                          <p:stCondLst>
                                            <p:cond delay="500"/>
                                          </p:stCondLst>
                                        </p:cTn>
                                        <p:tgtEl>
                                          <p:spTgt spid="5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 Chọn Trực Tiếp</a:t>
            </a:r>
            <a:endParaRPr/>
          </a:p>
        </p:txBody>
      </p:sp>
      <p:sp>
        <p:nvSpPr>
          <p:cNvPr id="520" name="Google Shape;520;p46"/>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521" name="Google Shape;521;p46"/>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522" name="Google Shape;522;p46"/>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523" name="Google Shape;523;p46"/>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524" name="Google Shape;524;p46"/>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525" name="Google Shape;525;p46"/>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526" name="Google Shape;526;p46"/>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527" name="Google Shape;527;p46"/>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528" name="Google Shape;528;p46"/>
          <p:cNvSpPr/>
          <p:nvPr/>
        </p:nvSpPr>
        <p:spPr>
          <a:xfrm>
            <a:off x="2115338" y="403702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529" name="Google Shape;529;p46"/>
          <p:cNvSpPr/>
          <p:nvPr/>
        </p:nvSpPr>
        <p:spPr>
          <a:xfrm>
            <a:off x="3094037"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min</a:t>
            </a:r>
            <a:endParaRPr/>
          </a:p>
        </p:txBody>
      </p:sp>
      <p:grpSp>
        <p:nvGrpSpPr>
          <p:cNvPr id="530" name="Google Shape;530;p46"/>
          <p:cNvGrpSpPr/>
          <p:nvPr/>
        </p:nvGrpSpPr>
        <p:grpSpPr>
          <a:xfrm>
            <a:off x="980550" y="3429012"/>
            <a:ext cx="8550275" cy="608012"/>
            <a:chOff x="644" y="1153"/>
            <a:chExt cx="4972" cy="383"/>
          </a:xfrm>
        </p:grpSpPr>
        <p:sp>
          <p:nvSpPr>
            <p:cNvPr id="531" name="Google Shape;531;p46"/>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532" name="Google Shape;532;p46"/>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533" name="Google Shape;533;p46"/>
            <p:cNvSpPr/>
            <p:nvPr/>
          </p:nvSpPr>
          <p:spPr>
            <a:xfrm>
              <a:off x="2614" y="1153"/>
              <a:ext cx="600" cy="300"/>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534" name="Google Shape;534;p46"/>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535" name="Google Shape;535;p46"/>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536" name="Google Shape;536;p46"/>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537" name="Google Shape;537;p46"/>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538" name="Google Shape;538;p46"/>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539" name="Google Shape;539;p46"/>
          <p:cNvSpPr txBox="1"/>
          <p:nvPr/>
        </p:nvSpPr>
        <p:spPr>
          <a:xfrm>
            <a:off x="2085975" y="1384300"/>
            <a:ext cx="3136900"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0" i="0" lang="en-US" sz="2400" u="none">
                <a:solidFill>
                  <a:srgbClr val="362AD4"/>
                </a:solidFill>
                <a:latin typeface="Helvetica Neue"/>
                <a:ea typeface="Helvetica Neue"/>
                <a:cs typeface="Helvetica Neue"/>
                <a:sym typeface="Helvetica Neue"/>
              </a:rPr>
              <a:t>Vị trí nhỏ nhất(2,7)</a:t>
            </a:r>
            <a:endParaRPr/>
          </a:p>
        </p:txBody>
      </p:sp>
      <p:sp>
        <p:nvSpPr>
          <p:cNvPr id="540" name="Google Shape;540;p46"/>
          <p:cNvSpPr txBox="1"/>
          <p:nvPr/>
        </p:nvSpPr>
        <p:spPr>
          <a:xfrm>
            <a:off x="5748337" y="1379537"/>
            <a:ext cx="3381375"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Swap(a[2], a[6])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2000"/>
                                        <p:tgtEl>
                                          <p:spTgt spid="520"/>
                                        </p:tgtEl>
                                      </p:cBhvr>
                                    </p:animEffect>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539"/>
                                        </p:tgtEl>
                                        <p:attrNameLst>
                                          <p:attrName>style.visibility</p:attrName>
                                        </p:attrNameLst>
                                      </p:cBhvr>
                                      <p:to>
                                        <p:strVal val="visible"/>
                                      </p:to>
                                    </p:set>
                                    <p:anim calcmode="lin" valueType="num">
                                      <p:cBhvr additive="base">
                                        <p:cTn dur="500"/>
                                        <p:tgtEl>
                                          <p:spTgt spid="539"/>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childTnLst>
                          </p:cTn>
                        </p:par>
                        <p:par>
                          <p:cTn fill="hold">
                            <p:stCondLst>
                              <p:cond delay="3000"/>
                            </p:stCondLst>
                            <p:childTnLst>
                              <p:par>
                                <p:cTn fill="hold" nodeType="afterEffect" presetClass="exit" presetID="2" presetSubtype="8">
                                  <p:stCondLst>
                                    <p:cond delay="0"/>
                                  </p:stCondLst>
                                  <p:childTnLst>
                                    <p:anim calcmode="lin" valueType="num">
                                      <p:cBhvr additive="base">
                                        <p:cTn dur="500"/>
                                        <p:tgtEl>
                                          <p:spTgt spid="539"/>
                                        </p:tgtEl>
                                        <p:attrNameLst>
                                          <p:attrName>ppt_x</p:attrName>
                                        </p:attrNameLst>
                                      </p:cBhvr>
                                      <p:tavLst>
                                        <p:tav fmla="" tm="0">
                                          <p:val>
                                            <p:strVal val="#ppt_x"/>
                                          </p:val>
                                        </p:tav>
                                        <p:tav fmla="" tm="100000">
                                          <p:val>
                                            <p:strVal val="#ppt_x-1"/>
                                          </p:val>
                                        </p:tav>
                                      </p:tavLst>
                                    </p:anim>
                                    <p:set>
                                      <p:cBhvr>
                                        <p:cTn dur="1" fill="hold">
                                          <p:stCondLst>
                                            <p:cond delay="500"/>
                                          </p:stCondLst>
                                        </p:cTn>
                                        <p:tgtEl>
                                          <p:spTgt spid="539"/>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2" presetSubtype="2">
                                  <p:stCondLst>
                                    <p:cond delay="0"/>
                                  </p:stCondLst>
                                  <p:childTnLst>
                                    <p:set>
                                      <p:cBhvr>
                                        <p:cTn dur="1" fill="hold">
                                          <p:stCondLst>
                                            <p:cond delay="0"/>
                                          </p:stCondLst>
                                        </p:cTn>
                                        <p:tgtEl>
                                          <p:spTgt spid="540"/>
                                        </p:tgtEl>
                                        <p:attrNameLst>
                                          <p:attrName>style.visibility</p:attrName>
                                        </p:attrNameLst>
                                      </p:cBhvr>
                                      <p:to>
                                        <p:strVal val="visible"/>
                                      </p:to>
                                    </p:set>
                                    <p:anim calcmode="lin" valueType="num">
                                      <p:cBhvr additive="base">
                                        <p:cTn dur="500"/>
                                        <p:tgtEl>
                                          <p:spTgt spid="540"/>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529"/>
                                        </p:tgtEl>
                                      </p:cBhvr>
                                    </p:animEffect>
                                    <p:set>
                                      <p:cBhvr>
                                        <p:cTn dur="1" fill="hold">
                                          <p:stCondLst>
                                            <p:cond delay="500"/>
                                          </p:stCondLst>
                                        </p:cTn>
                                        <p:tgtEl>
                                          <p:spTgt spid="529"/>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2" presetSubtype="2">
                                  <p:stCondLst>
                                    <p:cond delay="0"/>
                                  </p:stCondLst>
                                  <p:childTnLst>
                                    <p:anim calcmode="lin" valueType="num">
                                      <p:cBhvr additive="base">
                                        <p:cTn dur="500"/>
                                        <p:tgtEl>
                                          <p:spTgt spid="540"/>
                                        </p:tgtEl>
                                        <p:attrNameLst>
                                          <p:attrName>ppt_x</p:attrName>
                                        </p:attrNameLst>
                                      </p:cBhvr>
                                      <p:tavLst>
                                        <p:tav fmla="" tm="0">
                                          <p:val>
                                            <p:strVal val="#ppt_x"/>
                                          </p:val>
                                        </p:tav>
                                        <p:tav fmla="" tm="100000">
                                          <p:val>
                                            <p:strVal val="#ppt_x+1"/>
                                          </p:val>
                                        </p:tav>
                                      </p:tavLst>
                                    </p:anim>
                                    <p:set>
                                      <p:cBhvr>
                                        <p:cTn dur="1" fill="hold">
                                          <p:stCondLst>
                                            <p:cond delay="500"/>
                                          </p:stCondLst>
                                        </p:cTn>
                                        <p:tgtEl>
                                          <p:spTgt spid="54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 Chọn Trực Tiếp</a:t>
            </a:r>
            <a:endParaRPr/>
          </a:p>
        </p:txBody>
      </p:sp>
      <p:sp>
        <p:nvSpPr>
          <p:cNvPr id="546" name="Google Shape;546;p47"/>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547" name="Google Shape;547;p47"/>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548" name="Google Shape;548;p47"/>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549" name="Google Shape;549;p47"/>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550" name="Google Shape;550;p47"/>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551" name="Google Shape;551;p47"/>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552" name="Google Shape;552;p47"/>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553" name="Google Shape;553;p47"/>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554" name="Google Shape;554;p47"/>
          <p:cNvSpPr/>
          <p:nvPr/>
        </p:nvSpPr>
        <p:spPr>
          <a:xfrm>
            <a:off x="3224213" y="398167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555" name="Google Shape;555;p47"/>
          <p:cNvSpPr/>
          <p:nvPr/>
        </p:nvSpPr>
        <p:spPr>
          <a:xfrm>
            <a:off x="4194175"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min</a:t>
            </a:r>
            <a:endParaRPr/>
          </a:p>
        </p:txBody>
      </p:sp>
      <p:grpSp>
        <p:nvGrpSpPr>
          <p:cNvPr id="556" name="Google Shape;556;p47"/>
          <p:cNvGrpSpPr/>
          <p:nvPr/>
        </p:nvGrpSpPr>
        <p:grpSpPr>
          <a:xfrm>
            <a:off x="1108075" y="3462337"/>
            <a:ext cx="8550275" cy="608012"/>
            <a:chOff x="644" y="1153"/>
            <a:chExt cx="4972" cy="383"/>
          </a:xfrm>
        </p:grpSpPr>
        <p:sp>
          <p:nvSpPr>
            <p:cNvPr id="557" name="Google Shape;557;p47"/>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558" name="Google Shape;558;p47"/>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559" name="Google Shape;559;p47"/>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560" name="Google Shape;560;p47"/>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561" name="Google Shape;561;p47"/>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562" name="Google Shape;562;p47"/>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563" name="Google Shape;563;p47"/>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564" name="Google Shape;564;p47"/>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565" name="Google Shape;565;p47"/>
          <p:cNvSpPr txBox="1"/>
          <p:nvPr/>
        </p:nvSpPr>
        <p:spPr>
          <a:xfrm>
            <a:off x="2085975" y="1384300"/>
            <a:ext cx="3136900"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0" i="0" lang="en-US" sz="2400" u="none">
                <a:solidFill>
                  <a:srgbClr val="362AD4"/>
                </a:solidFill>
                <a:latin typeface="Helvetica Neue"/>
                <a:ea typeface="Helvetica Neue"/>
                <a:cs typeface="Helvetica Neue"/>
                <a:sym typeface="Helvetica Neue"/>
              </a:rPr>
              <a:t>Vị trí nhỏ nhất(3, 7)</a:t>
            </a:r>
            <a:endParaRPr/>
          </a:p>
        </p:txBody>
      </p:sp>
      <p:sp>
        <p:nvSpPr>
          <p:cNvPr id="566" name="Google Shape;566;p47"/>
          <p:cNvSpPr txBox="1"/>
          <p:nvPr/>
        </p:nvSpPr>
        <p:spPr>
          <a:xfrm>
            <a:off x="5748337" y="1379537"/>
            <a:ext cx="3165475"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Swap(a[3]</a:t>
            </a:r>
            <a:r>
              <a:rPr b="1" i="0" lang="en-US" sz="2400" u="none">
                <a:solidFill>
                  <a:schemeClr val="dk1"/>
                </a:solidFill>
                <a:latin typeface="Helvetica Neue"/>
                <a:ea typeface="Helvetica Neue"/>
                <a:cs typeface="Helvetica Neue"/>
                <a:sym typeface="Helvetica Neue"/>
              </a:rPr>
              <a:t>, </a:t>
            </a:r>
            <a:r>
              <a:rPr b="1" i="0" lang="en-US" sz="2400" u="none">
                <a:solidFill>
                  <a:srgbClr val="362AD4"/>
                </a:solidFill>
                <a:latin typeface="Helvetica Neue"/>
                <a:ea typeface="Helvetica Neue"/>
                <a:cs typeface="Helvetica Neue"/>
                <a:sym typeface="Helvetica Neue"/>
              </a:rPr>
              <a:t>a[3])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2000"/>
                                        <p:tgtEl>
                                          <p:spTgt spid="547"/>
                                        </p:tgtEl>
                                      </p:cBhvr>
                                    </p:animEffect>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565"/>
                                        </p:tgtEl>
                                        <p:attrNameLst>
                                          <p:attrName>style.visibility</p:attrName>
                                        </p:attrNameLst>
                                      </p:cBhvr>
                                      <p:to>
                                        <p:strVal val="visible"/>
                                      </p:to>
                                    </p:set>
                                    <p:anim calcmode="lin" valueType="num">
                                      <p:cBhvr additive="base">
                                        <p:cTn dur="500"/>
                                        <p:tgtEl>
                                          <p:spTgt spid="565"/>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childTnLst>
                          </p:cTn>
                        </p:par>
                        <p:par>
                          <p:cTn fill="hold">
                            <p:stCondLst>
                              <p:cond delay="3000"/>
                            </p:stCondLst>
                            <p:childTnLst>
                              <p:par>
                                <p:cTn fill="hold" nodeType="afterEffect" presetClass="exit" presetID="2" presetSubtype="8">
                                  <p:stCondLst>
                                    <p:cond delay="0"/>
                                  </p:stCondLst>
                                  <p:childTnLst>
                                    <p:anim calcmode="lin" valueType="num">
                                      <p:cBhvr additive="base">
                                        <p:cTn dur="500"/>
                                        <p:tgtEl>
                                          <p:spTgt spid="565"/>
                                        </p:tgtEl>
                                        <p:attrNameLst>
                                          <p:attrName>ppt_x</p:attrName>
                                        </p:attrNameLst>
                                      </p:cBhvr>
                                      <p:tavLst>
                                        <p:tav fmla="" tm="0">
                                          <p:val>
                                            <p:strVal val="#ppt_x"/>
                                          </p:val>
                                        </p:tav>
                                        <p:tav fmla="" tm="100000">
                                          <p:val>
                                            <p:strVal val="#ppt_x-1"/>
                                          </p:val>
                                        </p:tav>
                                      </p:tavLst>
                                    </p:anim>
                                    <p:set>
                                      <p:cBhvr>
                                        <p:cTn dur="1" fill="hold">
                                          <p:stCondLst>
                                            <p:cond delay="500"/>
                                          </p:stCondLst>
                                        </p:cTn>
                                        <p:tgtEl>
                                          <p:spTgt spid="565"/>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2" presetSubtype="2">
                                  <p:stCondLst>
                                    <p:cond delay="0"/>
                                  </p:stCondLst>
                                  <p:childTnLst>
                                    <p:set>
                                      <p:cBhvr>
                                        <p:cTn dur="1" fill="hold">
                                          <p:stCondLst>
                                            <p:cond delay="0"/>
                                          </p:stCondLst>
                                        </p:cTn>
                                        <p:tgtEl>
                                          <p:spTgt spid="566"/>
                                        </p:tgtEl>
                                        <p:attrNameLst>
                                          <p:attrName>style.visibility</p:attrName>
                                        </p:attrNameLst>
                                      </p:cBhvr>
                                      <p:to>
                                        <p:strVal val="visible"/>
                                      </p:to>
                                    </p:set>
                                    <p:anim calcmode="lin" valueType="num">
                                      <p:cBhvr additive="base">
                                        <p:cTn dur="500"/>
                                        <p:tgtEl>
                                          <p:spTgt spid="566"/>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555"/>
                                        </p:tgtEl>
                                      </p:cBhvr>
                                    </p:animEffect>
                                    <p:set>
                                      <p:cBhvr>
                                        <p:cTn dur="1" fill="hold">
                                          <p:stCondLst>
                                            <p:cond delay="500"/>
                                          </p:stCondLst>
                                        </p:cTn>
                                        <p:tgtEl>
                                          <p:spTgt spid="555"/>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2" presetSubtype="2">
                                  <p:stCondLst>
                                    <p:cond delay="0"/>
                                  </p:stCondLst>
                                  <p:childTnLst>
                                    <p:anim calcmode="lin" valueType="num">
                                      <p:cBhvr additive="base">
                                        <p:cTn dur="500"/>
                                        <p:tgtEl>
                                          <p:spTgt spid="566"/>
                                        </p:tgtEl>
                                        <p:attrNameLst>
                                          <p:attrName>ppt_x</p:attrName>
                                        </p:attrNameLst>
                                      </p:cBhvr>
                                      <p:tavLst>
                                        <p:tav fmla="" tm="0">
                                          <p:val>
                                            <p:strVal val="#ppt_x"/>
                                          </p:val>
                                        </p:tav>
                                        <p:tav fmla="" tm="100000">
                                          <p:val>
                                            <p:strVal val="#ppt_x+1"/>
                                          </p:val>
                                        </p:tav>
                                      </p:tavLst>
                                    </p:anim>
                                    <p:set>
                                      <p:cBhvr>
                                        <p:cTn dur="1" fill="hold">
                                          <p:stCondLst>
                                            <p:cond delay="500"/>
                                          </p:stCondLst>
                                        </p:cTn>
                                        <p:tgtEl>
                                          <p:spTgt spid="56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 Chọn Trực Tiếp</a:t>
            </a:r>
            <a:endParaRPr/>
          </a:p>
        </p:txBody>
      </p:sp>
      <p:sp>
        <p:nvSpPr>
          <p:cNvPr id="572" name="Google Shape;572;p48"/>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573" name="Google Shape;573;p48"/>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574" name="Google Shape;574;p48"/>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575" name="Google Shape;575;p48"/>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576" name="Google Shape;576;p48"/>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577" name="Google Shape;577;p48"/>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578" name="Google Shape;578;p48"/>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579" name="Google Shape;579;p48"/>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580" name="Google Shape;580;p48"/>
          <p:cNvSpPr/>
          <p:nvPr/>
        </p:nvSpPr>
        <p:spPr>
          <a:xfrm>
            <a:off x="4332288" y="393347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581" name="Google Shape;581;p48"/>
          <p:cNvSpPr/>
          <p:nvPr/>
        </p:nvSpPr>
        <p:spPr>
          <a:xfrm>
            <a:off x="5295900"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min</a:t>
            </a:r>
            <a:endParaRPr/>
          </a:p>
        </p:txBody>
      </p:sp>
      <p:grpSp>
        <p:nvGrpSpPr>
          <p:cNvPr id="582" name="Google Shape;582;p48"/>
          <p:cNvGrpSpPr/>
          <p:nvPr/>
        </p:nvGrpSpPr>
        <p:grpSpPr>
          <a:xfrm>
            <a:off x="1108075" y="3397250"/>
            <a:ext cx="8550275" cy="608012"/>
            <a:chOff x="644" y="1153"/>
            <a:chExt cx="4972" cy="383"/>
          </a:xfrm>
        </p:grpSpPr>
        <p:sp>
          <p:nvSpPr>
            <p:cNvPr id="583" name="Google Shape;583;p48"/>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584" name="Google Shape;584;p48"/>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585" name="Google Shape;585;p48"/>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586" name="Google Shape;586;p48"/>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587" name="Google Shape;587;p48"/>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588" name="Google Shape;588;p48"/>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589" name="Google Shape;589;p48"/>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590" name="Google Shape;590;p48"/>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591" name="Google Shape;591;p48"/>
          <p:cNvSpPr txBox="1"/>
          <p:nvPr/>
        </p:nvSpPr>
        <p:spPr>
          <a:xfrm>
            <a:off x="2085975" y="1384300"/>
            <a:ext cx="3136900"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0" i="0" lang="en-US" sz="2400" u="none">
                <a:solidFill>
                  <a:srgbClr val="362AD4"/>
                </a:solidFill>
                <a:latin typeface="Helvetica Neue"/>
                <a:ea typeface="Helvetica Neue"/>
                <a:cs typeface="Helvetica Neue"/>
                <a:sym typeface="Helvetica Neue"/>
              </a:rPr>
              <a:t>Vị  trí nhỏ nhất(4, 7)</a:t>
            </a:r>
            <a:endParaRPr/>
          </a:p>
        </p:txBody>
      </p:sp>
      <p:sp>
        <p:nvSpPr>
          <p:cNvPr id="592" name="Google Shape;592;p48"/>
          <p:cNvSpPr txBox="1"/>
          <p:nvPr/>
        </p:nvSpPr>
        <p:spPr>
          <a:xfrm>
            <a:off x="5748337" y="1379537"/>
            <a:ext cx="3381375"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Swap(a[4], a[5])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2000"/>
                                        <p:tgtEl>
                                          <p:spTgt spid="574"/>
                                        </p:tgtEl>
                                      </p:cBhvr>
                                    </p:animEffect>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591"/>
                                        </p:tgtEl>
                                        <p:attrNameLst>
                                          <p:attrName>style.visibility</p:attrName>
                                        </p:attrNameLst>
                                      </p:cBhvr>
                                      <p:to>
                                        <p:strVal val="visible"/>
                                      </p:to>
                                    </p:set>
                                    <p:anim calcmode="lin" valueType="num">
                                      <p:cBhvr additive="base">
                                        <p:cTn dur="500"/>
                                        <p:tgtEl>
                                          <p:spTgt spid="591"/>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childTnLst>
                          </p:cTn>
                        </p:par>
                        <p:par>
                          <p:cTn fill="hold">
                            <p:stCondLst>
                              <p:cond delay="3000"/>
                            </p:stCondLst>
                            <p:childTnLst>
                              <p:par>
                                <p:cTn fill="hold" nodeType="afterEffect" presetClass="exit" presetID="2" presetSubtype="8">
                                  <p:stCondLst>
                                    <p:cond delay="0"/>
                                  </p:stCondLst>
                                  <p:childTnLst>
                                    <p:anim calcmode="lin" valueType="num">
                                      <p:cBhvr additive="base">
                                        <p:cTn dur="500"/>
                                        <p:tgtEl>
                                          <p:spTgt spid="591"/>
                                        </p:tgtEl>
                                        <p:attrNameLst>
                                          <p:attrName>ppt_x</p:attrName>
                                        </p:attrNameLst>
                                      </p:cBhvr>
                                      <p:tavLst>
                                        <p:tav fmla="" tm="0">
                                          <p:val>
                                            <p:strVal val="#ppt_x"/>
                                          </p:val>
                                        </p:tav>
                                        <p:tav fmla="" tm="100000">
                                          <p:val>
                                            <p:strVal val="#ppt_x-1"/>
                                          </p:val>
                                        </p:tav>
                                      </p:tavLst>
                                    </p:anim>
                                    <p:set>
                                      <p:cBhvr>
                                        <p:cTn dur="1" fill="hold">
                                          <p:stCondLst>
                                            <p:cond delay="500"/>
                                          </p:stCondLst>
                                        </p:cTn>
                                        <p:tgtEl>
                                          <p:spTgt spid="591"/>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2" presetSubtype="2">
                                  <p:stCondLst>
                                    <p:cond delay="0"/>
                                  </p:stCondLst>
                                  <p:childTnLst>
                                    <p:set>
                                      <p:cBhvr>
                                        <p:cTn dur="1" fill="hold">
                                          <p:stCondLst>
                                            <p:cond delay="0"/>
                                          </p:stCondLst>
                                        </p:cTn>
                                        <p:tgtEl>
                                          <p:spTgt spid="592"/>
                                        </p:tgtEl>
                                        <p:attrNameLst>
                                          <p:attrName>style.visibility</p:attrName>
                                        </p:attrNameLst>
                                      </p:cBhvr>
                                      <p:to>
                                        <p:strVal val="visible"/>
                                      </p:to>
                                    </p:set>
                                    <p:anim calcmode="lin" valueType="num">
                                      <p:cBhvr additive="base">
                                        <p:cTn dur="500"/>
                                        <p:tgtEl>
                                          <p:spTgt spid="592"/>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581"/>
                                        </p:tgtEl>
                                      </p:cBhvr>
                                    </p:animEffect>
                                    <p:set>
                                      <p:cBhvr>
                                        <p:cTn dur="1" fill="hold">
                                          <p:stCondLst>
                                            <p:cond delay="500"/>
                                          </p:stCondLst>
                                        </p:cTn>
                                        <p:tgtEl>
                                          <p:spTgt spid="581"/>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2" presetSubtype="2">
                                  <p:stCondLst>
                                    <p:cond delay="0"/>
                                  </p:stCondLst>
                                  <p:childTnLst>
                                    <p:anim calcmode="lin" valueType="num">
                                      <p:cBhvr additive="base">
                                        <p:cTn dur="500"/>
                                        <p:tgtEl>
                                          <p:spTgt spid="592"/>
                                        </p:tgtEl>
                                        <p:attrNameLst>
                                          <p:attrName>ppt_x</p:attrName>
                                        </p:attrNameLst>
                                      </p:cBhvr>
                                      <p:tavLst>
                                        <p:tav fmla="" tm="0">
                                          <p:val>
                                            <p:strVal val="#ppt_x"/>
                                          </p:val>
                                        </p:tav>
                                        <p:tav fmla="" tm="100000">
                                          <p:val>
                                            <p:strVal val="#ppt_x+1"/>
                                          </p:val>
                                        </p:tav>
                                      </p:tavLst>
                                    </p:anim>
                                    <p:set>
                                      <p:cBhvr>
                                        <p:cTn dur="1" fill="hold">
                                          <p:stCondLst>
                                            <p:cond delay="500"/>
                                          </p:stCondLst>
                                        </p:cTn>
                                        <p:tgtEl>
                                          <p:spTgt spid="59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 Chọn Trực Tiếp</a:t>
            </a:r>
            <a:endParaRPr/>
          </a:p>
        </p:txBody>
      </p:sp>
      <p:sp>
        <p:nvSpPr>
          <p:cNvPr id="598" name="Google Shape;598;p49"/>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599" name="Google Shape;599;p49"/>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600" name="Google Shape;600;p49"/>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601" name="Google Shape;601;p49"/>
          <p:cNvSpPr/>
          <p:nvPr/>
        </p:nvSpPr>
        <p:spPr>
          <a:xfrm>
            <a:off x="554196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602" name="Google Shape;602;p49"/>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603" name="Google Shape;603;p49"/>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604" name="Google Shape;604;p49"/>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605" name="Google Shape;605;p49"/>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606" name="Google Shape;606;p49"/>
          <p:cNvSpPr/>
          <p:nvPr/>
        </p:nvSpPr>
        <p:spPr>
          <a:xfrm>
            <a:off x="5441925" y="395757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607" name="Google Shape;607;p49"/>
          <p:cNvSpPr/>
          <p:nvPr/>
        </p:nvSpPr>
        <p:spPr>
          <a:xfrm>
            <a:off x="6396037"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min</a:t>
            </a:r>
            <a:endParaRPr/>
          </a:p>
        </p:txBody>
      </p:sp>
      <p:grpSp>
        <p:nvGrpSpPr>
          <p:cNvPr id="608" name="Google Shape;608;p49"/>
          <p:cNvGrpSpPr/>
          <p:nvPr/>
        </p:nvGrpSpPr>
        <p:grpSpPr>
          <a:xfrm>
            <a:off x="1127125" y="3468687"/>
            <a:ext cx="8550275" cy="608012"/>
            <a:chOff x="644" y="1153"/>
            <a:chExt cx="4972" cy="383"/>
          </a:xfrm>
        </p:grpSpPr>
        <p:sp>
          <p:nvSpPr>
            <p:cNvPr id="609" name="Google Shape;609;p49"/>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610" name="Google Shape;610;p49"/>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611" name="Google Shape;611;p49"/>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612" name="Google Shape;612;p49"/>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613" name="Google Shape;613;p49"/>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614" name="Google Shape;614;p49"/>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615" name="Google Shape;615;p49"/>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616" name="Google Shape;616;p49"/>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617" name="Google Shape;617;p49"/>
          <p:cNvSpPr txBox="1"/>
          <p:nvPr/>
        </p:nvSpPr>
        <p:spPr>
          <a:xfrm>
            <a:off x="2085975" y="1384300"/>
            <a:ext cx="3136900"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0" i="0" lang="en-US" sz="2400" u="none">
                <a:solidFill>
                  <a:srgbClr val="362AD4"/>
                </a:solidFill>
                <a:latin typeface="Helvetica Neue"/>
                <a:ea typeface="Helvetica Neue"/>
                <a:cs typeface="Helvetica Neue"/>
                <a:sym typeface="Helvetica Neue"/>
              </a:rPr>
              <a:t>Vị  trí nhỏ nhất(5,7)</a:t>
            </a:r>
            <a:endParaRPr/>
          </a:p>
        </p:txBody>
      </p:sp>
      <p:sp>
        <p:nvSpPr>
          <p:cNvPr id="618" name="Google Shape;618;p49"/>
          <p:cNvSpPr txBox="1"/>
          <p:nvPr/>
        </p:nvSpPr>
        <p:spPr>
          <a:xfrm>
            <a:off x="5748337" y="1379537"/>
            <a:ext cx="3236912"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Swap(a[5], a[6])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2000"/>
                                        <p:tgtEl>
                                          <p:spTgt spid="601"/>
                                        </p:tgtEl>
                                      </p:cBhvr>
                                    </p:animEffect>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617"/>
                                        </p:tgtEl>
                                        <p:attrNameLst>
                                          <p:attrName>style.visibility</p:attrName>
                                        </p:attrNameLst>
                                      </p:cBhvr>
                                      <p:to>
                                        <p:strVal val="visible"/>
                                      </p:to>
                                    </p:set>
                                    <p:anim calcmode="lin" valueType="num">
                                      <p:cBhvr additive="base">
                                        <p:cTn dur="500"/>
                                        <p:tgtEl>
                                          <p:spTgt spid="617"/>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par>
                          <p:cTn fill="hold">
                            <p:stCondLst>
                              <p:cond delay="3000"/>
                            </p:stCondLst>
                            <p:childTnLst>
                              <p:par>
                                <p:cTn fill="hold" nodeType="afterEffect" presetClass="exit" presetID="2" presetSubtype="8">
                                  <p:stCondLst>
                                    <p:cond delay="0"/>
                                  </p:stCondLst>
                                  <p:childTnLst>
                                    <p:anim calcmode="lin" valueType="num">
                                      <p:cBhvr additive="base">
                                        <p:cTn dur="500"/>
                                        <p:tgtEl>
                                          <p:spTgt spid="617"/>
                                        </p:tgtEl>
                                        <p:attrNameLst>
                                          <p:attrName>ppt_x</p:attrName>
                                        </p:attrNameLst>
                                      </p:cBhvr>
                                      <p:tavLst>
                                        <p:tav fmla="" tm="0">
                                          <p:val>
                                            <p:strVal val="#ppt_x"/>
                                          </p:val>
                                        </p:tav>
                                        <p:tav fmla="" tm="100000">
                                          <p:val>
                                            <p:strVal val="#ppt_x-1"/>
                                          </p:val>
                                        </p:tav>
                                      </p:tavLst>
                                    </p:anim>
                                    <p:set>
                                      <p:cBhvr>
                                        <p:cTn dur="1" fill="hold">
                                          <p:stCondLst>
                                            <p:cond delay="500"/>
                                          </p:stCondLst>
                                        </p:cTn>
                                        <p:tgtEl>
                                          <p:spTgt spid="617"/>
                                        </p:tgtEl>
                                        <p:attrNameLst>
                                          <p:attrName>style.visibility</p:attrName>
                                        </p:attrNameLst>
                                      </p:cBhvr>
                                      <p:to>
                                        <p:strVal val="hidden"/>
                                      </p:to>
                                    </p:set>
                                  </p:childTnLst>
                                </p:cTn>
                              </p:par>
                            </p:childTnLst>
                          </p:cTn>
                        </p:par>
                        <p:par>
                          <p:cTn fill="hold">
                            <p:stCondLst>
                              <p:cond delay="3500"/>
                            </p:stCondLst>
                            <p:childTnLst>
                              <p:par>
                                <p:cTn fill="hold" nodeType="afterEffect" presetClass="entr" presetID="2" presetSubtype="2">
                                  <p:stCondLst>
                                    <p:cond delay="0"/>
                                  </p:stCondLst>
                                  <p:childTnLst>
                                    <p:set>
                                      <p:cBhvr>
                                        <p:cTn dur="1" fill="hold">
                                          <p:stCondLst>
                                            <p:cond delay="0"/>
                                          </p:stCondLst>
                                        </p:cTn>
                                        <p:tgtEl>
                                          <p:spTgt spid="618"/>
                                        </p:tgtEl>
                                        <p:attrNameLst>
                                          <p:attrName>style.visibility</p:attrName>
                                        </p:attrNameLst>
                                      </p:cBhvr>
                                      <p:to>
                                        <p:strVal val="visible"/>
                                      </p:to>
                                    </p:set>
                                    <p:anim calcmode="lin" valueType="num">
                                      <p:cBhvr additive="base">
                                        <p:cTn dur="500"/>
                                        <p:tgtEl>
                                          <p:spTgt spid="618"/>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607"/>
                                        </p:tgtEl>
                                      </p:cBhvr>
                                    </p:animEffect>
                                    <p:set>
                                      <p:cBhvr>
                                        <p:cTn dur="1" fill="hold">
                                          <p:stCondLst>
                                            <p:cond delay="500"/>
                                          </p:stCondLst>
                                        </p:cTn>
                                        <p:tgtEl>
                                          <p:spTgt spid="607"/>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2" presetSubtype="2">
                                  <p:stCondLst>
                                    <p:cond delay="0"/>
                                  </p:stCondLst>
                                  <p:childTnLst>
                                    <p:anim calcmode="lin" valueType="num">
                                      <p:cBhvr additive="base">
                                        <p:cTn dur="500"/>
                                        <p:tgtEl>
                                          <p:spTgt spid="618"/>
                                        </p:tgtEl>
                                        <p:attrNameLst>
                                          <p:attrName>ppt_x</p:attrName>
                                        </p:attrNameLst>
                                      </p:cBhvr>
                                      <p:tavLst>
                                        <p:tav fmla="" tm="0">
                                          <p:val>
                                            <p:strVal val="#ppt_x"/>
                                          </p:val>
                                        </p:tav>
                                        <p:tav fmla="" tm="100000">
                                          <p:val>
                                            <p:strVal val="#ppt_x+1"/>
                                          </p:val>
                                        </p:tav>
                                      </p:tavLst>
                                    </p:anim>
                                    <p:set>
                                      <p:cBhvr>
                                        <p:cTn dur="1" fill="hold">
                                          <p:stCondLst>
                                            <p:cond delay="500"/>
                                          </p:stCondLst>
                                        </p:cTn>
                                        <p:tgtEl>
                                          <p:spTgt spid="6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Minh Họa Thuật Toán Chọn Trực Tiếp</a:t>
            </a:r>
            <a:endParaRPr/>
          </a:p>
        </p:txBody>
      </p:sp>
      <p:sp>
        <p:nvSpPr>
          <p:cNvPr id="624" name="Google Shape;624;p50"/>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625" name="Google Shape;625;p50"/>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626" name="Google Shape;626;p50"/>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627" name="Google Shape;627;p50"/>
          <p:cNvSpPr/>
          <p:nvPr/>
        </p:nvSpPr>
        <p:spPr>
          <a:xfrm>
            <a:off x="554196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628" name="Google Shape;628;p50"/>
          <p:cNvSpPr/>
          <p:nvPr/>
        </p:nvSpPr>
        <p:spPr>
          <a:xfrm>
            <a:off x="6648450"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629" name="Google Shape;629;p50"/>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630" name="Google Shape;630;p50"/>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631" name="Google Shape;631;p50"/>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632" name="Google Shape;632;p50"/>
          <p:cNvSpPr/>
          <p:nvPr/>
        </p:nvSpPr>
        <p:spPr>
          <a:xfrm>
            <a:off x="6549237" y="407830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633" name="Google Shape;633;p50"/>
          <p:cNvSpPr/>
          <p:nvPr/>
        </p:nvSpPr>
        <p:spPr>
          <a:xfrm>
            <a:off x="7513637"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min</a:t>
            </a:r>
            <a:endParaRPr/>
          </a:p>
        </p:txBody>
      </p:sp>
      <p:grpSp>
        <p:nvGrpSpPr>
          <p:cNvPr id="634" name="Google Shape;634;p50"/>
          <p:cNvGrpSpPr/>
          <p:nvPr/>
        </p:nvGrpSpPr>
        <p:grpSpPr>
          <a:xfrm>
            <a:off x="1108075" y="3470287"/>
            <a:ext cx="8550275" cy="608012"/>
            <a:chOff x="644" y="1153"/>
            <a:chExt cx="4972" cy="383"/>
          </a:xfrm>
        </p:grpSpPr>
        <p:sp>
          <p:nvSpPr>
            <p:cNvPr id="635" name="Google Shape;635;p50"/>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636" name="Google Shape;636;p50"/>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637" name="Google Shape;637;p50"/>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638" name="Google Shape;638;p50"/>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639" name="Google Shape;639;p50"/>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640" name="Google Shape;640;p50"/>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641" name="Google Shape;641;p50"/>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642" name="Google Shape;642;p50"/>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643" name="Google Shape;643;p50"/>
          <p:cNvSpPr txBox="1"/>
          <p:nvPr/>
        </p:nvSpPr>
        <p:spPr>
          <a:xfrm>
            <a:off x="2085975" y="1384300"/>
            <a:ext cx="3136900" cy="4572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0" i="0" lang="en-US" sz="2400" u="none">
                <a:solidFill>
                  <a:srgbClr val="362AD4"/>
                </a:solidFill>
                <a:latin typeface="Helvetica Neue"/>
                <a:ea typeface="Helvetica Neue"/>
                <a:cs typeface="Helvetica Neue"/>
                <a:sym typeface="Helvetica Neue"/>
              </a:rPr>
              <a:t>Vị  trí nhỏ nhất(6, 7)</a:t>
            </a:r>
            <a:endParaRPr/>
          </a:p>
        </p:txBody>
      </p:sp>
      <p:sp>
        <p:nvSpPr>
          <p:cNvPr id="644" name="Google Shape;644;p50"/>
          <p:cNvSpPr/>
          <p:nvPr/>
        </p:nvSpPr>
        <p:spPr>
          <a:xfrm>
            <a:off x="7751762" y="285273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645" name="Google Shape;645;p50"/>
          <p:cNvSpPr/>
          <p:nvPr/>
        </p:nvSpPr>
        <p:spPr>
          <a:xfrm>
            <a:off x="8864600" y="285273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2000"/>
                                        <p:tgtEl>
                                          <p:spTgt spid="628"/>
                                        </p:tgtEl>
                                      </p:cBhvr>
                                    </p:animEffect>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643"/>
                                        </p:tgtEl>
                                        <p:attrNameLst>
                                          <p:attrName>style.visibility</p:attrName>
                                        </p:attrNameLst>
                                      </p:cBhvr>
                                      <p:to>
                                        <p:strVal val="visible"/>
                                      </p:to>
                                    </p:set>
                                    <p:anim calcmode="lin" valueType="num">
                                      <p:cBhvr additive="base">
                                        <p:cTn dur="500"/>
                                        <p:tgtEl>
                                          <p:spTgt spid="643"/>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childTnLst>
                          </p:cTn>
                        </p:par>
                        <p:par>
                          <p:cTn fill="hold">
                            <p:stCondLst>
                              <p:cond delay="3000"/>
                            </p:stCondLst>
                            <p:childTnLst>
                              <p:par>
                                <p:cTn fill="hold" nodeType="afterEffect" presetClass="exit" presetID="2" presetSubtype="8">
                                  <p:stCondLst>
                                    <p:cond delay="0"/>
                                  </p:stCondLst>
                                  <p:childTnLst>
                                    <p:anim calcmode="lin" valueType="num">
                                      <p:cBhvr additive="base">
                                        <p:cTn dur="500"/>
                                        <p:tgtEl>
                                          <p:spTgt spid="643"/>
                                        </p:tgtEl>
                                        <p:attrNameLst>
                                          <p:attrName>ppt_x</p:attrName>
                                        </p:attrNameLst>
                                      </p:cBhvr>
                                      <p:tavLst>
                                        <p:tav fmla="" tm="0">
                                          <p:val>
                                            <p:strVal val="#ppt_x"/>
                                          </p:val>
                                        </p:tav>
                                        <p:tav fmla="" tm="100000">
                                          <p:val>
                                            <p:strVal val="#ppt_x-1"/>
                                          </p:val>
                                        </p:tav>
                                      </p:tavLst>
                                    </p:anim>
                                    <p:set>
                                      <p:cBhvr>
                                        <p:cTn dur="1" fill="hold">
                                          <p:stCondLst>
                                            <p:cond delay="500"/>
                                          </p:stCondLst>
                                        </p:cTn>
                                        <p:tgtEl>
                                          <p:spTgt spid="643"/>
                                        </p:tgtEl>
                                        <p:attrNameLst>
                                          <p:attrName>style.visibility</p:attrName>
                                        </p:attrNameLst>
                                      </p:cBhvr>
                                      <p:to>
                                        <p:strVal val="hidden"/>
                                      </p:to>
                                    </p:se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633"/>
                                        </p:tgtEl>
                                      </p:cBhvr>
                                    </p:animEffect>
                                    <p:set>
                                      <p:cBhvr>
                                        <p:cTn dur="1" fill="hold">
                                          <p:stCondLst>
                                            <p:cond delay="500"/>
                                          </p:stCondLst>
                                        </p:cTn>
                                        <p:tgtEl>
                                          <p:spTgt spid="633"/>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2000"/>
                                        <p:tgtEl>
                                          <p:spTgt spid="629"/>
                                        </p:tgtEl>
                                      </p:cBhvr>
                                    </p:animEffect>
                                    <p:set>
                                      <p:cBhvr>
                                        <p:cTn dur="1" fill="hold">
                                          <p:stCondLst>
                                            <p:cond delay="2000"/>
                                          </p:stCondLst>
                                        </p:cTn>
                                        <p:tgtEl>
                                          <p:spTgt spid="62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2000"/>
                                        <p:tgtEl>
                                          <p:spTgt spid="644"/>
                                        </p:tgtEl>
                                      </p:cBhvr>
                                    </p:animEffect>
                                  </p:childTnLst>
                                </p:cTn>
                              </p:par>
                            </p:childTnLst>
                          </p:cTn>
                        </p:par>
                        <p:par>
                          <p:cTn fill="hold">
                            <p:stCondLst>
                              <p:cond delay="6000"/>
                            </p:stCondLst>
                            <p:childTnLst>
                              <p:par>
                                <p:cTn fill="hold" nodeType="afterEffect" presetClass="exit" presetID="10" presetSubtype="0">
                                  <p:stCondLst>
                                    <p:cond delay="0"/>
                                  </p:stCondLst>
                                  <p:childTnLst>
                                    <p:animEffect filter="fade" transition="out">
                                      <p:cBhvr>
                                        <p:cTn dur="500"/>
                                        <p:tgtEl>
                                          <p:spTgt spid="632"/>
                                        </p:tgtEl>
                                      </p:cBhvr>
                                    </p:animEffect>
                                    <p:set>
                                      <p:cBhvr>
                                        <p:cTn dur="1" fill="hold">
                                          <p:stCondLst>
                                            <p:cond delay="500"/>
                                          </p:stCondLst>
                                        </p:cTn>
                                        <p:tgtEl>
                                          <p:spTgt spid="632"/>
                                        </p:tgtEl>
                                        <p:attrNameLst>
                                          <p:attrName>style.visibility</p:attrName>
                                        </p:attrNameLst>
                                      </p:cBhvr>
                                      <p:to>
                                        <p:strVal val="hidden"/>
                                      </p:to>
                                    </p:set>
                                  </p:childTnLst>
                                </p:cTn>
                              </p:par>
                            </p:childTnLst>
                          </p:cTn>
                        </p:par>
                        <p:par>
                          <p:cTn fill="hold">
                            <p:stCondLst>
                              <p:cond delay="6500"/>
                            </p:stCondLst>
                            <p:childTnLst>
                              <p:par>
                                <p:cTn fill="hold" nodeType="afterEffect" presetClass="exit" presetID="10" presetSubtype="0">
                                  <p:stCondLst>
                                    <p:cond delay="0"/>
                                  </p:stCondLst>
                                  <p:childTnLst>
                                    <p:animEffect filter="fade" transition="out">
                                      <p:cBhvr>
                                        <p:cTn dur="2000"/>
                                        <p:tgtEl>
                                          <p:spTgt spid="630"/>
                                        </p:tgtEl>
                                      </p:cBhvr>
                                    </p:animEffect>
                                    <p:set>
                                      <p:cBhvr>
                                        <p:cTn dur="1" fill="hold">
                                          <p:stCondLst>
                                            <p:cond delay="2000"/>
                                          </p:stCondLst>
                                        </p:cTn>
                                        <p:tgtEl>
                                          <p:spTgt spid="63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2000"/>
                                        <p:tgtEl>
                                          <p:spTgt spid="6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1"/>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Độ Phức Tạ</a:t>
            </a:r>
            <a:r>
              <a:rPr lang="en-US" sz="2800">
                <a:solidFill>
                  <a:srgbClr val="FFF3F3"/>
                </a:solidFill>
              </a:rPr>
              <a:t>p</a:t>
            </a:r>
            <a:r>
              <a:rPr b="1" i="0" lang="en-US" sz="2800" u="none">
                <a:solidFill>
                  <a:srgbClr val="FFF3F3"/>
                </a:solidFill>
                <a:latin typeface="Arial"/>
                <a:ea typeface="Arial"/>
                <a:cs typeface="Arial"/>
                <a:sym typeface="Arial"/>
              </a:rPr>
              <a:t> Của Thuật Toán</a:t>
            </a:r>
            <a:endParaRPr/>
          </a:p>
        </p:txBody>
      </p:sp>
      <p:sp>
        <p:nvSpPr>
          <p:cNvPr id="651" name="Google Shape;651;p51"/>
          <p:cNvSpPr txBox="1"/>
          <p:nvPr>
            <p:ph idx="1" type="body"/>
          </p:nvPr>
        </p:nvSpPr>
        <p:spPr>
          <a:xfrm>
            <a:off x="992187" y="1111250"/>
            <a:ext cx="4865700" cy="6525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Font typeface="Noto Sans Symbols"/>
              <a:buChar char="⮚"/>
            </a:pPr>
            <a:r>
              <a:rPr b="1" i="0" lang="en-US" sz="2400" u="none">
                <a:solidFill>
                  <a:schemeClr val="dk1"/>
                </a:solidFill>
                <a:latin typeface="Arial"/>
                <a:ea typeface="Arial"/>
                <a:cs typeface="Arial"/>
                <a:sym typeface="Arial"/>
              </a:rPr>
              <a:t>Ðánh giá giải thuật</a:t>
            </a:r>
            <a:r>
              <a:rPr b="0" i="0" lang="en-US" sz="2400" u="none">
                <a:solidFill>
                  <a:schemeClr val="dk1"/>
                </a:solidFill>
                <a:latin typeface="Arial"/>
                <a:ea typeface="Arial"/>
                <a:cs typeface="Arial"/>
                <a:sym typeface="Arial"/>
              </a:rPr>
              <a:t> </a:t>
            </a:r>
            <a:endParaRPr/>
          </a:p>
          <a:p>
            <a:pPr indent="-311150" lvl="0" marL="463550" rtl="0" algn="l">
              <a:spcBef>
                <a:spcPts val="480"/>
              </a:spcBef>
              <a:spcAft>
                <a:spcPts val="0"/>
              </a:spcAft>
              <a:buClr>
                <a:schemeClr val="dk1"/>
              </a:buClr>
              <a:buSzPts val="2400"/>
              <a:buNone/>
            </a:pPr>
            <a:r>
              <a:t/>
            </a:r>
            <a:endParaRPr b="0" i="0" sz="2400" u="none">
              <a:solidFill>
                <a:schemeClr val="dk1"/>
              </a:solidFill>
              <a:latin typeface="Arial"/>
              <a:ea typeface="Arial"/>
              <a:cs typeface="Arial"/>
              <a:sym typeface="Arial"/>
            </a:endParaRPr>
          </a:p>
        </p:txBody>
      </p:sp>
      <p:pic>
        <p:nvPicPr>
          <p:cNvPr id="652" name="Google Shape;652;p51"/>
          <p:cNvPicPr preferRelativeResize="0"/>
          <p:nvPr>
            <p:ph idx="1" type="body"/>
          </p:nvPr>
        </p:nvPicPr>
        <p:blipFill rotWithShape="1">
          <a:blip r:embed="rId3">
            <a:alphaModFix/>
          </a:blip>
          <a:srcRect b="0" l="0" r="0" t="0"/>
          <a:stretch/>
        </p:blipFill>
        <p:spPr>
          <a:xfrm>
            <a:off x="2500362" y="1927975"/>
            <a:ext cx="4905300" cy="1201800"/>
          </a:xfrm>
          <a:prstGeom prst="rect">
            <a:avLst/>
          </a:prstGeom>
          <a:noFill/>
          <a:ln>
            <a:noFill/>
          </a:ln>
        </p:spPr>
      </p:pic>
      <p:pic>
        <p:nvPicPr>
          <p:cNvPr id="653" name="Google Shape;653;p51"/>
          <p:cNvPicPr preferRelativeResize="0"/>
          <p:nvPr/>
        </p:nvPicPr>
        <p:blipFill rotWithShape="1">
          <a:blip r:embed="rId4">
            <a:alphaModFix/>
          </a:blip>
          <a:srcRect b="6540" l="0" r="0" t="-6539"/>
          <a:stretch/>
        </p:blipFill>
        <p:spPr>
          <a:xfrm>
            <a:off x="985050" y="2913062"/>
            <a:ext cx="8640762" cy="350043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53"/>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Nổi Bọt – Bubble Sort</a:t>
            </a:r>
            <a:endParaRPr/>
          </a:p>
        </p:txBody>
      </p:sp>
      <p:sp>
        <p:nvSpPr>
          <p:cNvPr id="659" name="Google Shape;659;p53"/>
          <p:cNvSpPr txBox="1"/>
          <p:nvPr>
            <p:ph idx="1" type="body"/>
          </p:nvPr>
        </p:nvSpPr>
        <p:spPr>
          <a:xfrm>
            <a:off x="984712" y="1204337"/>
            <a:ext cx="8499600" cy="4980000"/>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800"/>
              <a:buFont typeface="Noto Sans Symbols"/>
              <a:buChar char="⮚"/>
            </a:pPr>
            <a:r>
              <a:rPr b="1" i="0" lang="en-US" sz="2800" u="none">
                <a:solidFill>
                  <a:schemeClr val="dk1"/>
                </a:solidFill>
                <a:latin typeface="Arial"/>
                <a:ea typeface="Arial"/>
                <a:cs typeface="Arial"/>
                <a:sym typeface="Arial"/>
              </a:rPr>
              <a:t>Ý tưở</a:t>
            </a:r>
            <a:r>
              <a:rPr b="1" i="0" lang="en-US" sz="2800" u="none">
                <a:solidFill>
                  <a:schemeClr val="dk1"/>
                </a:solidFill>
                <a:latin typeface="Arial"/>
                <a:ea typeface="Arial"/>
                <a:cs typeface="Arial"/>
                <a:sym typeface="Arial"/>
              </a:rPr>
              <a:t>ng</a:t>
            </a:r>
            <a:r>
              <a:rPr b="0" i="0" lang="en-US" sz="2800" u="none">
                <a:solidFill>
                  <a:schemeClr val="dk1"/>
                </a:solidFill>
                <a:latin typeface="Arial"/>
                <a:ea typeface="Arial"/>
                <a:cs typeface="Arial"/>
                <a:sym typeface="Arial"/>
              </a:rPr>
              <a:t>:</a:t>
            </a:r>
            <a:endParaRPr/>
          </a:p>
          <a:p>
            <a:pPr indent="-446087" lvl="1" marL="1023937"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Xuất phát từ cuối dãy, đổi chỗ các cặp phần tử kế cận để đưa phần tử nhỏ hơn trong cặp phần tử đó </a:t>
            </a:r>
            <a:r>
              <a:rPr b="0" i="0" lang="en-US" sz="2800" u="none">
                <a:solidFill>
                  <a:schemeClr val="dk1"/>
                </a:solidFill>
                <a:latin typeface="Arial"/>
                <a:ea typeface="Arial"/>
                <a:cs typeface="Arial"/>
                <a:sym typeface="Arial"/>
              </a:rPr>
              <a:t>về vị trí đ</a:t>
            </a:r>
            <a:r>
              <a:rPr lang="en-US"/>
              <a:t>ứ</a:t>
            </a:r>
            <a:r>
              <a:rPr b="0" i="0" lang="en-US" sz="2800" u="none">
                <a:solidFill>
                  <a:schemeClr val="dk1"/>
                </a:solidFill>
                <a:latin typeface="Arial"/>
                <a:ea typeface="Arial"/>
                <a:cs typeface="Arial"/>
                <a:sym typeface="Arial"/>
              </a:rPr>
              <a:t>ng đầu dãy hiện hành, sau đó sẽ không xét đến nó ở bước tiếp theo, do vậy ở lần xử lý thứ i sẽ có vị trí đầu dãy là i. </a:t>
            </a:r>
            <a:endParaRPr/>
          </a:p>
          <a:p>
            <a:pPr indent="-446087" lvl="1" marL="1023937"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Lặp lại xử lý trên cho đến khi không còn cặp phần tử nào để xét.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54"/>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Nổi Bọt – Bubble Sort</a:t>
            </a:r>
            <a:endParaRPr/>
          </a:p>
        </p:txBody>
      </p:sp>
      <p:sp>
        <p:nvSpPr>
          <p:cNvPr id="665" name="Google Shape;665;p54"/>
          <p:cNvSpPr txBox="1"/>
          <p:nvPr>
            <p:ph idx="1" type="body"/>
          </p:nvPr>
        </p:nvSpPr>
        <p:spPr>
          <a:xfrm>
            <a:off x="1062037" y="1111250"/>
            <a:ext cx="8499600" cy="47499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a:t>
            </a:r>
            <a:r>
              <a:rPr b="0" i="0" lang="en-US" sz="2400" u="sng">
                <a:solidFill>
                  <a:schemeClr val="dk1"/>
                </a:solidFill>
                <a:latin typeface="Arial"/>
                <a:ea typeface="Arial"/>
                <a:cs typeface="Arial"/>
                <a:sym typeface="Arial"/>
              </a:rPr>
              <a:t>ước 1</a:t>
            </a:r>
            <a:r>
              <a:rPr b="0" i="0" lang="en-US" sz="2400" u="none">
                <a:solidFill>
                  <a:schemeClr val="dk1"/>
                </a:solidFill>
                <a:latin typeface="Arial"/>
                <a:ea typeface="Arial"/>
                <a:cs typeface="Arial"/>
                <a:sym typeface="Arial"/>
              </a:rPr>
              <a:t> : i = 0;	</a:t>
            </a:r>
            <a:r>
              <a:rPr b="0" i="0" lang="en-US" sz="2000" u="none">
                <a:solidFill>
                  <a:schemeClr val="dk1"/>
                </a:solidFill>
                <a:latin typeface="Arial"/>
                <a:ea typeface="Arial"/>
                <a:cs typeface="Arial"/>
                <a:sym typeface="Arial"/>
              </a:rPr>
              <a:t>// lần xử lý đầu tiên  </a:t>
            </a:r>
            <a:endParaRPr/>
          </a:p>
          <a:p>
            <a:pPr indent="-463550" lvl="0" marL="463550" rtl="0" algn="l">
              <a:lnSpc>
                <a:spcPct val="100000"/>
              </a:lnSpc>
              <a:spcBef>
                <a:spcPts val="48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2</a:t>
            </a:r>
            <a:r>
              <a:rPr b="0" i="0" lang="en-US" sz="2400" u="none">
                <a:solidFill>
                  <a:schemeClr val="dk1"/>
                </a:solidFill>
                <a:latin typeface="Arial"/>
                <a:ea typeface="Arial"/>
                <a:cs typeface="Arial"/>
                <a:sym typeface="Arial"/>
              </a:rPr>
              <a:t> : j = N-1;</a:t>
            </a:r>
            <a:r>
              <a:rPr b="0" i="0" lang="en-US" sz="2000" u="none">
                <a:solidFill>
                  <a:schemeClr val="dk1"/>
                </a:solidFill>
                <a:latin typeface="Arial"/>
                <a:ea typeface="Arial"/>
                <a:cs typeface="Arial"/>
                <a:sym typeface="Arial"/>
              </a:rPr>
              <a:t>//Duyệt từ cuối dãy ngược về</a:t>
            </a:r>
            <a:r>
              <a:rPr b="0" i="0" lang="en-US" sz="2000" u="none">
                <a:solidFill>
                  <a:schemeClr val="dk1"/>
                </a:solidFill>
                <a:latin typeface="Arial"/>
                <a:ea typeface="Arial"/>
                <a:cs typeface="Arial"/>
                <a:sym typeface="Arial"/>
              </a:rPr>
              <a:t> vị trí i </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Trong khi (j &gt; i) thực hiện: </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Nếu a[j]&lt;a[j-1] </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Doicho(a[j],a[j-1])</a:t>
            </a:r>
            <a:r>
              <a:rPr b="0" i="1" lang="en-US" sz="2400" u="none">
                <a:solidFill>
                  <a:schemeClr val="dk1"/>
                </a:solidFill>
                <a:latin typeface="Arial"/>
                <a:ea typeface="Arial"/>
                <a:cs typeface="Arial"/>
                <a:sym typeface="Arial"/>
              </a:rPr>
              <a:t>;</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j = j-1;		</a:t>
            </a:r>
            <a:endParaRPr/>
          </a:p>
          <a:p>
            <a:pPr indent="-463550" lvl="0" marL="463550" rtl="0" algn="l">
              <a:lnSpc>
                <a:spcPct val="100000"/>
              </a:lnSpc>
              <a:spcBef>
                <a:spcPts val="48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3</a:t>
            </a:r>
            <a:r>
              <a:rPr b="0" i="0" lang="en-US" sz="2400" u="none">
                <a:solidFill>
                  <a:schemeClr val="dk1"/>
                </a:solidFill>
                <a:latin typeface="Arial"/>
                <a:ea typeface="Arial"/>
                <a:cs typeface="Arial"/>
                <a:sym typeface="Arial"/>
              </a:rPr>
              <a:t> : i = i+1;	</a:t>
            </a:r>
            <a:r>
              <a:rPr b="0" i="0" lang="en-US" sz="2000" u="none">
                <a:solidFill>
                  <a:schemeClr val="dk1"/>
                </a:solidFill>
                <a:latin typeface="Arial"/>
                <a:ea typeface="Arial"/>
                <a:cs typeface="Arial"/>
                <a:sym typeface="Arial"/>
              </a:rPr>
              <a:t>// lần xử lý kế tiếp</a:t>
            </a:r>
            <a:r>
              <a:rPr b="0" i="0" lang="en-US" sz="2400" u="none">
                <a:solidFill>
                  <a:schemeClr val="dk1"/>
                </a:solidFill>
                <a:latin typeface="Arial"/>
                <a:ea typeface="Arial"/>
                <a:cs typeface="Arial"/>
                <a:sym typeface="Arial"/>
              </a:rPr>
              <a:t> </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Nếu  i &gt;=N-1: Hết dãy. Dừng	</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Ngược lại	: Lặp lại Bước 2.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5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Nổi Bọt – Bubble Sort</a:t>
            </a:r>
            <a:endParaRPr/>
          </a:p>
        </p:txBody>
      </p:sp>
      <p:sp>
        <p:nvSpPr>
          <p:cNvPr id="671" name="Google Shape;671;p55"/>
          <p:cNvSpPr txBox="1"/>
          <p:nvPr>
            <p:ph idx="1" type="body"/>
          </p:nvPr>
        </p:nvSpPr>
        <p:spPr>
          <a:xfrm>
            <a:off x="717550" y="1125537"/>
            <a:ext cx="8915400" cy="1323975"/>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dãy số a: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2	 12	8	5	1	6	4	15 </a:t>
            </a:r>
            <a:endParaRPr/>
          </a:p>
        </p:txBody>
      </p:sp>
      <p:grpSp>
        <p:nvGrpSpPr>
          <p:cNvPr id="672" name="Google Shape;672;p55"/>
          <p:cNvGrpSpPr/>
          <p:nvPr/>
        </p:nvGrpSpPr>
        <p:grpSpPr>
          <a:xfrm>
            <a:off x="776287" y="2713037"/>
            <a:ext cx="8288337" cy="2068512"/>
            <a:chOff x="489" y="1661"/>
            <a:chExt cx="5221" cy="1303"/>
          </a:xfrm>
        </p:grpSpPr>
        <p:pic>
          <p:nvPicPr>
            <p:cNvPr id="673" name="Google Shape;673;p55"/>
            <p:cNvPicPr preferRelativeResize="0"/>
            <p:nvPr/>
          </p:nvPicPr>
          <p:blipFill rotWithShape="1">
            <a:blip r:embed="rId3">
              <a:alphaModFix/>
            </a:blip>
            <a:srcRect b="0" l="0" r="0" t="0"/>
            <a:stretch/>
          </p:blipFill>
          <p:spPr>
            <a:xfrm>
              <a:off x="489" y="1661"/>
              <a:ext cx="5221" cy="1303"/>
            </a:xfrm>
            <a:prstGeom prst="rect">
              <a:avLst/>
            </a:prstGeom>
            <a:noFill/>
            <a:ln>
              <a:noFill/>
            </a:ln>
          </p:spPr>
        </p:pic>
        <p:sp>
          <p:nvSpPr>
            <p:cNvPr id="674" name="Google Shape;674;p55"/>
            <p:cNvSpPr txBox="1"/>
            <p:nvPr/>
          </p:nvSpPr>
          <p:spPr>
            <a:xfrm>
              <a:off x="807" y="2523"/>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i=0</a:t>
              </a:r>
              <a:endParaRPr/>
            </a:p>
          </p:txBody>
        </p:sp>
        <p:sp>
          <p:nvSpPr>
            <p:cNvPr id="675" name="Google Shape;675;p55"/>
            <p:cNvSpPr txBox="1"/>
            <p:nvPr/>
          </p:nvSpPr>
          <p:spPr>
            <a:xfrm>
              <a:off x="4708" y="2523"/>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j=6</a:t>
              </a:r>
              <a:endParaRPr/>
            </a:p>
          </p:txBody>
        </p:sp>
      </p:grpSp>
      <p:grpSp>
        <p:nvGrpSpPr>
          <p:cNvPr id="676" name="Google Shape;676;p55"/>
          <p:cNvGrpSpPr/>
          <p:nvPr/>
        </p:nvGrpSpPr>
        <p:grpSpPr>
          <a:xfrm>
            <a:off x="992187" y="4841875"/>
            <a:ext cx="7920037" cy="2016125"/>
            <a:chOff x="625" y="3050"/>
            <a:chExt cx="4989" cy="1270"/>
          </a:xfrm>
        </p:grpSpPr>
        <p:pic>
          <p:nvPicPr>
            <p:cNvPr id="677" name="Google Shape;677;p55"/>
            <p:cNvPicPr preferRelativeResize="0"/>
            <p:nvPr/>
          </p:nvPicPr>
          <p:blipFill rotWithShape="1">
            <a:blip r:embed="rId4">
              <a:alphaModFix/>
            </a:blip>
            <a:srcRect b="0" l="0" r="0" t="0"/>
            <a:stretch/>
          </p:blipFill>
          <p:spPr>
            <a:xfrm>
              <a:off x="625" y="3050"/>
              <a:ext cx="4989" cy="1270"/>
            </a:xfrm>
            <a:prstGeom prst="rect">
              <a:avLst/>
            </a:prstGeom>
            <a:noFill/>
            <a:ln>
              <a:noFill/>
            </a:ln>
          </p:spPr>
        </p:pic>
        <p:sp>
          <p:nvSpPr>
            <p:cNvPr id="678" name="Google Shape;678;p55"/>
            <p:cNvSpPr txBox="1"/>
            <p:nvPr/>
          </p:nvSpPr>
          <p:spPr>
            <a:xfrm>
              <a:off x="795" y="3831"/>
              <a:ext cx="31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i=0</a:t>
              </a:r>
              <a:endParaRPr/>
            </a:p>
          </p:txBody>
        </p:sp>
        <p:sp>
          <p:nvSpPr>
            <p:cNvPr id="679" name="Google Shape;679;p55"/>
            <p:cNvSpPr txBox="1"/>
            <p:nvPr/>
          </p:nvSpPr>
          <p:spPr>
            <a:xfrm>
              <a:off x="3302" y="3834"/>
              <a:ext cx="31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i=4</a:t>
              </a: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5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Nổi Bọt – Bubble Sort</a:t>
            </a:r>
            <a:endParaRPr/>
          </a:p>
        </p:txBody>
      </p:sp>
      <p:grpSp>
        <p:nvGrpSpPr>
          <p:cNvPr id="685" name="Google Shape;685;p56"/>
          <p:cNvGrpSpPr/>
          <p:nvPr/>
        </p:nvGrpSpPr>
        <p:grpSpPr>
          <a:xfrm>
            <a:off x="1065212" y="4868862"/>
            <a:ext cx="8697912" cy="1989137"/>
            <a:chOff x="671" y="3067"/>
            <a:chExt cx="5479" cy="1253"/>
          </a:xfrm>
        </p:grpSpPr>
        <p:pic>
          <p:nvPicPr>
            <p:cNvPr id="686" name="Google Shape;686;p56"/>
            <p:cNvPicPr preferRelativeResize="0"/>
            <p:nvPr/>
          </p:nvPicPr>
          <p:blipFill rotWithShape="1">
            <a:blip r:embed="rId3">
              <a:alphaModFix/>
            </a:blip>
            <a:srcRect b="0" l="0" r="0" t="0"/>
            <a:stretch/>
          </p:blipFill>
          <p:spPr>
            <a:xfrm>
              <a:off x="671" y="3067"/>
              <a:ext cx="5479" cy="1253"/>
            </a:xfrm>
            <a:prstGeom prst="rect">
              <a:avLst/>
            </a:prstGeom>
            <a:noFill/>
            <a:ln>
              <a:noFill/>
            </a:ln>
          </p:spPr>
        </p:pic>
        <p:sp>
          <p:nvSpPr>
            <p:cNvPr id="687" name="Google Shape;687;p56"/>
            <p:cNvSpPr txBox="1"/>
            <p:nvPr/>
          </p:nvSpPr>
          <p:spPr>
            <a:xfrm>
              <a:off x="819" y="3925"/>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i=0</a:t>
              </a:r>
              <a:endParaRPr/>
            </a:p>
          </p:txBody>
        </p:sp>
        <p:sp>
          <p:nvSpPr>
            <p:cNvPr id="688" name="Google Shape;688;p56"/>
            <p:cNvSpPr txBox="1"/>
            <p:nvPr/>
          </p:nvSpPr>
          <p:spPr>
            <a:xfrm>
              <a:off x="1532" y="3925"/>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j=1</a:t>
              </a:r>
              <a:endParaRPr/>
            </a:p>
          </p:txBody>
        </p:sp>
      </p:grpSp>
      <p:grpSp>
        <p:nvGrpSpPr>
          <p:cNvPr id="689" name="Google Shape;689;p56"/>
          <p:cNvGrpSpPr/>
          <p:nvPr/>
        </p:nvGrpSpPr>
        <p:grpSpPr>
          <a:xfrm>
            <a:off x="1185862" y="2867025"/>
            <a:ext cx="8720137" cy="1800225"/>
            <a:chOff x="747" y="1806"/>
            <a:chExt cx="5493" cy="1134"/>
          </a:xfrm>
        </p:grpSpPr>
        <p:pic>
          <p:nvPicPr>
            <p:cNvPr id="690" name="Google Shape;690;p56"/>
            <p:cNvPicPr preferRelativeResize="0"/>
            <p:nvPr/>
          </p:nvPicPr>
          <p:blipFill rotWithShape="1">
            <a:blip r:embed="rId4">
              <a:alphaModFix/>
            </a:blip>
            <a:srcRect b="0" l="0" r="0" t="0"/>
            <a:stretch/>
          </p:blipFill>
          <p:spPr>
            <a:xfrm>
              <a:off x="747" y="1806"/>
              <a:ext cx="5493" cy="1134"/>
            </a:xfrm>
            <a:prstGeom prst="rect">
              <a:avLst/>
            </a:prstGeom>
            <a:noFill/>
            <a:ln>
              <a:noFill/>
            </a:ln>
          </p:spPr>
        </p:pic>
        <p:sp>
          <p:nvSpPr>
            <p:cNvPr id="691" name="Google Shape;691;p56"/>
            <p:cNvSpPr txBox="1"/>
            <p:nvPr/>
          </p:nvSpPr>
          <p:spPr>
            <a:xfrm>
              <a:off x="923" y="2585"/>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i=0</a:t>
              </a:r>
              <a:endParaRPr/>
            </a:p>
          </p:txBody>
        </p:sp>
        <p:sp>
          <p:nvSpPr>
            <p:cNvPr id="692" name="Google Shape;692;p56"/>
            <p:cNvSpPr txBox="1"/>
            <p:nvPr/>
          </p:nvSpPr>
          <p:spPr>
            <a:xfrm>
              <a:off x="2303" y="2568"/>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j=2</a:t>
              </a:r>
              <a:endParaRPr/>
            </a:p>
          </p:txBody>
        </p:sp>
      </p:grpSp>
      <p:grpSp>
        <p:nvGrpSpPr>
          <p:cNvPr id="693" name="Google Shape;693;p56"/>
          <p:cNvGrpSpPr/>
          <p:nvPr/>
        </p:nvGrpSpPr>
        <p:grpSpPr>
          <a:xfrm>
            <a:off x="1129500" y="941412"/>
            <a:ext cx="8568960" cy="1800066"/>
            <a:chOff x="716" y="527"/>
            <a:chExt cx="5398" cy="1134"/>
          </a:xfrm>
        </p:grpSpPr>
        <p:pic>
          <p:nvPicPr>
            <p:cNvPr id="694" name="Google Shape;694;p56"/>
            <p:cNvPicPr preferRelativeResize="0"/>
            <p:nvPr/>
          </p:nvPicPr>
          <p:blipFill rotWithShape="1">
            <a:blip r:embed="rId5">
              <a:alphaModFix/>
            </a:blip>
            <a:srcRect b="0" l="0" r="0" t="0"/>
            <a:stretch/>
          </p:blipFill>
          <p:spPr>
            <a:xfrm>
              <a:off x="716" y="527"/>
              <a:ext cx="5398" cy="1134"/>
            </a:xfrm>
            <a:prstGeom prst="rect">
              <a:avLst/>
            </a:prstGeom>
            <a:noFill/>
            <a:ln>
              <a:noFill/>
            </a:ln>
          </p:spPr>
        </p:pic>
        <p:sp>
          <p:nvSpPr>
            <p:cNvPr id="695" name="Google Shape;695;p56"/>
            <p:cNvSpPr txBox="1"/>
            <p:nvPr/>
          </p:nvSpPr>
          <p:spPr>
            <a:xfrm>
              <a:off x="943" y="1317"/>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i=0</a:t>
              </a:r>
              <a:endParaRPr/>
            </a:p>
          </p:txBody>
        </p:sp>
        <p:sp>
          <p:nvSpPr>
            <p:cNvPr id="696" name="Google Shape;696;p56"/>
            <p:cNvSpPr txBox="1"/>
            <p:nvPr/>
          </p:nvSpPr>
          <p:spPr>
            <a:xfrm>
              <a:off x="2893" y="1339"/>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j=3</a:t>
              </a:r>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5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Nổi Bọt – Bubble Sort</a:t>
            </a:r>
            <a:endParaRPr/>
          </a:p>
        </p:txBody>
      </p:sp>
      <p:grpSp>
        <p:nvGrpSpPr>
          <p:cNvPr id="702" name="Google Shape;702;p57"/>
          <p:cNvGrpSpPr/>
          <p:nvPr/>
        </p:nvGrpSpPr>
        <p:grpSpPr>
          <a:xfrm>
            <a:off x="1065212" y="4786312"/>
            <a:ext cx="8567737" cy="1728787"/>
            <a:chOff x="671" y="2931"/>
            <a:chExt cx="5397" cy="1089"/>
          </a:xfrm>
        </p:grpSpPr>
        <p:pic>
          <p:nvPicPr>
            <p:cNvPr id="703" name="Google Shape;703;p57"/>
            <p:cNvPicPr preferRelativeResize="0"/>
            <p:nvPr/>
          </p:nvPicPr>
          <p:blipFill rotWithShape="1">
            <a:blip r:embed="rId3">
              <a:alphaModFix/>
            </a:blip>
            <a:srcRect b="0" l="0" r="0" t="0"/>
            <a:stretch/>
          </p:blipFill>
          <p:spPr>
            <a:xfrm>
              <a:off x="671" y="2931"/>
              <a:ext cx="5397" cy="1089"/>
            </a:xfrm>
            <a:prstGeom prst="rect">
              <a:avLst/>
            </a:prstGeom>
            <a:noFill/>
            <a:ln>
              <a:noFill/>
            </a:ln>
          </p:spPr>
        </p:pic>
        <p:sp>
          <p:nvSpPr>
            <p:cNvPr id="704" name="Google Shape;704;p57"/>
            <p:cNvSpPr txBox="1"/>
            <p:nvPr/>
          </p:nvSpPr>
          <p:spPr>
            <a:xfrm>
              <a:off x="1391" y="3698"/>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i=1</a:t>
              </a:r>
              <a:endParaRPr/>
            </a:p>
          </p:txBody>
        </p:sp>
        <p:sp>
          <p:nvSpPr>
            <p:cNvPr id="705" name="Google Shape;705;p57"/>
            <p:cNvSpPr txBox="1"/>
            <p:nvPr/>
          </p:nvSpPr>
          <p:spPr>
            <a:xfrm>
              <a:off x="2712" y="3698"/>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j=3</a:t>
              </a:r>
              <a:endParaRPr/>
            </a:p>
          </p:txBody>
        </p:sp>
      </p:grpSp>
      <p:grpSp>
        <p:nvGrpSpPr>
          <p:cNvPr id="706" name="Google Shape;706;p57"/>
          <p:cNvGrpSpPr/>
          <p:nvPr/>
        </p:nvGrpSpPr>
        <p:grpSpPr>
          <a:xfrm>
            <a:off x="1065212" y="2628900"/>
            <a:ext cx="8567737" cy="1871662"/>
            <a:chOff x="671" y="1616"/>
            <a:chExt cx="5397" cy="1179"/>
          </a:xfrm>
        </p:grpSpPr>
        <p:pic>
          <p:nvPicPr>
            <p:cNvPr id="707" name="Google Shape;707;p57"/>
            <p:cNvPicPr preferRelativeResize="0"/>
            <p:nvPr/>
          </p:nvPicPr>
          <p:blipFill rotWithShape="1">
            <a:blip r:embed="rId4">
              <a:alphaModFix/>
            </a:blip>
            <a:srcRect b="0" l="0" r="0" t="0"/>
            <a:stretch/>
          </p:blipFill>
          <p:spPr>
            <a:xfrm>
              <a:off x="671" y="1616"/>
              <a:ext cx="5397" cy="1179"/>
            </a:xfrm>
            <a:prstGeom prst="rect">
              <a:avLst/>
            </a:prstGeom>
            <a:noFill/>
            <a:ln>
              <a:noFill/>
            </a:ln>
          </p:spPr>
        </p:pic>
        <p:sp>
          <p:nvSpPr>
            <p:cNvPr id="708" name="Google Shape;708;p57"/>
            <p:cNvSpPr txBox="1"/>
            <p:nvPr/>
          </p:nvSpPr>
          <p:spPr>
            <a:xfrm>
              <a:off x="1427" y="2497"/>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i=1</a:t>
              </a:r>
              <a:endParaRPr/>
            </a:p>
          </p:txBody>
        </p:sp>
        <p:sp>
          <p:nvSpPr>
            <p:cNvPr id="709" name="Google Shape;709;p57"/>
            <p:cNvSpPr txBox="1"/>
            <p:nvPr/>
          </p:nvSpPr>
          <p:spPr>
            <a:xfrm>
              <a:off x="3483" y="2502"/>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j=4</a:t>
              </a:r>
              <a:endParaRPr/>
            </a:p>
          </p:txBody>
        </p:sp>
      </p:grpSp>
      <p:grpSp>
        <p:nvGrpSpPr>
          <p:cNvPr id="710" name="Google Shape;710;p57"/>
          <p:cNvGrpSpPr/>
          <p:nvPr/>
        </p:nvGrpSpPr>
        <p:grpSpPr>
          <a:xfrm>
            <a:off x="1136650" y="836612"/>
            <a:ext cx="8424862" cy="1871662"/>
            <a:chOff x="716" y="527"/>
            <a:chExt cx="5307" cy="1179"/>
          </a:xfrm>
        </p:grpSpPr>
        <p:pic>
          <p:nvPicPr>
            <p:cNvPr id="711" name="Google Shape;711;p57"/>
            <p:cNvPicPr preferRelativeResize="0"/>
            <p:nvPr/>
          </p:nvPicPr>
          <p:blipFill rotWithShape="1">
            <a:blip r:embed="rId5">
              <a:alphaModFix/>
            </a:blip>
            <a:srcRect b="0" l="0" r="0" t="0"/>
            <a:stretch/>
          </p:blipFill>
          <p:spPr>
            <a:xfrm>
              <a:off x="716" y="527"/>
              <a:ext cx="5307" cy="1179"/>
            </a:xfrm>
            <a:prstGeom prst="rect">
              <a:avLst/>
            </a:prstGeom>
            <a:noFill/>
            <a:ln>
              <a:noFill/>
            </a:ln>
          </p:spPr>
        </p:pic>
        <p:sp>
          <p:nvSpPr>
            <p:cNvPr id="712" name="Google Shape;712;p57"/>
            <p:cNvSpPr txBox="1"/>
            <p:nvPr/>
          </p:nvSpPr>
          <p:spPr>
            <a:xfrm>
              <a:off x="1399" y="1274"/>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i=1</a:t>
              </a:r>
              <a:endParaRPr/>
            </a:p>
          </p:txBody>
        </p:sp>
        <p:sp>
          <p:nvSpPr>
            <p:cNvPr id="713" name="Google Shape;713;p57"/>
            <p:cNvSpPr txBox="1"/>
            <p:nvPr/>
          </p:nvSpPr>
          <p:spPr>
            <a:xfrm>
              <a:off x="4275" y="1277"/>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j=5</a:t>
              </a: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5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Nổi Bọt – Bubble Sort</a:t>
            </a:r>
            <a:endParaRPr/>
          </a:p>
        </p:txBody>
      </p:sp>
      <p:grpSp>
        <p:nvGrpSpPr>
          <p:cNvPr id="719" name="Google Shape;719;p58"/>
          <p:cNvGrpSpPr/>
          <p:nvPr/>
        </p:nvGrpSpPr>
        <p:grpSpPr>
          <a:xfrm>
            <a:off x="849312" y="981075"/>
            <a:ext cx="8783637" cy="2016125"/>
            <a:chOff x="535" y="618"/>
            <a:chExt cx="5533" cy="1270"/>
          </a:xfrm>
        </p:grpSpPr>
        <p:pic>
          <p:nvPicPr>
            <p:cNvPr id="720" name="Google Shape;720;p58"/>
            <p:cNvPicPr preferRelativeResize="0"/>
            <p:nvPr/>
          </p:nvPicPr>
          <p:blipFill rotWithShape="1">
            <a:blip r:embed="rId3">
              <a:alphaModFix/>
            </a:blip>
            <a:srcRect b="0" l="0" r="0" t="0"/>
            <a:stretch/>
          </p:blipFill>
          <p:spPr>
            <a:xfrm>
              <a:off x="535" y="618"/>
              <a:ext cx="5533" cy="1270"/>
            </a:xfrm>
            <a:prstGeom prst="rect">
              <a:avLst/>
            </a:prstGeom>
            <a:noFill/>
            <a:ln>
              <a:noFill/>
            </a:ln>
          </p:spPr>
        </p:pic>
        <p:sp>
          <p:nvSpPr>
            <p:cNvPr id="721" name="Google Shape;721;p58"/>
            <p:cNvSpPr txBox="1"/>
            <p:nvPr/>
          </p:nvSpPr>
          <p:spPr>
            <a:xfrm>
              <a:off x="2077" y="1344"/>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i=2</a:t>
              </a:r>
              <a:endParaRPr/>
            </a:p>
          </p:txBody>
        </p:sp>
        <p:sp>
          <p:nvSpPr>
            <p:cNvPr id="722" name="Google Shape;722;p58"/>
            <p:cNvSpPr txBox="1"/>
            <p:nvPr/>
          </p:nvSpPr>
          <p:spPr>
            <a:xfrm>
              <a:off x="4163" y="1344"/>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j=5</a:t>
              </a:r>
              <a:endParaRPr/>
            </a:p>
          </p:txBody>
        </p:sp>
      </p:grpSp>
      <p:grpSp>
        <p:nvGrpSpPr>
          <p:cNvPr id="723" name="Google Shape;723;p58"/>
          <p:cNvGrpSpPr/>
          <p:nvPr/>
        </p:nvGrpSpPr>
        <p:grpSpPr>
          <a:xfrm>
            <a:off x="849312" y="3125787"/>
            <a:ext cx="8769350" cy="1743075"/>
            <a:chOff x="535" y="1969"/>
            <a:chExt cx="5524" cy="1098"/>
          </a:xfrm>
        </p:grpSpPr>
        <p:pic>
          <p:nvPicPr>
            <p:cNvPr id="724" name="Google Shape;724;p58"/>
            <p:cNvPicPr preferRelativeResize="0"/>
            <p:nvPr/>
          </p:nvPicPr>
          <p:blipFill rotWithShape="1">
            <a:blip r:embed="rId4">
              <a:alphaModFix/>
            </a:blip>
            <a:srcRect b="0" l="0" r="0" t="0"/>
            <a:stretch/>
          </p:blipFill>
          <p:spPr>
            <a:xfrm>
              <a:off x="535" y="1969"/>
              <a:ext cx="5524" cy="1098"/>
            </a:xfrm>
            <a:prstGeom prst="rect">
              <a:avLst/>
            </a:prstGeom>
            <a:noFill/>
            <a:ln>
              <a:noFill/>
            </a:ln>
          </p:spPr>
        </p:pic>
        <p:sp>
          <p:nvSpPr>
            <p:cNvPr id="725" name="Google Shape;725;p58"/>
            <p:cNvSpPr txBox="1"/>
            <p:nvPr/>
          </p:nvSpPr>
          <p:spPr>
            <a:xfrm>
              <a:off x="2077" y="2750"/>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i=2</a:t>
              </a:r>
              <a:endParaRPr/>
            </a:p>
          </p:txBody>
        </p:sp>
        <p:sp>
          <p:nvSpPr>
            <p:cNvPr id="726" name="Google Shape;726;p58"/>
            <p:cNvSpPr txBox="1"/>
            <p:nvPr/>
          </p:nvSpPr>
          <p:spPr>
            <a:xfrm>
              <a:off x="3528" y="2745"/>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j=4</a:t>
              </a:r>
              <a:endParaRPr/>
            </a:p>
          </p:txBody>
        </p:sp>
      </p:grpSp>
      <p:grpSp>
        <p:nvGrpSpPr>
          <p:cNvPr id="727" name="Google Shape;727;p58"/>
          <p:cNvGrpSpPr/>
          <p:nvPr/>
        </p:nvGrpSpPr>
        <p:grpSpPr>
          <a:xfrm>
            <a:off x="992187" y="5300662"/>
            <a:ext cx="8640762" cy="1557337"/>
            <a:chOff x="625" y="3339"/>
            <a:chExt cx="5443" cy="981"/>
          </a:xfrm>
        </p:grpSpPr>
        <p:pic>
          <p:nvPicPr>
            <p:cNvPr id="728" name="Google Shape;728;p58"/>
            <p:cNvPicPr preferRelativeResize="0"/>
            <p:nvPr/>
          </p:nvPicPr>
          <p:blipFill rotWithShape="1">
            <a:blip r:embed="rId5">
              <a:alphaModFix/>
            </a:blip>
            <a:srcRect b="0" l="0" r="0" t="0"/>
            <a:stretch/>
          </p:blipFill>
          <p:spPr>
            <a:xfrm>
              <a:off x="625" y="3339"/>
              <a:ext cx="5443" cy="981"/>
            </a:xfrm>
            <a:prstGeom prst="rect">
              <a:avLst/>
            </a:prstGeom>
            <a:noFill/>
            <a:ln>
              <a:noFill/>
            </a:ln>
          </p:spPr>
        </p:pic>
        <p:sp>
          <p:nvSpPr>
            <p:cNvPr id="729" name="Google Shape;729;p58"/>
            <p:cNvSpPr txBox="1"/>
            <p:nvPr/>
          </p:nvSpPr>
          <p:spPr>
            <a:xfrm>
              <a:off x="2757" y="4016"/>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i=3</a:t>
              </a:r>
              <a:endParaRPr/>
            </a:p>
          </p:txBody>
        </p:sp>
        <p:sp>
          <p:nvSpPr>
            <p:cNvPr id="730" name="Google Shape;730;p58"/>
            <p:cNvSpPr txBox="1"/>
            <p:nvPr/>
          </p:nvSpPr>
          <p:spPr>
            <a:xfrm>
              <a:off x="4934" y="4020"/>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j=6</a:t>
              </a:r>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pic>
        <p:nvPicPr>
          <p:cNvPr id="735" name="Google Shape;735;p59"/>
          <p:cNvPicPr preferRelativeResize="0"/>
          <p:nvPr/>
        </p:nvPicPr>
        <p:blipFill rotWithShape="1">
          <a:blip r:embed="rId3">
            <a:alphaModFix/>
          </a:blip>
          <a:srcRect b="0" l="0" r="0" t="0"/>
          <a:stretch/>
        </p:blipFill>
        <p:spPr>
          <a:xfrm>
            <a:off x="1073150" y="5734050"/>
            <a:ext cx="8640762" cy="1123950"/>
          </a:xfrm>
          <a:prstGeom prst="rect">
            <a:avLst/>
          </a:prstGeom>
          <a:noFill/>
          <a:ln>
            <a:noFill/>
          </a:ln>
        </p:spPr>
      </p:pic>
      <p:sp>
        <p:nvSpPr>
          <p:cNvPr id="736" name="Google Shape;736;p5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Nổi Bọt – Bubble Sort</a:t>
            </a:r>
            <a:endParaRPr/>
          </a:p>
        </p:txBody>
      </p:sp>
      <p:grpSp>
        <p:nvGrpSpPr>
          <p:cNvPr id="737" name="Google Shape;737;p59"/>
          <p:cNvGrpSpPr/>
          <p:nvPr/>
        </p:nvGrpSpPr>
        <p:grpSpPr>
          <a:xfrm>
            <a:off x="1065212" y="4437062"/>
            <a:ext cx="8697912" cy="1368425"/>
            <a:chOff x="671" y="2795"/>
            <a:chExt cx="5479" cy="862"/>
          </a:xfrm>
        </p:grpSpPr>
        <p:pic>
          <p:nvPicPr>
            <p:cNvPr id="738" name="Google Shape;738;p59"/>
            <p:cNvPicPr preferRelativeResize="0"/>
            <p:nvPr/>
          </p:nvPicPr>
          <p:blipFill rotWithShape="1">
            <a:blip r:embed="rId4">
              <a:alphaModFix/>
            </a:blip>
            <a:srcRect b="0" l="0" r="0" t="0"/>
            <a:stretch/>
          </p:blipFill>
          <p:spPr>
            <a:xfrm>
              <a:off x="671" y="2795"/>
              <a:ext cx="5479" cy="862"/>
            </a:xfrm>
            <a:prstGeom prst="rect">
              <a:avLst/>
            </a:prstGeom>
            <a:noFill/>
            <a:ln>
              <a:noFill/>
            </a:ln>
          </p:spPr>
        </p:pic>
        <p:sp>
          <p:nvSpPr>
            <p:cNvPr id="739" name="Google Shape;739;p59"/>
            <p:cNvSpPr txBox="1"/>
            <p:nvPr/>
          </p:nvSpPr>
          <p:spPr>
            <a:xfrm>
              <a:off x="4282" y="3385"/>
              <a:ext cx="36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i=5</a:t>
              </a:r>
              <a:endParaRPr/>
            </a:p>
          </p:txBody>
        </p:sp>
      </p:grpSp>
      <p:grpSp>
        <p:nvGrpSpPr>
          <p:cNvPr id="740" name="Google Shape;740;p59"/>
          <p:cNvGrpSpPr/>
          <p:nvPr/>
        </p:nvGrpSpPr>
        <p:grpSpPr>
          <a:xfrm>
            <a:off x="1098550" y="2565400"/>
            <a:ext cx="8769350" cy="1727200"/>
            <a:chOff x="692" y="1616"/>
            <a:chExt cx="5524" cy="1088"/>
          </a:xfrm>
        </p:grpSpPr>
        <p:pic>
          <p:nvPicPr>
            <p:cNvPr id="741" name="Google Shape;741;p59"/>
            <p:cNvPicPr preferRelativeResize="0"/>
            <p:nvPr/>
          </p:nvPicPr>
          <p:blipFill rotWithShape="1">
            <a:blip r:embed="rId5">
              <a:alphaModFix/>
            </a:blip>
            <a:srcRect b="0" l="0" r="0" t="0"/>
            <a:stretch/>
          </p:blipFill>
          <p:spPr>
            <a:xfrm>
              <a:off x="692" y="1616"/>
              <a:ext cx="5524" cy="1088"/>
            </a:xfrm>
            <a:prstGeom prst="rect">
              <a:avLst/>
            </a:prstGeom>
            <a:noFill/>
            <a:ln>
              <a:noFill/>
            </a:ln>
          </p:spPr>
        </p:pic>
        <p:sp>
          <p:nvSpPr>
            <p:cNvPr id="742" name="Google Shape;742;p59"/>
            <p:cNvSpPr txBox="1"/>
            <p:nvPr/>
          </p:nvSpPr>
          <p:spPr>
            <a:xfrm>
              <a:off x="3632" y="2399"/>
              <a:ext cx="36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i=4</a:t>
              </a:r>
              <a:endParaRPr/>
            </a:p>
          </p:txBody>
        </p:sp>
        <p:sp>
          <p:nvSpPr>
            <p:cNvPr id="743" name="Google Shape;743;p59"/>
            <p:cNvSpPr txBox="1"/>
            <p:nvPr/>
          </p:nvSpPr>
          <p:spPr>
            <a:xfrm>
              <a:off x="5083" y="2399"/>
              <a:ext cx="36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j=6</a:t>
              </a:r>
              <a:endParaRPr/>
            </a:p>
          </p:txBody>
        </p:sp>
      </p:grpSp>
      <p:grpSp>
        <p:nvGrpSpPr>
          <p:cNvPr id="744" name="Google Shape;744;p59"/>
          <p:cNvGrpSpPr/>
          <p:nvPr/>
        </p:nvGrpSpPr>
        <p:grpSpPr>
          <a:xfrm>
            <a:off x="989012" y="908050"/>
            <a:ext cx="8840787" cy="1584325"/>
            <a:chOff x="623" y="572"/>
            <a:chExt cx="5569" cy="998"/>
          </a:xfrm>
        </p:grpSpPr>
        <p:pic>
          <p:nvPicPr>
            <p:cNvPr id="745" name="Google Shape;745;p59"/>
            <p:cNvPicPr preferRelativeResize="0"/>
            <p:nvPr/>
          </p:nvPicPr>
          <p:blipFill rotWithShape="1">
            <a:blip r:embed="rId6">
              <a:alphaModFix/>
            </a:blip>
            <a:srcRect b="0" l="0" r="0" t="0"/>
            <a:stretch/>
          </p:blipFill>
          <p:spPr>
            <a:xfrm>
              <a:off x="623" y="572"/>
              <a:ext cx="5569" cy="998"/>
            </a:xfrm>
            <a:prstGeom prst="rect">
              <a:avLst/>
            </a:prstGeom>
            <a:noFill/>
            <a:ln>
              <a:noFill/>
            </a:ln>
          </p:spPr>
        </p:pic>
        <p:sp>
          <p:nvSpPr>
            <p:cNvPr id="746" name="Google Shape;746;p59"/>
            <p:cNvSpPr txBox="1"/>
            <p:nvPr/>
          </p:nvSpPr>
          <p:spPr>
            <a:xfrm>
              <a:off x="2939" y="1253"/>
              <a:ext cx="36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i=3</a:t>
              </a:r>
              <a:endParaRPr/>
            </a:p>
          </p:txBody>
        </p:sp>
        <p:sp>
          <p:nvSpPr>
            <p:cNvPr id="747" name="Google Shape;747;p59"/>
            <p:cNvSpPr txBox="1"/>
            <p:nvPr/>
          </p:nvSpPr>
          <p:spPr>
            <a:xfrm>
              <a:off x="4346" y="1253"/>
              <a:ext cx="36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j=5</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500"/>
                                        <p:tgtEl>
                                          <p:spTgt spid="7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60"/>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Cài Đặt Thuật Toán Nổi Bọt</a:t>
            </a:r>
            <a:endParaRPr/>
          </a:p>
        </p:txBody>
      </p:sp>
      <p:sp>
        <p:nvSpPr>
          <p:cNvPr id="753" name="Google Shape;753;p60"/>
          <p:cNvSpPr txBox="1"/>
          <p:nvPr>
            <p:ph idx="1" type="body"/>
          </p:nvPr>
        </p:nvSpPr>
        <p:spPr>
          <a:xfrm>
            <a:off x="834787" y="937975"/>
            <a:ext cx="8499600" cy="4192500"/>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rgbClr val="0000FF"/>
              </a:buClr>
              <a:buSzPts val="2400"/>
              <a:buNone/>
            </a:pPr>
            <a:r>
              <a:rPr b="1" i="0" lang="en-US" sz="2400" u="none">
                <a:solidFill>
                  <a:srgbClr val="0000FF"/>
                </a:solidFill>
                <a:latin typeface="Arial"/>
                <a:ea typeface="Arial"/>
                <a:cs typeface="Arial"/>
                <a:sym typeface="Arial"/>
              </a:rPr>
              <a:t>	void</a:t>
            </a:r>
            <a:r>
              <a:rPr b="1" i="0" lang="en-US" sz="2400" u="none">
                <a:solidFill>
                  <a:schemeClr val="dk1"/>
                </a:solidFill>
                <a:latin typeface="Arial"/>
                <a:ea typeface="Arial"/>
                <a:cs typeface="Arial"/>
                <a:sym typeface="Arial"/>
              </a:rPr>
              <a:t> BubbleSort(</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n)</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endParaRPr/>
          </a:p>
          <a:p>
            <a:pPr indent="-463550" lvl="0" marL="463550" rtl="0" algn="l">
              <a:lnSpc>
                <a:spcPct val="120000"/>
              </a:lnSpc>
              <a:spcBef>
                <a:spcPts val="480"/>
              </a:spcBef>
              <a:spcAft>
                <a:spcPts val="0"/>
              </a:spcAft>
              <a:buClr>
                <a:schemeClr val="dk1"/>
              </a:buClr>
              <a:buSzPts val="2400"/>
              <a:buNone/>
            </a:pPr>
            <a:r>
              <a:rPr b="1" i="0" lang="en-US" sz="2400" u="none">
                <a:solidFill>
                  <a:schemeClr val="dk1"/>
                </a:solidFill>
                <a:latin typeface="Arial"/>
                <a:ea typeface="Arial"/>
                <a:cs typeface="Arial"/>
                <a:sym typeface="Arial"/>
              </a:rPr>
              <a:t>		int	i, j;</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r>
              <a:rPr b="1" i="0" lang="en-US" sz="2400" u="none">
                <a:solidFill>
                  <a:srgbClr val="0000FF"/>
                </a:solidFill>
                <a:latin typeface="Arial"/>
                <a:ea typeface="Arial"/>
                <a:cs typeface="Arial"/>
                <a:sym typeface="Arial"/>
              </a:rPr>
              <a:t>for </a:t>
            </a:r>
            <a:r>
              <a:rPr b="1" i="0" lang="en-US" sz="2400" u="none">
                <a:solidFill>
                  <a:schemeClr val="dk1"/>
                </a:solidFill>
                <a:latin typeface="Arial"/>
                <a:ea typeface="Arial"/>
                <a:cs typeface="Arial"/>
                <a:sym typeface="Arial"/>
              </a:rPr>
              <a:t>(i = 0 ; i&lt;n-1 ; i++)</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r>
              <a:rPr b="1" i="0" lang="en-US" sz="2400" u="none">
                <a:solidFill>
                  <a:srgbClr val="0000FF"/>
                </a:solidFill>
                <a:latin typeface="Arial"/>
                <a:ea typeface="Arial"/>
                <a:cs typeface="Arial"/>
                <a:sym typeface="Arial"/>
              </a:rPr>
              <a:t>for</a:t>
            </a:r>
            <a:r>
              <a:rPr b="1" i="0" lang="en-US" sz="2400" u="none">
                <a:solidFill>
                  <a:schemeClr val="dk1"/>
                </a:solidFill>
                <a:latin typeface="Arial"/>
                <a:ea typeface="Arial"/>
                <a:cs typeface="Arial"/>
                <a:sym typeface="Arial"/>
              </a:rPr>
              <a:t> (j =n-1; j &gt;i ; j --)</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a:t>
            </a:r>
            <a:r>
              <a:rPr b="1" i="0" lang="en-US" sz="2400" u="none">
                <a:solidFill>
                  <a:srgbClr val="0000FF"/>
                </a:solidFill>
                <a:latin typeface="Arial"/>
                <a:ea typeface="Arial"/>
                <a:cs typeface="Arial"/>
                <a:sym typeface="Arial"/>
              </a:rPr>
              <a:t>if</a:t>
            </a:r>
            <a:r>
              <a:rPr b="1" i="0" lang="en-US" sz="2400" u="none">
                <a:solidFill>
                  <a:schemeClr val="dk1"/>
                </a:solidFill>
                <a:latin typeface="Arial"/>
                <a:ea typeface="Arial"/>
                <a:cs typeface="Arial"/>
                <a:sym typeface="Arial"/>
              </a:rPr>
              <a:t>(a[j]&lt; a[j-1])</a:t>
            </a:r>
            <a:r>
              <a:rPr b="1" i="0" lang="en-US" sz="1800" u="none">
                <a:solidFill>
                  <a:schemeClr val="dk1"/>
                </a:solidFill>
                <a:latin typeface="Arial"/>
                <a:ea typeface="Arial"/>
                <a:cs typeface="Arial"/>
                <a:sym typeface="Arial"/>
              </a:rPr>
              <a:t>// nếu sai vị trí thì đổi chỗ</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				Swap(a[j], a[j-1]);</a:t>
            </a:r>
            <a:br>
              <a:rPr b="1"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a:t>
            </a:r>
            <a:endParaRPr/>
          </a:p>
        </p:txBody>
      </p:sp>
      <p:sp>
        <p:nvSpPr>
          <p:cNvPr id="759" name="Google Shape;759;p61"/>
          <p:cNvSpPr/>
          <p:nvPr/>
        </p:nvSpPr>
        <p:spPr>
          <a:xfrm>
            <a:off x="2198687"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760" name="Google Shape;760;p61"/>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761" name="Google Shape;761;p61"/>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762" name="Google Shape;762;p61"/>
          <p:cNvSpPr/>
          <p:nvPr/>
        </p:nvSpPr>
        <p:spPr>
          <a:xfrm>
            <a:off x="55245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763" name="Google Shape;763;p61"/>
          <p:cNvSpPr/>
          <p:nvPr/>
        </p:nvSpPr>
        <p:spPr>
          <a:xfrm>
            <a:off x="6630987" y="2871787"/>
            <a:ext cx="7923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764" name="Google Shape;764;p61"/>
          <p:cNvSpPr/>
          <p:nvPr/>
        </p:nvSpPr>
        <p:spPr>
          <a:xfrm>
            <a:off x="774065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765" name="Google Shape;765;p61"/>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766" name="Google Shape;766;p61"/>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767" name="Google Shape;767;p61"/>
          <p:cNvGrpSpPr/>
          <p:nvPr/>
        </p:nvGrpSpPr>
        <p:grpSpPr>
          <a:xfrm>
            <a:off x="1108075" y="3500437"/>
            <a:ext cx="8550275" cy="608012"/>
            <a:chOff x="644" y="1153"/>
            <a:chExt cx="4972" cy="383"/>
          </a:xfrm>
        </p:grpSpPr>
        <p:sp>
          <p:nvSpPr>
            <p:cNvPr id="768" name="Google Shape;768;p61"/>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769" name="Google Shape;769;p61"/>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770" name="Google Shape;770;p61"/>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771" name="Google Shape;771;p61"/>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772" name="Google Shape;772;p61"/>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773" name="Google Shape;773;p61"/>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774" name="Google Shape;774;p61"/>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775" name="Google Shape;775;p61"/>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776" name="Google Shape;776;p61"/>
          <p:cNvSpPr/>
          <p:nvPr/>
        </p:nvSpPr>
        <p:spPr>
          <a:xfrm>
            <a:off x="1008063" y="411955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777" name="Google Shape;777;p61"/>
          <p:cNvSpPr/>
          <p:nvPr/>
        </p:nvSpPr>
        <p:spPr>
          <a:xfrm>
            <a:off x="8632825" y="2041525"/>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j</a:t>
            </a:r>
            <a:endParaRPr/>
          </a:p>
        </p:txBody>
      </p:sp>
      <p:sp>
        <p:nvSpPr>
          <p:cNvPr id="778" name="Google Shape;778;p61"/>
          <p:cNvSpPr/>
          <p:nvPr/>
        </p:nvSpPr>
        <p:spPr>
          <a:xfrm>
            <a:off x="1073200" y="2871850"/>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500"/>
                                        <p:tgtEl>
                                          <p:spTgt spid="7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500"/>
                                        <p:tgtEl>
                                          <p:spTgt spid="77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777"/>
                                        </p:tgtEl>
                                      </p:cBhvr>
                                    </p:animEffect>
                                    <p:set>
                                      <p:cBhvr>
                                        <p:cTn dur="1" fill="hold">
                                          <p:stCondLst>
                                            <p:cond delay="500"/>
                                          </p:stCondLst>
                                        </p:cTn>
                                        <p:tgtEl>
                                          <p:spTgt spid="777"/>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762"/>
                                        </p:tgtEl>
                                      </p:cBhvr>
                                    </p:animEffect>
                                    <p:set>
                                      <p:cBhvr>
                                        <p:cTn dur="1" fill="hold">
                                          <p:stCondLst>
                                            <p:cond delay="1000"/>
                                          </p:stCondLst>
                                        </p:cTn>
                                        <p:tgtEl>
                                          <p:spTgt spid="76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1000"/>
                                        <p:tgtEl>
                                          <p:spTgt spid="7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a:t>
            </a:r>
            <a:endParaRPr/>
          </a:p>
        </p:txBody>
      </p:sp>
      <p:sp>
        <p:nvSpPr>
          <p:cNvPr id="784" name="Google Shape;784;p62"/>
          <p:cNvSpPr/>
          <p:nvPr/>
        </p:nvSpPr>
        <p:spPr>
          <a:xfrm>
            <a:off x="2198687"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785" name="Google Shape;785;p62"/>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786" name="Google Shape;786;p62"/>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787" name="Google Shape;787;p62"/>
          <p:cNvSpPr/>
          <p:nvPr/>
        </p:nvSpPr>
        <p:spPr>
          <a:xfrm>
            <a:off x="55245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788" name="Google Shape;788;p62"/>
          <p:cNvSpPr/>
          <p:nvPr/>
        </p:nvSpPr>
        <p:spPr>
          <a:xfrm>
            <a:off x="6630987"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789" name="Google Shape;789;p62"/>
          <p:cNvSpPr/>
          <p:nvPr/>
        </p:nvSpPr>
        <p:spPr>
          <a:xfrm>
            <a:off x="774065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790" name="Google Shape;790;p62"/>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791" name="Google Shape;791;p62"/>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792" name="Google Shape;792;p62"/>
          <p:cNvGrpSpPr/>
          <p:nvPr/>
        </p:nvGrpSpPr>
        <p:grpSpPr>
          <a:xfrm>
            <a:off x="1108075" y="3429000"/>
            <a:ext cx="8550275" cy="608012"/>
            <a:chOff x="644" y="1153"/>
            <a:chExt cx="4972" cy="383"/>
          </a:xfrm>
        </p:grpSpPr>
        <p:sp>
          <p:nvSpPr>
            <p:cNvPr id="793" name="Google Shape;793;p62"/>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794" name="Google Shape;794;p62"/>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795" name="Google Shape;795;p62"/>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796" name="Google Shape;796;p62"/>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797" name="Google Shape;797;p62"/>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798" name="Google Shape;798;p62"/>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799" name="Google Shape;799;p62"/>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800" name="Google Shape;800;p62"/>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801" name="Google Shape;801;p62"/>
          <p:cNvSpPr/>
          <p:nvPr/>
        </p:nvSpPr>
        <p:spPr>
          <a:xfrm>
            <a:off x="1008063" y="390552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802" name="Google Shape;802;p62"/>
          <p:cNvSpPr/>
          <p:nvPr/>
        </p:nvSpPr>
        <p:spPr>
          <a:xfrm>
            <a:off x="8632825" y="2041525"/>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j</a:t>
            </a:r>
            <a:endParaRPr/>
          </a:p>
        </p:txBody>
      </p:sp>
      <p:sp>
        <p:nvSpPr>
          <p:cNvPr id="803" name="Google Shape;803;p62"/>
          <p:cNvSpPr/>
          <p:nvPr/>
        </p:nvSpPr>
        <p:spPr>
          <a:xfrm>
            <a:off x="2214562" y="2870200"/>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500"/>
                                        <p:tgtEl>
                                          <p:spTgt spid="802"/>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02"/>
                                        </p:tgtEl>
                                      </p:cBhvr>
                                    </p:animEffect>
                                    <p:set>
                                      <p:cBhvr>
                                        <p:cTn dur="1" fill="hold">
                                          <p:stCondLst>
                                            <p:cond delay="500"/>
                                          </p:stCondLst>
                                        </p:cTn>
                                        <p:tgtEl>
                                          <p:spTgt spid="802"/>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785"/>
                                        </p:tgtEl>
                                      </p:cBhvr>
                                    </p:animEffect>
                                    <p:set>
                                      <p:cBhvr>
                                        <p:cTn dur="1" fill="hold">
                                          <p:stCondLst>
                                            <p:cond delay="1000"/>
                                          </p:stCondLst>
                                        </p:cTn>
                                        <p:tgtEl>
                                          <p:spTgt spid="7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1000"/>
                                        <p:tgtEl>
                                          <p:spTgt spid="8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6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a:t>
            </a:r>
            <a:endParaRPr/>
          </a:p>
        </p:txBody>
      </p:sp>
      <p:sp>
        <p:nvSpPr>
          <p:cNvPr id="809" name="Google Shape;809;p63"/>
          <p:cNvSpPr/>
          <p:nvPr/>
        </p:nvSpPr>
        <p:spPr>
          <a:xfrm>
            <a:off x="2198687"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810" name="Google Shape;810;p63"/>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811" name="Google Shape;811;p63"/>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812" name="Google Shape;812;p63"/>
          <p:cNvSpPr/>
          <p:nvPr/>
        </p:nvSpPr>
        <p:spPr>
          <a:xfrm>
            <a:off x="55245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813" name="Google Shape;813;p63"/>
          <p:cNvSpPr/>
          <p:nvPr/>
        </p:nvSpPr>
        <p:spPr>
          <a:xfrm>
            <a:off x="6630987"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814" name="Google Shape;814;p63"/>
          <p:cNvSpPr/>
          <p:nvPr/>
        </p:nvSpPr>
        <p:spPr>
          <a:xfrm>
            <a:off x="774065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815" name="Google Shape;815;p63"/>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816" name="Google Shape;816;p63"/>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817" name="Google Shape;817;p63"/>
          <p:cNvGrpSpPr/>
          <p:nvPr/>
        </p:nvGrpSpPr>
        <p:grpSpPr>
          <a:xfrm>
            <a:off x="1108075" y="3416300"/>
            <a:ext cx="8550275" cy="608012"/>
            <a:chOff x="644" y="1153"/>
            <a:chExt cx="4972" cy="383"/>
          </a:xfrm>
        </p:grpSpPr>
        <p:sp>
          <p:nvSpPr>
            <p:cNvPr id="818" name="Google Shape;818;p63"/>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819" name="Google Shape;819;p63"/>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820" name="Google Shape;820;p63"/>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821" name="Google Shape;821;p63"/>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822" name="Google Shape;822;p63"/>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823" name="Google Shape;823;p63"/>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824" name="Google Shape;824;p63"/>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825" name="Google Shape;825;p63"/>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826" name="Google Shape;826;p63"/>
          <p:cNvSpPr/>
          <p:nvPr/>
        </p:nvSpPr>
        <p:spPr>
          <a:xfrm>
            <a:off x="2098675" y="402430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827" name="Google Shape;827;p63"/>
          <p:cNvSpPr/>
          <p:nvPr/>
        </p:nvSpPr>
        <p:spPr>
          <a:xfrm>
            <a:off x="8632825" y="2041525"/>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j</a:t>
            </a:r>
            <a:endParaRPr/>
          </a:p>
        </p:txBody>
      </p:sp>
      <p:sp>
        <p:nvSpPr>
          <p:cNvPr id="828" name="Google Shape;828;p63"/>
          <p:cNvSpPr/>
          <p:nvPr/>
        </p:nvSpPr>
        <p:spPr>
          <a:xfrm>
            <a:off x="3315537" y="2871862"/>
            <a:ext cx="790500" cy="6174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500"/>
                                        <p:tgtEl>
                                          <p:spTgt spid="82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27"/>
                                        </p:tgtEl>
                                      </p:cBhvr>
                                    </p:animEffect>
                                    <p:set>
                                      <p:cBhvr>
                                        <p:cTn dur="1" fill="hold">
                                          <p:stCondLst>
                                            <p:cond delay="500"/>
                                          </p:stCondLst>
                                        </p:cTn>
                                        <p:tgtEl>
                                          <p:spTgt spid="827"/>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811"/>
                                        </p:tgtEl>
                                      </p:cBhvr>
                                    </p:animEffect>
                                    <p:set>
                                      <p:cBhvr>
                                        <p:cTn dur="1" fill="hold">
                                          <p:stCondLst>
                                            <p:cond delay="1000"/>
                                          </p:stCondLst>
                                        </p:cTn>
                                        <p:tgtEl>
                                          <p:spTgt spid="81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1000"/>
                                        <p:tgtEl>
                                          <p:spTgt spid="8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6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a:t>
            </a:r>
            <a:endParaRPr/>
          </a:p>
        </p:txBody>
      </p:sp>
      <p:sp>
        <p:nvSpPr>
          <p:cNvPr id="834" name="Google Shape;834;p64"/>
          <p:cNvSpPr/>
          <p:nvPr/>
        </p:nvSpPr>
        <p:spPr>
          <a:xfrm>
            <a:off x="2198687"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835" name="Google Shape;835;p64"/>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836" name="Google Shape;836;p64"/>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837" name="Google Shape;837;p64"/>
          <p:cNvSpPr/>
          <p:nvPr/>
        </p:nvSpPr>
        <p:spPr>
          <a:xfrm>
            <a:off x="55245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838" name="Google Shape;838;p64"/>
          <p:cNvSpPr/>
          <p:nvPr/>
        </p:nvSpPr>
        <p:spPr>
          <a:xfrm>
            <a:off x="6630987"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839" name="Google Shape;839;p64"/>
          <p:cNvSpPr/>
          <p:nvPr/>
        </p:nvSpPr>
        <p:spPr>
          <a:xfrm>
            <a:off x="774065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840" name="Google Shape;840;p64"/>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841" name="Google Shape;841;p64"/>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842" name="Google Shape;842;p64"/>
          <p:cNvGrpSpPr/>
          <p:nvPr/>
        </p:nvGrpSpPr>
        <p:grpSpPr>
          <a:xfrm>
            <a:off x="1108075" y="3421062"/>
            <a:ext cx="8550275" cy="608012"/>
            <a:chOff x="644" y="1153"/>
            <a:chExt cx="4972" cy="383"/>
          </a:xfrm>
        </p:grpSpPr>
        <p:sp>
          <p:nvSpPr>
            <p:cNvPr id="843" name="Google Shape;843;p64"/>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844" name="Google Shape;844;p64"/>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845" name="Google Shape;845;p64"/>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846" name="Google Shape;846;p64"/>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847" name="Google Shape;847;p64"/>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848" name="Google Shape;848;p64"/>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849" name="Google Shape;849;p64"/>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850" name="Google Shape;850;p64"/>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851" name="Google Shape;851;p64"/>
          <p:cNvSpPr/>
          <p:nvPr/>
        </p:nvSpPr>
        <p:spPr>
          <a:xfrm>
            <a:off x="3224213" y="402907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852" name="Google Shape;852;p64"/>
          <p:cNvSpPr/>
          <p:nvPr/>
        </p:nvSpPr>
        <p:spPr>
          <a:xfrm>
            <a:off x="8632825" y="2041525"/>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j</a:t>
            </a:r>
            <a:endParaRPr/>
          </a:p>
        </p:txBody>
      </p:sp>
      <p:sp>
        <p:nvSpPr>
          <p:cNvPr id="853" name="Google Shape;853;p64"/>
          <p:cNvSpPr/>
          <p:nvPr/>
        </p:nvSpPr>
        <p:spPr>
          <a:xfrm>
            <a:off x="4448175" y="2882900"/>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500"/>
                                        <p:tgtEl>
                                          <p:spTgt spid="852"/>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52"/>
                                        </p:tgtEl>
                                      </p:cBhvr>
                                    </p:animEffect>
                                    <p:set>
                                      <p:cBhvr>
                                        <p:cTn dur="1" fill="hold">
                                          <p:stCondLst>
                                            <p:cond delay="500"/>
                                          </p:stCondLst>
                                        </p:cTn>
                                        <p:tgtEl>
                                          <p:spTgt spid="852"/>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838"/>
                                        </p:tgtEl>
                                      </p:cBhvr>
                                    </p:animEffect>
                                    <p:set>
                                      <p:cBhvr>
                                        <p:cTn dur="1" fill="hold">
                                          <p:stCondLst>
                                            <p:cond delay="1000"/>
                                          </p:stCondLst>
                                        </p:cTn>
                                        <p:tgtEl>
                                          <p:spTgt spid="83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1000"/>
                                        <p:tgtEl>
                                          <p:spTgt spid="8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6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a:t>
            </a:r>
            <a:endParaRPr/>
          </a:p>
        </p:txBody>
      </p:sp>
      <p:sp>
        <p:nvSpPr>
          <p:cNvPr id="859" name="Google Shape;859;p65"/>
          <p:cNvSpPr/>
          <p:nvPr/>
        </p:nvSpPr>
        <p:spPr>
          <a:xfrm>
            <a:off x="2198687"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860" name="Google Shape;860;p65"/>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861" name="Google Shape;861;p65"/>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862" name="Google Shape;862;p65"/>
          <p:cNvSpPr/>
          <p:nvPr/>
        </p:nvSpPr>
        <p:spPr>
          <a:xfrm>
            <a:off x="55245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863" name="Google Shape;863;p65"/>
          <p:cNvSpPr/>
          <p:nvPr/>
        </p:nvSpPr>
        <p:spPr>
          <a:xfrm>
            <a:off x="6630987"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864" name="Google Shape;864;p65"/>
          <p:cNvSpPr/>
          <p:nvPr/>
        </p:nvSpPr>
        <p:spPr>
          <a:xfrm>
            <a:off x="774065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865" name="Google Shape;865;p65"/>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866" name="Google Shape;866;p65"/>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867" name="Google Shape;867;p65"/>
          <p:cNvGrpSpPr/>
          <p:nvPr/>
        </p:nvGrpSpPr>
        <p:grpSpPr>
          <a:xfrm>
            <a:off x="1108075" y="3416300"/>
            <a:ext cx="8550275" cy="608012"/>
            <a:chOff x="644" y="1153"/>
            <a:chExt cx="4972" cy="383"/>
          </a:xfrm>
        </p:grpSpPr>
        <p:sp>
          <p:nvSpPr>
            <p:cNvPr id="868" name="Google Shape;868;p6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869" name="Google Shape;869;p6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870" name="Google Shape;870;p6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871" name="Google Shape;871;p6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872" name="Google Shape;872;p6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873" name="Google Shape;873;p6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874" name="Google Shape;874;p6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875" name="Google Shape;875;p6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876" name="Google Shape;876;p65"/>
          <p:cNvSpPr/>
          <p:nvPr/>
        </p:nvSpPr>
        <p:spPr>
          <a:xfrm>
            <a:off x="4332300" y="389350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877" name="Google Shape;877;p65"/>
          <p:cNvSpPr/>
          <p:nvPr/>
        </p:nvSpPr>
        <p:spPr>
          <a:xfrm>
            <a:off x="8632825" y="2041525"/>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j</a:t>
            </a:r>
            <a:endParaRPr/>
          </a:p>
        </p:txBody>
      </p:sp>
      <p:sp>
        <p:nvSpPr>
          <p:cNvPr id="878" name="Google Shape;878;p65"/>
          <p:cNvSpPr/>
          <p:nvPr/>
        </p:nvSpPr>
        <p:spPr>
          <a:xfrm>
            <a:off x="5527675" y="2874962"/>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500"/>
                                        <p:tgtEl>
                                          <p:spTgt spid="87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77"/>
                                        </p:tgtEl>
                                      </p:cBhvr>
                                    </p:animEffect>
                                    <p:set>
                                      <p:cBhvr>
                                        <p:cTn dur="1" fill="hold">
                                          <p:stCondLst>
                                            <p:cond delay="500"/>
                                          </p:stCondLst>
                                        </p:cTn>
                                        <p:tgtEl>
                                          <p:spTgt spid="877"/>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864"/>
                                        </p:tgtEl>
                                      </p:cBhvr>
                                    </p:animEffect>
                                    <p:set>
                                      <p:cBhvr>
                                        <p:cTn dur="1" fill="hold">
                                          <p:stCondLst>
                                            <p:cond delay="1000"/>
                                          </p:stCondLst>
                                        </p:cTn>
                                        <p:tgtEl>
                                          <p:spTgt spid="86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1000"/>
                                        <p:tgtEl>
                                          <p:spTgt spid="8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6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a:t>
            </a:r>
            <a:endParaRPr/>
          </a:p>
        </p:txBody>
      </p:sp>
      <p:sp>
        <p:nvSpPr>
          <p:cNvPr id="884" name="Google Shape;884;p66"/>
          <p:cNvSpPr/>
          <p:nvPr/>
        </p:nvSpPr>
        <p:spPr>
          <a:xfrm>
            <a:off x="2198687"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885" name="Google Shape;885;p66"/>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886" name="Google Shape;886;p66"/>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887" name="Google Shape;887;p66"/>
          <p:cNvSpPr/>
          <p:nvPr/>
        </p:nvSpPr>
        <p:spPr>
          <a:xfrm>
            <a:off x="55245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888" name="Google Shape;888;p66"/>
          <p:cNvSpPr/>
          <p:nvPr/>
        </p:nvSpPr>
        <p:spPr>
          <a:xfrm>
            <a:off x="6630987"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889" name="Google Shape;889;p66"/>
          <p:cNvSpPr/>
          <p:nvPr/>
        </p:nvSpPr>
        <p:spPr>
          <a:xfrm>
            <a:off x="774065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890" name="Google Shape;890;p66"/>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891" name="Google Shape;891;p66"/>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892" name="Google Shape;892;p66"/>
          <p:cNvGrpSpPr/>
          <p:nvPr/>
        </p:nvGrpSpPr>
        <p:grpSpPr>
          <a:xfrm>
            <a:off x="1108075" y="3421062"/>
            <a:ext cx="8550275" cy="608012"/>
            <a:chOff x="644" y="1153"/>
            <a:chExt cx="4972" cy="383"/>
          </a:xfrm>
        </p:grpSpPr>
        <p:sp>
          <p:nvSpPr>
            <p:cNvPr id="893" name="Google Shape;893;p66"/>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894" name="Google Shape;894;p66"/>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895" name="Google Shape;895;p66"/>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896" name="Google Shape;896;p66"/>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897" name="Google Shape;897;p66"/>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898" name="Google Shape;898;p66"/>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899" name="Google Shape;899;p66"/>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900" name="Google Shape;900;p66"/>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901" name="Google Shape;901;p66"/>
          <p:cNvSpPr/>
          <p:nvPr/>
        </p:nvSpPr>
        <p:spPr>
          <a:xfrm>
            <a:off x="5424488" y="396580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902" name="Google Shape;902;p66"/>
          <p:cNvSpPr/>
          <p:nvPr/>
        </p:nvSpPr>
        <p:spPr>
          <a:xfrm>
            <a:off x="8632825" y="2041525"/>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j</a:t>
            </a:r>
            <a:endParaRPr/>
          </a:p>
        </p:txBody>
      </p:sp>
      <p:sp>
        <p:nvSpPr>
          <p:cNvPr id="903" name="Google Shape;903;p66"/>
          <p:cNvSpPr/>
          <p:nvPr/>
        </p:nvSpPr>
        <p:spPr>
          <a:xfrm>
            <a:off x="6629400" y="2870200"/>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500"/>
                                        <p:tgtEl>
                                          <p:spTgt spid="902"/>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902"/>
                                        </p:tgtEl>
                                      </p:cBhvr>
                                    </p:animEffect>
                                    <p:set>
                                      <p:cBhvr>
                                        <p:cTn dur="1" fill="hold">
                                          <p:stCondLst>
                                            <p:cond delay="500"/>
                                          </p:stCondLst>
                                        </p:cTn>
                                        <p:tgtEl>
                                          <p:spTgt spid="902"/>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889"/>
                                        </p:tgtEl>
                                      </p:cBhvr>
                                    </p:animEffect>
                                    <p:set>
                                      <p:cBhvr>
                                        <p:cTn dur="1" fill="hold">
                                          <p:stCondLst>
                                            <p:cond delay="1000"/>
                                          </p:stCondLst>
                                        </p:cTn>
                                        <p:tgtEl>
                                          <p:spTgt spid="88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1000"/>
                                        <p:tgtEl>
                                          <p:spTgt spid="9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6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a:t>
            </a:r>
            <a:endParaRPr/>
          </a:p>
        </p:txBody>
      </p:sp>
      <p:sp>
        <p:nvSpPr>
          <p:cNvPr id="909" name="Google Shape;909;p67"/>
          <p:cNvSpPr/>
          <p:nvPr/>
        </p:nvSpPr>
        <p:spPr>
          <a:xfrm>
            <a:off x="2198687"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910" name="Google Shape;910;p67"/>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911" name="Google Shape;911;p67"/>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912" name="Google Shape;912;p67"/>
          <p:cNvSpPr/>
          <p:nvPr/>
        </p:nvSpPr>
        <p:spPr>
          <a:xfrm>
            <a:off x="55245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913" name="Google Shape;913;p67"/>
          <p:cNvSpPr/>
          <p:nvPr/>
        </p:nvSpPr>
        <p:spPr>
          <a:xfrm>
            <a:off x="6630987"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914" name="Google Shape;914;p67"/>
          <p:cNvSpPr/>
          <p:nvPr/>
        </p:nvSpPr>
        <p:spPr>
          <a:xfrm>
            <a:off x="774065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915" name="Google Shape;915;p67"/>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916" name="Google Shape;916;p67"/>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917" name="Google Shape;917;p67"/>
          <p:cNvGrpSpPr/>
          <p:nvPr/>
        </p:nvGrpSpPr>
        <p:grpSpPr>
          <a:xfrm>
            <a:off x="1108075" y="2287587"/>
            <a:ext cx="8550275" cy="608012"/>
            <a:chOff x="644" y="1153"/>
            <a:chExt cx="4972" cy="383"/>
          </a:xfrm>
        </p:grpSpPr>
        <p:sp>
          <p:nvSpPr>
            <p:cNvPr id="918" name="Google Shape;918;p67"/>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919" name="Google Shape;919;p67"/>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920" name="Google Shape;920;p67"/>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921" name="Google Shape;921;p67"/>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922" name="Google Shape;922;p67"/>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923" name="Google Shape;923;p67"/>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924" name="Google Shape;924;p67"/>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925" name="Google Shape;925;p67"/>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926" name="Google Shape;926;p67"/>
          <p:cNvSpPr/>
          <p:nvPr/>
        </p:nvSpPr>
        <p:spPr>
          <a:xfrm>
            <a:off x="6537325" y="3556000"/>
            <a:ext cx="990600" cy="823912"/>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927" name="Google Shape;927;p67"/>
          <p:cNvSpPr/>
          <p:nvPr/>
        </p:nvSpPr>
        <p:spPr>
          <a:xfrm>
            <a:off x="8643938" y="1607625"/>
            <a:ext cx="1238400" cy="769800"/>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j</a:t>
            </a:r>
            <a:endParaRPr/>
          </a:p>
        </p:txBody>
      </p:sp>
      <p:sp>
        <p:nvSpPr>
          <p:cNvPr id="928" name="Google Shape;928;p67"/>
          <p:cNvSpPr/>
          <p:nvPr/>
        </p:nvSpPr>
        <p:spPr>
          <a:xfrm>
            <a:off x="8878887" y="286543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929" name="Google Shape;929;p67"/>
          <p:cNvSpPr/>
          <p:nvPr/>
        </p:nvSpPr>
        <p:spPr>
          <a:xfrm>
            <a:off x="7743825" y="2870200"/>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500"/>
                                        <p:tgtEl>
                                          <p:spTgt spid="92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927"/>
                                        </p:tgtEl>
                                      </p:cBhvr>
                                    </p:animEffect>
                                    <p:set>
                                      <p:cBhvr>
                                        <p:cTn dur="1" fill="hold">
                                          <p:stCondLst>
                                            <p:cond delay="500"/>
                                          </p:stCondLst>
                                        </p:cTn>
                                        <p:tgtEl>
                                          <p:spTgt spid="927"/>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914"/>
                                        </p:tgtEl>
                                      </p:cBhvr>
                                    </p:animEffect>
                                    <p:set>
                                      <p:cBhvr>
                                        <p:cTn dur="1" fill="hold">
                                          <p:stCondLst>
                                            <p:cond delay="1000"/>
                                          </p:stCondLst>
                                        </p:cTn>
                                        <p:tgtEl>
                                          <p:spTgt spid="91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1000"/>
                                        <p:tgtEl>
                                          <p:spTgt spid="929"/>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1000"/>
                                        <p:tgtEl>
                                          <p:spTgt spid="915"/>
                                        </p:tgtEl>
                                      </p:cBhvr>
                                    </p:animEffect>
                                    <p:set>
                                      <p:cBhvr>
                                        <p:cTn dur="1" fill="hold">
                                          <p:stCondLst>
                                            <p:cond delay="1000"/>
                                          </p:stCondLst>
                                        </p:cTn>
                                        <p:tgtEl>
                                          <p:spTgt spid="91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1000"/>
                                        <p:tgtEl>
                                          <p:spTgt spid="928"/>
                                        </p:tgtEl>
                                      </p:cBhvr>
                                    </p:animEffect>
                                  </p:childTnLst>
                                </p:cTn>
                              </p:par>
                            </p:childTnLst>
                          </p:cTn>
                        </p:par>
                        <p:par>
                          <p:cTn fill="hold">
                            <p:stCondLst>
                              <p:cond delay="3000"/>
                            </p:stCondLst>
                            <p:childTnLst>
                              <p:par>
                                <p:cTn fill="hold" nodeType="afterEffect" presetClass="exit" presetID="10" presetSubtype="0">
                                  <p:stCondLst>
                                    <p:cond delay="0"/>
                                  </p:stCondLst>
                                  <p:childTnLst>
                                    <p:animEffect filter="fade" transition="out">
                                      <p:cBhvr>
                                        <p:cTn dur="500"/>
                                        <p:tgtEl>
                                          <p:spTgt spid="926"/>
                                        </p:tgtEl>
                                      </p:cBhvr>
                                    </p:animEffect>
                                    <p:set>
                                      <p:cBhvr>
                                        <p:cTn dur="1" fill="hold">
                                          <p:stCondLst>
                                            <p:cond delay="500"/>
                                          </p:stCondLst>
                                        </p:cTn>
                                        <p:tgtEl>
                                          <p:spTgt spid="9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6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Độ Phức Tạp Của Thuật Toán Nổi Bọt</a:t>
            </a:r>
            <a:endParaRPr/>
          </a:p>
        </p:txBody>
      </p:sp>
      <p:pic>
        <p:nvPicPr>
          <p:cNvPr id="935" name="Google Shape;935;p68"/>
          <p:cNvPicPr preferRelativeResize="0"/>
          <p:nvPr/>
        </p:nvPicPr>
        <p:blipFill rotWithShape="1">
          <a:blip r:embed="rId3">
            <a:alphaModFix/>
          </a:blip>
          <a:srcRect b="0" l="0" r="0" t="0"/>
          <a:stretch/>
        </p:blipFill>
        <p:spPr>
          <a:xfrm>
            <a:off x="849312" y="1700212"/>
            <a:ext cx="8785225" cy="3529012"/>
          </a:xfrm>
          <a:prstGeom prst="rect">
            <a:avLst/>
          </a:prstGeom>
          <a:noFill/>
          <a:ln>
            <a:noFill/>
          </a:ln>
        </p:spPr>
      </p:pic>
      <p:sp>
        <p:nvSpPr>
          <p:cNvPr id="936" name="Google Shape;936;p68"/>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463550" lvl="0" marL="463550" rtl="0" algn="l">
              <a:lnSpc>
                <a:spcPct val="120000"/>
              </a:lnSpc>
              <a:spcBef>
                <a:spcPts val="480"/>
              </a:spcBef>
              <a:spcAft>
                <a:spcPts val="0"/>
              </a:spcAft>
              <a:buNone/>
            </a:pPr>
            <a:r>
              <a:t/>
            </a:r>
            <a:endParaRPr sz="280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7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Các Bước Của Thuật Toán</a:t>
            </a:r>
            <a:endParaRPr/>
          </a:p>
        </p:txBody>
      </p:sp>
      <p:sp>
        <p:nvSpPr>
          <p:cNvPr id="942" name="Google Shape;942;p71"/>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80000"/>
              </a:lnSpc>
              <a:spcBef>
                <a:spcPts val="0"/>
              </a:spcBef>
              <a:spcAft>
                <a:spcPts val="0"/>
              </a:spcAft>
              <a:buClr>
                <a:schemeClr val="dk1"/>
              </a:buClr>
              <a:buSzPts val="1800"/>
              <a:buFont typeface="Noto Sans Symbols"/>
              <a:buChar char="⮚"/>
            </a:pPr>
            <a:r>
              <a:rPr b="0" i="0" lang="en-US" sz="1800" u="sng">
                <a:solidFill>
                  <a:schemeClr val="dk1"/>
                </a:solidFill>
                <a:latin typeface="Arial"/>
                <a:ea typeface="Arial"/>
                <a:cs typeface="Arial"/>
                <a:sym typeface="Arial"/>
              </a:rPr>
              <a:t>Bước 1</a:t>
            </a:r>
            <a:r>
              <a:rPr b="0" i="0" lang="en-US" sz="1800" u="none">
                <a:solidFill>
                  <a:schemeClr val="dk1"/>
                </a:solidFill>
                <a:latin typeface="Arial"/>
                <a:ea typeface="Arial"/>
                <a:cs typeface="Arial"/>
                <a:sym typeface="Arial"/>
              </a:rPr>
              <a:t>: l=0; r=n-1;</a:t>
            </a:r>
            <a:r>
              <a:rPr b="0" i="0" lang="en-US" sz="1400" u="none">
                <a:solidFill>
                  <a:schemeClr val="dk1"/>
                </a:solidFill>
                <a:latin typeface="Arial"/>
                <a:ea typeface="Arial"/>
                <a:cs typeface="Arial"/>
                <a:sym typeface="Arial"/>
              </a:rPr>
              <a:t>//đoạn l-&gt;r là đoạn cần được sắp xếp</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k=n;</a:t>
            </a:r>
            <a:r>
              <a:rPr b="0" i="0" lang="en-US" sz="1400" u="none">
                <a:solidFill>
                  <a:schemeClr val="dk1"/>
                </a:solidFill>
                <a:latin typeface="Arial"/>
                <a:ea typeface="Arial"/>
                <a:cs typeface="Arial"/>
                <a:sym typeface="Arial"/>
              </a:rPr>
              <a:t>//ghi nhận vị trí k xảy ra hoán vị sau cùng để làm cơ sơ thu hẹp đoạn l-&gt;r</a:t>
            </a:r>
            <a:endParaRPr/>
          </a:p>
          <a:p>
            <a:pPr indent="-463550" lvl="0" marL="463550" rtl="0" algn="l">
              <a:lnSpc>
                <a:spcPct val="80000"/>
              </a:lnSpc>
              <a:spcBef>
                <a:spcPts val="360"/>
              </a:spcBef>
              <a:spcAft>
                <a:spcPts val="0"/>
              </a:spcAft>
              <a:buClr>
                <a:schemeClr val="dk1"/>
              </a:buClr>
              <a:buSzPts val="1800"/>
              <a:buFont typeface="Noto Sans Symbols"/>
              <a:buChar char="⮚"/>
            </a:pPr>
            <a:r>
              <a:rPr b="0" i="0" lang="en-US" sz="1800" u="sng">
                <a:solidFill>
                  <a:schemeClr val="dk1"/>
                </a:solidFill>
                <a:latin typeface="Arial"/>
                <a:ea typeface="Arial"/>
                <a:cs typeface="Arial"/>
                <a:sym typeface="Arial"/>
              </a:rPr>
              <a:t>Bước 2</a:t>
            </a:r>
            <a:r>
              <a:rPr b="0" i="0" lang="en-US" sz="1800" u="none">
                <a:solidFill>
                  <a:schemeClr val="dk1"/>
                </a:solidFill>
                <a:latin typeface="Arial"/>
                <a:ea typeface="Arial"/>
                <a:cs typeface="Arial"/>
                <a:sym typeface="Arial"/>
              </a:rPr>
              <a:t>: </a:t>
            </a:r>
            <a:endParaRPr/>
          </a:p>
          <a:p>
            <a:pPr indent="-446087" lvl="1" marL="1023937" rtl="0" algn="l">
              <a:lnSpc>
                <a:spcPct val="80000"/>
              </a:lnSpc>
              <a:spcBef>
                <a:spcPts val="400"/>
              </a:spcBef>
              <a:spcAft>
                <a:spcPts val="0"/>
              </a:spcAft>
              <a:buClr>
                <a:schemeClr val="dk1"/>
              </a:buClr>
              <a:buSzPts val="2000"/>
              <a:buNone/>
            </a:pPr>
            <a:r>
              <a:rPr b="0" i="0" lang="en-US" sz="2000" u="sng">
                <a:solidFill>
                  <a:schemeClr val="dk1"/>
                </a:solidFill>
                <a:latin typeface="Arial"/>
                <a:ea typeface="Arial"/>
                <a:cs typeface="Arial"/>
                <a:sym typeface="Arial"/>
              </a:rPr>
              <a:t>Bước 2a</a:t>
            </a:r>
            <a:r>
              <a:rPr b="0" i="0" lang="en-US" sz="2000" u="none">
                <a:solidFill>
                  <a:schemeClr val="dk1"/>
                </a:solidFill>
                <a:latin typeface="Arial"/>
                <a:ea typeface="Arial"/>
                <a:cs typeface="Arial"/>
                <a:sym typeface="Arial"/>
              </a:rPr>
              <a:t>: </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j=r;//đẩy phần tử nhỏ về đầu mảng</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Trong khi j&gt;l </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nếu a[j]&lt;a[j-1] thì Doicho(a[j],a[j-1])</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j--;</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l=k;//loại phần tử đã có thứ tự ở đầu dãy</a:t>
            </a:r>
            <a:endParaRPr/>
          </a:p>
          <a:p>
            <a:pPr indent="-446087" lvl="1" marL="1023937" rtl="0" algn="l">
              <a:lnSpc>
                <a:spcPct val="80000"/>
              </a:lnSpc>
              <a:spcBef>
                <a:spcPts val="400"/>
              </a:spcBef>
              <a:spcAft>
                <a:spcPts val="0"/>
              </a:spcAft>
              <a:buClr>
                <a:schemeClr val="dk1"/>
              </a:buClr>
              <a:buSzPts val="2000"/>
              <a:buNone/>
            </a:pPr>
            <a:r>
              <a:rPr b="0" i="0" lang="en-US" sz="2000" u="sng">
                <a:solidFill>
                  <a:schemeClr val="dk1"/>
                </a:solidFill>
                <a:latin typeface="Arial"/>
                <a:ea typeface="Arial"/>
                <a:cs typeface="Arial"/>
                <a:sym typeface="Arial"/>
              </a:rPr>
              <a:t>Bước 2b</a:t>
            </a:r>
            <a:r>
              <a:rPr b="0" i="0" lang="en-US" sz="2000" u="none">
                <a:solidFill>
                  <a:schemeClr val="dk1"/>
                </a:solidFill>
                <a:latin typeface="Arial"/>
                <a:ea typeface="Arial"/>
                <a:cs typeface="Arial"/>
                <a:sym typeface="Arial"/>
              </a:rPr>
              <a:t>: j=l</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Trong khi j&lt;r </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nếu a[j]&gt;a[j+1] thì Doicho(a[j],a[j+1])</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j++</a:t>
            </a:r>
            <a:endParaRPr/>
          </a:p>
          <a:p>
            <a:pPr indent="-446087" lvl="1" marL="1023937" rtl="0" algn="l">
              <a:lnSpc>
                <a:spcPct val="80000"/>
              </a:lnSpc>
              <a:spcBef>
                <a:spcPts val="400"/>
              </a:spcBef>
              <a:spcAft>
                <a:spcPts val="0"/>
              </a:spcAft>
              <a:buClr>
                <a:schemeClr val="dk1"/>
              </a:buClr>
              <a:buSzPts val="2000"/>
              <a:buNone/>
            </a:pPr>
            <a:r>
              <a:rPr b="0" i="0" lang="en-US" sz="2000" u="none">
                <a:solidFill>
                  <a:schemeClr val="dk1"/>
                </a:solidFill>
                <a:latin typeface="Arial"/>
                <a:ea typeface="Arial"/>
                <a:cs typeface="Arial"/>
                <a:sym typeface="Arial"/>
              </a:rPr>
              <a:t>			r=k;//loại các phần tử đã có thứ tự ở cuối dãy	</a:t>
            </a:r>
            <a:endParaRPr/>
          </a:p>
          <a:p>
            <a:pPr indent="-463550" lvl="0" marL="463550" rtl="0" algn="l">
              <a:lnSpc>
                <a:spcPct val="80000"/>
              </a:lnSpc>
              <a:spcBef>
                <a:spcPts val="360"/>
              </a:spcBef>
              <a:spcAft>
                <a:spcPts val="0"/>
              </a:spcAft>
              <a:buClr>
                <a:schemeClr val="dk1"/>
              </a:buClr>
              <a:buSzPts val="1800"/>
              <a:buFont typeface="Noto Sans Symbols"/>
              <a:buChar char="⮚"/>
            </a:pPr>
            <a:r>
              <a:rPr b="0" i="0" lang="en-US" sz="1800" u="sng">
                <a:solidFill>
                  <a:schemeClr val="dk1"/>
                </a:solidFill>
                <a:latin typeface="Arial"/>
                <a:ea typeface="Arial"/>
                <a:cs typeface="Arial"/>
                <a:sym typeface="Arial"/>
              </a:rPr>
              <a:t>Bước 3</a:t>
            </a:r>
            <a:r>
              <a:rPr b="0" i="0" lang="en-US" sz="1800" u="none">
                <a:solidFill>
                  <a:schemeClr val="dk1"/>
                </a:solidFill>
                <a:latin typeface="Arial"/>
                <a:ea typeface="Arial"/>
                <a:cs typeface="Arial"/>
                <a:sym typeface="Arial"/>
              </a:rPr>
              <a:t>: 	Nếu l&lt;r lặp lại bước 2</a:t>
            </a:r>
            <a:endParaRPr/>
          </a:p>
          <a:p>
            <a:pPr indent="-349248" lvl="4" marL="2401887"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Ngược lại: dừng</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70"/>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Shaker Sort</a:t>
            </a:r>
            <a:endParaRPr/>
          </a:p>
        </p:txBody>
      </p:sp>
      <p:sp>
        <p:nvSpPr>
          <p:cNvPr id="948" name="Google Shape;948;p70"/>
          <p:cNvSpPr txBox="1"/>
          <p:nvPr>
            <p:ph idx="1" type="body"/>
          </p:nvPr>
        </p:nvSpPr>
        <p:spPr>
          <a:xfrm>
            <a:off x="992187" y="1308100"/>
            <a:ext cx="8569200" cy="4192500"/>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Trong mỗi lần sắp xếp, duyệt mảng theo 2 lượt từ 2 phía khác nhau: </a:t>
            </a:r>
            <a:endParaRPr/>
          </a:p>
          <a:p>
            <a:pPr indent="-446087" lvl="1" marL="1023937"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Lượt đi: đẩy phần tử nhỏ về đầu mảng.</a:t>
            </a:r>
            <a:endParaRPr/>
          </a:p>
          <a:p>
            <a:pPr indent="-446087" lvl="1" marL="1023937"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Lượt về: đẩy phần tử lớn về cuối mảng. </a:t>
            </a:r>
            <a:endParaRPr/>
          </a:p>
          <a:p>
            <a:pPr indent="-463550" lvl="0" marL="463550"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Ghi nhận lại những đoạn đã sắp xếp nhằm tiết kiệm các phép so sánh thừa.</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2"/>
          <p:cNvSpPr txBox="1"/>
          <p:nvPr>
            <p:ph type="title"/>
          </p:nvPr>
        </p:nvSpPr>
        <p:spPr>
          <a:xfrm>
            <a:off x="704850" y="-26987"/>
            <a:ext cx="9201300" cy="792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Cài Đặt Thuật Toán Shaker Sort</a:t>
            </a:r>
            <a:endParaRPr/>
          </a:p>
        </p:txBody>
      </p:sp>
      <p:sp>
        <p:nvSpPr>
          <p:cNvPr id="954" name="Google Shape;954;p72"/>
          <p:cNvSpPr txBox="1"/>
          <p:nvPr>
            <p:ph idx="1" type="body"/>
          </p:nvPr>
        </p:nvSpPr>
        <p:spPr>
          <a:xfrm>
            <a:off x="1943846" y="1799503"/>
            <a:ext cx="9129600" cy="5949900"/>
          </a:xfrm>
          <a:prstGeom prst="rect">
            <a:avLst/>
          </a:prstGeom>
          <a:noFill/>
          <a:ln>
            <a:noFill/>
          </a:ln>
        </p:spPr>
        <p:txBody>
          <a:bodyPr anchorCtr="0" anchor="t" bIns="45700" lIns="91425" spcFirstLastPara="1" rIns="91425" wrap="square" tIns="45700">
            <a:noAutofit/>
          </a:bodyPr>
          <a:lstStyle/>
          <a:p>
            <a:pPr indent="-446087" lvl="1" marL="1023937" rtl="0" algn="l">
              <a:lnSpc>
                <a:spcPct val="80000"/>
              </a:lnSpc>
              <a:spcBef>
                <a:spcPts val="0"/>
              </a:spcBef>
              <a:spcAft>
                <a:spcPts val="0"/>
              </a:spcAft>
              <a:buClr>
                <a:srgbClr val="0000FF"/>
              </a:buClr>
              <a:buSzPts val="2400"/>
              <a:buNone/>
            </a:pPr>
            <a:r>
              <a:rPr b="0" i="0" lang="en-US" sz="2400" u="none">
                <a:solidFill>
                  <a:srgbClr val="0000FF"/>
                </a:solidFill>
                <a:latin typeface="Arial"/>
                <a:ea typeface="Arial"/>
                <a:cs typeface="Arial"/>
                <a:sym typeface="Arial"/>
              </a:rPr>
              <a:t>void</a:t>
            </a:r>
            <a:r>
              <a:rPr b="0" i="0" lang="en-US" sz="2400" u="none">
                <a:solidFill>
                  <a:schemeClr val="dk1"/>
                </a:solidFill>
                <a:latin typeface="Arial"/>
                <a:ea typeface="Arial"/>
                <a:cs typeface="Arial"/>
                <a:sym typeface="Arial"/>
              </a:rPr>
              <a:t> ShakeSort(</a:t>
            </a: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a[],</a:t>
            </a: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n)</a:t>
            </a:r>
            <a:endParaRPr/>
          </a:p>
          <a:p>
            <a:pPr indent="-446087" lvl="1" marL="1023937"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endParaRPr/>
          </a:p>
          <a:p>
            <a:pPr indent="-446087" lvl="1" marL="1023937"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i, j;</a:t>
            </a:r>
            <a:br>
              <a:rPr b="0" i="0" lang="en-US" sz="2400" u="none">
                <a:solidFill>
                  <a:schemeClr val="dk1"/>
                </a:solidFill>
                <a:latin typeface="Arial"/>
                <a:ea typeface="Arial"/>
                <a:cs typeface="Arial"/>
                <a:sym typeface="Arial"/>
              </a:rPr>
            </a:b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left, right, k;</a:t>
            </a:r>
            <a:endParaRPr/>
          </a:p>
          <a:p>
            <a:pPr indent="-446087" lvl="1" marL="1023937"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left = 0; right = n-1; k = n-1;</a:t>
            </a:r>
            <a:br>
              <a:rPr b="0" i="0" lang="en-US" sz="2400" u="none">
                <a:solidFill>
                  <a:schemeClr val="dk1"/>
                </a:solidFill>
                <a:latin typeface="Arial"/>
                <a:ea typeface="Arial"/>
                <a:cs typeface="Arial"/>
                <a:sym typeface="Arial"/>
              </a:rPr>
            </a:br>
            <a:r>
              <a:rPr b="0" i="0" lang="en-US" sz="2400" u="none">
                <a:solidFill>
                  <a:srgbClr val="0000FF"/>
                </a:solidFill>
                <a:latin typeface="Arial"/>
                <a:ea typeface="Arial"/>
                <a:cs typeface="Arial"/>
                <a:sym typeface="Arial"/>
              </a:rPr>
              <a:t>while</a:t>
            </a:r>
            <a:r>
              <a:rPr b="0" i="0" lang="en-US" sz="2400" u="none">
                <a:solidFill>
                  <a:schemeClr val="dk1"/>
                </a:solidFill>
                <a:latin typeface="Arial"/>
                <a:ea typeface="Arial"/>
                <a:cs typeface="Arial"/>
                <a:sym typeface="Arial"/>
              </a:rPr>
              <a:t> (left &lt; right)</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for</a:t>
            </a:r>
            <a:r>
              <a:rPr b="0" i="0" lang="en-US" sz="2400" u="none">
                <a:solidFill>
                  <a:schemeClr val="dk1"/>
                </a:solidFill>
                <a:latin typeface="Arial"/>
                <a:ea typeface="Arial"/>
                <a:cs typeface="Arial"/>
                <a:sym typeface="Arial"/>
              </a:rPr>
              <a:t> (j = right; j &gt; left; j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if</a:t>
            </a:r>
            <a:r>
              <a:rPr b="0" i="0" lang="en-US" sz="2400" u="none">
                <a:solidFill>
                  <a:schemeClr val="dk1"/>
                </a:solidFill>
                <a:latin typeface="Arial"/>
                <a:ea typeface="Arial"/>
                <a:cs typeface="Arial"/>
                <a:sym typeface="Arial"/>
              </a:rPr>
              <a:t> (a[j]&lt; a[j-1]) </a:t>
            </a:r>
            <a:endParaRPr/>
          </a:p>
          <a:p>
            <a:pPr indent="-446087" lvl="1" marL="1023937"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{Swap(a[j], a[j-1]);k =j;}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left = k;</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for</a:t>
            </a:r>
            <a:r>
              <a:rPr b="0" i="0" lang="en-US" sz="2400" u="none">
                <a:solidFill>
                  <a:schemeClr val="dk1"/>
                </a:solidFill>
                <a:latin typeface="Arial"/>
                <a:ea typeface="Arial"/>
                <a:cs typeface="Arial"/>
                <a:sym typeface="Arial"/>
              </a:rPr>
              <a:t> (j = left; j &lt; right; j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if</a:t>
            </a:r>
            <a:r>
              <a:rPr b="0" i="0" lang="en-US" sz="2400" u="none">
                <a:solidFill>
                  <a:schemeClr val="dk1"/>
                </a:solidFill>
                <a:latin typeface="Arial"/>
                <a:ea typeface="Arial"/>
                <a:cs typeface="Arial"/>
                <a:sym typeface="Arial"/>
              </a:rPr>
              <a:t> (a[j]&gt; a[j+1]) </a:t>
            </a:r>
            <a:endParaRPr/>
          </a:p>
          <a:p>
            <a:pPr indent="-446087" lvl="1" marL="1023937"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{Swap(a[j], a[j-1]);k = j; }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right = k;</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endParaRPr/>
          </a:p>
          <a:p>
            <a:pPr indent="-446087" lvl="1" marL="1023937"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7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Chèn Trực Tiếp – Insertion Sort</a:t>
            </a:r>
            <a:endParaRPr/>
          </a:p>
        </p:txBody>
      </p:sp>
      <p:sp>
        <p:nvSpPr>
          <p:cNvPr id="960" name="Google Shape;960;p74"/>
          <p:cNvSpPr txBox="1"/>
          <p:nvPr>
            <p:ph idx="1" type="body"/>
          </p:nvPr>
        </p:nvSpPr>
        <p:spPr>
          <a:xfrm>
            <a:off x="992187" y="1374775"/>
            <a:ext cx="8569200" cy="3733800"/>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Giả sử có một dãy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0</a:t>
            </a:r>
            <a:r>
              <a:rPr b="1" i="0" lang="en-US" sz="2800" u="none">
                <a:solidFill>
                  <a:schemeClr val="dk1"/>
                </a:solidFill>
                <a:latin typeface="Arial"/>
                <a:ea typeface="Arial"/>
                <a:cs typeface="Arial"/>
                <a:sym typeface="Arial"/>
              </a:rPr>
              <a:t> , a</a:t>
            </a:r>
            <a:r>
              <a:rPr b="1" baseline="-25000" i="0" lang="en-US" sz="2800" u="none">
                <a:solidFill>
                  <a:schemeClr val="dk1"/>
                </a:solidFill>
                <a:latin typeface="Arial"/>
                <a:ea typeface="Arial"/>
                <a:cs typeface="Arial"/>
                <a:sym typeface="Arial"/>
              </a:rPr>
              <a:t>1</a:t>
            </a:r>
            <a:r>
              <a:rPr b="1" i="0" lang="en-US" sz="2800" u="none">
                <a:solidFill>
                  <a:schemeClr val="dk1"/>
                </a:solidFill>
                <a:latin typeface="Arial"/>
                <a:ea typeface="Arial"/>
                <a:cs typeface="Arial"/>
                <a:sym typeface="Arial"/>
              </a:rPr>
              <a:t> ,... ,a</a:t>
            </a:r>
            <a:r>
              <a:rPr b="1" baseline="-25000" i="0" lang="en-US" sz="2800" u="none">
                <a:solidFill>
                  <a:schemeClr val="dk1"/>
                </a:solidFill>
                <a:latin typeface="Arial"/>
                <a:ea typeface="Arial"/>
                <a:cs typeface="Arial"/>
                <a:sym typeface="Arial"/>
              </a:rPr>
              <a:t>n-1</a:t>
            </a:r>
            <a:r>
              <a:rPr b="0" i="0" lang="en-US" sz="2800" u="none">
                <a:solidFill>
                  <a:schemeClr val="dk1"/>
                </a:solidFill>
                <a:latin typeface="Arial"/>
                <a:ea typeface="Arial"/>
                <a:cs typeface="Arial"/>
                <a:sym typeface="Arial"/>
              </a:rPr>
              <a:t> trong đó i</a:t>
            </a:r>
            <a:r>
              <a:rPr b="1" i="0"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phần tử đầu tiên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0</a:t>
            </a:r>
            <a:r>
              <a:rPr b="1" i="0" lang="en-US" sz="2800" u="none">
                <a:solidFill>
                  <a:schemeClr val="dk1"/>
                </a:solidFill>
                <a:latin typeface="Arial"/>
                <a:ea typeface="Arial"/>
                <a:cs typeface="Arial"/>
                <a:sym typeface="Arial"/>
              </a:rPr>
              <a:t> , a</a:t>
            </a:r>
            <a:r>
              <a:rPr b="1" baseline="-25000" i="0" lang="en-US" sz="2800" u="none">
                <a:solidFill>
                  <a:schemeClr val="dk1"/>
                </a:solidFill>
                <a:latin typeface="Arial"/>
                <a:ea typeface="Arial"/>
                <a:cs typeface="Arial"/>
                <a:sym typeface="Arial"/>
              </a:rPr>
              <a:t>1</a:t>
            </a:r>
            <a:r>
              <a:rPr b="1" i="0" lang="en-US" sz="2800" u="none">
                <a:solidFill>
                  <a:schemeClr val="dk1"/>
                </a:solidFill>
                <a:latin typeface="Arial"/>
                <a:ea typeface="Arial"/>
                <a:cs typeface="Arial"/>
                <a:sym typeface="Arial"/>
              </a:rPr>
              <a:t> ,... ,a</a:t>
            </a:r>
            <a:r>
              <a:rPr b="1" baseline="-25000" i="0" lang="en-US" sz="2800" u="none">
                <a:solidFill>
                  <a:schemeClr val="dk1"/>
                </a:solidFill>
                <a:latin typeface="Arial"/>
                <a:ea typeface="Arial"/>
                <a:cs typeface="Arial"/>
                <a:sym typeface="Arial"/>
              </a:rPr>
              <a:t>i-1</a:t>
            </a:r>
            <a:r>
              <a:rPr b="0" i="0" lang="en-US" sz="2800" u="none">
                <a:solidFill>
                  <a:schemeClr val="dk1"/>
                </a:solidFill>
                <a:latin typeface="Arial"/>
                <a:ea typeface="Arial"/>
                <a:cs typeface="Arial"/>
                <a:sym typeface="Arial"/>
              </a:rPr>
              <a:t> đã có thứ tự. </a:t>
            </a:r>
            <a:endParaRPr/>
          </a:p>
          <a:p>
            <a:pPr indent="-463550" lvl="0" marL="46355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Tìm cách chèn phần tử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i</a:t>
            </a:r>
            <a:r>
              <a:rPr b="1" i="0"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vào </a:t>
            </a:r>
            <a:r>
              <a:rPr b="0" i="0" lang="en-US" sz="2800" u="none">
                <a:solidFill>
                  <a:srgbClr val="FF0000"/>
                </a:solidFill>
                <a:latin typeface="Arial"/>
                <a:ea typeface="Arial"/>
                <a:cs typeface="Arial"/>
                <a:sym typeface="Arial"/>
              </a:rPr>
              <a:t>vị trí thích hợp</a:t>
            </a:r>
            <a:r>
              <a:rPr b="0" i="0" lang="en-US" sz="2800" u="none">
                <a:solidFill>
                  <a:schemeClr val="dk1"/>
                </a:solidFill>
                <a:latin typeface="Arial"/>
                <a:ea typeface="Arial"/>
                <a:cs typeface="Arial"/>
                <a:sym typeface="Arial"/>
              </a:rPr>
              <a:t> của đoạn đã được sắp để có dãy mới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0</a:t>
            </a:r>
            <a:r>
              <a:rPr b="1" i="0" lang="en-US" sz="2800" u="none">
                <a:solidFill>
                  <a:schemeClr val="dk1"/>
                </a:solidFill>
                <a:latin typeface="Arial"/>
                <a:ea typeface="Arial"/>
                <a:cs typeface="Arial"/>
                <a:sym typeface="Arial"/>
              </a:rPr>
              <a:t> , a</a:t>
            </a:r>
            <a:r>
              <a:rPr b="1" baseline="-25000" i="0" lang="en-US" sz="2800" u="none">
                <a:solidFill>
                  <a:schemeClr val="dk1"/>
                </a:solidFill>
                <a:latin typeface="Arial"/>
                <a:ea typeface="Arial"/>
                <a:cs typeface="Arial"/>
                <a:sym typeface="Arial"/>
              </a:rPr>
              <a:t>1</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i</a:t>
            </a:r>
            <a:r>
              <a:rPr b="0" i="0" lang="en-US" sz="2800" u="none">
                <a:solidFill>
                  <a:schemeClr val="dk1"/>
                </a:solidFill>
                <a:latin typeface="Arial"/>
                <a:ea typeface="Arial"/>
                <a:cs typeface="Arial"/>
                <a:sym typeface="Arial"/>
              </a:rPr>
              <a:t> trở nên có thứ tự. Vị trí này chính là vị trí giữa hai phần tử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k-1</a:t>
            </a:r>
            <a:r>
              <a:rPr b="1" i="0"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và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k</a:t>
            </a:r>
            <a:r>
              <a:rPr b="0" i="0" lang="en-US" sz="2800" u="none">
                <a:solidFill>
                  <a:schemeClr val="dk1"/>
                </a:solidFill>
                <a:latin typeface="Arial"/>
                <a:ea typeface="Arial"/>
                <a:cs typeface="Arial"/>
                <a:sym typeface="Arial"/>
              </a:rPr>
              <a:t> thỏa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k-1</a:t>
            </a:r>
            <a:r>
              <a:rPr b="1" i="0" lang="en-US" sz="2800" u="none">
                <a:solidFill>
                  <a:schemeClr val="dk1"/>
                </a:solidFill>
                <a:latin typeface="Arial"/>
                <a:ea typeface="Arial"/>
                <a:cs typeface="Arial"/>
                <a:sym typeface="Arial"/>
              </a:rPr>
              <a:t> &lt; a</a:t>
            </a:r>
            <a:r>
              <a:rPr b="1" baseline="-25000" i="0" lang="en-US" sz="2800" u="none">
                <a:solidFill>
                  <a:schemeClr val="dk1"/>
                </a:solidFill>
                <a:latin typeface="Arial"/>
                <a:ea typeface="Arial"/>
                <a:cs typeface="Arial"/>
                <a:sym typeface="Arial"/>
              </a:rPr>
              <a:t>i</a:t>
            </a:r>
            <a:r>
              <a:rPr b="1" i="0" lang="en-US" sz="2800" u="none">
                <a:solidFill>
                  <a:schemeClr val="dk1"/>
                </a:solidFill>
                <a:latin typeface="Arial"/>
                <a:ea typeface="Arial"/>
                <a:cs typeface="Arial"/>
                <a:sym typeface="Arial"/>
              </a:rPr>
              <a:t> &lt;</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k</a:t>
            </a:r>
            <a:r>
              <a:rPr b="1" i="0"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(1≤k≤i).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7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Chèn Trực Tiếp – Insertion Sort</a:t>
            </a:r>
            <a:endParaRPr/>
          </a:p>
        </p:txBody>
      </p:sp>
      <p:sp>
        <p:nvSpPr>
          <p:cNvPr id="966" name="Google Shape;966;p75"/>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i = 1;	</a:t>
            </a:r>
            <a:r>
              <a:rPr b="0" i="0" lang="en-US" sz="1800" u="none">
                <a:solidFill>
                  <a:schemeClr val="dk1"/>
                </a:solidFill>
                <a:latin typeface="Arial"/>
                <a:ea typeface="Arial"/>
                <a:cs typeface="Arial"/>
                <a:sym typeface="Arial"/>
              </a:rPr>
              <a:t>//giả sử có đoạn a[1] đã được sắp</a:t>
            </a:r>
            <a:r>
              <a:rPr b="0" i="0" lang="en-US" sz="2800" u="none">
                <a:solidFill>
                  <a:schemeClr val="dk1"/>
                </a:solidFill>
                <a:latin typeface="Arial"/>
                <a:ea typeface="Arial"/>
                <a:cs typeface="Arial"/>
                <a:sym typeface="Arial"/>
              </a:rPr>
              <a:t> </a:t>
            </a:r>
            <a:endParaRPr/>
          </a:p>
          <a:p>
            <a:pPr indent="-463550" lvl="0" marL="463550" rtl="0" algn="l">
              <a:lnSpc>
                <a:spcPct val="90000"/>
              </a:lnSpc>
              <a:spcBef>
                <a:spcPts val="168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2</a:t>
            </a:r>
            <a:r>
              <a:rPr b="0" i="0" lang="en-US" sz="2800" u="none">
                <a:solidFill>
                  <a:schemeClr val="dk1"/>
                </a:solidFill>
                <a:latin typeface="Arial"/>
                <a:ea typeface="Arial"/>
                <a:cs typeface="Arial"/>
                <a:sym typeface="Arial"/>
              </a:rPr>
              <a:t>: x = a[i]; Tìm vị trí pos thích hợp trong đoạn  			   a[1] đến a[i-1] để chèn a[i] vào </a:t>
            </a:r>
            <a:endParaRPr/>
          </a:p>
          <a:p>
            <a:pPr indent="-463550" lvl="0" marL="463550" rtl="0" algn="l">
              <a:lnSpc>
                <a:spcPct val="90000"/>
              </a:lnSpc>
              <a:spcBef>
                <a:spcPts val="168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3</a:t>
            </a:r>
            <a:r>
              <a:rPr b="0" i="0" lang="en-US" sz="2800" u="none">
                <a:solidFill>
                  <a:schemeClr val="dk1"/>
                </a:solidFill>
                <a:latin typeface="Arial"/>
                <a:ea typeface="Arial"/>
                <a:cs typeface="Arial"/>
                <a:sym typeface="Arial"/>
              </a:rPr>
              <a:t>: Dời chỗ các phần tử  từ a[pos] đến a[i-1]  		sang phải 1 vị trí để dành </a:t>
            </a:r>
            <a:r>
              <a:rPr lang="en-US"/>
              <a:t>chỗ</a:t>
            </a:r>
            <a:r>
              <a:rPr b="0" i="0" lang="en-US" sz="2800" u="none">
                <a:solidFill>
                  <a:schemeClr val="dk1"/>
                </a:solidFill>
                <a:latin typeface="Arial"/>
                <a:ea typeface="Arial"/>
                <a:cs typeface="Arial"/>
                <a:sym typeface="Arial"/>
              </a:rPr>
              <a:t> cho a[i] </a:t>
            </a:r>
            <a:endParaRPr/>
          </a:p>
          <a:p>
            <a:pPr indent="-463550" lvl="0" marL="463550" rtl="0" algn="l">
              <a:lnSpc>
                <a:spcPct val="90000"/>
              </a:lnSpc>
              <a:spcBef>
                <a:spcPts val="168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4</a:t>
            </a:r>
            <a:r>
              <a:rPr b="0" i="0" lang="en-US" sz="2800" u="none">
                <a:solidFill>
                  <a:schemeClr val="dk1"/>
                </a:solidFill>
                <a:latin typeface="Arial"/>
                <a:ea typeface="Arial"/>
                <a:cs typeface="Arial"/>
                <a:sym typeface="Arial"/>
              </a:rPr>
              <a:t>: a[pos] = x; </a:t>
            </a:r>
            <a:r>
              <a:rPr b="0" i="0" lang="en-US" sz="1800" u="none">
                <a:solidFill>
                  <a:schemeClr val="dk1"/>
                </a:solidFill>
                <a:latin typeface="Arial"/>
                <a:ea typeface="Arial"/>
                <a:cs typeface="Arial"/>
                <a:sym typeface="Arial"/>
              </a:rPr>
              <a:t>//có đoạn a[1]..a[i]  đã được sắp </a:t>
            </a:r>
            <a:endParaRPr/>
          </a:p>
          <a:p>
            <a:pPr indent="-463550" lvl="0" marL="463550" rtl="0" algn="l">
              <a:lnSpc>
                <a:spcPct val="90000"/>
              </a:lnSpc>
              <a:spcBef>
                <a:spcPts val="168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5</a:t>
            </a:r>
            <a:r>
              <a:rPr b="0" i="0" lang="en-US" sz="2800" u="none">
                <a:solidFill>
                  <a:schemeClr val="dk1"/>
                </a:solidFill>
                <a:latin typeface="Arial"/>
                <a:ea typeface="Arial"/>
                <a:cs typeface="Arial"/>
                <a:sym typeface="Arial"/>
              </a:rPr>
              <a:t>: 	i = i+1; </a:t>
            </a:r>
            <a:endParaRPr/>
          </a:p>
          <a:p>
            <a:pPr indent="-463550" lvl="0" marL="463550" rtl="0" algn="l">
              <a:lnSpc>
                <a:spcPct val="90000"/>
              </a:lnSpc>
              <a:spcBef>
                <a:spcPts val="1680"/>
              </a:spcBef>
              <a:spcAft>
                <a:spcPts val="0"/>
              </a:spcAft>
              <a:buClr>
                <a:schemeClr val="dk1"/>
              </a:buClr>
              <a:buSzPts val="2800"/>
              <a:buNone/>
            </a:pPr>
            <a:r>
              <a:rPr b="0" i="0" lang="en-US" sz="2800" u="none">
                <a:solidFill>
                  <a:schemeClr val="dk1"/>
                </a:solidFill>
                <a:latin typeface="Arial"/>
                <a:ea typeface="Arial"/>
                <a:cs typeface="Arial"/>
                <a:sym typeface="Arial"/>
              </a:rPr>
              <a:t>			Nếu  i &lt; n : Lặp lại Bước 2 </a:t>
            </a:r>
            <a:endParaRPr/>
          </a:p>
          <a:p>
            <a:pPr indent="-463550" lvl="0" marL="463550" rtl="0" algn="l">
              <a:lnSpc>
                <a:spcPct val="90000"/>
              </a:lnSpc>
              <a:spcBef>
                <a:spcPts val="1680"/>
              </a:spcBef>
              <a:spcAft>
                <a:spcPts val="0"/>
              </a:spcAft>
              <a:buClr>
                <a:schemeClr val="dk1"/>
              </a:buClr>
              <a:buSzPts val="2800"/>
              <a:buNone/>
            </a:pPr>
            <a:r>
              <a:rPr b="0" i="0" lang="en-US" sz="2800" u="none">
                <a:solidFill>
                  <a:schemeClr val="dk1"/>
                </a:solidFill>
                <a:latin typeface="Arial"/>
                <a:ea typeface="Arial"/>
                <a:cs typeface="Arial"/>
                <a:sym typeface="Arial"/>
              </a:rPr>
              <a:t>			Ngược lại  : Dừng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76"/>
          <p:cNvSpPr txBox="1"/>
          <p:nvPr>
            <p:ph type="title"/>
          </p:nvPr>
        </p:nvSpPr>
        <p:spPr>
          <a:xfrm>
            <a:off x="704850" y="-26987"/>
            <a:ext cx="9201150" cy="792162"/>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Chèn Trực Tiếp – Insertion Sort</a:t>
            </a:r>
            <a:endParaRPr/>
          </a:p>
        </p:txBody>
      </p:sp>
      <p:sp>
        <p:nvSpPr>
          <p:cNvPr id="972" name="Google Shape;972;p76"/>
          <p:cNvSpPr txBox="1"/>
          <p:nvPr>
            <p:ph idx="1" type="body"/>
          </p:nvPr>
        </p:nvSpPr>
        <p:spPr>
          <a:xfrm>
            <a:off x="495300" y="981075"/>
            <a:ext cx="8915400" cy="1468437"/>
          </a:xfrm>
          <a:prstGeom prst="rect">
            <a:avLst/>
          </a:prstGeom>
          <a:noFill/>
          <a:ln>
            <a:noFill/>
          </a:ln>
        </p:spPr>
        <p:txBody>
          <a:bodyPr anchorCtr="0" anchor="t" bIns="45700" lIns="91425" spcFirstLastPara="1" rIns="91425" wrap="square" tIns="45700">
            <a:noAutofit/>
          </a:bodyPr>
          <a:lstStyle/>
          <a:p>
            <a:pPr indent="-446087" lvl="1" marL="1023937"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dãy số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12	  	2	8	5	1	6	4	15 </a:t>
            </a:r>
            <a:endParaRPr/>
          </a:p>
        </p:txBody>
      </p:sp>
      <p:grpSp>
        <p:nvGrpSpPr>
          <p:cNvPr id="973" name="Google Shape;973;p76"/>
          <p:cNvGrpSpPr/>
          <p:nvPr/>
        </p:nvGrpSpPr>
        <p:grpSpPr>
          <a:xfrm>
            <a:off x="849312" y="2636837"/>
            <a:ext cx="8855075" cy="1604962"/>
            <a:chOff x="535" y="1661"/>
            <a:chExt cx="5578" cy="1011"/>
          </a:xfrm>
        </p:grpSpPr>
        <p:pic>
          <p:nvPicPr>
            <p:cNvPr id="974" name="Google Shape;974;p76"/>
            <p:cNvPicPr preferRelativeResize="0"/>
            <p:nvPr/>
          </p:nvPicPr>
          <p:blipFill rotWithShape="1">
            <a:blip r:embed="rId3">
              <a:alphaModFix/>
            </a:blip>
            <a:srcRect b="0" l="0" r="0" t="0"/>
            <a:stretch/>
          </p:blipFill>
          <p:spPr>
            <a:xfrm>
              <a:off x="535" y="1661"/>
              <a:ext cx="5578" cy="1011"/>
            </a:xfrm>
            <a:prstGeom prst="rect">
              <a:avLst/>
            </a:prstGeom>
            <a:noFill/>
            <a:ln>
              <a:noFill/>
            </a:ln>
          </p:spPr>
        </p:pic>
        <p:sp>
          <p:nvSpPr>
            <p:cNvPr id="975" name="Google Shape;975;p76"/>
            <p:cNvSpPr txBox="1"/>
            <p:nvPr/>
          </p:nvSpPr>
          <p:spPr>
            <a:xfrm>
              <a:off x="1478" y="2387"/>
              <a:ext cx="40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i=1</a:t>
              </a:r>
              <a:endParaRPr/>
            </a:p>
          </p:txBody>
        </p:sp>
      </p:grpSp>
      <p:grpSp>
        <p:nvGrpSpPr>
          <p:cNvPr id="976" name="Google Shape;976;p76"/>
          <p:cNvGrpSpPr/>
          <p:nvPr/>
        </p:nvGrpSpPr>
        <p:grpSpPr>
          <a:xfrm>
            <a:off x="1136650" y="4873625"/>
            <a:ext cx="8424862" cy="1765299"/>
            <a:chOff x="716" y="3022"/>
            <a:chExt cx="5307" cy="1112"/>
          </a:xfrm>
        </p:grpSpPr>
        <p:pic>
          <p:nvPicPr>
            <p:cNvPr id="977" name="Google Shape;977;p76"/>
            <p:cNvPicPr preferRelativeResize="0"/>
            <p:nvPr/>
          </p:nvPicPr>
          <p:blipFill rotWithShape="1">
            <a:blip r:embed="rId4">
              <a:alphaModFix/>
            </a:blip>
            <a:srcRect b="0" l="0" r="0" t="0"/>
            <a:stretch/>
          </p:blipFill>
          <p:spPr>
            <a:xfrm>
              <a:off x="716" y="3022"/>
              <a:ext cx="5307" cy="1089"/>
            </a:xfrm>
            <a:prstGeom prst="rect">
              <a:avLst/>
            </a:prstGeom>
            <a:noFill/>
            <a:ln>
              <a:noFill/>
            </a:ln>
          </p:spPr>
        </p:pic>
        <p:sp>
          <p:nvSpPr>
            <p:cNvPr id="978" name="Google Shape;978;p76"/>
            <p:cNvSpPr txBox="1"/>
            <p:nvPr/>
          </p:nvSpPr>
          <p:spPr>
            <a:xfrm>
              <a:off x="2167" y="383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i=2</a:t>
              </a:r>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7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Chèn Trực Tiếp – Insertion Sort</a:t>
            </a:r>
            <a:endParaRPr/>
          </a:p>
        </p:txBody>
      </p:sp>
      <p:grpSp>
        <p:nvGrpSpPr>
          <p:cNvPr id="984" name="Google Shape;984;p77"/>
          <p:cNvGrpSpPr/>
          <p:nvPr/>
        </p:nvGrpSpPr>
        <p:grpSpPr>
          <a:xfrm>
            <a:off x="1136650" y="981075"/>
            <a:ext cx="8496300" cy="1657350"/>
            <a:chOff x="716" y="618"/>
            <a:chExt cx="5352" cy="1044"/>
          </a:xfrm>
        </p:grpSpPr>
        <p:pic>
          <p:nvPicPr>
            <p:cNvPr id="985" name="Google Shape;985;p77"/>
            <p:cNvPicPr preferRelativeResize="0"/>
            <p:nvPr/>
          </p:nvPicPr>
          <p:blipFill rotWithShape="1">
            <a:blip r:embed="rId3">
              <a:alphaModFix/>
            </a:blip>
            <a:srcRect b="0" l="0" r="0" t="0"/>
            <a:stretch/>
          </p:blipFill>
          <p:spPr>
            <a:xfrm>
              <a:off x="716" y="618"/>
              <a:ext cx="5352" cy="1044"/>
            </a:xfrm>
            <a:prstGeom prst="rect">
              <a:avLst/>
            </a:prstGeom>
            <a:noFill/>
            <a:ln>
              <a:noFill/>
            </a:ln>
          </p:spPr>
        </p:pic>
        <p:sp>
          <p:nvSpPr>
            <p:cNvPr id="986" name="Google Shape;986;p77"/>
            <p:cNvSpPr txBox="1"/>
            <p:nvPr/>
          </p:nvSpPr>
          <p:spPr>
            <a:xfrm>
              <a:off x="2802" y="1339"/>
              <a:ext cx="31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i=3</a:t>
              </a:r>
              <a:endParaRPr/>
            </a:p>
          </p:txBody>
        </p:sp>
      </p:grpSp>
      <p:grpSp>
        <p:nvGrpSpPr>
          <p:cNvPr id="987" name="Google Shape;987;p77"/>
          <p:cNvGrpSpPr/>
          <p:nvPr/>
        </p:nvGrpSpPr>
        <p:grpSpPr>
          <a:xfrm>
            <a:off x="920750" y="2852737"/>
            <a:ext cx="8569325" cy="1584325"/>
            <a:chOff x="580" y="1797"/>
            <a:chExt cx="5398" cy="998"/>
          </a:xfrm>
        </p:grpSpPr>
        <p:pic>
          <p:nvPicPr>
            <p:cNvPr id="988" name="Google Shape;988;p77"/>
            <p:cNvPicPr preferRelativeResize="0"/>
            <p:nvPr/>
          </p:nvPicPr>
          <p:blipFill rotWithShape="1">
            <a:blip r:embed="rId4">
              <a:alphaModFix/>
            </a:blip>
            <a:srcRect b="0" l="0" r="0" t="0"/>
            <a:stretch/>
          </p:blipFill>
          <p:spPr>
            <a:xfrm>
              <a:off x="580" y="1797"/>
              <a:ext cx="5398" cy="998"/>
            </a:xfrm>
            <a:prstGeom prst="rect">
              <a:avLst/>
            </a:prstGeom>
            <a:noFill/>
            <a:ln>
              <a:noFill/>
            </a:ln>
          </p:spPr>
        </p:pic>
        <p:sp>
          <p:nvSpPr>
            <p:cNvPr id="989" name="Google Shape;989;p77"/>
            <p:cNvSpPr txBox="1"/>
            <p:nvPr/>
          </p:nvSpPr>
          <p:spPr>
            <a:xfrm>
              <a:off x="3483" y="2523"/>
              <a:ext cx="31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i=4</a:t>
              </a:r>
              <a:endParaRPr/>
            </a:p>
          </p:txBody>
        </p:sp>
      </p:grpSp>
      <p:grpSp>
        <p:nvGrpSpPr>
          <p:cNvPr id="990" name="Google Shape;990;p77"/>
          <p:cNvGrpSpPr/>
          <p:nvPr/>
        </p:nvGrpSpPr>
        <p:grpSpPr>
          <a:xfrm>
            <a:off x="992187" y="4941887"/>
            <a:ext cx="8497887" cy="1655762"/>
            <a:chOff x="625" y="3113"/>
            <a:chExt cx="5353" cy="1043"/>
          </a:xfrm>
        </p:grpSpPr>
        <p:pic>
          <p:nvPicPr>
            <p:cNvPr id="991" name="Google Shape;991;p77"/>
            <p:cNvPicPr preferRelativeResize="0"/>
            <p:nvPr/>
          </p:nvPicPr>
          <p:blipFill rotWithShape="1">
            <a:blip r:embed="rId5">
              <a:alphaModFix/>
            </a:blip>
            <a:srcRect b="0" l="0" r="0" t="0"/>
            <a:stretch/>
          </p:blipFill>
          <p:spPr>
            <a:xfrm>
              <a:off x="625" y="3113"/>
              <a:ext cx="5353" cy="1043"/>
            </a:xfrm>
            <a:prstGeom prst="rect">
              <a:avLst/>
            </a:prstGeom>
            <a:noFill/>
            <a:ln>
              <a:noFill/>
            </a:ln>
          </p:spPr>
        </p:pic>
        <p:sp>
          <p:nvSpPr>
            <p:cNvPr id="992" name="Google Shape;992;p77"/>
            <p:cNvSpPr txBox="1"/>
            <p:nvPr/>
          </p:nvSpPr>
          <p:spPr>
            <a:xfrm>
              <a:off x="4163" y="3879"/>
              <a:ext cx="31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i=5</a:t>
              </a:r>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7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Chèn Trực Tiếp – Insertion Sort</a:t>
            </a:r>
            <a:endParaRPr/>
          </a:p>
        </p:txBody>
      </p:sp>
      <p:grpSp>
        <p:nvGrpSpPr>
          <p:cNvPr id="998" name="Google Shape;998;p78"/>
          <p:cNvGrpSpPr/>
          <p:nvPr/>
        </p:nvGrpSpPr>
        <p:grpSpPr>
          <a:xfrm>
            <a:off x="1208087" y="1484312"/>
            <a:ext cx="8066087" cy="1814512"/>
            <a:chOff x="761" y="935"/>
            <a:chExt cx="5081" cy="1143"/>
          </a:xfrm>
        </p:grpSpPr>
        <p:pic>
          <p:nvPicPr>
            <p:cNvPr id="999" name="Google Shape;999;p78"/>
            <p:cNvPicPr preferRelativeResize="0"/>
            <p:nvPr/>
          </p:nvPicPr>
          <p:blipFill rotWithShape="1">
            <a:blip r:embed="rId3">
              <a:alphaModFix/>
            </a:blip>
            <a:srcRect b="0" l="0" r="0" t="0"/>
            <a:stretch/>
          </p:blipFill>
          <p:spPr>
            <a:xfrm>
              <a:off x="761" y="935"/>
              <a:ext cx="5081" cy="1143"/>
            </a:xfrm>
            <a:prstGeom prst="rect">
              <a:avLst/>
            </a:prstGeom>
            <a:noFill/>
            <a:ln>
              <a:noFill/>
            </a:ln>
          </p:spPr>
        </p:pic>
        <p:sp>
          <p:nvSpPr>
            <p:cNvPr id="1000" name="Google Shape;1000;p78"/>
            <p:cNvSpPr txBox="1"/>
            <p:nvPr/>
          </p:nvSpPr>
          <p:spPr>
            <a:xfrm>
              <a:off x="4753" y="1797"/>
              <a:ext cx="40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i=6</a:t>
              </a:r>
              <a:endParaRPr/>
            </a:p>
          </p:txBody>
        </p:sp>
      </p:grpSp>
      <p:grpSp>
        <p:nvGrpSpPr>
          <p:cNvPr id="1001" name="Google Shape;1001;p78"/>
          <p:cNvGrpSpPr/>
          <p:nvPr/>
        </p:nvGrpSpPr>
        <p:grpSpPr>
          <a:xfrm>
            <a:off x="1136650" y="4221162"/>
            <a:ext cx="8280400" cy="1800225"/>
            <a:chOff x="852" y="2659"/>
            <a:chExt cx="5080" cy="1134"/>
          </a:xfrm>
        </p:grpSpPr>
        <p:pic>
          <p:nvPicPr>
            <p:cNvPr id="1002" name="Google Shape;1002;p78"/>
            <p:cNvPicPr preferRelativeResize="0"/>
            <p:nvPr/>
          </p:nvPicPr>
          <p:blipFill rotWithShape="1">
            <a:blip r:embed="rId4">
              <a:alphaModFix/>
            </a:blip>
            <a:srcRect b="0" l="0" r="0" t="0"/>
            <a:stretch/>
          </p:blipFill>
          <p:spPr>
            <a:xfrm>
              <a:off x="852" y="2659"/>
              <a:ext cx="5080" cy="1134"/>
            </a:xfrm>
            <a:prstGeom prst="rect">
              <a:avLst/>
            </a:prstGeom>
            <a:noFill/>
            <a:ln>
              <a:noFill/>
            </a:ln>
          </p:spPr>
        </p:pic>
        <p:sp>
          <p:nvSpPr>
            <p:cNvPr id="1003" name="Google Shape;1003;p78"/>
            <p:cNvSpPr txBox="1"/>
            <p:nvPr/>
          </p:nvSpPr>
          <p:spPr>
            <a:xfrm>
              <a:off x="5297" y="3471"/>
              <a:ext cx="40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i=7</a:t>
              </a:r>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7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Cài Đặt Thuật Toán Chèn Trực Tiếp</a:t>
            </a:r>
            <a:endParaRPr/>
          </a:p>
        </p:txBody>
      </p:sp>
      <p:sp>
        <p:nvSpPr>
          <p:cNvPr id="1009" name="Google Shape;1009;p79"/>
          <p:cNvSpPr txBox="1"/>
          <p:nvPr>
            <p:ph idx="1" type="body"/>
          </p:nvPr>
        </p:nvSpPr>
        <p:spPr>
          <a:xfrm>
            <a:off x="1454125" y="1554125"/>
            <a:ext cx="8630400" cy="523800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rgbClr val="0000FF"/>
              </a:buClr>
              <a:buSzPts val="2400"/>
              <a:buNone/>
            </a:pPr>
            <a:r>
              <a:rPr b="0" i="0" lang="en-US" sz="2400" u="none">
                <a:solidFill>
                  <a:srgbClr val="0000FF"/>
                </a:solidFill>
                <a:latin typeface="Arial"/>
                <a:ea typeface="Arial"/>
                <a:cs typeface="Arial"/>
                <a:sym typeface="Arial"/>
              </a:rPr>
              <a:t>void</a:t>
            </a:r>
            <a:r>
              <a:rPr b="0" i="0"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InsertionSort(</a:t>
            </a:r>
            <a:r>
              <a:rPr b="0" i="0" lang="en-US" sz="2400" u="none">
                <a:solidFill>
                  <a:srgbClr val="0000FF"/>
                </a:solidFill>
                <a:latin typeface="Arial"/>
                <a:ea typeface="Arial"/>
                <a:cs typeface="Arial"/>
                <a:sym typeface="Arial"/>
              </a:rPr>
              <a:t>int </a:t>
            </a:r>
            <a:r>
              <a:rPr lang="en-US" sz="2400"/>
              <a:t>a[]</a:t>
            </a:r>
            <a:r>
              <a:rPr b="0" i="0" lang="en-US" sz="2400" u="none">
                <a:solidFill>
                  <a:schemeClr val="dk1"/>
                </a:solidFill>
                <a:latin typeface="Arial"/>
                <a:ea typeface="Arial"/>
                <a:cs typeface="Arial"/>
                <a:sym typeface="Arial"/>
              </a:rPr>
              <a:t>, int n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pos, i;</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x;</a:t>
            </a:r>
            <a:endParaRPr sz="1800"/>
          </a:p>
          <a:p>
            <a:pPr indent="-463550" lvl="0" marL="463550" rtl="0" algn="l">
              <a:lnSpc>
                <a:spcPct val="90000"/>
              </a:lnSpc>
              <a:spcBef>
                <a:spcPts val="0"/>
              </a:spcBef>
              <a:spcAft>
                <a:spcPts val="0"/>
              </a:spcAft>
              <a:buClr>
                <a:srgbClr val="0000FF"/>
              </a:buClr>
              <a:buSzPts val="2400"/>
              <a:buNone/>
            </a:pP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for</a:t>
            </a:r>
            <a:r>
              <a:rPr b="0" i="0" lang="en-US" sz="2400" u="none">
                <a:solidFill>
                  <a:schemeClr val="dk1"/>
                </a:solidFill>
                <a:latin typeface="Arial"/>
                <a:ea typeface="Arial"/>
                <a:cs typeface="Arial"/>
                <a:sym typeface="Arial"/>
              </a:rPr>
              <a:t>(i=1 ; i&lt;n ; i++)</a:t>
            </a:r>
            <a:br>
              <a:rPr b="0" i="0" lang="en-US" sz="18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	</a:t>
            </a:r>
            <a:endParaRPr/>
          </a:p>
          <a:p>
            <a:pPr indent="-463550" lvl="0" marL="463550" rtl="0" algn="l">
              <a:lnSpc>
                <a:spcPct val="9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x = a[i]; pos = i-1;</a:t>
            </a:r>
            <a:br>
              <a:rPr b="0" i="0" lang="en-US" sz="2400" u="none">
                <a:solidFill>
                  <a:schemeClr val="dk1"/>
                </a:solidFill>
                <a:latin typeface="Arial"/>
                <a:ea typeface="Arial"/>
                <a:cs typeface="Arial"/>
                <a:sym typeface="Arial"/>
              </a:rPr>
            </a:br>
            <a:endParaRPr/>
          </a:p>
          <a:p>
            <a:pPr indent="-463550" lvl="0" marL="463550" rtl="0" algn="l">
              <a:lnSpc>
                <a:spcPct val="90000"/>
              </a:lnSpc>
              <a:spcBef>
                <a:spcPts val="480"/>
              </a:spcBef>
              <a:spcAft>
                <a:spcPts val="0"/>
              </a:spcAft>
              <a:buClr>
                <a:schemeClr val="dk1"/>
              </a:buClr>
              <a:buSzPts val="1800"/>
              <a:buNone/>
            </a:pPr>
            <a:r>
              <a:rPr b="0" i="0" lang="en-US" sz="18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		</a:t>
            </a:r>
            <a:r>
              <a:rPr b="0" i="0" lang="en-US" sz="2400" u="none">
                <a:solidFill>
                  <a:srgbClr val="0000FF"/>
                </a:solidFill>
                <a:latin typeface="Arial"/>
                <a:ea typeface="Arial"/>
                <a:cs typeface="Arial"/>
                <a:sym typeface="Arial"/>
              </a:rPr>
              <a:t>while</a:t>
            </a:r>
            <a:r>
              <a:rPr b="0" i="0" lang="en-US" sz="2400" u="none">
                <a:solidFill>
                  <a:schemeClr val="dk1"/>
                </a:solidFill>
                <a:latin typeface="Arial"/>
                <a:ea typeface="Arial"/>
                <a:cs typeface="Arial"/>
                <a:sym typeface="Arial"/>
              </a:rPr>
              <a:t>((pos &gt;= 0)&amp;&amp;(a[pos] &gt; x))</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endParaRPr/>
          </a:p>
          <a:p>
            <a:pPr indent="-463550" lvl="0" marL="463550" rtl="0" algn="l">
              <a:lnSpc>
                <a:spcPct val="9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a[pos+1] = a[pos];</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pos--;</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a[pos+1] = x;</a:t>
            </a:r>
            <a:br>
              <a:rPr b="0" i="0" lang="en-US" sz="18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8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
        <p:nvSpPr>
          <p:cNvPr id="1015" name="Google Shape;1015;p80"/>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016" name="Google Shape;1016;p80"/>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017" name="Google Shape;1017;p80"/>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018" name="Google Shape;1018;p80"/>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019" name="Google Shape;1019;p80"/>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020" name="Google Shape;1020;p80"/>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021" name="Google Shape;1021;p80"/>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022" name="Google Shape;1022;p80"/>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1023" name="Google Shape;1023;p80"/>
          <p:cNvGrpSpPr/>
          <p:nvPr/>
        </p:nvGrpSpPr>
        <p:grpSpPr>
          <a:xfrm>
            <a:off x="1108075" y="3397250"/>
            <a:ext cx="8550275" cy="608012"/>
            <a:chOff x="644" y="1153"/>
            <a:chExt cx="4972" cy="383"/>
          </a:xfrm>
        </p:grpSpPr>
        <p:sp>
          <p:nvSpPr>
            <p:cNvPr id="1024" name="Google Shape;1024;p80"/>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025" name="Google Shape;1025;p80"/>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026" name="Google Shape;1026;p80"/>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027" name="Google Shape;1027;p80"/>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028" name="Google Shape;1028;p80"/>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029" name="Google Shape;1029;p80"/>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030" name="Google Shape;1030;p80"/>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031" name="Google Shape;1031;p80"/>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Tree>
  </p:cSld>
  <p:clrMapOvr>
    <a:masterClrMapping/>
  </p:clrMapOvr>
  <p:transition spd="slow">
    <p:fade thruBlk="1"/>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81"/>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037" name="Google Shape;1037;p81"/>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038" name="Google Shape;1038;p81"/>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039" name="Google Shape;1039;p81"/>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040" name="Google Shape;1040;p81"/>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041" name="Google Shape;1041;p81"/>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042" name="Google Shape;1042;p81"/>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043" name="Google Shape;1043;p81"/>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044" name="Google Shape;1044;p81"/>
          <p:cNvSpPr/>
          <p:nvPr/>
        </p:nvSpPr>
        <p:spPr>
          <a:xfrm>
            <a:off x="2115338" y="402430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1045" name="Google Shape;1045;p81"/>
          <p:cNvSpPr txBox="1"/>
          <p:nvPr/>
        </p:nvSpPr>
        <p:spPr>
          <a:xfrm>
            <a:off x="3886200" y="5029200"/>
            <a:ext cx="742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x</a:t>
            </a:r>
            <a:endParaRPr/>
          </a:p>
        </p:txBody>
      </p:sp>
      <p:grpSp>
        <p:nvGrpSpPr>
          <p:cNvPr id="1046" name="Google Shape;1046;p81"/>
          <p:cNvGrpSpPr/>
          <p:nvPr/>
        </p:nvGrpSpPr>
        <p:grpSpPr>
          <a:xfrm>
            <a:off x="1108075" y="3416300"/>
            <a:ext cx="8550275" cy="608012"/>
            <a:chOff x="644" y="1153"/>
            <a:chExt cx="4972" cy="383"/>
          </a:xfrm>
        </p:grpSpPr>
        <p:sp>
          <p:nvSpPr>
            <p:cNvPr id="1047" name="Google Shape;1047;p81"/>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048" name="Google Shape;1048;p81"/>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049" name="Google Shape;1049;p81"/>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050" name="Google Shape;1050;p81"/>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051" name="Google Shape;1051;p81"/>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052" name="Google Shape;1052;p81"/>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053" name="Google Shape;1053;p81"/>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054" name="Google Shape;1054;p81"/>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055" name="Google Shape;1055;p81"/>
          <p:cNvSpPr/>
          <p:nvPr/>
        </p:nvSpPr>
        <p:spPr>
          <a:xfrm>
            <a:off x="860337" y="1962213"/>
            <a:ext cx="1238400" cy="769800"/>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pos</a:t>
            </a:r>
            <a:endParaRPr/>
          </a:p>
        </p:txBody>
      </p:sp>
      <p:sp>
        <p:nvSpPr>
          <p:cNvPr id="1056" name="Google Shape;1056;p81"/>
          <p:cNvSpPr/>
          <p:nvPr/>
        </p:nvSpPr>
        <p:spPr>
          <a:xfrm>
            <a:off x="1084262" y="285273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057" name="Google Shape;1057;p8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
        <p:nvSpPr>
          <p:cNvPr id="1058" name="Google Shape;1058;p81"/>
          <p:cNvSpPr txBox="1"/>
          <p:nvPr/>
        </p:nvSpPr>
        <p:spPr>
          <a:xfrm>
            <a:off x="2085975" y="1384300"/>
            <a:ext cx="3336925"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Insert a[1] into (0,0)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500"/>
                                        <p:tgtEl>
                                          <p:spTgt spid="10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58"/>
                                        </p:tgtEl>
                                        <p:attrNameLst>
                                          <p:attrName>style.visibility</p:attrName>
                                        </p:attrNameLst>
                                      </p:cBhvr>
                                      <p:to>
                                        <p:strVal val="visible"/>
                                      </p:to>
                                    </p:set>
                                    <p:anim calcmode="lin" valueType="num">
                                      <p:cBhvr additive="base">
                                        <p:cTn dur="500"/>
                                        <p:tgtEl>
                                          <p:spTgt spid="105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55"/>
                                        </p:tgtEl>
                                        <p:attrNameLst>
                                          <p:attrName>style.visibility</p:attrName>
                                        </p:attrNameLst>
                                      </p:cBhvr>
                                      <p:to>
                                        <p:strVal val="visible"/>
                                      </p:to>
                                    </p:set>
                                    <p:animEffect filter="fade" transition="in">
                                      <p:cBhvr>
                                        <p:cTn dur="500"/>
                                        <p:tgtEl>
                                          <p:spTgt spid="1055"/>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036"/>
                                        </p:tgtEl>
                                      </p:cBhvr>
                                    </p:animEffect>
                                    <p:set>
                                      <p:cBhvr>
                                        <p:cTn dur="1" fill="hold">
                                          <p:stCondLst>
                                            <p:cond delay="1000"/>
                                          </p:stCondLst>
                                        </p:cTn>
                                        <p:tgtEl>
                                          <p:spTgt spid="103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56"/>
                                        </p:tgtEl>
                                        <p:attrNameLst>
                                          <p:attrName>style.visibility</p:attrName>
                                        </p:attrNameLst>
                                      </p:cBhvr>
                                      <p:to>
                                        <p:strVal val="visible"/>
                                      </p:to>
                                    </p:set>
                                    <p:animEffect filter="fade" transition="in">
                                      <p:cBhvr>
                                        <p:cTn dur="1000"/>
                                        <p:tgtEl>
                                          <p:spTgt spid="1056"/>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055"/>
                                        </p:tgtEl>
                                      </p:cBhvr>
                                    </p:animEffect>
                                    <p:set>
                                      <p:cBhvr>
                                        <p:cTn dur="1" fill="hold">
                                          <p:stCondLst>
                                            <p:cond delay="500"/>
                                          </p:stCondLst>
                                        </p:cTn>
                                        <p:tgtEl>
                                          <p:spTgt spid="1055"/>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8">
                                  <p:stCondLst>
                                    <p:cond delay="0"/>
                                  </p:stCondLst>
                                  <p:childTnLst>
                                    <p:anim calcmode="lin" valueType="num">
                                      <p:cBhvr additive="base">
                                        <p:cTn dur="500"/>
                                        <p:tgtEl>
                                          <p:spTgt spid="1058"/>
                                        </p:tgtEl>
                                        <p:attrNameLst>
                                          <p:attrName>ppt_x</p:attrName>
                                        </p:attrNameLst>
                                      </p:cBhvr>
                                      <p:tavLst>
                                        <p:tav fmla="" tm="0">
                                          <p:val>
                                            <p:strVal val="#ppt_x"/>
                                          </p:val>
                                        </p:tav>
                                        <p:tav fmla="" tm="100000">
                                          <p:val>
                                            <p:strVal val="#ppt_x-1"/>
                                          </p:val>
                                        </p:tav>
                                      </p:tavLst>
                                    </p:anim>
                                    <p:set>
                                      <p:cBhvr>
                                        <p:cTn dur="1" fill="hold">
                                          <p:stCondLst>
                                            <p:cond delay="500"/>
                                          </p:stCondLst>
                                        </p:cTn>
                                        <p:tgtEl>
                                          <p:spTgt spid="105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82"/>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064" name="Google Shape;1064;p82"/>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065" name="Google Shape;1065;p82"/>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066" name="Google Shape;1066;p82"/>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067" name="Google Shape;1067;p82"/>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068" name="Google Shape;1068;p82"/>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069" name="Google Shape;1069;p82"/>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070" name="Google Shape;1070;p82"/>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071" name="Google Shape;1071;p82"/>
          <p:cNvSpPr/>
          <p:nvPr/>
        </p:nvSpPr>
        <p:spPr>
          <a:xfrm>
            <a:off x="2109775" y="402430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1072" name="Google Shape;1072;p82"/>
          <p:cNvSpPr txBox="1"/>
          <p:nvPr/>
        </p:nvSpPr>
        <p:spPr>
          <a:xfrm>
            <a:off x="3886200" y="5029200"/>
            <a:ext cx="742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x</a:t>
            </a:r>
            <a:endParaRPr/>
          </a:p>
        </p:txBody>
      </p:sp>
      <p:grpSp>
        <p:nvGrpSpPr>
          <p:cNvPr id="1073" name="Google Shape;1073;p82"/>
          <p:cNvGrpSpPr/>
          <p:nvPr/>
        </p:nvGrpSpPr>
        <p:grpSpPr>
          <a:xfrm>
            <a:off x="1108075" y="3416300"/>
            <a:ext cx="8550275" cy="608012"/>
            <a:chOff x="644" y="1153"/>
            <a:chExt cx="4972" cy="383"/>
          </a:xfrm>
        </p:grpSpPr>
        <p:sp>
          <p:nvSpPr>
            <p:cNvPr id="1074" name="Google Shape;1074;p82"/>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075" name="Google Shape;1075;p82"/>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076" name="Google Shape;1076;p82"/>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077" name="Google Shape;1077;p82"/>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078" name="Google Shape;1078;p82"/>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079" name="Google Shape;1079;p82"/>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080" name="Google Shape;1080;p82"/>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081" name="Google Shape;1081;p82"/>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082" name="Google Shape;1082;p82"/>
          <p:cNvSpPr/>
          <p:nvPr/>
        </p:nvSpPr>
        <p:spPr>
          <a:xfrm>
            <a:off x="1985962"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pos</a:t>
            </a:r>
            <a:endParaRPr/>
          </a:p>
        </p:txBody>
      </p:sp>
      <p:sp>
        <p:nvSpPr>
          <p:cNvPr id="1083" name="Google Shape;1083;p8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
        <p:nvSpPr>
          <p:cNvPr id="1084" name="Google Shape;1084;p82"/>
          <p:cNvSpPr txBox="1"/>
          <p:nvPr/>
        </p:nvSpPr>
        <p:spPr>
          <a:xfrm>
            <a:off x="2085975" y="1384300"/>
            <a:ext cx="3336925"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Insert a[2] into (0, 1)</a:t>
            </a:r>
            <a:endParaRPr/>
          </a:p>
        </p:txBody>
      </p:sp>
      <p:sp>
        <p:nvSpPr>
          <p:cNvPr id="1085" name="Google Shape;1085;p82"/>
          <p:cNvSpPr/>
          <p:nvPr/>
        </p:nvSpPr>
        <p:spPr>
          <a:xfrm>
            <a:off x="2216150" y="285273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084"/>
                                        </p:tgtEl>
                                        <p:attrNameLst>
                                          <p:attrName>style.visibility</p:attrName>
                                        </p:attrNameLst>
                                      </p:cBhvr>
                                      <p:to>
                                        <p:strVal val="visible"/>
                                      </p:to>
                                    </p:set>
                                    <p:anim calcmode="lin" valueType="num">
                                      <p:cBhvr additive="base">
                                        <p:cTn dur="500"/>
                                        <p:tgtEl>
                                          <p:spTgt spid="108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82"/>
                                        </p:tgtEl>
                                        <p:attrNameLst>
                                          <p:attrName>style.visibility</p:attrName>
                                        </p:attrNameLst>
                                      </p:cBhvr>
                                      <p:to>
                                        <p:strVal val="visible"/>
                                      </p:to>
                                    </p:set>
                                    <p:animEffect filter="fade" transition="in">
                                      <p:cBhvr>
                                        <p:cTn dur="500"/>
                                        <p:tgtEl>
                                          <p:spTgt spid="1082"/>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064"/>
                                        </p:tgtEl>
                                      </p:cBhvr>
                                    </p:animEffect>
                                    <p:set>
                                      <p:cBhvr>
                                        <p:cTn dur="1" fill="hold">
                                          <p:stCondLst>
                                            <p:cond delay="1000"/>
                                          </p:stCondLst>
                                        </p:cTn>
                                        <p:tgtEl>
                                          <p:spTgt spid="106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85"/>
                                        </p:tgtEl>
                                        <p:attrNameLst>
                                          <p:attrName>style.visibility</p:attrName>
                                        </p:attrNameLst>
                                      </p:cBhvr>
                                      <p:to>
                                        <p:strVal val="visible"/>
                                      </p:to>
                                    </p:set>
                                    <p:animEffect filter="fade" transition="in">
                                      <p:cBhvr>
                                        <p:cTn dur="1000"/>
                                        <p:tgtEl>
                                          <p:spTgt spid="1085"/>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082"/>
                                        </p:tgtEl>
                                      </p:cBhvr>
                                    </p:animEffect>
                                    <p:set>
                                      <p:cBhvr>
                                        <p:cTn dur="1" fill="hold">
                                          <p:stCondLst>
                                            <p:cond delay="500"/>
                                          </p:stCondLst>
                                        </p:cTn>
                                        <p:tgtEl>
                                          <p:spTgt spid="1082"/>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8">
                                  <p:stCondLst>
                                    <p:cond delay="0"/>
                                  </p:stCondLst>
                                  <p:childTnLst>
                                    <p:anim calcmode="lin" valueType="num">
                                      <p:cBhvr additive="base">
                                        <p:cTn dur="500"/>
                                        <p:tgtEl>
                                          <p:spTgt spid="1084"/>
                                        </p:tgtEl>
                                        <p:attrNameLst>
                                          <p:attrName>ppt_x</p:attrName>
                                        </p:attrNameLst>
                                      </p:cBhvr>
                                      <p:tavLst>
                                        <p:tav fmla="" tm="0">
                                          <p:val>
                                            <p:strVal val="#ppt_x"/>
                                          </p:val>
                                        </p:tav>
                                        <p:tav fmla="" tm="100000">
                                          <p:val>
                                            <p:strVal val="#ppt_x-1"/>
                                          </p:val>
                                        </p:tav>
                                      </p:tavLst>
                                    </p:anim>
                                    <p:set>
                                      <p:cBhvr>
                                        <p:cTn dur="1" fill="hold">
                                          <p:stCondLst>
                                            <p:cond delay="500"/>
                                          </p:stCondLst>
                                        </p:cTn>
                                        <p:tgtEl>
                                          <p:spTgt spid="108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85"/>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091" name="Google Shape;1091;p85"/>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092" name="Google Shape;1092;p85"/>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093" name="Google Shape;1093;p85"/>
          <p:cNvSpPr/>
          <p:nvPr/>
        </p:nvSpPr>
        <p:spPr>
          <a:xfrm>
            <a:off x="554196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094" name="Google Shape;1094;p85"/>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095" name="Google Shape;1095;p85"/>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096" name="Google Shape;1096;p85"/>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097" name="Google Shape;1097;p85"/>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098" name="Google Shape;1098;p85"/>
          <p:cNvSpPr/>
          <p:nvPr/>
        </p:nvSpPr>
        <p:spPr>
          <a:xfrm>
            <a:off x="5437187" y="408462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1099" name="Google Shape;1099;p85"/>
          <p:cNvSpPr txBox="1"/>
          <p:nvPr/>
        </p:nvSpPr>
        <p:spPr>
          <a:xfrm>
            <a:off x="3886200" y="5029200"/>
            <a:ext cx="742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x</a:t>
            </a:r>
            <a:endParaRPr/>
          </a:p>
        </p:txBody>
      </p:sp>
      <p:grpSp>
        <p:nvGrpSpPr>
          <p:cNvPr id="1100" name="Google Shape;1100;p85"/>
          <p:cNvGrpSpPr/>
          <p:nvPr/>
        </p:nvGrpSpPr>
        <p:grpSpPr>
          <a:xfrm>
            <a:off x="1098550" y="3462337"/>
            <a:ext cx="8550275" cy="608012"/>
            <a:chOff x="644" y="1153"/>
            <a:chExt cx="4972" cy="383"/>
          </a:xfrm>
        </p:grpSpPr>
        <p:sp>
          <p:nvSpPr>
            <p:cNvPr id="1101" name="Google Shape;1101;p8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102" name="Google Shape;1102;p8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103" name="Google Shape;1103;p8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104" name="Google Shape;1104;p8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105" name="Google Shape;1105;p8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106" name="Google Shape;1106;p8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107" name="Google Shape;1107;p8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108" name="Google Shape;1108;p8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109" name="Google Shape;1109;p85"/>
          <p:cNvSpPr/>
          <p:nvPr/>
        </p:nvSpPr>
        <p:spPr>
          <a:xfrm>
            <a:off x="5313362"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pos</a:t>
            </a:r>
            <a:endParaRPr/>
          </a:p>
        </p:txBody>
      </p:sp>
      <p:sp>
        <p:nvSpPr>
          <p:cNvPr id="1110" name="Google Shape;1110;p8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
        <p:nvSpPr>
          <p:cNvPr id="1111" name="Google Shape;1111;p85"/>
          <p:cNvSpPr txBox="1"/>
          <p:nvPr/>
        </p:nvSpPr>
        <p:spPr>
          <a:xfrm>
            <a:off x="2085975" y="1384300"/>
            <a:ext cx="3336925"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Insert a[5] into (0, 4)</a:t>
            </a:r>
            <a:endParaRPr/>
          </a:p>
        </p:txBody>
      </p:sp>
      <p:sp>
        <p:nvSpPr>
          <p:cNvPr id="1112" name="Google Shape;1112;p85"/>
          <p:cNvSpPr/>
          <p:nvPr/>
        </p:nvSpPr>
        <p:spPr>
          <a:xfrm>
            <a:off x="4448175" y="285273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111"/>
                                        </p:tgtEl>
                                        <p:attrNameLst>
                                          <p:attrName>style.visibility</p:attrName>
                                        </p:attrNameLst>
                                      </p:cBhvr>
                                      <p:to>
                                        <p:strVal val="visible"/>
                                      </p:to>
                                    </p:set>
                                    <p:anim calcmode="lin" valueType="num">
                                      <p:cBhvr additive="base">
                                        <p:cTn dur="500"/>
                                        <p:tgtEl>
                                          <p:spTgt spid="111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500"/>
                                        <p:tgtEl>
                                          <p:spTgt spid="1109"/>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094"/>
                                        </p:tgtEl>
                                      </p:cBhvr>
                                    </p:animEffect>
                                    <p:set>
                                      <p:cBhvr>
                                        <p:cTn dur="1" fill="hold">
                                          <p:stCondLst>
                                            <p:cond delay="1000"/>
                                          </p:stCondLst>
                                        </p:cTn>
                                        <p:tgtEl>
                                          <p:spTgt spid="109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109"/>
                                        </p:tgtEl>
                                      </p:cBhvr>
                                    </p:animEffect>
                                    <p:set>
                                      <p:cBhvr>
                                        <p:cTn dur="1" fill="hold">
                                          <p:stCondLst>
                                            <p:cond delay="500"/>
                                          </p:stCondLst>
                                        </p:cTn>
                                        <p:tgtEl>
                                          <p:spTgt spid="1109"/>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8">
                                  <p:stCondLst>
                                    <p:cond delay="0"/>
                                  </p:stCondLst>
                                  <p:childTnLst>
                                    <p:anim calcmode="lin" valueType="num">
                                      <p:cBhvr additive="base">
                                        <p:cTn dur="500"/>
                                        <p:tgtEl>
                                          <p:spTgt spid="1111"/>
                                        </p:tgtEl>
                                        <p:attrNameLst>
                                          <p:attrName>ppt_x</p:attrName>
                                        </p:attrNameLst>
                                      </p:cBhvr>
                                      <p:tavLst>
                                        <p:tav fmla="" tm="0">
                                          <p:val>
                                            <p:strVal val="#ppt_x"/>
                                          </p:val>
                                        </p:tav>
                                        <p:tav fmla="" tm="100000">
                                          <p:val>
                                            <p:strVal val="#ppt_x-1"/>
                                          </p:val>
                                        </p:tav>
                                      </p:tavLst>
                                    </p:anim>
                                    <p:set>
                                      <p:cBhvr>
                                        <p:cTn dur="1" fill="hold">
                                          <p:stCondLst>
                                            <p:cond delay="500"/>
                                          </p:stCondLst>
                                        </p:cTn>
                                        <p:tgtEl>
                                          <p:spTgt spid="111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83"/>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118" name="Google Shape;1118;p83"/>
          <p:cNvSpPr/>
          <p:nvPr/>
        </p:nvSpPr>
        <p:spPr>
          <a:xfrm>
            <a:off x="3297237"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119" name="Google Shape;1119;p83"/>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120" name="Google Shape;1120;p83"/>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121" name="Google Shape;1121;p83"/>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122" name="Google Shape;1122;p83"/>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123" name="Google Shape;1123;p83"/>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124" name="Google Shape;1124;p83"/>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125" name="Google Shape;1125;p83"/>
          <p:cNvSpPr/>
          <p:nvPr/>
        </p:nvSpPr>
        <p:spPr>
          <a:xfrm>
            <a:off x="3197200" y="412120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1126" name="Google Shape;1126;p83"/>
          <p:cNvSpPr txBox="1"/>
          <p:nvPr/>
        </p:nvSpPr>
        <p:spPr>
          <a:xfrm>
            <a:off x="3886200" y="5029200"/>
            <a:ext cx="742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x</a:t>
            </a:r>
            <a:endParaRPr/>
          </a:p>
        </p:txBody>
      </p:sp>
      <p:grpSp>
        <p:nvGrpSpPr>
          <p:cNvPr id="1127" name="Google Shape;1127;p83"/>
          <p:cNvGrpSpPr/>
          <p:nvPr/>
        </p:nvGrpSpPr>
        <p:grpSpPr>
          <a:xfrm>
            <a:off x="1108087" y="3429000"/>
            <a:ext cx="8550275" cy="608012"/>
            <a:chOff x="644" y="1153"/>
            <a:chExt cx="4972" cy="383"/>
          </a:xfrm>
        </p:grpSpPr>
        <p:sp>
          <p:nvSpPr>
            <p:cNvPr id="1128" name="Google Shape;1128;p83"/>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129" name="Google Shape;1129;p83"/>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130" name="Google Shape;1130;p83"/>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131" name="Google Shape;1131;p83"/>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132" name="Google Shape;1132;p83"/>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133" name="Google Shape;1133;p83"/>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134" name="Google Shape;1134;p83"/>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135" name="Google Shape;1135;p83"/>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136" name="Google Shape;1136;p83"/>
          <p:cNvSpPr/>
          <p:nvPr/>
        </p:nvSpPr>
        <p:spPr>
          <a:xfrm>
            <a:off x="3081337"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pos</a:t>
            </a:r>
            <a:endParaRPr/>
          </a:p>
        </p:txBody>
      </p:sp>
      <p:sp>
        <p:nvSpPr>
          <p:cNvPr id="1137" name="Google Shape;1137;p8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
        <p:nvSpPr>
          <p:cNvPr id="1138" name="Google Shape;1138;p83"/>
          <p:cNvSpPr txBox="1"/>
          <p:nvPr/>
        </p:nvSpPr>
        <p:spPr>
          <a:xfrm>
            <a:off x="2085975" y="1384300"/>
            <a:ext cx="3336925"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Insert a[3] into (0, 2)</a:t>
            </a:r>
            <a:endParaRPr/>
          </a:p>
        </p:txBody>
      </p:sp>
      <p:sp>
        <p:nvSpPr>
          <p:cNvPr id="1139" name="Google Shape;1139;p83"/>
          <p:cNvSpPr/>
          <p:nvPr/>
        </p:nvSpPr>
        <p:spPr>
          <a:xfrm>
            <a:off x="2216150" y="285273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138"/>
                                        </p:tgtEl>
                                        <p:attrNameLst>
                                          <p:attrName>style.visibility</p:attrName>
                                        </p:attrNameLst>
                                      </p:cBhvr>
                                      <p:to>
                                        <p:strVal val="visible"/>
                                      </p:to>
                                    </p:set>
                                    <p:anim calcmode="lin" valueType="num">
                                      <p:cBhvr additive="base">
                                        <p:cTn dur="500"/>
                                        <p:tgtEl>
                                          <p:spTgt spid="113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36"/>
                                        </p:tgtEl>
                                        <p:attrNameLst>
                                          <p:attrName>style.visibility</p:attrName>
                                        </p:attrNameLst>
                                      </p:cBhvr>
                                      <p:to>
                                        <p:strVal val="visible"/>
                                      </p:to>
                                    </p:set>
                                    <p:animEffect filter="fade" transition="in">
                                      <p:cBhvr>
                                        <p:cTn dur="500"/>
                                        <p:tgtEl>
                                          <p:spTgt spid="1136"/>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119"/>
                                        </p:tgtEl>
                                      </p:cBhvr>
                                    </p:animEffect>
                                    <p:set>
                                      <p:cBhvr>
                                        <p:cTn dur="1" fill="hold">
                                          <p:stCondLst>
                                            <p:cond delay="1000"/>
                                          </p:stCondLst>
                                        </p:cTn>
                                        <p:tgtEl>
                                          <p:spTgt spid="111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1000"/>
                                        <p:tgtEl>
                                          <p:spTgt spid="1139"/>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136"/>
                                        </p:tgtEl>
                                      </p:cBhvr>
                                    </p:animEffect>
                                    <p:set>
                                      <p:cBhvr>
                                        <p:cTn dur="1" fill="hold">
                                          <p:stCondLst>
                                            <p:cond delay="500"/>
                                          </p:stCondLst>
                                        </p:cTn>
                                        <p:tgtEl>
                                          <p:spTgt spid="1136"/>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8">
                                  <p:stCondLst>
                                    <p:cond delay="0"/>
                                  </p:stCondLst>
                                  <p:childTnLst>
                                    <p:anim calcmode="lin" valueType="num">
                                      <p:cBhvr additive="base">
                                        <p:cTn dur="500"/>
                                        <p:tgtEl>
                                          <p:spTgt spid="1138"/>
                                        </p:tgtEl>
                                        <p:attrNameLst>
                                          <p:attrName>ppt_x</p:attrName>
                                        </p:attrNameLst>
                                      </p:cBhvr>
                                      <p:tavLst>
                                        <p:tav fmla="" tm="0">
                                          <p:val>
                                            <p:strVal val="#ppt_x"/>
                                          </p:val>
                                        </p:tav>
                                        <p:tav fmla="" tm="100000">
                                          <p:val>
                                            <p:strVal val="#ppt_x-1"/>
                                          </p:val>
                                        </p:tav>
                                      </p:tavLst>
                                    </p:anim>
                                    <p:set>
                                      <p:cBhvr>
                                        <p:cTn dur="1" fill="hold">
                                          <p:stCondLst>
                                            <p:cond delay="500"/>
                                          </p:stCondLst>
                                        </p:cTn>
                                        <p:tgtEl>
                                          <p:spTgt spid="113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84"/>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145" name="Google Shape;1145;p84"/>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146" name="Google Shape;1146;p84"/>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147" name="Google Shape;1147;p84"/>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148" name="Google Shape;1148;p84"/>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149" name="Google Shape;1149;p84"/>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150" name="Google Shape;1150;p84"/>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151" name="Google Shape;1151;p84"/>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152" name="Google Shape;1152;p84"/>
          <p:cNvSpPr/>
          <p:nvPr/>
        </p:nvSpPr>
        <p:spPr>
          <a:xfrm>
            <a:off x="4332300" y="400577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1153" name="Google Shape;1153;p84"/>
          <p:cNvSpPr txBox="1"/>
          <p:nvPr/>
        </p:nvSpPr>
        <p:spPr>
          <a:xfrm>
            <a:off x="3886200" y="5029200"/>
            <a:ext cx="742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x</a:t>
            </a:r>
            <a:endParaRPr/>
          </a:p>
        </p:txBody>
      </p:sp>
      <p:grpSp>
        <p:nvGrpSpPr>
          <p:cNvPr id="1154" name="Google Shape;1154;p84"/>
          <p:cNvGrpSpPr/>
          <p:nvPr/>
        </p:nvGrpSpPr>
        <p:grpSpPr>
          <a:xfrm>
            <a:off x="1108075" y="3449637"/>
            <a:ext cx="8550275" cy="608012"/>
            <a:chOff x="644" y="1153"/>
            <a:chExt cx="4972" cy="383"/>
          </a:xfrm>
        </p:grpSpPr>
        <p:sp>
          <p:nvSpPr>
            <p:cNvPr id="1155" name="Google Shape;1155;p84"/>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156" name="Google Shape;1156;p84"/>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157" name="Google Shape;1157;p84"/>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158" name="Google Shape;1158;p84"/>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159" name="Google Shape;1159;p84"/>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160" name="Google Shape;1160;p84"/>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161" name="Google Shape;1161;p84"/>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162" name="Google Shape;1162;p84"/>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163" name="Google Shape;1163;p84"/>
          <p:cNvSpPr/>
          <p:nvPr/>
        </p:nvSpPr>
        <p:spPr>
          <a:xfrm>
            <a:off x="4232275"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pos</a:t>
            </a:r>
            <a:endParaRPr/>
          </a:p>
        </p:txBody>
      </p:sp>
      <p:sp>
        <p:nvSpPr>
          <p:cNvPr id="1164" name="Google Shape;1164;p8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
        <p:nvSpPr>
          <p:cNvPr id="1165" name="Google Shape;1165;p84"/>
          <p:cNvSpPr txBox="1"/>
          <p:nvPr/>
        </p:nvSpPr>
        <p:spPr>
          <a:xfrm>
            <a:off x="2085975" y="1384300"/>
            <a:ext cx="3336925"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Insert a[4] into (0, 3)</a:t>
            </a:r>
            <a:endParaRPr/>
          </a:p>
        </p:txBody>
      </p:sp>
      <p:sp>
        <p:nvSpPr>
          <p:cNvPr id="1166" name="Google Shape;1166;p84"/>
          <p:cNvSpPr/>
          <p:nvPr/>
        </p:nvSpPr>
        <p:spPr>
          <a:xfrm>
            <a:off x="1084262" y="2882900"/>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165"/>
                                        </p:tgtEl>
                                        <p:attrNameLst>
                                          <p:attrName>style.visibility</p:attrName>
                                        </p:attrNameLst>
                                      </p:cBhvr>
                                      <p:to>
                                        <p:strVal val="visible"/>
                                      </p:to>
                                    </p:set>
                                    <p:anim calcmode="lin" valueType="num">
                                      <p:cBhvr additive="base">
                                        <p:cTn dur="500"/>
                                        <p:tgtEl>
                                          <p:spTgt spid="1165"/>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500"/>
                                        <p:tgtEl>
                                          <p:spTgt spid="1163"/>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147"/>
                                        </p:tgtEl>
                                      </p:cBhvr>
                                    </p:animEffect>
                                    <p:set>
                                      <p:cBhvr>
                                        <p:cTn dur="1" fill="hold">
                                          <p:stCondLst>
                                            <p:cond delay="1000"/>
                                          </p:stCondLst>
                                        </p:cTn>
                                        <p:tgtEl>
                                          <p:spTgt spid="114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1000"/>
                                        <p:tgtEl>
                                          <p:spTgt spid="1166"/>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163"/>
                                        </p:tgtEl>
                                      </p:cBhvr>
                                    </p:animEffect>
                                    <p:set>
                                      <p:cBhvr>
                                        <p:cTn dur="1" fill="hold">
                                          <p:stCondLst>
                                            <p:cond delay="500"/>
                                          </p:stCondLst>
                                        </p:cTn>
                                        <p:tgtEl>
                                          <p:spTgt spid="1163"/>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8">
                                  <p:stCondLst>
                                    <p:cond delay="0"/>
                                  </p:stCondLst>
                                  <p:childTnLst>
                                    <p:anim calcmode="lin" valueType="num">
                                      <p:cBhvr additive="base">
                                        <p:cTn dur="500"/>
                                        <p:tgtEl>
                                          <p:spTgt spid="1165"/>
                                        </p:tgtEl>
                                        <p:attrNameLst>
                                          <p:attrName>ppt_x</p:attrName>
                                        </p:attrNameLst>
                                      </p:cBhvr>
                                      <p:tavLst>
                                        <p:tav fmla="" tm="0">
                                          <p:val>
                                            <p:strVal val="#ppt_x"/>
                                          </p:val>
                                        </p:tav>
                                        <p:tav fmla="" tm="100000">
                                          <p:val>
                                            <p:strVal val="#ppt_x-1"/>
                                          </p:val>
                                        </p:tav>
                                      </p:tavLst>
                                    </p:anim>
                                    <p:set>
                                      <p:cBhvr>
                                        <p:cTn dur="1" fill="hold">
                                          <p:stCondLst>
                                            <p:cond delay="500"/>
                                          </p:stCondLst>
                                        </p:cTn>
                                        <p:tgtEl>
                                          <p:spTgt spid="11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86"/>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172" name="Google Shape;1172;p86"/>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173" name="Google Shape;1173;p86"/>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174" name="Google Shape;1174;p86"/>
          <p:cNvSpPr/>
          <p:nvPr/>
        </p:nvSpPr>
        <p:spPr>
          <a:xfrm>
            <a:off x="554196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175" name="Google Shape;1175;p86"/>
          <p:cNvSpPr/>
          <p:nvPr/>
        </p:nvSpPr>
        <p:spPr>
          <a:xfrm>
            <a:off x="6648450"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176" name="Google Shape;1176;p86"/>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177" name="Google Shape;1177;p86"/>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178" name="Google Shape;1178;p86"/>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179" name="Google Shape;1179;p86"/>
          <p:cNvSpPr/>
          <p:nvPr/>
        </p:nvSpPr>
        <p:spPr>
          <a:xfrm>
            <a:off x="6549237" y="3915775"/>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1180" name="Google Shape;1180;p86"/>
          <p:cNvSpPr txBox="1"/>
          <p:nvPr/>
        </p:nvSpPr>
        <p:spPr>
          <a:xfrm>
            <a:off x="3886200" y="5029200"/>
            <a:ext cx="742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x</a:t>
            </a:r>
            <a:endParaRPr/>
          </a:p>
        </p:txBody>
      </p:sp>
      <p:grpSp>
        <p:nvGrpSpPr>
          <p:cNvPr id="1181" name="Google Shape;1181;p86"/>
          <p:cNvGrpSpPr/>
          <p:nvPr/>
        </p:nvGrpSpPr>
        <p:grpSpPr>
          <a:xfrm>
            <a:off x="1108075" y="3421062"/>
            <a:ext cx="8550275" cy="608012"/>
            <a:chOff x="644" y="1153"/>
            <a:chExt cx="4972" cy="383"/>
          </a:xfrm>
        </p:grpSpPr>
        <p:sp>
          <p:nvSpPr>
            <p:cNvPr id="1182" name="Google Shape;1182;p86"/>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183" name="Google Shape;1183;p86"/>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184" name="Google Shape;1184;p86"/>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185" name="Google Shape;1185;p86"/>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186" name="Google Shape;1186;p86"/>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187" name="Google Shape;1187;p86"/>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188" name="Google Shape;1188;p86"/>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189" name="Google Shape;1189;p86"/>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190" name="Google Shape;1190;p86"/>
          <p:cNvSpPr/>
          <p:nvPr/>
        </p:nvSpPr>
        <p:spPr>
          <a:xfrm>
            <a:off x="6465887"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pos</a:t>
            </a:r>
            <a:endParaRPr/>
          </a:p>
        </p:txBody>
      </p:sp>
      <p:sp>
        <p:nvSpPr>
          <p:cNvPr id="1191" name="Google Shape;1191;p86"/>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
        <p:nvSpPr>
          <p:cNvPr id="1192" name="Google Shape;1192;p86"/>
          <p:cNvSpPr txBox="1"/>
          <p:nvPr/>
        </p:nvSpPr>
        <p:spPr>
          <a:xfrm>
            <a:off x="2085975" y="1384300"/>
            <a:ext cx="3336925"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Insert a[6] into (0, 5)</a:t>
            </a:r>
            <a:endParaRPr/>
          </a:p>
        </p:txBody>
      </p:sp>
      <p:sp>
        <p:nvSpPr>
          <p:cNvPr id="1193" name="Google Shape;1193;p86"/>
          <p:cNvSpPr/>
          <p:nvPr/>
        </p:nvSpPr>
        <p:spPr>
          <a:xfrm>
            <a:off x="3316287" y="285273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192"/>
                                        </p:tgtEl>
                                        <p:attrNameLst>
                                          <p:attrName>style.visibility</p:attrName>
                                        </p:attrNameLst>
                                      </p:cBhvr>
                                      <p:to>
                                        <p:strVal val="visible"/>
                                      </p:to>
                                    </p:set>
                                    <p:anim calcmode="lin" valueType="num">
                                      <p:cBhvr additive="base">
                                        <p:cTn dur="500"/>
                                        <p:tgtEl>
                                          <p:spTgt spid="119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90"/>
                                        </p:tgtEl>
                                        <p:attrNameLst>
                                          <p:attrName>style.visibility</p:attrName>
                                        </p:attrNameLst>
                                      </p:cBhvr>
                                      <p:to>
                                        <p:strVal val="visible"/>
                                      </p:to>
                                    </p:set>
                                    <p:animEffect filter="fade" transition="in">
                                      <p:cBhvr>
                                        <p:cTn dur="500"/>
                                        <p:tgtEl>
                                          <p:spTgt spid="1190"/>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176"/>
                                        </p:tgtEl>
                                      </p:cBhvr>
                                    </p:animEffect>
                                    <p:set>
                                      <p:cBhvr>
                                        <p:cTn dur="1" fill="hold">
                                          <p:stCondLst>
                                            <p:cond delay="1000"/>
                                          </p:stCondLst>
                                        </p:cTn>
                                        <p:tgtEl>
                                          <p:spTgt spid="117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93"/>
                                        </p:tgtEl>
                                        <p:attrNameLst>
                                          <p:attrName>style.visibility</p:attrName>
                                        </p:attrNameLst>
                                      </p:cBhvr>
                                      <p:to>
                                        <p:strVal val="visible"/>
                                      </p:to>
                                    </p:set>
                                    <p:animEffect filter="fade" transition="in">
                                      <p:cBhvr>
                                        <p:cTn dur="1000"/>
                                        <p:tgtEl>
                                          <p:spTgt spid="1193"/>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190"/>
                                        </p:tgtEl>
                                      </p:cBhvr>
                                    </p:animEffect>
                                    <p:set>
                                      <p:cBhvr>
                                        <p:cTn dur="1" fill="hold">
                                          <p:stCondLst>
                                            <p:cond delay="500"/>
                                          </p:stCondLst>
                                        </p:cTn>
                                        <p:tgtEl>
                                          <p:spTgt spid="1190"/>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8">
                                  <p:stCondLst>
                                    <p:cond delay="0"/>
                                  </p:stCondLst>
                                  <p:childTnLst>
                                    <p:anim calcmode="lin" valueType="num">
                                      <p:cBhvr additive="base">
                                        <p:cTn dur="500"/>
                                        <p:tgtEl>
                                          <p:spTgt spid="1192"/>
                                        </p:tgtEl>
                                        <p:attrNameLst>
                                          <p:attrName>ppt_x</p:attrName>
                                        </p:attrNameLst>
                                      </p:cBhvr>
                                      <p:tavLst>
                                        <p:tav fmla="" tm="0">
                                          <p:val>
                                            <p:strVal val="#ppt_x"/>
                                          </p:val>
                                        </p:tav>
                                        <p:tav fmla="" tm="100000">
                                          <p:val>
                                            <p:strVal val="#ppt_x-1"/>
                                          </p:val>
                                        </p:tav>
                                      </p:tavLst>
                                    </p:anim>
                                    <p:set>
                                      <p:cBhvr>
                                        <p:cTn dur="1" fill="hold">
                                          <p:stCondLst>
                                            <p:cond delay="500"/>
                                          </p:stCondLst>
                                        </p:cTn>
                                        <p:tgtEl>
                                          <p:spTgt spid="119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87"/>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199" name="Google Shape;1199;p87"/>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200" name="Google Shape;1200;p87"/>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201" name="Google Shape;1201;p87"/>
          <p:cNvSpPr/>
          <p:nvPr/>
        </p:nvSpPr>
        <p:spPr>
          <a:xfrm>
            <a:off x="554196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202" name="Google Shape;1202;p87"/>
          <p:cNvSpPr/>
          <p:nvPr/>
        </p:nvSpPr>
        <p:spPr>
          <a:xfrm>
            <a:off x="6648450"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203" name="Google Shape;1203;p87"/>
          <p:cNvSpPr/>
          <p:nvPr/>
        </p:nvSpPr>
        <p:spPr>
          <a:xfrm>
            <a:off x="775811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204" name="Google Shape;1204;p87"/>
          <p:cNvSpPr/>
          <p:nvPr/>
        </p:nvSpPr>
        <p:spPr>
          <a:xfrm>
            <a:off x="8867775" y="2871787"/>
            <a:ext cx="790575" cy="617537"/>
          </a:xfrm>
          <a:prstGeom prst="ellipse">
            <a:avLst/>
          </a:prstGeom>
          <a:gradFill>
            <a:gsLst>
              <a:gs pos="0">
                <a:srgbClr val="00FF00">
                  <a:alpha val="60000"/>
                </a:srgbClr>
              </a:gs>
              <a:gs pos="100000">
                <a:srgbClr val="0076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205" name="Google Shape;1205;p87"/>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206" name="Google Shape;1206;p87"/>
          <p:cNvSpPr/>
          <p:nvPr/>
        </p:nvSpPr>
        <p:spPr>
          <a:xfrm>
            <a:off x="7658088" y="3969600"/>
            <a:ext cx="990600" cy="823800"/>
          </a:xfrm>
          <a:prstGeom prst="upArrowCallout">
            <a:avLst>
              <a:gd fmla="val 10684" name="adj1"/>
              <a:gd fmla="val 5775"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a:t>
            </a:r>
            <a:endParaRPr/>
          </a:p>
        </p:txBody>
      </p:sp>
      <p:sp>
        <p:nvSpPr>
          <p:cNvPr id="1207" name="Google Shape;1207;p87"/>
          <p:cNvSpPr txBox="1"/>
          <p:nvPr/>
        </p:nvSpPr>
        <p:spPr>
          <a:xfrm>
            <a:off x="3886200" y="5029200"/>
            <a:ext cx="742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a:solidFill>
                  <a:schemeClr val="dk1"/>
                </a:solidFill>
                <a:latin typeface="Times New Roman"/>
                <a:ea typeface="Times New Roman"/>
                <a:cs typeface="Times New Roman"/>
                <a:sym typeface="Times New Roman"/>
              </a:rPr>
              <a:t>x</a:t>
            </a:r>
            <a:endParaRPr/>
          </a:p>
        </p:txBody>
      </p:sp>
      <p:grpSp>
        <p:nvGrpSpPr>
          <p:cNvPr id="1208" name="Google Shape;1208;p87"/>
          <p:cNvGrpSpPr/>
          <p:nvPr/>
        </p:nvGrpSpPr>
        <p:grpSpPr>
          <a:xfrm>
            <a:off x="1117600" y="3462337"/>
            <a:ext cx="8550275" cy="608012"/>
            <a:chOff x="644" y="1153"/>
            <a:chExt cx="4972" cy="383"/>
          </a:xfrm>
        </p:grpSpPr>
        <p:sp>
          <p:nvSpPr>
            <p:cNvPr id="1209" name="Google Shape;1209;p87"/>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210" name="Google Shape;1210;p87"/>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211" name="Google Shape;1211;p87"/>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212" name="Google Shape;1212;p87"/>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213" name="Google Shape;1213;p87"/>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214" name="Google Shape;1214;p87"/>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215" name="Google Shape;1215;p87"/>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216" name="Google Shape;1216;p87"/>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217" name="Google Shape;1217;p87"/>
          <p:cNvSpPr/>
          <p:nvPr/>
        </p:nvSpPr>
        <p:spPr>
          <a:xfrm>
            <a:off x="7545387" y="2039937"/>
            <a:ext cx="1238250" cy="769937"/>
          </a:xfrm>
          <a:prstGeom prst="downArrowCallout">
            <a:avLst>
              <a:gd fmla="val 11798"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Times New Roman"/>
              <a:buNone/>
            </a:pPr>
            <a:r>
              <a:rPr b="0" i="0" lang="en-US" sz="2400" u="none">
                <a:solidFill>
                  <a:srgbClr val="0000FF"/>
                </a:solidFill>
                <a:latin typeface="Times New Roman"/>
                <a:ea typeface="Times New Roman"/>
                <a:cs typeface="Times New Roman"/>
                <a:sym typeface="Times New Roman"/>
              </a:rPr>
              <a:t>pos</a:t>
            </a:r>
            <a:endParaRPr/>
          </a:p>
        </p:txBody>
      </p:sp>
      <p:sp>
        <p:nvSpPr>
          <p:cNvPr id="1218" name="Google Shape;1218;p8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
        <p:nvSpPr>
          <p:cNvPr id="1219" name="Google Shape;1219;p87"/>
          <p:cNvSpPr txBox="1"/>
          <p:nvPr/>
        </p:nvSpPr>
        <p:spPr>
          <a:xfrm>
            <a:off x="2085975" y="1384300"/>
            <a:ext cx="3336925"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62AD4"/>
              </a:buClr>
              <a:buSzPts val="2400"/>
              <a:buFont typeface="Helvetica Neue"/>
              <a:buNone/>
            </a:pPr>
            <a:r>
              <a:rPr b="1" i="0" lang="en-US" sz="2400" u="none">
                <a:solidFill>
                  <a:srgbClr val="362AD4"/>
                </a:solidFill>
                <a:latin typeface="Helvetica Neue"/>
                <a:ea typeface="Helvetica Neue"/>
                <a:cs typeface="Helvetica Neue"/>
                <a:sym typeface="Helvetica Neue"/>
              </a:rPr>
              <a:t>Insert a[8] into (0, 6)</a:t>
            </a:r>
            <a:endParaRPr/>
          </a:p>
        </p:txBody>
      </p:sp>
      <p:sp>
        <p:nvSpPr>
          <p:cNvPr id="1220" name="Google Shape;1220;p87"/>
          <p:cNvSpPr/>
          <p:nvPr/>
        </p:nvSpPr>
        <p:spPr>
          <a:xfrm>
            <a:off x="8840787" y="285273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219"/>
                                        </p:tgtEl>
                                        <p:attrNameLst>
                                          <p:attrName>style.visibility</p:attrName>
                                        </p:attrNameLst>
                                      </p:cBhvr>
                                      <p:to>
                                        <p:strVal val="visible"/>
                                      </p:to>
                                    </p:set>
                                    <p:anim calcmode="lin" valueType="num">
                                      <p:cBhvr additive="base">
                                        <p:cTn dur="500"/>
                                        <p:tgtEl>
                                          <p:spTgt spid="121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17"/>
                                        </p:tgtEl>
                                        <p:attrNameLst>
                                          <p:attrName>style.visibility</p:attrName>
                                        </p:attrNameLst>
                                      </p:cBhvr>
                                      <p:to>
                                        <p:strVal val="visible"/>
                                      </p:to>
                                    </p:set>
                                    <p:animEffect filter="fade" transition="in">
                                      <p:cBhvr>
                                        <p:cTn dur="500"/>
                                        <p:tgtEl>
                                          <p:spTgt spid="1217"/>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204"/>
                                        </p:tgtEl>
                                      </p:cBhvr>
                                    </p:animEffect>
                                    <p:set>
                                      <p:cBhvr>
                                        <p:cTn dur="1" fill="hold">
                                          <p:stCondLst>
                                            <p:cond delay="1000"/>
                                          </p:stCondLst>
                                        </p:cTn>
                                        <p:tgtEl>
                                          <p:spTgt spid="120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20"/>
                                        </p:tgtEl>
                                        <p:attrNameLst>
                                          <p:attrName>style.visibility</p:attrName>
                                        </p:attrNameLst>
                                      </p:cBhvr>
                                      <p:to>
                                        <p:strVal val="visible"/>
                                      </p:to>
                                    </p:set>
                                    <p:animEffect filter="fade" transition="in">
                                      <p:cBhvr>
                                        <p:cTn dur="1000"/>
                                        <p:tgtEl>
                                          <p:spTgt spid="1220"/>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217"/>
                                        </p:tgtEl>
                                      </p:cBhvr>
                                    </p:animEffect>
                                    <p:set>
                                      <p:cBhvr>
                                        <p:cTn dur="1" fill="hold">
                                          <p:stCondLst>
                                            <p:cond delay="500"/>
                                          </p:stCondLst>
                                        </p:cTn>
                                        <p:tgtEl>
                                          <p:spTgt spid="1217"/>
                                        </p:tgtEl>
                                        <p:attrNameLst>
                                          <p:attrName>style.visibility</p:attrName>
                                        </p:attrNameLst>
                                      </p:cBhvr>
                                      <p:to>
                                        <p:strVal val="hidden"/>
                                      </p:to>
                                    </p:set>
                                  </p:childTnLst>
                                </p:cTn>
                              </p:par>
                            </p:childTnLst>
                          </p:cTn>
                        </p:par>
                        <p:par>
                          <p:cTn fill="hold">
                            <p:stCondLst>
                              <p:cond delay="2500"/>
                            </p:stCondLst>
                            <p:childTnLst>
                              <p:par>
                                <p:cTn fill="hold" nodeType="afterEffect" presetClass="exit" presetID="2" presetSubtype="8">
                                  <p:stCondLst>
                                    <p:cond delay="0"/>
                                  </p:stCondLst>
                                  <p:childTnLst>
                                    <p:anim calcmode="lin" valueType="num">
                                      <p:cBhvr additive="base">
                                        <p:cTn dur="500"/>
                                        <p:tgtEl>
                                          <p:spTgt spid="1219"/>
                                        </p:tgtEl>
                                        <p:attrNameLst>
                                          <p:attrName>ppt_x</p:attrName>
                                        </p:attrNameLst>
                                      </p:cBhvr>
                                      <p:tavLst>
                                        <p:tav fmla="" tm="0">
                                          <p:val>
                                            <p:strVal val="#ppt_x"/>
                                          </p:val>
                                        </p:tav>
                                        <p:tav fmla="" tm="100000">
                                          <p:val>
                                            <p:strVal val="#ppt_x-1"/>
                                          </p:val>
                                        </p:tav>
                                      </p:tavLst>
                                    </p:anim>
                                    <p:set>
                                      <p:cBhvr>
                                        <p:cTn dur="1" fill="hold">
                                          <p:stCondLst>
                                            <p:cond delay="500"/>
                                          </p:stCondLst>
                                        </p:cTn>
                                        <p:tgtEl>
                                          <p:spTgt spid="12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88"/>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226" name="Google Shape;1226;p88"/>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227" name="Google Shape;1227;p88"/>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228" name="Google Shape;1228;p88"/>
          <p:cNvSpPr/>
          <p:nvPr/>
        </p:nvSpPr>
        <p:spPr>
          <a:xfrm>
            <a:off x="554196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229" name="Google Shape;1229;p88"/>
          <p:cNvSpPr/>
          <p:nvPr/>
        </p:nvSpPr>
        <p:spPr>
          <a:xfrm>
            <a:off x="6648450"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230" name="Google Shape;1230;p88"/>
          <p:cNvSpPr/>
          <p:nvPr/>
        </p:nvSpPr>
        <p:spPr>
          <a:xfrm>
            <a:off x="775811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231" name="Google Shape;1231;p88"/>
          <p:cNvSpPr/>
          <p:nvPr/>
        </p:nvSpPr>
        <p:spPr>
          <a:xfrm>
            <a:off x="88677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232" name="Google Shape;1232;p88"/>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233" name="Google Shape;1233;p88"/>
          <p:cNvSpPr/>
          <p:nvPr/>
        </p:nvSpPr>
        <p:spPr>
          <a:xfrm>
            <a:off x="5283200" y="2057400"/>
            <a:ext cx="1238250" cy="769937"/>
          </a:xfrm>
          <a:prstGeom prst="downArrowCallout">
            <a:avLst>
              <a:gd fmla="val 11798" name="adj1"/>
              <a:gd fmla="val 25000" name="adj2"/>
              <a:gd fmla="val 25000" name="adj3"/>
              <a:gd fmla="val 64977" name="adj4"/>
            </a:avLst>
          </a:prstGeom>
          <a:solidFill>
            <a:schemeClr val="lt1"/>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400"/>
              <a:buFont typeface="Times New Roman"/>
              <a:buNone/>
            </a:pPr>
            <a:r>
              <a:rPr b="0" i="0" lang="en-US" sz="2400" u="none">
                <a:solidFill>
                  <a:schemeClr val="lt1"/>
                </a:solidFill>
                <a:latin typeface="Times New Roman"/>
                <a:ea typeface="Times New Roman"/>
                <a:cs typeface="Times New Roman"/>
                <a:sym typeface="Times New Roman"/>
              </a:rPr>
              <a:t>pos</a:t>
            </a:r>
            <a:endParaRPr/>
          </a:p>
        </p:txBody>
      </p:sp>
      <p:grpSp>
        <p:nvGrpSpPr>
          <p:cNvPr id="1234" name="Google Shape;1234;p88"/>
          <p:cNvGrpSpPr/>
          <p:nvPr/>
        </p:nvGrpSpPr>
        <p:grpSpPr>
          <a:xfrm>
            <a:off x="1108075" y="3468687"/>
            <a:ext cx="8550275" cy="608012"/>
            <a:chOff x="644" y="1153"/>
            <a:chExt cx="4972" cy="383"/>
          </a:xfrm>
        </p:grpSpPr>
        <p:sp>
          <p:nvSpPr>
            <p:cNvPr id="1235" name="Google Shape;1235;p88"/>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236" name="Google Shape;1236;p88"/>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237" name="Google Shape;1237;p88"/>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238" name="Google Shape;1238;p88"/>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239" name="Google Shape;1239;p88"/>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240" name="Google Shape;1240;p88"/>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241" name="Google Shape;1241;p88"/>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242" name="Google Shape;1242;p88"/>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243" name="Google Shape;1243;p8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Minh Họa Thuật Toán Insertion Sort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25"/>
                                        </p:tgtEl>
                                        <p:attrNameLst>
                                          <p:attrName>style.visibility</p:attrName>
                                        </p:attrNameLst>
                                      </p:cBhvr>
                                      <p:to>
                                        <p:strVal val="visible"/>
                                      </p:to>
                                    </p:set>
                                    <p:animEffect filter="fade" transition="in">
                                      <p:cBhvr>
                                        <p:cTn dur="2000"/>
                                        <p:tgtEl>
                                          <p:spTgt spid="1225"/>
                                        </p:tgtEl>
                                      </p:cBhvr>
                                    </p:animEffect>
                                  </p:childTnLst>
                                </p:cTn>
                              </p:par>
                              <p:par>
                                <p:cTn fill="hold" nodeType="withEffect" presetClass="entr" presetID="10" presetSubtype="0">
                                  <p:stCondLst>
                                    <p:cond delay="0"/>
                                  </p:stCondLst>
                                  <p:childTnLst>
                                    <p:set>
                                      <p:cBhvr>
                                        <p:cTn dur="1" fill="hold">
                                          <p:stCondLst>
                                            <p:cond delay="0"/>
                                          </p:stCondLst>
                                        </p:cTn>
                                        <p:tgtEl>
                                          <p:spTgt spid="1226"/>
                                        </p:tgtEl>
                                        <p:attrNameLst>
                                          <p:attrName>style.visibility</p:attrName>
                                        </p:attrNameLst>
                                      </p:cBhvr>
                                      <p:to>
                                        <p:strVal val="visible"/>
                                      </p:to>
                                    </p:set>
                                    <p:animEffect filter="fade" transition="in">
                                      <p:cBhvr>
                                        <p:cTn dur="2000"/>
                                        <p:tgtEl>
                                          <p:spTgt spid="1226"/>
                                        </p:tgtEl>
                                      </p:cBhvr>
                                    </p:animEffect>
                                  </p:childTnLst>
                                </p:cTn>
                              </p:par>
                              <p:par>
                                <p:cTn fill="hold" nodeType="withEffect" presetClass="entr" presetID="10" presetSubtype="0">
                                  <p:stCondLst>
                                    <p:cond delay="0"/>
                                  </p:stCondLst>
                                  <p:childTnLst>
                                    <p:set>
                                      <p:cBhvr>
                                        <p:cTn dur="1" fill="hold">
                                          <p:stCondLst>
                                            <p:cond delay="0"/>
                                          </p:stCondLst>
                                        </p:cTn>
                                        <p:tgtEl>
                                          <p:spTgt spid="1227"/>
                                        </p:tgtEl>
                                        <p:attrNameLst>
                                          <p:attrName>style.visibility</p:attrName>
                                        </p:attrNameLst>
                                      </p:cBhvr>
                                      <p:to>
                                        <p:strVal val="visible"/>
                                      </p:to>
                                    </p:set>
                                    <p:animEffect filter="fade" transition="in">
                                      <p:cBhvr>
                                        <p:cTn dur="2000"/>
                                        <p:tgtEl>
                                          <p:spTgt spid="1227"/>
                                        </p:tgtEl>
                                      </p:cBhvr>
                                    </p:animEffect>
                                  </p:childTnLst>
                                </p:cTn>
                              </p:par>
                              <p:par>
                                <p:cTn fill="hold" nodeType="withEffect" presetClass="entr" presetID="10" presetSubtype="0">
                                  <p:stCondLst>
                                    <p:cond delay="0"/>
                                  </p:stCondLst>
                                  <p:childTnLst>
                                    <p:set>
                                      <p:cBhvr>
                                        <p:cTn dur="1" fill="hold">
                                          <p:stCondLst>
                                            <p:cond delay="0"/>
                                          </p:stCondLst>
                                        </p:cTn>
                                        <p:tgtEl>
                                          <p:spTgt spid="1228"/>
                                        </p:tgtEl>
                                        <p:attrNameLst>
                                          <p:attrName>style.visibility</p:attrName>
                                        </p:attrNameLst>
                                      </p:cBhvr>
                                      <p:to>
                                        <p:strVal val="visible"/>
                                      </p:to>
                                    </p:set>
                                    <p:animEffect filter="fade" transition="in">
                                      <p:cBhvr>
                                        <p:cTn dur="2000"/>
                                        <p:tgtEl>
                                          <p:spTgt spid="1228"/>
                                        </p:tgtEl>
                                      </p:cBhvr>
                                    </p:animEffect>
                                  </p:childTnLst>
                                </p:cTn>
                              </p:par>
                              <p:par>
                                <p:cTn fill="hold" nodeType="withEffect" presetClass="entr" presetID="10" presetSubtype="0">
                                  <p:stCondLst>
                                    <p:cond delay="0"/>
                                  </p:stCondLst>
                                  <p:childTnLst>
                                    <p:set>
                                      <p:cBhvr>
                                        <p:cTn dur="1" fill="hold">
                                          <p:stCondLst>
                                            <p:cond delay="0"/>
                                          </p:stCondLst>
                                        </p:cTn>
                                        <p:tgtEl>
                                          <p:spTgt spid="1229"/>
                                        </p:tgtEl>
                                        <p:attrNameLst>
                                          <p:attrName>style.visibility</p:attrName>
                                        </p:attrNameLst>
                                      </p:cBhvr>
                                      <p:to>
                                        <p:strVal val="visible"/>
                                      </p:to>
                                    </p:set>
                                    <p:animEffect filter="fade" transition="in">
                                      <p:cBhvr>
                                        <p:cTn dur="2000"/>
                                        <p:tgtEl>
                                          <p:spTgt spid="1229"/>
                                        </p:tgtEl>
                                      </p:cBhvr>
                                    </p:animEffect>
                                  </p:childTnLst>
                                </p:cTn>
                              </p:par>
                              <p:par>
                                <p:cTn fill="hold" nodeType="with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2000"/>
                                        <p:tgtEl>
                                          <p:spTgt spid="1230"/>
                                        </p:tgtEl>
                                      </p:cBhvr>
                                    </p:animEffect>
                                  </p:childTnLst>
                                </p:cTn>
                              </p:par>
                              <p:par>
                                <p:cTn fill="hold" nodeType="withEffect" presetClass="entr" presetID="10" presetSubtype="0">
                                  <p:stCondLst>
                                    <p:cond delay="0"/>
                                  </p:stCondLst>
                                  <p:childTnLst>
                                    <p:set>
                                      <p:cBhvr>
                                        <p:cTn dur="1" fill="hold">
                                          <p:stCondLst>
                                            <p:cond delay="0"/>
                                          </p:stCondLst>
                                        </p:cTn>
                                        <p:tgtEl>
                                          <p:spTgt spid="1231"/>
                                        </p:tgtEl>
                                        <p:attrNameLst>
                                          <p:attrName>style.visibility</p:attrName>
                                        </p:attrNameLst>
                                      </p:cBhvr>
                                      <p:to>
                                        <p:strVal val="visible"/>
                                      </p:to>
                                    </p:set>
                                    <p:animEffect filter="fade" transition="in">
                                      <p:cBhvr>
                                        <p:cTn dur="2000"/>
                                        <p:tgtEl>
                                          <p:spTgt spid="1231"/>
                                        </p:tgtEl>
                                      </p:cBhvr>
                                    </p:animEffect>
                                  </p:childTnLst>
                                </p:cTn>
                              </p:par>
                              <p:par>
                                <p:cTn fill="hold" nodeType="withEffect" presetClass="entr" presetID="10" presetSubtype="0">
                                  <p:stCondLst>
                                    <p:cond delay="0"/>
                                  </p:stCondLst>
                                  <p:childTnLst>
                                    <p:set>
                                      <p:cBhvr>
                                        <p:cTn dur="1" fill="hold">
                                          <p:stCondLst>
                                            <p:cond delay="0"/>
                                          </p:stCondLst>
                                        </p:cTn>
                                        <p:tgtEl>
                                          <p:spTgt spid="1232"/>
                                        </p:tgtEl>
                                        <p:attrNameLst>
                                          <p:attrName>style.visibility</p:attrName>
                                        </p:attrNameLst>
                                      </p:cBhvr>
                                      <p:to>
                                        <p:strVal val="visible"/>
                                      </p:to>
                                    </p:set>
                                    <p:animEffect filter="fade" transition="in">
                                      <p:cBhvr>
                                        <p:cTn dur="2000"/>
                                        <p:tgtEl>
                                          <p:spTgt spid="1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8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Độ Phức Tạp Của</a:t>
            </a:r>
            <a:r>
              <a:rPr b="1" i="0" lang="en-US" sz="3200" u="none">
                <a:solidFill>
                  <a:schemeClr val="lt1"/>
                </a:solidFill>
                <a:latin typeface="Arial"/>
                <a:ea typeface="Arial"/>
                <a:cs typeface="Arial"/>
                <a:sym typeface="Arial"/>
              </a:rPr>
              <a:t> </a:t>
            </a:r>
            <a:r>
              <a:rPr b="1" i="0" lang="en-US" sz="3200" u="none">
                <a:solidFill>
                  <a:srgbClr val="FFF3F3"/>
                </a:solidFill>
                <a:latin typeface="Arial"/>
                <a:ea typeface="Arial"/>
                <a:cs typeface="Arial"/>
                <a:sym typeface="Arial"/>
              </a:rPr>
              <a:t>Insertion Sort</a:t>
            </a:r>
            <a:endParaRPr/>
          </a:p>
        </p:txBody>
      </p:sp>
      <p:pic>
        <p:nvPicPr>
          <p:cNvPr id="1249" name="Google Shape;1249;p89"/>
          <p:cNvPicPr preferRelativeResize="0"/>
          <p:nvPr/>
        </p:nvPicPr>
        <p:blipFill rotWithShape="1">
          <a:blip r:embed="rId3">
            <a:alphaModFix/>
          </a:blip>
          <a:srcRect b="0" l="0" r="0" t="0"/>
          <a:stretch/>
        </p:blipFill>
        <p:spPr>
          <a:xfrm>
            <a:off x="704850" y="2492375"/>
            <a:ext cx="9201149" cy="3065462"/>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90"/>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Các Thuật Toán Sắp Xếp</a:t>
            </a:r>
            <a:endParaRPr/>
          </a:p>
        </p:txBody>
      </p:sp>
      <p:sp>
        <p:nvSpPr>
          <p:cNvPr id="1255" name="Google Shape;1255;p90"/>
          <p:cNvSpPr txBox="1"/>
          <p:nvPr>
            <p:ph idx="1" type="body"/>
          </p:nvPr>
        </p:nvSpPr>
        <p:spPr>
          <a:xfrm>
            <a:off x="1020775" y="908925"/>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	1. Đổi chỗ trực tiếp – Interchange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2. Chọn trực tiếp – Selection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3. Nổi bọt – Bubble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4. Shaker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5. Chèn trực tiếp – Insertion Sort</a:t>
            </a:r>
            <a:endParaRPr/>
          </a:p>
          <a:p>
            <a:pPr indent="-463550" lvl="0" marL="463550" rtl="0" algn="l">
              <a:lnSpc>
                <a:spcPct val="100000"/>
              </a:lnSpc>
              <a:spcBef>
                <a:spcPts val="560"/>
              </a:spcBef>
              <a:spcAft>
                <a:spcPts val="0"/>
              </a:spcAft>
              <a:buClr>
                <a:schemeClr val="dk1"/>
              </a:buClr>
              <a:buSzPts val="2800"/>
              <a:buNone/>
            </a:pPr>
            <a:r>
              <a:rPr b="1" i="0" lang="en-US" sz="2800" u="none">
                <a:solidFill>
                  <a:schemeClr val="dk1"/>
                </a:solidFill>
                <a:latin typeface="Arial"/>
                <a:ea typeface="Arial"/>
                <a:cs typeface="Arial"/>
                <a:sym typeface="Arial"/>
              </a:rPr>
              <a:t>	6. Chèn nhị phân – Binary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7. Shell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8. Heap Sort</a:t>
            </a:r>
            <a:r>
              <a:rPr b="1"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9. Quick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10. Merge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11. Radix Sort</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91"/>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Chèn Nhị Phân – Binary Insertion Sort</a:t>
            </a:r>
            <a:endParaRPr/>
          </a:p>
        </p:txBody>
      </p:sp>
      <p:sp>
        <p:nvSpPr>
          <p:cNvPr id="1261" name="Google Shape;1261;p91"/>
          <p:cNvSpPr txBox="1"/>
          <p:nvPr>
            <p:ph idx="1" type="body"/>
          </p:nvPr>
        </p:nvSpPr>
        <p:spPr>
          <a:xfrm>
            <a:off x="1127125" y="1111250"/>
            <a:ext cx="8434500" cy="5413500"/>
          </a:xfrm>
          <a:prstGeom prst="rect">
            <a:avLst/>
          </a:prstGeom>
          <a:noFill/>
          <a:ln>
            <a:noFill/>
          </a:ln>
        </p:spPr>
        <p:txBody>
          <a:bodyPr anchorCtr="0" anchor="t" bIns="45700" lIns="91425" spcFirstLastPara="1" rIns="91425" wrap="square" tIns="45700">
            <a:noAutofit/>
          </a:bodyPr>
          <a:lstStyle/>
          <a:p>
            <a:pPr indent="-463550" lvl="0" marL="463550" rtl="0" algn="l">
              <a:lnSpc>
                <a:spcPct val="80000"/>
              </a:lnSpc>
              <a:spcBef>
                <a:spcPts val="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void</a:t>
            </a:r>
            <a:r>
              <a:rPr b="0" i="0" lang="en-US" sz="2400" u="none">
                <a:solidFill>
                  <a:schemeClr val="dk1"/>
                </a:solidFill>
                <a:latin typeface="Arial"/>
                <a:ea typeface="Arial"/>
                <a:cs typeface="Arial"/>
                <a:sym typeface="Arial"/>
              </a:rPr>
              <a:t>	 BInsertionSort(int a[],int n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endParaRPr/>
          </a:p>
          <a:p>
            <a:pPr indent="-463550" lvl="0" marL="463550"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l,r,m,i;</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int</a:t>
            </a:r>
            <a:r>
              <a:rPr b="0" i="0" lang="en-US" sz="2400" u="none">
                <a:solidFill>
                  <a:schemeClr val="dk1"/>
                </a:solidFill>
                <a:latin typeface="Arial"/>
                <a:ea typeface="Arial"/>
                <a:cs typeface="Arial"/>
                <a:sym typeface="Arial"/>
              </a:rPr>
              <a:t> x</a:t>
            </a:r>
            <a:r>
              <a:rPr b="0" i="1" lang="en-US" sz="1400" u="none">
                <a:solidFill>
                  <a:schemeClr val="dk1"/>
                </a:solidFill>
                <a:latin typeface="Arial"/>
                <a:ea typeface="Arial"/>
                <a:cs typeface="Arial"/>
                <a:sym typeface="Arial"/>
              </a:rPr>
              <a:t>;</a:t>
            </a:r>
            <a:r>
              <a:rPr b="0" i="0" lang="en-US" sz="1400" u="none">
                <a:solidFill>
                  <a:schemeClr val="dk1"/>
                </a:solidFill>
                <a:latin typeface="Arial"/>
                <a:ea typeface="Arial"/>
                <a:cs typeface="Arial"/>
                <a:sym typeface="Arial"/>
              </a:rPr>
              <a:t>//lưu giá trị a[i] tránh bị ghi đè khi dời chỗ các phần tử</a:t>
            </a:r>
            <a:r>
              <a:rPr b="0" i="0" lang="en-US" sz="1600" u="none">
                <a:solidFill>
                  <a:schemeClr val="dk1"/>
                </a:solidFill>
                <a:latin typeface="Arial"/>
                <a:ea typeface="Arial"/>
                <a:cs typeface="Arial"/>
                <a:sym typeface="Arial"/>
              </a:rPr>
              <a:t>.</a:t>
            </a:r>
            <a:br>
              <a:rPr b="0" i="1" lang="en-US" sz="16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for</a:t>
            </a:r>
            <a:r>
              <a:rPr b="0" i="0" lang="en-US" sz="2400" u="none">
                <a:solidFill>
                  <a:schemeClr val="dk1"/>
                </a:solidFill>
                <a:latin typeface="Arial"/>
                <a:ea typeface="Arial"/>
                <a:cs typeface="Arial"/>
                <a:sym typeface="Arial"/>
              </a:rPr>
              <a:t>(int i=1 ; i&lt;n ; i++)</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	x = a[i]; l = 1; r = i-1;</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while</a:t>
            </a:r>
            <a:r>
              <a:rPr b="0" i="0" lang="en-US" sz="2400" u="none">
                <a:solidFill>
                  <a:schemeClr val="dk1"/>
                </a:solidFill>
                <a:latin typeface="Arial"/>
                <a:ea typeface="Arial"/>
                <a:cs typeface="Arial"/>
                <a:sym typeface="Arial"/>
              </a:rPr>
              <a:t>(i&lt;=r)	</a:t>
            </a:r>
            <a:r>
              <a:rPr b="0" i="0" lang="en-US" sz="1400" u="none">
                <a:solidFill>
                  <a:schemeClr val="dk1"/>
                </a:solidFill>
                <a:latin typeface="Arial"/>
                <a:ea typeface="Arial"/>
                <a:cs typeface="Arial"/>
                <a:sym typeface="Arial"/>
              </a:rPr>
              <a:t>// tìm vị trí chèn x</a:t>
            </a:r>
            <a:r>
              <a:rPr b="0" i="0" lang="en-US" sz="2400" u="none">
                <a:solidFill>
                  <a:schemeClr val="dk1"/>
                </a:solidFill>
                <a:latin typeface="Arial"/>
                <a:ea typeface="Arial"/>
                <a:cs typeface="Arial"/>
                <a:sym typeface="Arial"/>
              </a:rPr>
              <a:t>	</a:t>
            </a:r>
            <a:endParaRPr/>
          </a:p>
          <a:p>
            <a:pPr indent="-463550" lvl="0" marL="463550"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	m = (l+r)/2;	</a:t>
            </a:r>
            <a:r>
              <a:rPr b="0" i="0" lang="en-US" sz="1400" u="none">
                <a:solidFill>
                  <a:schemeClr val="dk1"/>
                </a:solidFill>
                <a:latin typeface="Arial"/>
                <a:ea typeface="Arial"/>
                <a:cs typeface="Arial"/>
                <a:sym typeface="Arial"/>
              </a:rPr>
              <a:t>// tìm vị trí thích hợp m</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if</a:t>
            </a:r>
            <a:r>
              <a:rPr b="0" i="0" lang="en-US" sz="2400" u="none">
                <a:solidFill>
                  <a:schemeClr val="dk1"/>
                </a:solidFill>
                <a:latin typeface="Arial"/>
                <a:ea typeface="Arial"/>
                <a:cs typeface="Arial"/>
                <a:sym typeface="Arial"/>
              </a:rPr>
              <a:t>(x &lt; a[m]) r = m-1;</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else</a:t>
            </a:r>
            <a:r>
              <a:rPr b="0" i="0" lang="en-US" sz="2400" u="none">
                <a:solidFill>
                  <a:schemeClr val="dk1"/>
                </a:solidFill>
                <a:latin typeface="Arial"/>
                <a:ea typeface="Arial"/>
                <a:cs typeface="Arial"/>
                <a:sym typeface="Arial"/>
              </a:rPr>
              <a:t>	l = m+1;</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for</a:t>
            </a:r>
            <a:r>
              <a:rPr b="0" i="0" lang="en-US" sz="2400" u="none">
                <a:solidFill>
                  <a:schemeClr val="dk1"/>
                </a:solidFill>
                <a:latin typeface="Arial"/>
                <a:ea typeface="Arial"/>
                <a:cs typeface="Arial"/>
                <a:sym typeface="Arial"/>
              </a:rPr>
              <a:t>(int j = i-1 ; j &gt;=l ; j--)</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a[j+1] = </a:t>
            </a:r>
            <a:r>
              <a:rPr b="0" i="0" lang="en-US" sz="2000" u="none">
                <a:solidFill>
                  <a:schemeClr val="dk1"/>
                </a:solidFill>
                <a:latin typeface="Arial"/>
                <a:ea typeface="Arial"/>
                <a:cs typeface="Arial"/>
                <a:sym typeface="Arial"/>
              </a:rPr>
              <a:t>a[j</a:t>
            </a:r>
            <a:r>
              <a:rPr b="0" i="1" lang="en-US" sz="2000" u="none">
                <a:solidFill>
                  <a:schemeClr val="dk1"/>
                </a:solidFill>
                <a:latin typeface="Arial"/>
                <a:ea typeface="Arial"/>
                <a:cs typeface="Arial"/>
                <a:sym typeface="Arial"/>
              </a:rPr>
              <a:t>]</a:t>
            </a:r>
            <a:r>
              <a:rPr b="0" i="1" lang="en-US" sz="1400" u="none">
                <a:solidFill>
                  <a:schemeClr val="dk1"/>
                </a:solidFill>
                <a:latin typeface="Arial"/>
                <a:ea typeface="Arial"/>
                <a:cs typeface="Arial"/>
                <a:sym typeface="Arial"/>
              </a:rPr>
              <a:t>;</a:t>
            </a:r>
            <a:r>
              <a:rPr b="0" i="0" lang="en-US" sz="1400" u="none">
                <a:solidFill>
                  <a:schemeClr val="dk1"/>
                </a:solidFill>
                <a:latin typeface="Arial"/>
                <a:ea typeface="Arial"/>
                <a:cs typeface="Arial"/>
                <a:sym typeface="Arial"/>
              </a:rPr>
              <a:t>// dời các phần tử sẽ đứng sau x</a:t>
            </a:r>
            <a:br>
              <a:rPr b="0" i="0" lang="en-US" sz="1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a[l] = x;		</a:t>
            </a:r>
            <a:r>
              <a:rPr b="0" i="0" lang="en-US" sz="1400" u="none">
                <a:solidFill>
                  <a:schemeClr val="dk1"/>
                </a:solidFill>
                <a:latin typeface="Arial"/>
                <a:ea typeface="Arial"/>
                <a:cs typeface="Arial"/>
                <a:sym typeface="Arial"/>
              </a:rPr>
              <a:t>// chèn x vào dãy</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t>
            </a:r>
            <a:endParaRPr/>
          </a:p>
          <a:p>
            <a:pPr indent="-463550" lvl="0" marL="463550" rtl="0" algn="l">
              <a:lnSpc>
                <a:spcPct val="8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92"/>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Các Thuật Toán Sắp Xếp</a:t>
            </a:r>
            <a:endParaRPr/>
          </a:p>
        </p:txBody>
      </p:sp>
      <p:sp>
        <p:nvSpPr>
          <p:cNvPr id="1267" name="Google Shape;1267;p92"/>
          <p:cNvSpPr txBox="1"/>
          <p:nvPr>
            <p:ph idx="1" type="body"/>
          </p:nvPr>
        </p:nvSpPr>
        <p:spPr>
          <a:xfrm>
            <a:off x="992187" y="981075"/>
            <a:ext cx="85692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	1. Đổi chỗ trực tiếp – Interchange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2. Chọn trực tiếp – Selection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3. Nổi bọt – Bubble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4. Shaker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5. Chèn trực tiếp –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6. Chèn nhị phân – Binary Insertion Sort</a:t>
            </a:r>
            <a:endParaRPr/>
          </a:p>
          <a:p>
            <a:pPr indent="-463550" lvl="0" marL="463550" rtl="0" algn="l">
              <a:lnSpc>
                <a:spcPct val="100000"/>
              </a:lnSpc>
              <a:spcBef>
                <a:spcPts val="560"/>
              </a:spcBef>
              <a:spcAft>
                <a:spcPts val="0"/>
              </a:spcAft>
              <a:buClr>
                <a:schemeClr val="dk1"/>
              </a:buClr>
              <a:buSzPts val="2800"/>
              <a:buNone/>
            </a:pPr>
            <a:r>
              <a:rPr b="1" i="0" lang="en-US" sz="2800" u="none">
                <a:solidFill>
                  <a:schemeClr val="dk1"/>
                </a:solidFill>
                <a:latin typeface="Arial"/>
                <a:ea typeface="Arial"/>
                <a:cs typeface="Arial"/>
                <a:sym typeface="Arial"/>
              </a:rPr>
              <a:t>	7. Shell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8. Heap Sort</a:t>
            </a:r>
            <a:r>
              <a:rPr b="1"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9. Quick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10. Merge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11. Radix Sort</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9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273" name="Google Shape;1273;p93"/>
          <p:cNvSpPr txBox="1"/>
          <p:nvPr>
            <p:ph idx="1" type="body"/>
          </p:nvPr>
        </p:nvSpPr>
        <p:spPr>
          <a:xfrm>
            <a:off x="992187" y="1438275"/>
            <a:ext cx="8569325" cy="4391025"/>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Cải tiến của phương pháp chèn trực tiếp </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Ý tưởng:</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Phân hoạch dãy thành các dãy con</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Sắp xếp các dãy con theo phương pháp chèn trực tiếp </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Dùng phương pháp chèn trực tiếp sắp xếp lại cả dãy.</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9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279" name="Google Shape;1279;p94"/>
          <p:cNvSpPr txBox="1"/>
          <p:nvPr>
            <p:ph idx="1" type="body"/>
          </p:nvPr>
        </p:nvSpPr>
        <p:spPr>
          <a:xfrm>
            <a:off x="992187" y="1176337"/>
            <a:ext cx="8569325" cy="5175250"/>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Phân chia dãy ban đầu thành những dãy con gồm các phần tử  ở cách nhau </a:t>
            </a:r>
            <a:r>
              <a:rPr b="1" i="0" lang="en-US" sz="2400" u="none">
                <a:solidFill>
                  <a:srgbClr val="FF3300"/>
                </a:solidFill>
                <a:latin typeface="Arial"/>
                <a:ea typeface="Arial"/>
                <a:cs typeface="Arial"/>
                <a:sym typeface="Arial"/>
              </a:rPr>
              <a:t>h</a:t>
            </a:r>
            <a:r>
              <a:rPr b="1" i="0"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vị trí</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Dãy ban đầu :</a:t>
            </a:r>
            <a:r>
              <a:rPr b="1" i="0" lang="en-US" sz="2400" u="none">
                <a:solidFill>
                  <a:schemeClr val="dk1"/>
                </a:solidFill>
                <a:latin typeface="Arial"/>
                <a:ea typeface="Arial"/>
                <a:cs typeface="Arial"/>
                <a:sym typeface="Arial"/>
              </a:rPr>
              <a:t> a</a:t>
            </a:r>
            <a:r>
              <a:rPr b="1" baseline="-25000" i="0" lang="en-US" sz="2400" u="none">
                <a:solidFill>
                  <a:schemeClr val="dk1"/>
                </a:solidFill>
                <a:latin typeface="Arial"/>
                <a:ea typeface="Arial"/>
                <a:cs typeface="Arial"/>
                <a:sym typeface="Arial"/>
              </a:rPr>
              <a:t>1</a:t>
            </a:r>
            <a:r>
              <a:rPr b="1" i="0" lang="en-US" sz="2400" u="none">
                <a:solidFill>
                  <a:schemeClr val="dk1"/>
                </a:solidFill>
                <a:latin typeface="Arial"/>
                <a:ea typeface="Arial"/>
                <a:cs typeface="Arial"/>
                <a:sym typeface="Arial"/>
              </a:rPr>
              <a:t>, a</a:t>
            </a:r>
            <a:r>
              <a:rPr b="1" baseline="-25000" i="0" lang="en-US" sz="2400" u="none">
                <a:solidFill>
                  <a:schemeClr val="dk1"/>
                </a:solidFill>
                <a:latin typeface="Arial"/>
                <a:ea typeface="Arial"/>
                <a:cs typeface="Arial"/>
                <a:sym typeface="Arial"/>
              </a:rPr>
              <a:t>2</a:t>
            </a:r>
            <a:r>
              <a:rPr b="1" i="0" lang="en-US" sz="2400" u="none">
                <a:solidFill>
                  <a:schemeClr val="dk1"/>
                </a:solidFill>
                <a:latin typeface="Arial"/>
                <a:ea typeface="Arial"/>
                <a:cs typeface="Arial"/>
                <a:sym typeface="Arial"/>
              </a:rPr>
              <a:t>, ..., a</a:t>
            </a:r>
            <a:r>
              <a:rPr b="1" baseline="-25000" i="0" lang="en-US" sz="2400" u="none">
                <a:solidFill>
                  <a:schemeClr val="dk1"/>
                </a:solidFill>
                <a:latin typeface="Arial"/>
                <a:ea typeface="Arial"/>
                <a:cs typeface="Arial"/>
                <a:sym typeface="Arial"/>
              </a:rPr>
              <a:t>n</a:t>
            </a:r>
            <a:r>
              <a:rPr b="0" i="0" lang="en-US" sz="2400" u="none">
                <a:solidFill>
                  <a:schemeClr val="dk1"/>
                </a:solidFill>
                <a:latin typeface="Arial"/>
                <a:ea typeface="Arial"/>
                <a:cs typeface="Arial"/>
                <a:sym typeface="Arial"/>
              </a:rPr>
              <a:t> được xem như sự xen kẽ của các dãy con sau :</a:t>
            </a:r>
            <a:r>
              <a:rPr b="1" i="0" lang="en-US" sz="2400" u="none">
                <a:solidFill>
                  <a:schemeClr val="dk1"/>
                </a:solidFill>
                <a:latin typeface="Arial"/>
                <a:ea typeface="Arial"/>
                <a:cs typeface="Arial"/>
                <a:sym typeface="Arial"/>
              </a:rPr>
              <a:t> </a:t>
            </a:r>
            <a:endParaRPr b="0" i="0" sz="2400" u="none">
              <a:solidFill>
                <a:schemeClr val="dk1"/>
              </a:solidFill>
              <a:latin typeface="Arial"/>
              <a:ea typeface="Arial"/>
              <a:cs typeface="Arial"/>
              <a:sym typeface="Arial"/>
            </a:endParaRPr>
          </a:p>
          <a:p>
            <a:pPr indent="-446087" lvl="1" marL="1023937"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Dãy con thứ nhất :</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1</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h+1</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2h+1</a:t>
            </a:r>
            <a:r>
              <a:rPr b="1" i="0" lang="en-US" sz="2800" u="none">
                <a:solidFill>
                  <a:schemeClr val="dk1"/>
                </a:solidFill>
                <a:latin typeface="Arial"/>
                <a:ea typeface="Arial"/>
                <a:cs typeface="Arial"/>
                <a:sym typeface="Arial"/>
              </a:rPr>
              <a:t> ... </a:t>
            </a:r>
            <a:endParaRPr/>
          </a:p>
          <a:p>
            <a:pPr indent="-446087" lvl="1" marL="1023937"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Dãy con thứ  hai  :</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2</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h+2</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2h+2</a:t>
            </a:r>
            <a:r>
              <a:rPr b="1" i="0" lang="en-US" sz="2800" u="none">
                <a:solidFill>
                  <a:schemeClr val="dk1"/>
                </a:solidFill>
                <a:latin typeface="Arial"/>
                <a:ea typeface="Arial"/>
                <a:cs typeface="Arial"/>
                <a:sym typeface="Arial"/>
              </a:rPr>
              <a:t> ... </a:t>
            </a:r>
            <a:endParaRPr/>
          </a:p>
          <a:p>
            <a:pPr indent="-446087" lvl="1" marL="1023937"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a:t>
            </a:r>
            <a:endParaRPr/>
          </a:p>
          <a:p>
            <a:pPr indent="-446087" lvl="1" marL="1023937" rtl="0" algn="l">
              <a:lnSpc>
                <a:spcPct val="120000"/>
              </a:lnSpc>
              <a:spcBef>
                <a:spcPts val="168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Dãy con thứ  h     :</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h</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2h</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3h</a:t>
            </a:r>
            <a:r>
              <a:rPr b="1" i="0"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9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285" name="Google Shape;1285;p95"/>
          <p:cNvSpPr txBox="1"/>
          <p:nvPr>
            <p:ph idx="1" type="body"/>
          </p:nvPr>
        </p:nvSpPr>
        <p:spPr>
          <a:xfrm>
            <a:off x="992187" y="1438275"/>
            <a:ext cx="8569325" cy="4586287"/>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Tiến hành sắp xếp các phần tử trong cùng dãy con sẽ làm cho các phần tử  được đưa về vị trí đúng tương đối </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Giảm khoảng cách </a:t>
            </a:r>
            <a:r>
              <a:rPr b="1" i="0" lang="en-US" sz="2400" u="none">
                <a:solidFill>
                  <a:schemeClr val="dk1"/>
                </a:solidFill>
                <a:latin typeface="Arial"/>
                <a:ea typeface="Arial"/>
                <a:cs typeface="Arial"/>
                <a:sym typeface="Arial"/>
              </a:rPr>
              <a:t>h</a:t>
            </a:r>
            <a:r>
              <a:rPr b="0" i="0" lang="en-US" sz="2400" u="none">
                <a:solidFill>
                  <a:schemeClr val="dk1"/>
                </a:solidFill>
                <a:latin typeface="Arial"/>
                <a:ea typeface="Arial"/>
                <a:cs typeface="Arial"/>
                <a:sym typeface="Arial"/>
              </a:rPr>
              <a:t> để tạo thành các dãy con mới </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Dừng khi h=1</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9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291" name="Google Shape;1291;p96"/>
          <p:cNvSpPr txBox="1"/>
          <p:nvPr>
            <p:ph idx="1" type="body"/>
          </p:nvPr>
        </p:nvSpPr>
        <p:spPr>
          <a:xfrm>
            <a:off x="992187" y="1176337"/>
            <a:ext cx="8569325" cy="4979987"/>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Giả sử quyết định sắp xếp</a:t>
            </a:r>
            <a:r>
              <a:rPr b="1" i="0" lang="en-US" sz="2400" u="none">
                <a:solidFill>
                  <a:schemeClr val="dk1"/>
                </a:solidFill>
                <a:latin typeface="Arial"/>
                <a:ea typeface="Arial"/>
                <a:cs typeface="Arial"/>
                <a:sym typeface="Arial"/>
              </a:rPr>
              <a:t> k</a:t>
            </a:r>
            <a:r>
              <a:rPr b="0" i="0" lang="en-US" sz="2400" u="none">
                <a:solidFill>
                  <a:schemeClr val="dk1"/>
                </a:solidFill>
                <a:latin typeface="Arial"/>
                <a:ea typeface="Arial"/>
                <a:cs typeface="Arial"/>
                <a:sym typeface="Arial"/>
              </a:rPr>
              <a:t> bước, các khoảng cách</a:t>
            </a:r>
            <a:r>
              <a:rPr b="1" i="0"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 chọn phải thỏa điều kiện :</a:t>
            </a:r>
            <a:endParaRPr/>
          </a:p>
          <a:p>
            <a:pPr indent="-463550" lvl="0" marL="463550" rtl="0" algn="l">
              <a:lnSpc>
                <a:spcPct val="120000"/>
              </a:lnSpc>
              <a:spcBef>
                <a:spcPts val="1440"/>
              </a:spcBef>
              <a:spcAft>
                <a:spcPts val="0"/>
              </a:spcAft>
              <a:buClr>
                <a:schemeClr val="dk1"/>
              </a:buClr>
              <a:buSzPts val="2400"/>
              <a:buNone/>
            </a:pPr>
            <a:r>
              <a:rPr b="0" i="0" lang="en-US" sz="2400" u="none">
                <a:solidFill>
                  <a:schemeClr val="dk1"/>
                </a:solidFill>
                <a:latin typeface="Arial"/>
                <a:ea typeface="Arial"/>
                <a:cs typeface="Arial"/>
                <a:sym typeface="Arial"/>
              </a:rPr>
              <a:t>		h</a:t>
            </a:r>
            <a:r>
              <a:rPr b="0" baseline="-25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  &gt; h</a:t>
            </a:r>
            <a:r>
              <a:rPr b="0" baseline="-25000" i="0" lang="en-US" sz="2400" u="none">
                <a:solidFill>
                  <a:schemeClr val="dk1"/>
                </a:solidFill>
                <a:latin typeface="Arial"/>
                <a:ea typeface="Arial"/>
                <a:cs typeface="Arial"/>
                <a:sym typeface="Arial"/>
              </a:rPr>
              <a:t>i+1</a:t>
            </a:r>
            <a:r>
              <a:rPr b="0" i="0" lang="en-US" sz="2400" u="none">
                <a:solidFill>
                  <a:schemeClr val="dk1"/>
                </a:solidFill>
                <a:latin typeface="Arial"/>
                <a:ea typeface="Arial"/>
                <a:cs typeface="Arial"/>
                <a:sym typeface="Arial"/>
              </a:rPr>
              <a:t>  và h</a:t>
            </a:r>
            <a:r>
              <a:rPr b="0" baseline="-25000" i="0" lang="en-US" sz="2400" u="none">
                <a:solidFill>
                  <a:schemeClr val="dk1"/>
                </a:solidFill>
                <a:latin typeface="Arial"/>
                <a:ea typeface="Arial"/>
                <a:cs typeface="Arial"/>
                <a:sym typeface="Arial"/>
              </a:rPr>
              <a:t>k</a:t>
            </a:r>
            <a:r>
              <a:rPr b="0" i="0" lang="en-US" sz="2400" u="none">
                <a:solidFill>
                  <a:schemeClr val="dk1"/>
                </a:solidFill>
                <a:latin typeface="Arial"/>
                <a:ea typeface="Arial"/>
                <a:cs typeface="Arial"/>
                <a:sym typeface="Arial"/>
              </a:rPr>
              <a:t> = 1</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 h</a:t>
            </a:r>
            <a:r>
              <a:rPr b="0" baseline="-25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  = (h</a:t>
            </a:r>
            <a:r>
              <a:rPr b="0" baseline="-25000" i="0" lang="en-US" sz="2400" u="none">
                <a:solidFill>
                  <a:schemeClr val="dk1"/>
                </a:solidFill>
                <a:latin typeface="Arial"/>
                <a:ea typeface="Arial"/>
                <a:cs typeface="Arial"/>
                <a:sym typeface="Arial"/>
              </a:rPr>
              <a:t>i-1</a:t>
            </a:r>
            <a:r>
              <a:rPr b="0" i="0" lang="en-US" sz="2400" u="none">
                <a:solidFill>
                  <a:schemeClr val="dk1"/>
                </a:solidFill>
                <a:latin typeface="Arial"/>
                <a:ea typeface="Arial"/>
                <a:cs typeface="Arial"/>
                <a:sym typeface="Arial"/>
              </a:rPr>
              <a:t>  - 1)/3 và h</a:t>
            </a:r>
            <a:r>
              <a:rPr b="0" baseline="-25000" i="0" lang="en-US" sz="2400" u="none">
                <a:solidFill>
                  <a:schemeClr val="dk1"/>
                </a:solidFill>
                <a:latin typeface="Arial"/>
                <a:ea typeface="Arial"/>
                <a:cs typeface="Arial"/>
                <a:sym typeface="Arial"/>
              </a:rPr>
              <a:t>k</a:t>
            </a:r>
            <a:r>
              <a:rPr b="0" i="0" lang="en-US" sz="2400" u="none">
                <a:solidFill>
                  <a:schemeClr val="dk1"/>
                </a:solidFill>
                <a:latin typeface="Arial"/>
                <a:ea typeface="Arial"/>
                <a:cs typeface="Arial"/>
                <a:sym typeface="Arial"/>
              </a:rPr>
              <a:t> = 1, k = log</a:t>
            </a:r>
            <a:r>
              <a:rPr b="0" baseline="-25000" i="0" lang="en-US" sz="2400" u="none">
                <a:solidFill>
                  <a:schemeClr val="dk1"/>
                </a:solidFill>
                <a:latin typeface="Arial"/>
                <a:ea typeface="Arial"/>
                <a:cs typeface="Arial"/>
                <a:sym typeface="Arial"/>
              </a:rPr>
              <a:t>3</a:t>
            </a:r>
            <a:r>
              <a:rPr b="0" i="0" lang="en-US" sz="2400" u="none">
                <a:solidFill>
                  <a:schemeClr val="dk1"/>
                </a:solidFill>
                <a:latin typeface="Arial"/>
                <a:ea typeface="Arial"/>
                <a:cs typeface="Arial"/>
                <a:sym typeface="Arial"/>
              </a:rPr>
              <a:t>n-1 </a:t>
            </a:r>
            <a:endParaRPr/>
          </a:p>
          <a:p>
            <a:pPr indent="-446087" lvl="1" marL="1023937" rtl="0" algn="l">
              <a:lnSpc>
                <a:spcPct val="120000"/>
              </a:lnSpc>
              <a:spcBef>
                <a:spcPts val="1680"/>
              </a:spcBef>
              <a:spcAft>
                <a:spcPts val="0"/>
              </a:spcAft>
              <a:buClr>
                <a:schemeClr val="dk1"/>
              </a:buClr>
              <a:buSzPts val="2800"/>
              <a:buNone/>
            </a:pPr>
            <a:r>
              <a:rPr b="0" i="0" lang="en-US" sz="2800" u="none">
                <a:solidFill>
                  <a:schemeClr val="dk1"/>
                </a:solidFill>
                <a:latin typeface="Arial"/>
                <a:ea typeface="Arial"/>
                <a:cs typeface="Arial"/>
                <a:sym typeface="Arial"/>
              </a:rPr>
              <a:t>	Ví dụ :127, 40, 13, 4, 1</a:t>
            </a:r>
            <a:r>
              <a:rPr b="0" i="0" lang="en-US" sz="2800" u="none">
                <a:solidFill>
                  <a:schemeClr val="dk1"/>
                </a:solidFill>
                <a:latin typeface="Arial"/>
                <a:ea typeface="Arial"/>
                <a:cs typeface="Arial"/>
                <a:sym typeface="Arial"/>
              </a:rPr>
              <a:t> </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 h</a:t>
            </a:r>
            <a:r>
              <a:rPr b="0" baseline="-25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  = (h</a:t>
            </a:r>
            <a:r>
              <a:rPr b="0" baseline="-25000" i="0" lang="en-US" sz="2400" u="none">
                <a:solidFill>
                  <a:schemeClr val="dk1"/>
                </a:solidFill>
                <a:latin typeface="Arial"/>
                <a:ea typeface="Arial"/>
                <a:cs typeface="Arial"/>
                <a:sym typeface="Arial"/>
              </a:rPr>
              <a:t>i-1</a:t>
            </a:r>
            <a:r>
              <a:rPr b="0" i="0" lang="en-US" sz="2400" u="none">
                <a:solidFill>
                  <a:schemeClr val="dk1"/>
                </a:solidFill>
                <a:latin typeface="Arial"/>
                <a:ea typeface="Arial"/>
                <a:cs typeface="Arial"/>
                <a:sym typeface="Arial"/>
              </a:rPr>
              <a:t> - 1)/2 và h</a:t>
            </a:r>
            <a:r>
              <a:rPr b="0" baseline="-25000" i="0" lang="en-US" sz="2400" u="none">
                <a:solidFill>
                  <a:schemeClr val="dk1"/>
                </a:solidFill>
                <a:latin typeface="Arial"/>
                <a:ea typeface="Arial"/>
                <a:cs typeface="Arial"/>
                <a:sym typeface="Arial"/>
              </a:rPr>
              <a:t>k</a:t>
            </a:r>
            <a:r>
              <a:rPr b="0" i="0" lang="en-US" sz="2400" u="none">
                <a:solidFill>
                  <a:schemeClr val="dk1"/>
                </a:solidFill>
                <a:latin typeface="Arial"/>
                <a:ea typeface="Arial"/>
                <a:cs typeface="Arial"/>
                <a:sym typeface="Arial"/>
              </a:rPr>
              <a:t> = 1, k = log</a:t>
            </a:r>
            <a:r>
              <a:rPr b="0" baseline="-25000" i="0" lang="en-US" sz="2400" u="none">
                <a:solidFill>
                  <a:schemeClr val="dk1"/>
                </a:solidFill>
                <a:latin typeface="Arial"/>
                <a:ea typeface="Arial"/>
                <a:cs typeface="Arial"/>
                <a:sym typeface="Arial"/>
              </a:rPr>
              <a:t>2</a:t>
            </a:r>
            <a:r>
              <a:rPr b="0" i="0" lang="en-US" sz="2400" u="none">
                <a:solidFill>
                  <a:schemeClr val="dk1"/>
                </a:solidFill>
                <a:latin typeface="Arial"/>
                <a:ea typeface="Arial"/>
                <a:cs typeface="Arial"/>
                <a:sym typeface="Arial"/>
              </a:rPr>
              <a:t>n-1</a:t>
            </a:r>
            <a:endParaRPr/>
          </a:p>
          <a:p>
            <a:pPr indent="-446087" lvl="1" marL="1023937" rtl="0" algn="l">
              <a:lnSpc>
                <a:spcPct val="120000"/>
              </a:lnSpc>
              <a:spcBef>
                <a:spcPts val="1680"/>
              </a:spcBef>
              <a:spcAft>
                <a:spcPts val="0"/>
              </a:spcAft>
              <a:buClr>
                <a:schemeClr val="dk1"/>
              </a:buClr>
              <a:buSzPts val="2800"/>
              <a:buNone/>
            </a:pPr>
            <a:r>
              <a:rPr b="0" i="0" lang="en-US" sz="2800" u="none">
                <a:solidFill>
                  <a:schemeClr val="dk1"/>
                </a:solidFill>
                <a:latin typeface="Arial"/>
                <a:ea typeface="Arial"/>
                <a:cs typeface="Arial"/>
                <a:sym typeface="Arial"/>
              </a:rPr>
              <a:t>	Ví dụ : 15, 7, 3, 1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9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297" name="Google Shape;1297;p97"/>
          <p:cNvSpPr txBox="1"/>
          <p:nvPr>
            <p:ph idx="1" type="body"/>
          </p:nvPr>
        </p:nvSpPr>
        <p:spPr>
          <a:xfrm>
            <a:off x="992187" y="1243012"/>
            <a:ext cx="8569325" cy="4781550"/>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h có dạng 3i+1</a:t>
            </a:r>
            <a:r>
              <a:rPr b="0" i="0" lang="en-US" sz="2400" u="none">
                <a:solidFill>
                  <a:schemeClr val="dk1"/>
                </a:solidFill>
                <a:latin typeface="Arial"/>
                <a:ea typeface="Arial"/>
                <a:cs typeface="Arial"/>
                <a:sym typeface="Arial"/>
              </a:rPr>
              <a:t>: 364, 121, 40, 13, 4, 1</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Dãy fibonaci: 34, 21, 13, 8, 5, 3, 2, 1</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h là dãy các số nguyên tố giảm dần đến 1: 13, 11, 7, 5, 3, 1.</a:t>
            </a:r>
            <a:endParaRPr/>
          </a:p>
          <a:p>
            <a:pPr indent="-311150" lvl="0" marL="463550" rtl="0" algn="l">
              <a:spcBef>
                <a:spcPts val="480"/>
              </a:spcBef>
              <a:spcAft>
                <a:spcPts val="0"/>
              </a:spcAft>
              <a:buClr>
                <a:schemeClr val="dk1"/>
              </a:buClr>
              <a:buSzPts val="2400"/>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9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303" name="Google Shape;1303;p98"/>
          <p:cNvSpPr txBox="1"/>
          <p:nvPr>
            <p:ph idx="1" type="body"/>
          </p:nvPr>
        </p:nvSpPr>
        <p:spPr>
          <a:xfrm>
            <a:off x="992187" y="981075"/>
            <a:ext cx="8569325" cy="5307012"/>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1</a:t>
            </a:r>
            <a:r>
              <a:rPr b="0" i="0" lang="en-US" sz="2400" u="none">
                <a:solidFill>
                  <a:schemeClr val="dk1"/>
                </a:solidFill>
                <a:latin typeface="Arial"/>
                <a:ea typeface="Arial"/>
                <a:cs typeface="Arial"/>
                <a:sym typeface="Arial"/>
              </a:rPr>
              <a:t>:	Chọn </a:t>
            </a:r>
            <a:r>
              <a:rPr b="1" i="0" lang="en-US" sz="2400" u="none">
                <a:solidFill>
                  <a:schemeClr val="dk1"/>
                </a:solidFill>
                <a:latin typeface="Arial"/>
                <a:ea typeface="Arial"/>
                <a:cs typeface="Arial"/>
                <a:sym typeface="Arial"/>
              </a:rPr>
              <a:t>k</a:t>
            </a:r>
            <a:r>
              <a:rPr b="0" i="0" lang="en-US" sz="2400" u="none">
                <a:solidFill>
                  <a:schemeClr val="dk1"/>
                </a:solidFill>
                <a:latin typeface="Arial"/>
                <a:ea typeface="Arial"/>
                <a:cs typeface="Arial"/>
                <a:sym typeface="Arial"/>
              </a:rPr>
              <a:t> khoảng cách h[1], h[2], ..., h[k]; </a:t>
            </a:r>
            <a:endParaRPr/>
          </a:p>
          <a:p>
            <a:pPr indent="-463550" lvl="0" marL="463550" rtl="0" algn="l">
              <a:lnSpc>
                <a:spcPct val="120000"/>
              </a:lnSpc>
              <a:spcBef>
                <a:spcPts val="1440"/>
              </a:spcBef>
              <a:spcAft>
                <a:spcPts val="0"/>
              </a:spcAft>
              <a:buClr>
                <a:schemeClr val="dk1"/>
              </a:buClr>
              <a:buSzPts val="2400"/>
              <a:buNone/>
            </a:pPr>
            <a:r>
              <a:rPr b="0" i="0" lang="en-US" sz="2400" u="none">
                <a:solidFill>
                  <a:schemeClr val="dk1"/>
                </a:solidFill>
                <a:latin typeface="Arial"/>
                <a:ea typeface="Arial"/>
                <a:cs typeface="Arial"/>
                <a:sym typeface="Arial"/>
              </a:rPr>
              <a:t>			i = 1;</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2</a:t>
            </a:r>
            <a:r>
              <a:rPr b="0" i="0" lang="en-US" sz="2400" u="none">
                <a:solidFill>
                  <a:schemeClr val="dk1"/>
                </a:solidFill>
                <a:latin typeface="Arial"/>
                <a:ea typeface="Arial"/>
                <a:cs typeface="Arial"/>
                <a:sym typeface="Arial"/>
              </a:rPr>
              <a:t>:	Phân chia dãy ban đầu thành các dãy con  			cách nhau h[i] khoảng cách. </a:t>
            </a:r>
            <a:endParaRPr/>
          </a:p>
          <a:p>
            <a:pPr indent="-463550" lvl="0" marL="463550" rtl="0" algn="l">
              <a:lnSpc>
                <a:spcPct val="120000"/>
              </a:lnSpc>
              <a:spcBef>
                <a:spcPts val="1440"/>
              </a:spcBef>
              <a:spcAft>
                <a:spcPts val="0"/>
              </a:spcAft>
              <a:buClr>
                <a:schemeClr val="dk1"/>
              </a:buClr>
              <a:buSzPts val="2400"/>
              <a:buNone/>
            </a:pPr>
            <a:r>
              <a:rPr b="0" i="0" lang="en-US" sz="2400" u="none">
                <a:solidFill>
                  <a:schemeClr val="dk1"/>
                </a:solidFill>
                <a:latin typeface="Arial"/>
                <a:ea typeface="Arial"/>
                <a:cs typeface="Arial"/>
                <a:sym typeface="Arial"/>
              </a:rPr>
              <a:t>			Sắp xếp từng dãy con bằng phương pháp  			chèn trực tiếp;</a:t>
            </a:r>
            <a:endParaRPr/>
          </a:p>
          <a:p>
            <a:pPr indent="-463550" lvl="0" marL="463550" rtl="0" algn="l">
              <a:lnSpc>
                <a:spcPct val="120000"/>
              </a:lnSpc>
              <a:spcBef>
                <a:spcPts val="144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3</a:t>
            </a:r>
            <a:r>
              <a:rPr b="0" i="0" lang="en-US" sz="2400" u="none">
                <a:solidFill>
                  <a:schemeClr val="dk1"/>
                </a:solidFill>
                <a:latin typeface="Arial"/>
                <a:ea typeface="Arial"/>
                <a:cs typeface="Arial"/>
                <a:sym typeface="Arial"/>
              </a:rPr>
              <a:t>	: i = i+1;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Nếu  i &gt; k : Dừng	</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Ngược lại : Lặp lại Bước 2.       </a:t>
            </a:r>
            <a:endParaRPr/>
          </a:p>
          <a:p>
            <a:pPr indent="-311150" lvl="0" marL="463550" rtl="0" algn="l">
              <a:spcBef>
                <a:spcPts val="480"/>
              </a:spcBef>
              <a:spcAft>
                <a:spcPts val="0"/>
              </a:spcAft>
              <a:buClr>
                <a:schemeClr val="dk1"/>
              </a:buClr>
              <a:buSzPts val="2400"/>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9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309" name="Google Shape;1309;p99"/>
          <p:cNvSpPr txBox="1"/>
          <p:nvPr>
            <p:ph idx="1" type="body"/>
          </p:nvPr>
        </p:nvSpPr>
        <p:spPr>
          <a:xfrm>
            <a:off x="992187" y="981075"/>
            <a:ext cx="8569325" cy="3297237"/>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dãy số a:</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12	   2	8	5	1	6	4	15</a:t>
            </a:r>
            <a:endParaRPr/>
          </a:p>
          <a:p>
            <a:pPr indent="-463550" lvl="0" marL="463550" rtl="0" algn="l">
              <a:lnSpc>
                <a:spcPct val="100000"/>
              </a:lnSpc>
              <a:spcBef>
                <a:spcPts val="560"/>
              </a:spcBef>
              <a:spcAft>
                <a:spcPts val="0"/>
              </a:spcAft>
              <a:buClr>
                <a:schemeClr val="dk1"/>
              </a:buClr>
              <a:buSzPts val="2800"/>
              <a:buNone/>
            </a:pPr>
            <a:r>
              <a:t/>
            </a:r>
            <a:endParaRPr b="0" i="0" sz="2800" u="none">
              <a:solidFill>
                <a:schemeClr val="dk1"/>
              </a:solidFill>
              <a:latin typeface="Arial"/>
              <a:ea typeface="Arial"/>
              <a:cs typeface="Arial"/>
              <a:sym typeface="Arial"/>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Giả sử chọn các khoảng cách là 5, 3, 1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10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315" name="Google Shape;1315;p100"/>
          <p:cNvSpPr txBox="1"/>
          <p:nvPr>
            <p:ph idx="1" type="body"/>
          </p:nvPr>
        </p:nvSpPr>
        <p:spPr>
          <a:xfrm>
            <a:off x="992187" y="981075"/>
            <a:ext cx="8569325" cy="915987"/>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h = 5 :</a:t>
            </a:r>
            <a:r>
              <a:rPr b="0" i="0" lang="en-US" sz="2800" u="none">
                <a:solidFill>
                  <a:schemeClr val="dk1"/>
                </a:solidFill>
                <a:latin typeface="Arial"/>
                <a:ea typeface="Arial"/>
                <a:cs typeface="Arial"/>
                <a:sym typeface="Arial"/>
              </a:rPr>
              <a:t> xem dãy ban đầu như  các dãy con</a:t>
            </a:r>
            <a:br>
              <a:rPr b="0" i="0" lang="en-US" sz="2800" u="none">
                <a:solidFill>
                  <a:schemeClr val="dk1"/>
                </a:solidFill>
                <a:latin typeface="Arial"/>
                <a:ea typeface="Arial"/>
                <a:cs typeface="Arial"/>
                <a:sym typeface="Arial"/>
              </a:rPr>
            </a:br>
            <a:endParaRPr/>
          </a:p>
        </p:txBody>
      </p:sp>
      <p:pic>
        <p:nvPicPr>
          <p:cNvPr id="1316" name="Google Shape;1316;p100"/>
          <p:cNvPicPr preferRelativeResize="0"/>
          <p:nvPr/>
        </p:nvPicPr>
        <p:blipFill rotWithShape="1">
          <a:blip r:embed="rId3">
            <a:alphaModFix/>
          </a:blip>
          <a:srcRect b="0" l="0" r="0" t="0"/>
          <a:stretch/>
        </p:blipFill>
        <p:spPr>
          <a:xfrm>
            <a:off x="849312" y="2492375"/>
            <a:ext cx="8280400" cy="201612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0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322" name="Google Shape;1322;p101"/>
          <p:cNvSpPr txBox="1"/>
          <p:nvPr>
            <p:ph idx="1" type="body"/>
          </p:nvPr>
        </p:nvSpPr>
        <p:spPr>
          <a:xfrm>
            <a:off x="992187" y="981075"/>
            <a:ext cx="8569325" cy="1093787"/>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h = 3 :</a:t>
            </a:r>
            <a:r>
              <a:rPr b="0" i="0" lang="en-US" sz="2400" u="none">
                <a:solidFill>
                  <a:schemeClr val="dk1"/>
                </a:solidFill>
                <a:latin typeface="Arial"/>
                <a:ea typeface="Arial"/>
                <a:cs typeface="Arial"/>
                <a:sym typeface="Arial"/>
              </a:rPr>
              <a:t> (sau khi đã sắp xếp các dãy con ở bước trước)</a:t>
            </a:r>
            <a:br>
              <a:rPr b="0" i="0" lang="en-US" sz="2400" u="none">
                <a:solidFill>
                  <a:schemeClr val="dk1"/>
                </a:solidFill>
                <a:latin typeface="Arial"/>
                <a:ea typeface="Arial"/>
                <a:cs typeface="Arial"/>
                <a:sym typeface="Arial"/>
              </a:rPr>
            </a:br>
            <a:endParaRPr/>
          </a:p>
        </p:txBody>
      </p:sp>
      <p:pic>
        <p:nvPicPr>
          <p:cNvPr id="1323" name="Google Shape;1323;p101"/>
          <p:cNvPicPr preferRelativeResize="0"/>
          <p:nvPr/>
        </p:nvPicPr>
        <p:blipFill rotWithShape="1">
          <a:blip r:embed="rId3">
            <a:alphaModFix/>
          </a:blip>
          <a:srcRect b="0" l="0" r="0" t="0"/>
          <a:stretch/>
        </p:blipFill>
        <p:spPr>
          <a:xfrm>
            <a:off x="1208087" y="2678112"/>
            <a:ext cx="7561262" cy="2046287"/>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10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329" name="Google Shape;1329;p102"/>
          <p:cNvSpPr txBox="1"/>
          <p:nvPr>
            <p:ph idx="1" type="body"/>
          </p:nvPr>
        </p:nvSpPr>
        <p:spPr>
          <a:xfrm>
            <a:off x="495300" y="1600200"/>
            <a:ext cx="9137650" cy="820737"/>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h = 1 :</a:t>
            </a:r>
            <a:r>
              <a:rPr b="0" i="0" lang="en-US" sz="2800" u="none">
                <a:solidFill>
                  <a:schemeClr val="dk1"/>
                </a:solidFill>
                <a:latin typeface="Arial"/>
                <a:ea typeface="Arial"/>
                <a:cs typeface="Arial"/>
                <a:sym typeface="Arial"/>
              </a:rPr>
              <a:t> (sau khi đã sắp xếp các dãy con ở bước trước </a:t>
            </a:r>
            <a:endParaRPr/>
          </a:p>
        </p:txBody>
      </p:sp>
      <p:pic>
        <p:nvPicPr>
          <p:cNvPr id="1330" name="Google Shape;1330;p102"/>
          <p:cNvPicPr preferRelativeResize="0"/>
          <p:nvPr/>
        </p:nvPicPr>
        <p:blipFill rotWithShape="1">
          <a:blip r:embed="rId3">
            <a:alphaModFix/>
          </a:blip>
          <a:srcRect b="0" l="0" r="0" t="0"/>
          <a:stretch/>
        </p:blipFill>
        <p:spPr>
          <a:xfrm>
            <a:off x="1208087" y="2886075"/>
            <a:ext cx="7705725" cy="1335087"/>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10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pic>
        <p:nvPicPr>
          <p:cNvPr id="1336" name="Google Shape;1336;p103"/>
          <p:cNvPicPr preferRelativeResize="0"/>
          <p:nvPr/>
        </p:nvPicPr>
        <p:blipFill rotWithShape="1">
          <a:blip r:embed="rId3">
            <a:alphaModFix/>
          </a:blip>
          <a:srcRect b="0" l="0" r="0" t="0"/>
          <a:stretch/>
        </p:blipFill>
        <p:spPr>
          <a:xfrm>
            <a:off x="849312" y="1125537"/>
            <a:ext cx="8207375" cy="505142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104"/>
          <p:cNvSpPr txBox="1"/>
          <p:nvPr>
            <p:ph type="title"/>
          </p:nvPr>
        </p:nvSpPr>
        <p:spPr>
          <a:xfrm>
            <a:off x="717550" y="0"/>
            <a:ext cx="91884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a:t>
            </a:r>
            <a:endParaRPr/>
          </a:p>
        </p:txBody>
      </p:sp>
      <p:sp>
        <p:nvSpPr>
          <p:cNvPr id="1342" name="Google Shape;1342;p104"/>
          <p:cNvSpPr txBox="1"/>
          <p:nvPr>
            <p:ph idx="1" type="body"/>
          </p:nvPr>
        </p:nvSpPr>
        <p:spPr>
          <a:xfrm>
            <a:off x="1538300" y="765175"/>
            <a:ext cx="8367600" cy="5480100"/>
          </a:xfrm>
          <a:prstGeom prst="rect">
            <a:avLst/>
          </a:prstGeom>
          <a:noFill/>
          <a:ln>
            <a:noFill/>
          </a:ln>
        </p:spPr>
        <p:txBody>
          <a:bodyPr anchorCtr="0" anchor="t" bIns="45700" lIns="91425" spcFirstLastPara="1" rIns="91425" wrap="square" tIns="45700">
            <a:noAutofit/>
          </a:bodyPr>
          <a:lstStyle/>
          <a:p>
            <a:pPr indent="-463550" lvl="0" marL="463550" rtl="0" algn="l">
              <a:lnSpc>
                <a:spcPct val="80000"/>
              </a:lnSpc>
              <a:spcBef>
                <a:spcPts val="0"/>
              </a:spcBef>
              <a:spcAft>
                <a:spcPts val="0"/>
              </a:spcAft>
              <a:buClr>
                <a:srgbClr val="0000FF"/>
              </a:buClr>
              <a:buSzPts val="2000"/>
              <a:buNone/>
            </a:pPr>
            <a:r>
              <a:rPr b="0" i="0" lang="en-US" sz="2000" u="none">
                <a:solidFill>
                  <a:srgbClr val="0000FF"/>
                </a:solidFill>
                <a:latin typeface="Arial"/>
                <a:ea typeface="Arial"/>
                <a:cs typeface="Arial"/>
                <a:sym typeface="Arial"/>
              </a:rPr>
              <a:t>void</a:t>
            </a:r>
            <a:r>
              <a:rPr b="0" i="0" lang="en-US" sz="2100" u="none">
                <a:solidFill>
                  <a:schemeClr val="dk1"/>
                </a:solidFill>
                <a:latin typeface="Arial"/>
                <a:ea typeface="Arial"/>
                <a:cs typeface="Arial"/>
                <a:sym typeface="Arial"/>
              </a:rPr>
              <a:t> ShellSort(int a[],int n, int h[], int k)</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int</a:t>
            </a:r>
            <a:r>
              <a:rPr b="0" i="0" lang="en-US" sz="2100" u="none">
                <a:solidFill>
                  <a:schemeClr val="dk1"/>
                </a:solidFill>
                <a:latin typeface="Arial"/>
                <a:ea typeface="Arial"/>
                <a:cs typeface="Arial"/>
                <a:sym typeface="Arial"/>
              </a:rPr>
              <a:t>	step,i,j, x,len;</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for</a:t>
            </a:r>
            <a:r>
              <a:rPr b="0" i="0" lang="en-US" sz="2100" u="none">
                <a:solidFill>
                  <a:schemeClr val="dk1"/>
                </a:solidFill>
                <a:latin typeface="Arial"/>
                <a:ea typeface="Arial"/>
                <a:cs typeface="Arial"/>
                <a:sym typeface="Arial"/>
              </a:rPr>
              <a:t> (step = 0 ; step &lt;k; step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	</a:t>
            </a:r>
            <a:r>
              <a:rPr b="0" i="0" lang="en-US" sz="2000" u="none">
                <a:solidFill>
                  <a:srgbClr val="0000FF"/>
                </a:solidFill>
                <a:latin typeface="Arial"/>
                <a:ea typeface="Arial"/>
                <a:cs typeface="Arial"/>
                <a:sym typeface="Arial"/>
              </a:rPr>
              <a:t>len</a:t>
            </a:r>
            <a:r>
              <a:rPr b="0" i="0" lang="en-US" sz="2100" u="none">
                <a:solidFill>
                  <a:schemeClr val="dk1"/>
                </a:solidFill>
                <a:latin typeface="Arial"/>
                <a:ea typeface="Arial"/>
                <a:cs typeface="Arial"/>
                <a:sym typeface="Arial"/>
              </a:rPr>
              <a:t> = h[step];</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for</a:t>
            </a:r>
            <a:r>
              <a:rPr b="0" i="0" lang="en-US" sz="2100" u="none">
                <a:solidFill>
                  <a:schemeClr val="dk1"/>
                </a:solidFill>
                <a:latin typeface="Arial"/>
                <a:ea typeface="Arial"/>
                <a:cs typeface="Arial"/>
                <a:sym typeface="Arial"/>
              </a:rPr>
              <a:t> (i = len; i &lt;d.n; i++)</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x = a[i];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j = i-len; </a:t>
            </a:r>
            <a:r>
              <a:rPr b="0" i="0" lang="en-US" sz="1900" u="none">
                <a:solidFill>
                  <a:schemeClr val="dk1"/>
                </a:solidFill>
                <a:latin typeface="Arial"/>
                <a:ea typeface="Arial"/>
                <a:cs typeface="Arial"/>
                <a:sym typeface="Arial"/>
              </a:rPr>
              <a:t>// a[j] đứng kề trước a[i] trong cùng dãy con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t>
            </a:r>
            <a:r>
              <a:rPr b="0" i="0" lang="en-US" sz="2000" u="none">
                <a:solidFill>
                  <a:srgbClr val="0000FF"/>
                </a:solidFill>
                <a:latin typeface="Arial"/>
                <a:ea typeface="Arial"/>
                <a:cs typeface="Arial"/>
                <a:sym typeface="Arial"/>
              </a:rPr>
              <a:t>while </a:t>
            </a:r>
            <a:r>
              <a:rPr b="0" i="0" lang="en-US" sz="2100" u="none">
                <a:solidFill>
                  <a:schemeClr val="dk1"/>
                </a:solidFill>
                <a:latin typeface="Arial"/>
                <a:ea typeface="Arial"/>
                <a:cs typeface="Arial"/>
                <a:sym typeface="Arial"/>
              </a:rPr>
              <a:t>((x&lt;a[j])&amp;&amp;(j&gt;=0</a:t>
            </a:r>
            <a:r>
              <a:rPr b="0" i="1" lang="en-US" sz="2100" u="none">
                <a:solidFill>
                  <a:schemeClr val="dk1"/>
                </a:solidFill>
                <a:latin typeface="Arial"/>
                <a:ea typeface="Arial"/>
                <a:cs typeface="Arial"/>
                <a:sym typeface="Arial"/>
              </a:rPr>
              <a:t>)</a:t>
            </a:r>
            <a:r>
              <a:rPr b="0" i="0" lang="en-US" sz="1900" u="none">
                <a:solidFill>
                  <a:schemeClr val="dk1"/>
                </a:solidFill>
                <a:latin typeface="Arial"/>
                <a:ea typeface="Arial"/>
                <a:cs typeface="Arial"/>
                <a:sym typeface="Arial"/>
              </a:rPr>
              <a:t>// sắp xếp dãy con chứa  x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		</a:t>
            </a:r>
            <a:r>
              <a:rPr b="0" i="0" lang="en-US" sz="1900" u="none">
                <a:solidFill>
                  <a:schemeClr val="dk1"/>
                </a:solidFill>
                <a:latin typeface="Arial"/>
                <a:ea typeface="Arial"/>
                <a:cs typeface="Arial"/>
                <a:sym typeface="Arial"/>
              </a:rPr>
              <a:t>// bằng phương pháp chèn trực tiếp</a:t>
            </a:r>
            <a:r>
              <a:rPr b="0" i="0" lang="en-US" sz="2100" u="none">
                <a:solidFill>
                  <a:schemeClr val="dk1"/>
                </a:solidFill>
                <a:latin typeface="Arial"/>
                <a:ea typeface="Arial"/>
                <a:cs typeface="Arial"/>
                <a:sym typeface="Arial"/>
              </a:rPr>
              <a:t>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a[j+len]  = a[j];</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j = j - len;</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a[j+len] = x;</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	}</a:t>
            </a:r>
            <a:endParaRPr/>
          </a:p>
          <a:p>
            <a:pPr indent="-463550" lvl="0" marL="463550" rtl="0" algn="l">
              <a:lnSpc>
                <a:spcPct val="80000"/>
              </a:lnSpc>
              <a:spcBef>
                <a:spcPts val="420"/>
              </a:spcBef>
              <a:spcAft>
                <a:spcPts val="0"/>
              </a:spcAft>
              <a:buClr>
                <a:schemeClr val="dk1"/>
              </a:buClr>
              <a:buSzPts val="2100"/>
              <a:buNone/>
            </a:pPr>
            <a:r>
              <a:rPr b="0" i="0" lang="en-US" sz="2100" u="none">
                <a:solidFill>
                  <a:schemeClr val="dk1"/>
                </a:solidFill>
                <a:latin typeface="Arial"/>
                <a:ea typeface="Arial"/>
                <a:cs typeface="Arial"/>
                <a:sym typeface="Arial"/>
              </a:rPr>
              <a: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105"/>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348" name="Google Shape;1348;p105"/>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349" name="Google Shape;1349;p105"/>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350" name="Google Shape;1350;p105"/>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351" name="Google Shape;1351;p105"/>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352" name="Google Shape;1352;p105"/>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353" name="Google Shape;1353;p105"/>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354" name="Google Shape;1354;p105"/>
          <p:cNvSpPr/>
          <p:nvPr/>
        </p:nvSpPr>
        <p:spPr>
          <a:xfrm>
            <a:off x="1108075" y="288290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1355" name="Google Shape;1355;p105"/>
          <p:cNvGrpSpPr/>
          <p:nvPr/>
        </p:nvGrpSpPr>
        <p:grpSpPr>
          <a:xfrm>
            <a:off x="1108075" y="3397250"/>
            <a:ext cx="8550275" cy="608012"/>
            <a:chOff x="644" y="1153"/>
            <a:chExt cx="4972" cy="383"/>
          </a:xfrm>
        </p:grpSpPr>
        <p:sp>
          <p:nvSpPr>
            <p:cNvPr id="1356" name="Google Shape;1356;p10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357" name="Google Shape;1357;p10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358" name="Google Shape;1358;p10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359" name="Google Shape;1359;p10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360" name="Google Shape;1360;p10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361" name="Google Shape;1361;p10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362" name="Google Shape;1362;p10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363" name="Google Shape;1363;p10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364" name="Google Shape;1364;p10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 – Ví Dụ</a:t>
            </a:r>
            <a:endParaRPr/>
          </a:p>
        </p:txBody>
      </p:sp>
      <p:sp>
        <p:nvSpPr>
          <p:cNvPr id="1365" name="Google Shape;1365;p105"/>
          <p:cNvSpPr txBox="1"/>
          <p:nvPr/>
        </p:nvSpPr>
        <p:spPr>
          <a:xfrm>
            <a:off x="5795962" y="1309687"/>
            <a:ext cx="3549650"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800"/>
              <a:buFont typeface="Helvetica Neue"/>
              <a:buNone/>
            </a:pPr>
            <a:r>
              <a:rPr b="1" i="0" lang="en-US" sz="2800" u="none">
                <a:solidFill>
                  <a:schemeClr val="lt1"/>
                </a:solidFill>
                <a:latin typeface="Helvetica Neue"/>
                <a:ea typeface="Helvetica Neue"/>
                <a:cs typeface="Helvetica Neue"/>
                <a:sym typeface="Helvetica Neue"/>
              </a:rPr>
              <a:t>h = (5, 3, 1); k = 3</a:t>
            </a:r>
            <a:endParaRPr/>
          </a:p>
        </p:txBody>
      </p:sp>
      <p:sp>
        <p:nvSpPr>
          <p:cNvPr id="1366" name="Google Shape;1366;p105"/>
          <p:cNvSpPr txBox="1"/>
          <p:nvPr/>
        </p:nvSpPr>
        <p:spPr>
          <a:xfrm>
            <a:off x="1100137" y="1493837"/>
            <a:ext cx="1700212"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800"/>
              <a:buFont typeface="Helvetica Neue"/>
              <a:buNone/>
            </a:pPr>
            <a:r>
              <a:rPr b="1" i="0" lang="en-US" sz="2800" u="none">
                <a:solidFill>
                  <a:schemeClr val="lt1"/>
                </a:solidFill>
                <a:latin typeface="Helvetica Neue"/>
                <a:ea typeface="Helvetica Neue"/>
                <a:cs typeface="Helvetica Neue"/>
                <a:sym typeface="Helvetica Neue"/>
              </a:rPr>
              <a:t>len = 5</a:t>
            </a:r>
            <a:endParaRPr/>
          </a:p>
        </p:txBody>
      </p:sp>
      <p:sp>
        <p:nvSpPr>
          <p:cNvPr id="1367" name="Google Shape;1367;p105"/>
          <p:cNvSpPr/>
          <p:nvPr/>
        </p:nvSpPr>
        <p:spPr>
          <a:xfrm>
            <a:off x="6537325" y="2058987"/>
            <a:ext cx="990600" cy="736600"/>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Helvetica Neue"/>
              <a:buNone/>
            </a:pPr>
            <a:r>
              <a:rPr b="0" i="0" lang="en-US" sz="2400" u="none">
                <a:solidFill>
                  <a:srgbClr val="0000FF"/>
                </a:solidFill>
                <a:latin typeface="Helvetica Neue"/>
                <a:ea typeface="Helvetica Neue"/>
                <a:cs typeface="Helvetica Neue"/>
                <a:sym typeface="Helvetica Neue"/>
              </a:rPr>
              <a:t>curr</a:t>
            </a:r>
            <a:endParaRPr/>
          </a:p>
        </p:txBody>
      </p:sp>
      <p:sp>
        <p:nvSpPr>
          <p:cNvPr id="1368" name="Google Shape;1368;p105"/>
          <p:cNvSpPr/>
          <p:nvPr/>
        </p:nvSpPr>
        <p:spPr>
          <a:xfrm>
            <a:off x="974725" y="2058987"/>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369" name="Google Shape;1369;p105"/>
          <p:cNvSpPr txBox="1"/>
          <p:nvPr/>
        </p:nvSpPr>
        <p:spPr>
          <a:xfrm>
            <a:off x="7777162" y="5410200"/>
            <a:ext cx="66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6"/>
                                        </p:tgtEl>
                                        <p:attrNameLst>
                                          <p:attrName>style.visibility</p:attrName>
                                        </p:attrNameLst>
                                      </p:cBhvr>
                                      <p:to>
                                        <p:strVal val="visible"/>
                                      </p:to>
                                    </p:set>
                                    <p:anim calcmode="lin" valueType="num">
                                      <p:cBhvr additive="base">
                                        <p:cTn dur="500"/>
                                        <p:tgtEl>
                                          <p:spTgt spid="1366"/>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67"/>
                                        </p:tgtEl>
                                        <p:attrNameLst>
                                          <p:attrName>style.visibility</p:attrName>
                                        </p:attrNameLst>
                                      </p:cBhvr>
                                      <p:to>
                                        <p:strVal val="visible"/>
                                      </p:to>
                                    </p:set>
                                    <p:animEffect filter="fade" transition="in">
                                      <p:cBhvr>
                                        <p:cTn dur="500"/>
                                        <p:tgtEl>
                                          <p:spTgt spid="1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8"/>
                                        </p:tgtEl>
                                        <p:attrNameLst>
                                          <p:attrName>style.visibility</p:attrName>
                                        </p:attrNameLst>
                                      </p:cBhvr>
                                      <p:to>
                                        <p:strVal val="visible"/>
                                      </p:to>
                                    </p:set>
                                    <p:animEffect filter="fade" transition="in">
                                      <p:cBhvr>
                                        <p:cTn dur="500"/>
                                        <p:tgtEl>
                                          <p:spTgt spid="1368"/>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368"/>
                                        </p:tgtEl>
                                      </p:cBhvr>
                                    </p:animEffect>
                                    <p:set>
                                      <p:cBhvr>
                                        <p:cTn dur="1" fill="hold">
                                          <p:stCondLst>
                                            <p:cond delay="500"/>
                                          </p:stCondLst>
                                        </p:cTn>
                                        <p:tgtEl>
                                          <p:spTgt spid="1368"/>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68"/>
                                        </p:tgtEl>
                                        <p:attrNameLst>
                                          <p:attrName>style.visibility</p:attrName>
                                        </p:attrNameLst>
                                      </p:cBhvr>
                                      <p:to>
                                        <p:strVal val="visible"/>
                                      </p:to>
                                    </p:set>
                                    <p:animEffect filter="fade" transition="in">
                                      <p:cBhvr>
                                        <p:cTn dur="500"/>
                                        <p:tgtEl>
                                          <p:spTgt spid="136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69"/>
                                        </p:tgtEl>
                                        <p:attrNameLst>
                                          <p:attrName>style.visibility</p:attrName>
                                        </p:attrNameLst>
                                      </p:cBhvr>
                                      <p:to>
                                        <p:strVal val="visible"/>
                                      </p:to>
                                    </p:set>
                                    <p:animEffect filter="fade" transition="in">
                                      <p:cBhvr>
                                        <p:cTn dur="500"/>
                                        <p:tgtEl>
                                          <p:spTgt spid="1369"/>
                                        </p:tgtEl>
                                      </p:cBhvr>
                                    </p:animEffec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500"/>
                                        <p:tgtEl>
                                          <p:spTgt spid="1368"/>
                                        </p:tgtEl>
                                      </p:cBhvr>
                                    </p:animEffect>
                                    <p:set>
                                      <p:cBhvr>
                                        <p:cTn dur="1" fill="hold">
                                          <p:stCondLst>
                                            <p:cond delay="500"/>
                                          </p:stCondLst>
                                        </p:cTn>
                                        <p:tgtEl>
                                          <p:spTgt spid="1368"/>
                                        </p:tgtEl>
                                        <p:attrNameLst>
                                          <p:attrName>style.visibility</p:attrName>
                                        </p:attrNameLst>
                                      </p:cBhvr>
                                      <p:to>
                                        <p:strVal val="hidden"/>
                                      </p:to>
                                    </p:se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368"/>
                                        </p:tgtEl>
                                        <p:attrNameLst>
                                          <p:attrName>style.visibility</p:attrName>
                                        </p:attrNameLst>
                                      </p:cBhvr>
                                      <p:to>
                                        <p:strVal val="visible"/>
                                      </p:to>
                                    </p:set>
                                    <p:animEffect filter="fade" transition="in">
                                      <p:cBhvr>
                                        <p:cTn dur="500"/>
                                        <p:tgtEl>
                                          <p:spTgt spid="1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67"/>
                                        </p:tgtEl>
                                      </p:cBhvr>
                                    </p:animEffect>
                                    <p:set>
                                      <p:cBhvr>
                                        <p:cTn dur="1" fill="hold">
                                          <p:stCondLst>
                                            <p:cond delay="500"/>
                                          </p:stCondLst>
                                        </p:cTn>
                                        <p:tgtEl>
                                          <p:spTgt spid="13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106"/>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375" name="Google Shape;1375;p106"/>
          <p:cNvSpPr/>
          <p:nvPr/>
        </p:nvSpPr>
        <p:spPr>
          <a:xfrm>
            <a:off x="3324225" y="2871787"/>
            <a:ext cx="790575" cy="617537"/>
          </a:xfrm>
          <a:prstGeom prst="ellipse">
            <a:avLst/>
          </a:prstGeom>
          <a:gradFill>
            <a:gsLst>
              <a:gs pos="0">
                <a:srgbClr val="FFFFFF">
                  <a:alpha val="60000"/>
                </a:srgbClr>
              </a:gs>
              <a:gs pos="100000">
                <a:srgbClr val="0099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376" name="Google Shape;1376;p106"/>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377" name="Google Shape;1377;p106"/>
          <p:cNvSpPr/>
          <p:nvPr/>
        </p:nvSpPr>
        <p:spPr>
          <a:xfrm>
            <a:off x="5541962" y="2871787"/>
            <a:ext cx="790575" cy="617537"/>
          </a:xfrm>
          <a:prstGeom prst="ellipse">
            <a:avLst/>
          </a:prstGeom>
          <a:gradFill>
            <a:gsLst>
              <a:gs pos="0">
                <a:srgbClr val="FFFFFF">
                  <a:alpha val="60000"/>
                </a:srgbClr>
              </a:gs>
              <a:gs pos="100000">
                <a:srgbClr val="FFFF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378" name="Google Shape;1378;p106"/>
          <p:cNvSpPr/>
          <p:nvPr/>
        </p:nvSpPr>
        <p:spPr>
          <a:xfrm>
            <a:off x="6648450" y="2871787"/>
            <a:ext cx="792162" cy="617537"/>
          </a:xfrm>
          <a:prstGeom prst="ellipse">
            <a:avLst/>
          </a:prstGeom>
          <a:gradFill>
            <a:gsLst>
              <a:gs pos="0">
                <a:srgbClr val="FFFFFF">
                  <a:alpha val="60000"/>
                </a:srgbClr>
              </a:gs>
              <a:gs pos="100000">
                <a:schemeClr val="accent2"/>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379" name="Google Shape;1379;p106"/>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380" name="Google Shape;1380;p106"/>
          <p:cNvSpPr/>
          <p:nvPr/>
        </p:nvSpPr>
        <p:spPr>
          <a:xfrm>
            <a:off x="8867775" y="2871787"/>
            <a:ext cx="790575" cy="617537"/>
          </a:xfrm>
          <a:prstGeom prst="ellipse">
            <a:avLst/>
          </a:prstGeom>
          <a:gradFill>
            <a:gsLst>
              <a:gs pos="0">
                <a:srgbClr val="FFFFFF">
                  <a:alpha val="60000"/>
                </a:srgbClr>
              </a:gs>
              <a:gs pos="100000">
                <a:srgbClr val="0099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381" name="Google Shape;1381;p106"/>
          <p:cNvSpPr/>
          <p:nvPr/>
        </p:nvSpPr>
        <p:spPr>
          <a:xfrm>
            <a:off x="1108075" y="2871787"/>
            <a:ext cx="790575" cy="617537"/>
          </a:xfrm>
          <a:prstGeom prst="ellipse">
            <a:avLst/>
          </a:prstGeom>
          <a:gradFill>
            <a:gsLst>
              <a:gs pos="0">
                <a:srgbClr val="FFFFFF">
                  <a:alpha val="60000"/>
                </a:srgbClr>
              </a:gs>
              <a:gs pos="100000">
                <a:schemeClr val="accent2"/>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grpSp>
        <p:nvGrpSpPr>
          <p:cNvPr id="1382" name="Google Shape;1382;p106"/>
          <p:cNvGrpSpPr/>
          <p:nvPr/>
        </p:nvGrpSpPr>
        <p:grpSpPr>
          <a:xfrm>
            <a:off x="1108075" y="3397250"/>
            <a:ext cx="8550275" cy="608012"/>
            <a:chOff x="644" y="1153"/>
            <a:chExt cx="4972" cy="383"/>
          </a:xfrm>
        </p:grpSpPr>
        <p:sp>
          <p:nvSpPr>
            <p:cNvPr id="1383" name="Google Shape;1383;p106"/>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384" name="Google Shape;1384;p106"/>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385" name="Google Shape;1385;p106"/>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386" name="Google Shape;1386;p106"/>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387" name="Google Shape;1387;p106"/>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388" name="Google Shape;1388;p106"/>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389" name="Google Shape;1389;p106"/>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390" name="Google Shape;1390;p106"/>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391" name="Google Shape;1391;p10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 – Ví Dụ</a:t>
            </a:r>
            <a:endParaRPr/>
          </a:p>
        </p:txBody>
      </p:sp>
      <p:sp>
        <p:nvSpPr>
          <p:cNvPr id="1392" name="Google Shape;1392;p106"/>
          <p:cNvSpPr txBox="1"/>
          <p:nvPr/>
        </p:nvSpPr>
        <p:spPr>
          <a:xfrm>
            <a:off x="5795962" y="1309687"/>
            <a:ext cx="3549650"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h = (5, 3, 1); k = 3</a:t>
            </a:r>
            <a:endParaRPr/>
          </a:p>
        </p:txBody>
      </p:sp>
      <p:sp>
        <p:nvSpPr>
          <p:cNvPr id="1393" name="Google Shape;1393;p106"/>
          <p:cNvSpPr txBox="1"/>
          <p:nvPr/>
        </p:nvSpPr>
        <p:spPr>
          <a:xfrm>
            <a:off x="1100137" y="1493837"/>
            <a:ext cx="1684337"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len = 5;</a:t>
            </a:r>
            <a:endParaRPr/>
          </a:p>
        </p:txBody>
      </p:sp>
      <p:sp>
        <p:nvSpPr>
          <p:cNvPr id="1394" name="Google Shape;1394;p106"/>
          <p:cNvSpPr txBox="1"/>
          <p:nvPr/>
        </p:nvSpPr>
        <p:spPr>
          <a:xfrm>
            <a:off x="7777162" y="5410200"/>
            <a:ext cx="66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94"/>
                                        </p:tgtEl>
                                        <p:attrNameLst>
                                          <p:attrName>style.visibility</p:attrName>
                                        </p:attrNameLst>
                                      </p:cBhvr>
                                      <p:to>
                                        <p:strVal val="visible"/>
                                      </p:to>
                                    </p:set>
                                    <p:animEffect filter="fade" transition="in">
                                      <p:cBhvr>
                                        <p:cTn dur="500"/>
                                        <p:tgtEl>
                                          <p:spTgt spid="1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500"/>
                                        <p:tgtEl>
                                          <p:spTgt spid="1393"/>
                                        </p:tgtEl>
                                        <p:attrNameLst>
                                          <p:attrName>ppt_x</p:attrName>
                                        </p:attrNameLst>
                                      </p:cBhvr>
                                      <p:tavLst>
                                        <p:tav fmla="" tm="0">
                                          <p:val>
                                            <p:strVal val="#ppt_x"/>
                                          </p:val>
                                        </p:tav>
                                        <p:tav fmla="" tm="100000">
                                          <p:val>
                                            <p:strVal val="#ppt_x-1"/>
                                          </p:val>
                                        </p:tav>
                                      </p:tavLst>
                                    </p:anim>
                                    <p:set>
                                      <p:cBhvr>
                                        <p:cTn dur="1" fill="hold">
                                          <p:stCondLst>
                                            <p:cond delay="500"/>
                                          </p:stCondLst>
                                        </p:cTn>
                                        <p:tgtEl>
                                          <p:spTgt spid="13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07"/>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400" name="Google Shape;1400;p107"/>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401" name="Google Shape;1401;p107"/>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402" name="Google Shape;1402;p107"/>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403" name="Google Shape;1403;p107"/>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404" name="Google Shape;1404;p107"/>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405" name="Google Shape;1405;p107"/>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406" name="Google Shape;1406;p107"/>
          <p:cNvSpPr/>
          <p:nvPr/>
        </p:nvSpPr>
        <p:spPr>
          <a:xfrm>
            <a:off x="1108075" y="29241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grpSp>
        <p:nvGrpSpPr>
          <p:cNvPr id="1407" name="Google Shape;1407;p107"/>
          <p:cNvGrpSpPr/>
          <p:nvPr/>
        </p:nvGrpSpPr>
        <p:grpSpPr>
          <a:xfrm>
            <a:off x="1108075" y="3468687"/>
            <a:ext cx="8550275" cy="608012"/>
            <a:chOff x="644" y="1153"/>
            <a:chExt cx="4972" cy="383"/>
          </a:xfrm>
        </p:grpSpPr>
        <p:sp>
          <p:nvSpPr>
            <p:cNvPr id="1408" name="Google Shape;1408;p107"/>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409" name="Google Shape;1409;p107"/>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410" name="Google Shape;1410;p107"/>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411" name="Google Shape;1411;p107"/>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412" name="Google Shape;1412;p107"/>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413" name="Google Shape;1413;p107"/>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414" name="Google Shape;1414;p107"/>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415" name="Google Shape;1415;p107"/>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416" name="Google Shape;1416;p10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 – Ví Dụ</a:t>
            </a:r>
            <a:endParaRPr/>
          </a:p>
        </p:txBody>
      </p:sp>
      <p:sp>
        <p:nvSpPr>
          <p:cNvPr id="1417" name="Google Shape;1417;p107"/>
          <p:cNvSpPr txBox="1"/>
          <p:nvPr/>
        </p:nvSpPr>
        <p:spPr>
          <a:xfrm>
            <a:off x="5795962" y="1309687"/>
            <a:ext cx="3549650"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h = (5, 3, 1); k = 3</a:t>
            </a:r>
            <a:endParaRPr/>
          </a:p>
        </p:txBody>
      </p:sp>
      <p:sp>
        <p:nvSpPr>
          <p:cNvPr id="1418" name="Google Shape;1418;p107"/>
          <p:cNvSpPr txBox="1"/>
          <p:nvPr/>
        </p:nvSpPr>
        <p:spPr>
          <a:xfrm>
            <a:off x="1100137" y="1493837"/>
            <a:ext cx="1484312"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len = 3</a:t>
            </a:r>
            <a:endParaRPr/>
          </a:p>
        </p:txBody>
      </p:sp>
      <p:sp>
        <p:nvSpPr>
          <p:cNvPr id="1419" name="Google Shape;1419;p107"/>
          <p:cNvSpPr/>
          <p:nvPr/>
        </p:nvSpPr>
        <p:spPr>
          <a:xfrm>
            <a:off x="4335462" y="2058987"/>
            <a:ext cx="990600" cy="736600"/>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Helvetica Neue"/>
              <a:buNone/>
            </a:pPr>
            <a:r>
              <a:rPr b="0" i="0" lang="en-US" sz="2400" u="none">
                <a:solidFill>
                  <a:srgbClr val="0000FF"/>
                </a:solidFill>
                <a:latin typeface="Helvetica Neue"/>
                <a:ea typeface="Helvetica Neue"/>
                <a:cs typeface="Helvetica Neue"/>
                <a:sym typeface="Helvetica Neue"/>
              </a:rPr>
              <a:t>curr</a:t>
            </a:r>
            <a:endParaRPr/>
          </a:p>
        </p:txBody>
      </p:sp>
      <p:sp>
        <p:nvSpPr>
          <p:cNvPr id="1420" name="Google Shape;1420;p107"/>
          <p:cNvSpPr/>
          <p:nvPr/>
        </p:nvSpPr>
        <p:spPr>
          <a:xfrm>
            <a:off x="974725" y="2058987"/>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421" name="Google Shape;1421;p107"/>
          <p:cNvSpPr txBox="1"/>
          <p:nvPr/>
        </p:nvSpPr>
        <p:spPr>
          <a:xfrm>
            <a:off x="7777162" y="5410200"/>
            <a:ext cx="66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18"/>
                                        </p:tgtEl>
                                        <p:attrNameLst>
                                          <p:attrName>style.visibility</p:attrName>
                                        </p:attrNameLst>
                                      </p:cBhvr>
                                      <p:to>
                                        <p:strVal val="visible"/>
                                      </p:to>
                                    </p:set>
                                    <p:anim calcmode="lin" valueType="num">
                                      <p:cBhvr additive="base">
                                        <p:cTn dur="500"/>
                                        <p:tgtEl>
                                          <p:spTgt spid="141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19"/>
                                        </p:tgtEl>
                                        <p:attrNameLst>
                                          <p:attrName>style.visibility</p:attrName>
                                        </p:attrNameLst>
                                      </p:cBhvr>
                                      <p:to>
                                        <p:strVal val="visible"/>
                                      </p:to>
                                    </p:set>
                                    <p:animEffect filter="fade" transition="in">
                                      <p:cBhvr>
                                        <p:cTn dur="500"/>
                                        <p:tgtEl>
                                          <p:spTgt spid="14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20"/>
                                        </p:tgtEl>
                                        <p:attrNameLst>
                                          <p:attrName>style.visibility</p:attrName>
                                        </p:attrNameLst>
                                      </p:cBhvr>
                                      <p:to>
                                        <p:strVal val="visible"/>
                                      </p:to>
                                    </p:set>
                                    <p:animEffect filter="fade" transition="in">
                                      <p:cBhvr>
                                        <p:cTn dur="500"/>
                                        <p:tgtEl>
                                          <p:spTgt spid="1420"/>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420"/>
                                        </p:tgtEl>
                                      </p:cBhvr>
                                    </p:animEffect>
                                    <p:set>
                                      <p:cBhvr>
                                        <p:cTn dur="1" fill="hold">
                                          <p:stCondLst>
                                            <p:cond delay="500"/>
                                          </p:stCondLst>
                                        </p:cTn>
                                        <p:tgtEl>
                                          <p:spTgt spid="1420"/>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20"/>
                                        </p:tgtEl>
                                        <p:attrNameLst>
                                          <p:attrName>style.visibility</p:attrName>
                                        </p:attrNameLst>
                                      </p:cBhvr>
                                      <p:to>
                                        <p:strVal val="visible"/>
                                      </p:to>
                                    </p:set>
                                    <p:animEffect filter="fade" transition="in">
                                      <p:cBhvr>
                                        <p:cTn dur="500"/>
                                        <p:tgtEl>
                                          <p:spTgt spid="1420"/>
                                        </p:tgtEl>
                                      </p:cBhvr>
                                    </p:animEffect>
                                  </p:childTnLst>
                                </p:cTn>
                              </p:par>
                            </p:childTnLst>
                          </p:cTn>
                        </p:par>
                        <p:par>
                          <p:cTn fill="hold">
                            <p:stCondLst>
                              <p:cond delay="2500"/>
                            </p:stCondLst>
                            <p:childTnLst>
                              <p:par>
                                <p:cTn fill="hold" nodeType="afterEffect" presetClass="exit" presetID="10" presetSubtype="0">
                                  <p:stCondLst>
                                    <p:cond delay="0"/>
                                  </p:stCondLst>
                                  <p:childTnLst>
                                    <p:animEffect filter="fade" transition="out">
                                      <p:cBhvr>
                                        <p:cTn dur="500"/>
                                        <p:tgtEl>
                                          <p:spTgt spid="1420"/>
                                        </p:tgtEl>
                                      </p:cBhvr>
                                    </p:animEffect>
                                    <p:set>
                                      <p:cBhvr>
                                        <p:cTn dur="1" fill="hold">
                                          <p:stCondLst>
                                            <p:cond delay="500"/>
                                          </p:stCondLst>
                                        </p:cTn>
                                        <p:tgtEl>
                                          <p:spTgt spid="1420"/>
                                        </p:tgtEl>
                                        <p:attrNameLst>
                                          <p:attrName>style.visibility</p:attrName>
                                        </p:attrNameLst>
                                      </p:cBhvr>
                                      <p:to>
                                        <p:strVal val="hidden"/>
                                      </p:to>
                                    </p:se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20"/>
                                        </p:tgtEl>
                                        <p:attrNameLst>
                                          <p:attrName>style.visibility</p:attrName>
                                        </p:attrNameLst>
                                      </p:cBhvr>
                                      <p:to>
                                        <p:strVal val="visible"/>
                                      </p:to>
                                    </p:set>
                                    <p:animEffect filter="fade" transition="in">
                                      <p:cBhvr>
                                        <p:cTn dur="500"/>
                                        <p:tgtEl>
                                          <p:spTgt spid="1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08"/>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427" name="Google Shape;1427;p108"/>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428" name="Google Shape;1428;p108"/>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429" name="Google Shape;1429;p108"/>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430" name="Google Shape;1430;p108"/>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431" name="Google Shape;1431;p108"/>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432" name="Google Shape;1432;p108"/>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433" name="Google Shape;1433;p108"/>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grpSp>
        <p:nvGrpSpPr>
          <p:cNvPr id="1434" name="Google Shape;1434;p108"/>
          <p:cNvGrpSpPr/>
          <p:nvPr/>
        </p:nvGrpSpPr>
        <p:grpSpPr>
          <a:xfrm>
            <a:off x="1108075" y="3397250"/>
            <a:ext cx="8550275" cy="608012"/>
            <a:chOff x="644" y="1153"/>
            <a:chExt cx="4972" cy="383"/>
          </a:xfrm>
        </p:grpSpPr>
        <p:sp>
          <p:nvSpPr>
            <p:cNvPr id="1435" name="Google Shape;1435;p108"/>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436" name="Google Shape;1436;p108"/>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437" name="Google Shape;1437;p108"/>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438" name="Google Shape;1438;p108"/>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439" name="Google Shape;1439;p108"/>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440" name="Google Shape;1440;p108"/>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441" name="Google Shape;1441;p108"/>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442" name="Google Shape;1442;p108"/>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443" name="Google Shape;1443;p10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 – Ví Dụ</a:t>
            </a:r>
            <a:endParaRPr/>
          </a:p>
        </p:txBody>
      </p:sp>
      <p:sp>
        <p:nvSpPr>
          <p:cNvPr id="1444" name="Google Shape;1444;p108"/>
          <p:cNvSpPr txBox="1"/>
          <p:nvPr/>
        </p:nvSpPr>
        <p:spPr>
          <a:xfrm>
            <a:off x="5795962" y="1309687"/>
            <a:ext cx="3549650"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h = (5, 3, 1); k = 3</a:t>
            </a:r>
            <a:endParaRPr/>
          </a:p>
        </p:txBody>
      </p:sp>
      <p:sp>
        <p:nvSpPr>
          <p:cNvPr id="1445" name="Google Shape;1445;p108"/>
          <p:cNvSpPr txBox="1"/>
          <p:nvPr/>
        </p:nvSpPr>
        <p:spPr>
          <a:xfrm>
            <a:off x="1100137" y="1493837"/>
            <a:ext cx="1484312"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len = 3</a:t>
            </a:r>
            <a:endParaRPr/>
          </a:p>
        </p:txBody>
      </p:sp>
      <p:sp>
        <p:nvSpPr>
          <p:cNvPr id="1446" name="Google Shape;1446;p108"/>
          <p:cNvSpPr/>
          <p:nvPr/>
        </p:nvSpPr>
        <p:spPr>
          <a:xfrm>
            <a:off x="7642225" y="2058987"/>
            <a:ext cx="990600" cy="736600"/>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Helvetica Neue"/>
              <a:buNone/>
            </a:pPr>
            <a:r>
              <a:rPr b="0" i="0" lang="en-US" sz="2400" u="none">
                <a:solidFill>
                  <a:srgbClr val="0000FF"/>
                </a:solidFill>
                <a:latin typeface="Helvetica Neue"/>
                <a:ea typeface="Helvetica Neue"/>
                <a:cs typeface="Helvetica Neue"/>
                <a:sym typeface="Helvetica Neue"/>
              </a:rPr>
              <a:t>curr</a:t>
            </a:r>
            <a:endParaRPr/>
          </a:p>
        </p:txBody>
      </p:sp>
      <p:sp>
        <p:nvSpPr>
          <p:cNvPr id="1447" name="Google Shape;1447;p108"/>
          <p:cNvSpPr/>
          <p:nvPr/>
        </p:nvSpPr>
        <p:spPr>
          <a:xfrm>
            <a:off x="974725" y="2058987"/>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448" name="Google Shape;1448;p108"/>
          <p:cNvSpPr txBox="1"/>
          <p:nvPr/>
        </p:nvSpPr>
        <p:spPr>
          <a:xfrm>
            <a:off x="7777162" y="5410200"/>
            <a:ext cx="66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49" name="Google Shape;1449;p108"/>
          <p:cNvSpPr/>
          <p:nvPr/>
        </p:nvSpPr>
        <p:spPr>
          <a:xfrm>
            <a:off x="4327525" y="2058987"/>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47"/>
                                        </p:tgtEl>
                                        <p:attrNameLst>
                                          <p:attrName>style.visibility</p:attrName>
                                        </p:attrNameLst>
                                      </p:cBhvr>
                                      <p:to>
                                        <p:strVal val="visible"/>
                                      </p:to>
                                    </p:set>
                                    <p:animEffect filter="fade" transition="in">
                                      <p:cBhvr>
                                        <p:cTn dur="500"/>
                                        <p:tgtEl>
                                          <p:spTgt spid="1447"/>
                                        </p:tgtEl>
                                      </p:cBhvr>
                                    </p:animEffect>
                                  </p:childTnLst>
                                </p:cTn>
                              </p:par>
                              <p:par>
                                <p:cTn fill="hold" nodeType="withEffect" presetClass="entr" presetID="10" presetSubtype="0">
                                  <p:stCondLst>
                                    <p:cond delay="0"/>
                                  </p:stCondLst>
                                  <p:childTnLst>
                                    <p:set>
                                      <p:cBhvr>
                                        <p:cTn dur="1" fill="hold">
                                          <p:stCondLst>
                                            <p:cond delay="0"/>
                                          </p:stCondLst>
                                        </p:cTn>
                                        <p:tgtEl>
                                          <p:spTgt spid="1449"/>
                                        </p:tgtEl>
                                        <p:attrNameLst>
                                          <p:attrName>style.visibility</p:attrName>
                                        </p:attrNameLst>
                                      </p:cBhvr>
                                      <p:to>
                                        <p:strVal val="visible"/>
                                      </p:to>
                                    </p:set>
                                    <p:animEffect filter="fade" transition="in">
                                      <p:cBhvr>
                                        <p:cTn dur="500"/>
                                        <p:tgtEl>
                                          <p:spTgt spid="144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449"/>
                                        </p:tgtEl>
                                      </p:cBhvr>
                                    </p:animEffect>
                                    <p:set>
                                      <p:cBhvr>
                                        <p:cTn dur="1" fill="hold">
                                          <p:stCondLst>
                                            <p:cond delay="500"/>
                                          </p:stCondLst>
                                        </p:cTn>
                                        <p:tgtEl>
                                          <p:spTgt spid="144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47"/>
                                        </p:tgtEl>
                                      </p:cBhvr>
                                    </p:animEffect>
                                    <p:set>
                                      <p:cBhvr>
                                        <p:cTn dur="1" fill="hold">
                                          <p:stCondLst>
                                            <p:cond delay="500"/>
                                          </p:stCondLst>
                                        </p:cTn>
                                        <p:tgtEl>
                                          <p:spTgt spid="1447"/>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49"/>
                                        </p:tgtEl>
                                        <p:attrNameLst>
                                          <p:attrName>style.visibility</p:attrName>
                                        </p:attrNameLst>
                                      </p:cBhvr>
                                      <p:to>
                                        <p:strVal val="visible"/>
                                      </p:to>
                                    </p:set>
                                    <p:animEffect filter="fade" transition="in">
                                      <p:cBhvr>
                                        <p:cTn dur="500"/>
                                        <p:tgtEl>
                                          <p:spTgt spid="1449"/>
                                        </p:tgtEl>
                                      </p:cBhvr>
                                    </p:animEffect>
                                  </p:childTnLst>
                                </p:cTn>
                              </p:par>
                              <p:par>
                                <p:cTn fill="hold" nodeType="withEffect" presetClass="entr" presetID="10" presetSubtype="0">
                                  <p:stCondLst>
                                    <p:cond delay="0"/>
                                  </p:stCondLst>
                                  <p:childTnLst>
                                    <p:set>
                                      <p:cBhvr>
                                        <p:cTn dur="1" fill="hold">
                                          <p:stCondLst>
                                            <p:cond delay="0"/>
                                          </p:stCondLst>
                                        </p:cTn>
                                        <p:tgtEl>
                                          <p:spTgt spid="1447"/>
                                        </p:tgtEl>
                                        <p:attrNameLst>
                                          <p:attrName>style.visibility</p:attrName>
                                        </p:attrNameLst>
                                      </p:cBhvr>
                                      <p:to>
                                        <p:strVal val="visible"/>
                                      </p:to>
                                    </p:set>
                                    <p:animEffect filter="fade" transition="in">
                                      <p:cBhvr>
                                        <p:cTn dur="500"/>
                                        <p:tgtEl>
                                          <p:spTgt spid="144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48"/>
                                        </p:tgtEl>
                                        <p:attrNameLst>
                                          <p:attrName>style.visibility</p:attrName>
                                        </p:attrNameLst>
                                      </p:cBhvr>
                                      <p:to>
                                        <p:strVal val="visible"/>
                                      </p:to>
                                    </p:set>
                                    <p:animEffect filter="fade" transition="in">
                                      <p:cBhvr>
                                        <p:cTn dur="2000"/>
                                        <p:tgtEl>
                                          <p:spTgt spid="1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49"/>
                                        </p:tgtEl>
                                      </p:cBhvr>
                                    </p:animEffect>
                                    <p:set>
                                      <p:cBhvr>
                                        <p:cTn dur="1" fill="hold">
                                          <p:stCondLst>
                                            <p:cond delay="500"/>
                                          </p:stCondLst>
                                        </p:cTn>
                                        <p:tgtEl>
                                          <p:spTgt spid="144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47"/>
                                        </p:tgtEl>
                                      </p:cBhvr>
                                    </p:animEffect>
                                    <p:set>
                                      <p:cBhvr>
                                        <p:cTn dur="1" fill="hold">
                                          <p:stCondLst>
                                            <p:cond delay="500"/>
                                          </p:stCondLst>
                                        </p:cTn>
                                        <p:tgtEl>
                                          <p:spTgt spid="14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109"/>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455" name="Google Shape;1455;p109"/>
          <p:cNvSpPr/>
          <p:nvPr/>
        </p:nvSpPr>
        <p:spPr>
          <a:xfrm>
            <a:off x="3324225" y="2871787"/>
            <a:ext cx="790575" cy="617537"/>
          </a:xfrm>
          <a:prstGeom prst="ellipse">
            <a:avLst/>
          </a:prstGeom>
          <a:gradFill>
            <a:gsLst>
              <a:gs pos="0">
                <a:srgbClr val="FFFFFF">
                  <a:alpha val="60000"/>
                </a:srgbClr>
              </a:gs>
              <a:gs pos="100000">
                <a:schemeClr val="accent2"/>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456" name="Google Shape;1456;p109"/>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457" name="Google Shape;1457;p109"/>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458" name="Google Shape;1458;p109"/>
          <p:cNvSpPr/>
          <p:nvPr/>
        </p:nvSpPr>
        <p:spPr>
          <a:xfrm>
            <a:off x="6648450" y="2871787"/>
            <a:ext cx="792162" cy="617537"/>
          </a:xfrm>
          <a:prstGeom prst="ellipse">
            <a:avLst/>
          </a:prstGeom>
          <a:gradFill>
            <a:gsLst>
              <a:gs pos="0">
                <a:srgbClr val="FFFFFF">
                  <a:alpha val="60000"/>
                </a:srgbClr>
              </a:gs>
              <a:gs pos="100000">
                <a:schemeClr val="accent2"/>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459" name="Google Shape;1459;p109"/>
          <p:cNvSpPr/>
          <p:nvPr/>
        </p:nvSpPr>
        <p:spPr>
          <a:xfrm>
            <a:off x="7758112"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460" name="Google Shape;1460;p109"/>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461" name="Google Shape;1461;p109"/>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462" name="Google Shape;1462;p10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 – Ví Dụ</a:t>
            </a:r>
            <a:endParaRPr/>
          </a:p>
        </p:txBody>
      </p:sp>
      <p:sp>
        <p:nvSpPr>
          <p:cNvPr id="1463" name="Google Shape;1463;p109"/>
          <p:cNvSpPr txBox="1"/>
          <p:nvPr/>
        </p:nvSpPr>
        <p:spPr>
          <a:xfrm>
            <a:off x="5795962" y="1309687"/>
            <a:ext cx="3549650"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h = (5, 3, 1); k = 3</a:t>
            </a:r>
            <a:endParaRPr/>
          </a:p>
        </p:txBody>
      </p:sp>
      <p:sp>
        <p:nvSpPr>
          <p:cNvPr id="1464" name="Google Shape;1464;p109"/>
          <p:cNvSpPr txBox="1"/>
          <p:nvPr/>
        </p:nvSpPr>
        <p:spPr>
          <a:xfrm>
            <a:off x="1100137" y="1493837"/>
            <a:ext cx="1484312"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len = 3</a:t>
            </a:r>
            <a:endParaRPr/>
          </a:p>
        </p:txBody>
      </p:sp>
      <p:grpSp>
        <p:nvGrpSpPr>
          <p:cNvPr id="1465" name="Google Shape;1465;p109"/>
          <p:cNvGrpSpPr/>
          <p:nvPr/>
        </p:nvGrpSpPr>
        <p:grpSpPr>
          <a:xfrm>
            <a:off x="1125537" y="3414712"/>
            <a:ext cx="8550275" cy="608012"/>
            <a:chOff x="644" y="1153"/>
            <a:chExt cx="4972" cy="383"/>
          </a:xfrm>
        </p:grpSpPr>
        <p:sp>
          <p:nvSpPr>
            <p:cNvPr id="1466" name="Google Shape;1466;p109"/>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467" name="Google Shape;1467;p109"/>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468" name="Google Shape;1468;p109"/>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469" name="Google Shape;1469;p109"/>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470" name="Google Shape;1470;p109"/>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471" name="Google Shape;1471;p109"/>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472" name="Google Shape;1472;p109"/>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473" name="Google Shape;1473;p109"/>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500"/>
                                        <p:tgtEl>
                                          <p:spTgt spid="1464"/>
                                        </p:tgtEl>
                                        <p:attrNameLst>
                                          <p:attrName>ppt_x</p:attrName>
                                        </p:attrNameLst>
                                      </p:cBhvr>
                                      <p:tavLst>
                                        <p:tav fmla="" tm="0">
                                          <p:val>
                                            <p:strVal val="#ppt_x"/>
                                          </p:val>
                                        </p:tav>
                                        <p:tav fmla="" tm="100000">
                                          <p:val>
                                            <p:strVal val="#ppt_x-1"/>
                                          </p:val>
                                        </p:tav>
                                      </p:tavLst>
                                    </p:anim>
                                    <p:set>
                                      <p:cBhvr>
                                        <p:cTn dur="1" fill="hold">
                                          <p:stCondLst>
                                            <p:cond delay="500"/>
                                          </p:stCondLst>
                                        </p:cTn>
                                        <p:tgtEl>
                                          <p:spTgt spid="146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sp>
        <p:nvSpPr>
          <p:cNvPr id="1478" name="Google Shape;1478;p110"/>
          <p:cNvSpPr/>
          <p:nvPr/>
        </p:nvSpPr>
        <p:spPr>
          <a:xfrm>
            <a:off x="2116137" y="2058987"/>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479" name="Google Shape;1479;p110"/>
          <p:cNvSpPr/>
          <p:nvPr/>
        </p:nvSpPr>
        <p:spPr>
          <a:xfrm>
            <a:off x="2112962" y="2047875"/>
            <a:ext cx="990600" cy="736600"/>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Helvetica Neue"/>
              <a:buNone/>
            </a:pPr>
            <a:r>
              <a:rPr b="0" i="0" lang="en-US" sz="2400" u="none">
                <a:solidFill>
                  <a:srgbClr val="0000FF"/>
                </a:solidFill>
                <a:latin typeface="Helvetica Neue"/>
                <a:ea typeface="Helvetica Neue"/>
                <a:cs typeface="Helvetica Neue"/>
                <a:sym typeface="Helvetica Neue"/>
              </a:rPr>
              <a:t>curr</a:t>
            </a:r>
            <a:endParaRPr/>
          </a:p>
        </p:txBody>
      </p:sp>
      <p:sp>
        <p:nvSpPr>
          <p:cNvPr id="1480" name="Google Shape;1480;p110"/>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481" name="Google Shape;1481;p110"/>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482" name="Google Shape;1482;p110"/>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483" name="Google Shape;1483;p110"/>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484" name="Google Shape;1484;p110"/>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485" name="Google Shape;1485;p110"/>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486" name="Google Shape;1486;p110"/>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487" name="Google Shape;1487;p110"/>
          <p:cNvSpPr/>
          <p:nvPr/>
        </p:nvSpPr>
        <p:spPr>
          <a:xfrm>
            <a:off x="1108075" y="2871787"/>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grpSp>
        <p:nvGrpSpPr>
          <p:cNvPr id="1488" name="Google Shape;1488;p110"/>
          <p:cNvGrpSpPr/>
          <p:nvPr/>
        </p:nvGrpSpPr>
        <p:grpSpPr>
          <a:xfrm>
            <a:off x="1108075" y="3397250"/>
            <a:ext cx="8550275" cy="608012"/>
            <a:chOff x="644" y="1153"/>
            <a:chExt cx="4972" cy="383"/>
          </a:xfrm>
        </p:grpSpPr>
        <p:sp>
          <p:nvSpPr>
            <p:cNvPr id="1489" name="Google Shape;1489;p110"/>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490" name="Google Shape;1490;p110"/>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491" name="Google Shape;1491;p110"/>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492" name="Google Shape;1492;p110"/>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493" name="Google Shape;1493;p110"/>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494" name="Google Shape;1494;p110"/>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495" name="Google Shape;1495;p110"/>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496" name="Google Shape;1496;p110"/>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497" name="Google Shape;1497;p11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 – Ví Dụ</a:t>
            </a:r>
            <a:endParaRPr/>
          </a:p>
        </p:txBody>
      </p:sp>
      <p:sp>
        <p:nvSpPr>
          <p:cNvPr id="1498" name="Google Shape;1498;p110"/>
          <p:cNvSpPr txBox="1"/>
          <p:nvPr/>
        </p:nvSpPr>
        <p:spPr>
          <a:xfrm>
            <a:off x="5795962" y="1309687"/>
            <a:ext cx="3549650"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h = (5, 3, 1); k = 3</a:t>
            </a:r>
            <a:endParaRPr/>
          </a:p>
        </p:txBody>
      </p:sp>
      <p:sp>
        <p:nvSpPr>
          <p:cNvPr id="1499" name="Google Shape;1499;p110"/>
          <p:cNvSpPr txBox="1"/>
          <p:nvPr/>
        </p:nvSpPr>
        <p:spPr>
          <a:xfrm>
            <a:off x="1100137" y="1493837"/>
            <a:ext cx="1484312"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len = 1</a:t>
            </a:r>
            <a:endParaRPr/>
          </a:p>
        </p:txBody>
      </p:sp>
      <p:sp>
        <p:nvSpPr>
          <p:cNvPr id="1500" name="Google Shape;1500;p110"/>
          <p:cNvSpPr/>
          <p:nvPr/>
        </p:nvSpPr>
        <p:spPr>
          <a:xfrm>
            <a:off x="974725" y="2057400"/>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501" name="Google Shape;1501;p110"/>
          <p:cNvSpPr txBox="1"/>
          <p:nvPr/>
        </p:nvSpPr>
        <p:spPr>
          <a:xfrm>
            <a:off x="7777162" y="5410200"/>
            <a:ext cx="66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02" name="Google Shape;1502;p110"/>
          <p:cNvSpPr/>
          <p:nvPr/>
        </p:nvSpPr>
        <p:spPr>
          <a:xfrm>
            <a:off x="3221037" y="2057400"/>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499"/>
                                        </p:tgtEl>
                                        <p:attrNameLst>
                                          <p:attrName>style.visibility</p:attrName>
                                        </p:attrNameLst>
                                      </p:cBhvr>
                                      <p:to>
                                        <p:strVal val="visible"/>
                                      </p:to>
                                    </p:set>
                                    <p:anim calcmode="lin" valueType="num">
                                      <p:cBhvr additive="base">
                                        <p:cTn dur="500"/>
                                        <p:tgtEl>
                                          <p:spTgt spid="149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79"/>
                                        </p:tgtEl>
                                        <p:attrNameLst>
                                          <p:attrName>style.visibility</p:attrName>
                                        </p:attrNameLst>
                                      </p:cBhvr>
                                      <p:to>
                                        <p:strVal val="visible"/>
                                      </p:to>
                                    </p:set>
                                    <p:animEffect filter="fade" transition="in">
                                      <p:cBhvr>
                                        <p:cTn dur="500"/>
                                        <p:tgtEl>
                                          <p:spTgt spid="14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00"/>
                                        </p:tgtEl>
                                        <p:attrNameLst>
                                          <p:attrName>style.visibility</p:attrName>
                                        </p:attrNameLst>
                                      </p:cBhvr>
                                      <p:to>
                                        <p:strVal val="visible"/>
                                      </p:to>
                                    </p:set>
                                    <p:animEffect filter="fade" transition="in">
                                      <p:cBhvr>
                                        <p:cTn dur="500"/>
                                        <p:tgtEl>
                                          <p:spTgt spid="1500"/>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1500"/>
                                        </p:tgtEl>
                                      </p:cBhvr>
                                    </p:animEffect>
                                    <p:set>
                                      <p:cBhvr>
                                        <p:cTn dur="1" fill="hold">
                                          <p:stCondLst>
                                            <p:cond delay="500"/>
                                          </p:stCondLst>
                                        </p:cTn>
                                        <p:tgtEl>
                                          <p:spTgt spid="1500"/>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78"/>
                                        </p:tgtEl>
                                        <p:attrNameLst>
                                          <p:attrName>style.visibility</p:attrName>
                                        </p:attrNameLst>
                                      </p:cBhvr>
                                      <p:to>
                                        <p:strVal val="visible"/>
                                      </p:to>
                                    </p:set>
                                    <p:animEffect filter="fade" transition="in">
                                      <p:cBhvr>
                                        <p:cTn dur="500"/>
                                        <p:tgtEl>
                                          <p:spTgt spid="1478"/>
                                        </p:tgtEl>
                                      </p:cBhvr>
                                    </p:animEffect>
                                  </p:childTnLst>
                                </p:cTn>
                              </p:par>
                              <p:par>
                                <p:cTn fill="hold" nodeType="withEffect" presetClass="entr" presetID="10" presetSubtype="0">
                                  <p:stCondLst>
                                    <p:cond delay="0"/>
                                  </p:stCondLst>
                                  <p:childTnLst>
                                    <p:set>
                                      <p:cBhvr>
                                        <p:cTn dur="1" fill="hold">
                                          <p:stCondLst>
                                            <p:cond delay="0"/>
                                          </p:stCondLst>
                                        </p:cTn>
                                        <p:tgtEl>
                                          <p:spTgt spid="1500"/>
                                        </p:tgtEl>
                                        <p:attrNameLst>
                                          <p:attrName>style.visibility</p:attrName>
                                        </p:attrNameLst>
                                      </p:cBhvr>
                                      <p:to>
                                        <p:strVal val="visible"/>
                                      </p:to>
                                    </p:set>
                                    <p:animEffect filter="fade" transition="in">
                                      <p:cBhvr>
                                        <p:cTn dur="500"/>
                                        <p:tgtEl>
                                          <p:spTgt spid="150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501"/>
                                        </p:tgtEl>
                                        <p:attrNameLst>
                                          <p:attrName>style.visibility</p:attrName>
                                        </p:attrNameLst>
                                      </p:cBhvr>
                                      <p:to>
                                        <p:strVal val="visible"/>
                                      </p:to>
                                    </p:set>
                                    <p:animEffect filter="fade" transition="in">
                                      <p:cBhvr>
                                        <p:cTn dur="2000"/>
                                        <p:tgtEl>
                                          <p:spTgt spid="1501"/>
                                        </p:tgtEl>
                                      </p:cBhvr>
                                    </p:animEffec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1478"/>
                                        </p:tgtEl>
                                      </p:cBhvr>
                                    </p:animEffect>
                                    <p:set>
                                      <p:cBhvr>
                                        <p:cTn dur="1" fill="hold">
                                          <p:stCondLst>
                                            <p:cond delay="500"/>
                                          </p:stCondLst>
                                        </p:cTn>
                                        <p:tgtEl>
                                          <p:spTgt spid="147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0"/>
                                        </p:tgtEl>
                                      </p:cBhvr>
                                    </p:animEffect>
                                    <p:set>
                                      <p:cBhvr>
                                        <p:cTn dur="1" fill="hold">
                                          <p:stCondLst>
                                            <p:cond delay="500"/>
                                          </p:stCondLst>
                                        </p:cTn>
                                        <p:tgtEl>
                                          <p:spTgt spid="1500"/>
                                        </p:tgtEl>
                                        <p:attrNameLst>
                                          <p:attrName>style.visibility</p:attrName>
                                        </p:attrNameLst>
                                      </p:cBhvr>
                                      <p:to>
                                        <p:strVal val="hidden"/>
                                      </p:to>
                                    </p:se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478"/>
                                        </p:tgtEl>
                                        <p:attrNameLst>
                                          <p:attrName>style.visibility</p:attrName>
                                        </p:attrNameLst>
                                      </p:cBhvr>
                                      <p:to>
                                        <p:strVal val="visible"/>
                                      </p:to>
                                    </p:set>
                                    <p:animEffect filter="fade" transition="in">
                                      <p:cBhvr>
                                        <p:cTn dur="500"/>
                                        <p:tgtEl>
                                          <p:spTgt spid="1478"/>
                                        </p:tgtEl>
                                      </p:cBhvr>
                                    </p:animEffect>
                                  </p:childTnLst>
                                </p:cTn>
                              </p:par>
                              <p:par>
                                <p:cTn fill="hold" nodeType="withEffect" presetClass="entr" presetID="10" presetSubtype="0">
                                  <p:stCondLst>
                                    <p:cond delay="0"/>
                                  </p:stCondLst>
                                  <p:childTnLst>
                                    <p:set>
                                      <p:cBhvr>
                                        <p:cTn dur="1" fill="hold">
                                          <p:stCondLst>
                                            <p:cond delay="0"/>
                                          </p:stCondLst>
                                        </p:cTn>
                                        <p:tgtEl>
                                          <p:spTgt spid="1500"/>
                                        </p:tgtEl>
                                        <p:attrNameLst>
                                          <p:attrName>style.visibility</p:attrName>
                                        </p:attrNameLst>
                                      </p:cBhvr>
                                      <p:to>
                                        <p:strVal val="visible"/>
                                      </p:to>
                                    </p:set>
                                    <p:animEffect filter="fade" transition="in">
                                      <p:cBhvr>
                                        <p:cTn dur="500"/>
                                        <p:tgtEl>
                                          <p:spTgt spid="1500"/>
                                        </p:tgtEl>
                                      </p:cBhvr>
                                    </p:animEffect>
                                  </p:childTnLst>
                                </p:cTn>
                              </p:par>
                              <p:par>
                                <p:cTn fill="hold" nodeType="withEffect" presetClass="entr" presetID="10" presetSubtype="0">
                                  <p:stCondLst>
                                    <p:cond delay="0"/>
                                  </p:stCondLst>
                                  <p:childTnLst>
                                    <p:set>
                                      <p:cBhvr>
                                        <p:cTn dur="1" fill="hold">
                                          <p:stCondLst>
                                            <p:cond delay="0"/>
                                          </p:stCondLst>
                                        </p:cTn>
                                        <p:tgtEl>
                                          <p:spTgt spid="1502"/>
                                        </p:tgtEl>
                                        <p:attrNameLst>
                                          <p:attrName>style.visibility</p:attrName>
                                        </p:attrNameLst>
                                      </p:cBhvr>
                                      <p:to>
                                        <p:strVal val="visible"/>
                                      </p:to>
                                    </p:set>
                                    <p:animEffect filter="fade" transition="in">
                                      <p:cBhvr>
                                        <p:cTn dur="500"/>
                                        <p:tgtEl>
                                          <p:spTgt spid="1502"/>
                                        </p:tgtEl>
                                      </p:cBhvr>
                                    </p:animEffect>
                                  </p:childTnLst>
                                </p:cTn>
                              </p:par>
                            </p:childTnLst>
                          </p:cTn>
                        </p:par>
                        <p:par>
                          <p:cTn fill="hold">
                            <p:stCondLst>
                              <p:cond delay="5500"/>
                            </p:stCondLst>
                            <p:childTnLst>
                              <p:par>
                                <p:cTn fill="hold" nodeType="afterEffect" presetClass="exit" presetID="10" presetSubtype="0">
                                  <p:stCondLst>
                                    <p:cond delay="0"/>
                                  </p:stCondLst>
                                  <p:childTnLst>
                                    <p:animEffect filter="fade" transition="out">
                                      <p:cBhvr>
                                        <p:cTn dur="500"/>
                                        <p:tgtEl>
                                          <p:spTgt spid="1478"/>
                                        </p:tgtEl>
                                      </p:cBhvr>
                                    </p:animEffect>
                                    <p:set>
                                      <p:cBhvr>
                                        <p:cTn dur="1" fill="hold">
                                          <p:stCondLst>
                                            <p:cond delay="500"/>
                                          </p:stCondLst>
                                        </p:cTn>
                                        <p:tgtEl>
                                          <p:spTgt spid="147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2"/>
                                        </p:tgtEl>
                                      </p:cBhvr>
                                    </p:animEffect>
                                    <p:set>
                                      <p:cBhvr>
                                        <p:cTn dur="1" fill="hold">
                                          <p:stCondLst>
                                            <p:cond delay="500"/>
                                          </p:stCondLst>
                                        </p:cTn>
                                        <p:tgtEl>
                                          <p:spTgt spid="150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0"/>
                                        </p:tgtEl>
                                      </p:cBhvr>
                                    </p:animEffect>
                                    <p:set>
                                      <p:cBhvr>
                                        <p:cTn dur="1" fill="hold">
                                          <p:stCondLst>
                                            <p:cond delay="500"/>
                                          </p:stCondLst>
                                        </p:cTn>
                                        <p:tgtEl>
                                          <p:spTgt spid="150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11"/>
          <p:cNvSpPr/>
          <p:nvPr/>
        </p:nvSpPr>
        <p:spPr>
          <a:xfrm>
            <a:off x="5421312" y="2057400"/>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508" name="Google Shape;1508;p111"/>
          <p:cNvSpPr/>
          <p:nvPr/>
        </p:nvSpPr>
        <p:spPr>
          <a:xfrm>
            <a:off x="5414962" y="2047875"/>
            <a:ext cx="990600" cy="736600"/>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400"/>
              <a:buFont typeface="Helvetica Neue"/>
              <a:buNone/>
            </a:pPr>
            <a:r>
              <a:rPr b="0" i="0" lang="en-US" sz="2400" u="none">
                <a:solidFill>
                  <a:srgbClr val="0000FF"/>
                </a:solidFill>
                <a:latin typeface="Helvetica Neue"/>
                <a:ea typeface="Helvetica Neue"/>
                <a:cs typeface="Helvetica Neue"/>
                <a:sym typeface="Helvetica Neue"/>
              </a:rPr>
              <a:t>curr</a:t>
            </a:r>
            <a:endParaRPr/>
          </a:p>
        </p:txBody>
      </p:sp>
      <p:sp>
        <p:nvSpPr>
          <p:cNvPr id="1509" name="Google Shape;1509;p111"/>
          <p:cNvSpPr/>
          <p:nvPr/>
        </p:nvSpPr>
        <p:spPr>
          <a:xfrm>
            <a:off x="2116137" y="2058987"/>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510" name="Google Shape;1510;p111"/>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511" name="Google Shape;1511;p111"/>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512" name="Google Shape;1512;p111"/>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513" name="Google Shape;1513;p111"/>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514" name="Google Shape;1514;p111"/>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515" name="Google Shape;1515;p111"/>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516" name="Google Shape;1516;p111"/>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517" name="Google Shape;1517;p111"/>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1518" name="Google Shape;1518;p111"/>
          <p:cNvGrpSpPr/>
          <p:nvPr/>
        </p:nvGrpSpPr>
        <p:grpSpPr>
          <a:xfrm>
            <a:off x="1108075" y="3468687"/>
            <a:ext cx="8523287" cy="608012"/>
            <a:chOff x="644" y="1154"/>
            <a:chExt cx="4971" cy="376"/>
          </a:xfrm>
        </p:grpSpPr>
        <p:sp>
          <p:nvSpPr>
            <p:cNvPr id="1519" name="Google Shape;1519;p111"/>
            <p:cNvSpPr/>
            <p:nvPr/>
          </p:nvSpPr>
          <p:spPr>
            <a:xfrm>
              <a:off x="1288" y="1154"/>
              <a:ext cx="460" cy="37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520" name="Google Shape;1520;p111"/>
            <p:cNvSpPr/>
            <p:nvPr/>
          </p:nvSpPr>
          <p:spPr>
            <a:xfrm>
              <a:off x="1933" y="1154"/>
              <a:ext cx="459" cy="37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521" name="Google Shape;1521;p111"/>
            <p:cNvSpPr/>
            <p:nvPr/>
          </p:nvSpPr>
          <p:spPr>
            <a:xfrm>
              <a:off x="2577" y="1154"/>
              <a:ext cx="459" cy="37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522" name="Google Shape;1522;p111"/>
            <p:cNvSpPr/>
            <p:nvPr/>
          </p:nvSpPr>
          <p:spPr>
            <a:xfrm>
              <a:off x="3222" y="1154"/>
              <a:ext cx="459" cy="37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523" name="Google Shape;1523;p111"/>
            <p:cNvSpPr/>
            <p:nvPr/>
          </p:nvSpPr>
          <p:spPr>
            <a:xfrm>
              <a:off x="3866" y="1154"/>
              <a:ext cx="459" cy="37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524" name="Google Shape;1524;p111"/>
            <p:cNvSpPr/>
            <p:nvPr/>
          </p:nvSpPr>
          <p:spPr>
            <a:xfrm>
              <a:off x="4511" y="1154"/>
              <a:ext cx="460" cy="37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525" name="Google Shape;1525;p111"/>
            <p:cNvSpPr/>
            <p:nvPr/>
          </p:nvSpPr>
          <p:spPr>
            <a:xfrm>
              <a:off x="5156" y="1154"/>
              <a:ext cx="459" cy="37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526" name="Google Shape;1526;p111"/>
            <p:cNvSpPr/>
            <p:nvPr/>
          </p:nvSpPr>
          <p:spPr>
            <a:xfrm>
              <a:off x="644" y="1154"/>
              <a:ext cx="459" cy="376"/>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527" name="Google Shape;1527;p11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 – Ví Dụ</a:t>
            </a:r>
            <a:endParaRPr/>
          </a:p>
        </p:txBody>
      </p:sp>
      <p:sp>
        <p:nvSpPr>
          <p:cNvPr id="1528" name="Google Shape;1528;p111"/>
          <p:cNvSpPr txBox="1"/>
          <p:nvPr/>
        </p:nvSpPr>
        <p:spPr>
          <a:xfrm>
            <a:off x="5795962" y="1309687"/>
            <a:ext cx="3549650"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h = (5, 3, 1); k = 3</a:t>
            </a:r>
            <a:endParaRPr/>
          </a:p>
        </p:txBody>
      </p:sp>
      <p:sp>
        <p:nvSpPr>
          <p:cNvPr id="1529" name="Google Shape;1529;p111"/>
          <p:cNvSpPr txBox="1"/>
          <p:nvPr/>
        </p:nvSpPr>
        <p:spPr>
          <a:xfrm>
            <a:off x="1100137" y="1493837"/>
            <a:ext cx="1484312" cy="519112"/>
          </a:xfrm>
          <a:prstGeom prst="rect">
            <a:avLst/>
          </a:prstGeom>
          <a:solidFill>
            <a:srgbClr val="6600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Helvetica Neue"/>
              <a:buNone/>
            </a:pPr>
            <a:r>
              <a:rPr b="1" i="0" lang="en-US" sz="2800" u="none">
                <a:solidFill>
                  <a:srgbClr val="FFFF00"/>
                </a:solidFill>
                <a:latin typeface="Helvetica Neue"/>
                <a:ea typeface="Helvetica Neue"/>
                <a:cs typeface="Helvetica Neue"/>
                <a:sym typeface="Helvetica Neue"/>
              </a:rPr>
              <a:t>len = 1</a:t>
            </a:r>
            <a:endParaRPr/>
          </a:p>
        </p:txBody>
      </p:sp>
      <p:sp>
        <p:nvSpPr>
          <p:cNvPr id="1530" name="Google Shape;1530;p111"/>
          <p:cNvSpPr/>
          <p:nvPr/>
        </p:nvSpPr>
        <p:spPr>
          <a:xfrm>
            <a:off x="974725" y="2060575"/>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531" name="Google Shape;1531;p111"/>
          <p:cNvSpPr txBox="1"/>
          <p:nvPr/>
        </p:nvSpPr>
        <p:spPr>
          <a:xfrm>
            <a:off x="7777162" y="5410200"/>
            <a:ext cx="66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32" name="Google Shape;1532;p111"/>
          <p:cNvSpPr/>
          <p:nvPr/>
        </p:nvSpPr>
        <p:spPr>
          <a:xfrm>
            <a:off x="3221037" y="2057400"/>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533" name="Google Shape;1533;p111"/>
          <p:cNvSpPr/>
          <p:nvPr/>
        </p:nvSpPr>
        <p:spPr>
          <a:xfrm>
            <a:off x="4327525" y="2057400"/>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534" name="Google Shape;1534;p111"/>
          <p:cNvSpPr/>
          <p:nvPr/>
        </p:nvSpPr>
        <p:spPr>
          <a:xfrm>
            <a:off x="4327525" y="2057400"/>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535" name="Google Shape;1535;p111"/>
          <p:cNvSpPr/>
          <p:nvPr/>
        </p:nvSpPr>
        <p:spPr>
          <a:xfrm>
            <a:off x="6526212" y="2057400"/>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
        <p:nvSpPr>
          <p:cNvPr id="1536" name="Google Shape;1536;p111"/>
          <p:cNvSpPr/>
          <p:nvPr/>
        </p:nvSpPr>
        <p:spPr>
          <a:xfrm>
            <a:off x="7632700" y="2057400"/>
            <a:ext cx="990600" cy="736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0" i="0" lang="en-US" sz="2400" u="none">
                <a:solidFill>
                  <a:srgbClr val="FF3300"/>
                </a:solidFill>
                <a:latin typeface="Helvetica Neue"/>
                <a:ea typeface="Helvetica Neue"/>
                <a:cs typeface="Helvetica Neue"/>
                <a:sym typeface="Helvetica Neue"/>
              </a:rPr>
              <a:t>joint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33"/>
                                        </p:tgtEl>
                                        <p:attrNameLst>
                                          <p:attrName>style.visibility</p:attrName>
                                        </p:attrNameLst>
                                      </p:cBhvr>
                                      <p:to>
                                        <p:strVal val="visible"/>
                                      </p:to>
                                    </p:set>
                                    <p:animEffect filter="fade" transition="in">
                                      <p:cBhvr>
                                        <p:cTn dur="500"/>
                                        <p:tgtEl>
                                          <p:spTgt spid="1533"/>
                                        </p:tgtEl>
                                      </p:cBhvr>
                                    </p:animEffect>
                                  </p:childTnLst>
                                </p:cTn>
                              </p:par>
                              <p:par>
                                <p:cTn fill="hold" nodeType="withEffect" presetClass="entr" presetID="10" presetSubtype="0">
                                  <p:stCondLst>
                                    <p:cond delay="0"/>
                                  </p:stCondLst>
                                  <p:childTnLst>
                                    <p:set>
                                      <p:cBhvr>
                                        <p:cTn dur="1" fill="hold">
                                          <p:stCondLst>
                                            <p:cond delay="0"/>
                                          </p:stCondLst>
                                        </p:cTn>
                                        <p:tgtEl>
                                          <p:spTgt spid="1532"/>
                                        </p:tgtEl>
                                        <p:attrNameLst>
                                          <p:attrName>style.visibility</p:attrName>
                                        </p:attrNameLst>
                                      </p:cBhvr>
                                      <p:to>
                                        <p:strVal val="visible"/>
                                      </p:to>
                                    </p:set>
                                    <p:animEffect filter="fade" transition="in">
                                      <p:cBhvr>
                                        <p:cTn dur="500"/>
                                        <p:tgtEl>
                                          <p:spTgt spid="1532"/>
                                        </p:tgtEl>
                                      </p:cBhvr>
                                    </p:animEffect>
                                  </p:childTnLst>
                                </p:cTn>
                              </p:par>
                              <p:par>
                                <p:cTn fill="hold" nodeType="withEffect" presetClass="entr" presetID="10" presetSubtype="0">
                                  <p:stCondLst>
                                    <p:cond delay="0"/>
                                  </p:stCondLst>
                                  <p:childTnLst>
                                    <p:set>
                                      <p:cBhvr>
                                        <p:cTn dur="1" fill="hold">
                                          <p:stCondLst>
                                            <p:cond delay="0"/>
                                          </p:stCondLst>
                                        </p:cTn>
                                        <p:tgtEl>
                                          <p:spTgt spid="1530"/>
                                        </p:tgtEl>
                                        <p:attrNameLst>
                                          <p:attrName>style.visibility</p:attrName>
                                        </p:attrNameLst>
                                      </p:cBhvr>
                                      <p:to>
                                        <p:strVal val="visible"/>
                                      </p:to>
                                    </p:set>
                                    <p:animEffect filter="fade" transition="in">
                                      <p:cBhvr>
                                        <p:cTn dur="500"/>
                                        <p:tgtEl>
                                          <p:spTgt spid="1530"/>
                                        </p:tgtEl>
                                      </p:cBhvr>
                                    </p:animEffect>
                                  </p:childTnLst>
                                </p:cTn>
                              </p:par>
                              <p:par>
                                <p:cTn fill="hold" nodeType="withEffect" presetClass="entr" presetID="10" presetSubtype="0">
                                  <p:stCondLst>
                                    <p:cond delay="0"/>
                                  </p:stCondLst>
                                  <p:childTnLst>
                                    <p:set>
                                      <p:cBhvr>
                                        <p:cTn dur="1" fill="hold">
                                          <p:stCondLst>
                                            <p:cond delay="0"/>
                                          </p:stCondLst>
                                        </p:cTn>
                                        <p:tgtEl>
                                          <p:spTgt spid="1509"/>
                                        </p:tgtEl>
                                        <p:attrNameLst>
                                          <p:attrName>style.visibility</p:attrName>
                                        </p:attrNameLst>
                                      </p:cBhvr>
                                      <p:to>
                                        <p:strVal val="visible"/>
                                      </p:to>
                                    </p:set>
                                    <p:animEffect filter="fade" transition="in">
                                      <p:cBhvr>
                                        <p:cTn dur="500"/>
                                        <p:tgtEl>
                                          <p:spTgt spid="150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533"/>
                                        </p:tgtEl>
                                      </p:cBhvr>
                                    </p:animEffect>
                                    <p:set>
                                      <p:cBhvr>
                                        <p:cTn dur="1" fill="hold">
                                          <p:stCondLst>
                                            <p:cond delay="500"/>
                                          </p:stCondLst>
                                        </p:cTn>
                                        <p:tgtEl>
                                          <p:spTgt spid="15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2"/>
                                        </p:tgtEl>
                                      </p:cBhvr>
                                    </p:animEffect>
                                    <p:set>
                                      <p:cBhvr>
                                        <p:cTn dur="1" fill="hold">
                                          <p:stCondLst>
                                            <p:cond delay="500"/>
                                          </p:stCondLst>
                                        </p:cTn>
                                        <p:tgtEl>
                                          <p:spTgt spid="153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9"/>
                                        </p:tgtEl>
                                      </p:cBhvr>
                                    </p:animEffect>
                                    <p:set>
                                      <p:cBhvr>
                                        <p:cTn dur="1" fill="hold">
                                          <p:stCondLst>
                                            <p:cond delay="500"/>
                                          </p:stCondLst>
                                        </p:cTn>
                                        <p:tgtEl>
                                          <p:spTgt spid="150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0"/>
                                        </p:tgtEl>
                                      </p:cBhvr>
                                    </p:animEffect>
                                    <p:set>
                                      <p:cBhvr>
                                        <p:cTn dur="1" fill="hold">
                                          <p:stCondLst>
                                            <p:cond delay="500"/>
                                          </p:stCondLst>
                                        </p:cTn>
                                        <p:tgtEl>
                                          <p:spTgt spid="1530"/>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34"/>
                                        </p:tgtEl>
                                        <p:attrNameLst>
                                          <p:attrName>style.visibility</p:attrName>
                                        </p:attrNameLst>
                                      </p:cBhvr>
                                      <p:to>
                                        <p:strVal val="visible"/>
                                      </p:to>
                                    </p:set>
                                    <p:animEffect filter="fade" transition="in">
                                      <p:cBhvr>
                                        <p:cTn dur="500"/>
                                        <p:tgtEl>
                                          <p:spTgt spid="1534"/>
                                        </p:tgtEl>
                                      </p:cBhvr>
                                    </p:animEffect>
                                  </p:childTnLst>
                                </p:cTn>
                              </p:par>
                              <p:par>
                                <p:cTn fill="hold" nodeType="withEffect" presetClass="entr" presetID="10" presetSubtype="0">
                                  <p:stCondLst>
                                    <p:cond delay="0"/>
                                  </p:stCondLst>
                                  <p:childTnLst>
                                    <p:set>
                                      <p:cBhvr>
                                        <p:cTn dur="1" fill="hold">
                                          <p:stCondLst>
                                            <p:cond delay="0"/>
                                          </p:stCondLst>
                                        </p:cTn>
                                        <p:tgtEl>
                                          <p:spTgt spid="1532"/>
                                        </p:tgtEl>
                                        <p:attrNameLst>
                                          <p:attrName>style.visibility</p:attrName>
                                        </p:attrNameLst>
                                      </p:cBhvr>
                                      <p:to>
                                        <p:strVal val="visible"/>
                                      </p:to>
                                    </p:set>
                                    <p:animEffect filter="fade" transition="in">
                                      <p:cBhvr>
                                        <p:cTn dur="500"/>
                                        <p:tgtEl>
                                          <p:spTgt spid="1532"/>
                                        </p:tgtEl>
                                      </p:cBhvr>
                                    </p:animEffect>
                                  </p:childTnLst>
                                </p:cTn>
                              </p:par>
                              <p:par>
                                <p:cTn fill="hold" nodeType="withEffect" presetClass="entr" presetID="10" presetSubtype="0">
                                  <p:stCondLst>
                                    <p:cond delay="0"/>
                                  </p:stCondLst>
                                  <p:childTnLst>
                                    <p:set>
                                      <p:cBhvr>
                                        <p:cTn dur="1" fill="hold">
                                          <p:stCondLst>
                                            <p:cond delay="0"/>
                                          </p:stCondLst>
                                        </p:cTn>
                                        <p:tgtEl>
                                          <p:spTgt spid="1509"/>
                                        </p:tgtEl>
                                        <p:attrNameLst>
                                          <p:attrName>style.visibility</p:attrName>
                                        </p:attrNameLst>
                                      </p:cBhvr>
                                      <p:to>
                                        <p:strVal val="visible"/>
                                      </p:to>
                                    </p:set>
                                    <p:animEffect filter="fade" transition="in">
                                      <p:cBhvr>
                                        <p:cTn dur="500"/>
                                        <p:tgtEl>
                                          <p:spTgt spid="1509"/>
                                        </p:tgtEl>
                                      </p:cBhvr>
                                    </p:animEffect>
                                  </p:childTnLst>
                                </p:cTn>
                              </p:par>
                              <p:par>
                                <p:cTn fill="hold" nodeType="withEffect" presetClass="entr" presetID="10" presetSubtype="0">
                                  <p:stCondLst>
                                    <p:cond delay="0"/>
                                  </p:stCondLst>
                                  <p:childTnLst>
                                    <p:set>
                                      <p:cBhvr>
                                        <p:cTn dur="1" fill="hold">
                                          <p:stCondLst>
                                            <p:cond delay="0"/>
                                          </p:stCondLst>
                                        </p:cTn>
                                        <p:tgtEl>
                                          <p:spTgt spid="1530"/>
                                        </p:tgtEl>
                                        <p:attrNameLst>
                                          <p:attrName>style.visibility</p:attrName>
                                        </p:attrNameLst>
                                      </p:cBhvr>
                                      <p:to>
                                        <p:strVal val="visible"/>
                                      </p:to>
                                    </p:set>
                                    <p:animEffect filter="fade" transition="in">
                                      <p:cBhvr>
                                        <p:cTn dur="500"/>
                                        <p:tgtEl>
                                          <p:spTgt spid="1530"/>
                                        </p:tgtEl>
                                      </p:cBhvr>
                                    </p:animEffect>
                                  </p:childTnLst>
                                </p:cTn>
                              </p:par>
                              <p:par>
                                <p:cTn fill="hold" nodeType="withEffect" presetClass="entr" presetID="10" presetSubtype="0">
                                  <p:stCondLst>
                                    <p:cond delay="0"/>
                                  </p:stCondLst>
                                  <p:childTnLst>
                                    <p:set>
                                      <p:cBhvr>
                                        <p:cTn dur="1" fill="hold">
                                          <p:stCondLst>
                                            <p:cond delay="0"/>
                                          </p:stCondLst>
                                        </p:cTn>
                                        <p:tgtEl>
                                          <p:spTgt spid="1507"/>
                                        </p:tgtEl>
                                        <p:attrNameLst>
                                          <p:attrName>style.visibility</p:attrName>
                                        </p:attrNameLst>
                                      </p:cBhvr>
                                      <p:to>
                                        <p:strVal val="visible"/>
                                      </p:to>
                                    </p:set>
                                    <p:animEffect filter="fade" transition="in">
                                      <p:cBhvr>
                                        <p:cTn dur="500"/>
                                        <p:tgtEl>
                                          <p:spTgt spid="1507"/>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2000"/>
                                        <p:tgtEl>
                                          <p:spTgt spid="1531"/>
                                        </p:tgtEl>
                                      </p:cBhvr>
                                    </p:animEffect>
                                    <p:set>
                                      <p:cBhvr>
                                        <p:cTn dur="1" fill="hold">
                                          <p:stCondLst>
                                            <p:cond delay="2000"/>
                                          </p:stCondLst>
                                        </p:cTn>
                                        <p:tgtEl>
                                          <p:spTgt spid="1531"/>
                                        </p:tgtEl>
                                        <p:attrNameLst>
                                          <p:attrName>style.visibility</p:attrName>
                                        </p:attrNameLst>
                                      </p:cBhvr>
                                      <p:to>
                                        <p:strVal val="hidden"/>
                                      </p:to>
                                    </p:se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1507"/>
                                        </p:tgtEl>
                                      </p:cBhvr>
                                    </p:animEffect>
                                    <p:set>
                                      <p:cBhvr>
                                        <p:cTn dur="1" fill="hold">
                                          <p:stCondLst>
                                            <p:cond delay="500"/>
                                          </p:stCondLst>
                                        </p:cTn>
                                        <p:tgtEl>
                                          <p:spTgt spid="150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4"/>
                                        </p:tgtEl>
                                      </p:cBhvr>
                                    </p:animEffect>
                                    <p:set>
                                      <p:cBhvr>
                                        <p:cTn dur="1" fill="hold">
                                          <p:stCondLst>
                                            <p:cond delay="500"/>
                                          </p:stCondLst>
                                        </p:cTn>
                                        <p:tgtEl>
                                          <p:spTgt spid="153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2"/>
                                        </p:tgtEl>
                                      </p:cBhvr>
                                    </p:animEffect>
                                    <p:set>
                                      <p:cBhvr>
                                        <p:cTn dur="1" fill="hold">
                                          <p:stCondLst>
                                            <p:cond delay="500"/>
                                          </p:stCondLst>
                                        </p:cTn>
                                        <p:tgtEl>
                                          <p:spTgt spid="153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9"/>
                                        </p:tgtEl>
                                      </p:cBhvr>
                                    </p:animEffect>
                                    <p:set>
                                      <p:cBhvr>
                                        <p:cTn dur="1" fill="hold">
                                          <p:stCondLst>
                                            <p:cond delay="500"/>
                                          </p:stCondLst>
                                        </p:cTn>
                                        <p:tgtEl>
                                          <p:spTgt spid="150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0"/>
                                        </p:tgtEl>
                                      </p:cBhvr>
                                    </p:animEffect>
                                    <p:set>
                                      <p:cBhvr>
                                        <p:cTn dur="1" fill="hold">
                                          <p:stCondLst>
                                            <p:cond delay="500"/>
                                          </p:stCondLst>
                                        </p:cTn>
                                        <p:tgtEl>
                                          <p:spTgt spid="1530"/>
                                        </p:tgtEl>
                                        <p:attrNameLst>
                                          <p:attrName>style.visibility</p:attrName>
                                        </p:attrNameLst>
                                      </p:cBhvr>
                                      <p:to>
                                        <p:strVal val="hidden"/>
                                      </p:to>
                                    </p:se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507"/>
                                        </p:tgtEl>
                                        <p:attrNameLst>
                                          <p:attrName>style.visibility</p:attrName>
                                        </p:attrNameLst>
                                      </p:cBhvr>
                                      <p:to>
                                        <p:strVal val="visible"/>
                                      </p:to>
                                    </p:set>
                                    <p:animEffect filter="fade" transition="in">
                                      <p:cBhvr>
                                        <p:cTn dur="500"/>
                                        <p:tgtEl>
                                          <p:spTgt spid="1507"/>
                                        </p:tgtEl>
                                      </p:cBhvr>
                                    </p:animEffect>
                                  </p:childTnLst>
                                </p:cTn>
                              </p:par>
                              <p:par>
                                <p:cTn fill="hold" nodeType="withEffect" presetClass="entr" presetID="10" presetSubtype="0">
                                  <p:stCondLst>
                                    <p:cond delay="0"/>
                                  </p:stCondLst>
                                  <p:childTnLst>
                                    <p:set>
                                      <p:cBhvr>
                                        <p:cTn dur="1" fill="hold">
                                          <p:stCondLst>
                                            <p:cond delay="0"/>
                                          </p:stCondLst>
                                        </p:cTn>
                                        <p:tgtEl>
                                          <p:spTgt spid="1534"/>
                                        </p:tgtEl>
                                        <p:attrNameLst>
                                          <p:attrName>style.visibility</p:attrName>
                                        </p:attrNameLst>
                                      </p:cBhvr>
                                      <p:to>
                                        <p:strVal val="visible"/>
                                      </p:to>
                                    </p:set>
                                    <p:animEffect filter="fade" transition="in">
                                      <p:cBhvr>
                                        <p:cTn dur="500"/>
                                        <p:tgtEl>
                                          <p:spTgt spid="1534"/>
                                        </p:tgtEl>
                                      </p:cBhvr>
                                    </p:animEffect>
                                  </p:childTnLst>
                                </p:cTn>
                              </p:par>
                              <p:par>
                                <p:cTn fill="hold" nodeType="withEffect" presetClass="entr" presetID="10" presetSubtype="0">
                                  <p:stCondLst>
                                    <p:cond delay="0"/>
                                  </p:stCondLst>
                                  <p:childTnLst>
                                    <p:set>
                                      <p:cBhvr>
                                        <p:cTn dur="1" fill="hold">
                                          <p:stCondLst>
                                            <p:cond delay="0"/>
                                          </p:stCondLst>
                                        </p:cTn>
                                        <p:tgtEl>
                                          <p:spTgt spid="1532"/>
                                        </p:tgtEl>
                                        <p:attrNameLst>
                                          <p:attrName>style.visibility</p:attrName>
                                        </p:attrNameLst>
                                      </p:cBhvr>
                                      <p:to>
                                        <p:strVal val="visible"/>
                                      </p:to>
                                    </p:set>
                                    <p:animEffect filter="fade" transition="in">
                                      <p:cBhvr>
                                        <p:cTn dur="500"/>
                                        <p:tgtEl>
                                          <p:spTgt spid="1532"/>
                                        </p:tgtEl>
                                      </p:cBhvr>
                                    </p:animEffect>
                                  </p:childTnLst>
                                </p:cTn>
                              </p:par>
                              <p:par>
                                <p:cTn fill="hold" nodeType="withEffect" presetClass="entr" presetID="10" presetSubtype="0">
                                  <p:stCondLst>
                                    <p:cond delay="0"/>
                                  </p:stCondLst>
                                  <p:childTnLst>
                                    <p:set>
                                      <p:cBhvr>
                                        <p:cTn dur="1" fill="hold">
                                          <p:stCondLst>
                                            <p:cond delay="0"/>
                                          </p:stCondLst>
                                        </p:cTn>
                                        <p:tgtEl>
                                          <p:spTgt spid="1509"/>
                                        </p:tgtEl>
                                        <p:attrNameLst>
                                          <p:attrName>style.visibility</p:attrName>
                                        </p:attrNameLst>
                                      </p:cBhvr>
                                      <p:to>
                                        <p:strVal val="visible"/>
                                      </p:to>
                                    </p:set>
                                    <p:animEffect filter="fade" transition="in">
                                      <p:cBhvr>
                                        <p:cTn dur="500"/>
                                        <p:tgtEl>
                                          <p:spTgt spid="1509"/>
                                        </p:tgtEl>
                                      </p:cBhvr>
                                    </p:animEffect>
                                  </p:childTnLst>
                                </p:cTn>
                              </p:par>
                              <p:par>
                                <p:cTn fill="hold" nodeType="withEffect" presetClass="entr" presetID="10" presetSubtype="0">
                                  <p:stCondLst>
                                    <p:cond delay="0"/>
                                  </p:stCondLst>
                                  <p:childTnLst>
                                    <p:set>
                                      <p:cBhvr>
                                        <p:cTn dur="1" fill="hold">
                                          <p:stCondLst>
                                            <p:cond delay="0"/>
                                          </p:stCondLst>
                                        </p:cTn>
                                        <p:tgtEl>
                                          <p:spTgt spid="1530"/>
                                        </p:tgtEl>
                                        <p:attrNameLst>
                                          <p:attrName>style.visibility</p:attrName>
                                        </p:attrNameLst>
                                      </p:cBhvr>
                                      <p:to>
                                        <p:strVal val="visible"/>
                                      </p:to>
                                    </p:set>
                                    <p:animEffect filter="fade" transition="in">
                                      <p:cBhvr>
                                        <p:cTn dur="500"/>
                                        <p:tgtEl>
                                          <p:spTgt spid="1530"/>
                                        </p:tgtEl>
                                      </p:cBhvr>
                                    </p:animEffect>
                                  </p:childTnLst>
                                </p:cTn>
                              </p:par>
                              <p:par>
                                <p:cTn fill="hold" nodeType="withEffect" presetClass="entr" presetID="10" presetSubtype="0">
                                  <p:stCondLst>
                                    <p:cond delay="0"/>
                                  </p:stCondLst>
                                  <p:childTnLst>
                                    <p:set>
                                      <p:cBhvr>
                                        <p:cTn dur="1" fill="hold">
                                          <p:stCondLst>
                                            <p:cond delay="0"/>
                                          </p:stCondLst>
                                        </p:cTn>
                                        <p:tgtEl>
                                          <p:spTgt spid="1535"/>
                                        </p:tgtEl>
                                        <p:attrNameLst>
                                          <p:attrName>style.visibility</p:attrName>
                                        </p:attrNameLst>
                                      </p:cBhvr>
                                      <p:to>
                                        <p:strVal val="visible"/>
                                      </p:to>
                                    </p:set>
                                    <p:animEffect filter="fade" transition="in">
                                      <p:cBhvr>
                                        <p:cTn dur="500"/>
                                        <p:tgtEl>
                                          <p:spTgt spid="1535"/>
                                        </p:tgtEl>
                                      </p:cBhvr>
                                    </p:animEffec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1535"/>
                                        </p:tgtEl>
                                      </p:cBhvr>
                                    </p:animEffect>
                                    <p:set>
                                      <p:cBhvr>
                                        <p:cTn dur="1" fill="hold">
                                          <p:stCondLst>
                                            <p:cond delay="500"/>
                                          </p:stCondLst>
                                        </p:cTn>
                                        <p:tgtEl>
                                          <p:spTgt spid="15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7"/>
                                        </p:tgtEl>
                                      </p:cBhvr>
                                    </p:animEffect>
                                    <p:set>
                                      <p:cBhvr>
                                        <p:cTn dur="1" fill="hold">
                                          <p:stCondLst>
                                            <p:cond delay="500"/>
                                          </p:stCondLst>
                                        </p:cTn>
                                        <p:tgtEl>
                                          <p:spTgt spid="150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4"/>
                                        </p:tgtEl>
                                      </p:cBhvr>
                                    </p:animEffect>
                                    <p:set>
                                      <p:cBhvr>
                                        <p:cTn dur="1" fill="hold">
                                          <p:stCondLst>
                                            <p:cond delay="500"/>
                                          </p:stCondLst>
                                        </p:cTn>
                                        <p:tgtEl>
                                          <p:spTgt spid="153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2"/>
                                        </p:tgtEl>
                                      </p:cBhvr>
                                    </p:animEffect>
                                    <p:set>
                                      <p:cBhvr>
                                        <p:cTn dur="1" fill="hold">
                                          <p:stCondLst>
                                            <p:cond delay="500"/>
                                          </p:stCondLst>
                                        </p:cTn>
                                        <p:tgtEl>
                                          <p:spTgt spid="153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9"/>
                                        </p:tgtEl>
                                      </p:cBhvr>
                                    </p:animEffect>
                                    <p:set>
                                      <p:cBhvr>
                                        <p:cTn dur="1" fill="hold">
                                          <p:stCondLst>
                                            <p:cond delay="500"/>
                                          </p:stCondLst>
                                        </p:cTn>
                                        <p:tgtEl>
                                          <p:spTgt spid="150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0"/>
                                        </p:tgtEl>
                                      </p:cBhvr>
                                    </p:animEffect>
                                    <p:set>
                                      <p:cBhvr>
                                        <p:cTn dur="1" fill="hold">
                                          <p:stCondLst>
                                            <p:cond delay="500"/>
                                          </p:stCondLst>
                                        </p:cTn>
                                        <p:tgtEl>
                                          <p:spTgt spid="1530"/>
                                        </p:tgtEl>
                                        <p:attrNameLst>
                                          <p:attrName>style.visibility</p:attrName>
                                        </p:attrNameLst>
                                      </p:cBhvr>
                                      <p:to>
                                        <p:strVal val="hidden"/>
                                      </p:to>
                                    </p:se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536"/>
                                        </p:tgtEl>
                                        <p:attrNameLst>
                                          <p:attrName>style.visibility</p:attrName>
                                        </p:attrNameLst>
                                      </p:cBhvr>
                                      <p:to>
                                        <p:strVal val="visible"/>
                                      </p:to>
                                    </p:set>
                                    <p:animEffect filter="fade" transition="in">
                                      <p:cBhvr>
                                        <p:cTn dur="500"/>
                                        <p:tgtEl>
                                          <p:spTgt spid="1536"/>
                                        </p:tgtEl>
                                      </p:cBhvr>
                                    </p:animEffect>
                                  </p:childTnLst>
                                </p:cTn>
                              </p:par>
                              <p:par>
                                <p:cTn fill="hold" nodeType="withEffect" presetClass="entr" presetID="10" presetSubtype="0">
                                  <p:stCondLst>
                                    <p:cond delay="0"/>
                                  </p:stCondLst>
                                  <p:childTnLst>
                                    <p:set>
                                      <p:cBhvr>
                                        <p:cTn dur="1" fill="hold">
                                          <p:stCondLst>
                                            <p:cond delay="0"/>
                                          </p:stCondLst>
                                        </p:cTn>
                                        <p:tgtEl>
                                          <p:spTgt spid="1535"/>
                                        </p:tgtEl>
                                        <p:attrNameLst>
                                          <p:attrName>style.visibility</p:attrName>
                                        </p:attrNameLst>
                                      </p:cBhvr>
                                      <p:to>
                                        <p:strVal val="visible"/>
                                      </p:to>
                                    </p:set>
                                    <p:animEffect filter="fade" transition="in">
                                      <p:cBhvr>
                                        <p:cTn dur="500"/>
                                        <p:tgtEl>
                                          <p:spTgt spid="1535"/>
                                        </p:tgtEl>
                                      </p:cBhvr>
                                    </p:animEffect>
                                  </p:childTnLst>
                                </p:cTn>
                              </p:par>
                              <p:par>
                                <p:cTn fill="hold" nodeType="withEffect" presetClass="entr" presetID="10" presetSubtype="0">
                                  <p:stCondLst>
                                    <p:cond delay="0"/>
                                  </p:stCondLst>
                                  <p:childTnLst>
                                    <p:set>
                                      <p:cBhvr>
                                        <p:cTn dur="1" fill="hold">
                                          <p:stCondLst>
                                            <p:cond delay="0"/>
                                          </p:stCondLst>
                                        </p:cTn>
                                        <p:tgtEl>
                                          <p:spTgt spid="1507"/>
                                        </p:tgtEl>
                                        <p:attrNameLst>
                                          <p:attrName>style.visibility</p:attrName>
                                        </p:attrNameLst>
                                      </p:cBhvr>
                                      <p:to>
                                        <p:strVal val="visible"/>
                                      </p:to>
                                    </p:set>
                                    <p:animEffect filter="fade" transition="in">
                                      <p:cBhvr>
                                        <p:cTn dur="500"/>
                                        <p:tgtEl>
                                          <p:spTgt spid="1507"/>
                                        </p:tgtEl>
                                      </p:cBhvr>
                                    </p:animEffect>
                                  </p:childTnLst>
                                </p:cTn>
                              </p:par>
                              <p:par>
                                <p:cTn fill="hold" nodeType="withEffect" presetClass="entr" presetID="10" presetSubtype="0">
                                  <p:stCondLst>
                                    <p:cond delay="0"/>
                                  </p:stCondLst>
                                  <p:childTnLst>
                                    <p:set>
                                      <p:cBhvr>
                                        <p:cTn dur="1" fill="hold">
                                          <p:stCondLst>
                                            <p:cond delay="0"/>
                                          </p:stCondLst>
                                        </p:cTn>
                                        <p:tgtEl>
                                          <p:spTgt spid="1534"/>
                                        </p:tgtEl>
                                        <p:attrNameLst>
                                          <p:attrName>style.visibility</p:attrName>
                                        </p:attrNameLst>
                                      </p:cBhvr>
                                      <p:to>
                                        <p:strVal val="visible"/>
                                      </p:to>
                                    </p:set>
                                    <p:animEffect filter="fade" transition="in">
                                      <p:cBhvr>
                                        <p:cTn dur="500"/>
                                        <p:tgtEl>
                                          <p:spTgt spid="1534"/>
                                        </p:tgtEl>
                                      </p:cBhvr>
                                    </p:animEffect>
                                  </p:childTnLst>
                                </p:cTn>
                              </p:par>
                              <p:par>
                                <p:cTn fill="hold" nodeType="withEffect" presetClass="entr" presetID="10" presetSubtype="0">
                                  <p:stCondLst>
                                    <p:cond delay="0"/>
                                  </p:stCondLst>
                                  <p:childTnLst>
                                    <p:set>
                                      <p:cBhvr>
                                        <p:cTn dur="1" fill="hold">
                                          <p:stCondLst>
                                            <p:cond delay="0"/>
                                          </p:stCondLst>
                                        </p:cTn>
                                        <p:tgtEl>
                                          <p:spTgt spid="1532"/>
                                        </p:tgtEl>
                                        <p:attrNameLst>
                                          <p:attrName>style.visibility</p:attrName>
                                        </p:attrNameLst>
                                      </p:cBhvr>
                                      <p:to>
                                        <p:strVal val="visible"/>
                                      </p:to>
                                    </p:set>
                                    <p:animEffect filter="fade" transition="in">
                                      <p:cBhvr>
                                        <p:cTn dur="500"/>
                                        <p:tgtEl>
                                          <p:spTgt spid="1532"/>
                                        </p:tgtEl>
                                      </p:cBhvr>
                                    </p:animEffect>
                                  </p:childTnLst>
                                </p:cTn>
                              </p:par>
                              <p:par>
                                <p:cTn fill="hold" nodeType="withEffect" presetClass="entr" presetID="10" presetSubtype="0">
                                  <p:stCondLst>
                                    <p:cond delay="0"/>
                                  </p:stCondLst>
                                  <p:childTnLst>
                                    <p:set>
                                      <p:cBhvr>
                                        <p:cTn dur="1" fill="hold">
                                          <p:stCondLst>
                                            <p:cond delay="0"/>
                                          </p:stCondLst>
                                        </p:cTn>
                                        <p:tgtEl>
                                          <p:spTgt spid="1509"/>
                                        </p:tgtEl>
                                        <p:attrNameLst>
                                          <p:attrName>style.visibility</p:attrName>
                                        </p:attrNameLst>
                                      </p:cBhvr>
                                      <p:to>
                                        <p:strVal val="visible"/>
                                      </p:to>
                                    </p:set>
                                    <p:animEffect filter="fade" transition="in">
                                      <p:cBhvr>
                                        <p:cTn dur="500"/>
                                        <p:tgtEl>
                                          <p:spTgt spid="1509"/>
                                        </p:tgtEl>
                                      </p:cBhvr>
                                    </p:animEffect>
                                  </p:childTnLst>
                                </p:cTn>
                              </p:par>
                              <p:par>
                                <p:cTn fill="hold" nodeType="withEffect" presetClass="entr" presetID="10" presetSubtype="0">
                                  <p:stCondLst>
                                    <p:cond delay="0"/>
                                  </p:stCondLst>
                                  <p:childTnLst>
                                    <p:set>
                                      <p:cBhvr>
                                        <p:cTn dur="1" fill="hold">
                                          <p:stCondLst>
                                            <p:cond delay="0"/>
                                          </p:stCondLst>
                                        </p:cTn>
                                        <p:tgtEl>
                                          <p:spTgt spid="1530"/>
                                        </p:tgtEl>
                                        <p:attrNameLst>
                                          <p:attrName>style.visibility</p:attrName>
                                        </p:attrNameLst>
                                      </p:cBhvr>
                                      <p:to>
                                        <p:strVal val="visible"/>
                                      </p:to>
                                    </p:set>
                                    <p:animEffect filter="fade" transition="in">
                                      <p:cBhvr>
                                        <p:cTn dur="500"/>
                                        <p:tgtEl>
                                          <p:spTgt spid="1530"/>
                                        </p:tgtEl>
                                      </p:cBhvr>
                                    </p:animEffect>
                                  </p:childTnLst>
                                </p:cTn>
                              </p:par>
                            </p:childTnLst>
                          </p:cTn>
                        </p:par>
                        <p:par>
                          <p:cTn fill="hold">
                            <p:stCondLst>
                              <p:cond delay="5500"/>
                            </p:stCondLst>
                            <p:childTnLst>
                              <p:par>
                                <p:cTn fill="hold" nodeType="afterEffect" presetClass="exit" presetID="10" presetSubtype="0">
                                  <p:stCondLst>
                                    <p:cond delay="0"/>
                                  </p:stCondLst>
                                  <p:childTnLst>
                                    <p:animEffect filter="fade" transition="out">
                                      <p:cBhvr>
                                        <p:cTn dur="500"/>
                                        <p:tgtEl>
                                          <p:spTgt spid="1536"/>
                                        </p:tgtEl>
                                      </p:cBhvr>
                                    </p:animEffect>
                                    <p:set>
                                      <p:cBhvr>
                                        <p:cTn dur="1" fill="hold">
                                          <p:stCondLst>
                                            <p:cond delay="500"/>
                                          </p:stCondLst>
                                        </p:cTn>
                                        <p:tgtEl>
                                          <p:spTgt spid="15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5"/>
                                        </p:tgtEl>
                                      </p:cBhvr>
                                    </p:animEffect>
                                    <p:set>
                                      <p:cBhvr>
                                        <p:cTn dur="1" fill="hold">
                                          <p:stCondLst>
                                            <p:cond delay="500"/>
                                          </p:stCondLst>
                                        </p:cTn>
                                        <p:tgtEl>
                                          <p:spTgt spid="15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7"/>
                                        </p:tgtEl>
                                      </p:cBhvr>
                                    </p:animEffect>
                                    <p:set>
                                      <p:cBhvr>
                                        <p:cTn dur="1" fill="hold">
                                          <p:stCondLst>
                                            <p:cond delay="500"/>
                                          </p:stCondLst>
                                        </p:cTn>
                                        <p:tgtEl>
                                          <p:spTgt spid="150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4"/>
                                        </p:tgtEl>
                                      </p:cBhvr>
                                    </p:animEffect>
                                    <p:set>
                                      <p:cBhvr>
                                        <p:cTn dur="1" fill="hold">
                                          <p:stCondLst>
                                            <p:cond delay="500"/>
                                          </p:stCondLst>
                                        </p:cTn>
                                        <p:tgtEl>
                                          <p:spTgt spid="153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2"/>
                                        </p:tgtEl>
                                      </p:cBhvr>
                                    </p:animEffect>
                                    <p:set>
                                      <p:cBhvr>
                                        <p:cTn dur="1" fill="hold">
                                          <p:stCondLst>
                                            <p:cond delay="500"/>
                                          </p:stCondLst>
                                        </p:cTn>
                                        <p:tgtEl>
                                          <p:spTgt spid="153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09"/>
                                        </p:tgtEl>
                                      </p:cBhvr>
                                    </p:animEffect>
                                    <p:set>
                                      <p:cBhvr>
                                        <p:cTn dur="1" fill="hold">
                                          <p:stCondLst>
                                            <p:cond delay="500"/>
                                          </p:stCondLst>
                                        </p:cTn>
                                        <p:tgtEl>
                                          <p:spTgt spid="150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30"/>
                                        </p:tgtEl>
                                      </p:cBhvr>
                                    </p:animEffect>
                                    <p:set>
                                      <p:cBhvr>
                                        <p:cTn dur="1" fill="hold">
                                          <p:stCondLst>
                                            <p:cond delay="500"/>
                                          </p:stCondLst>
                                        </p:cTn>
                                        <p:tgtEl>
                                          <p:spTgt spid="1530"/>
                                        </p:tgtEl>
                                        <p:attrNameLst>
                                          <p:attrName>style.visibility</p:attrName>
                                        </p:attrNameLst>
                                      </p:cBhvr>
                                      <p:to>
                                        <p:strVal val="hidden"/>
                                      </p:to>
                                    </p:set>
                                  </p:childTnLst>
                                </p:cTn>
                              </p:par>
                            </p:childTnLst>
                          </p:cTn>
                        </p:par>
                        <p:par>
                          <p:cTn fill="hold">
                            <p:stCondLst>
                              <p:cond delay="6000"/>
                            </p:stCondLst>
                            <p:childTnLst>
                              <p:par>
                                <p:cTn fill="hold" nodeType="afterEffect" presetClass="exit" presetID="2" presetSubtype="8">
                                  <p:stCondLst>
                                    <p:cond delay="0"/>
                                  </p:stCondLst>
                                  <p:childTnLst>
                                    <p:anim calcmode="lin" valueType="num">
                                      <p:cBhvr additive="base">
                                        <p:cTn dur="500"/>
                                        <p:tgtEl>
                                          <p:spTgt spid="1529"/>
                                        </p:tgtEl>
                                        <p:attrNameLst>
                                          <p:attrName>ppt_x</p:attrName>
                                        </p:attrNameLst>
                                      </p:cBhvr>
                                      <p:tavLst>
                                        <p:tav fmla="" tm="0">
                                          <p:val>
                                            <p:strVal val="#ppt_x"/>
                                          </p:val>
                                        </p:tav>
                                        <p:tav fmla="" tm="100000">
                                          <p:val>
                                            <p:strVal val="#ppt_x-1"/>
                                          </p:val>
                                        </p:tav>
                                      </p:tavLst>
                                    </p:anim>
                                    <p:set>
                                      <p:cBhvr>
                                        <p:cTn dur="1" fill="hold">
                                          <p:stCondLst>
                                            <p:cond delay="500"/>
                                          </p:stCondLst>
                                        </p:cTn>
                                        <p:tgtEl>
                                          <p:spTgt spid="1529"/>
                                        </p:tgtEl>
                                        <p:attrNameLst>
                                          <p:attrName>style.visibility</p:attrName>
                                        </p:attrNameLst>
                                      </p:cBhvr>
                                      <p:to>
                                        <p:strVal val="hidden"/>
                                      </p:to>
                                    </p:set>
                                  </p:childTnLst>
                                </p:cTn>
                              </p:par>
                              <p:par>
                                <p:cTn fill="hold" nodeType="withEffect" presetClass="exit" presetID="2" presetSubtype="2">
                                  <p:stCondLst>
                                    <p:cond delay="0"/>
                                  </p:stCondLst>
                                  <p:childTnLst>
                                    <p:anim calcmode="lin" valueType="num">
                                      <p:cBhvr additive="base">
                                        <p:cTn dur="500"/>
                                        <p:tgtEl>
                                          <p:spTgt spid="1528"/>
                                        </p:tgtEl>
                                        <p:attrNameLst>
                                          <p:attrName>ppt_x</p:attrName>
                                        </p:attrNameLst>
                                      </p:cBhvr>
                                      <p:tavLst>
                                        <p:tav fmla="" tm="0">
                                          <p:val>
                                            <p:strVal val="#ppt_x"/>
                                          </p:val>
                                        </p:tav>
                                        <p:tav fmla="" tm="100000">
                                          <p:val>
                                            <p:strVal val="#ppt_x+1"/>
                                          </p:val>
                                        </p:tav>
                                      </p:tavLst>
                                    </p:anim>
                                    <p:set>
                                      <p:cBhvr>
                                        <p:cTn dur="1" fill="hold">
                                          <p:stCondLst>
                                            <p:cond delay="500"/>
                                          </p:stCondLst>
                                        </p:cTn>
                                        <p:tgtEl>
                                          <p:spTgt spid="152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grpSp>
        <p:nvGrpSpPr>
          <p:cNvPr id="1541" name="Google Shape;1541;p112"/>
          <p:cNvGrpSpPr/>
          <p:nvPr/>
        </p:nvGrpSpPr>
        <p:grpSpPr>
          <a:xfrm>
            <a:off x="1108075" y="2871787"/>
            <a:ext cx="8550275" cy="617537"/>
            <a:chOff x="644" y="1809"/>
            <a:chExt cx="4972" cy="389"/>
          </a:xfrm>
        </p:grpSpPr>
        <p:sp>
          <p:nvSpPr>
            <p:cNvPr id="1542" name="Google Shape;1542;p112"/>
            <p:cNvSpPr/>
            <p:nvPr/>
          </p:nvSpPr>
          <p:spPr>
            <a:xfrm>
              <a:off x="1288"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543" name="Google Shape;1543;p112"/>
            <p:cNvSpPr/>
            <p:nvPr/>
          </p:nvSpPr>
          <p:spPr>
            <a:xfrm>
              <a:off x="1933"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544" name="Google Shape;1544;p112"/>
            <p:cNvSpPr/>
            <p:nvPr/>
          </p:nvSpPr>
          <p:spPr>
            <a:xfrm>
              <a:off x="2577"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545" name="Google Shape;1545;p112"/>
            <p:cNvSpPr/>
            <p:nvPr/>
          </p:nvSpPr>
          <p:spPr>
            <a:xfrm>
              <a:off x="3222"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546" name="Google Shape;1546;p112"/>
            <p:cNvSpPr/>
            <p:nvPr/>
          </p:nvSpPr>
          <p:spPr>
            <a:xfrm>
              <a:off x="3866"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547" name="Google Shape;1547;p112"/>
            <p:cNvSpPr/>
            <p:nvPr/>
          </p:nvSpPr>
          <p:spPr>
            <a:xfrm>
              <a:off x="4511"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548" name="Google Shape;1548;p112"/>
            <p:cNvSpPr/>
            <p:nvPr/>
          </p:nvSpPr>
          <p:spPr>
            <a:xfrm>
              <a:off x="5156"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549" name="Google Shape;1549;p112"/>
            <p:cNvSpPr/>
            <p:nvPr/>
          </p:nvSpPr>
          <p:spPr>
            <a:xfrm>
              <a:off x="644"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1550" name="Google Shape;1550;p11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Shell Sort – Ví Dụ</a:t>
            </a:r>
            <a:endParaRPr/>
          </a:p>
        </p:txBody>
      </p:sp>
      <p:sp>
        <p:nvSpPr>
          <p:cNvPr id="1551" name="Google Shape;1551;p112"/>
          <p:cNvSpPr txBox="1"/>
          <p:nvPr/>
        </p:nvSpPr>
        <p:spPr>
          <a:xfrm>
            <a:off x="7777162" y="5410200"/>
            <a:ext cx="66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552" name="Google Shape;1552;p112"/>
          <p:cNvGrpSpPr/>
          <p:nvPr/>
        </p:nvGrpSpPr>
        <p:grpSpPr>
          <a:xfrm>
            <a:off x="1108075" y="3397250"/>
            <a:ext cx="8550275" cy="608012"/>
            <a:chOff x="644" y="1153"/>
            <a:chExt cx="4972" cy="383"/>
          </a:xfrm>
        </p:grpSpPr>
        <p:sp>
          <p:nvSpPr>
            <p:cNvPr id="1553" name="Google Shape;1553;p112"/>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554" name="Google Shape;1554;p112"/>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555" name="Google Shape;1555;p112"/>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556" name="Google Shape;1556;p112"/>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557" name="Google Shape;1557;p112"/>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558" name="Google Shape;1558;p112"/>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559" name="Google Shape;1559;p112"/>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560" name="Google Shape;1560;p112"/>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
        <p:nvSpPr>
          <p:cNvPr id="1565" name="Google Shape;1565;p113"/>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Các Thuật Toán Sắp Xếp</a:t>
            </a:r>
            <a:endParaRPr/>
          </a:p>
        </p:txBody>
      </p:sp>
      <p:sp>
        <p:nvSpPr>
          <p:cNvPr id="1566" name="Google Shape;1566;p113"/>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	1. Đổi chỗ trực tiếp – Interchange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2. Chọn trực tiếp – Selection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3. Nổi bọt – Bubble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4. Shaker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5. Chèn trực tiếp – Insertion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6. Chèn nhị phân – Binary Insertion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7. Shell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8. Heap Sort </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9. Quick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10. Merge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11. Radix Sort</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sp>
        <p:nvSpPr>
          <p:cNvPr id="1571" name="Google Shape;1571;p114"/>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Thuật Toán Sắp Xếp Heap Sort</a:t>
            </a:r>
            <a:endParaRPr/>
          </a:p>
        </p:txBody>
      </p:sp>
      <p:sp>
        <p:nvSpPr>
          <p:cNvPr id="1572" name="Google Shape;1572;p114"/>
          <p:cNvSpPr txBox="1"/>
          <p:nvPr>
            <p:ph idx="1" type="body"/>
          </p:nvPr>
        </p:nvSpPr>
        <p:spPr>
          <a:xfrm>
            <a:off x="992187" y="1196975"/>
            <a:ext cx="8569325" cy="4608512"/>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Heap Sort tận dụng được các phép so sách ở bước i-1, mà thuật toán sắp xếp chọn trực tiếp không tận dụng được</a:t>
            </a:r>
            <a:endParaRPr/>
          </a:p>
          <a:p>
            <a:pPr indent="-463550" lvl="0" marL="46355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Để làm được điều này Heap sort t</a:t>
            </a:r>
            <a:r>
              <a:rPr lang="en-US"/>
              <a:t>h</a:t>
            </a:r>
            <a:r>
              <a:rPr b="0" i="0" lang="en-US" sz="2800" u="none">
                <a:solidFill>
                  <a:schemeClr val="dk1"/>
                </a:solidFill>
                <a:latin typeface="Arial"/>
                <a:ea typeface="Arial"/>
                <a:cs typeface="Arial"/>
                <a:sym typeface="Arial"/>
              </a:rPr>
              <a:t>ao tác dựa trên cây</a:t>
            </a:r>
            <a:r>
              <a:rPr lang="en-US"/>
              <a:t>.</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6" name="Shape 1576"/>
        <p:cNvGrpSpPr/>
        <p:nvPr/>
      </p:nvGrpSpPr>
      <p:grpSpPr>
        <a:xfrm>
          <a:off x="0" y="0"/>
          <a:ext cx="0" cy="0"/>
          <a:chOff x="0" y="0"/>
          <a:chExt cx="0" cy="0"/>
        </a:xfrm>
      </p:grpSpPr>
      <p:sp>
        <p:nvSpPr>
          <p:cNvPr id="1577" name="Google Shape;1577;p115"/>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Thuật Toán Sắp Xếp Heap Sort</a:t>
            </a:r>
            <a:endParaRPr/>
          </a:p>
        </p:txBody>
      </p:sp>
      <p:sp>
        <p:nvSpPr>
          <p:cNvPr id="1578" name="Google Shape;1578;p115"/>
          <p:cNvSpPr txBox="1"/>
          <p:nvPr/>
        </p:nvSpPr>
        <p:spPr>
          <a:xfrm>
            <a:off x="869950" y="1038225"/>
            <a:ext cx="74676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Xét dãy số: 5  	2 	 6	4	8	1 </a:t>
            </a:r>
            <a:endParaRPr/>
          </a:p>
        </p:txBody>
      </p:sp>
      <p:sp>
        <p:nvSpPr>
          <p:cNvPr id="1579" name="Google Shape;1579;p115"/>
          <p:cNvSpPr txBox="1"/>
          <p:nvPr/>
        </p:nvSpPr>
        <p:spPr>
          <a:xfrm>
            <a:off x="817562" y="54244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5</a:t>
            </a:r>
            <a:endParaRPr/>
          </a:p>
        </p:txBody>
      </p:sp>
      <p:sp>
        <p:nvSpPr>
          <p:cNvPr id="1580" name="Google Shape;1580;p115"/>
          <p:cNvSpPr txBox="1"/>
          <p:nvPr/>
        </p:nvSpPr>
        <p:spPr>
          <a:xfrm>
            <a:off x="2265362" y="54244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sp>
        <p:nvSpPr>
          <p:cNvPr id="1581" name="Google Shape;1581;p115"/>
          <p:cNvSpPr txBox="1"/>
          <p:nvPr/>
        </p:nvSpPr>
        <p:spPr>
          <a:xfrm>
            <a:off x="3255962" y="54244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6</a:t>
            </a:r>
            <a:endParaRPr/>
          </a:p>
        </p:txBody>
      </p:sp>
      <p:sp>
        <p:nvSpPr>
          <p:cNvPr id="1582" name="Google Shape;1582;p115"/>
          <p:cNvSpPr txBox="1"/>
          <p:nvPr/>
        </p:nvSpPr>
        <p:spPr>
          <a:xfrm>
            <a:off x="4703762" y="54244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4</a:t>
            </a:r>
            <a:endParaRPr/>
          </a:p>
        </p:txBody>
      </p:sp>
      <p:sp>
        <p:nvSpPr>
          <p:cNvPr id="1583" name="Google Shape;1583;p115"/>
          <p:cNvSpPr txBox="1"/>
          <p:nvPr/>
        </p:nvSpPr>
        <p:spPr>
          <a:xfrm>
            <a:off x="5694362" y="54244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1584" name="Google Shape;1584;p115"/>
          <p:cNvSpPr txBox="1"/>
          <p:nvPr/>
        </p:nvSpPr>
        <p:spPr>
          <a:xfrm>
            <a:off x="7142162" y="54244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a:t>
            </a:r>
            <a:endParaRPr/>
          </a:p>
        </p:txBody>
      </p:sp>
      <p:cxnSp>
        <p:nvCxnSpPr>
          <p:cNvPr id="1585" name="Google Shape;1585;p115"/>
          <p:cNvCxnSpPr/>
          <p:nvPr/>
        </p:nvCxnSpPr>
        <p:spPr>
          <a:xfrm>
            <a:off x="1236661" y="5424488"/>
            <a:ext cx="14478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586" name="Google Shape;1586;p115"/>
          <p:cNvCxnSpPr/>
          <p:nvPr/>
        </p:nvCxnSpPr>
        <p:spPr>
          <a:xfrm>
            <a:off x="3636962" y="5422900"/>
            <a:ext cx="14478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
        <p:nvSpPr>
          <p:cNvPr id="1587" name="Google Shape;1587;p115"/>
          <p:cNvSpPr txBox="1"/>
          <p:nvPr/>
        </p:nvSpPr>
        <p:spPr>
          <a:xfrm>
            <a:off x="1503362" y="42052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5</a:t>
            </a:r>
            <a:endParaRPr/>
          </a:p>
        </p:txBody>
      </p:sp>
      <p:sp>
        <p:nvSpPr>
          <p:cNvPr id="1588" name="Google Shape;1588;p115"/>
          <p:cNvSpPr txBox="1"/>
          <p:nvPr/>
        </p:nvSpPr>
        <p:spPr>
          <a:xfrm>
            <a:off x="3865562" y="42052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6</a:t>
            </a:r>
            <a:endParaRPr/>
          </a:p>
        </p:txBody>
      </p:sp>
      <p:cxnSp>
        <p:nvCxnSpPr>
          <p:cNvPr id="1589" name="Google Shape;1589;p115"/>
          <p:cNvCxnSpPr/>
          <p:nvPr/>
        </p:nvCxnSpPr>
        <p:spPr>
          <a:xfrm>
            <a:off x="1922462" y="4205288"/>
            <a:ext cx="2362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590" name="Google Shape;1590;p115"/>
          <p:cNvCxnSpPr/>
          <p:nvPr/>
        </p:nvCxnSpPr>
        <p:spPr>
          <a:xfrm>
            <a:off x="6151561" y="5422900"/>
            <a:ext cx="14478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
        <p:nvSpPr>
          <p:cNvPr id="1591" name="Google Shape;1591;p115"/>
          <p:cNvSpPr txBox="1"/>
          <p:nvPr/>
        </p:nvSpPr>
        <p:spPr>
          <a:xfrm>
            <a:off x="6411912" y="42052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1592" name="Google Shape;1592;p115"/>
          <p:cNvSpPr txBox="1"/>
          <p:nvPr/>
        </p:nvSpPr>
        <p:spPr>
          <a:xfrm>
            <a:off x="8723312" y="42052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t>
            </a:r>
            <a:endParaRPr/>
          </a:p>
        </p:txBody>
      </p:sp>
      <p:cxnSp>
        <p:nvCxnSpPr>
          <p:cNvPr id="1593" name="Google Shape;1593;p115"/>
          <p:cNvCxnSpPr/>
          <p:nvPr/>
        </p:nvCxnSpPr>
        <p:spPr>
          <a:xfrm>
            <a:off x="6761162" y="4205288"/>
            <a:ext cx="2362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
        <p:nvSpPr>
          <p:cNvPr id="1594" name="Google Shape;1594;p115"/>
          <p:cNvSpPr txBox="1"/>
          <p:nvPr/>
        </p:nvSpPr>
        <p:spPr>
          <a:xfrm>
            <a:off x="2516187" y="29098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6</a:t>
            </a:r>
            <a:endParaRPr/>
          </a:p>
        </p:txBody>
      </p:sp>
      <p:sp>
        <p:nvSpPr>
          <p:cNvPr id="1595" name="Google Shape;1595;p115"/>
          <p:cNvSpPr txBox="1"/>
          <p:nvPr/>
        </p:nvSpPr>
        <p:spPr>
          <a:xfrm>
            <a:off x="7469187" y="2909887"/>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cxnSp>
        <p:nvCxnSpPr>
          <p:cNvPr id="1596" name="Google Shape;1596;p115"/>
          <p:cNvCxnSpPr/>
          <p:nvPr/>
        </p:nvCxnSpPr>
        <p:spPr>
          <a:xfrm>
            <a:off x="2935287" y="2909888"/>
            <a:ext cx="49530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
        <p:nvSpPr>
          <p:cNvPr id="1597" name="Google Shape;1597;p115"/>
          <p:cNvSpPr txBox="1"/>
          <p:nvPr/>
        </p:nvSpPr>
        <p:spPr>
          <a:xfrm>
            <a:off x="4681537" y="1890712"/>
            <a:ext cx="838200" cy="381000"/>
          </a:xfrm>
          <a:prstGeom prst="rect">
            <a:avLst/>
          </a:prstGeom>
          <a:gradFill>
            <a:gsLst>
              <a:gs pos="0">
                <a:schemeClr val="lt1"/>
              </a:gs>
              <a:gs pos="100000">
                <a:srgbClr val="AAF4B6"/>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cxnSp>
        <p:nvCxnSpPr>
          <p:cNvPr id="1598" name="Google Shape;1598;p115"/>
          <p:cNvCxnSpPr/>
          <p:nvPr/>
        </p:nvCxnSpPr>
        <p:spPr>
          <a:xfrm>
            <a:off x="1884362" y="4586287"/>
            <a:ext cx="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599" name="Google Shape;1599;p115"/>
          <p:cNvCxnSpPr/>
          <p:nvPr/>
        </p:nvCxnSpPr>
        <p:spPr>
          <a:xfrm>
            <a:off x="4291012" y="4586287"/>
            <a:ext cx="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600" name="Google Shape;1600;p115"/>
          <p:cNvCxnSpPr/>
          <p:nvPr/>
        </p:nvCxnSpPr>
        <p:spPr>
          <a:xfrm>
            <a:off x="6805612" y="4586287"/>
            <a:ext cx="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601" name="Google Shape;1601;p115"/>
          <p:cNvCxnSpPr/>
          <p:nvPr/>
        </p:nvCxnSpPr>
        <p:spPr>
          <a:xfrm>
            <a:off x="2951162" y="3290887"/>
            <a:ext cx="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602" name="Google Shape;1602;p115"/>
          <p:cNvCxnSpPr/>
          <p:nvPr/>
        </p:nvCxnSpPr>
        <p:spPr>
          <a:xfrm>
            <a:off x="7980362" y="3290887"/>
            <a:ext cx="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603" name="Google Shape;1603;p115"/>
          <p:cNvCxnSpPr/>
          <p:nvPr/>
        </p:nvCxnSpPr>
        <p:spPr>
          <a:xfrm>
            <a:off x="5084762" y="2271712"/>
            <a:ext cx="0" cy="381000"/>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7" name="Shape 1607"/>
        <p:cNvGrpSpPr/>
        <p:nvPr/>
      </p:nvGrpSpPr>
      <p:grpSpPr>
        <a:xfrm>
          <a:off x="0" y="0"/>
          <a:ext cx="0" cy="0"/>
          <a:chOff x="0" y="0"/>
          <a:chExt cx="0" cy="0"/>
        </a:xfrm>
      </p:grpSpPr>
      <p:sp>
        <p:nvSpPr>
          <p:cNvPr id="1608" name="Google Shape;1608;p116"/>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Thuật toán sắp xếp Heap Sort</a:t>
            </a:r>
            <a:endParaRPr/>
          </a:p>
        </p:txBody>
      </p:sp>
      <p:sp>
        <p:nvSpPr>
          <p:cNvPr id="1609" name="Google Shape;1609;p116"/>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Ở cây trên, phần tử ở mức i chính là phần tử lớn trong cặp phần tử ở mức i +1, do đó phần tử ở nút gốc là phần tử lớn nhất.</a:t>
            </a:r>
            <a:endParaRPr/>
          </a:p>
          <a:p>
            <a:pPr indent="-463550" lvl="0" marL="46355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Nếu loại bỏ gốc ra khỏi cây, thì việc cập  nhật cây chỉ xãy ra trên những nhấn liên quan đến phần tử mới loại bỏ, còn các nhánh khác thì bảo toàn.</a:t>
            </a:r>
            <a:endParaRPr/>
          </a:p>
          <a:p>
            <a:pPr indent="-463550" lvl="0" marL="463550" rtl="0" algn="l">
              <a:lnSpc>
                <a:spcPct val="12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Bước kế tiếp có thể sử dụng lại kết quả so sánh của bước hiện tại.</a:t>
            </a:r>
            <a:endParaRPr/>
          </a:p>
          <a:p>
            <a:pPr indent="-463550" lvl="0" marL="463550" rtl="0" algn="l">
              <a:lnSpc>
                <a:spcPct val="120000"/>
              </a:lnSpc>
              <a:spcBef>
                <a:spcPts val="16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Vì thế độ phức tạp của thuật toán O(nlog</a:t>
            </a:r>
            <a:r>
              <a:rPr b="0" baseline="-25000" i="0" lang="en-US" sz="32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n)</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sp>
        <p:nvSpPr>
          <p:cNvPr id="1614" name="Google Shape;1614;p117"/>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Các Bước Thuật Toán</a:t>
            </a:r>
            <a:endParaRPr/>
          </a:p>
        </p:txBody>
      </p:sp>
      <p:sp>
        <p:nvSpPr>
          <p:cNvPr id="1615" name="Google Shape;1615;p117"/>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Giai đoạn 1 : Hiệu chỉnh dãy số ban đầu thành heap</a:t>
            </a:r>
            <a:endParaRPr/>
          </a:p>
          <a:p>
            <a:pPr indent="-463550" lvl="0" marL="463550" rtl="0" algn="l">
              <a:lnSpc>
                <a:spcPct val="9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Giai đoạn 2:  Sắp xếp dãy số dựa trên heap:</a:t>
            </a:r>
            <a:endParaRPr/>
          </a:p>
          <a:p>
            <a:pPr indent="-446087" lvl="1" marL="1023937" rtl="0" algn="l">
              <a:lnSpc>
                <a:spcPct val="90000"/>
              </a:lnSpc>
              <a:spcBef>
                <a:spcPts val="640"/>
              </a:spcBef>
              <a:spcAft>
                <a:spcPts val="0"/>
              </a:spcAft>
              <a:buClr>
                <a:srgbClr val="080808"/>
              </a:buClr>
              <a:buSzPts val="2800"/>
              <a:buFont typeface="Noto Sans Symbols"/>
              <a:buChar char="⮲"/>
            </a:pPr>
            <a:r>
              <a:rPr b="0" i="0" lang="en-US" sz="2800" u="sng">
                <a:solidFill>
                  <a:srgbClr val="080808"/>
                </a:solidFill>
                <a:latin typeface="Arial"/>
                <a:ea typeface="Arial"/>
                <a:cs typeface="Arial"/>
                <a:sym typeface="Arial"/>
              </a:rPr>
              <a:t>Bước 1</a:t>
            </a:r>
            <a:r>
              <a:rPr b="0" i="0" lang="en-US" sz="2800" u="none">
                <a:solidFill>
                  <a:srgbClr val="080808"/>
                </a:solidFill>
                <a:latin typeface="Arial"/>
                <a:ea typeface="Arial"/>
                <a:cs typeface="Arial"/>
                <a:sym typeface="Arial"/>
              </a:rPr>
              <a:t>:Đưa phần tử  lớn  nhất về vị trí đúng ở cuối dãy: </a:t>
            </a:r>
            <a:br>
              <a:rPr b="0" i="0" lang="en-US" sz="2800" u="none">
                <a:solidFill>
                  <a:srgbClr val="080808"/>
                </a:solidFill>
                <a:latin typeface="Arial"/>
                <a:ea typeface="Arial"/>
                <a:cs typeface="Arial"/>
                <a:sym typeface="Arial"/>
              </a:rPr>
            </a:br>
            <a:r>
              <a:rPr b="0" i="0" lang="en-US" sz="2800" u="none">
                <a:solidFill>
                  <a:srgbClr val="080808"/>
                </a:solidFill>
                <a:latin typeface="Arial"/>
                <a:ea typeface="Arial"/>
                <a:cs typeface="Arial"/>
                <a:sym typeface="Arial"/>
              </a:rPr>
              <a:t>             r = n;  Hoánvị (a</a:t>
            </a:r>
            <a:r>
              <a:rPr b="0" baseline="-25000" i="0" lang="en-US" sz="3200" u="none">
                <a:solidFill>
                  <a:srgbClr val="080808"/>
                </a:solidFill>
                <a:latin typeface="Arial"/>
                <a:ea typeface="Arial"/>
                <a:cs typeface="Arial"/>
                <a:sym typeface="Arial"/>
              </a:rPr>
              <a:t>1</a:t>
            </a:r>
            <a:r>
              <a:rPr b="0" i="0" lang="en-US" sz="2800" u="none">
                <a:solidFill>
                  <a:srgbClr val="080808"/>
                </a:solidFill>
                <a:latin typeface="Arial"/>
                <a:ea typeface="Arial"/>
                <a:cs typeface="Arial"/>
                <a:sym typeface="Arial"/>
              </a:rPr>
              <a:t> , a</a:t>
            </a:r>
            <a:r>
              <a:rPr b="0" baseline="-25000" i="0" lang="en-US" sz="3200" u="none">
                <a:solidFill>
                  <a:srgbClr val="080808"/>
                </a:solidFill>
                <a:latin typeface="Arial"/>
                <a:ea typeface="Arial"/>
                <a:cs typeface="Arial"/>
                <a:sym typeface="Arial"/>
              </a:rPr>
              <a:t>r</a:t>
            </a:r>
            <a:r>
              <a:rPr b="0" i="0" lang="en-US" sz="2800" u="none">
                <a:solidFill>
                  <a:srgbClr val="080808"/>
                </a:solidFill>
                <a:latin typeface="Arial"/>
                <a:ea typeface="Arial"/>
                <a:cs typeface="Arial"/>
                <a:sym typeface="Arial"/>
              </a:rPr>
              <a:t> );</a:t>
            </a:r>
            <a:endParaRPr/>
          </a:p>
          <a:p>
            <a:pPr indent="-446087" lvl="1" marL="1023937" rtl="0" algn="l">
              <a:lnSpc>
                <a:spcPct val="90000"/>
              </a:lnSpc>
              <a:spcBef>
                <a:spcPts val="560"/>
              </a:spcBef>
              <a:spcAft>
                <a:spcPts val="0"/>
              </a:spcAft>
              <a:buClr>
                <a:srgbClr val="080808"/>
              </a:buClr>
              <a:buSzPts val="2800"/>
              <a:buFont typeface="Noto Sans Symbols"/>
              <a:buChar char="⮲"/>
            </a:pPr>
            <a:r>
              <a:rPr b="0" i="0" lang="en-US" sz="2800" u="sng">
                <a:solidFill>
                  <a:srgbClr val="080808"/>
                </a:solidFill>
                <a:latin typeface="Arial"/>
                <a:ea typeface="Arial"/>
                <a:cs typeface="Arial"/>
                <a:sym typeface="Arial"/>
              </a:rPr>
              <a:t>Bước 2: </a:t>
            </a:r>
            <a:r>
              <a:rPr b="0" i="0" lang="en-US" sz="2800" u="none">
                <a:solidFill>
                  <a:srgbClr val="080808"/>
                </a:solidFill>
                <a:latin typeface="Arial"/>
                <a:ea typeface="Arial"/>
                <a:cs typeface="Arial"/>
                <a:sym typeface="Arial"/>
              </a:rPr>
              <a:t>Loại bỏ phần tử lớn nhất ra khỏi heap: r = r-1;</a:t>
            </a:r>
            <a:br>
              <a:rPr b="0" i="0" lang="en-US" sz="2800" u="none">
                <a:solidFill>
                  <a:srgbClr val="080808"/>
                </a:solidFill>
                <a:latin typeface="Arial"/>
                <a:ea typeface="Arial"/>
                <a:cs typeface="Arial"/>
                <a:sym typeface="Arial"/>
              </a:rPr>
            </a:br>
            <a:r>
              <a:rPr b="0" i="0" lang="en-US" sz="2800" u="none">
                <a:solidFill>
                  <a:srgbClr val="080808"/>
                </a:solidFill>
                <a:latin typeface="Arial"/>
                <a:ea typeface="Arial"/>
                <a:cs typeface="Arial"/>
                <a:sym typeface="Arial"/>
              </a:rPr>
              <a:t>        Hiệu chỉnh phần còn lại của dãy từ  a1 , a2 ... ar thành một heap.</a:t>
            </a:r>
            <a:endParaRPr/>
          </a:p>
          <a:p>
            <a:pPr indent="-446087" lvl="1" marL="1023937" rtl="0" algn="l">
              <a:lnSpc>
                <a:spcPct val="90000"/>
              </a:lnSpc>
              <a:spcBef>
                <a:spcPts val="560"/>
              </a:spcBef>
              <a:spcAft>
                <a:spcPts val="0"/>
              </a:spcAft>
              <a:buClr>
                <a:srgbClr val="080808"/>
              </a:buClr>
              <a:buSzPts val="2800"/>
              <a:buFont typeface="Noto Sans Symbols"/>
              <a:buChar char="⮲"/>
            </a:pPr>
            <a:r>
              <a:rPr b="0" i="0" lang="en-US" sz="2800" u="sng">
                <a:solidFill>
                  <a:srgbClr val="080808"/>
                </a:solidFill>
                <a:latin typeface="Arial"/>
                <a:ea typeface="Arial"/>
                <a:cs typeface="Arial"/>
                <a:sym typeface="Arial"/>
              </a:rPr>
              <a:t>Bước 3:</a:t>
            </a:r>
            <a:r>
              <a:rPr b="0" i="0" lang="en-US" sz="2800" u="none">
                <a:solidFill>
                  <a:srgbClr val="080808"/>
                </a:solidFill>
                <a:latin typeface="Arial"/>
                <a:ea typeface="Arial"/>
                <a:cs typeface="Arial"/>
                <a:sym typeface="Arial"/>
              </a:rPr>
              <a:t>	</a:t>
            </a:r>
            <a:endParaRPr/>
          </a:p>
          <a:p>
            <a:pPr indent="-446087" lvl="1" marL="1023937" rtl="0" algn="l">
              <a:lnSpc>
                <a:spcPct val="90000"/>
              </a:lnSpc>
              <a:spcBef>
                <a:spcPts val="560"/>
              </a:spcBef>
              <a:spcAft>
                <a:spcPts val="0"/>
              </a:spcAft>
              <a:buClr>
                <a:srgbClr val="080808"/>
              </a:buClr>
              <a:buSzPts val="2800"/>
              <a:buNone/>
            </a:pPr>
            <a:r>
              <a:rPr b="0" i="0" lang="en-US" sz="2800" u="none">
                <a:solidFill>
                  <a:srgbClr val="080808"/>
                </a:solidFill>
                <a:latin typeface="Arial"/>
                <a:ea typeface="Arial"/>
                <a:cs typeface="Arial"/>
                <a:sym typeface="Arial"/>
              </a:rPr>
              <a:t>       Nếu r&gt;1 (heap còn phần tử ): Lặp lại Bước 2</a:t>
            </a:r>
            <a:br>
              <a:rPr b="0" i="0" lang="en-US" sz="2800" u="none">
                <a:solidFill>
                  <a:srgbClr val="080808"/>
                </a:solidFill>
                <a:latin typeface="Arial"/>
                <a:ea typeface="Arial"/>
                <a:cs typeface="Arial"/>
                <a:sym typeface="Arial"/>
              </a:rPr>
            </a:br>
            <a:r>
              <a:rPr b="0" i="0" lang="en-US" sz="2800" u="none">
                <a:solidFill>
                  <a:srgbClr val="080808"/>
                </a:solidFill>
                <a:latin typeface="Arial"/>
                <a:ea typeface="Arial"/>
                <a:cs typeface="Arial"/>
                <a:sym typeface="Arial"/>
              </a:rPr>
              <a:t>   Ngược lại : Dừng</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118"/>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Minh Họa Thuật Toán</a:t>
            </a:r>
            <a:endParaRPr/>
          </a:p>
        </p:txBody>
      </p:sp>
      <p:sp>
        <p:nvSpPr>
          <p:cNvPr id="1621" name="Google Shape;1621;p118"/>
          <p:cNvSpPr txBox="1"/>
          <p:nvPr>
            <p:ph idx="1" type="body"/>
          </p:nvPr>
        </p:nvSpPr>
        <p:spPr>
          <a:xfrm>
            <a:off x="849312" y="908050"/>
            <a:ext cx="8929687" cy="2449512"/>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rgbClr val="080808"/>
              </a:buClr>
              <a:buSzPts val="2800"/>
              <a:buFont typeface="Noto Sans Symbols"/>
              <a:buChar char="⮚"/>
            </a:pPr>
            <a:r>
              <a:rPr b="1" i="0" lang="en-US" sz="2800" u="none">
                <a:solidFill>
                  <a:srgbClr val="080808"/>
                </a:solidFill>
                <a:latin typeface="Arial"/>
                <a:ea typeface="Arial"/>
                <a:cs typeface="Arial"/>
                <a:sym typeface="Arial"/>
              </a:rPr>
              <a:t>Heap: </a:t>
            </a:r>
            <a:r>
              <a:rPr b="0" i="0" lang="en-US" sz="2800" u="none">
                <a:solidFill>
                  <a:srgbClr val="080808"/>
                </a:solidFill>
                <a:latin typeface="Arial"/>
                <a:ea typeface="Arial"/>
                <a:cs typeface="Arial"/>
                <a:sym typeface="Arial"/>
              </a:rPr>
              <a:t>Là một dãy các phần tử  al , a2 ,... , ar </a:t>
            </a:r>
            <a:br>
              <a:rPr b="0" i="0" lang="en-US" sz="2800" u="none">
                <a:solidFill>
                  <a:srgbClr val="080808"/>
                </a:solidFill>
                <a:latin typeface="Arial"/>
                <a:ea typeface="Arial"/>
                <a:cs typeface="Arial"/>
                <a:sym typeface="Arial"/>
              </a:rPr>
            </a:br>
            <a:r>
              <a:rPr b="0" i="0" lang="en-US" sz="2800" u="none">
                <a:solidFill>
                  <a:srgbClr val="080808"/>
                </a:solidFill>
                <a:latin typeface="Arial"/>
                <a:ea typeface="Arial"/>
                <a:cs typeface="Arial"/>
                <a:sym typeface="Arial"/>
              </a:rPr>
              <a:t>  thoả các quan hệ với mọi i ∈ [l, r]:</a:t>
            </a:r>
            <a:endParaRPr/>
          </a:p>
          <a:p>
            <a:pPr indent="-446087" lvl="1" marL="1023937" rtl="0" algn="l">
              <a:lnSpc>
                <a:spcPct val="10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A </a:t>
            </a:r>
            <a:r>
              <a:rPr b="0" baseline="-25000" i="0" lang="en-US" sz="2800" u="none">
                <a:solidFill>
                  <a:srgbClr val="080808"/>
                </a:solidFill>
                <a:latin typeface="Arial"/>
                <a:ea typeface="Arial"/>
                <a:cs typeface="Arial"/>
                <a:sym typeface="Arial"/>
              </a:rPr>
              <a:t>i </a:t>
            </a:r>
            <a:r>
              <a:rPr b="0" i="0" lang="en-US" sz="2800" u="none">
                <a:solidFill>
                  <a:srgbClr val="080808"/>
                </a:solidFill>
                <a:latin typeface="Arial"/>
                <a:ea typeface="Arial"/>
                <a:cs typeface="Arial"/>
                <a:sym typeface="Arial"/>
              </a:rPr>
              <a:t>≥ A </a:t>
            </a:r>
            <a:r>
              <a:rPr b="0" baseline="-25000" i="0" lang="en-US" sz="2800" u="none">
                <a:solidFill>
                  <a:srgbClr val="080808"/>
                </a:solidFill>
                <a:latin typeface="Arial"/>
                <a:ea typeface="Arial"/>
                <a:cs typeface="Arial"/>
                <a:sym typeface="Arial"/>
              </a:rPr>
              <a:t>2i</a:t>
            </a:r>
            <a:endParaRPr/>
          </a:p>
          <a:p>
            <a:pPr indent="-446087" lvl="1" marL="1023937" rtl="0" algn="l">
              <a:lnSpc>
                <a:spcPct val="100000"/>
              </a:lnSpc>
              <a:spcBef>
                <a:spcPts val="560"/>
              </a:spcBef>
              <a:spcAft>
                <a:spcPts val="0"/>
              </a:spcAft>
              <a:buClr>
                <a:srgbClr val="080808"/>
              </a:buClr>
              <a:buSzPts val="2800"/>
              <a:buFont typeface="Noto Sans Symbols"/>
              <a:buChar char="⮲"/>
            </a:pPr>
            <a:r>
              <a:rPr b="0" i="0" lang="en-US" sz="2800" u="none">
                <a:solidFill>
                  <a:srgbClr val="080808"/>
                </a:solidFill>
                <a:latin typeface="Arial"/>
                <a:ea typeface="Arial"/>
                <a:cs typeface="Arial"/>
                <a:sym typeface="Arial"/>
              </a:rPr>
              <a:t>A</a:t>
            </a:r>
            <a:r>
              <a:rPr b="0" baseline="-25000" i="0" lang="en-US" sz="2800" u="none">
                <a:solidFill>
                  <a:srgbClr val="080808"/>
                </a:solidFill>
                <a:latin typeface="Arial"/>
                <a:ea typeface="Arial"/>
                <a:cs typeface="Arial"/>
                <a:sym typeface="Arial"/>
              </a:rPr>
              <a:t> i</a:t>
            </a:r>
            <a:r>
              <a:rPr b="0" i="0" lang="en-US" sz="2800" u="none">
                <a:solidFill>
                  <a:srgbClr val="080808"/>
                </a:solidFill>
                <a:latin typeface="Arial"/>
                <a:ea typeface="Arial"/>
                <a:cs typeface="Arial"/>
                <a:sym typeface="Arial"/>
              </a:rPr>
              <a:t> ≥ A </a:t>
            </a:r>
            <a:r>
              <a:rPr b="0" baseline="-25000" i="0" lang="en-US" sz="2800" u="none">
                <a:solidFill>
                  <a:srgbClr val="080808"/>
                </a:solidFill>
                <a:latin typeface="Arial"/>
                <a:ea typeface="Arial"/>
                <a:cs typeface="Arial"/>
                <a:sym typeface="Arial"/>
              </a:rPr>
              <a:t>2i+1</a:t>
            </a:r>
            <a:r>
              <a:rPr b="0" i="0" lang="en-US" sz="2800" u="none">
                <a:solidFill>
                  <a:srgbClr val="080808"/>
                </a:solidFill>
                <a:latin typeface="Arial"/>
                <a:ea typeface="Arial"/>
                <a:cs typeface="Arial"/>
                <a:sym typeface="Arial"/>
              </a:rPr>
              <a:t> //</a:t>
            </a:r>
            <a:r>
              <a:rPr b="0" i="0" lang="en-US" sz="2000" u="none">
                <a:solidFill>
                  <a:srgbClr val="080808"/>
                </a:solidFill>
                <a:latin typeface="Arial"/>
                <a:ea typeface="Arial"/>
                <a:cs typeface="Arial"/>
                <a:sym typeface="Arial"/>
              </a:rPr>
              <a:t> (A</a:t>
            </a:r>
            <a:r>
              <a:rPr b="0" baseline="-25000" i="0" lang="en-US" sz="2000" u="none">
                <a:solidFill>
                  <a:srgbClr val="080808"/>
                </a:solidFill>
                <a:latin typeface="Arial"/>
                <a:ea typeface="Arial"/>
                <a:cs typeface="Arial"/>
                <a:sym typeface="Arial"/>
              </a:rPr>
              <a:t>i</a:t>
            </a:r>
            <a:r>
              <a:rPr b="0" i="0" lang="en-US" sz="2000" u="none">
                <a:solidFill>
                  <a:srgbClr val="080808"/>
                </a:solidFill>
                <a:latin typeface="Arial"/>
                <a:ea typeface="Arial"/>
                <a:cs typeface="Arial"/>
                <a:sym typeface="Arial"/>
              </a:rPr>
              <a:t> , A </a:t>
            </a:r>
            <a:r>
              <a:rPr b="0" baseline="-25000" i="0" lang="en-US" sz="2000" u="none">
                <a:solidFill>
                  <a:srgbClr val="080808"/>
                </a:solidFill>
                <a:latin typeface="Arial"/>
                <a:ea typeface="Arial"/>
                <a:cs typeface="Arial"/>
                <a:sym typeface="Arial"/>
              </a:rPr>
              <a:t>2i+1</a:t>
            </a:r>
            <a:r>
              <a:rPr b="0" i="0" lang="en-US" sz="2000" u="none">
                <a:solidFill>
                  <a:srgbClr val="080808"/>
                </a:solidFill>
                <a:latin typeface="Arial"/>
                <a:ea typeface="Arial"/>
                <a:cs typeface="Arial"/>
                <a:sym typeface="Arial"/>
              </a:rPr>
              <a:t>), (A</a:t>
            </a:r>
            <a:r>
              <a:rPr b="0" baseline="-25000" i="0" lang="en-US" sz="2000" u="none">
                <a:solidFill>
                  <a:srgbClr val="080808"/>
                </a:solidFill>
                <a:latin typeface="Arial"/>
                <a:ea typeface="Arial"/>
                <a:cs typeface="Arial"/>
                <a:sym typeface="Arial"/>
              </a:rPr>
              <a:t>i</a:t>
            </a:r>
            <a:r>
              <a:rPr b="0" i="0" lang="en-US" sz="2000" u="none">
                <a:solidFill>
                  <a:srgbClr val="080808"/>
                </a:solidFill>
                <a:latin typeface="Arial"/>
                <a:ea typeface="Arial"/>
                <a:cs typeface="Arial"/>
                <a:sym typeface="Arial"/>
              </a:rPr>
              <a:t> , A </a:t>
            </a:r>
            <a:r>
              <a:rPr b="0" baseline="-25000" i="0" lang="en-US" sz="2000" u="none">
                <a:solidFill>
                  <a:srgbClr val="080808"/>
                </a:solidFill>
                <a:latin typeface="Arial"/>
                <a:ea typeface="Arial"/>
                <a:cs typeface="Arial"/>
                <a:sym typeface="Arial"/>
              </a:rPr>
              <a:t>2i+2</a:t>
            </a:r>
            <a:r>
              <a:rPr b="0" i="0" lang="en-US" sz="2000" u="none">
                <a:solidFill>
                  <a:srgbClr val="080808"/>
                </a:solidFill>
                <a:latin typeface="Arial"/>
                <a:ea typeface="Arial"/>
                <a:cs typeface="Arial"/>
                <a:sym typeface="Arial"/>
              </a:rPr>
              <a:t> ) là các cặp phần tử liên đới </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Cho dãy số  : 12   2   8   5  1   6   4  15</a:t>
            </a:r>
            <a:endParaRPr/>
          </a:p>
        </p:txBody>
      </p:sp>
      <p:sp>
        <p:nvSpPr>
          <p:cNvPr id="1622" name="Google Shape;1622;p118"/>
          <p:cNvSpPr txBox="1"/>
          <p:nvPr/>
        </p:nvSpPr>
        <p:spPr>
          <a:xfrm>
            <a:off x="812800" y="3414712"/>
            <a:ext cx="8172450"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Giai đoạn 1: Hiệu chỉnh dãy ban đầu thành Heap</a:t>
            </a:r>
            <a:endParaRPr/>
          </a:p>
        </p:txBody>
      </p:sp>
      <p:sp>
        <p:nvSpPr>
          <p:cNvPr id="1623" name="Google Shape;1623;p118"/>
          <p:cNvSpPr/>
          <p:nvPr/>
        </p:nvSpPr>
        <p:spPr>
          <a:xfrm>
            <a:off x="1955800" y="4310062"/>
            <a:ext cx="7923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624" name="Google Shape;1624;p118"/>
          <p:cNvSpPr/>
          <p:nvPr/>
        </p:nvSpPr>
        <p:spPr>
          <a:xfrm>
            <a:off x="3065462" y="4310062"/>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625" name="Google Shape;1625;p118"/>
          <p:cNvSpPr/>
          <p:nvPr/>
        </p:nvSpPr>
        <p:spPr>
          <a:xfrm>
            <a:off x="4173537" y="4310062"/>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626" name="Google Shape;1626;p118"/>
          <p:cNvSpPr/>
          <p:nvPr/>
        </p:nvSpPr>
        <p:spPr>
          <a:xfrm>
            <a:off x="5283200" y="4310062"/>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627" name="Google Shape;1627;p118"/>
          <p:cNvSpPr/>
          <p:nvPr/>
        </p:nvSpPr>
        <p:spPr>
          <a:xfrm>
            <a:off x="6389687" y="4310062"/>
            <a:ext cx="7923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628" name="Google Shape;1628;p118"/>
          <p:cNvSpPr/>
          <p:nvPr/>
        </p:nvSpPr>
        <p:spPr>
          <a:xfrm>
            <a:off x="7499350" y="4310062"/>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629" name="Google Shape;1629;p118"/>
          <p:cNvSpPr/>
          <p:nvPr/>
        </p:nvSpPr>
        <p:spPr>
          <a:xfrm>
            <a:off x="8609012" y="4310062"/>
            <a:ext cx="790500" cy="617400"/>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630" name="Google Shape;1630;p118"/>
          <p:cNvSpPr/>
          <p:nvPr/>
        </p:nvSpPr>
        <p:spPr>
          <a:xfrm>
            <a:off x="849312" y="4310062"/>
            <a:ext cx="790500" cy="617400"/>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1631" name="Google Shape;1631;p118"/>
          <p:cNvGrpSpPr/>
          <p:nvPr/>
        </p:nvGrpSpPr>
        <p:grpSpPr>
          <a:xfrm>
            <a:off x="849312" y="4835525"/>
            <a:ext cx="8550275" cy="608012"/>
            <a:chOff x="644" y="1153"/>
            <a:chExt cx="4972" cy="383"/>
          </a:xfrm>
        </p:grpSpPr>
        <p:sp>
          <p:nvSpPr>
            <p:cNvPr id="1632" name="Google Shape;1632;p118"/>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633" name="Google Shape;1633;p118"/>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634" name="Google Shape;1634;p118"/>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635" name="Google Shape;1635;p118"/>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636" name="Google Shape;1636;p118"/>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637" name="Google Shape;1637;p118"/>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638" name="Google Shape;1638;p118"/>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639" name="Google Shape;1639;p118"/>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grpSp>
        <p:nvGrpSpPr>
          <p:cNvPr id="1640" name="Google Shape;1640;p118"/>
          <p:cNvGrpSpPr/>
          <p:nvPr/>
        </p:nvGrpSpPr>
        <p:grpSpPr>
          <a:xfrm>
            <a:off x="4271337" y="5848362"/>
            <a:ext cx="476250" cy="533400"/>
            <a:chOff x="2806" y="2592"/>
            <a:chExt cx="300" cy="336"/>
          </a:xfrm>
        </p:grpSpPr>
        <p:sp>
          <p:nvSpPr>
            <p:cNvPr id="1641" name="Google Shape;1641;p118"/>
            <p:cNvSpPr txBox="1"/>
            <p:nvPr/>
          </p:nvSpPr>
          <p:spPr>
            <a:xfrm>
              <a:off x="2806" y="2612"/>
              <a:ext cx="300" cy="300"/>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l=3</a:t>
              </a:r>
              <a:endParaRPr/>
            </a:p>
          </p:txBody>
        </p:sp>
        <p:cxnSp>
          <p:nvCxnSpPr>
            <p:cNvPr id="1642" name="Google Shape;1642;p118"/>
            <p:cNvCxnSpPr/>
            <p:nvPr/>
          </p:nvCxnSpPr>
          <p:spPr>
            <a:xfrm rot="10800000">
              <a:off x="3047" y="2592"/>
              <a:ext cx="0" cy="336"/>
            </a:xfrm>
            <a:prstGeom prst="straightConnector1">
              <a:avLst/>
            </a:prstGeom>
            <a:noFill/>
            <a:ln cap="flat" cmpd="sng" w="38100">
              <a:solidFill>
                <a:schemeClr val="dk1"/>
              </a:solidFill>
              <a:prstDash val="solid"/>
              <a:miter lim="800000"/>
              <a:headEnd len="med" w="med" type="none"/>
              <a:tailEnd len="med" w="med" type="stealth"/>
            </a:ln>
          </p:spPr>
        </p:cxnSp>
      </p:grpSp>
      <p:sp>
        <p:nvSpPr>
          <p:cNvPr id="1643" name="Google Shape;1643;p118"/>
          <p:cNvSpPr txBox="1"/>
          <p:nvPr/>
        </p:nvSpPr>
        <p:spPr>
          <a:xfrm>
            <a:off x="8632825" y="5594350"/>
            <a:ext cx="838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Pt liên đới</a:t>
            </a:r>
            <a:endParaRPr/>
          </a:p>
        </p:txBody>
      </p:sp>
      <p:cxnSp>
        <p:nvCxnSpPr>
          <p:cNvPr id="1644" name="Google Shape;1644;p118"/>
          <p:cNvCxnSpPr/>
          <p:nvPr/>
        </p:nvCxnSpPr>
        <p:spPr>
          <a:xfrm rot="10800000">
            <a:off x="9032875" y="5270500"/>
            <a:ext cx="0" cy="381000"/>
          </a:xfrm>
          <a:prstGeom prst="straightConnector1">
            <a:avLst/>
          </a:prstGeom>
          <a:noFill/>
          <a:ln cap="flat" cmpd="sng" w="38100">
            <a:solidFill>
              <a:schemeClr val="dk1"/>
            </a:solidFill>
            <a:prstDash val="solid"/>
            <a:miter lim="800000"/>
            <a:headEnd len="med" w="med" type="none"/>
            <a:tailEnd len="med" w="med" type="triangle"/>
          </a:ln>
        </p:spPr>
      </p:cxn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sp>
        <p:nvSpPr>
          <p:cNvPr id="1650" name="Google Shape;1650;g2d02ef7b72f_1_0"/>
          <p:cNvSpPr txBox="1"/>
          <p:nvPr>
            <p:ph type="title"/>
          </p:nvPr>
        </p:nvSpPr>
        <p:spPr>
          <a:xfrm>
            <a:off x="920750" y="79375"/>
            <a:ext cx="8785200" cy="6096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651" name="Google Shape;1651;g2d02ef7b72f_1_0"/>
          <p:cNvSpPr txBox="1"/>
          <p:nvPr>
            <p:ph idx="1" type="body"/>
          </p:nvPr>
        </p:nvSpPr>
        <p:spPr>
          <a:xfrm>
            <a:off x="992187" y="981075"/>
            <a:ext cx="8569200" cy="554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sp>
        <p:nvSpPr>
          <p:cNvPr id="1656" name="Google Shape;1656;p119"/>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Minh Họa Thuật Toán</a:t>
            </a:r>
            <a:endParaRPr/>
          </a:p>
        </p:txBody>
      </p:sp>
      <p:sp>
        <p:nvSpPr>
          <p:cNvPr id="1657" name="Google Shape;1657;p119"/>
          <p:cNvSpPr/>
          <p:nvPr/>
        </p:nvSpPr>
        <p:spPr>
          <a:xfrm>
            <a:off x="1912937" y="1268412"/>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658" name="Google Shape;1658;p119"/>
          <p:cNvSpPr/>
          <p:nvPr/>
        </p:nvSpPr>
        <p:spPr>
          <a:xfrm>
            <a:off x="3022600" y="126841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659" name="Google Shape;1659;p119"/>
          <p:cNvSpPr/>
          <p:nvPr/>
        </p:nvSpPr>
        <p:spPr>
          <a:xfrm>
            <a:off x="4130675" y="126841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660" name="Google Shape;1660;p119"/>
          <p:cNvSpPr/>
          <p:nvPr/>
        </p:nvSpPr>
        <p:spPr>
          <a:xfrm>
            <a:off x="5240337" y="126841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661" name="Google Shape;1661;p119"/>
          <p:cNvSpPr/>
          <p:nvPr/>
        </p:nvSpPr>
        <p:spPr>
          <a:xfrm>
            <a:off x="6346825" y="1268412"/>
            <a:ext cx="792162"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662" name="Google Shape;1662;p119"/>
          <p:cNvSpPr/>
          <p:nvPr/>
        </p:nvSpPr>
        <p:spPr>
          <a:xfrm>
            <a:off x="7456487" y="1268412"/>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663" name="Google Shape;1663;p119"/>
          <p:cNvSpPr/>
          <p:nvPr/>
        </p:nvSpPr>
        <p:spPr>
          <a:xfrm>
            <a:off x="8550275" y="126841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664" name="Google Shape;1664;p119"/>
          <p:cNvSpPr/>
          <p:nvPr/>
        </p:nvSpPr>
        <p:spPr>
          <a:xfrm>
            <a:off x="806450" y="126841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1665" name="Google Shape;1665;p119"/>
          <p:cNvGrpSpPr/>
          <p:nvPr/>
        </p:nvGrpSpPr>
        <p:grpSpPr>
          <a:xfrm>
            <a:off x="806450" y="1793875"/>
            <a:ext cx="8550275" cy="608012"/>
            <a:chOff x="644" y="1153"/>
            <a:chExt cx="4972" cy="383"/>
          </a:xfrm>
        </p:grpSpPr>
        <p:sp>
          <p:nvSpPr>
            <p:cNvPr id="1666" name="Google Shape;1666;p119"/>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667" name="Google Shape;1667;p119"/>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668" name="Google Shape;1668;p119"/>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669" name="Google Shape;1669;p119"/>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670" name="Google Shape;1670;p119"/>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671" name="Google Shape;1671;p119"/>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672" name="Google Shape;1672;p119"/>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673" name="Google Shape;1673;p119"/>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674" name="Google Shape;1674;p119"/>
          <p:cNvSpPr txBox="1"/>
          <p:nvPr/>
        </p:nvSpPr>
        <p:spPr>
          <a:xfrm>
            <a:off x="3092450" y="2768600"/>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l=2</a:t>
            </a:r>
            <a:endParaRPr/>
          </a:p>
        </p:txBody>
      </p:sp>
      <p:cxnSp>
        <p:nvCxnSpPr>
          <p:cNvPr id="1675" name="Google Shape;1675;p119"/>
          <p:cNvCxnSpPr/>
          <p:nvPr/>
        </p:nvCxnSpPr>
        <p:spPr>
          <a:xfrm rot="10800000">
            <a:off x="3416300" y="2235200"/>
            <a:ext cx="0" cy="533400"/>
          </a:xfrm>
          <a:prstGeom prst="straightConnector1">
            <a:avLst/>
          </a:prstGeom>
          <a:noFill/>
          <a:ln cap="flat" cmpd="sng" w="38100">
            <a:solidFill>
              <a:schemeClr val="dk1"/>
            </a:solidFill>
            <a:prstDash val="solid"/>
            <a:miter lim="800000"/>
            <a:headEnd len="med" w="med" type="none"/>
            <a:tailEnd len="med" w="med" type="stealth"/>
          </a:ln>
        </p:spPr>
      </p:cxnSp>
      <p:sp>
        <p:nvSpPr>
          <p:cNvPr id="1676" name="Google Shape;1676;p119"/>
          <p:cNvSpPr txBox="1"/>
          <p:nvPr/>
        </p:nvSpPr>
        <p:spPr>
          <a:xfrm>
            <a:off x="7040562" y="2708275"/>
            <a:ext cx="8382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Pt liên đới</a:t>
            </a:r>
            <a:endParaRPr/>
          </a:p>
        </p:txBody>
      </p:sp>
      <p:cxnSp>
        <p:nvCxnSpPr>
          <p:cNvPr id="1677" name="Google Shape;1677;p119"/>
          <p:cNvCxnSpPr/>
          <p:nvPr/>
        </p:nvCxnSpPr>
        <p:spPr>
          <a:xfrm>
            <a:off x="6743699" y="2349500"/>
            <a:ext cx="1108200" cy="1500"/>
          </a:xfrm>
          <a:prstGeom prst="bentConnector3">
            <a:avLst>
              <a:gd fmla="val 0" name="adj1"/>
            </a:avLst>
          </a:prstGeom>
          <a:noFill/>
          <a:ln cap="flat" cmpd="sng" w="38100">
            <a:solidFill>
              <a:schemeClr val="dk1"/>
            </a:solidFill>
            <a:prstDash val="solid"/>
            <a:miter lim="800000"/>
            <a:headEnd len="med" w="med" type="none"/>
            <a:tailEnd len="med" w="med" type="none"/>
          </a:ln>
        </p:spPr>
      </p:cxnSp>
      <p:sp>
        <p:nvSpPr>
          <p:cNvPr id="1678" name="Google Shape;1678;p119"/>
          <p:cNvSpPr/>
          <p:nvPr/>
        </p:nvSpPr>
        <p:spPr>
          <a:xfrm>
            <a:off x="1882775" y="3940175"/>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679" name="Google Shape;1679;p119"/>
          <p:cNvSpPr/>
          <p:nvPr/>
        </p:nvSpPr>
        <p:spPr>
          <a:xfrm>
            <a:off x="2992437" y="39401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680" name="Google Shape;1680;p119"/>
          <p:cNvSpPr/>
          <p:nvPr/>
        </p:nvSpPr>
        <p:spPr>
          <a:xfrm>
            <a:off x="4100512" y="3940175"/>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681" name="Google Shape;1681;p119"/>
          <p:cNvSpPr/>
          <p:nvPr/>
        </p:nvSpPr>
        <p:spPr>
          <a:xfrm>
            <a:off x="5210175" y="3940175"/>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682" name="Google Shape;1682;p119"/>
          <p:cNvSpPr/>
          <p:nvPr/>
        </p:nvSpPr>
        <p:spPr>
          <a:xfrm>
            <a:off x="6316662" y="3940175"/>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683" name="Google Shape;1683;p119"/>
          <p:cNvSpPr/>
          <p:nvPr/>
        </p:nvSpPr>
        <p:spPr>
          <a:xfrm>
            <a:off x="7426325" y="39401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684" name="Google Shape;1684;p119"/>
          <p:cNvSpPr/>
          <p:nvPr/>
        </p:nvSpPr>
        <p:spPr>
          <a:xfrm>
            <a:off x="8520112" y="39401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685" name="Google Shape;1685;p119"/>
          <p:cNvSpPr/>
          <p:nvPr/>
        </p:nvSpPr>
        <p:spPr>
          <a:xfrm>
            <a:off x="776287" y="39401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1686" name="Google Shape;1686;p119"/>
          <p:cNvGrpSpPr/>
          <p:nvPr/>
        </p:nvGrpSpPr>
        <p:grpSpPr>
          <a:xfrm>
            <a:off x="776287" y="4465637"/>
            <a:ext cx="8550275" cy="608012"/>
            <a:chOff x="644" y="1153"/>
            <a:chExt cx="4972" cy="383"/>
          </a:xfrm>
        </p:grpSpPr>
        <p:sp>
          <p:nvSpPr>
            <p:cNvPr id="1687" name="Google Shape;1687;p119"/>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688" name="Google Shape;1688;p119"/>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689" name="Google Shape;1689;p119"/>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690" name="Google Shape;1690;p119"/>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691" name="Google Shape;1691;p119"/>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692" name="Google Shape;1692;p119"/>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693" name="Google Shape;1693;p119"/>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694" name="Google Shape;1694;p119"/>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695" name="Google Shape;1695;p119"/>
          <p:cNvSpPr txBox="1"/>
          <p:nvPr/>
        </p:nvSpPr>
        <p:spPr>
          <a:xfrm>
            <a:off x="1928812" y="5440362"/>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l=1</a:t>
            </a:r>
            <a:endParaRPr/>
          </a:p>
        </p:txBody>
      </p:sp>
      <p:cxnSp>
        <p:nvCxnSpPr>
          <p:cNvPr id="1696" name="Google Shape;1696;p119"/>
          <p:cNvCxnSpPr/>
          <p:nvPr/>
        </p:nvCxnSpPr>
        <p:spPr>
          <a:xfrm rot="10800000">
            <a:off x="2252662" y="4906962"/>
            <a:ext cx="0" cy="533400"/>
          </a:xfrm>
          <a:prstGeom prst="straightConnector1">
            <a:avLst/>
          </a:prstGeom>
          <a:noFill/>
          <a:ln cap="flat" cmpd="sng" w="38100">
            <a:solidFill>
              <a:schemeClr val="dk1"/>
            </a:solidFill>
            <a:prstDash val="solid"/>
            <a:miter lim="800000"/>
            <a:headEnd len="med" w="med" type="none"/>
            <a:tailEnd len="med" w="med" type="stealth"/>
          </a:ln>
        </p:spPr>
      </p:cxnSp>
      <p:sp>
        <p:nvSpPr>
          <p:cNvPr id="1697" name="Google Shape;1697;p119"/>
          <p:cNvSpPr txBox="1"/>
          <p:nvPr/>
        </p:nvSpPr>
        <p:spPr>
          <a:xfrm>
            <a:off x="4818062" y="5380037"/>
            <a:ext cx="8382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Pt liên đới</a:t>
            </a:r>
            <a:endParaRPr/>
          </a:p>
        </p:txBody>
      </p:sp>
      <p:cxnSp>
        <p:nvCxnSpPr>
          <p:cNvPr id="1698" name="Google Shape;1698;p119"/>
          <p:cNvCxnSpPr/>
          <p:nvPr/>
        </p:nvCxnSpPr>
        <p:spPr>
          <a:xfrm>
            <a:off x="4521199" y="5021262"/>
            <a:ext cx="1108200" cy="1500"/>
          </a:xfrm>
          <a:prstGeom prst="bentConnector3">
            <a:avLst>
              <a:gd fmla="val 0" name="adj1"/>
            </a:avLst>
          </a:prstGeom>
          <a:noFill/>
          <a:ln cap="flat" cmpd="sng" w="38100">
            <a:solidFill>
              <a:schemeClr val="dk1"/>
            </a:solidFill>
            <a:prstDash val="solid"/>
            <a:miter lim="800000"/>
            <a:headEnd len="med" w="med" type="none"/>
            <a:tailEnd len="med" w="med" type="none"/>
          </a:ln>
        </p:spPr>
      </p:cxn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p120"/>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Minh Họa Thuật Toán</a:t>
            </a:r>
            <a:endParaRPr/>
          </a:p>
        </p:txBody>
      </p:sp>
      <p:sp>
        <p:nvSpPr>
          <p:cNvPr id="1704" name="Google Shape;1704;p120"/>
          <p:cNvSpPr/>
          <p:nvPr/>
        </p:nvSpPr>
        <p:spPr>
          <a:xfrm>
            <a:off x="1882775" y="127635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705" name="Google Shape;1705;p120"/>
          <p:cNvSpPr/>
          <p:nvPr/>
        </p:nvSpPr>
        <p:spPr>
          <a:xfrm>
            <a:off x="2992437" y="12763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706" name="Google Shape;1706;p120"/>
          <p:cNvSpPr/>
          <p:nvPr/>
        </p:nvSpPr>
        <p:spPr>
          <a:xfrm>
            <a:off x="4100512" y="12763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07" name="Google Shape;1707;p120"/>
          <p:cNvSpPr/>
          <p:nvPr/>
        </p:nvSpPr>
        <p:spPr>
          <a:xfrm>
            <a:off x="5210175" y="12763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08" name="Google Shape;1708;p120"/>
          <p:cNvSpPr/>
          <p:nvPr/>
        </p:nvSpPr>
        <p:spPr>
          <a:xfrm>
            <a:off x="6316662" y="127635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09" name="Google Shape;1709;p120"/>
          <p:cNvSpPr/>
          <p:nvPr/>
        </p:nvSpPr>
        <p:spPr>
          <a:xfrm>
            <a:off x="7426325" y="12763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10" name="Google Shape;1710;p120"/>
          <p:cNvSpPr/>
          <p:nvPr/>
        </p:nvSpPr>
        <p:spPr>
          <a:xfrm>
            <a:off x="8520112" y="1276350"/>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11" name="Google Shape;1711;p120"/>
          <p:cNvSpPr/>
          <p:nvPr/>
        </p:nvSpPr>
        <p:spPr>
          <a:xfrm>
            <a:off x="776287" y="12763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1712" name="Google Shape;1712;p120"/>
          <p:cNvGrpSpPr/>
          <p:nvPr/>
        </p:nvGrpSpPr>
        <p:grpSpPr>
          <a:xfrm>
            <a:off x="776287" y="1801812"/>
            <a:ext cx="8550275" cy="608012"/>
            <a:chOff x="644" y="1153"/>
            <a:chExt cx="4972" cy="383"/>
          </a:xfrm>
        </p:grpSpPr>
        <p:sp>
          <p:nvSpPr>
            <p:cNvPr id="1713" name="Google Shape;1713;p120"/>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14" name="Google Shape;1714;p120"/>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15" name="Google Shape;1715;p120"/>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716" name="Google Shape;1716;p120"/>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17" name="Google Shape;1717;p120"/>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18" name="Google Shape;1718;p120"/>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19" name="Google Shape;1719;p120"/>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720" name="Google Shape;1720;p120"/>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721" name="Google Shape;1721;p120"/>
          <p:cNvSpPr txBox="1"/>
          <p:nvPr/>
        </p:nvSpPr>
        <p:spPr>
          <a:xfrm>
            <a:off x="1928812" y="2776537"/>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l=1</a:t>
            </a:r>
            <a:endParaRPr/>
          </a:p>
        </p:txBody>
      </p:sp>
      <p:cxnSp>
        <p:nvCxnSpPr>
          <p:cNvPr id="1722" name="Google Shape;1722;p120"/>
          <p:cNvCxnSpPr/>
          <p:nvPr/>
        </p:nvCxnSpPr>
        <p:spPr>
          <a:xfrm rot="10800000">
            <a:off x="2252662" y="2243137"/>
            <a:ext cx="0" cy="533400"/>
          </a:xfrm>
          <a:prstGeom prst="straightConnector1">
            <a:avLst/>
          </a:prstGeom>
          <a:noFill/>
          <a:ln cap="flat" cmpd="sng" w="38100">
            <a:solidFill>
              <a:schemeClr val="dk1"/>
            </a:solidFill>
            <a:prstDash val="solid"/>
            <a:miter lim="800000"/>
            <a:headEnd len="med" w="med" type="none"/>
            <a:tailEnd len="med" w="med" type="stealth"/>
          </a:ln>
        </p:spPr>
      </p:cxnSp>
      <p:sp>
        <p:nvSpPr>
          <p:cNvPr id="1723" name="Google Shape;1723;p120"/>
          <p:cNvSpPr txBox="1"/>
          <p:nvPr/>
        </p:nvSpPr>
        <p:spPr>
          <a:xfrm>
            <a:off x="4737100" y="2492375"/>
            <a:ext cx="32146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Lan truyền việc điều chỉnh</a:t>
            </a:r>
            <a:endParaRPr/>
          </a:p>
        </p:txBody>
      </p:sp>
      <p:cxnSp>
        <p:nvCxnSpPr>
          <p:cNvPr id="1724" name="Google Shape;1724;p120"/>
          <p:cNvCxnSpPr/>
          <p:nvPr/>
        </p:nvCxnSpPr>
        <p:spPr>
          <a:xfrm>
            <a:off x="4495799" y="1276351"/>
            <a:ext cx="4419600" cy="1500"/>
          </a:xfrm>
          <a:prstGeom prst="bentConnector3">
            <a:avLst>
              <a:gd fmla="val 0" name="adj1"/>
            </a:avLst>
          </a:prstGeom>
          <a:noFill/>
          <a:ln cap="flat" cmpd="sng" w="38100">
            <a:solidFill>
              <a:schemeClr val="dk1"/>
            </a:solidFill>
            <a:prstDash val="solid"/>
            <a:miter lim="800000"/>
            <a:headEnd len="med" w="med" type="none"/>
            <a:tailEnd len="med" w="med" type="none"/>
          </a:ln>
        </p:spPr>
      </p:cxnSp>
      <p:sp>
        <p:nvSpPr>
          <p:cNvPr id="1725" name="Google Shape;1725;p120"/>
          <p:cNvSpPr/>
          <p:nvPr/>
        </p:nvSpPr>
        <p:spPr>
          <a:xfrm>
            <a:off x="1882775" y="3756025"/>
            <a:ext cx="792162"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726" name="Google Shape;1726;p120"/>
          <p:cNvSpPr/>
          <p:nvPr/>
        </p:nvSpPr>
        <p:spPr>
          <a:xfrm>
            <a:off x="2992437" y="3756025"/>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727" name="Google Shape;1727;p120"/>
          <p:cNvSpPr/>
          <p:nvPr/>
        </p:nvSpPr>
        <p:spPr>
          <a:xfrm>
            <a:off x="4100512" y="37560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28" name="Google Shape;1728;p120"/>
          <p:cNvSpPr/>
          <p:nvPr/>
        </p:nvSpPr>
        <p:spPr>
          <a:xfrm>
            <a:off x="5210175" y="37560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29" name="Google Shape;1729;p120"/>
          <p:cNvSpPr/>
          <p:nvPr/>
        </p:nvSpPr>
        <p:spPr>
          <a:xfrm>
            <a:off x="6316662" y="3756025"/>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30" name="Google Shape;1730;p120"/>
          <p:cNvSpPr/>
          <p:nvPr/>
        </p:nvSpPr>
        <p:spPr>
          <a:xfrm>
            <a:off x="7426325" y="37560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31" name="Google Shape;1731;p120"/>
          <p:cNvSpPr/>
          <p:nvPr/>
        </p:nvSpPr>
        <p:spPr>
          <a:xfrm>
            <a:off x="8520112" y="3756025"/>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32" name="Google Shape;1732;p120"/>
          <p:cNvSpPr/>
          <p:nvPr/>
        </p:nvSpPr>
        <p:spPr>
          <a:xfrm>
            <a:off x="776287" y="37560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1733" name="Google Shape;1733;p120"/>
          <p:cNvGrpSpPr/>
          <p:nvPr/>
        </p:nvGrpSpPr>
        <p:grpSpPr>
          <a:xfrm>
            <a:off x="776287" y="4281487"/>
            <a:ext cx="8550275" cy="608012"/>
            <a:chOff x="644" y="1153"/>
            <a:chExt cx="4972" cy="383"/>
          </a:xfrm>
        </p:grpSpPr>
        <p:sp>
          <p:nvSpPr>
            <p:cNvPr id="1734" name="Google Shape;1734;p120"/>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35" name="Google Shape;1735;p120"/>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36" name="Google Shape;1736;p120"/>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737" name="Google Shape;1737;p120"/>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38" name="Google Shape;1738;p120"/>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39" name="Google Shape;1739;p120"/>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40" name="Google Shape;1740;p120"/>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741" name="Google Shape;1741;p120"/>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742" name="Google Shape;1742;p120"/>
          <p:cNvSpPr txBox="1"/>
          <p:nvPr/>
        </p:nvSpPr>
        <p:spPr>
          <a:xfrm>
            <a:off x="849312" y="5256212"/>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l=0</a:t>
            </a:r>
            <a:endParaRPr/>
          </a:p>
        </p:txBody>
      </p:sp>
      <p:cxnSp>
        <p:nvCxnSpPr>
          <p:cNvPr id="1743" name="Google Shape;1743;p120"/>
          <p:cNvCxnSpPr/>
          <p:nvPr/>
        </p:nvCxnSpPr>
        <p:spPr>
          <a:xfrm rot="10800000">
            <a:off x="1173162" y="4722812"/>
            <a:ext cx="0" cy="533400"/>
          </a:xfrm>
          <a:prstGeom prst="straightConnector1">
            <a:avLst/>
          </a:prstGeom>
          <a:noFill/>
          <a:ln cap="flat" cmpd="sng" w="38100">
            <a:solidFill>
              <a:schemeClr val="dk1"/>
            </a:solidFill>
            <a:prstDash val="solid"/>
            <a:miter lim="800000"/>
            <a:headEnd len="med" w="med" type="none"/>
            <a:tailEnd len="med" w="med" type="stealth"/>
          </a:ln>
        </p:spPr>
      </p:cxnSp>
      <p:sp>
        <p:nvSpPr>
          <p:cNvPr id="1744" name="Google Shape;1744;p120"/>
          <p:cNvSpPr txBox="1"/>
          <p:nvPr/>
        </p:nvSpPr>
        <p:spPr>
          <a:xfrm>
            <a:off x="2289175" y="5164137"/>
            <a:ext cx="8382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Pt liên đới</a:t>
            </a:r>
            <a:endParaRPr/>
          </a:p>
        </p:txBody>
      </p:sp>
      <p:cxnSp>
        <p:nvCxnSpPr>
          <p:cNvPr id="1745" name="Google Shape;1745;p120"/>
          <p:cNvCxnSpPr/>
          <p:nvPr/>
        </p:nvCxnSpPr>
        <p:spPr>
          <a:xfrm>
            <a:off x="2233612" y="4805362"/>
            <a:ext cx="1108200" cy="1500"/>
          </a:xfrm>
          <a:prstGeom prst="bentConnector3">
            <a:avLst>
              <a:gd fmla="val 0" name="adj1"/>
            </a:avLst>
          </a:prstGeom>
          <a:noFill/>
          <a:ln cap="flat" cmpd="sng" w="38100">
            <a:solidFill>
              <a:schemeClr val="dk1"/>
            </a:solidFill>
            <a:prstDash val="solid"/>
            <a:miter lim="800000"/>
            <a:headEnd len="med" w="med" type="none"/>
            <a:tailEnd len="med" w="med" type="none"/>
          </a:ln>
        </p:spPr>
      </p:cxn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9" name="Shape 1749"/>
        <p:cNvGrpSpPr/>
        <p:nvPr/>
      </p:nvGrpSpPr>
      <p:grpSpPr>
        <a:xfrm>
          <a:off x="0" y="0"/>
          <a:ext cx="0" cy="0"/>
          <a:chOff x="0" y="0"/>
          <a:chExt cx="0" cy="0"/>
        </a:xfrm>
      </p:grpSpPr>
      <p:sp>
        <p:nvSpPr>
          <p:cNvPr id="1750" name="Google Shape;1750;p121"/>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Minh Họa Thuật Toán</a:t>
            </a:r>
            <a:endParaRPr/>
          </a:p>
        </p:txBody>
      </p:sp>
      <p:sp>
        <p:nvSpPr>
          <p:cNvPr id="1751" name="Google Shape;1751;p121"/>
          <p:cNvSpPr/>
          <p:nvPr/>
        </p:nvSpPr>
        <p:spPr>
          <a:xfrm>
            <a:off x="1989137" y="12271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752" name="Google Shape;1752;p121"/>
          <p:cNvSpPr/>
          <p:nvPr/>
        </p:nvSpPr>
        <p:spPr>
          <a:xfrm>
            <a:off x="3098800" y="12271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753" name="Google Shape;1753;p121"/>
          <p:cNvSpPr/>
          <p:nvPr/>
        </p:nvSpPr>
        <p:spPr>
          <a:xfrm>
            <a:off x="4206875" y="12271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54" name="Google Shape;1754;p121"/>
          <p:cNvSpPr/>
          <p:nvPr/>
        </p:nvSpPr>
        <p:spPr>
          <a:xfrm>
            <a:off x="5316537" y="12271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55" name="Google Shape;1755;p121"/>
          <p:cNvSpPr/>
          <p:nvPr/>
        </p:nvSpPr>
        <p:spPr>
          <a:xfrm>
            <a:off x="6423025" y="12271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56" name="Google Shape;1756;p121"/>
          <p:cNvSpPr/>
          <p:nvPr/>
        </p:nvSpPr>
        <p:spPr>
          <a:xfrm>
            <a:off x="7532687" y="12271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57" name="Google Shape;1757;p121"/>
          <p:cNvSpPr/>
          <p:nvPr/>
        </p:nvSpPr>
        <p:spPr>
          <a:xfrm>
            <a:off x="8626475" y="12271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58" name="Google Shape;1758;p121"/>
          <p:cNvSpPr/>
          <p:nvPr/>
        </p:nvSpPr>
        <p:spPr>
          <a:xfrm>
            <a:off x="882650" y="12271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759" name="Google Shape;1759;p121"/>
          <p:cNvSpPr txBox="1"/>
          <p:nvPr/>
        </p:nvSpPr>
        <p:spPr>
          <a:xfrm>
            <a:off x="920750" y="2276475"/>
            <a:ext cx="6048375"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Giai đoạn 2</a:t>
            </a:r>
            <a:r>
              <a:rPr b="0" i="0" lang="en-US" sz="18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Sắp xếp dãy số dựa trên Heap</a:t>
            </a:r>
            <a:endParaRPr/>
          </a:p>
        </p:txBody>
      </p:sp>
      <p:sp>
        <p:nvSpPr>
          <p:cNvPr id="1760" name="Google Shape;1760;p121"/>
          <p:cNvSpPr/>
          <p:nvPr/>
        </p:nvSpPr>
        <p:spPr>
          <a:xfrm>
            <a:off x="1955800" y="3171825"/>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761" name="Google Shape;1761;p121"/>
          <p:cNvSpPr/>
          <p:nvPr/>
        </p:nvSpPr>
        <p:spPr>
          <a:xfrm>
            <a:off x="3065462" y="31718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762" name="Google Shape;1762;p121"/>
          <p:cNvSpPr/>
          <p:nvPr/>
        </p:nvSpPr>
        <p:spPr>
          <a:xfrm>
            <a:off x="4173537" y="31718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63" name="Google Shape;1763;p121"/>
          <p:cNvSpPr/>
          <p:nvPr/>
        </p:nvSpPr>
        <p:spPr>
          <a:xfrm>
            <a:off x="5283200" y="31718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64" name="Google Shape;1764;p121"/>
          <p:cNvSpPr/>
          <p:nvPr/>
        </p:nvSpPr>
        <p:spPr>
          <a:xfrm>
            <a:off x="6389687" y="3171825"/>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65" name="Google Shape;1765;p121"/>
          <p:cNvSpPr/>
          <p:nvPr/>
        </p:nvSpPr>
        <p:spPr>
          <a:xfrm>
            <a:off x="7499350" y="31718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66" name="Google Shape;1766;p121"/>
          <p:cNvSpPr/>
          <p:nvPr/>
        </p:nvSpPr>
        <p:spPr>
          <a:xfrm>
            <a:off x="8593137" y="31718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67" name="Google Shape;1767;p121"/>
          <p:cNvSpPr/>
          <p:nvPr/>
        </p:nvSpPr>
        <p:spPr>
          <a:xfrm>
            <a:off x="849312" y="31718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cxnSp>
        <p:nvCxnSpPr>
          <p:cNvPr id="1768" name="Google Shape;1768;p121"/>
          <p:cNvCxnSpPr/>
          <p:nvPr/>
        </p:nvCxnSpPr>
        <p:spPr>
          <a:xfrm>
            <a:off x="1244599" y="3171826"/>
            <a:ext cx="7743900" cy="1500"/>
          </a:xfrm>
          <a:prstGeom prst="bentConnector3">
            <a:avLst>
              <a:gd fmla="val 0" name="adj1"/>
            </a:avLst>
          </a:prstGeom>
          <a:noFill/>
          <a:ln cap="flat" cmpd="sng" w="9525">
            <a:solidFill>
              <a:schemeClr val="dk1"/>
            </a:solidFill>
            <a:prstDash val="solid"/>
            <a:miter lim="800000"/>
            <a:headEnd len="med" w="med" type="triangle"/>
            <a:tailEnd len="med" w="med" type="triangle"/>
          </a:ln>
        </p:spPr>
      </p:cxnSp>
      <p:sp>
        <p:nvSpPr>
          <p:cNvPr id="1769" name="Google Shape;1769;p121"/>
          <p:cNvSpPr/>
          <p:nvPr/>
        </p:nvSpPr>
        <p:spPr>
          <a:xfrm>
            <a:off x="1955800" y="48275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770" name="Google Shape;1770;p121"/>
          <p:cNvSpPr/>
          <p:nvPr/>
        </p:nvSpPr>
        <p:spPr>
          <a:xfrm>
            <a:off x="3065462" y="48275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771" name="Google Shape;1771;p121"/>
          <p:cNvSpPr/>
          <p:nvPr/>
        </p:nvSpPr>
        <p:spPr>
          <a:xfrm>
            <a:off x="4173537" y="48275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72" name="Google Shape;1772;p121"/>
          <p:cNvSpPr/>
          <p:nvPr/>
        </p:nvSpPr>
        <p:spPr>
          <a:xfrm>
            <a:off x="5283200" y="48275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73" name="Google Shape;1773;p121"/>
          <p:cNvSpPr/>
          <p:nvPr/>
        </p:nvSpPr>
        <p:spPr>
          <a:xfrm>
            <a:off x="6389687" y="48275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74" name="Google Shape;1774;p121"/>
          <p:cNvSpPr/>
          <p:nvPr/>
        </p:nvSpPr>
        <p:spPr>
          <a:xfrm>
            <a:off x="7499350" y="48275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75" name="Google Shape;1775;p121"/>
          <p:cNvSpPr/>
          <p:nvPr/>
        </p:nvSpPr>
        <p:spPr>
          <a:xfrm>
            <a:off x="8593137" y="4827587"/>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776" name="Google Shape;1776;p121"/>
          <p:cNvSpPr/>
          <p:nvPr/>
        </p:nvSpPr>
        <p:spPr>
          <a:xfrm>
            <a:off x="849312" y="48275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grpSp>
        <p:nvGrpSpPr>
          <p:cNvPr id="1777" name="Google Shape;1777;p121"/>
          <p:cNvGrpSpPr/>
          <p:nvPr/>
        </p:nvGrpSpPr>
        <p:grpSpPr>
          <a:xfrm>
            <a:off x="806450" y="1793875"/>
            <a:ext cx="8550275" cy="608012"/>
            <a:chOff x="644" y="1153"/>
            <a:chExt cx="4972" cy="383"/>
          </a:xfrm>
        </p:grpSpPr>
        <p:sp>
          <p:nvSpPr>
            <p:cNvPr id="1778" name="Google Shape;1778;p121"/>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79" name="Google Shape;1779;p121"/>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80" name="Google Shape;1780;p121"/>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781" name="Google Shape;1781;p121"/>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82" name="Google Shape;1782;p121"/>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83" name="Google Shape;1783;p121"/>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84" name="Google Shape;1784;p121"/>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785" name="Google Shape;1785;p121"/>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grpSp>
        <p:nvGrpSpPr>
          <p:cNvPr id="1786" name="Google Shape;1786;p121"/>
          <p:cNvGrpSpPr/>
          <p:nvPr/>
        </p:nvGrpSpPr>
        <p:grpSpPr>
          <a:xfrm>
            <a:off x="776287" y="3644900"/>
            <a:ext cx="8550275" cy="608012"/>
            <a:chOff x="644" y="1153"/>
            <a:chExt cx="4972" cy="383"/>
          </a:xfrm>
        </p:grpSpPr>
        <p:sp>
          <p:nvSpPr>
            <p:cNvPr id="1787" name="Google Shape;1787;p121"/>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88" name="Google Shape;1788;p121"/>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89" name="Google Shape;1789;p121"/>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790" name="Google Shape;1790;p121"/>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791" name="Google Shape;1791;p121"/>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792" name="Google Shape;1792;p121"/>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793" name="Google Shape;1793;p121"/>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794" name="Google Shape;1794;p121"/>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grpSp>
        <p:nvGrpSpPr>
          <p:cNvPr id="1795" name="Google Shape;1795;p121"/>
          <p:cNvGrpSpPr/>
          <p:nvPr/>
        </p:nvGrpSpPr>
        <p:grpSpPr>
          <a:xfrm>
            <a:off x="776287" y="5413375"/>
            <a:ext cx="8550275" cy="608012"/>
            <a:chOff x="644" y="1153"/>
            <a:chExt cx="4972" cy="383"/>
          </a:xfrm>
        </p:grpSpPr>
        <p:sp>
          <p:nvSpPr>
            <p:cNvPr id="1796" name="Google Shape;1796;p121"/>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797" name="Google Shape;1797;p121"/>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798" name="Google Shape;1798;p121"/>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799" name="Google Shape;1799;p121"/>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00" name="Google Shape;1800;p121"/>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01" name="Google Shape;1801;p121"/>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02" name="Google Shape;1802;p121"/>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803" name="Google Shape;1803;p121"/>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804" name="Google Shape;1804;p121"/>
          <p:cNvSpPr txBox="1"/>
          <p:nvPr/>
        </p:nvSpPr>
        <p:spPr>
          <a:xfrm>
            <a:off x="7507287" y="6338887"/>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r=6</a:t>
            </a:r>
            <a:endParaRPr/>
          </a:p>
        </p:txBody>
      </p:sp>
      <p:cxnSp>
        <p:nvCxnSpPr>
          <p:cNvPr id="1805" name="Google Shape;1805;p121"/>
          <p:cNvCxnSpPr/>
          <p:nvPr/>
        </p:nvCxnSpPr>
        <p:spPr>
          <a:xfrm rot="10800000">
            <a:off x="7831137" y="5805487"/>
            <a:ext cx="0" cy="533400"/>
          </a:xfrm>
          <a:prstGeom prst="straightConnector1">
            <a:avLst/>
          </a:prstGeom>
          <a:noFill/>
          <a:ln cap="flat" cmpd="sng" w="38100">
            <a:solidFill>
              <a:schemeClr val="dk1"/>
            </a:solidFill>
            <a:prstDash val="solid"/>
            <a:miter lim="800000"/>
            <a:headEnd len="med" w="med" type="none"/>
            <a:tailEnd len="med" w="med" type="stealth"/>
          </a:ln>
        </p:spPr>
      </p:cxn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sp>
        <p:nvSpPr>
          <p:cNvPr id="1810" name="Google Shape;1810;p122"/>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Minh Họa Thuật Toán</a:t>
            </a:r>
            <a:endParaRPr/>
          </a:p>
        </p:txBody>
      </p:sp>
      <p:sp>
        <p:nvSpPr>
          <p:cNvPr id="1811" name="Google Shape;1811;p122"/>
          <p:cNvSpPr txBox="1"/>
          <p:nvPr/>
        </p:nvSpPr>
        <p:spPr>
          <a:xfrm>
            <a:off x="1065212" y="981075"/>
            <a:ext cx="3167062"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Hiệu chỉnh Heap</a:t>
            </a:r>
            <a:endParaRPr/>
          </a:p>
        </p:txBody>
      </p:sp>
      <p:sp>
        <p:nvSpPr>
          <p:cNvPr id="1812" name="Google Shape;1812;p122"/>
          <p:cNvSpPr/>
          <p:nvPr/>
        </p:nvSpPr>
        <p:spPr>
          <a:xfrm>
            <a:off x="2171700" y="20907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813" name="Google Shape;1813;p122"/>
          <p:cNvSpPr/>
          <p:nvPr/>
        </p:nvSpPr>
        <p:spPr>
          <a:xfrm>
            <a:off x="3281362" y="20907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814" name="Google Shape;1814;p122"/>
          <p:cNvSpPr/>
          <p:nvPr/>
        </p:nvSpPr>
        <p:spPr>
          <a:xfrm>
            <a:off x="4389437" y="20907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15" name="Google Shape;1815;p122"/>
          <p:cNvSpPr/>
          <p:nvPr/>
        </p:nvSpPr>
        <p:spPr>
          <a:xfrm>
            <a:off x="5499100" y="20907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816" name="Google Shape;1816;p122"/>
          <p:cNvSpPr/>
          <p:nvPr/>
        </p:nvSpPr>
        <p:spPr>
          <a:xfrm>
            <a:off x="6605587" y="2090737"/>
            <a:ext cx="792162"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17" name="Google Shape;1817;p122"/>
          <p:cNvSpPr/>
          <p:nvPr/>
        </p:nvSpPr>
        <p:spPr>
          <a:xfrm>
            <a:off x="7715250" y="2090737"/>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18" name="Google Shape;1818;p122"/>
          <p:cNvSpPr/>
          <p:nvPr/>
        </p:nvSpPr>
        <p:spPr>
          <a:xfrm>
            <a:off x="8809037" y="2090737"/>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819" name="Google Shape;1819;p122"/>
          <p:cNvSpPr/>
          <p:nvPr/>
        </p:nvSpPr>
        <p:spPr>
          <a:xfrm>
            <a:off x="1065212" y="20907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grpSp>
        <p:nvGrpSpPr>
          <p:cNvPr id="1820" name="Google Shape;1820;p122"/>
          <p:cNvGrpSpPr/>
          <p:nvPr/>
        </p:nvGrpSpPr>
        <p:grpSpPr>
          <a:xfrm>
            <a:off x="992187" y="2636837"/>
            <a:ext cx="8550275" cy="608012"/>
            <a:chOff x="644" y="1153"/>
            <a:chExt cx="4972" cy="383"/>
          </a:xfrm>
        </p:grpSpPr>
        <p:sp>
          <p:nvSpPr>
            <p:cNvPr id="1821" name="Google Shape;1821;p122"/>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822" name="Google Shape;1822;p122"/>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823" name="Google Shape;1823;p122"/>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824" name="Google Shape;1824;p122"/>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25" name="Google Shape;1825;p122"/>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26" name="Google Shape;1826;p122"/>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27" name="Google Shape;1827;p122"/>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828" name="Google Shape;1828;p122"/>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829" name="Google Shape;1829;p122"/>
          <p:cNvSpPr txBox="1"/>
          <p:nvPr/>
        </p:nvSpPr>
        <p:spPr>
          <a:xfrm>
            <a:off x="3297237" y="3602037"/>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l=2</a:t>
            </a:r>
            <a:endParaRPr/>
          </a:p>
        </p:txBody>
      </p:sp>
      <p:cxnSp>
        <p:nvCxnSpPr>
          <p:cNvPr id="1830" name="Google Shape;1830;p122"/>
          <p:cNvCxnSpPr/>
          <p:nvPr/>
        </p:nvCxnSpPr>
        <p:spPr>
          <a:xfrm rot="10800000">
            <a:off x="3621087" y="3068637"/>
            <a:ext cx="0" cy="533400"/>
          </a:xfrm>
          <a:prstGeom prst="straightConnector1">
            <a:avLst/>
          </a:prstGeom>
          <a:noFill/>
          <a:ln cap="flat" cmpd="sng" w="38100">
            <a:solidFill>
              <a:schemeClr val="dk1"/>
            </a:solidFill>
            <a:prstDash val="solid"/>
            <a:miter lim="800000"/>
            <a:headEnd len="med" w="med" type="none"/>
            <a:tailEnd len="med" w="med" type="stealth"/>
          </a:ln>
        </p:spPr>
      </p:cxnSp>
      <p:sp>
        <p:nvSpPr>
          <p:cNvPr id="1831" name="Google Shape;1831;p122"/>
          <p:cNvSpPr txBox="1"/>
          <p:nvPr/>
        </p:nvSpPr>
        <p:spPr>
          <a:xfrm>
            <a:off x="7283450" y="3579812"/>
            <a:ext cx="8382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Pt liên đới</a:t>
            </a:r>
            <a:endParaRPr/>
          </a:p>
        </p:txBody>
      </p:sp>
      <p:cxnSp>
        <p:nvCxnSpPr>
          <p:cNvPr id="1832" name="Google Shape;1832;p122"/>
          <p:cNvCxnSpPr/>
          <p:nvPr/>
        </p:nvCxnSpPr>
        <p:spPr>
          <a:xfrm>
            <a:off x="6986587" y="3221037"/>
            <a:ext cx="1108200" cy="1500"/>
          </a:xfrm>
          <a:prstGeom prst="bentConnector3">
            <a:avLst>
              <a:gd fmla="val 0" name="adj1"/>
            </a:avLst>
          </a:prstGeom>
          <a:noFill/>
          <a:ln cap="flat" cmpd="sng" w="38100">
            <a:solidFill>
              <a:schemeClr val="dk1"/>
            </a:solidFill>
            <a:prstDash val="solid"/>
            <a:miter lim="800000"/>
            <a:headEnd len="med" w="med" type="none"/>
            <a:tailEnd len="med" w="med" type="none"/>
          </a:ln>
        </p:spPr>
      </p:cxnSp>
      <p:sp>
        <p:nvSpPr>
          <p:cNvPr id="1833" name="Google Shape;1833;p122"/>
          <p:cNvSpPr/>
          <p:nvPr/>
        </p:nvSpPr>
        <p:spPr>
          <a:xfrm>
            <a:off x="2133600" y="4251325"/>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834" name="Google Shape;1834;p122"/>
          <p:cNvSpPr/>
          <p:nvPr/>
        </p:nvSpPr>
        <p:spPr>
          <a:xfrm>
            <a:off x="3243262" y="42513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835" name="Google Shape;1835;p122"/>
          <p:cNvSpPr/>
          <p:nvPr/>
        </p:nvSpPr>
        <p:spPr>
          <a:xfrm>
            <a:off x="4351337" y="4251325"/>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36" name="Google Shape;1836;p122"/>
          <p:cNvSpPr/>
          <p:nvPr/>
        </p:nvSpPr>
        <p:spPr>
          <a:xfrm>
            <a:off x="5461000" y="4251325"/>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837" name="Google Shape;1837;p122"/>
          <p:cNvSpPr/>
          <p:nvPr/>
        </p:nvSpPr>
        <p:spPr>
          <a:xfrm>
            <a:off x="6567487" y="4251325"/>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38" name="Google Shape;1838;p122"/>
          <p:cNvSpPr/>
          <p:nvPr/>
        </p:nvSpPr>
        <p:spPr>
          <a:xfrm>
            <a:off x="7677150" y="42513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39" name="Google Shape;1839;p122"/>
          <p:cNvSpPr/>
          <p:nvPr/>
        </p:nvSpPr>
        <p:spPr>
          <a:xfrm>
            <a:off x="8770937" y="4251325"/>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840" name="Google Shape;1840;p122"/>
          <p:cNvSpPr/>
          <p:nvPr/>
        </p:nvSpPr>
        <p:spPr>
          <a:xfrm>
            <a:off x="1027112" y="425132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grpSp>
        <p:nvGrpSpPr>
          <p:cNvPr id="1841" name="Google Shape;1841;p122"/>
          <p:cNvGrpSpPr/>
          <p:nvPr/>
        </p:nvGrpSpPr>
        <p:grpSpPr>
          <a:xfrm>
            <a:off x="954087" y="4797425"/>
            <a:ext cx="8550275" cy="608012"/>
            <a:chOff x="644" y="1153"/>
            <a:chExt cx="4972" cy="383"/>
          </a:xfrm>
        </p:grpSpPr>
        <p:sp>
          <p:nvSpPr>
            <p:cNvPr id="1842" name="Google Shape;1842;p122"/>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843" name="Google Shape;1843;p122"/>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844" name="Google Shape;1844;p122"/>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845" name="Google Shape;1845;p122"/>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46" name="Google Shape;1846;p122"/>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47" name="Google Shape;1847;p122"/>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48" name="Google Shape;1848;p122"/>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849" name="Google Shape;1849;p122"/>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850" name="Google Shape;1850;p122"/>
          <p:cNvSpPr txBox="1"/>
          <p:nvPr/>
        </p:nvSpPr>
        <p:spPr>
          <a:xfrm>
            <a:off x="2144712" y="5762625"/>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l=2</a:t>
            </a:r>
            <a:endParaRPr/>
          </a:p>
        </p:txBody>
      </p:sp>
      <p:cxnSp>
        <p:nvCxnSpPr>
          <p:cNvPr id="1851" name="Google Shape;1851;p122"/>
          <p:cNvCxnSpPr/>
          <p:nvPr/>
        </p:nvCxnSpPr>
        <p:spPr>
          <a:xfrm rot="10800000">
            <a:off x="2468562" y="5229225"/>
            <a:ext cx="0" cy="533400"/>
          </a:xfrm>
          <a:prstGeom prst="straightConnector1">
            <a:avLst/>
          </a:prstGeom>
          <a:noFill/>
          <a:ln cap="flat" cmpd="sng" w="38100">
            <a:solidFill>
              <a:schemeClr val="dk1"/>
            </a:solidFill>
            <a:prstDash val="solid"/>
            <a:miter lim="800000"/>
            <a:headEnd len="med" w="med" type="none"/>
            <a:tailEnd len="med" w="med" type="stealth"/>
          </a:ln>
        </p:spPr>
      </p:cxnSp>
      <p:sp>
        <p:nvSpPr>
          <p:cNvPr id="1852" name="Google Shape;1852;p122"/>
          <p:cNvSpPr txBox="1"/>
          <p:nvPr/>
        </p:nvSpPr>
        <p:spPr>
          <a:xfrm>
            <a:off x="4962525" y="5740400"/>
            <a:ext cx="8382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Pt liên đới</a:t>
            </a:r>
            <a:endParaRPr/>
          </a:p>
        </p:txBody>
      </p:sp>
      <p:cxnSp>
        <p:nvCxnSpPr>
          <p:cNvPr id="1853" name="Google Shape;1853;p122"/>
          <p:cNvCxnSpPr/>
          <p:nvPr/>
        </p:nvCxnSpPr>
        <p:spPr>
          <a:xfrm>
            <a:off x="4665662" y="5381625"/>
            <a:ext cx="1108200" cy="1500"/>
          </a:xfrm>
          <a:prstGeom prst="bentConnector3">
            <a:avLst>
              <a:gd fmla="val 0" name="adj1"/>
            </a:avLst>
          </a:prstGeom>
          <a:noFill/>
          <a:ln cap="flat" cmpd="sng" w="38100">
            <a:solidFill>
              <a:schemeClr val="dk1"/>
            </a:solidFill>
            <a:prstDash val="solid"/>
            <a:miter lim="800000"/>
            <a:headEnd len="med" w="med" type="none"/>
            <a:tailEnd len="med" w="med" type="none"/>
          </a:ln>
        </p:spPr>
      </p:cxn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sp>
        <p:nvSpPr>
          <p:cNvPr id="1858" name="Google Shape;1858;p123"/>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Minh Họa Thuật Toán</a:t>
            </a:r>
            <a:endParaRPr/>
          </a:p>
        </p:txBody>
      </p:sp>
      <p:sp>
        <p:nvSpPr>
          <p:cNvPr id="1859" name="Google Shape;1859;p123"/>
          <p:cNvSpPr/>
          <p:nvPr/>
        </p:nvSpPr>
        <p:spPr>
          <a:xfrm>
            <a:off x="1943100" y="1341437"/>
            <a:ext cx="792162"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860" name="Google Shape;1860;p123"/>
          <p:cNvSpPr/>
          <p:nvPr/>
        </p:nvSpPr>
        <p:spPr>
          <a:xfrm>
            <a:off x="3052762" y="1341437"/>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861" name="Google Shape;1861;p123"/>
          <p:cNvSpPr/>
          <p:nvPr/>
        </p:nvSpPr>
        <p:spPr>
          <a:xfrm>
            <a:off x="4160837"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62" name="Google Shape;1862;p123"/>
          <p:cNvSpPr/>
          <p:nvPr/>
        </p:nvSpPr>
        <p:spPr>
          <a:xfrm>
            <a:off x="5270500"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863" name="Google Shape;1863;p123"/>
          <p:cNvSpPr/>
          <p:nvPr/>
        </p:nvSpPr>
        <p:spPr>
          <a:xfrm>
            <a:off x="6376987" y="13414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64" name="Google Shape;1864;p123"/>
          <p:cNvSpPr/>
          <p:nvPr/>
        </p:nvSpPr>
        <p:spPr>
          <a:xfrm>
            <a:off x="7486650"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65" name="Google Shape;1865;p123"/>
          <p:cNvSpPr/>
          <p:nvPr/>
        </p:nvSpPr>
        <p:spPr>
          <a:xfrm>
            <a:off x="8580437" y="1341437"/>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866" name="Google Shape;1866;p123"/>
          <p:cNvSpPr/>
          <p:nvPr/>
        </p:nvSpPr>
        <p:spPr>
          <a:xfrm>
            <a:off x="836612"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grpSp>
        <p:nvGrpSpPr>
          <p:cNvPr id="1867" name="Google Shape;1867;p123"/>
          <p:cNvGrpSpPr/>
          <p:nvPr/>
        </p:nvGrpSpPr>
        <p:grpSpPr>
          <a:xfrm>
            <a:off x="763587" y="1887537"/>
            <a:ext cx="8550275" cy="608012"/>
            <a:chOff x="644" y="1153"/>
            <a:chExt cx="4972" cy="383"/>
          </a:xfrm>
        </p:grpSpPr>
        <p:sp>
          <p:nvSpPr>
            <p:cNvPr id="1868" name="Google Shape;1868;p123"/>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869" name="Google Shape;1869;p123"/>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870" name="Google Shape;1870;p123"/>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871" name="Google Shape;1871;p123"/>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72" name="Google Shape;1872;p123"/>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73" name="Google Shape;1873;p123"/>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74" name="Google Shape;1874;p123"/>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875" name="Google Shape;1875;p123"/>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876" name="Google Shape;1876;p123"/>
          <p:cNvSpPr txBox="1"/>
          <p:nvPr/>
        </p:nvSpPr>
        <p:spPr>
          <a:xfrm>
            <a:off x="920750" y="2852737"/>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l=0</a:t>
            </a:r>
            <a:endParaRPr/>
          </a:p>
        </p:txBody>
      </p:sp>
      <p:cxnSp>
        <p:nvCxnSpPr>
          <p:cNvPr id="1877" name="Google Shape;1877;p123"/>
          <p:cNvCxnSpPr/>
          <p:nvPr/>
        </p:nvCxnSpPr>
        <p:spPr>
          <a:xfrm rot="10800000">
            <a:off x="1244600" y="2319337"/>
            <a:ext cx="0" cy="533400"/>
          </a:xfrm>
          <a:prstGeom prst="straightConnector1">
            <a:avLst/>
          </a:prstGeom>
          <a:noFill/>
          <a:ln cap="flat" cmpd="sng" w="38100">
            <a:solidFill>
              <a:schemeClr val="dk1"/>
            </a:solidFill>
            <a:prstDash val="solid"/>
            <a:miter lim="800000"/>
            <a:headEnd len="med" w="med" type="none"/>
            <a:tailEnd len="med" w="med" type="stealth"/>
          </a:ln>
        </p:spPr>
      </p:cxnSp>
      <p:sp>
        <p:nvSpPr>
          <p:cNvPr id="1878" name="Google Shape;1878;p123"/>
          <p:cNvSpPr txBox="1"/>
          <p:nvPr/>
        </p:nvSpPr>
        <p:spPr>
          <a:xfrm>
            <a:off x="2586037" y="2830512"/>
            <a:ext cx="8382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Pt liên đới</a:t>
            </a:r>
            <a:endParaRPr/>
          </a:p>
        </p:txBody>
      </p:sp>
      <p:cxnSp>
        <p:nvCxnSpPr>
          <p:cNvPr id="1879" name="Google Shape;1879;p123"/>
          <p:cNvCxnSpPr/>
          <p:nvPr/>
        </p:nvCxnSpPr>
        <p:spPr>
          <a:xfrm>
            <a:off x="2289174" y="2471737"/>
            <a:ext cx="1108200" cy="1500"/>
          </a:xfrm>
          <a:prstGeom prst="bentConnector3">
            <a:avLst>
              <a:gd fmla="val 0" name="adj1"/>
            </a:avLst>
          </a:prstGeom>
          <a:noFill/>
          <a:ln cap="flat" cmpd="sng" w="38100">
            <a:solidFill>
              <a:schemeClr val="dk1"/>
            </a:solidFill>
            <a:prstDash val="solid"/>
            <a:miter lim="800000"/>
            <a:headEnd len="med" w="med" type="none"/>
            <a:tailEnd len="med" w="med" type="none"/>
          </a:ln>
        </p:spPr>
      </p:cxnSp>
      <p:sp>
        <p:nvSpPr>
          <p:cNvPr id="1880" name="Google Shape;1880;p123"/>
          <p:cNvSpPr/>
          <p:nvPr/>
        </p:nvSpPr>
        <p:spPr>
          <a:xfrm>
            <a:off x="2027237" y="3817937"/>
            <a:ext cx="792162"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881" name="Google Shape;1881;p123"/>
          <p:cNvSpPr/>
          <p:nvPr/>
        </p:nvSpPr>
        <p:spPr>
          <a:xfrm>
            <a:off x="3136900" y="3817937"/>
            <a:ext cx="790575"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882" name="Google Shape;1882;p123"/>
          <p:cNvSpPr/>
          <p:nvPr/>
        </p:nvSpPr>
        <p:spPr>
          <a:xfrm>
            <a:off x="4244975" y="38179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83" name="Google Shape;1883;p123"/>
          <p:cNvSpPr/>
          <p:nvPr/>
        </p:nvSpPr>
        <p:spPr>
          <a:xfrm>
            <a:off x="5354637" y="38179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884" name="Google Shape;1884;p123"/>
          <p:cNvSpPr/>
          <p:nvPr/>
        </p:nvSpPr>
        <p:spPr>
          <a:xfrm>
            <a:off x="6461125" y="38179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85" name="Google Shape;1885;p123"/>
          <p:cNvSpPr/>
          <p:nvPr/>
        </p:nvSpPr>
        <p:spPr>
          <a:xfrm>
            <a:off x="7570787" y="38179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86" name="Google Shape;1886;p123"/>
          <p:cNvSpPr/>
          <p:nvPr/>
        </p:nvSpPr>
        <p:spPr>
          <a:xfrm>
            <a:off x="8664575" y="3817937"/>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887" name="Google Shape;1887;p123"/>
          <p:cNvSpPr/>
          <p:nvPr/>
        </p:nvSpPr>
        <p:spPr>
          <a:xfrm>
            <a:off x="920750" y="38179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888" name="Google Shape;1888;p123"/>
          <p:cNvSpPr txBox="1"/>
          <p:nvPr/>
        </p:nvSpPr>
        <p:spPr>
          <a:xfrm>
            <a:off x="1004887" y="5329237"/>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l=2</a:t>
            </a:r>
            <a:endParaRPr/>
          </a:p>
        </p:txBody>
      </p:sp>
      <p:cxnSp>
        <p:nvCxnSpPr>
          <p:cNvPr id="1889" name="Google Shape;1889;p123"/>
          <p:cNvCxnSpPr/>
          <p:nvPr/>
        </p:nvCxnSpPr>
        <p:spPr>
          <a:xfrm rot="10800000">
            <a:off x="1328737" y="4795837"/>
            <a:ext cx="0" cy="533400"/>
          </a:xfrm>
          <a:prstGeom prst="straightConnector1">
            <a:avLst/>
          </a:prstGeom>
          <a:noFill/>
          <a:ln cap="flat" cmpd="sng" w="38100">
            <a:solidFill>
              <a:schemeClr val="dk1"/>
            </a:solidFill>
            <a:prstDash val="solid"/>
            <a:miter lim="800000"/>
            <a:headEnd len="med" w="med" type="none"/>
            <a:tailEnd len="med" w="med" type="stealth"/>
          </a:ln>
        </p:spPr>
      </p:cxnSp>
      <p:grpSp>
        <p:nvGrpSpPr>
          <p:cNvPr id="1890" name="Google Shape;1890;p123"/>
          <p:cNvGrpSpPr/>
          <p:nvPr/>
        </p:nvGrpSpPr>
        <p:grpSpPr>
          <a:xfrm>
            <a:off x="920750" y="4365625"/>
            <a:ext cx="8550275" cy="608012"/>
            <a:chOff x="644" y="1153"/>
            <a:chExt cx="4972" cy="383"/>
          </a:xfrm>
        </p:grpSpPr>
        <p:sp>
          <p:nvSpPr>
            <p:cNvPr id="1891" name="Google Shape;1891;p123"/>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892" name="Google Shape;1892;p123"/>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893" name="Google Shape;1893;p123"/>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894" name="Google Shape;1894;p123"/>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895" name="Google Shape;1895;p123"/>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896" name="Google Shape;1896;p123"/>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897" name="Google Shape;1897;p123"/>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898" name="Google Shape;1898;p123"/>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sp>
        <p:nvSpPr>
          <p:cNvPr id="1903" name="Google Shape;1903;p124"/>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Minh Họa Thuật Toán</a:t>
            </a:r>
            <a:endParaRPr/>
          </a:p>
        </p:txBody>
      </p:sp>
      <p:sp>
        <p:nvSpPr>
          <p:cNvPr id="1904" name="Google Shape;1904;p124"/>
          <p:cNvSpPr/>
          <p:nvPr/>
        </p:nvSpPr>
        <p:spPr>
          <a:xfrm>
            <a:off x="2027237" y="1844675"/>
            <a:ext cx="792162" cy="617537"/>
          </a:xfrm>
          <a:prstGeom prst="ellipse">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05" name="Google Shape;1905;p124"/>
          <p:cNvSpPr/>
          <p:nvPr/>
        </p:nvSpPr>
        <p:spPr>
          <a:xfrm>
            <a:off x="3136900" y="18446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906" name="Google Shape;1906;p124"/>
          <p:cNvSpPr/>
          <p:nvPr/>
        </p:nvSpPr>
        <p:spPr>
          <a:xfrm>
            <a:off x="4244975" y="18446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07" name="Google Shape;1907;p124"/>
          <p:cNvSpPr/>
          <p:nvPr/>
        </p:nvSpPr>
        <p:spPr>
          <a:xfrm>
            <a:off x="5354637" y="18446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08" name="Google Shape;1908;p124"/>
          <p:cNvSpPr/>
          <p:nvPr/>
        </p:nvSpPr>
        <p:spPr>
          <a:xfrm>
            <a:off x="6461125" y="1844675"/>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09" name="Google Shape;1909;p124"/>
          <p:cNvSpPr/>
          <p:nvPr/>
        </p:nvSpPr>
        <p:spPr>
          <a:xfrm>
            <a:off x="7570787" y="18446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10" name="Google Shape;1910;p124"/>
          <p:cNvSpPr/>
          <p:nvPr/>
        </p:nvSpPr>
        <p:spPr>
          <a:xfrm>
            <a:off x="8664575" y="1844675"/>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911" name="Google Shape;1911;p124"/>
          <p:cNvSpPr/>
          <p:nvPr/>
        </p:nvSpPr>
        <p:spPr>
          <a:xfrm>
            <a:off x="920750" y="18446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912" name="Google Shape;1912;p124"/>
          <p:cNvSpPr txBox="1"/>
          <p:nvPr/>
        </p:nvSpPr>
        <p:spPr>
          <a:xfrm>
            <a:off x="1004887" y="3355975"/>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l=2</a:t>
            </a:r>
            <a:endParaRPr/>
          </a:p>
        </p:txBody>
      </p:sp>
      <p:cxnSp>
        <p:nvCxnSpPr>
          <p:cNvPr id="1913" name="Google Shape;1913;p124"/>
          <p:cNvCxnSpPr/>
          <p:nvPr/>
        </p:nvCxnSpPr>
        <p:spPr>
          <a:xfrm rot="10800000">
            <a:off x="1328737" y="2822575"/>
            <a:ext cx="0" cy="533400"/>
          </a:xfrm>
          <a:prstGeom prst="straightConnector1">
            <a:avLst/>
          </a:prstGeom>
          <a:noFill/>
          <a:ln cap="flat" cmpd="sng" w="38100">
            <a:solidFill>
              <a:schemeClr val="dk1"/>
            </a:solidFill>
            <a:prstDash val="solid"/>
            <a:miter lim="800000"/>
            <a:headEnd len="med" w="med" type="none"/>
            <a:tailEnd len="med" w="med" type="stealth"/>
          </a:ln>
        </p:spPr>
      </p:cxnSp>
      <p:grpSp>
        <p:nvGrpSpPr>
          <p:cNvPr id="1914" name="Google Shape;1914;p124"/>
          <p:cNvGrpSpPr/>
          <p:nvPr/>
        </p:nvGrpSpPr>
        <p:grpSpPr>
          <a:xfrm>
            <a:off x="920750" y="2392362"/>
            <a:ext cx="8550275" cy="608012"/>
            <a:chOff x="644" y="1153"/>
            <a:chExt cx="4972" cy="383"/>
          </a:xfrm>
        </p:grpSpPr>
        <p:sp>
          <p:nvSpPr>
            <p:cNvPr id="1915" name="Google Shape;1915;p124"/>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16" name="Google Shape;1916;p124"/>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17" name="Google Shape;1917;p124"/>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918" name="Google Shape;1918;p124"/>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19" name="Google Shape;1919;p124"/>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20" name="Google Shape;1920;p124"/>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21" name="Google Shape;1921;p124"/>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922" name="Google Shape;1922;p124"/>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cxnSp>
        <p:nvCxnSpPr>
          <p:cNvPr id="1923" name="Google Shape;1923;p124"/>
          <p:cNvCxnSpPr/>
          <p:nvPr/>
        </p:nvCxnSpPr>
        <p:spPr>
          <a:xfrm>
            <a:off x="2424112" y="1844675"/>
            <a:ext cx="22161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
        <p:nvSpPr>
          <p:cNvPr id="1924" name="Google Shape;1924;p124"/>
          <p:cNvSpPr txBox="1"/>
          <p:nvPr/>
        </p:nvSpPr>
        <p:spPr>
          <a:xfrm>
            <a:off x="2144712" y="1125537"/>
            <a:ext cx="28384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Lan truyền việc điều chỉnh</a:t>
            </a:r>
            <a:endParaRPr/>
          </a:p>
        </p:txBody>
      </p:sp>
      <p:sp>
        <p:nvSpPr>
          <p:cNvPr id="1925" name="Google Shape;1925;p124"/>
          <p:cNvSpPr/>
          <p:nvPr/>
        </p:nvSpPr>
        <p:spPr>
          <a:xfrm>
            <a:off x="2027237" y="44656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26" name="Google Shape;1926;p124"/>
          <p:cNvSpPr/>
          <p:nvPr/>
        </p:nvSpPr>
        <p:spPr>
          <a:xfrm>
            <a:off x="3136900" y="44656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927" name="Google Shape;1927;p124"/>
          <p:cNvSpPr/>
          <p:nvPr/>
        </p:nvSpPr>
        <p:spPr>
          <a:xfrm>
            <a:off x="4244975" y="44656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28" name="Google Shape;1928;p124"/>
          <p:cNvSpPr/>
          <p:nvPr/>
        </p:nvSpPr>
        <p:spPr>
          <a:xfrm>
            <a:off x="5354637" y="44656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29" name="Google Shape;1929;p124"/>
          <p:cNvSpPr/>
          <p:nvPr/>
        </p:nvSpPr>
        <p:spPr>
          <a:xfrm>
            <a:off x="6461125" y="44656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30" name="Google Shape;1930;p124"/>
          <p:cNvSpPr/>
          <p:nvPr/>
        </p:nvSpPr>
        <p:spPr>
          <a:xfrm>
            <a:off x="7570787" y="44656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31" name="Google Shape;1931;p124"/>
          <p:cNvSpPr/>
          <p:nvPr/>
        </p:nvSpPr>
        <p:spPr>
          <a:xfrm>
            <a:off x="8664575" y="4465637"/>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932" name="Google Shape;1932;p124"/>
          <p:cNvSpPr/>
          <p:nvPr/>
        </p:nvSpPr>
        <p:spPr>
          <a:xfrm>
            <a:off x="920750" y="44656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933" name="Google Shape;1933;p124"/>
          <p:cNvSpPr txBox="1"/>
          <p:nvPr/>
        </p:nvSpPr>
        <p:spPr>
          <a:xfrm>
            <a:off x="1004887" y="5976937"/>
            <a:ext cx="685800" cy="40481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l=2</a:t>
            </a:r>
            <a:endParaRPr/>
          </a:p>
        </p:txBody>
      </p:sp>
      <p:cxnSp>
        <p:nvCxnSpPr>
          <p:cNvPr id="1934" name="Google Shape;1934;p124"/>
          <p:cNvCxnSpPr/>
          <p:nvPr/>
        </p:nvCxnSpPr>
        <p:spPr>
          <a:xfrm rot="10800000">
            <a:off x="1328737" y="5443537"/>
            <a:ext cx="0" cy="533400"/>
          </a:xfrm>
          <a:prstGeom prst="straightConnector1">
            <a:avLst/>
          </a:prstGeom>
          <a:noFill/>
          <a:ln cap="flat" cmpd="sng" w="38100">
            <a:solidFill>
              <a:schemeClr val="dk1"/>
            </a:solidFill>
            <a:prstDash val="solid"/>
            <a:miter lim="800000"/>
            <a:headEnd len="med" w="med" type="none"/>
            <a:tailEnd len="med" w="med" type="stealth"/>
          </a:ln>
        </p:spPr>
      </p:cxnSp>
      <p:grpSp>
        <p:nvGrpSpPr>
          <p:cNvPr id="1935" name="Google Shape;1935;p124"/>
          <p:cNvGrpSpPr/>
          <p:nvPr/>
        </p:nvGrpSpPr>
        <p:grpSpPr>
          <a:xfrm>
            <a:off x="920750" y="5013325"/>
            <a:ext cx="8550275" cy="608012"/>
            <a:chOff x="644" y="1153"/>
            <a:chExt cx="4972" cy="383"/>
          </a:xfrm>
        </p:grpSpPr>
        <p:sp>
          <p:nvSpPr>
            <p:cNvPr id="1936" name="Google Shape;1936;p124"/>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37" name="Google Shape;1937;p124"/>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38" name="Google Shape;1938;p124"/>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939" name="Google Shape;1939;p124"/>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40" name="Google Shape;1940;p124"/>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41" name="Google Shape;1941;p124"/>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42" name="Google Shape;1942;p124"/>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943" name="Google Shape;1943;p124"/>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125"/>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Minh Họa Thuật Toán</a:t>
            </a:r>
            <a:endParaRPr/>
          </a:p>
        </p:txBody>
      </p:sp>
      <p:sp>
        <p:nvSpPr>
          <p:cNvPr id="1949" name="Google Shape;1949;p125"/>
          <p:cNvSpPr/>
          <p:nvPr/>
        </p:nvSpPr>
        <p:spPr>
          <a:xfrm>
            <a:off x="2027237" y="13414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50" name="Google Shape;1950;p125"/>
          <p:cNvSpPr/>
          <p:nvPr/>
        </p:nvSpPr>
        <p:spPr>
          <a:xfrm>
            <a:off x="3136900"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951" name="Google Shape;1951;p125"/>
          <p:cNvSpPr/>
          <p:nvPr/>
        </p:nvSpPr>
        <p:spPr>
          <a:xfrm>
            <a:off x="4244975"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52" name="Google Shape;1952;p125"/>
          <p:cNvSpPr/>
          <p:nvPr/>
        </p:nvSpPr>
        <p:spPr>
          <a:xfrm>
            <a:off x="5354637"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53" name="Google Shape;1953;p125"/>
          <p:cNvSpPr/>
          <p:nvPr/>
        </p:nvSpPr>
        <p:spPr>
          <a:xfrm>
            <a:off x="6461125" y="134143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54" name="Google Shape;1954;p125"/>
          <p:cNvSpPr/>
          <p:nvPr/>
        </p:nvSpPr>
        <p:spPr>
          <a:xfrm>
            <a:off x="7570787"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55" name="Google Shape;1955;p125"/>
          <p:cNvSpPr/>
          <p:nvPr/>
        </p:nvSpPr>
        <p:spPr>
          <a:xfrm>
            <a:off x="8664575" y="1341437"/>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956" name="Google Shape;1956;p125"/>
          <p:cNvSpPr/>
          <p:nvPr/>
        </p:nvSpPr>
        <p:spPr>
          <a:xfrm>
            <a:off x="920750" y="13414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1957" name="Google Shape;1957;p125"/>
          <p:cNvGrpSpPr/>
          <p:nvPr/>
        </p:nvGrpSpPr>
        <p:grpSpPr>
          <a:xfrm>
            <a:off x="920750" y="1889125"/>
            <a:ext cx="8550275" cy="608012"/>
            <a:chOff x="644" y="1153"/>
            <a:chExt cx="4972" cy="383"/>
          </a:xfrm>
        </p:grpSpPr>
        <p:sp>
          <p:nvSpPr>
            <p:cNvPr id="1958" name="Google Shape;1958;p12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59" name="Google Shape;1959;p12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60" name="Google Shape;1960;p12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961" name="Google Shape;1961;p12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62" name="Google Shape;1962;p12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63" name="Google Shape;1963;p12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64" name="Google Shape;1964;p12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965" name="Google Shape;1965;p12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cxnSp>
        <p:nvCxnSpPr>
          <p:cNvPr id="1966" name="Google Shape;1966;p125"/>
          <p:cNvCxnSpPr/>
          <p:nvPr/>
        </p:nvCxnSpPr>
        <p:spPr>
          <a:xfrm>
            <a:off x="1316037" y="1341438"/>
            <a:ext cx="66501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
        <p:nvSpPr>
          <p:cNvPr id="1967" name="Google Shape;1967;p125"/>
          <p:cNvSpPr/>
          <p:nvPr/>
        </p:nvSpPr>
        <p:spPr>
          <a:xfrm>
            <a:off x="1955800" y="278130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68" name="Google Shape;1968;p125"/>
          <p:cNvSpPr/>
          <p:nvPr/>
        </p:nvSpPr>
        <p:spPr>
          <a:xfrm>
            <a:off x="3065462" y="278130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969" name="Google Shape;1969;p125"/>
          <p:cNvSpPr/>
          <p:nvPr/>
        </p:nvSpPr>
        <p:spPr>
          <a:xfrm>
            <a:off x="4173537" y="278130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70" name="Google Shape;1970;p125"/>
          <p:cNvSpPr/>
          <p:nvPr/>
        </p:nvSpPr>
        <p:spPr>
          <a:xfrm>
            <a:off x="5283200" y="278130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71" name="Google Shape;1971;p125"/>
          <p:cNvSpPr/>
          <p:nvPr/>
        </p:nvSpPr>
        <p:spPr>
          <a:xfrm>
            <a:off x="6389687" y="278130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72" name="Google Shape;1972;p125"/>
          <p:cNvSpPr/>
          <p:nvPr/>
        </p:nvSpPr>
        <p:spPr>
          <a:xfrm>
            <a:off x="7499350" y="2781300"/>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973" name="Google Shape;1973;p125"/>
          <p:cNvSpPr/>
          <p:nvPr/>
        </p:nvSpPr>
        <p:spPr>
          <a:xfrm>
            <a:off x="8593137" y="2781300"/>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974" name="Google Shape;1974;p125"/>
          <p:cNvSpPr/>
          <p:nvPr/>
        </p:nvSpPr>
        <p:spPr>
          <a:xfrm>
            <a:off x="849312" y="278130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grpSp>
        <p:nvGrpSpPr>
          <p:cNvPr id="1975" name="Google Shape;1975;p125"/>
          <p:cNvGrpSpPr/>
          <p:nvPr/>
        </p:nvGrpSpPr>
        <p:grpSpPr>
          <a:xfrm>
            <a:off x="849312" y="3328987"/>
            <a:ext cx="8550275" cy="608012"/>
            <a:chOff x="644" y="1153"/>
            <a:chExt cx="4972" cy="383"/>
          </a:xfrm>
        </p:grpSpPr>
        <p:sp>
          <p:nvSpPr>
            <p:cNvPr id="1976" name="Google Shape;1976;p12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77" name="Google Shape;1977;p12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78" name="Google Shape;1978;p12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979" name="Google Shape;1979;p12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80" name="Google Shape;1980;p12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81" name="Google Shape;1981;p12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82" name="Google Shape;1982;p12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1983" name="Google Shape;1983;p12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1984" name="Google Shape;1984;p125"/>
          <p:cNvSpPr txBox="1"/>
          <p:nvPr/>
        </p:nvSpPr>
        <p:spPr>
          <a:xfrm>
            <a:off x="920750" y="4581525"/>
            <a:ext cx="5616575"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Thực hiện với r= 5,4,3,2 ta được</a:t>
            </a:r>
            <a:endParaRPr/>
          </a:p>
        </p:txBody>
      </p:sp>
      <p:sp>
        <p:nvSpPr>
          <p:cNvPr id="1985" name="Google Shape;1985;p125"/>
          <p:cNvSpPr/>
          <p:nvPr/>
        </p:nvSpPr>
        <p:spPr>
          <a:xfrm>
            <a:off x="2171700" y="5445125"/>
            <a:ext cx="792162"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86" name="Google Shape;1986;p125"/>
          <p:cNvSpPr/>
          <p:nvPr/>
        </p:nvSpPr>
        <p:spPr>
          <a:xfrm>
            <a:off x="3281362" y="5445125"/>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87" name="Google Shape;1987;p125"/>
          <p:cNvSpPr/>
          <p:nvPr/>
        </p:nvSpPr>
        <p:spPr>
          <a:xfrm>
            <a:off x="4389437" y="5445125"/>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88" name="Google Shape;1988;p125"/>
          <p:cNvSpPr/>
          <p:nvPr/>
        </p:nvSpPr>
        <p:spPr>
          <a:xfrm>
            <a:off x="5499100" y="5445125"/>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1989" name="Google Shape;1989;p125"/>
          <p:cNvSpPr/>
          <p:nvPr/>
        </p:nvSpPr>
        <p:spPr>
          <a:xfrm>
            <a:off x="6605587" y="5445125"/>
            <a:ext cx="792162"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1990" name="Google Shape;1990;p125"/>
          <p:cNvSpPr/>
          <p:nvPr/>
        </p:nvSpPr>
        <p:spPr>
          <a:xfrm>
            <a:off x="7715250" y="5445125"/>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1991" name="Google Shape;1991;p125"/>
          <p:cNvSpPr/>
          <p:nvPr/>
        </p:nvSpPr>
        <p:spPr>
          <a:xfrm>
            <a:off x="8809037" y="5445125"/>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1992" name="Google Shape;1992;p125"/>
          <p:cNvSpPr/>
          <p:nvPr/>
        </p:nvSpPr>
        <p:spPr>
          <a:xfrm>
            <a:off x="1065212" y="5445125"/>
            <a:ext cx="790575" cy="617537"/>
          </a:xfrm>
          <a:prstGeom prst="ellipse">
            <a:avLst/>
          </a:prstGeom>
          <a:gradFill>
            <a:gsLst>
              <a:gs pos="0">
                <a:schemeClr val="lt1"/>
              </a:gs>
              <a:gs pos="100000">
                <a:srgbClr val="FF0000">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1993" name="Google Shape;1993;p125"/>
          <p:cNvGrpSpPr/>
          <p:nvPr/>
        </p:nvGrpSpPr>
        <p:grpSpPr>
          <a:xfrm>
            <a:off x="1065212" y="5992812"/>
            <a:ext cx="8550275" cy="608012"/>
            <a:chOff x="644" y="1153"/>
            <a:chExt cx="4972" cy="383"/>
          </a:xfrm>
        </p:grpSpPr>
        <p:sp>
          <p:nvSpPr>
            <p:cNvPr id="1994" name="Google Shape;1994;p12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1995" name="Google Shape;1995;p12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1996" name="Google Shape;1996;p12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1997" name="Google Shape;1997;p12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1998" name="Google Shape;1998;p12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1999" name="Google Shape;1999;p12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000" name="Google Shape;2000;p12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001" name="Google Shape;2001;p12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5" name="Shape 2005"/>
        <p:cNvGrpSpPr/>
        <p:nvPr/>
      </p:nvGrpSpPr>
      <p:grpSpPr>
        <a:xfrm>
          <a:off x="0" y="0"/>
          <a:ext cx="0" cy="0"/>
          <a:chOff x="0" y="0"/>
          <a:chExt cx="0" cy="0"/>
        </a:xfrm>
      </p:grpSpPr>
      <p:sp>
        <p:nvSpPr>
          <p:cNvPr id="2006" name="Google Shape;2006;p126"/>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Cài Đặt Thuật Toán</a:t>
            </a:r>
            <a:endParaRPr/>
          </a:p>
        </p:txBody>
      </p:sp>
      <p:sp>
        <p:nvSpPr>
          <p:cNvPr id="2007" name="Google Shape;2007;p126"/>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Hiệu chỉnh a</a:t>
            </a:r>
            <a:r>
              <a:rPr b="0" baseline="-25000" i="0" lang="en-US" sz="2800" u="none">
                <a:solidFill>
                  <a:schemeClr val="dk1"/>
                </a:solidFill>
                <a:latin typeface="Arial"/>
                <a:ea typeface="Arial"/>
                <a:cs typeface="Arial"/>
                <a:sym typeface="Arial"/>
              </a:rPr>
              <a:t>l</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l</a:t>
            </a:r>
            <a:r>
              <a:rPr b="0" i="0" lang="en-US" sz="2800" u="none">
                <a:solidFill>
                  <a:schemeClr val="dk1"/>
                </a:solidFill>
                <a:latin typeface="Arial"/>
                <a:ea typeface="Arial"/>
                <a:cs typeface="Arial"/>
                <a:sym typeface="Arial"/>
              </a:rPr>
              <a:t>+</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r </a:t>
            </a:r>
            <a:r>
              <a:rPr b="0" i="0" lang="en-US" sz="2800" u="none">
                <a:solidFill>
                  <a:schemeClr val="dk1"/>
                </a:solidFill>
                <a:latin typeface="Arial"/>
                <a:ea typeface="Arial"/>
                <a:cs typeface="Arial"/>
                <a:sym typeface="Arial"/>
              </a:rPr>
              <a:t>thành Heap</a:t>
            </a:r>
            <a:endParaRPr/>
          </a:p>
          <a:p>
            <a:pPr indent="-446087" lvl="1" marL="1023937" rtl="0" algn="l">
              <a:lnSpc>
                <a:spcPct val="90000"/>
              </a:lnSpc>
              <a:spcBef>
                <a:spcPts val="560"/>
              </a:spcBef>
              <a:spcAft>
                <a:spcPts val="0"/>
              </a:spcAft>
              <a:buClr>
                <a:srgbClr val="0000FF"/>
              </a:buClr>
              <a:buSzPts val="2800"/>
              <a:buNone/>
            </a:pPr>
            <a:r>
              <a:rPr b="0" i="0" lang="en-US" sz="2800" u="none">
                <a:solidFill>
                  <a:srgbClr val="0000FF"/>
                </a:solidFill>
                <a:latin typeface="Arial"/>
                <a:ea typeface="Arial"/>
                <a:cs typeface="Arial"/>
                <a:sym typeface="Arial"/>
              </a:rPr>
              <a:t>void</a:t>
            </a:r>
            <a:r>
              <a:rPr b="0" i="0" lang="en-US" sz="2800" u="none">
                <a:solidFill>
                  <a:schemeClr val="dk1"/>
                </a:solidFill>
                <a:latin typeface="Arial"/>
                <a:ea typeface="Arial"/>
                <a:cs typeface="Arial"/>
                <a:sym typeface="Arial"/>
              </a:rPr>
              <a:t> shift(</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a[],</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l,</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r)</a:t>
            </a:r>
            <a:endParaRPr/>
          </a:p>
          <a:p>
            <a:pPr indent="-446087" lvl="1" marL="1023937"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a:t>
            </a:r>
            <a:endParaRPr/>
          </a:p>
          <a:p>
            <a:pPr indent="-446087" lvl="1" marL="1023937"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x,i,j;</a:t>
            </a:r>
            <a:endParaRPr/>
          </a:p>
          <a:p>
            <a:pPr indent="-446087" lvl="1" marL="1023937"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i=l;</a:t>
            </a:r>
            <a:endParaRPr/>
          </a:p>
          <a:p>
            <a:pPr indent="-446087" lvl="1" marL="1023937"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j=2*i+1;</a:t>
            </a:r>
            <a:endParaRPr/>
          </a:p>
          <a:p>
            <a:pPr indent="-446087" lvl="1" marL="1023937"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x=a[i];</a:t>
            </a:r>
            <a:endParaRPr/>
          </a:p>
          <a:p>
            <a:pPr indent="-446087" lvl="1" marL="1023937"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while</a:t>
            </a:r>
            <a:r>
              <a:rPr b="0" i="0" lang="en-US" sz="2800" u="none">
                <a:solidFill>
                  <a:schemeClr val="dk1"/>
                </a:solidFill>
                <a:latin typeface="Arial"/>
                <a:ea typeface="Arial"/>
                <a:cs typeface="Arial"/>
                <a:sym typeface="Arial"/>
              </a:rPr>
              <a:t>(j&lt;=r)</a:t>
            </a:r>
            <a:endParaRPr/>
          </a:p>
          <a:p>
            <a:pPr indent="-446087" lvl="1" marL="1023937"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(j&lt;r)</a:t>
            </a:r>
            <a:endParaRPr/>
          </a:p>
          <a:p>
            <a:pPr indent="-446087" lvl="1" marL="1023937"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(a[j]&lt;a[j+1]) </a:t>
            </a:r>
            <a:r>
              <a:rPr b="0" i="0" lang="en-US" sz="2000" u="none">
                <a:solidFill>
                  <a:schemeClr val="dk1"/>
                </a:solidFill>
                <a:latin typeface="Arial"/>
                <a:ea typeface="Arial"/>
                <a:cs typeface="Arial"/>
                <a:sym typeface="Arial"/>
              </a:rPr>
              <a:t>//tim phan tu lon nhat a[j] va a[j+1]</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sp>
        <p:nvSpPr>
          <p:cNvPr id="2012" name="Google Shape;2012;p127"/>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Cài Đặt Thuật Toán</a:t>
            </a:r>
            <a:endParaRPr/>
          </a:p>
        </p:txBody>
      </p:sp>
      <p:sp>
        <p:nvSpPr>
          <p:cNvPr id="2013" name="Google Shape;2013;p127"/>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		j++; </a:t>
            </a:r>
            <a:r>
              <a:rPr b="0" i="0" lang="en-US" sz="2000" u="none">
                <a:solidFill>
                  <a:schemeClr val="dk1"/>
                </a:solidFill>
                <a:latin typeface="Arial"/>
                <a:ea typeface="Arial"/>
                <a:cs typeface="Arial"/>
                <a:sym typeface="Arial"/>
              </a:rPr>
              <a:t>//luu chi so cua phan tu nho nhat trong hai phan tu</a:t>
            </a:r>
            <a:r>
              <a:rPr b="0"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(a[j]&lt;=x) return;</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else</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	a[i]=a[j];</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a[j]=x;</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i=j;</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j=2*i+1;</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x=a[i];</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a:p>
            <a:pPr indent="-446087" lvl="1" marL="1023937"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a:t>
            </a:r>
            <a:endParaRPr/>
          </a:p>
          <a:p>
            <a:pPr indent="-446087" lvl="1" marL="1023937"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sp>
        <p:nvSpPr>
          <p:cNvPr id="2018" name="Google Shape;2018;p128"/>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Cài Đặt Thuật Toán</a:t>
            </a:r>
            <a:endParaRPr/>
          </a:p>
        </p:txBody>
      </p:sp>
      <p:sp>
        <p:nvSpPr>
          <p:cNvPr id="2019" name="Google Shape;2019;p128"/>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Hiệu chỉnh a</a:t>
            </a:r>
            <a:r>
              <a:rPr b="0" baseline="-25000" i="0" lang="en-US" sz="2800" u="none">
                <a:solidFill>
                  <a:schemeClr val="dk1"/>
                </a:solidFill>
                <a:latin typeface="Arial"/>
                <a:ea typeface="Arial"/>
                <a:cs typeface="Arial"/>
                <a:sym typeface="Arial"/>
              </a:rPr>
              <a:t>0</a:t>
            </a:r>
            <a:r>
              <a:rPr b="0" i="0"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n-1</a:t>
            </a:r>
            <a:r>
              <a:rPr b="0" i="0" lang="en-US" sz="2800" u="none">
                <a:solidFill>
                  <a:schemeClr val="dk1"/>
                </a:solidFill>
                <a:latin typeface="Arial"/>
                <a:ea typeface="Arial"/>
                <a:cs typeface="Arial"/>
                <a:sym typeface="Arial"/>
              </a:rPr>
              <a:t>Thành Heap</a:t>
            </a:r>
            <a:endParaRPr/>
          </a:p>
          <a:p>
            <a:pPr indent="-463550" lvl="0" marL="463550" rtl="0" algn="l">
              <a:lnSpc>
                <a:spcPct val="100000"/>
              </a:lnSpc>
              <a:spcBef>
                <a:spcPts val="560"/>
              </a:spcBef>
              <a:spcAft>
                <a:spcPts val="0"/>
              </a:spcAft>
              <a:buClr>
                <a:schemeClr val="dk1"/>
              </a:buClr>
              <a:buSzPts val="2800"/>
              <a:buNone/>
            </a:pPr>
            <a:r>
              <a:t/>
            </a:r>
            <a:endParaRPr b="0" i="0" sz="2800" u="none">
              <a:solidFill>
                <a:schemeClr val="dk1"/>
              </a:solidFill>
              <a:latin typeface="Arial"/>
              <a:ea typeface="Arial"/>
              <a:cs typeface="Arial"/>
              <a:sym typeface="Arial"/>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void </a:t>
            </a:r>
            <a:r>
              <a:rPr b="0" i="0" lang="en-US" sz="2800" u="none">
                <a:solidFill>
                  <a:schemeClr val="dk1"/>
                </a:solidFill>
                <a:latin typeface="Arial"/>
                <a:ea typeface="Arial"/>
                <a:cs typeface="Arial"/>
                <a:sym typeface="Arial"/>
              </a:rPr>
              <a:t>CreateHeap(int a[],int n)</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l;</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l=n/2-1;</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while</a:t>
            </a:r>
            <a:r>
              <a:rPr b="0" i="0" lang="en-US" sz="2800" u="none">
                <a:solidFill>
                  <a:schemeClr val="dk1"/>
                </a:solidFill>
                <a:latin typeface="Arial"/>
                <a:ea typeface="Arial"/>
                <a:cs typeface="Arial"/>
                <a:sym typeface="Arial"/>
              </a:rPr>
              <a:t>(l&gt;=0)</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shift(a,l,n-1);</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l=l-1;</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3" name="Shape 2023"/>
        <p:cNvGrpSpPr/>
        <p:nvPr/>
      </p:nvGrpSpPr>
      <p:grpSpPr>
        <a:xfrm>
          <a:off x="0" y="0"/>
          <a:ext cx="0" cy="0"/>
          <a:chOff x="0" y="0"/>
          <a:chExt cx="0" cy="0"/>
        </a:xfrm>
      </p:grpSpPr>
      <p:sp>
        <p:nvSpPr>
          <p:cNvPr id="2024" name="Google Shape;2024;p129"/>
          <p:cNvSpPr txBox="1"/>
          <p:nvPr>
            <p:ph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Cài Đặt Thuật Toán</a:t>
            </a:r>
            <a:endParaRPr/>
          </a:p>
        </p:txBody>
      </p:sp>
      <p:sp>
        <p:nvSpPr>
          <p:cNvPr id="2025" name="Google Shape;2025;p129"/>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8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Hàm HeapSort</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void</a:t>
            </a:r>
            <a:r>
              <a:rPr b="0" i="0" lang="en-US" sz="2800" u="none">
                <a:solidFill>
                  <a:schemeClr val="dk1"/>
                </a:solidFill>
                <a:latin typeface="Arial"/>
                <a:ea typeface="Arial"/>
                <a:cs typeface="Arial"/>
                <a:sym typeface="Arial"/>
              </a:rPr>
              <a:t> HeapSort(</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a</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n)</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	</a:t>
            </a:r>
            <a:r>
              <a:rPr b="0" i="0" lang="en-US" sz="2800" u="none">
                <a:solidFill>
                  <a:srgbClr val="0000FF"/>
                </a:solidFill>
                <a:latin typeface="Arial"/>
                <a:ea typeface="Arial"/>
                <a:cs typeface="Arial"/>
                <a:sym typeface="Arial"/>
              </a:rPr>
              <a:t>int</a:t>
            </a:r>
            <a:r>
              <a:rPr b="0" i="0" lang="en-US" sz="2800" u="none">
                <a:solidFill>
                  <a:schemeClr val="dk1"/>
                </a:solidFill>
                <a:latin typeface="Arial"/>
                <a:ea typeface="Arial"/>
                <a:cs typeface="Arial"/>
                <a:sym typeface="Arial"/>
              </a:rPr>
              <a:t> r;</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CreateHeap(a,n);</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r=n-1;</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while</a:t>
            </a:r>
            <a:r>
              <a:rPr b="0" i="0" lang="en-US" sz="2800" u="none">
                <a:solidFill>
                  <a:schemeClr val="dk1"/>
                </a:solidFill>
                <a:latin typeface="Arial"/>
                <a:ea typeface="Arial"/>
                <a:cs typeface="Arial"/>
                <a:sym typeface="Arial"/>
              </a:rPr>
              <a:t>(r&gt;0)</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Swap(a[0],a[r]);</a:t>
            </a:r>
            <a:r>
              <a:rPr b="0" i="0" lang="en-US" sz="2400" u="none">
                <a:solidFill>
                  <a:schemeClr val="dk1"/>
                </a:solidFill>
                <a:latin typeface="Arial"/>
                <a:ea typeface="Arial"/>
                <a:cs typeface="Arial"/>
                <a:sym typeface="Arial"/>
              </a:rPr>
              <a:t>//a[0] la nút gốc</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r--;</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0" i="0" lang="en-US" sz="2800" u="none">
                <a:solidFill>
                  <a:srgbClr val="0000FF"/>
                </a:solidFill>
                <a:latin typeface="Arial"/>
                <a:ea typeface="Arial"/>
                <a:cs typeface="Arial"/>
                <a:sym typeface="Arial"/>
              </a:rPr>
              <a:t>if</a:t>
            </a:r>
            <a:r>
              <a:rPr b="0" i="0" lang="en-US" sz="2800" u="none">
                <a:solidFill>
                  <a:schemeClr val="dk1"/>
                </a:solidFill>
                <a:latin typeface="Arial"/>
                <a:ea typeface="Arial"/>
                <a:cs typeface="Arial"/>
                <a:sym typeface="Arial"/>
              </a:rPr>
              <a:t>(r&gt;0)</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shift(a,0,r);</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endParaRPr/>
          </a:p>
          <a:p>
            <a:pPr indent="-463550" lvl="0" marL="463550" rtl="0" algn="l">
              <a:lnSpc>
                <a:spcPct val="8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13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Các Thuật Toán Sắp Xếp</a:t>
            </a:r>
            <a:endParaRPr/>
          </a:p>
        </p:txBody>
      </p:sp>
      <p:sp>
        <p:nvSpPr>
          <p:cNvPr id="2031" name="Google Shape;2031;p130"/>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	1. Đổi chỗ trực tiếp – Interchange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2. Chọn trực tiếp – Selection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3. Nổi bọt – Bubble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4. Shaker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5. Chèn trực tiếp –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6. Chèn nhị phân – Binary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7. Shell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8. Heap Sort</a:t>
            </a:r>
            <a:r>
              <a:rPr b="1"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9. Quick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10. Merge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11. Radix Sort</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5" name="Shape 2035"/>
        <p:cNvGrpSpPr/>
        <p:nvPr/>
      </p:nvGrpSpPr>
      <p:grpSpPr>
        <a:xfrm>
          <a:off x="0" y="0"/>
          <a:ext cx="0" cy="0"/>
          <a:chOff x="0" y="0"/>
          <a:chExt cx="0" cy="0"/>
        </a:xfrm>
      </p:grpSpPr>
      <p:sp>
        <p:nvSpPr>
          <p:cNvPr id="2036" name="Google Shape;2036;p13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a:t>
            </a:r>
            <a:endParaRPr/>
          </a:p>
        </p:txBody>
      </p:sp>
      <p:sp>
        <p:nvSpPr>
          <p:cNvPr id="2037" name="Google Shape;2037;p131"/>
          <p:cNvSpPr txBox="1"/>
          <p:nvPr>
            <p:ph idx="1" type="body"/>
          </p:nvPr>
        </p:nvSpPr>
        <p:spPr>
          <a:xfrm>
            <a:off x="1235037" y="1009750"/>
            <a:ext cx="8140800" cy="499590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Ý tưởng:</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Giải thuật QuickSort sắp xếp dãy a1, a2 ..., aN dựa trên</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việc phân hoạch dãy ban đầu thành 3 phần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Phần 1: Gồm các phần tử có giá trị bé hơn</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x</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Phần 2: Gồm các phần tử có giá trị bằng x</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Phần 3: Gồm các phần tử có giá trị lớn</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hơn x</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với x là giá trị của một phần tử tùy ý trong dãy ban</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đầu.</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Quick Sort - Ý Tưởng</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Sau khi thực hiện phân hoạch, dãy ban đầu được phân</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thành 3 đoạn:</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1. ak ≤ x , với k = 1 .. j</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2. ak = x , với k = j+1 .. i-1</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3. ak ≥ x , với k = i..N</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Đoạn thứ 2 đã có thứ tự.</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Nếu các đoạn 1 và 3 chỉ có 1 phần tử : đã có thứ tự</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 khi đó dãy con ban đầu đã được sắp.</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Quick Sort – Ý Tưởng</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Đoạn thứ 2 đã có thứ tự.</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Nếu các đoạn 1 và 3 có nhiều hơn 1 phần tử thì dãy</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ban đầu chỉ có thứ tự khi các đoạn 1, 3 được sắp.</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Để sắp xếp các đoạn 1 và 3, ta lần lượt tiến hành việc</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phân hoạch từng dãy con theo cùng phương pháp</a:t>
            </a:r>
            <a:endParaRPr>
              <a:solidFill>
                <a:srgbClr val="000000"/>
              </a:solidFill>
            </a:endParaRPr>
          </a:p>
          <a:p>
            <a:pPr indent="-463550" lvl="0" marL="463550" rtl="0" algn="l">
              <a:lnSpc>
                <a:spcPct val="90000"/>
              </a:lnSpc>
              <a:spcBef>
                <a:spcPts val="1440"/>
              </a:spcBef>
              <a:spcAft>
                <a:spcPts val="0"/>
              </a:spcAft>
              <a:buClr>
                <a:schemeClr val="dk1"/>
              </a:buClr>
              <a:buSzPts val="1100"/>
              <a:buFont typeface="Arial"/>
              <a:buNone/>
            </a:pPr>
            <a:r>
              <a:rPr lang="en-US">
                <a:solidFill>
                  <a:srgbClr val="000000"/>
                </a:solidFill>
              </a:rPr>
              <a:t>phân hoạch dãy ban đầu vừa</a:t>
            </a:r>
            <a:endParaRPr>
              <a:solidFill>
                <a:srgbClr val="000000"/>
              </a:solidFill>
            </a:endParaRPr>
          </a:p>
          <a:p>
            <a:pPr indent="-463550" lvl="0" marL="463550" rtl="0" algn="l">
              <a:lnSpc>
                <a:spcPct val="90000"/>
              </a:lnSpc>
              <a:spcBef>
                <a:spcPts val="1440"/>
              </a:spcBef>
              <a:spcAft>
                <a:spcPts val="0"/>
              </a:spcAft>
              <a:buClr>
                <a:schemeClr val="dk1"/>
              </a:buClr>
              <a:buSzPts val="2400"/>
              <a:buNone/>
            </a:pPr>
            <a:r>
              <a:t/>
            </a:r>
            <a:endParaRPr>
              <a:solidFill>
                <a:srgbClr val="000000"/>
              </a:solidFil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1" name="Shape 2041"/>
        <p:cNvGrpSpPr/>
        <p:nvPr/>
      </p:nvGrpSpPr>
      <p:grpSpPr>
        <a:xfrm>
          <a:off x="0" y="0"/>
          <a:ext cx="0" cy="0"/>
          <a:chOff x="0" y="0"/>
          <a:chExt cx="0" cy="0"/>
        </a:xfrm>
      </p:grpSpPr>
      <p:sp>
        <p:nvSpPr>
          <p:cNvPr id="2042" name="Google Shape;2042;p13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Ý Tưởng</a:t>
            </a:r>
            <a:endParaRPr/>
          </a:p>
        </p:txBody>
      </p:sp>
      <p:sp>
        <p:nvSpPr>
          <p:cNvPr id="2043" name="Google Shape;2043;p132"/>
          <p:cNvSpPr txBox="1"/>
          <p:nvPr>
            <p:ph idx="1" type="body"/>
          </p:nvPr>
        </p:nvSpPr>
        <p:spPr>
          <a:xfrm>
            <a:off x="992187" y="1504950"/>
            <a:ext cx="8569200" cy="27735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Sau khi thực hiện phân hoạch, dãy ban đầu được phân thành 3 đoạn:</a:t>
            </a:r>
            <a:endParaRPr/>
          </a:p>
          <a:p>
            <a:pPr indent="-446087" lvl="1" marL="1023937" rtl="0" algn="l">
              <a:lnSpc>
                <a:spcPct val="100000"/>
              </a:lnSpc>
              <a:spcBef>
                <a:spcPts val="1680"/>
              </a:spcBef>
              <a:spcAft>
                <a:spcPts val="0"/>
              </a:spcAft>
              <a:buClr>
                <a:schemeClr val="dk1"/>
              </a:buClr>
              <a:buSzPts val="2800"/>
              <a:buChar char="•"/>
            </a:pPr>
            <a:r>
              <a:rPr b="0" i="0" lang="en-US" sz="2800" u="none">
                <a:solidFill>
                  <a:schemeClr val="dk1"/>
                </a:solidFill>
                <a:latin typeface="Arial"/>
                <a:ea typeface="Arial"/>
                <a:cs typeface="Arial"/>
                <a:sym typeface="Arial"/>
              </a:rPr>
              <a:t>1. ak  ≤ x , với k = 1 .. j</a:t>
            </a:r>
            <a:endParaRPr/>
          </a:p>
          <a:p>
            <a:pPr indent="-446087" lvl="1" marL="1023937" rtl="0" algn="l">
              <a:lnSpc>
                <a:spcPct val="100000"/>
              </a:lnSpc>
              <a:spcBef>
                <a:spcPts val="1680"/>
              </a:spcBef>
              <a:spcAft>
                <a:spcPts val="0"/>
              </a:spcAft>
              <a:buClr>
                <a:schemeClr val="dk1"/>
              </a:buClr>
              <a:buSzPts val="2800"/>
              <a:buChar char="•"/>
            </a:pPr>
            <a:r>
              <a:rPr b="0" i="0" lang="en-US" sz="2800" u="none">
                <a:solidFill>
                  <a:schemeClr val="dk1"/>
                </a:solidFill>
                <a:latin typeface="Arial"/>
                <a:ea typeface="Arial"/>
                <a:cs typeface="Arial"/>
                <a:sym typeface="Arial"/>
              </a:rPr>
              <a:t>2. ak  = x , với k =  j+1 .. i-1</a:t>
            </a:r>
            <a:endParaRPr/>
          </a:p>
          <a:p>
            <a:pPr indent="-446087" lvl="1" marL="1023937" rtl="0" algn="l">
              <a:lnSpc>
                <a:spcPct val="100000"/>
              </a:lnSpc>
              <a:spcBef>
                <a:spcPts val="1680"/>
              </a:spcBef>
              <a:spcAft>
                <a:spcPts val="0"/>
              </a:spcAft>
              <a:buClr>
                <a:schemeClr val="dk1"/>
              </a:buClr>
              <a:buSzPts val="2800"/>
              <a:buChar char="•"/>
            </a:pPr>
            <a:r>
              <a:rPr b="0" i="0" lang="en-US" sz="2800" u="none">
                <a:solidFill>
                  <a:schemeClr val="dk1"/>
                </a:solidFill>
                <a:latin typeface="Arial"/>
                <a:ea typeface="Arial"/>
                <a:cs typeface="Arial"/>
                <a:sym typeface="Arial"/>
              </a:rPr>
              <a:t>3. ak  ≥ x , với k =  i..N</a:t>
            </a:r>
            <a:endParaRPr/>
          </a:p>
          <a:p>
            <a:pPr indent="-285750" lvl="0" marL="463550" rtl="0" algn="l">
              <a:spcBef>
                <a:spcPts val="56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grpSp>
        <p:nvGrpSpPr>
          <p:cNvPr id="2044" name="Google Shape;2044;p132"/>
          <p:cNvGrpSpPr/>
          <p:nvPr/>
        </p:nvGrpSpPr>
        <p:grpSpPr>
          <a:xfrm>
            <a:off x="1752600" y="4941887"/>
            <a:ext cx="6800850" cy="1006475"/>
            <a:chOff x="1104" y="1344"/>
            <a:chExt cx="3564" cy="410"/>
          </a:xfrm>
        </p:grpSpPr>
        <p:pic>
          <p:nvPicPr>
            <p:cNvPr descr="QuickSort00" id="2045" name="Google Shape;2045;p132"/>
            <p:cNvPicPr preferRelativeResize="0"/>
            <p:nvPr/>
          </p:nvPicPr>
          <p:blipFill rotWithShape="1">
            <a:blip r:embed="rId3">
              <a:alphaModFix/>
            </a:blip>
            <a:srcRect b="0" l="0" r="0" t="0"/>
            <a:stretch/>
          </p:blipFill>
          <p:spPr>
            <a:xfrm>
              <a:off x="1104" y="1344"/>
              <a:ext cx="3564" cy="410"/>
            </a:xfrm>
            <a:prstGeom prst="rect">
              <a:avLst/>
            </a:prstGeom>
            <a:noFill/>
            <a:ln>
              <a:noFill/>
            </a:ln>
          </p:spPr>
        </p:pic>
        <p:cxnSp>
          <p:nvCxnSpPr>
            <p:cNvPr id="2046" name="Google Shape;2046;p132"/>
            <p:cNvCxnSpPr/>
            <p:nvPr/>
          </p:nvCxnSpPr>
          <p:spPr>
            <a:xfrm>
              <a:off x="1698" y="1555"/>
              <a:ext cx="78" cy="47"/>
            </a:xfrm>
            <a:prstGeom prst="straightConnector1">
              <a:avLst/>
            </a:prstGeom>
            <a:noFill/>
            <a:ln cap="flat" cmpd="sng" w="28575">
              <a:solidFill>
                <a:schemeClr val="dk1"/>
              </a:solidFill>
              <a:prstDash val="solid"/>
              <a:miter lim="800000"/>
              <a:headEnd len="med" w="med" type="none"/>
              <a:tailEnd len="med" w="med" type="none"/>
            </a:ln>
          </p:spPr>
        </p:cxnSp>
        <p:cxnSp>
          <p:nvCxnSpPr>
            <p:cNvPr id="2047" name="Google Shape;2047;p132"/>
            <p:cNvCxnSpPr/>
            <p:nvPr/>
          </p:nvCxnSpPr>
          <p:spPr>
            <a:xfrm flipH="1">
              <a:off x="4070" y="1565"/>
              <a:ext cx="68" cy="39"/>
            </a:xfrm>
            <a:prstGeom prst="straightConnector1">
              <a:avLst/>
            </a:prstGeom>
            <a:noFill/>
            <a:ln cap="flat" cmpd="sng" w="28575">
              <a:solidFill>
                <a:schemeClr val="dk1"/>
              </a:solidFill>
              <a:prstDash val="solid"/>
              <a:miter lim="800000"/>
              <a:headEnd len="med" w="med" type="none"/>
              <a:tailEnd len="med" w="med" type="none"/>
            </a:ln>
          </p:spPr>
        </p:cxnSp>
      </p:gr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sp>
        <p:nvSpPr>
          <p:cNvPr id="2052" name="Google Shape;2052;p133"/>
          <p:cNvSpPr txBox="1"/>
          <p:nvPr>
            <p:ph idx="1" type="body"/>
          </p:nvPr>
        </p:nvSpPr>
        <p:spPr>
          <a:xfrm>
            <a:off x="1230312" y="3078162"/>
            <a:ext cx="8093075" cy="294640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Đoạn thứ 2 đã có thứ tự. </a:t>
            </a:r>
            <a:endParaRPr/>
          </a:p>
          <a:p>
            <a:pPr indent="-463550" lvl="0" marL="463550" rtl="0" algn="l">
              <a:lnSpc>
                <a:spcPct val="9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Nếu các đoạn 1 và 3 chỉ có 1 phần tử  : đã có thứ tự</a:t>
            </a:r>
            <a:endParaRPr/>
          </a:p>
          <a:p>
            <a:pPr indent="-463550" lvl="0" marL="463550" rtl="0" algn="l">
              <a:lnSpc>
                <a:spcPct val="90000"/>
              </a:lnSpc>
              <a:spcBef>
                <a:spcPts val="1440"/>
              </a:spcBef>
              <a:spcAft>
                <a:spcPts val="0"/>
              </a:spcAft>
              <a:buClr>
                <a:schemeClr val="dk1"/>
              </a:buClr>
              <a:buSzPts val="2400"/>
              <a:buNone/>
            </a:pPr>
            <a:r>
              <a:rPr b="0" i="0" lang="en-US" sz="2400" u="none">
                <a:solidFill>
                  <a:schemeClr val="dk1"/>
                </a:solidFill>
                <a:latin typeface="Arial"/>
                <a:ea typeface="Arial"/>
                <a:cs typeface="Arial"/>
                <a:sym typeface="Arial"/>
              </a:rPr>
              <a:t>	🡪 khi đó dãy con ban đầu đã được sắp. </a:t>
            </a:r>
            <a:endParaRPr/>
          </a:p>
        </p:txBody>
      </p:sp>
      <p:grpSp>
        <p:nvGrpSpPr>
          <p:cNvPr id="2053" name="Google Shape;2053;p133"/>
          <p:cNvGrpSpPr/>
          <p:nvPr/>
        </p:nvGrpSpPr>
        <p:grpSpPr>
          <a:xfrm>
            <a:off x="1898650" y="1641475"/>
            <a:ext cx="6149975" cy="923925"/>
            <a:chOff x="1104" y="1344"/>
            <a:chExt cx="3564" cy="410"/>
          </a:xfrm>
        </p:grpSpPr>
        <p:pic>
          <p:nvPicPr>
            <p:cNvPr descr="QuickSort00" id="2054" name="Google Shape;2054;p133"/>
            <p:cNvPicPr preferRelativeResize="0"/>
            <p:nvPr/>
          </p:nvPicPr>
          <p:blipFill rotWithShape="1">
            <a:blip r:embed="rId3">
              <a:alphaModFix/>
            </a:blip>
            <a:srcRect b="0" l="0" r="0" t="0"/>
            <a:stretch/>
          </p:blipFill>
          <p:spPr>
            <a:xfrm>
              <a:off x="1104" y="1344"/>
              <a:ext cx="3564" cy="410"/>
            </a:xfrm>
            <a:prstGeom prst="rect">
              <a:avLst/>
            </a:prstGeom>
            <a:noFill/>
            <a:ln>
              <a:noFill/>
            </a:ln>
          </p:spPr>
        </p:pic>
        <p:cxnSp>
          <p:nvCxnSpPr>
            <p:cNvPr id="2055" name="Google Shape;2055;p133"/>
            <p:cNvCxnSpPr/>
            <p:nvPr/>
          </p:nvCxnSpPr>
          <p:spPr>
            <a:xfrm>
              <a:off x="1698" y="1555"/>
              <a:ext cx="78" cy="47"/>
            </a:xfrm>
            <a:prstGeom prst="straightConnector1">
              <a:avLst/>
            </a:prstGeom>
            <a:noFill/>
            <a:ln cap="flat" cmpd="sng" w="28575">
              <a:solidFill>
                <a:schemeClr val="dk1"/>
              </a:solidFill>
              <a:prstDash val="solid"/>
              <a:miter lim="800000"/>
              <a:headEnd len="med" w="med" type="none"/>
              <a:tailEnd len="med" w="med" type="none"/>
            </a:ln>
          </p:spPr>
        </p:cxnSp>
        <p:cxnSp>
          <p:nvCxnSpPr>
            <p:cNvPr id="2056" name="Google Shape;2056;p133"/>
            <p:cNvCxnSpPr/>
            <p:nvPr/>
          </p:nvCxnSpPr>
          <p:spPr>
            <a:xfrm flipH="1">
              <a:off x="4070" y="1565"/>
              <a:ext cx="68" cy="39"/>
            </a:xfrm>
            <a:prstGeom prst="straightConnector1">
              <a:avLst/>
            </a:prstGeom>
            <a:noFill/>
            <a:ln cap="flat" cmpd="sng" w="28575">
              <a:solidFill>
                <a:schemeClr val="dk1"/>
              </a:solidFill>
              <a:prstDash val="solid"/>
              <a:miter lim="800000"/>
              <a:headEnd len="med" w="med" type="none"/>
              <a:tailEnd len="med" w="med" type="none"/>
            </a:ln>
          </p:spPr>
        </p:cxnSp>
      </p:grpSp>
      <p:sp>
        <p:nvSpPr>
          <p:cNvPr id="2057" name="Google Shape;2057;p13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Ý Tưởng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2">
                                            <p:txEl>
                                              <p:pRg end="0" st="0"/>
                                            </p:txEl>
                                          </p:spTgt>
                                        </p:tgtEl>
                                        <p:attrNameLst>
                                          <p:attrName>style.visibility</p:attrName>
                                        </p:attrNameLst>
                                      </p:cBhvr>
                                      <p:to>
                                        <p:strVal val="visible"/>
                                      </p:to>
                                    </p:set>
                                    <p:anim calcmode="lin" valueType="num">
                                      <p:cBhvr additive="base">
                                        <p:cTn dur="500"/>
                                        <p:tgtEl>
                                          <p:spTgt spid="20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2">
                                            <p:txEl>
                                              <p:pRg end="1" st="1"/>
                                            </p:txEl>
                                          </p:spTgt>
                                        </p:tgtEl>
                                        <p:attrNameLst>
                                          <p:attrName>style.visibility</p:attrName>
                                        </p:attrNameLst>
                                      </p:cBhvr>
                                      <p:to>
                                        <p:strVal val="visible"/>
                                      </p:to>
                                    </p:set>
                                    <p:anim calcmode="lin" valueType="num">
                                      <p:cBhvr additive="base">
                                        <p:cTn dur="500"/>
                                        <p:tgtEl>
                                          <p:spTgt spid="20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2">
                                            <p:txEl>
                                              <p:pRg end="2" st="2"/>
                                            </p:txEl>
                                          </p:spTgt>
                                        </p:tgtEl>
                                        <p:attrNameLst>
                                          <p:attrName>style.visibility</p:attrName>
                                        </p:attrNameLst>
                                      </p:cBhvr>
                                      <p:to>
                                        <p:strVal val="visible"/>
                                      </p:to>
                                    </p:set>
                                    <p:anim calcmode="lin" valueType="num">
                                      <p:cBhvr additive="base">
                                        <p:cTn dur="500"/>
                                        <p:tgtEl>
                                          <p:spTgt spid="20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Google Shape;2062;p134"/>
          <p:cNvSpPr txBox="1"/>
          <p:nvPr>
            <p:ph idx="1" type="body"/>
          </p:nvPr>
        </p:nvSpPr>
        <p:spPr>
          <a:xfrm>
            <a:off x="1230312" y="2684462"/>
            <a:ext cx="8093075" cy="3802062"/>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Đoạn thứ 2 đã có thứ tự. </a:t>
            </a:r>
            <a:endParaRPr/>
          </a:p>
          <a:p>
            <a:pPr indent="-463550" lvl="0" marL="463550" rtl="0" algn="l">
              <a:lnSpc>
                <a:spcPct val="9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Nếu các đoạn 1 và 3  có nhiều hơn 1 phần tử  thì dãy ban đầu chỉ có thứ tự khi các đoạn 1, 3 được sắp. </a:t>
            </a:r>
            <a:endParaRPr/>
          </a:p>
          <a:p>
            <a:pPr indent="-463550" lvl="0" marL="463550" rtl="0" algn="l">
              <a:lnSpc>
                <a:spcPct val="90000"/>
              </a:lnSpc>
              <a:spcBef>
                <a:spcPts val="144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Để sắp xếp các đoạn 1 và 3, ta lần lượt tiến hành việc phân hoạch từng dãy con theo cùng phương pháp phân hoạch dãy ban đầu vừa trình bày …</a:t>
            </a:r>
            <a:endParaRPr/>
          </a:p>
        </p:txBody>
      </p:sp>
      <p:grpSp>
        <p:nvGrpSpPr>
          <p:cNvPr id="2063" name="Google Shape;2063;p134"/>
          <p:cNvGrpSpPr/>
          <p:nvPr/>
        </p:nvGrpSpPr>
        <p:grpSpPr>
          <a:xfrm>
            <a:off x="1898650" y="1268412"/>
            <a:ext cx="6149975" cy="936625"/>
            <a:chOff x="1104" y="1344"/>
            <a:chExt cx="3564" cy="410"/>
          </a:xfrm>
        </p:grpSpPr>
        <p:pic>
          <p:nvPicPr>
            <p:cNvPr descr="QuickSort00" id="2064" name="Google Shape;2064;p134"/>
            <p:cNvPicPr preferRelativeResize="0"/>
            <p:nvPr/>
          </p:nvPicPr>
          <p:blipFill rotWithShape="1">
            <a:blip r:embed="rId3">
              <a:alphaModFix/>
            </a:blip>
            <a:srcRect b="0" l="0" r="0" t="0"/>
            <a:stretch/>
          </p:blipFill>
          <p:spPr>
            <a:xfrm>
              <a:off x="1104" y="1344"/>
              <a:ext cx="3564" cy="410"/>
            </a:xfrm>
            <a:prstGeom prst="rect">
              <a:avLst/>
            </a:prstGeom>
            <a:noFill/>
            <a:ln>
              <a:noFill/>
            </a:ln>
          </p:spPr>
        </p:pic>
        <p:cxnSp>
          <p:nvCxnSpPr>
            <p:cNvPr id="2065" name="Google Shape;2065;p134"/>
            <p:cNvCxnSpPr/>
            <p:nvPr/>
          </p:nvCxnSpPr>
          <p:spPr>
            <a:xfrm>
              <a:off x="1698" y="1555"/>
              <a:ext cx="78" cy="47"/>
            </a:xfrm>
            <a:prstGeom prst="straightConnector1">
              <a:avLst/>
            </a:prstGeom>
            <a:noFill/>
            <a:ln cap="flat" cmpd="sng" w="28575">
              <a:solidFill>
                <a:schemeClr val="dk1"/>
              </a:solidFill>
              <a:prstDash val="solid"/>
              <a:miter lim="800000"/>
              <a:headEnd len="med" w="med" type="none"/>
              <a:tailEnd len="med" w="med" type="none"/>
            </a:ln>
          </p:spPr>
        </p:cxnSp>
        <p:cxnSp>
          <p:nvCxnSpPr>
            <p:cNvPr id="2066" name="Google Shape;2066;p134"/>
            <p:cNvCxnSpPr/>
            <p:nvPr/>
          </p:nvCxnSpPr>
          <p:spPr>
            <a:xfrm flipH="1">
              <a:off x="4070" y="1565"/>
              <a:ext cx="68" cy="39"/>
            </a:xfrm>
            <a:prstGeom prst="straightConnector1">
              <a:avLst/>
            </a:prstGeom>
            <a:noFill/>
            <a:ln cap="flat" cmpd="sng" w="28575">
              <a:solidFill>
                <a:schemeClr val="dk1"/>
              </a:solidFill>
              <a:prstDash val="solid"/>
              <a:miter lim="800000"/>
              <a:headEnd len="med" w="med" type="none"/>
              <a:tailEnd len="med" w="med" type="none"/>
            </a:ln>
          </p:spPr>
        </p:cxnSp>
      </p:grpSp>
      <p:sp>
        <p:nvSpPr>
          <p:cNvPr id="2067" name="Google Shape;2067;p13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Ý Tưởng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2">
                                            <p:txEl>
                                              <p:pRg end="0" st="0"/>
                                            </p:txEl>
                                          </p:spTgt>
                                        </p:tgtEl>
                                        <p:attrNameLst>
                                          <p:attrName>style.visibility</p:attrName>
                                        </p:attrNameLst>
                                      </p:cBhvr>
                                      <p:to>
                                        <p:strVal val="visible"/>
                                      </p:to>
                                    </p:set>
                                    <p:anim calcmode="lin" valueType="num">
                                      <p:cBhvr additive="base">
                                        <p:cTn dur="500"/>
                                        <p:tgtEl>
                                          <p:spTgt spid="206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2">
                                            <p:txEl>
                                              <p:pRg end="1" st="1"/>
                                            </p:txEl>
                                          </p:spTgt>
                                        </p:tgtEl>
                                        <p:attrNameLst>
                                          <p:attrName>style.visibility</p:attrName>
                                        </p:attrNameLst>
                                      </p:cBhvr>
                                      <p:to>
                                        <p:strVal val="visible"/>
                                      </p:to>
                                    </p:set>
                                    <p:anim calcmode="lin" valueType="num">
                                      <p:cBhvr additive="base">
                                        <p:cTn dur="500"/>
                                        <p:tgtEl>
                                          <p:spTgt spid="206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2">
                                            <p:txEl>
                                              <p:pRg end="2" st="2"/>
                                            </p:txEl>
                                          </p:spTgt>
                                        </p:tgtEl>
                                        <p:attrNameLst>
                                          <p:attrName>style.visibility</p:attrName>
                                        </p:attrNameLst>
                                      </p:cBhvr>
                                      <p:to>
                                        <p:strVal val="visible"/>
                                      </p:to>
                                    </p:set>
                                    <p:anim calcmode="lin" valueType="num">
                                      <p:cBhvr additive="base">
                                        <p:cTn dur="500"/>
                                        <p:tgtEl>
                                          <p:spTgt spid="206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1" name="Shape 2071"/>
        <p:cNvGrpSpPr/>
        <p:nvPr/>
      </p:nvGrpSpPr>
      <p:grpSpPr>
        <a:xfrm>
          <a:off x="0" y="0"/>
          <a:ext cx="0" cy="0"/>
          <a:chOff x="0" y="0"/>
          <a:chExt cx="0" cy="0"/>
        </a:xfrm>
      </p:grpSpPr>
      <p:sp>
        <p:nvSpPr>
          <p:cNvPr id="2072" name="Google Shape;2072;p13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Giải Thuật Quick Sort</a:t>
            </a:r>
            <a:endParaRPr/>
          </a:p>
        </p:txBody>
      </p:sp>
      <p:sp>
        <p:nvSpPr>
          <p:cNvPr id="2073" name="Google Shape;2073;p135"/>
          <p:cNvSpPr txBox="1"/>
          <p:nvPr>
            <p:ph idx="1" type="body"/>
          </p:nvPr>
        </p:nvSpPr>
        <p:spPr>
          <a:xfrm>
            <a:off x="1127125" y="1176337"/>
            <a:ext cx="8154900" cy="49308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1</a:t>
            </a:r>
            <a:r>
              <a:rPr b="0" i="0" lang="en-US" sz="28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Nếu </a:t>
            </a:r>
            <a:r>
              <a:rPr b="0" i="0" lang="en-US" sz="2400" u="none">
                <a:solidFill>
                  <a:srgbClr val="FF3300"/>
                </a:solidFill>
                <a:latin typeface="Arial"/>
                <a:ea typeface="Arial"/>
                <a:cs typeface="Arial"/>
                <a:sym typeface="Arial"/>
              </a:rPr>
              <a:t>left ≥ right</a:t>
            </a:r>
            <a:r>
              <a:rPr b="0" i="0" lang="en-US" sz="2800" u="none">
                <a:solidFill>
                  <a:srgbClr val="FF3300"/>
                </a:solidFill>
                <a:latin typeface="Arial"/>
                <a:ea typeface="Arial"/>
                <a:cs typeface="Arial"/>
                <a:sym typeface="Arial"/>
              </a:rPr>
              <a:t> </a:t>
            </a:r>
            <a:r>
              <a:rPr b="0" i="0" lang="en-US" sz="1800" u="none">
                <a:solidFill>
                  <a:schemeClr val="dk1"/>
                </a:solidFill>
                <a:latin typeface="Arial"/>
                <a:ea typeface="Arial"/>
                <a:cs typeface="Arial"/>
                <a:sym typeface="Arial"/>
              </a:rPr>
              <a:t>//dãy có ít hơn 2 phần tử</a:t>
            </a:r>
            <a:endParaRPr/>
          </a:p>
          <a:p>
            <a:pPr indent="-349249" lvl="2" marL="1487487" rtl="0" algn="l">
              <a:lnSpc>
                <a:spcPct val="100000"/>
              </a:lnSpc>
              <a:spcBef>
                <a:spcPts val="560"/>
              </a:spcBef>
              <a:spcAft>
                <a:spcPts val="0"/>
              </a:spcAft>
              <a:buClr>
                <a:schemeClr val="dk1"/>
              </a:buClr>
              <a:buSzPts val="2400"/>
              <a:buNone/>
            </a:pPr>
            <a:r>
              <a:rPr b="0" i="0" lang="en-US" sz="24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Kết thúc</a:t>
            </a:r>
            <a:r>
              <a:rPr b="0" i="0" lang="en-US" sz="24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//dãy đã được sắp xếp</a:t>
            </a:r>
            <a:endParaRPr/>
          </a:p>
          <a:p>
            <a:pPr indent="-463550" lvl="0" marL="463550" rtl="0" algn="l">
              <a:lnSpc>
                <a:spcPct val="100000"/>
              </a:lnSpc>
              <a:spcBef>
                <a:spcPts val="48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2</a:t>
            </a:r>
            <a:r>
              <a:rPr b="0" i="0" lang="en-US" sz="2400" u="none">
                <a:solidFill>
                  <a:schemeClr val="dk1"/>
                </a:solidFill>
                <a:latin typeface="Arial"/>
                <a:ea typeface="Arial"/>
                <a:cs typeface="Arial"/>
                <a:sym typeface="Arial"/>
              </a:rPr>
              <a:t>: Phân hoạch dãy a</a:t>
            </a:r>
            <a:r>
              <a:rPr b="0" baseline="-25000" i="0" lang="en-US" sz="2400" u="none">
                <a:solidFill>
                  <a:schemeClr val="dk1"/>
                </a:solidFill>
                <a:latin typeface="Arial"/>
                <a:ea typeface="Arial"/>
                <a:cs typeface="Arial"/>
                <a:sym typeface="Arial"/>
              </a:rPr>
              <a:t>left</a:t>
            </a:r>
            <a:r>
              <a:rPr b="0" i="0" lang="en-US" sz="2400" u="none">
                <a:solidFill>
                  <a:schemeClr val="dk1"/>
                </a:solidFill>
                <a:latin typeface="Arial"/>
                <a:ea typeface="Arial"/>
                <a:cs typeface="Arial"/>
                <a:sym typeface="Arial"/>
              </a:rPr>
              <a:t> … a</a:t>
            </a:r>
            <a:r>
              <a:rPr b="0" baseline="-25000" i="0" lang="en-US" sz="2400" u="none">
                <a:solidFill>
                  <a:schemeClr val="dk1"/>
                </a:solidFill>
                <a:latin typeface="Arial"/>
                <a:ea typeface="Arial"/>
                <a:cs typeface="Arial"/>
                <a:sym typeface="Arial"/>
              </a:rPr>
              <a:t>right</a:t>
            </a:r>
            <a:r>
              <a:rPr b="0" i="0" lang="en-US" sz="2400" u="none">
                <a:solidFill>
                  <a:schemeClr val="dk1"/>
                </a:solidFill>
                <a:latin typeface="Arial"/>
                <a:ea typeface="Arial"/>
                <a:cs typeface="Arial"/>
                <a:sym typeface="Arial"/>
              </a:rPr>
              <a:t> thành các đoạn: a</a:t>
            </a:r>
            <a:r>
              <a:rPr b="0" baseline="-25000" i="0" lang="en-US" sz="2400" u="none">
                <a:solidFill>
                  <a:schemeClr val="dk1"/>
                </a:solidFill>
                <a:latin typeface="Arial"/>
                <a:ea typeface="Arial"/>
                <a:cs typeface="Arial"/>
                <a:sym typeface="Arial"/>
              </a:rPr>
              <a:t>left</a:t>
            </a:r>
            <a:r>
              <a:rPr b="0" i="0" lang="en-US" sz="2400" u="none">
                <a:solidFill>
                  <a:schemeClr val="dk1"/>
                </a:solidFill>
                <a:latin typeface="Arial"/>
                <a:ea typeface="Arial"/>
                <a:cs typeface="Arial"/>
                <a:sym typeface="Arial"/>
              </a:rPr>
              <a:t>.. a</a:t>
            </a:r>
            <a:r>
              <a:rPr b="0" baseline="-25000" i="0" lang="en-US" sz="2400" u="none">
                <a:solidFill>
                  <a:schemeClr val="dk1"/>
                </a:solidFill>
                <a:latin typeface="Arial"/>
                <a:ea typeface="Arial"/>
                <a:cs typeface="Arial"/>
                <a:sym typeface="Arial"/>
              </a:rPr>
              <a:t>j</a:t>
            </a:r>
            <a:r>
              <a:rPr b="0" i="0" lang="en-US" sz="2400" u="none">
                <a:solidFill>
                  <a:schemeClr val="dk1"/>
                </a:solidFill>
                <a:latin typeface="Arial"/>
                <a:ea typeface="Arial"/>
                <a:cs typeface="Arial"/>
                <a:sym typeface="Arial"/>
              </a:rPr>
              <a:t>,</a:t>
            </a:r>
            <a:r>
              <a:rPr b="0" baseline="-25000" i="0"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a</a:t>
            </a:r>
            <a:r>
              <a:rPr b="0" baseline="-25000" i="0" lang="en-US" sz="2400" u="none">
                <a:solidFill>
                  <a:schemeClr val="dk1"/>
                </a:solidFill>
                <a:latin typeface="Arial"/>
                <a:ea typeface="Arial"/>
                <a:cs typeface="Arial"/>
                <a:sym typeface="Arial"/>
              </a:rPr>
              <a:t>j+1</a:t>
            </a:r>
            <a:r>
              <a:rPr b="0" i="0" lang="en-US" sz="2400" u="none">
                <a:solidFill>
                  <a:schemeClr val="dk1"/>
                </a:solidFill>
                <a:latin typeface="Arial"/>
                <a:ea typeface="Arial"/>
                <a:cs typeface="Arial"/>
                <a:sym typeface="Arial"/>
              </a:rPr>
              <a:t>.. a</a:t>
            </a:r>
            <a:r>
              <a:rPr b="0" baseline="-25000" i="0" lang="en-US" sz="2400" u="none">
                <a:solidFill>
                  <a:schemeClr val="dk1"/>
                </a:solidFill>
                <a:latin typeface="Arial"/>
                <a:ea typeface="Arial"/>
                <a:cs typeface="Arial"/>
                <a:sym typeface="Arial"/>
              </a:rPr>
              <a:t>i-1</a:t>
            </a:r>
            <a:r>
              <a:rPr b="0" i="0" lang="en-US" sz="2400" u="none">
                <a:solidFill>
                  <a:schemeClr val="dk1"/>
                </a:solidFill>
                <a:latin typeface="Arial"/>
                <a:ea typeface="Arial"/>
                <a:cs typeface="Arial"/>
                <a:sym typeface="Arial"/>
              </a:rPr>
              <a:t>,</a:t>
            </a:r>
            <a:r>
              <a:rPr b="0" baseline="-25000" i="0"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a</a:t>
            </a:r>
            <a:r>
              <a:rPr b="0" baseline="-25000" i="0" lang="en-US" sz="2400" u="none">
                <a:solidFill>
                  <a:schemeClr val="dk1"/>
                </a:solidFill>
                <a:latin typeface="Arial"/>
                <a:ea typeface="Arial"/>
                <a:cs typeface="Arial"/>
                <a:sym typeface="Arial"/>
              </a:rPr>
              <a:t>i</a:t>
            </a:r>
            <a:r>
              <a:rPr b="0" i="0" lang="en-US" sz="2400" u="none">
                <a:solidFill>
                  <a:schemeClr val="dk1"/>
                </a:solidFill>
                <a:latin typeface="Arial"/>
                <a:ea typeface="Arial"/>
                <a:cs typeface="Arial"/>
                <a:sym typeface="Arial"/>
              </a:rPr>
              <a:t>.. a</a:t>
            </a:r>
            <a:r>
              <a:rPr b="0" baseline="-25000" i="0" lang="en-US" sz="2400" u="none">
                <a:solidFill>
                  <a:schemeClr val="dk1"/>
                </a:solidFill>
                <a:latin typeface="Arial"/>
                <a:ea typeface="Arial"/>
                <a:cs typeface="Arial"/>
                <a:sym typeface="Arial"/>
              </a:rPr>
              <a:t>right</a:t>
            </a:r>
            <a:endParaRPr/>
          </a:p>
          <a:p>
            <a:pPr indent="-446087" lvl="1" marL="1023937" rtl="0" algn="l">
              <a:lnSpc>
                <a:spcPct val="100000"/>
              </a:lnSpc>
              <a:spcBef>
                <a:spcPts val="560"/>
              </a:spcBef>
              <a:spcAft>
                <a:spcPts val="0"/>
              </a:spcAft>
              <a:buClr>
                <a:schemeClr val="dk1"/>
              </a:buClr>
              <a:buSzPts val="2800"/>
              <a:buNone/>
            </a:pPr>
            <a:r>
              <a:rPr b="0" i="1" lang="en-US" sz="28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Đoạn 1 ≤ x  </a:t>
            </a:r>
            <a:endParaRPr/>
          </a:p>
          <a:p>
            <a:pPr indent="-446087" lvl="1" marL="1023937" rtl="0" algn="l">
              <a:lnSpc>
                <a:spcPct val="100000"/>
              </a:lnSpc>
              <a:spcBef>
                <a:spcPts val="480"/>
              </a:spcBef>
              <a:spcAft>
                <a:spcPts val="0"/>
              </a:spcAft>
              <a:buClr>
                <a:schemeClr val="dk1"/>
              </a:buClr>
              <a:buSzPts val="2400"/>
              <a:buNone/>
            </a:pPr>
            <a:r>
              <a:rPr b="0" i="1" lang="en-US" sz="2400" u="none">
                <a:solidFill>
                  <a:schemeClr val="dk1"/>
                </a:solidFill>
                <a:latin typeface="Arial"/>
                <a:ea typeface="Arial"/>
                <a:cs typeface="Arial"/>
                <a:sym typeface="Arial"/>
              </a:rPr>
              <a:t>			Đoạn 2: a</a:t>
            </a:r>
            <a:r>
              <a:rPr b="0" baseline="-25000" i="1" lang="en-US" sz="2400" u="none">
                <a:solidFill>
                  <a:schemeClr val="dk1"/>
                </a:solidFill>
                <a:latin typeface="Arial"/>
                <a:ea typeface="Arial"/>
                <a:cs typeface="Arial"/>
                <a:sym typeface="Arial"/>
              </a:rPr>
              <a:t>j+1</a:t>
            </a:r>
            <a:r>
              <a:rPr b="0" i="1" lang="en-US" sz="2400" u="none">
                <a:solidFill>
                  <a:schemeClr val="dk1"/>
                </a:solidFill>
                <a:latin typeface="Arial"/>
                <a:ea typeface="Arial"/>
                <a:cs typeface="Arial"/>
                <a:sym typeface="Arial"/>
              </a:rPr>
              <a:t>.. a</a:t>
            </a:r>
            <a:r>
              <a:rPr b="0" baseline="-25000" i="1" lang="en-US" sz="2400" u="none">
                <a:solidFill>
                  <a:schemeClr val="dk1"/>
                </a:solidFill>
                <a:latin typeface="Arial"/>
                <a:ea typeface="Arial"/>
                <a:cs typeface="Arial"/>
                <a:sym typeface="Arial"/>
              </a:rPr>
              <a:t>i-1</a:t>
            </a:r>
            <a:r>
              <a:rPr b="0" i="1" lang="en-US" sz="2400" u="none">
                <a:solidFill>
                  <a:schemeClr val="dk1"/>
                </a:solidFill>
                <a:latin typeface="Arial"/>
                <a:ea typeface="Arial"/>
                <a:cs typeface="Arial"/>
                <a:sym typeface="Arial"/>
              </a:rPr>
              <a:t>  = x  </a:t>
            </a:r>
            <a:endParaRPr/>
          </a:p>
          <a:p>
            <a:pPr indent="-446087" lvl="1" marL="1023937" rtl="0" algn="l">
              <a:lnSpc>
                <a:spcPct val="100000"/>
              </a:lnSpc>
              <a:spcBef>
                <a:spcPts val="480"/>
              </a:spcBef>
              <a:spcAft>
                <a:spcPts val="0"/>
              </a:spcAft>
              <a:buClr>
                <a:schemeClr val="dk1"/>
              </a:buClr>
              <a:buSzPts val="2400"/>
              <a:buNone/>
            </a:pPr>
            <a:r>
              <a:rPr b="0" i="1" lang="en-US" sz="2400" u="none">
                <a:solidFill>
                  <a:schemeClr val="dk1"/>
                </a:solidFill>
                <a:latin typeface="Arial"/>
                <a:ea typeface="Arial"/>
                <a:cs typeface="Arial"/>
                <a:sym typeface="Arial"/>
              </a:rPr>
              <a:t>			Đoạn 3: a</a:t>
            </a:r>
            <a:r>
              <a:rPr b="0" baseline="-25000" i="1" lang="en-US" sz="2400" u="none">
                <a:solidFill>
                  <a:schemeClr val="dk1"/>
                </a:solidFill>
                <a:latin typeface="Arial"/>
                <a:ea typeface="Arial"/>
                <a:cs typeface="Arial"/>
                <a:sym typeface="Arial"/>
              </a:rPr>
              <a:t>i</a:t>
            </a:r>
            <a:r>
              <a:rPr b="0" i="1" lang="en-US" sz="2400" u="none">
                <a:solidFill>
                  <a:schemeClr val="dk1"/>
                </a:solidFill>
                <a:latin typeface="Arial"/>
                <a:ea typeface="Arial"/>
                <a:cs typeface="Arial"/>
                <a:sym typeface="Arial"/>
              </a:rPr>
              <a:t>.. a</a:t>
            </a:r>
            <a:r>
              <a:rPr b="0" baseline="-25000" i="1" lang="en-US" sz="2400" u="none">
                <a:solidFill>
                  <a:schemeClr val="dk1"/>
                </a:solidFill>
                <a:latin typeface="Arial"/>
                <a:ea typeface="Arial"/>
                <a:cs typeface="Arial"/>
                <a:sym typeface="Arial"/>
              </a:rPr>
              <a:t>right</a:t>
            </a:r>
            <a:r>
              <a:rPr b="0" i="1"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 x</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3</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Sắp xếp đoạn 1</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left</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j</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4</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Sắp xếp đoạn 3</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i</a:t>
            </a:r>
            <a:r>
              <a:rPr b="0" i="0" lang="en-US" sz="2800" u="none">
                <a:solidFill>
                  <a:schemeClr val="dk1"/>
                </a:solidFill>
                <a:latin typeface="Arial"/>
                <a:ea typeface="Arial"/>
                <a:cs typeface="Arial"/>
                <a:sym typeface="Arial"/>
              </a:rPr>
              <a:t>.. a</a:t>
            </a:r>
            <a:r>
              <a:rPr b="0" baseline="-25000" i="0" lang="en-US" sz="2400" u="none">
                <a:solidFill>
                  <a:schemeClr val="dk1"/>
                </a:solidFill>
                <a:latin typeface="Arial"/>
                <a:ea typeface="Arial"/>
                <a:cs typeface="Arial"/>
                <a:sym typeface="Arial"/>
              </a:rPr>
              <a:t>right</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7" name="Shape 2077"/>
        <p:cNvGrpSpPr/>
        <p:nvPr/>
      </p:nvGrpSpPr>
      <p:grpSpPr>
        <a:xfrm>
          <a:off x="0" y="0"/>
          <a:ext cx="0" cy="0"/>
          <a:chOff x="0" y="0"/>
          <a:chExt cx="0" cy="0"/>
        </a:xfrm>
      </p:grpSpPr>
      <p:sp>
        <p:nvSpPr>
          <p:cNvPr id="2078" name="Google Shape;2078;p13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sp>
        <p:nvSpPr>
          <p:cNvPr id="2079" name="Google Shape;2079;p137"/>
          <p:cNvSpPr txBox="1"/>
          <p:nvPr>
            <p:ph idx="1" type="body"/>
          </p:nvPr>
        </p:nvSpPr>
        <p:spPr>
          <a:xfrm>
            <a:off x="1026412" y="981075"/>
            <a:ext cx="4211700" cy="5543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Cho dãy số a: </a:t>
            </a:r>
            <a:endParaRPr/>
          </a:p>
          <a:p>
            <a:pPr indent="-463550" lvl="0" marL="463550" rtl="0" algn="l">
              <a:lnSpc>
                <a:spcPct val="100000"/>
              </a:lnSpc>
              <a:spcBef>
                <a:spcPts val="480"/>
              </a:spcBef>
              <a:spcAft>
                <a:spcPts val="0"/>
              </a:spcAft>
              <a:buClr>
                <a:schemeClr val="dk1"/>
              </a:buClr>
              <a:buSzPts val="2400"/>
              <a:buNone/>
            </a:pPr>
            <a:r>
              <a:rPr b="0" i="0" lang="en-US" sz="2400" u="none">
                <a:solidFill>
                  <a:schemeClr val="dk1"/>
                </a:solidFill>
                <a:latin typeface="Arial"/>
                <a:ea typeface="Arial"/>
                <a:cs typeface="Arial"/>
                <a:sym typeface="Arial"/>
              </a:rPr>
              <a:t>		12	  2	8	5	1	6	4	15 </a:t>
            </a:r>
            <a:endParaRPr/>
          </a:p>
        </p:txBody>
      </p:sp>
      <p:sp>
        <p:nvSpPr>
          <p:cNvPr id="2080" name="Google Shape;2080;p137"/>
          <p:cNvSpPr txBox="1"/>
          <p:nvPr/>
        </p:nvSpPr>
        <p:spPr>
          <a:xfrm>
            <a:off x="790575" y="3141662"/>
            <a:ext cx="4930775" cy="57943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sng">
                <a:solidFill>
                  <a:schemeClr val="dk1"/>
                </a:solidFill>
                <a:latin typeface="Arial"/>
                <a:ea typeface="Arial"/>
                <a:cs typeface="Arial"/>
                <a:sym typeface="Arial"/>
              </a:rPr>
              <a:t>Phân hoạch  đoạn l =0, r =</a:t>
            </a:r>
            <a:r>
              <a:rPr b="0" i="0" lang="en-US" sz="3200" u="sng">
                <a:solidFill>
                  <a:schemeClr val="dk1"/>
                </a:solidFill>
                <a:latin typeface="Arial"/>
                <a:ea typeface="Arial"/>
                <a:cs typeface="Arial"/>
                <a:sym typeface="Arial"/>
              </a:rPr>
              <a:t> 7</a:t>
            </a:r>
            <a:r>
              <a:rPr b="0" i="0" lang="en-US" sz="2800" u="sng">
                <a:solidFill>
                  <a:schemeClr val="dk1"/>
                </a:solidFill>
                <a:latin typeface="Arial"/>
                <a:ea typeface="Arial"/>
                <a:cs typeface="Arial"/>
                <a:sym typeface="Arial"/>
              </a:rPr>
              <a:t>:</a:t>
            </a:r>
            <a:r>
              <a:rPr b="0" i="0" lang="en-US" sz="3200" u="none">
                <a:solidFill>
                  <a:schemeClr val="dk1"/>
                </a:solidFill>
                <a:latin typeface="Arial"/>
                <a:ea typeface="Arial"/>
                <a:cs typeface="Arial"/>
                <a:sym typeface="Arial"/>
              </a:rPr>
              <a:t> </a:t>
            </a:r>
            <a:endParaRPr/>
          </a:p>
        </p:txBody>
      </p:sp>
      <p:sp>
        <p:nvSpPr>
          <p:cNvPr id="2081" name="Google Shape;2081;p137"/>
          <p:cNvSpPr txBox="1"/>
          <p:nvPr/>
        </p:nvSpPr>
        <p:spPr>
          <a:xfrm>
            <a:off x="6897687" y="3141662"/>
            <a:ext cx="2076450" cy="57943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x = a[3] = 5</a:t>
            </a:r>
            <a:r>
              <a:rPr b="0" i="0" lang="en-US" sz="3200" u="none">
                <a:solidFill>
                  <a:schemeClr val="dk1"/>
                </a:solidFill>
                <a:latin typeface="Arial"/>
                <a:ea typeface="Arial"/>
                <a:cs typeface="Arial"/>
                <a:sym typeface="Arial"/>
              </a:rPr>
              <a:t> </a:t>
            </a:r>
            <a:endParaRPr/>
          </a:p>
        </p:txBody>
      </p:sp>
      <p:sp>
        <p:nvSpPr>
          <p:cNvPr id="2082" name="Google Shape;2082;p137"/>
          <p:cNvSpPr/>
          <p:nvPr/>
        </p:nvSpPr>
        <p:spPr>
          <a:xfrm>
            <a:off x="920750" y="4365625"/>
            <a:ext cx="792162" cy="792162"/>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12</a:t>
            </a:r>
            <a:endParaRPr/>
          </a:p>
        </p:txBody>
      </p:sp>
      <p:sp>
        <p:nvSpPr>
          <p:cNvPr id="2083" name="Google Shape;2083;p137"/>
          <p:cNvSpPr/>
          <p:nvPr/>
        </p:nvSpPr>
        <p:spPr>
          <a:xfrm>
            <a:off x="2000250" y="4365625"/>
            <a:ext cx="793750" cy="792162"/>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2</a:t>
            </a:r>
            <a:endParaRPr/>
          </a:p>
        </p:txBody>
      </p:sp>
      <p:sp>
        <p:nvSpPr>
          <p:cNvPr id="2084" name="Google Shape;2084;p137"/>
          <p:cNvSpPr/>
          <p:nvPr/>
        </p:nvSpPr>
        <p:spPr>
          <a:xfrm>
            <a:off x="3152775" y="4365625"/>
            <a:ext cx="793750" cy="792162"/>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8</a:t>
            </a:r>
            <a:endParaRPr/>
          </a:p>
        </p:txBody>
      </p:sp>
      <p:sp>
        <p:nvSpPr>
          <p:cNvPr id="2085" name="Google Shape;2085;p137"/>
          <p:cNvSpPr/>
          <p:nvPr/>
        </p:nvSpPr>
        <p:spPr>
          <a:xfrm>
            <a:off x="4305300" y="4365625"/>
            <a:ext cx="793750" cy="792162"/>
          </a:xfrm>
          <a:prstGeom prst="ellipse">
            <a:avLst/>
          </a:prstGeom>
          <a:gradFill>
            <a:gsLst>
              <a:gs pos="0">
                <a:srgbClr val="FFFFFF"/>
              </a:gs>
              <a:gs pos="100000">
                <a:srgbClr val="FF99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5</a:t>
            </a:r>
            <a:endParaRPr/>
          </a:p>
        </p:txBody>
      </p:sp>
      <p:sp>
        <p:nvSpPr>
          <p:cNvPr id="2086" name="Google Shape;2086;p137"/>
          <p:cNvSpPr/>
          <p:nvPr/>
        </p:nvSpPr>
        <p:spPr>
          <a:xfrm>
            <a:off x="5529262" y="4365625"/>
            <a:ext cx="792162" cy="792162"/>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1</a:t>
            </a:r>
            <a:endParaRPr/>
          </a:p>
        </p:txBody>
      </p:sp>
      <p:sp>
        <p:nvSpPr>
          <p:cNvPr id="2087" name="Google Shape;2087;p137"/>
          <p:cNvSpPr/>
          <p:nvPr/>
        </p:nvSpPr>
        <p:spPr>
          <a:xfrm>
            <a:off x="6753225" y="4365625"/>
            <a:ext cx="792162" cy="792162"/>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6</a:t>
            </a:r>
            <a:endParaRPr/>
          </a:p>
        </p:txBody>
      </p:sp>
      <p:sp>
        <p:nvSpPr>
          <p:cNvPr id="2088" name="Google Shape;2088;p137"/>
          <p:cNvSpPr/>
          <p:nvPr/>
        </p:nvSpPr>
        <p:spPr>
          <a:xfrm>
            <a:off x="7832725" y="4365625"/>
            <a:ext cx="792162" cy="792162"/>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4</a:t>
            </a:r>
            <a:endParaRPr/>
          </a:p>
        </p:txBody>
      </p:sp>
      <p:sp>
        <p:nvSpPr>
          <p:cNvPr id="2089" name="Google Shape;2089;p137"/>
          <p:cNvSpPr/>
          <p:nvPr/>
        </p:nvSpPr>
        <p:spPr>
          <a:xfrm>
            <a:off x="8985250" y="4365625"/>
            <a:ext cx="776287" cy="792162"/>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15</a:t>
            </a:r>
            <a:endParaRPr/>
          </a:p>
        </p:txBody>
      </p:sp>
      <p:sp>
        <p:nvSpPr>
          <p:cNvPr id="2090" name="Google Shape;2090;p137"/>
          <p:cNvSpPr txBox="1"/>
          <p:nvPr/>
        </p:nvSpPr>
        <p:spPr>
          <a:xfrm>
            <a:off x="849312" y="5589587"/>
            <a:ext cx="865187" cy="395287"/>
          </a:xfrm>
          <a:prstGeom prst="rect">
            <a:avLst/>
          </a:prstGeom>
          <a:noFill/>
          <a:ln cap="flat" cmpd="sng" w="28575">
            <a:solidFill>
              <a:srgbClr val="80008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l=0</a:t>
            </a:r>
            <a:endParaRPr/>
          </a:p>
        </p:txBody>
      </p:sp>
      <p:sp>
        <p:nvSpPr>
          <p:cNvPr id="2091" name="Google Shape;2091;p137"/>
          <p:cNvSpPr txBox="1"/>
          <p:nvPr/>
        </p:nvSpPr>
        <p:spPr>
          <a:xfrm>
            <a:off x="8912225" y="5589587"/>
            <a:ext cx="865187" cy="395287"/>
          </a:xfrm>
          <a:prstGeom prst="rect">
            <a:avLst/>
          </a:prstGeom>
          <a:noFill/>
          <a:ln cap="flat" cmpd="sng" w="28575">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r=7</a:t>
            </a:r>
            <a:endParaRPr/>
          </a:p>
        </p:txBody>
      </p:sp>
      <p:cxnSp>
        <p:nvCxnSpPr>
          <p:cNvPr id="2092" name="Google Shape;2092;p137"/>
          <p:cNvCxnSpPr/>
          <p:nvPr/>
        </p:nvCxnSpPr>
        <p:spPr>
          <a:xfrm rot="10800000">
            <a:off x="1281112" y="5157787"/>
            <a:ext cx="0" cy="431800"/>
          </a:xfrm>
          <a:prstGeom prst="straightConnector1">
            <a:avLst/>
          </a:prstGeom>
          <a:noFill/>
          <a:ln cap="flat" cmpd="sng" w="76200">
            <a:solidFill>
              <a:srgbClr val="800080"/>
            </a:solidFill>
            <a:prstDash val="solid"/>
            <a:miter lim="800000"/>
            <a:headEnd len="med" w="med" type="none"/>
            <a:tailEnd len="med" w="med" type="stealth"/>
          </a:ln>
        </p:spPr>
      </p:cxnSp>
      <p:cxnSp>
        <p:nvCxnSpPr>
          <p:cNvPr id="2093" name="Google Shape;2093;p137"/>
          <p:cNvCxnSpPr/>
          <p:nvPr/>
        </p:nvCxnSpPr>
        <p:spPr>
          <a:xfrm rot="10800000">
            <a:off x="9345612" y="5157787"/>
            <a:ext cx="0" cy="431800"/>
          </a:xfrm>
          <a:prstGeom prst="straightConnector1">
            <a:avLst/>
          </a:prstGeom>
          <a:noFill/>
          <a:ln cap="flat" cmpd="sng" w="76200">
            <a:solidFill>
              <a:srgbClr val="FF0000"/>
            </a:solidFill>
            <a:prstDash val="solid"/>
            <a:miter lim="800000"/>
            <a:headEnd len="med" w="med" type="none"/>
            <a:tailEnd len="med" w="med" type="stealth"/>
          </a:ln>
        </p:spPr>
      </p:cxnSp>
      <p:cxnSp>
        <p:nvCxnSpPr>
          <p:cNvPr id="2094" name="Google Shape;2094;p137"/>
          <p:cNvCxnSpPr/>
          <p:nvPr/>
        </p:nvCxnSpPr>
        <p:spPr>
          <a:xfrm>
            <a:off x="1317624" y="4365625"/>
            <a:ext cx="6912000" cy="1500"/>
          </a:xfrm>
          <a:prstGeom prst="bentConnector3">
            <a:avLst>
              <a:gd fmla="val 0" name="adj1"/>
            </a:avLst>
          </a:prstGeom>
          <a:noFill/>
          <a:ln cap="flat" cmpd="sng" w="63500">
            <a:solidFill>
              <a:schemeClr val="dk1"/>
            </a:solidFill>
            <a:prstDash val="solid"/>
            <a:miter lim="800000"/>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sp>
        <p:nvSpPr>
          <p:cNvPr id="2099" name="Google Shape;2099;p13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Giải Thuật Quick Sort</a:t>
            </a:r>
            <a:endParaRPr/>
          </a:p>
        </p:txBody>
      </p:sp>
      <p:sp>
        <p:nvSpPr>
          <p:cNvPr id="2100" name="Google Shape;2100;p136"/>
          <p:cNvSpPr txBox="1"/>
          <p:nvPr>
            <p:ph idx="1" type="body"/>
          </p:nvPr>
        </p:nvSpPr>
        <p:spPr>
          <a:xfrm>
            <a:off x="1062037" y="1176337"/>
            <a:ext cx="8499475" cy="511175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1</a:t>
            </a:r>
            <a:r>
              <a:rPr b="0" i="0" lang="en-US" sz="2400" u="none">
                <a:solidFill>
                  <a:schemeClr val="dk1"/>
                </a:solidFill>
                <a:latin typeface="Arial"/>
                <a:ea typeface="Arial"/>
                <a:cs typeface="Arial"/>
                <a:sym typeface="Arial"/>
              </a:rPr>
              <a:t> : Chọn tùy ý một phần tử  a[k] trong dãy là 		giá trị   mốc ( </a:t>
            </a:r>
            <a:r>
              <a:rPr b="0" i="0" lang="en-US" sz="2400" u="none">
                <a:solidFill>
                  <a:schemeClr val="dk1"/>
                </a:solidFill>
                <a:latin typeface="Arial"/>
                <a:ea typeface="Arial"/>
                <a:cs typeface="Arial"/>
                <a:sym typeface="Arial"/>
              </a:rPr>
              <a:t>l ≤ k ≤ r</a:t>
            </a:r>
            <a:r>
              <a:rPr b="0" i="0" lang="en-US" sz="2400" u="none">
                <a:solidFill>
                  <a:schemeClr val="dk1"/>
                </a:solidFill>
                <a:latin typeface="Arial"/>
                <a:ea typeface="Arial"/>
                <a:cs typeface="Arial"/>
                <a:sym typeface="Arial"/>
              </a:rPr>
              <a:t>):    </a:t>
            </a:r>
            <a:endParaRPr/>
          </a:p>
          <a:p>
            <a:pPr indent="-463550" lvl="0" marL="463550" rtl="0" algn="l">
              <a:lnSpc>
                <a:spcPct val="90000"/>
              </a:lnSpc>
              <a:spcBef>
                <a:spcPts val="1200"/>
              </a:spcBef>
              <a:spcAft>
                <a:spcPts val="0"/>
              </a:spcAft>
              <a:buClr>
                <a:schemeClr val="dk1"/>
              </a:buClr>
              <a:buSzPts val="2400"/>
              <a:buNone/>
            </a:pPr>
            <a:r>
              <a:rPr b="1" i="0" lang="en-US" sz="2400" u="none">
                <a:solidFill>
                  <a:schemeClr val="dk1"/>
                </a:solidFill>
                <a:latin typeface="Arial"/>
                <a:ea typeface="Arial"/>
                <a:cs typeface="Arial"/>
                <a:sym typeface="Arial"/>
              </a:rPr>
              <a:t>				x = a[k];   i = l;  j = r; </a:t>
            </a:r>
            <a:endParaRPr/>
          </a:p>
          <a:p>
            <a:pPr indent="-463550" lvl="0" marL="463550" rtl="0" algn="l">
              <a:lnSpc>
                <a:spcPct val="90000"/>
              </a:lnSpc>
              <a:spcBef>
                <a:spcPts val="120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2</a:t>
            </a:r>
            <a:r>
              <a:rPr b="0" i="0" lang="en-US" sz="2400" u="none">
                <a:solidFill>
                  <a:schemeClr val="dk1"/>
                </a:solidFill>
                <a:latin typeface="Arial"/>
                <a:ea typeface="Arial"/>
                <a:cs typeface="Arial"/>
                <a:sym typeface="Arial"/>
              </a:rPr>
              <a:t> : Phát hiện và hiệu chỉnh cặp phần tử  </a:t>
            </a:r>
            <a:endParaRPr/>
          </a:p>
          <a:p>
            <a:pPr indent="-463550" lvl="0" marL="463550" rtl="0" algn="l">
              <a:lnSpc>
                <a:spcPct val="90000"/>
              </a:lnSpc>
              <a:spcBef>
                <a:spcPts val="1200"/>
              </a:spcBef>
              <a:spcAft>
                <a:spcPts val="0"/>
              </a:spcAft>
              <a:buClr>
                <a:schemeClr val="dk1"/>
              </a:buClr>
              <a:buSzPts val="2400"/>
              <a:buNone/>
            </a:pPr>
            <a:r>
              <a:rPr b="0" i="0" lang="en-US" sz="2400" u="none">
                <a:solidFill>
                  <a:schemeClr val="dk1"/>
                </a:solidFill>
                <a:latin typeface="Arial"/>
                <a:ea typeface="Arial"/>
                <a:cs typeface="Arial"/>
                <a:sym typeface="Arial"/>
              </a:rPr>
              <a:t>				a[i], a[j] nằm sai chỗ : </a:t>
            </a:r>
            <a:endParaRPr/>
          </a:p>
          <a:p>
            <a:pPr indent="-349250" lvl="2" marL="1487487" rtl="0" algn="l">
              <a:lnSpc>
                <a:spcPct val="90000"/>
              </a:lnSpc>
              <a:spcBef>
                <a:spcPts val="140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2a</a:t>
            </a:r>
            <a:r>
              <a:rPr b="0" i="0" lang="en-US" sz="2800" u="none">
                <a:solidFill>
                  <a:schemeClr val="dk1"/>
                </a:solidFill>
                <a:latin typeface="Arial"/>
                <a:ea typeface="Arial"/>
                <a:cs typeface="Arial"/>
                <a:sym typeface="Arial"/>
              </a:rPr>
              <a:t> : Trong khi (a[i]&lt;x) i++; </a:t>
            </a:r>
            <a:endParaRPr/>
          </a:p>
          <a:p>
            <a:pPr indent="-349249" lvl="2" marL="1487487" rtl="0" algn="l">
              <a:lnSpc>
                <a:spcPct val="90000"/>
              </a:lnSpc>
              <a:spcBef>
                <a:spcPts val="140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2b</a:t>
            </a:r>
            <a:r>
              <a:rPr b="0" i="0" lang="en-US" sz="2800" u="none">
                <a:solidFill>
                  <a:schemeClr val="dk1"/>
                </a:solidFill>
                <a:latin typeface="Arial"/>
                <a:ea typeface="Arial"/>
                <a:cs typeface="Arial"/>
                <a:sym typeface="Arial"/>
              </a:rPr>
              <a:t> : Trong khi (a[j]&gt;x) j--; </a:t>
            </a:r>
            <a:endParaRPr/>
          </a:p>
          <a:p>
            <a:pPr indent="-349249" lvl="2" marL="1487487" rtl="0" algn="l">
              <a:lnSpc>
                <a:spcPct val="90000"/>
              </a:lnSpc>
              <a:spcBef>
                <a:spcPts val="140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Bước 2c</a:t>
            </a:r>
            <a:r>
              <a:rPr b="0" i="0" lang="en-US" sz="2800" u="none">
                <a:solidFill>
                  <a:schemeClr val="dk1"/>
                </a:solidFill>
                <a:latin typeface="Arial"/>
                <a:ea typeface="Arial"/>
                <a:cs typeface="Arial"/>
                <a:sym typeface="Arial"/>
              </a:rPr>
              <a:t> : Nếu  i&lt; j	Đoicho(a[i],a[j]); </a:t>
            </a:r>
            <a:endParaRPr/>
          </a:p>
          <a:p>
            <a:pPr indent="-463550" lvl="0" marL="463550" rtl="0" algn="l">
              <a:lnSpc>
                <a:spcPct val="90000"/>
              </a:lnSpc>
              <a:spcBef>
                <a:spcPts val="1200"/>
              </a:spcBef>
              <a:spcAft>
                <a:spcPts val="0"/>
              </a:spcAft>
              <a:buClr>
                <a:schemeClr val="dk1"/>
              </a:buClr>
              <a:buSzPts val="2400"/>
              <a:buFont typeface="Noto Sans Symbols"/>
              <a:buChar char="⮚"/>
            </a:pPr>
            <a:r>
              <a:rPr b="0" i="0" lang="en-US" sz="2400" u="sng">
                <a:solidFill>
                  <a:schemeClr val="dk1"/>
                </a:solidFill>
                <a:latin typeface="Arial"/>
                <a:ea typeface="Arial"/>
                <a:cs typeface="Arial"/>
                <a:sym typeface="Arial"/>
              </a:rPr>
              <a:t>Bước 3</a:t>
            </a:r>
            <a:r>
              <a:rPr b="0" i="0" lang="en-US" sz="2400" u="none">
                <a:solidFill>
                  <a:schemeClr val="dk1"/>
                </a:solidFill>
                <a:latin typeface="Arial"/>
                <a:ea typeface="Arial"/>
                <a:cs typeface="Arial"/>
                <a:sym typeface="Arial"/>
              </a:rPr>
              <a:t> : Nếu  i &lt; j:	Lặp lại Bước 2.				   Ngược lại: Dừng	</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4" name="Shape 2104"/>
        <p:cNvGrpSpPr/>
        <p:nvPr/>
      </p:nvGrpSpPr>
      <p:grpSpPr>
        <a:xfrm>
          <a:off x="0" y="0"/>
          <a:ext cx="0" cy="0"/>
          <a:chOff x="0" y="0"/>
          <a:chExt cx="0" cy="0"/>
        </a:xfrm>
      </p:grpSpPr>
      <p:sp>
        <p:nvSpPr>
          <p:cNvPr id="2105" name="Google Shape;2105;p13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pic>
        <p:nvPicPr>
          <p:cNvPr id="2106" name="Google Shape;2106;p138"/>
          <p:cNvPicPr preferRelativeResize="0"/>
          <p:nvPr/>
        </p:nvPicPr>
        <p:blipFill rotWithShape="1">
          <a:blip r:embed="rId3">
            <a:alphaModFix/>
          </a:blip>
          <a:srcRect b="0" l="0" r="0" t="0"/>
          <a:stretch/>
        </p:blipFill>
        <p:spPr>
          <a:xfrm>
            <a:off x="1352550" y="4365625"/>
            <a:ext cx="7345362" cy="1079500"/>
          </a:xfrm>
          <a:prstGeom prst="rect">
            <a:avLst/>
          </a:prstGeom>
          <a:noFill/>
          <a:ln>
            <a:noFill/>
          </a:ln>
        </p:spPr>
      </p:pic>
      <p:grpSp>
        <p:nvGrpSpPr>
          <p:cNvPr id="2107" name="Google Shape;2107;p138"/>
          <p:cNvGrpSpPr/>
          <p:nvPr/>
        </p:nvGrpSpPr>
        <p:grpSpPr>
          <a:xfrm>
            <a:off x="1209190" y="1377228"/>
            <a:ext cx="7632065" cy="2376344"/>
            <a:chOff x="762" y="868"/>
            <a:chExt cx="4808" cy="1497"/>
          </a:xfrm>
        </p:grpSpPr>
        <p:pic>
          <p:nvPicPr>
            <p:cNvPr id="2108" name="Google Shape;2108;p138"/>
            <p:cNvPicPr preferRelativeResize="0"/>
            <p:nvPr/>
          </p:nvPicPr>
          <p:blipFill rotWithShape="1">
            <a:blip r:embed="rId4">
              <a:alphaModFix/>
            </a:blip>
            <a:srcRect b="0" l="0" r="0" t="0"/>
            <a:stretch/>
          </p:blipFill>
          <p:spPr>
            <a:xfrm>
              <a:off x="762" y="868"/>
              <a:ext cx="4808" cy="1497"/>
            </a:xfrm>
            <a:prstGeom prst="rect">
              <a:avLst/>
            </a:prstGeom>
            <a:noFill/>
            <a:ln>
              <a:noFill/>
            </a:ln>
          </p:spPr>
        </p:pic>
        <p:pic>
          <p:nvPicPr>
            <p:cNvPr id="2109" name="Google Shape;2109;p138"/>
            <p:cNvPicPr preferRelativeResize="0"/>
            <p:nvPr/>
          </p:nvPicPr>
          <p:blipFill rotWithShape="1">
            <a:blip r:embed="rId5">
              <a:alphaModFix/>
            </a:blip>
            <a:srcRect b="0" l="0" r="0" t="0"/>
            <a:stretch/>
          </p:blipFill>
          <p:spPr>
            <a:xfrm>
              <a:off x="2621" y="1231"/>
              <a:ext cx="458" cy="499"/>
            </a:xfrm>
            <a:prstGeom prst="rect">
              <a:avLst/>
            </a:prstGeom>
            <a:noFill/>
            <a:ln>
              <a:noFill/>
            </a:ln>
          </p:spPr>
        </p:pic>
        <p:sp>
          <p:nvSpPr>
            <p:cNvPr id="2110" name="Google Shape;2110;p138"/>
            <p:cNvSpPr txBox="1"/>
            <p:nvPr/>
          </p:nvSpPr>
          <p:spPr>
            <a:xfrm>
              <a:off x="943" y="2024"/>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l=0</a:t>
              </a:r>
              <a:endParaRPr/>
            </a:p>
          </p:txBody>
        </p:sp>
        <p:sp>
          <p:nvSpPr>
            <p:cNvPr id="2111" name="Google Shape;2111;p138"/>
            <p:cNvSpPr txBox="1"/>
            <p:nvPr/>
          </p:nvSpPr>
          <p:spPr>
            <a:xfrm>
              <a:off x="5070" y="1979"/>
              <a:ext cx="409"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r=7</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6"/>
                                        </p:tgtEl>
                                        <p:attrNameLst>
                                          <p:attrName>style.visibility</p:attrName>
                                        </p:attrNameLst>
                                      </p:cBhvr>
                                      <p:to>
                                        <p:strVal val="visible"/>
                                      </p:to>
                                    </p:set>
                                    <p:animEffect filter="fade" transition="in">
                                      <p:cBhvr>
                                        <p:cTn dur="500"/>
                                        <p:tgtEl>
                                          <p:spTgt spid="2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13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sp>
        <p:nvSpPr>
          <p:cNvPr id="2117" name="Google Shape;2117;p139"/>
          <p:cNvSpPr txBox="1"/>
          <p:nvPr>
            <p:ph idx="1" type="body"/>
          </p:nvPr>
        </p:nvSpPr>
        <p:spPr>
          <a:xfrm>
            <a:off x="864412" y="332600"/>
            <a:ext cx="5946900" cy="10065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Phân hoạch  đoạn l =0, r = 2:</a:t>
            </a:r>
            <a:endParaRPr/>
          </a:p>
        </p:txBody>
      </p:sp>
      <p:sp>
        <p:nvSpPr>
          <p:cNvPr id="2118" name="Google Shape;2118;p139"/>
          <p:cNvSpPr txBox="1"/>
          <p:nvPr/>
        </p:nvSpPr>
        <p:spPr>
          <a:xfrm>
            <a:off x="6710187" y="1339063"/>
            <a:ext cx="22827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x = a[2] = 2</a:t>
            </a:r>
            <a:endParaRPr/>
          </a:p>
        </p:txBody>
      </p:sp>
      <p:pic>
        <p:nvPicPr>
          <p:cNvPr id="2119" name="Google Shape;2119;p139"/>
          <p:cNvPicPr preferRelativeResize="0"/>
          <p:nvPr/>
        </p:nvPicPr>
        <p:blipFill rotWithShape="1">
          <a:blip r:embed="rId3">
            <a:alphaModFix/>
          </a:blip>
          <a:srcRect b="0" l="0" r="0" t="0"/>
          <a:stretch/>
        </p:blipFill>
        <p:spPr>
          <a:xfrm>
            <a:off x="1423987" y="4887912"/>
            <a:ext cx="7777162" cy="947737"/>
          </a:xfrm>
          <a:prstGeom prst="rect">
            <a:avLst/>
          </a:prstGeom>
          <a:noFill/>
          <a:ln>
            <a:noFill/>
          </a:ln>
        </p:spPr>
      </p:pic>
      <p:grpSp>
        <p:nvGrpSpPr>
          <p:cNvPr id="2120" name="Google Shape;2120;p139"/>
          <p:cNvGrpSpPr/>
          <p:nvPr/>
        </p:nvGrpSpPr>
        <p:grpSpPr>
          <a:xfrm>
            <a:off x="1281112" y="2492375"/>
            <a:ext cx="7920037" cy="1728787"/>
            <a:chOff x="807" y="1570"/>
            <a:chExt cx="4989" cy="1089"/>
          </a:xfrm>
        </p:grpSpPr>
        <p:pic>
          <p:nvPicPr>
            <p:cNvPr id="2121" name="Google Shape;2121;p139"/>
            <p:cNvPicPr preferRelativeResize="0"/>
            <p:nvPr/>
          </p:nvPicPr>
          <p:blipFill rotWithShape="1">
            <a:blip r:embed="rId4">
              <a:alphaModFix/>
            </a:blip>
            <a:srcRect b="0" l="0" r="0" t="0"/>
            <a:stretch/>
          </p:blipFill>
          <p:spPr>
            <a:xfrm>
              <a:off x="807" y="1570"/>
              <a:ext cx="4989" cy="1089"/>
            </a:xfrm>
            <a:prstGeom prst="rect">
              <a:avLst/>
            </a:prstGeom>
            <a:noFill/>
            <a:ln>
              <a:noFill/>
            </a:ln>
          </p:spPr>
        </p:pic>
        <p:sp>
          <p:nvSpPr>
            <p:cNvPr id="2122" name="Google Shape;2122;p139"/>
            <p:cNvSpPr txBox="1"/>
            <p:nvPr/>
          </p:nvSpPr>
          <p:spPr>
            <a:xfrm>
              <a:off x="943" y="2387"/>
              <a:ext cx="31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l=0</a:t>
              </a:r>
              <a:endParaRPr/>
            </a:p>
          </p:txBody>
        </p:sp>
        <p:sp>
          <p:nvSpPr>
            <p:cNvPr id="2123" name="Google Shape;2123;p139"/>
            <p:cNvSpPr txBox="1"/>
            <p:nvPr/>
          </p:nvSpPr>
          <p:spPr>
            <a:xfrm>
              <a:off x="2167" y="2341"/>
              <a:ext cx="409"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r=2</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8"/>
                                        </p:tgtEl>
                                        <p:attrNameLst>
                                          <p:attrName>style.visibility</p:attrName>
                                        </p:attrNameLst>
                                      </p:cBhvr>
                                      <p:to>
                                        <p:strVal val="visible"/>
                                      </p:to>
                                    </p:set>
                                    <p:animEffect filter="fade" transition="in">
                                      <p:cBhvr>
                                        <p:cTn dur="500"/>
                                        <p:tgtEl>
                                          <p:spTgt spid="2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9"/>
                                        </p:tgtEl>
                                        <p:attrNameLst>
                                          <p:attrName>style.visibility</p:attrName>
                                        </p:attrNameLst>
                                      </p:cBhvr>
                                      <p:to>
                                        <p:strVal val="visible"/>
                                      </p:to>
                                    </p:set>
                                    <p:animEffect filter="fade" transition="in">
                                      <p:cBhvr>
                                        <p:cTn dur="500"/>
                                        <p:tgtEl>
                                          <p:spTgt spid="2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7" name="Shape 2127"/>
        <p:cNvGrpSpPr/>
        <p:nvPr/>
      </p:nvGrpSpPr>
      <p:grpSpPr>
        <a:xfrm>
          <a:off x="0" y="0"/>
          <a:ext cx="0" cy="0"/>
          <a:chOff x="0" y="0"/>
          <a:chExt cx="0" cy="0"/>
        </a:xfrm>
      </p:grpSpPr>
      <p:sp>
        <p:nvSpPr>
          <p:cNvPr id="2128" name="Google Shape;2128;p14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sp>
        <p:nvSpPr>
          <p:cNvPr id="2129" name="Google Shape;2129;p140"/>
          <p:cNvSpPr txBox="1"/>
          <p:nvPr>
            <p:ph idx="1" type="body"/>
          </p:nvPr>
        </p:nvSpPr>
        <p:spPr>
          <a:xfrm>
            <a:off x="1162562" y="242725"/>
            <a:ext cx="6153300" cy="11811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Phân hoạch  đoạn l = 4, r = 7:</a:t>
            </a:r>
            <a:endParaRPr/>
          </a:p>
        </p:txBody>
      </p:sp>
      <p:pic>
        <p:nvPicPr>
          <p:cNvPr id="2130" name="Google Shape;2130;p140"/>
          <p:cNvPicPr preferRelativeResize="0"/>
          <p:nvPr/>
        </p:nvPicPr>
        <p:blipFill rotWithShape="1">
          <a:blip r:embed="rId3">
            <a:alphaModFix/>
          </a:blip>
          <a:srcRect b="0" l="0" r="0" t="0"/>
          <a:stretch/>
        </p:blipFill>
        <p:spPr>
          <a:xfrm>
            <a:off x="1712912" y="4678362"/>
            <a:ext cx="6911975" cy="1019175"/>
          </a:xfrm>
          <a:prstGeom prst="rect">
            <a:avLst/>
          </a:prstGeom>
          <a:noFill/>
          <a:ln>
            <a:noFill/>
          </a:ln>
        </p:spPr>
      </p:pic>
      <p:sp>
        <p:nvSpPr>
          <p:cNvPr id="2131" name="Google Shape;2131;p140"/>
          <p:cNvSpPr txBox="1"/>
          <p:nvPr/>
        </p:nvSpPr>
        <p:spPr>
          <a:xfrm>
            <a:off x="6681787" y="1557337"/>
            <a:ext cx="23955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x = a[5] = 6</a:t>
            </a:r>
            <a:r>
              <a:rPr b="0" i="0" lang="en-US" sz="3200" u="none">
                <a:solidFill>
                  <a:schemeClr val="dk1"/>
                </a:solidFill>
                <a:latin typeface="Arial"/>
                <a:ea typeface="Arial"/>
                <a:cs typeface="Arial"/>
                <a:sym typeface="Arial"/>
              </a:rPr>
              <a:t> </a:t>
            </a:r>
            <a:endParaRPr/>
          </a:p>
        </p:txBody>
      </p:sp>
      <p:pic>
        <p:nvPicPr>
          <p:cNvPr id="2132" name="Google Shape;2132;p140"/>
          <p:cNvPicPr preferRelativeResize="0"/>
          <p:nvPr/>
        </p:nvPicPr>
        <p:blipFill rotWithShape="1">
          <a:blip r:embed="rId4">
            <a:alphaModFix/>
          </a:blip>
          <a:srcRect b="0" l="0" r="0" t="0"/>
          <a:stretch/>
        </p:blipFill>
        <p:spPr>
          <a:xfrm>
            <a:off x="1712912" y="2349500"/>
            <a:ext cx="7056437" cy="1589087"/>
          </a:xfrm>
          <a:prstGeom prst="rect">
            <a:avLst/>
          </a:prstGeom>
          <a:noFill/>
          <a:ln>
            <a:noFill/>
          </a:ln>
        </p:spPr>
      </p:pic>
      <p:sp>
        <p:nvSpPr>
          <p:cNvPr id="2133" name="Google Shape;2133;p140"/>
          <p:cNvSpPr txBox="1"/>
          <p:nvPr/>
        </p:nvSpPr>
        <p:spPr>
          <a:xfrm>
            <a:off x="5402262" y="3448050"/>
            <a:ext cx="5048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l=4</a:t>
            </a:r>
            <a:endParaRPr/>
          </a:p>
        </p:txBody>
      </p:sp>
      <p:sp>
        <p:nvSpPr>
          <p:cNvPr id="2134" name="Google Shape;2134;p140"/>
          <p:cNvSpPr txBox="1"/>
          <p:nvPr/>
        </p:nvSpPr>
        <p:spPr>
          <a:xfrm>
            <a:off x="8048625" y="3430587"/>
            <a:ext cx="57626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r=7</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2"/>
                                        </p:tgtEl>
                                        <p:attrNameLst>
                                          <p:attrName>style.visibility</p:attrName>
                                        </p:attrNameLst>
                                      </p:cBhvr>
                                      <p:to>
                                        <p:strVal val="visible"/>
                                      </p:to>
                                    </p:set>
                                    <p:animEffect filter="fade" transition="in">
                                      <p:cBhvr>
                                        <p:cTn dur="500"/>
                                        <p:tgtEl>
                                          <p:spTgt spid="2132"/>
                                        </p:tgtEl>
                                      </p:cBhvr>
                                    </p:animEffect>
                                  </p:childTnLst>
                                </p:cTn>
                              </p:par>
                              <p:par>
                                <p:cTn fill="hold" nodeType="withEffect" presetClass="entr" presetID="10" presetSubtype="0">
                                  <p:stCondLst>
                                    <p:cond delay="0"/>
                                  </p:stCondLst>
                                  <p:childTnLst>
                                    <p:set>
                                      <p:cBhvr>
                                        <p:cTn dur="1" fill="hold">
                                          <p:stCondLst>
                                            <p:cond delay="0"/>
                                          </p:stCondLst>
                                        </p:cTn>
                                        <p:tgtEl>
                                          <p:spTgt spid="2133"/>
                                        </p:tgtEl>
                                        <p:attrNameLst>
                                          <p:attrName>style.visibility</p:attrName>
                                        </p:attrNameLst>
                                      </p:cBhvr>
                                      <p:to>
                                        <p:strVal val="visible"/>
                                      </p:to>
                                    </p:set>
                                    <p:animEffect filter="fade" transition="in">
                                      <p:cBhvr>
                                        <p:cTn dur="500"/>
                                        <p:tgtEl>
                                          <p:spTgt spid="2133"/>
                                        </p:tgtEl>
                                      </p:cBhvr>
                                    </p:animEffect>
                                  </p:childTnLst>
                                </p:cTn>
                              </p:par>
                              <p:par>
                                <p:cTn fill="hold" nodeType="withEffect" presetClass="entr" presetID="10" presetSubtype="0">
                                  <p:stCondLst>
                                    <p:cond delay="0"/>
                                  </p:stCondLst>
                                  <p:childTnLst>
                                    <p:set>
                                      <p:cBhvr>
                                        <p:cTn dur="1" fill="hold">
                                          <p:stCondLst>
                                            <p:cond delay="0"/>
                                          </p:stCondLst>
                                        </p:cTn>
                                        <p:tgtEl>
                                          <p:spTgt spid="2134"/>
                                        </p:tgtEl>
                                        <p:attrNameLst>
                                          <p:attrName>style.visibility</p:attrName>
                                        </p:attrNameLst>
                                      </p:cBhvr>
                                      <p:to>
                                        <p:strVal val="visible"/>
                                      </p:to>
                                    </p:set>
                                    <p:animEffect filter="fade" transition="in">
                                      <p:cBhvr>
                                        <p:cTn dur="500"/>
                                        <p:tgtEl>
                                          <p:spTgt spid="2134"/>
                                        </p:tgtEl>
                                      </p:cBhvr>
                                    </p:animEffect>
                                  </p:childTnLst>
                                </p:cTn>
                              </p:par>
                              <p:par>
                                <p:cTn fill="hold" nodeType="withEffect" presetClass="entr" presetID="10" presetSubtype="0">
                                  <p:stCondLst>
                                    <p:cond delay="0"/>
                                  </p:stCondLst>
                                  <p:childTnLst>
                                    <p:set>
                                      <p:cBhvr>
                                        <p:cTn dur="1" fill="hold">
                                          <p:stCondLst>
                                            <p:cond delay="0"/>
                                          </p:stCondLst>
                                        </p:cTn>
                                        <p:tgtEl>
                                          <p:spTgt spid="2131"/>
                                        </p:tgtEl>
                                        <p:attrNameLst>
                                          <p:attrName>style.visibility</p:attrName>
                                        </p:attrNameLst>
                                      </p:cBhvr>
                                      <p:to>
                                        <p:strVal val="visible"/>
                                      </p:to>
                                    </p:set>
                                    <p:animEffect filter="fade" transition="in">
                                      <p:cBhvr>
                                        <p:cTn dur="500"/>
                                        <p:tgtEl>
                                          <p:spTgt spid="2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0"/>
                                        </p:tgtEl>
                                        <p:attrNameLst>
                                          <p:attrName>style.visibility</p:attrName>
                                        </p:attrNameLst>
                                      </p:cBhvr>
                                      <p:to>
                                        <p:strVal val="visible"/>
                                      </p:to>
                                    </p:set>
                                    <p:animEffect filter="fade" transition="in">
                                      <p:cBhvr>
                                        <p:cTn dur="500"/>
                                        <p:tgtEl>
                                          <p:spTgt spid="2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8" name="Shape 2138"/>
        <p:cNvGrpSpPr/>
        <p:nvPr/>
      </p:nvGrpSpPr>
      <p:grpSpPr>
        <a:xfrm>
          <a:off x="0" y="0"/>
          <a:ext cx="0" cy="0"/>
          <a:chOff x="0" y="0"/>
          <a:chExt cx="0" cy="0"/>
        </a:xfrm>
      </p:grpSpPr>
      <p:sp>
        <p:nvSpPr>
          <p:cNvPr id="2139" name="Google Shape;2139;p14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b="1" sz="3200">
              <a:solidFill>
                <a:schemeClr val="lt1"/>
              </a:solidFill>
              <a:latin typeface="Arial"/>
              <a:ea typeface="Arial"/>
              <a:cs typeface="Arial"/>
              <a:sym typeface="Arial"/>
            </a:endParaRPr>
          </a:p>
        </p:txBody>
      </p:sp>
      <p:sp>
        <p:nvSpPr>
          <p:cNvPr id="2140" name="Google Shape;2140;p141"/>
          <p:cNvSpPr txBox="1"/>
          <p:nvPr>
            <p:ph idx="1" type="body"/>
          </p:nvPr>
        </p:nvSpPr>
        <p:spPr>
          <a:xfrm>
            <a:off x="992187" y="981075"/>
            <a:ext cx="8440737" cy="915987"/>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sng">
                <a:solidFill>
                  <a:schemeClr val="dk1"/>
                </a:solidFill>
                <a:latin typeface="Arial"/>
                <a:ea typeface="Arial"/>
                <a:cs typeface="Arial"/>
                <a:sym typeface="Arial"/>
              </a:rPr>
              <a:t>Phân hoạch  đoạn l = 6, r = 7:</a:t>
            </a:r>
            <a:endParaRPr/>
          </a:p>
        </p:txBody>
      </p:sp>
      <p:pic>
        <p:nvPicPr>
          <p:cNvPr id="2141" name="Google Shape;2141;p141"/>
          <p:cNvPicPr preferRelativeResize="0"/>
          <p:nvPr/>
        </p:nvPicPr>
        <p:blipFill rotWithShape="1">
          <a:blip r:embed="rId3">
            <a:alphaModFix/>
          </a:blip>
          <a:srcRect b="0" l="0" r="0" t="0"/>
          <a:stretch/>
        </p:blipFill>
        <p:spPr>
          <a:xfrm>
            <a:off x="1208087" y="4879975"/>
            <a:ext cx="8066087" cy="1093787"/>
          </a:xfrm>
          <a:prstGeom prst="rect">
            <a:avLst/>
          </a:prstGeom>
          <a:noFill/>
          <a:ln>
            <a:noFill/>
          </a:ln>
        </p:spPr>
      </p:pic>
      <p:grpSp>
        <p:nvGrpSpPr>
          <p:cNvPr id="2142" name="Google Shape;2142;p141"/>
          <p:cNvGrpSpPr/>
          <p:nvPr/>
        </p:nvGrpSpPr>
        <p:grpSpPr>
          <a:xfrm>
            <a:off x="1208087" y="1554162"/>
            <a:ext cx="8137525" cy="2601912"/>
            <a:chOff x="761" y="979"/>
            <a:chExt cx="5126" cy="1639"/>
          </a:xfrm>
        </p:grpSpPr>
        <p:sp>
          <p:nvSpPr>
            <p:cNvPr id="2143" name="Google Shape;2143;p141"/>
            <p:cNvSpPr txBox="1"/>
            <p:nvPr/>
          </p:nvSpPr>
          <p:spPr>
            <a:xfrm>
              <a:off x="4315" y="979"/>
              <a:ext cx="1438" cy="3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x = a[6] = 6</a:t>
              </a:r>
              <a:endParaRPr/>
            </a:p>
          </p:txBody>
        </p:sp>
        <p:pic>
          <p:nvPicPr>
            <p:cNvPr id="2144" name="Google Shape;2144;p141"/>
            <p:cNvPicPr preferRelativeResize="0"/>
            <p:nvPr/>
          </p:nvPicPr>
          <p:blipFill rotWithShape="1">
            <a:blip r:embed="rId4">
              <a:alphaModFix/>
            </a:blip>
            <a:srcRect b="0" l="0" r="0" t="0"/>
            <a:stretch/>
          </p:blipFill>
          <p:spPr>
            <a:xfrm>
              <a:off x="761" y="1661"/>
              <a:ext cx="5126" cy="953"/>
            </a:xfrm>
            <a:prstGeom prst="rect">
              <a:avLst/>
            </a:prstGeom>
            <a:noFill/>
            <a:ln>
              <a:noFill/>
            </a:ln>
          </p:spPr>
        </p:pic>
        <p:sp>
          <p:nvSpPr>
            <p:cNvPr id="2145" name="Google Shape;2145;p141"/>
            <p:cNvSpPr txBox="1"/>
            <p:nvPr/>
          </p:nvSpPr>
          <p:spPr>
            <a:xfrm>
              <a:off x="4753" y="2387"/>
              <a:ext cx="363"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l=6</a:t>
              </a:r>
              <a:endParaRPr/>
            </a:p>
          </p:txBody>
        </p:sp>
        <p:sp>
          <p:nvSpPr>
            <p:cNvPr id="2146" name="Google Shape;2146;p141"/>
            <p:cNvSpPr txBox="1"/>
            <p:nvPr/>
          </p:nvSpPr>
          <p:spPr>
            <a:xfrm>
              <a:off x="5388" y="2341"/>
              <a:ext cx="408"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r=7</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1"/>
                                        </p:tgtEl>
                                        <p:attrNameLst>
                                          <p:attrName>style.visibility</p:attrName>
                                        </p:attrNameLst>
                                      </p:cBhvr>
                                      <p:to>
                                        <p:strVal val="visible"/>
                                      </p:to>
                                    </p:set>
                                    <p:animEffect filter="fade" transition="in">
                                      <p:cBhvr>
                                        <p:cTn dur="500"/>
                                        <p:tgtEl>
                                          <p:spTgt spid="2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p14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a:t>
            </a:r>
            <a:endParaRPr/>
          </a:p>
        </p:txBody>
      </p:sp>
      <p:sp>
        <p:nvSpPr>
          <p:cNvPr id="2152" name="Google Shape;2152;p142"/>
          <p:cNvSpPr txBox="1"/>
          <p:nvPr>
            <p:ph idx="1" type="body"/>
          </p:nvPr>
        </p:nvSpPr>
        <p:spPr>
          <a:xfrm>
            <a:off x="1091475" y="1034625"/>
            <a:ext cx="8427900" cy="543870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None/>
            </a:pPr>
            <a:r>
              <a:t/>
            </a:r>
            <a:endParaRPr b="0" i="0" sz="1300" u="none">
              <a:solidFill>
                <a:srgbClr val="0000FF"/>
              </a:solidFill>
              <a:latin typeface="Arial"/>
              <a:ea typeface="Arial"/>
              <a:cs typeface="Arial"/>
              <a:sym typeface="Arial"/>
            </a:endParaRPr>
          </a:p>
          <a:p>
            <a:pPr indent="-463550" lvl="0" marL="463550" rtl="0" algn="l">
              <a:lnSpc>
                <a:spcPct val="100000"/>
              </a:lnSpc>
              <a:spcBef>
                <a:spcPts val="480"/>
              </a:spcBef>
              <a:spcAft>
                <a:spcPts val="0"/>
              </a:spcAft>
              <a:buClr>
                <a:srgbClr val="0000FF"/>
              </a:buClr>
              <a:buSzPts val="2400"/>
              <a:buNone/>
            </a:pPr>
            <a:r>
              <a:rPr b="0" i="0" lang="en-US" sz="1300" u="none">
                <a:solidFill>
                  <a:srgbClr val="0000FF"/>
                </a:solidFill>
                <a:latin typeface="Arial"/>
                <a:ea typeface="Arial"/>
                <a:cs typeface="Arial"/>
                <a:sym typeface="Arial"/>
              </a:rPr>
              <a:t>void</a:t>
            </a:r>
            <a:r>
              <a:rPr b="0" i="0" lang="en-US" sz="1300" u="none">
                <a:solidFill>
                  <a:srgbClr val="000000"/>
                </a:solidFill>
                <a:latin typeface="Arial"/>
                <a:ea typeface="Arial"/>
                <a:cs typeface="Arial"/>
                <a:sym typeface="Arial"/>
              </a:rPr>
              <a:t> </a:t>
            </a:r>
            <a:r>
              <a:rPr b="0" i="0" lang="en-US" sz="1300" u="none">
                <a:solidFill>
                  <a:schemeClr val="dk1"/>
                </a:solidFill>
                <a:latin typeface="Arial"/>
                <a:ea typeface="Arial"/>
                <a:cs typeface="Arial"/>
                <a:sym typeface="Arial"/>
              </a:rPr>
              <a:t>QuickSort</a:t>
            </a:r>
            <a:r>
              <a:rPr b="0" i="0" lang="en-US" sz="1300" u="none">
                <a:solidFill>
                  <a:srgbClr val="0000FF"/>
                </a:solidFill>
                <a:latin typeface="Arial"/>
                <a:ea typeface="Arial"/>
                <a:cs typeface="Arial"/>
                <a:sym typeface="Arial"/>
              </a:rPr>
              <a:t>(int</a:t>
            </a:r>
            <a:r>
              <a:rPr b="0" i="0" lang="en-US" sz="1300" u="none">
                <a:solidFill>
                  <a:srgbClr val="000000"/>
                </a:solidFill>
                <a:latin typeface="Arial"/>
                <a:ea typeface="Arial"/>
                <a:cs typeface="Arial"/>
                <a:sym typeface="Arial"/>
              </a:rPr>
              <a:t> a[], </a:t>
            </a:r>
            <a:r>
              <a:rPr b="0" i="0" lang="en-US" sz="1300" u="none">
                <a:solidFill>
                  <a:srgbClr val="0000FF"/>
                </a:solidFill>
                <a:latin typeface="Arial"/>
                <a:ea typeface="Arial"/>
                <a:cs typeface="Arial"/>
                <a:sym typeface="Arial"/>
              </a:rPr>
              <a:t>int</a:t>
            </a:r>
            <a:r>
              <a:rPr b="0" i="0" lang="en-US" sz="1300" u="none">
                <a:solidFill>
                  <a:srgbClr val="000000"/>
                </a:solidFill>
                <a:latin typeface="Arial"/>
                <a:ea typeface="Arial"/>
                <a:cs typeface="Arial"/>
                <a:sym typeface="Arial"/>
              </a:rPr>
              <a:t> left, </a:t>
            </a:r>
            <a:r>
              <a:rPr b="0" i="0" lang="en-US" sz="1300" u="none">
                <a:solidFill>
                  <a:srgbClr val="0000FF"/>
                </a:solidFill>
                <a:latin typeface="Arial"/>
                <a:ea typeface="Arial"/>
                <a:cs typeface="Arial"/>
                <a:sym typeface="Arial"/>
              </a:rPr>
              <a:t>int</a:t>
            </a:r>
            <a:r>
              <a:rPr b="0" i="0" lang="en-US" sz="1300" u="none">
                <a:solidFill>
                  <a:srgbClr val="000000"/>
                </a:solidFill>
                <a:latin typeface="Arial"/>
                <a:ea typeface="Arial"/>
                <a:cs typeface="Arial"/>
                <a:sym typeface="Arial"/>
              </a:rPr>
              <a:t> right)</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r>
              <a:rPr b="0" i="0" lang="en-US" sz="1300" u="none">
                <a:solidFill>
                  <a:srgbClr val="0000FF"/>
                </a:solidFill>
                <a:latin typeface="Arial"/>
                <a:ea typeface="Arial"/>
                <a:cs typeface="Arial"/>
                <a:sym typeface="Arial"/>
              </a:rPr>
              <a:t>int</a:t>
            </a:r>
            <a:r>
              <a:rPr b="0" i="0" lang="en-US" sz="1300" u="none">
                <a:solidFill>
                  <a:srgbClr val="000000"/>
                </a:solidFill>
                <a:latin typeface="Arial"/>
                <a:ea typeface="Arial"/>
                <a:cs typeface="Arial"/>
                <a:sym typeface="Arial"/>
              </a:rPr>
              <a:t>	i, j, x;</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x = a[(left+right)/2];</a:t>
            </a:r>
            <a:r>
              <a:rPr b="0" i="1" lang="en-US" sz="1300" u="none">
                <a:solidFill>
                  <a:srgbClr val="000000"/>
                </a:solidFill>
                <a:latin typeface="Arial"/>
                <a:ea typeface="Arial"/>
                <a:cs typeface="Arial"/>
                <a:sym typeface="Arial"/>
              </a:rPr>
              <a:t> </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i = left; j = right;</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r>
              <a:rPr b="0" i="0" lang="en-US" sz="1300" u="none">
                <a:solidFill>
                  <a:srgbClr val="0000FF"/>
                </a:solidFill>
                <a:latin typeface="Arial"/>
                <a:ea typeface="Arial"/>
                <a:cs typeface="Arial"/>
                <a:sym typeface="Arial"/>
              </a:rPr>
              <a:t>while</a:t>
            </a:r>
            <a:r>
              <a:rPr b="0" i="0" lang="en-US" sz="1300" u="none">
                <a:solidFill>
                  <a:srgbClr val="000000"/>
                </a:solidFill>
                <a:latin typeface="Arial"/>
                <a:ea typeface="Arial"/>
                <a:cs typeface="Arial"/>
                <a:sym typeface="Arial"/>
              </a:rPr>
              <a:t>(i &lt; j)</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r>
              <a:rPr b="0" i="0" lang="en-US" sz="1300" u="none">
                <a:solidFill>
                  <a:srgbClr val="0000FF"/>
                </a:solidFill>
                <a:latin typeface="Arial"/>
                <a:ea typeface="Arial"/>
                <a:cs typeface="Arial"/>
                <a:sym typeface="Arial"/>
              </a:rPr>
              <a:t>while</a:t>
            </a:r>
            <a:r>
              <a:rPr b="0" i="0" lang="en-US" sz="1300" u="none">
                <a:solidFill>
                  <a:srgbClr val="000000"/>
                </a:solidFill>
                <a:latin typeface="Arial"/>
                <a:ea typeface="Arial"/>
                <a:cs typeface="Arial"/>
                <a:sym typeface="Arial"/>
              </a:rPr>
              <a:t>(a[i] &lt; x) i++;</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r>
              <a:rPr b="0" i="0" lang="en-US" sz="1300" u="none">
                <a:solidFill>
                  <a:srgbClr val="0000FF"/>
                </a:solidFill>
                <a:latin typeface="Arial"/>
                <a:ea typeface="Arial"/>
                <a:cs typeface="Arial"/>
                <a:sym typeface="Arial"/>
              </a:rPr>
              <a:t>while</a:t>
            </a:r>
            <a:r>
              <a:rPr b="0" i="0" lang="en-US" sz="1300" u="none">
                <a:solidFill>
                  <a:srgbClr val="000000"/>
                </a:solidFill>
                <a:latin typeface="Arial"/>
                <a:ea typeface="Arial"/>
                <a:cs typeface="Arial"/>
                <a:sym typeface="Arial"/>
              </a:rPr>
              <a:t>(a[j] &gt; x) j--;</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r>
              <a:rPr b="0" i="0" lang="en-US" sz="1300" u="none">
                <a:solidFill>
                  <a:srgbClr val="0000FF"/>
                </a:solidFill>
                <a:latin typeface="Arial"/>
                <a:ea typeface="Arial"/>
                <a:cs typeface="Arial"/>
                <a:sym typeface="Arial"/>
              </a:rPr>
              <a:t>if</a:t>
            </a:r>
            <a:r>
              <a:rPr b="0" i="0" lang="en-US" sz="1300" u="none">
                <a:solidFill>
                  <a:srgbClr val="000000"/>
                </a:solidFill>
                <a:latin typeface="Arial"/>
                <a:ea typeface="Arial"/>
                <a:cs typeface="Arial"/>
                <a:sym typeface="Arial"/>
              </a:rPr>
              <a:t>(i &lt;= j)</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 </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r>
              <a:rPr b="0" i="0" lang="en-US" sz="1300" u="none">
                <a:solidFill>
                  <a:schemeClr val="dk1"/>
                </a:solidFill>
                <a:latin typeface="Arial"/>
                <a:ea typeface="Arial"/>
                <a:cs typeface="Arial"/>
                <a:sym typeface="Arial"/>
              </a:rPr>
              <a:t>Doicho</a:t>
            </a:r>
            <a:r>
              <a:rPr b="0" i="0" lang="en-US" sz="1300" u="none">
                <a:solidFill>
                  <a:srgbClr val="000000"/>
                </a:solidFill>
                <a:latin typeface="Arial"/>
                <a:ea typeface="Arial"/>
                <a:cs typeface="Arial"/>
                <a:sym typeface="Arial"/>
              </a:rPr>
              <a:t>(a[i],a[j]);</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i++ ; j--;</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	</a:t>
            </a:r>
            <a:r>
              <a:rPr b="0" i="0" lang="en-US" sz="1300" u="none">
                <a:solidFill>
                  <a:srgbClr val="0000FF"/>
                </a:solidFill>
                <a:latin typeface="Arial"/>
                <a:ea typeface="Arial"/>
                <a:cs typeface="Arial"/>
                <a:sym typeface="Arial"/>
              </a:rPr>
              <a:t>if</a:t>
            </a:r>
            <a:r>
              <a:rPr b="0" i="0" lang="en-US" sz="1300" u="none">
                <a:solidFill>
                  <a:srgbClr val="000000"/>
                </a:solidFill>
                <a:latin typeface="Arial"/>
                <a:ea typeface="Arial"/>
                <a:cs typeface="Arial"/>
                <a:sym typeface="Arial"/>
              </a:rPr>
              <a:t>(left&lt;j)</a:t>
            </a:r>
            <a:endParaRPr sz="1300"/>
          </a:p>
          <a:p>
            <a:pPr indent="-463550" lvl="0" marL="463550" rtl="0" algn="l">
              <a:lnSpc>
                <a:spcPct val="100000"/>
              </a:lnSpc>
              <a:spcBef>
                <a:spcPts val="480"/>
              </a:spcBef>
              <a:spcAft>
                <a:spcPts val="0"/>
              </a:spcAft>
              <a:buClr>
                <a:srgbClr val="FF0000"/>
              </a:buClr>
              <a:buSzPts val="2400"/>
              <a:buNone/>
            </a:pPr>
            <a:r>
              <a:rPr b="0" i="0" lang="en-US" sz="1300" u="none">
                <a:solidFill>
                  <a:srgbClr val="FF0000"/>
                </a:solidFill>
                <a:latin typeface="Arial"/>
                <a:ea typeface="Arial"/>
                <a:cs typeface="Arial"/>
                <a:sym typeface="Arial"/>
              </a:rPr>
              <a:t>		</a:t>
            </a:r>
            <a:r>
              <a:rPr b="0" i="0" lang="en-US" sz="1300" u="none">
                <a:solidFill>
                  <a:schemeClr val="dk1"/>
                </a:solidFill>
                <a:latin typeface="Arial"/>
                <a:ea typeface="Arial"/>
                <a:cs typeface="Arial"/>
                <a:sym typeface="Arial"/>
              </a:rPr>
              <a:t>QuickSort</a:t>
            </a:r>
            <a:r>
              <a:rPr b="0" i="0" lang="en-US" sz="1300" u="none">
                <a:solidFill>
                  <a:srgbClr val="000000"/>
                </a:solidFill>
                <a:latin typeface="Arial"/>
                <a:ea typeface="Arial"/>
                <a:cs typeface="Arial"/>
                <a:sym typeface="Arial"/>
              </a:rPr>
              <a:t>(a, left, j);</a:t>
            </a:r>
            <a:endParaRPr sz="1300"/>
          </a:p>
          <a:p>
            <a:pPr indent="-463550" lvl="0" marL="463550" rtl="0" algn="l">
              <a:lnSpc>
                <a:spcPct val="100000"/>
              </a:lnSpc>
              <a:spcBef>
                <a:spcPts val="480"/>
              </a:spcBef>
              <a:spcAft>
                <a:spcPts val="0"/>
              </a:spcAft>
              <a:buClr>
                <a:srgbClr val="FF0000"/>
              </a:buClr>
              <a:buSzPts val="2400"/>
              <a:buNone/>
            </a:pPr>
            <a:r>
              <a:rPr b="0" i="0" lang="en-US" sz="1300" u="none">
                <a:solidFill>
                  <a:srgbClr val="FF0000"/>
                </a:solidFill>
                <a:latin typeface="Arial"/>
                <a:ea typeface="Arial"/>
                <a:cs typeface="Arial"/>
                <a:sym typeface="Arial"/>
              </a:rPr>
              <a:t>	</a:t>
            </a:r>
            <a:r>
              <a:rPr b="0" i="0" lang="en-US" sz="1300" u="none">
                <a:solidFill>
                  <a:srgbClr val="0000FF"/>
                </a:solidFill>
                <a:latin typeface="Arial"/>
                <a:ea typeface="Arial"/>
                <a:cs typeface="Arial"/>
                <a:sym typeface="Arial"/>
              </a:rPr>
              <a:t>i</a:t>
            </a:r>
            <a:r>
              <a:rPr b="0" i="0" lang="en-US" sz="1300" u="none">
                <a:solidFill>
                  <a:srgbClr val="0000FF"/>
                </a:solidFill>
                <a:latin typeface="Arial"/>
                <a:ea typeface="Arial"/>
                <a:cs typeface="Arial"/>
                <a:sym typeface="Arial"/>
              </a:rPr>
              <a:t>f</a:t>
            </a:r>
            <a:r>
              <a:rPr b="0" i="0" lang="en-US" sz="1300" u="none">
                <a:solidFill>
                  <a:schemeClr val="dk1"/>
                </a:solidFill>
                <a:latin typeface="Arial"/>
                <a:ea typeface="Arial"/>
                <a:cs typeface="Arial"/>
                <a:sym typeface="Arial"/>
              </a:rPr>
              <a:t>(i&lt;right)</a:t>
            </a:r>
            <a:endParaRPr sz="1300"/>
          </a:p>
          <a:p>
            <a:pPr indent="-463550" lvl="0" marL="463550" rtl="0" algn="l">
              <a:lnSpc>
                <a:spcPct val="100000"/>
              </a:lnSpc>
              <a:spcBef>
                <a:spcPts val="480"/>
              </a:spcBef>
              <a:spcAft>
                <a:spcPts val="0"/>
              </a:spcAft>
              <a:buClr>
                <a:srgbClr val="FF0000"/>
              </a:buClr>
              <a:buSzPts val="2400"/>
              <a:buNone/>
            </a:pPr>
            <a:r>
              <a:rPr b="0" i="0" lang="en-US" sz="1300" u="none">
                <a:solidFill>
                  <a:srgbClr val="FF0000"/>
                </a:solidFill>
                <a:latin typeface="Arial"/>
                <a:ea typeface="Arial"/>
                <a:cs typeface="Arial"/>
                <a:sym typeface="Arial"/>
              </a:rPr>
              <a:t>		</a:t>
            </a:r>
            <a:r>
              <a:rPr b="0" i="0" lang="en-US" sz="1300" u="none">
                <a:solidFill>
                  <a:schemeClr val="dk1"/>
                </a:solidFill>
                <a:latin typeface="Arial"/>
                <a:ea typeface="Arial"/>
                <a:cs typeface="Arial"/>
                <a:sym typeface="Arial"/>
              </a:rPr>
              <a:t>QuickSort</a:t>
            </a:r>
            <a:r>
              <a:rPr b="0" i="0" lang="en-US" sz="1300" u="none">
                <a:solidFill>
                  <a:srgbClr val="000000"/>
                </a:solidFill>
                <a:latin typeface="Arial"/>
                <a:ea typeface="Arial"/>
                <a:cs typeface="Arial"/>
                <a:sym typeface="Arial"/>
              </a:rPr>
              <a:t>(a, i, right);</a:t>
            </a:r>
            <a:endParaRPr sz="1300"/>
          </a:p>
          <a:p>
            <a:pPr indent="-463550" lvl="0" marL="463550" rtl="0" algn="l">
              <a:lnSpc>
                <a:spcPct val="100000"/>
              </a:lnSpc>
              <a:spcBef>
                <a:spcPts val="480"/>
              </a:spcBef>
              <a:spcAft>
                <a:spcPts val="0"/>
              </a:spcAft>
              <a:buClr>
                <a:srgbClr val="000000"/>
              </a:buClr>
              <a:buSzPts val="2400"/>
              <a:buNone/>
            </a:pPr>
            <a:r>
              <a:rPr b="0" i="0" lang="en-US" sz="1300" u="none">
                <a:solidFill>
                  <a:srgbClr val="000000"/>
                </a:solidFill>
                <a:latin typeface="Arial"/>
                <a:ea typeface="Arial"/>
                <a:cs typeface="Arial"/>
                <a:sym typeface="Arial"/>
              </a:rPr>
              <a:t>}</a:t>
            </a:r>
            <a:endParaRPr sz="1300"/>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6" name="Shape 2156"/>
        <p:cNvGrpSpPr/>
        <p:nvPr/>
      </p:nvGrpSpPr>
      <p:grpSpPr>
        <a:xfrm>
          <a:off x="0" y="0"/>
          <a:ext cx="0" cy="0"/>
          <a:chOff x="0" y="0"/>
          <a:chExt cx="0" cy="0"/>
        </a:xfrm>
      </p:grpSpPr>
      <p:sp>
        <p:nvSpPr>
          <p:cNvPr id="2157" name="Google Shape;2157;p14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sp>
        <p:nvSpPr>
          <p:cNvPr id="2158" name="Google Shape;2158;p143"/>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159" name="Google Shape;2159;p143"/>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160" name="Google Shape;2160;p143"/>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161" name="Google Shape;2161;p143"/>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162" name="Google Shape;2162;p143"/>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163" name="Google Shape;2163;p143"/>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164" name="Google Shape;2164;p143"/>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2165" name="Google Shape;2165;p143"/>
          <p:cNvGrpSpPr/>
          <p:nvPr/>
        </p:nvGrpSpPr>
        <p:grpSpPr>
          <a:xfrm>
            <a:off x="1108075" y="2287587"/>
            <a:ext cx="8550275" cy="608012"/>
            <a:chOff x="644" y="1153"/>
            <a:chExt cx="4972" cy="383"/>
          </a:xfrm>
        </p:grpSpPr>
        <p:sp>
          <p:nvSpPr>
            <p:cNvPr id="2166" name="Google Shape;2166;p143"/>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167" name="Google Shape;2167;p143"/>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168" name="Google Shape;2168;p143"/>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169" name="Google Shape;2169;p143"/>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170" name="Google Shape;2170;p143"/>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171" name="Google Shape;2171;p143"/>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172" name="Google Shape;2172;p143"/>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173" name="Google Shape;2173;p143"/>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2174" name="Google Shape;2174;p143"/>
          <p:cNvSpPr/>
          <p:nvPr/>
        </p:nvSpPr>
        <p:spPr>
          <a:xfrm>
            <a:off x="984250" y="3581400"/>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left</a:t>
            </a:r>
            <a:endParaRPr/>
          </a:p>
        </p:txBody>
      </p:sp>
      <p:sp>
        <p:nvSpPr>
          <p:cNvPr id="2175" name="Google Shape;2175;p143"/>
          <p:cNvSpPr/>
          <p:nvPr/>
        </p:nvSpPr>
        <p:spPr>
          <a:xfrm>
            <a:off x="8758237" y="3551237"/>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right</a:t>
            </a:r>
            <a:endParaRPr/>
          </a:p>
        </p:txBody>
      </p:sp>
      <p:grpSp>
        <p:nvGrpSpPr>
          <p:cNvPr id="2176" name="Google Shape;2176;p143"/>
          <p:cNvGrpSpPr/>
          <p:nvPr/>
        </p:nvGrpSpPr>
        <p:grpSpPr>
          <a:xfrm>
            <a:off x="1791588" y="4418000"/>
            <a:ext cx="3094928" cy="1179524"/>
            <a:chOff x="951" y="2812"/>
            <a:chExt cx="1800" cy="743"/>
          </a:xfrm>
        </p:grpSpPr>
        <p:sp>
          <p:nvSpPr>
            <p:cNvPr id="2177" name="Google Shape;2177;p143"/>
            <p:cNvSpPr/>
            <p:nvPr/>
          </p:nvSpPr>
          <p:spPr>
            <a:xfrm>
              <a:off x="1743" y="2812"/>
              <a:ext cx="600" cy="300"/>
            </a:xfrm>
            <a:prstGeom prst="octagon">
              <a:avLst>
                <a:gd fmla="val 6621" name="adj"/>
              </a:avLst>
            </a:prstGeom>
            <a:solidFill>
              <a:srgbClr val="FF3300"/>
            </a:solidFill>
            <a:ln cap="flat" cmpd="sng" w="28575">
              <a:solidFill>
                <a:srgbClr val="FF3300"/>
              </a:solidFill>
              <a:prstDash val="solid"/>
              <a:miter lim="800000"/>
              <a:headEnd len="sm" w="sm" type="none"/>
              <a:tailEnd len="sm" w="sm" type="none"/>
            </a:ln>
          </p:spPr>
          <p:txBody>
            <a:bodyPr anchorCtr="0" anchor="t" bIns="45700" lIns="91425" spcFirstLastPara="1" rIns="0" wrap="square" tIns="45700">
              <a:noAutofit/>
            </a:bodyPr>
            <a:lstStyle/>
            <a:p>
              <a:pPr indent="0" lvl="0" marL="0" marR="0" rtl="0" algn="ctr">
                <a:lnSpc>
                  <a:spcPct val="100000"/>
                </a:lnSpc>
                <a:spcBef>
                  <a:spcPts val="0"/>
                </a:spcBef>
                <a:spcAft>
                  <a:spcPts val="0"/>
                </a:spcAft>
                <a:buClr>
                  <a:schemeClr val="lt1"/>
                </a:buClr>
                <a:buSzPts val="2600"/>
                <a:buFont typeface="Helvetica Neue"/>
                <a:buNone/>
              </a:pPr>
              <a:r>
                <a:rPr b="1" i="0" lang="en-US" sz="2600" u="none">
                  <a:solidFill>
                    <a:schemeClr val="lt1"/>
                  </a:solidFill>
                  <a:latin typeface="Helvetica Neue"/>
                  <a:ea typeface="Helvetica Neue"/>
                  <a:cs typeface="Helvetica Neue"/>
                  <a:sym typeface="Helvetica Neue"/>
                </a:rPr>
                <a:t>STOP </a:t>
              </a:r>
              <a:endParaRPr/>
            </a:p>
          </p:txBody>
        </p:sp>
        <p:sp>
          <p:nvSpPr>
            <p:cNvPr id="2178" name="Google Shape;2178;p143"/>
            <p:cNvSpPr txBox="1"/>
            <p:nvPr/>
          </p:nvSpPr>
          <p:spPr>
            <a:xfrm>
              <a:off x="951" y="3255"/>
              <a:ext cx="1800" cy="300"/>
            </a:xfrm>
            <a:prstGeom prst="rect">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Not less than X</a:t>
              </a:r>
              <a:endParaRPr/>
            </a:p>
          </p:txBody>
        </p:sp>
      </p:grpSp>
      <p:grpSp>
        <p:nvGrpSpPr>
          <p:cNvPr id="2179" name="Google Shape;2179;p143"/>
          <p:cNvGrpSpPr/>
          <p:nvPr/>
        </p:nvGrpSpPr>
        <p:grpSpPr>
          <a:xfrm>
            <a:off x="984262" y="1416150"/>
            <a:ext cx="990600" cy="950912"/>
            <a:chOff x="575" y="1170"/>
            <a:chExt cx="576" cy="599"/>
          </a:xfrm>
        </p:grpSpPr>
        <p:sp>
          <p:nvSpPr>
            <p:cNvPr id="2180" name="Google Shape;2180;p143"/>
            <p:cNvSpPr/>
            <p:nvPr/>
          </p:nvSpPr>
          <p:spPr>
            <a:xfrm>
              <a:off x="575" y="1305"/>
              <a:ext cx="576" cy="464"/>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i</a:t>
              </a:r>
              <a:endParaRPr/>
            </a:p>
          </p:txBody>
        </p:sp>
        <p:cxnSp>
          <p:nvCxnSpPr>
            <p:cNvPr id="2181" name="Google Shape;2181;p143"/>
            <p:cNvCxnSpPr/>
            <p:nvPr/>
          </p:nvCxnSpPr>
          <p:spPr>
            <a:xfrm>
              <a:off x="720" y="1170"/>
              <a:ext cx="298" cy="0"/>
            </a:xfrm>
            <a:prstGeom prst="straightConnector1">
              <a:avLst/>
            </a:prstGeom>
            <a:noFill/>
            <a:ln cap="flat" cmpd="sng" w="38100">
              <a:solidFill>
                <a:srgbClr val="0000FF"/>
              </a:solidFill>
              <a:prstDash val="solid"/>
              <a:miter lim="800000"/>
              <a:headEnd len="med" w="med" type="none"/>
              <a:tailEnd len="med" w="med" type="triangle"/>
            </a:ln>
          </p:spPr>
        </p:cxnSp>
      </p:grpSp>
      <p:grpSp>
        <p:nvGrpSpPr>
          <p:cNvPr id="2182" name="Google Shape;2182;p143"/>
          <p:cNvGrpSpPr/>
          <p:nvPr/>
        </p:nvGrpSpPr>
        <p:grpSpPr>
          <a:xfrm>
            <a:off x="8758237" y="1467850"/>
            <a:ext cx="990600" cy="952500"/>
            <a:chOff x="5083" y="1169"/>
            <a:chExt cx="576" cy="600"/>
          </a:xfrm>
        </p:grpSpPr>
        <p:sp>
          <p:nvSpPr>
            <p:cNvPr id="2183" name="Google Shape;2183;p143"/>
            <p:cNvSpPr/>
            <p:nvPr/>
          </p:nvSpPr>
          <p:spPr>
            <a:xfrm>
              <a:off x="5083" y="1305"/>
              <a:ext cx="576" cy="464"/>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j</a:t>
              </a:r>
              <a:endParaRPr/>
            </a:p>
          </p:txBody>
        </p:sp>
        <p:cxnSp>
          <p:nvCxnSpPr>
            <p:cNvPr id="2184" name="Google Shape;2184;p143"/>
            <p:cNvCxnSpPr/>
            <p:nvPr/>
          </p:nvCxnSpPr>
          <p:spPr>
            <a:xfrm rot="10800000">
              <a:off x="5203" y="1169"/>
              <a:ext cx="298" cy="0"/>
            </a:xfrm>
            <a:prstGeom prst="straightConnector1">
              <a:avLst/>
            </a:prstGeom>
            <a:noFill/>
            <a:ln cap="flat" cmpd="sng" w="38100">
              <a:solidFill>
                <a:srgbClr val="FF3300"/>
              </a:solidFill>
              <a:prstDash val="solid"/>
              <a:miter lim="800000"/>
              <a:headEnd len="med" w="med" type="none"/>
              <a:tailEnd len="med" w="med" type="triangle"/>
            </a:ln>
          </p:spPr>
        </p:cxnSp>
      </p:grpSp>
      <p:grpSp>
        <p:nvGrpSpPr>
          <p:cNvPr id="2185" name="Google Shape;2185;p143"/>
          <p:cNvGrpSpPr/>
          <p:nvPr/>
        </p:nvGrpSpPr>
        <p:grpSpPr>
          <a:xfrm>
            <a:off x="4886537" y="4453999"/>
            <a:ext cx="3094928" cy="1147500"/>
            <a:chOff x="1382" y="2832"/>
            <a:chExt cx="1800" cy="723"/>
          </a:xfrm>
        </p:grpSpPr>
        <p:sp>
          <p:nvSpPr>
            <p:cNvPr id="2186" name="Google Shape;2186;p143"/>
            <p:cNvSpPr/>
            <p:nvPr/>
          </p:nvSpPr>
          <p:spPr>
            <a:xfrm>
              <a:off x="1872" y="2832"/>
              <a:ext cx="600" cy="300"/>
            </a:xfrm>
            <a:prstGeom prst="octagon">
              <a:avLst>
                <a:gd fmla="val 6621" name="adj"/>
              </a:avLst>
            </a:prstGeom>
            <a:solidFill>
              <a:srgbClr val="FF3300"/>
            </a:solidFill>
            <a:ln cap="flat" cmpd="sng" w="28575">
              <a:solidFill>
                <a:srgbClr val="FF3300"/>
              </a:solidFill>
              <a:prstDash val="solid"/>
              <a:miter lim="800000"/>
              <a:headEnd len="sm" w="sm" type="none"/>
              <a:tailEnd len="sm" w="sm" type="none"/>
            </a:ln>
          </p:spPr>
          <p:txBody>
            <a:bodyPr anchorCtr="0" anchor="t" bIns="45700" lIns="91425" spcFirstLastPara="1" rIns="0" wrap="square" tIns="45700">
              <a:noAutofit/>
            </a:bodyPr>
            <a:lstStyle/>
            <a:p>
              <a:pPr indent="0" lvl="0" marL="0" marR="0" rtl="0" algn="ctr">
                <a:lnSpc>
                  <a:spcPct val="100000"/>
                </a:lnSpc>
                <a:spcBef>
                  <a:spcPts val="0"/>
                </a:spcBef>
                <a:spcAft>
                  <a:spcPts val="0"/>
                </a:spcAft>
                <a:buClr>
                  <a:schemeClr val="lt1"/>
                </a:buClr>
                <a:buSzPts val="2600"/>
                <a:buFont typeface="Helvetica Neue"/>
                <a:buNone/>
              </a:pPr>
              <a:r>
                <a:rPr b="1" i="0" lang="en-US" sz="2600" u="none">
                  <a:solidFill>
                    <a:schemeClr val="lt1"/>
                  </a:solidFill>
                  <a:latin typeface="Helvetica Neue"/>
                  <a:ea typeface="Helvetica Neue"/>
                  <a:cs typeface="Helvetica Neue"/>
                  <a:sym typeface="Helvetica Neue"/>
                </a:rPr>
                <a:t>STOP </a:t>
              </a:r>
              <a:endParaRPr/>
            </a:p>
          </p:txBody>
        </p:sp>
        <p:sp>
          <p:nvSpPr>
            <p:cNvPr id="2187" name="Google Shape;2187;p143"/>
            <p:cNvSpPr txBox="1"/>
            <p:nvPr/>
          </p:nvSpPr>
          <p:spPr>
            <a:xfrm>
              <a:off x="1382" y="3255"/>
              <a:ext cx="1800" cy="300"/>
            </a:xfrm>
            <a:prstGeom prst="rect">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Not greater than X</a:t>
              </a:r>
              <a:endParaRPr/>
            </a:p>
          </p:txBody>
        </p:sp>
      </p:grpSp>
      <p:sp>
        <p:nvSpPr>
          <p:cNvPr id="2188" name="Google Shape;2188;p143"/>
          <p:cNvSpPr txBox="1"/>
          <p:nvPr/>
        </p:nvSpPr>
        <p:spPr>
          <a:xfrm>
            <a:off x="5999200" y="214300"/>
            <a:ext cx="2196600" cy="585000"/>
          </a:xfrm>
          <a:prstGeom prst="rect">
            <a:avLst/>
          </a:prstGeom>
          <a:solidFill>
            <a:srgbClr val="0000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00"/>
              </a:buClr>
              <a:buSzPts val="3200"/>
              <a:buFont typeface="Times New Roman"/>
              <a:buNone/>
            </a:pPr>
            <a:r>
              <a:rPr b="1" i="0" lang="en-US" sz="3200" u="none">
                <a:solidFill>
                  <a:srgbClr val="FFFF00"/>
                </a:solidFill>
                <a:latin typeface="Times New Roman"/>
                <a:ea typeface="Times New Roman"/>
                <a:cs typeface="Times New Roman"/>
                <a:sym typeface="Times New Roman"/>
              </a:rPr>
              <a:t>Ph</a:t>
            </a:r>
            <a:endParaRPr/>
          </a:p>
        </p:txBody>
      </p:sp>
      <p:grpSp>
        <p:nvGrpSpPr>
          <p:cNvPr id="2189" name="Google Shape;2189;p143"/>
          <p:cNvGrpSpPr/>
          <p:nvPr/>
        </p:nvGrpSpPr>
        <p:grpSpPr>
          <a:xfrm>
            <a:off x="4432300" y="2871787"/>
            <a:ext cx="790575" cy="1582214"/>
            <a:chOff x="2792" y="1809"/>
            <a:chExt cx="498" cy="997"/>
          </a:xfrm>
        </p:grpSpPr>
        <p:sp>
          <p:nvSpPr>
            <p:cNvPr id="2190" name="Google Shape;2190;p143"/>
            <p:cNvSpPr/>
            <p:nvPr/>
          </p:nvSpPr>
          <p:spPr>
            <a:xfrm>
              <a:off x="2792" y="1809"/>
              <a:ext cx="498" cy="389"/>
            </a:xfrm>
            <a:prstGeom prst="ellipse">
              <a:avLst/>
            </a:prstGeom>
            <a:gradFill>
              <a:gsLst>
                <a:gs pos="0">
                  <a:srgbClr val="FFFFFF"/>
                </a:gs>
                <a:gs pos="100000">
                  <a:srgbClr val="FB260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5</a:t>
              </a:r>
              <a:endParaRPr/>
            </a:p>
          </p:txBody>
        </p:sp>
        <p:cxnSp>
          <p:nvCxnSpPr>
            <p:cNvPr id="2191" name="Google Shape;2191;p143"/>
            <p:cNvCxnSpPr/>
            <p:nvPr/>
          </p:nvCxnSpPr>
          <p:spPr>
            <a:xfrm rot="10800000">
              <a:off x="3062" y="2205"/>
              <a:ext cx="0" cy="227"/>
            </a:xfrm>
            <a:prstGeom prst="straightConnector1">
              <a:avLst/>
            </a:prstGeom>
            <a:noFill/>
            <a:ln cap="flat" cmpd="sng" w="57150">
              <a:solidFill>
                <a:srgbClr val="FF0000"/>
              </a:solidFill>
              <a:prstDash val="solid"/>
              <a:miter lim="800000"/>
              <a:headEnd len="med" w="med" type="none"/>
              <a:tailEnd len="med" w="med" type="stealth"/>
            </a:ln>
          </p:spPr>
        </p:cxnSp>
        <p:sp>
          <p:nvSpPr>
            <p:cNvPr id="2192" name="Google Shape;2192;p143"/>
            <p:cNvSpPr txBox="1"/>
            <p:nvPr/>
          </p:nvSpPr>
          <p:spPr>
            <a:xfrm>
              <a:off x="2898" y="2506"/>
              <a:ext cx="300" cy="300"/>
            </a:xfrm>
            <a:prstGeom prst="rect">
              <a:avLst/>
            </a:prstGeom>
            <a:no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400">
                  <a:solidFill>
                    <a:schemeClr val="dk1"/>
                  </a:solidFill>
                </a:rPr>
                <a:t> </a:t>
              </a:r>
              <a:r>
                <a:rPr b="1" i="0" lang="en-US" sz="2400" u="none">
                  <a:solidFill>
                    <a:schemeClr val="dk1"/>
                  </a:solidFill>
                  <a:latin typeface="Arial"/>
                  <a:ea typeface="Arial"/>
                  <a:cs typeface="Arial"/>
                  <a:sym typeface="Arial"/>
                </a:rPr>
                <a:t>X</a:t>
              </a:r>
              <a:endParaRPr/>
            </a:p>
          </p:txBody>
        </p:sp>
      </p:grpSp>
      <p:sp>
        <p:nvSpPr>
          <p:cNvPr id="2193" name="Google Shape;2193;p143"/>
          <p:cNvSpPr/>
          <p:nvPr/>
        </p:nvSpPr>
        <p:spPr>
          <a:xfrm>
            <a:off x="4448175" y="285273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188"/>
                                        </p:tgtEl>
                                        <p:attrNameLst>
                                          <p:attrName>style.visibility</p:attrName>
                                        </p:attrNameLst>
                                      </p:cBhvr>
                                      <p:to>
                                        <p:strVal val="visible"/>
                                      </p:to>
                                    </p:set>
                                    <p:anim calcmode="lin" valueType="num">
                                      <p:cBhvr additive="base">
                                        <p:cTn dur="1000"/>
                                        <p:tgtEl>
                                          <p:spTgt spid="2188"/>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74"/>
                                        </p:tgtEl>
                                        <p:attrNameLst>
                                          <p:attrName>style.visibility</p:attrName>
                                        </p:attrNameLst>
                                      </p:cBhvr>
                                      <p:to>
                                        <p:strVal val="visible"/>
                                      </p:to>
                                    </p:set>
                                    <p:animEffect filter="fade" transition="in">
                                      <p:cBhvr>
                                        <p:cTn dur="1000"/>
                                        <p:tgtEl>
                                          <p:spTgt spid="2174"/>
                                        </p:tgtEl>
                                      </p:cBhvr>
                                    </p:animEffect>
                                  </p:childTnLst>
                                </p:cTn>
                              </p:par>
                              <p:par>
                                <p:cTn fill="hold" nodeType="withEffect" presetClass="entr" presetID="10" presetSubtype="0">
                                  <p:stCondLst>
                                    <p:cond delay="0"/>
                                  </p:stCondLst>
                                  <p:childTnLst>
                                    <p:set>
                                      <p:cBhvr>
                                        <p:cTn dur="1" fill="hold">
                                          <p:stCondLst>
                                            <p:cond delay="0"/>
                                          </p:stCondLst>
                                        </p:cTn>
                                        <p:tgtEl>
                                          <p:spTgt spid="2175"/>
                                        </p:tgtEl>
                                        <p:attrNameLst>
                                          <p:attrName>style.visibility</p:attrName>
                                        </p:attrNameLst>
                                      </p:cBhvr>
                                      <p:to>
                                        <p:strVal val="visible"/>
                                      </p:to>
                                    </p:set>
                                    <p:animEffect filter="fade" transition="in">
                                      <p:cBhvr>
                                        <p:cTn dur="1000"/>
                                        <p:tgtEl>
                                          <p:spTgt spid="2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193"/>
                                        </p:tgtEl>
                                      </p:cBhvr>
                                    </p:animEffect>
                                    <p:set>
                                      <p:cBhvr>
                                        <p:cTn dur="1" fill="hold">
                                          <p:stCondLst>
                                            <p:cond delay="500"/>
                                          </p:stCondLst>
                                        </p:cTn>
                                        <p:tgtEl>
                                          <p:spTgt spid="21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14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sp>
        <p:nvSpPr>
          <p:cNvPr id="2199" name="Google Shape;2199;p144"/>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200" name="Google Shape;2200;p144"/>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201" name="Google Shape;2201;p144"/>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202" name="Google Shape;2202;p144"/>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203" name="Google Shape;2203;p144"/>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204" name="Google Shape;2204;p144"/>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2205" name="Google Shape;2205;p144"/>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206" name="Google Shape;2206;p144"/>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grpSp>
        <p:nvGrpSpPr>
          <p:cNvPr id="2207" name="Google Shape;2207;p144"/>
          <p:cNvGrpSpPr/>
          <p:nvPr/>
        </p:nvGrpSpPr>
        <p:grpSpPr>
          <a:xfrm>
            <a:off x="1108075" y="2287587"/>
            <a:ext cx="8550275" cy="608012"/>
            <a:chOff x="644" y="1153"/>
            <a:chExt cx="4972" cy="383"/>
          </a:xfrm>
        </p:grpSpPr>
        <p:sp>
          <p:nvSpPr>
            <p:cNvPr id="2208" name="Google Shape;2208;p144"/>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209" name="Google Shape;2209;p144"/>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210" name="Google Shape;2210;p144"/>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211" name="Google Shape;2211;p144"/>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212" name="Google Shape;2212;p144"/>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213" name="Google Shape;2213;p144"/>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214" name="Google Shape;2214;p144"/>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215" name="Google Shape;2215;p144"/>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2216" name="Google Shape;2216;p144"/>
          <p:cNvSpPr/>
          <p:nvPr/>
        </p:nvSpPr>
        <p:spPr>
          <a:xfrm>
            <a:off x="984250" y="3581400"/>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left</a:t>
            </a:r>
            <a:endParaRPr/>
          </a:p>
        </p:txBody>
      </p:sp>
      <p:sp>
        <p:nvSpPr>
          <p:cNvPr id="2217" name="Google Shape;2217;p144"/>
          <p:cNvSpPr/>
          <p:nvPr/>
        </p:nvSpPr>
        <p:spPr>
          <a:xfrm>
            <a:off x="8758237" y="3551237"/>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right</a:t>
            </a:r>
            <a:endParaRPr/>
          </a:p>
        </p:txBody>
      </p:sp>
      <p:grpSp>
        <p:nvGrpSpPr>
          <p:cNvPr id="2218" name="Google Shape;2218;p144"/>
          <p:cNvGrpSpPr/>
          <p:nvPr/>
        </p:nvGrpSpPr>
        <p:grpSpPr>
          <a:xfrm>
            <a:off x="3049563" y="1377938"/>
            <a:ext cx="1481963" cy="507289"/>
            <a:chOff x="1921" y="868"/>
            <a:chExt cx="934" cy="320"/>
          </a:xfrm>
        </p:grpSpPr>
        <p:sp>
          <p:nvSpPr>
            <p:cNvPr id="2219" name="Google Shape;2219;p144"/>
            <p:cNvSpPr/>
            <p:nvPr/>
          </p:nvSpPr>
          <p:spPr>
            <a:xfrm>
              <a:off x="2255" y="868"/>
              <a:ext cx="600" cy="300"/>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220" name="Google Shape;2220;p144"/>
            <p:cNvSpPr txBox="1"/>
            <p:nvPr/>
          </p:nvSpPr>
          <p:spPr>
            <a:xfrm>
              <a:off x="1921" y="888"/>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X</a:t>
              </a:r>
              <a:endParaRPr/>
            </a:p>
          </p:txBody>
        </p:sp>
      </p:grpSp>
      <p:grpSp>
        <p:nvGrpSpPr>
          <p:cNvPr id="2221" name="Google Shape;2221;p144"/>
          <p:cNvGrpSpPr/>
          <p:nvPr/>
        </p:nvGrpSpPr>
        <p:grpSpPr>
          <a:xfrm>
            <a:off x="2505075" y="4365625"/>
            <a:ext cx="3094928" cy="1217612"/>
            <a:chOff x="1382" y="2788"/>
            <a:chExt cx="1800" cy="767"/>
          </a:xfrm>
        </p:grpSpPr>
        <p:sp>
          <p:nvSpPr>
            <p:cNvPr id="2222" name="Google Shape;2222;p144"/>
            <p:cNvSpPr/>
            <p:nvPr/>
          </p:nvSpPr>
          <p:spPr>
            <a:xfrm>
              <a:off x="1959" y="2788"/>
              <a:ext cx="600" cy="300"/>
            </a:xfrm>
            <a:prstGeom prst="octagon">
              <a:avLst>
                <a:gd fmla="val 6621" name="adj"/>
              </a:avLst>
            </a:prstGeom>
            <a:solidFill>
              <a:srgbClr val="FF3300"/>
            </a:solidFill>
            <a:ln cap="flat" cmpd="sng" w="28575">
              <a:solidFill>
                <a:srgbClr val="FF3300"/>
              </a:solidFill>
              <a:prstDash val="solid"/>
              <a:miter lim="800000"/>
              <a:headEnd len="sm" w="sm" type="none"/>
              <a:tailEnd len="sm" w="sm" type="none"/>
            </a:ln>
          </p:spPr>
          <p:txBody>
            <a:bodyPr anchorCtr="0" anchor="t" bIns="45700" lIns="91425" spcFirstLastPara="1" rIns="0" wrap="square" tIns="45700">
              <a:noAutofit/>
            </a:bodyPr>
            <a:lstStyle/>
            <a:p>
              <a:pPr indent="0" lvl="0" marL="0" marR="0" rtl="0" algn="ctr">
                <a:lnSpc>
                  <a:spcPct val="100000"/>
                </a:lnSpc>
                <a:spcBef>
                  <a:spcPts val="0"/>
                </a:spcBef>
                <a:spcAft>
                  <a:spcPts val="0"/>
                </a:spcAft>
                <a:buClr>
                  <a:schemeClr val="lt1"/>
                </a:buClr>
                <a:buSzPts val="2600"/>
                <a:buFont typeface="Helvetica Neue"/>
                <a:buNone/>
              </a:pPr>
              <a:r>
                <a:rPr b="1" i="0" lang="en-US" sz="2600" u="none">
                  <a:solidFill>
                    <a:schemeClr val="lt1"/>
                  </a:solidFill>
                  <a:latin typeface="Helvetica Neue"/>
                  <a:ea typeface="Helvetica Neue"/>
                  <a:cs typeface="Helvetica Neue"/>
                  <a:sym typeface="Helvetica Neue"/>
                </a:rPr>
                <a:t>STOP </a:t>
              </a:r>
              <a:endParaRPr/>
            </a:p>
          </p:txBody>
        </p:sp>
        <p:sp>
          <p:nvSpPr>
            <p:cNvPr id="2223" name="Google Shape;2223;p144"/>
            <p:cNvSpPr txBox="1"/>
            <p:nvPr/>
          </p:nvSpPr>
          <p:spPr>
            <a:xfrm>
              <a:off x="1382" y="3255"/>
              <a:ext cx="1800" cy="3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rPr>
                <a:t>Not less than X</a:t>
              </a:r>
              <a:endParaRPr/>
            </a:p>
          </p:txBody>
        </p:sp>
      </p:grpSp>
      <p:grpSp>
        <p:nvGrpSpPr>
          <p:cNvPr id="2224" name="Google Shape;2224;p144"/>
          <p:cNvGrpSpPr/>
          <p:nvPr/>
        </p:nvGrpSpPr>
        <p:grpSpPr>
          <a:xfrm>
            <a:off x="2115337" y="1440000"/>
            <a:ext cx="990600" cy="950912"/>
            <a:chOff x="575" y="1170"/>
            <a:chExt cx="576" cy="599"/>
          </a:xfrm>
        </p:grpSpPr>
        <p:sp>
          <p:nvSpPr>
            <p:cNvPr id="2225" name="Google Shape;2225;p144"/>
            <p:cNvSpPr/>
            <p:nvPr/>
          </p:nvSpPr>
          <p:spPr>
            <a:xfrm>
              <a:off x="575" y="1305"/>
              <a:ext cx="576" cy="464"/>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i</a:t>
              </a:r>
              <a:endParaRPr/>
            </a:p>
          </p:txBody>
        </p:sp>
        <p:cxnSp>
          <p:nvCxnSpPr>
            <p:cNvPr id="2226" name="Google Shape;2226;p144"/>
            <p:cNvCxnSpPr/>
            <p:nvPr/>
          </p:nvCxnSpPr>
          <p:spPr>
            <a:xfrm>
              <a:off x="720" y="1170"/>
              <a:ext cx="298" cy="0"/>
            </a:xfrm>
            <a:prstGeom prst="straightConnector1">
              <a:avLst/>
            </a:prstGeom>
            <a:noFill/>
            <a:ln cap="flat" cmpd="sng" w="38100">
              <a:solidFill>
                <a:srgbClr val="0000FF"/>
              </a:solidFill>
              <a:prstDash val="solid"/>
              <a:miter lim="800000"/>
              <a:headEnd len="med" w="med" type="none"/>
              <a:tailEnd len="med" w="med" type="triangle"/>
            </a:ln>
          </p:spPr>
        </p:cxnSp>
      </p:grpSp>
      <p:grpSp>
        <p:nvGrpSpPr>
          <p:cNvPr id="2227" name="Google Shape;2227;p144"/>
          <p:cNvGrpSpPr/>
          <p:nvPr/>
        </p:nvGrpSpPr>
        <p:grpSpPr>
          <a:xfrm>
            <a:off x="6549225" y="1438412"/>
            <a:ext cx="990600" cy="952500"/>
            <a:chOff x="5083" y="1169"/>
            <a:chExt cx="576" cy="600"/>
          </a:xfrm>
        </p:grpSpPr>
        <p:sp>
          <p:nvSpPr>
            <p:cNvPr id="2228" name="Google Shape;2228;p144"/>
            <p:cNvSpPr/>
            <p:nvPr/>
          </p:nvSpPr>
          <p:spPr>
            <a:xfrm>
              <a:off x="5083" y="1305"/>
              <a:ext cx="576" cy="464"/>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j</a:t>
              </a:r>
              <a:endParaRPr/>
            </a:p>
          </p:txBody>
        </p:sp>
        <p:cxnSp>
          <p:nvCxnSpPr>
            <p:cNvPr id="2229" name="Google Shape;2229;p144"/>
            <p:cNvCxnSpPr/>
            <p:nvPr/>
          </p:nvCxnSpPr>
          <p:spPr>
            <a:xfrm rot="10800000">
              <a:off x="5203" y="1169"/>
              <a:ext cx="298" cy="0"/>
            </a:xfrm>
            <a:prstGeom prst="straightConnector1">
              <a:avLst/>
            </a:prstGeom>
            <a:noFill/>
            <a:ln cap="flat" cmpd="sng" w="38100">
              <a:solidFill>
                <a:srgbClr val="FF3300"/>
              </a:solidFill>
              <a:prstDash val="solid"/>
              <a:miter lim="800000"/>
              <a:headEnd len="med" w="med" type="none"/>
              <a:tailEnd len="med" w="med" type="triangle"/>
            </a:ln>
          </p:spPr>
        </p:cxnSp>
      </p:grpSp>
      <p:grpSp>
        <p:nvGrpSpPr>
          <p:cNvPr id="2230" name="Google Shape;2230;p144"/>
          <p:cNvGrpSpPr/>
          <p:nvPr/>
        </p:nvGrpSpPr>
        <p:grpSpPr>
          <a:xfrm>
            <a:off x="4952998" y="4365625"/>
            <a:ext cx="3094950" cy="1217598"/>
            <a:chOff x="1514" y="2788"/>
            <a:chExt cx="1800" cy="735"/>
          </a:xfrm>
        </p:grpSpPr>
        <p:sp>
          <p:nvSpPr>
            <p:cNvPr id="2231" name="Google Shape;2231;p144"/>
            <p:cNvSpPr/>
            <p:nvPr/>
          </p:nvSpPr>
          <p:spPr>
            <a:xfrm>
              <a:off x="1959" y="2788"/>
              <a:ext cx="600" cy="300"/>
            </a:xfrm>
            <a:prstGeom prst="octagon">
              <a:avLst>
                <a:gd fmla="val 6621" name="adj"/>
              </a:avLst>
            </a:prstGeom>
            <a:solidFill>
              <a:srgbClr val="FF3300"/>
            </a:solidFill>
            <a:ln cap="flat" cmpd="sng" w="28575">
              <a:solidFill>
                <a:srgbClr val="FF3300"/>
              </a:solidFill>
              <a:prstDash val="solid"/>
              <a:miter lim="800000"/>
              <a:headEnd len="sm" w="sm" type="none"/>
              <a:tailEnd len="sm" w="sm" type="none"/>
            </a:ln>
          </p:spPr>
          <p:txBody>
            <a:bodyPr anchorCtr="0" anchor="t" bIns="45700" lIns="91425" spcFirstLastPara="1" rIns="0" wrap="square" tIns="45700">
              <a:noAutofit/>
            </a:bodyPr>
            <a:lstStyle/>
            <a:p>
              <a:pPr indent="0" lvl="0" marL="0" marR="0" rtl="0" algn="ctr">
                <a:lnSpc>
                  <a:spcPct val="100000"/>
                </a:lnSpc>
                <a:spcBef>
                  <a:spcPts val="0"/>
                </a:spcBef>
                <a:spcAft>
                  <a:spcPts val="0"/>
                </a:spcAft>
                <a:buClr>
                  <a:schemeClr val="lt1"/>
                </a:buClr>
                <a:buSzPts val="2600"/>
                <a:buFont typeface="Helvetica Neue"/>
                <a:buNone/>
              </a:pPr>
              <a:r>
                <a:rPr b="1" i="0" lang="en-US" sz="2600" u="none">
                  <a:solidFill>
                    <a:schemeClr val="lt1"/>
                  </a:solidFill>
                  <a:latin typeface="Helvetica Neue"/>
                  <a:ea typeface="Helvetica Neue"/>
                  <a:cs typeface="Helvetica Neue"/>
                  <a:sym typeface="Helvetica Neue"/>
                </a:rPr>
                <a:t>STOP </a:t>
              </a:r>
              <a:endParaRPr/>
            </a:p>
          </p:txBody>
        </p:sp>
        <p:sp>
          <p:nvSpPr>
            <p:cNvPr id="2232" name="Google Shape;2232;p144"/>
            <p:cNvSpPr txBox="1"/>
            <p:nvPr/>
          </p:nvSpPr>
          <p:spPr>
            <a:xfrm>
              <a:off x="1514" y="3223"/>
              <a:ext cx="1800" cy="3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rPr>
                <a:t>Not greater than</a:t>
              </a:r>
              <a:r>
                <a:rPr b="0" i="0" lang="en-US" sz="2400" u="none">
                  <a:solidFill>
                    <a:schemeClr val="dk1"/>
                  </a:solidFill>
                  <a:latin typeface="Arial"/>
                  <a:ea typeface="Arial"/>
                  <a:cs typeface="Arial"/>
                  <a:sym typeface="Arial"/>
                </a:rPr>
                <a:t> X</a:t>
              </a:r>
              <a:endParaRPr/>
            </a:p>
          </p:txBody>
        </p:sp>
      </p:grpSp>
      <p:sp>
        <p:nvSpPr>
          <p:cNvPr id="2233" name="Google Shape;2233;p144"/>
          <p:cNvSpPr txBox="1"/>
          <p:nvPr/>
        </p:nvSpPr>
        <p:spPr>
          <a:xfrm>
            <a:off x="5835650" y="696499"/>
            <a:ext cx="3386100" cy="585000"/>
          </a:xfrm>
          <a:prstGeom prst="rect">
            <a:avLst/>
          </a:prstGeom>
          <a:solidFill>
            <a:srgbClr val="0000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00"/>
              </a:buClr>
              <a:buSzPts val="3200"/>
              <a:buFont typeface="Times New Roman"/>
              <a:buNone/>
            </a:pPr>
            <a:r>
              <a:rPr b="1" i="0" lang="en-US" sz="3200" u="none">
                <a:solidFill>
                  <a:srgbClr val="FFFF00"/>
                </a:solidFill>
                <a:latin typeface="Times New Roman"/>
                <a:ea typeface="Times New Roman"/>
                <a:cs typeface="Times New Roman"/>
                <a:sym typeface="Times New Roman"/>
              </a:rPr>
              <a:t>Phaâ</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2233"/>
                                        </p:tgtEl>
                                      </p:cBhvr>
                                    </p:animEffect>
                                    <p:set>
                                      <p:cBhvr>
                                        <p:cTn dur="1" fill="hold">
                                          <p:stCondLst>
                                            <p:cond delay="1000"/>
                                          </p:stCondLst>
                                        </p:cTn>
                                        <p:tgtEl>
                                          <p:spTgt spid="223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7" name="Shape 2237"/>
        <p:cNvGrpSpPr/>
        <p:nvPr/>
      </p:nvGrpSpPr>
      <p:grpSpPr>
        <a:xfrm>
          <a:off x="0" y="0"/>
          <a:ext cx="0" cy="0"/>
          <a:chOff x="0" y="0"/>
          <a:chExt cx="0" cy="0"/>
        </a:xfrm>
      </p:grpSpPr>
      <p:sp>
        <p:nvSpPr>
          <p:cNvPr id="2238" name="Google Shape;2238;p14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sp>
        <p:nvSpPr>
          <p:cNvPr id="2239" name="Google Shape;2239;p145"/>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240" name="Google Shape;2240;p145"/>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241" name="Google Shape;2241;p145"/>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242" name="Google Shape;2242;p145"/>
          <p:cNvSpPr/>
          <p:nvPr/>
        </p:nvSpPr>
        <p:spPr>
          <a:xfrm>
            <a:off x="5541962" y="2871787"/>
            <a:ext cx="790575" cy="617537"/>
          </a:xfrm>
          <a:prstGeom prst="ellipse">
            <a:avLst/>
          </a:prstGeom>
          <a:gradFill>
            <a:gsLst>
              <a:gs pos="0">
                <a:srgbClr val="FFFFFF">
                  <a:alpha val="60000"/>
                </a:srgbClr>
              </a:gs>
              <a:gs pos="100000">
                <a:srgbClr val="FFFF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243" name="Google Shape;2243;p145"/>
          <p:cNvSpPr/>
          <p:nvPr/>
        </p:nvSpPr>
        <p:spPr>
          <a:xfrm>
            <a:off x="6648450" y="2871787"/>
            <a:ext cx="792162" cy="617537"/>
          </a:xfrm>
          <a:prstGeom prst="ellipse">
            <a:avLst/>
          </a:prstGeom>
          <a:gradFill>
            <a:gsLst>
              <a:gs pos="0">
                <a:srgbClr val="FFFFFF">
                  <a:alpha val="60000"/>
                </a:srgbClr>
              </a:gs>
              <a:gs pos="100000">
                <a:srgbClr val="FFFF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244" name="Google Shape;2244;p145"/>
          <p:cNvSpPr/>
          <p:nvPr/>
        </p:nvSpPr>
        <p:spPr>
          <a:xfrm>
            <a:off x="7758112" y="2871787"/>
            <a:ext cx="790575" cy="617537"/>
          </a:xfrm>
          <a:prstGeom prst="ellipse">
            <a:avLst/>
          </a:prstGeom>
          <a:gradFill>
            <a:gsLst>
              <a:gs pos="0">
                <a:srgbClr val="FFFFFF">
                  <a:alpha val="60000"/>
                </a:srgbClr>
              </a:gs>
              <a:gs pos="100000">
                <a:srgbClr val="FFFF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2245" name="Google Shape;2245;p145"/>
          <p:cNvSpPr/>
          <p:nvPr/>
        </p:nvSpPr>
        <p:spPr>
          <a:xfrm>
            <a:off x="8867775" y="2871787"/>
            <a:ext cx="790575" cy="617537"/>
          </a:xfrm>
          <a:prstGeom prst="ellipse">
            <a:avLst/>
          </a:prstGeom>
          <a:gradFill>
            <a:gsLst>
              <a:gs pos="0">
                <a:srgbClr val="FFFFFF">
                  <a:alpha val="60000"/>
                </a:srgbClr>
              </a:gs>
              <a:gs pos="100000">
                <a:srgbClr val="FFFF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246" name="Google Shape;2246;p145"/>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grpSp>
        <p:nvGrpSpPr>
          <p:cNvPr id="2247" name="Google Shape;2247;p145"/>
          <p:cNvGrpSpPr/>
          <p:nvPr/>
        </p:nvGrpSpPr>
        <p:grpSpPr>
          <a:xfrm>
            <a:off x="1108075" y="2263762"/>
            <a:ext cx="8550275" cy="608012"/>
            <a:chOff x="644" y="1153"/>
            <a:chExt cx="4972" cy="383"/>
          </a:xfrm>
        </p:grpSpPr>
        <p:sp>
          <p:nvSpPr>
            <p:cNvPr id="2248" name="Google Shape;2248;p14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249" name="Google Shape;2249;p14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250" name="Google Shape;2250;p14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251" name="Google Shape;2251;p14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252" name="Google Shape;2252;p14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253" name="Google Shape;2253;p14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254" name="Google Shape;2254;p14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255" name="Google Shape;2255;p14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2256" name="Google Shape;2256;p145"/>
          <p:cNvSpPr/>
          <p:nvPr/>
        </p:nvSpPr>
        <p:spPr>
          <a:xfrm>
            <a:off x="984250" y="3581400"/>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left</a:t>
            </a:r>
            <a:endParaRPr/>
          </a:p>
        </p:txBody>
      </p:sp>
      <p:sp>
        <p:nvSpPr>
          <p:cNvPr id="2257" name="Google Shape;2257;p145"/>
          <p:cNvSpPr/>
          <p:nvPr/>
        </p:nvSpPr>
        <p:spPr>
          <a:xfrm>
            <a:off x="8758237" y="3551237"/>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right</a:t>
            </a:r>
            <a:endParaRPr/>
          </a:p>
        </p:txBody>
      </p:sp>
      <p:grpSp>
        <p:nvGrpSpPr>
          <p:cNvPr id="2258" name="Google Shape;2258;p145"/>
          <p:cNvGrpSpPr/>
          <p:nvPr/>
        </p:nvGrpSpPr>
        <p:grpSpPr>
          <a:xfrm>
            <a:off x="5441925" y="1417775"/>
            <a:ext cx="990600" cy="950912"/>
            <a:chOff x="575" y="1170"/>
            <a:chExt cx="576" cy="599"/>
          </a:xfrm>
        </p:grpSpPr>
        <p:sp>
          <p:nvSpPr>
            <p:cNvPr id="2259" name="Google Shape;2259;p145"/>
            <p:cNvSpPr/>
            <p:nvPr/>
          </p:nvSpPr>
          <p:spPr>
            <a:xfrm>
              <a:off x="575" y="1305"/>
              <a:ext cx="576" cy="464"/>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i</a:t>
              </a:r>
              <a:endParaRPr/>
            </a:p>
          </p:txBody>
        </p:sp>
        <p:cxnSp>
          <p:nvCxnSpPr>
            <p:cNvPr id="2260" name="Google Shape;2260;p145"/>
            <p:cNvCxnSpPr/>
            <p:nvPr/>
          </p:nvCxnSpPr>
          <p:spPr>
            <a:xfrm>
              <a:off x="720" y="1170"/>
              <a:ext cx="298" cy="0"/>
            </a:xfrm>
            <a:prstGeom prst="straightConnector1">
              <a:avLst/>
            </a:prstGeom>
            <a:noFill/>
            <a:ln cap="flat" cmpd="sng" w="38100">
              <a:solidFill>
                <a:srgbClr val="0000FF"/>
              </a:solidFill>
              <a:prstDash val="solid"/>
              <a:miter lim="800000"/>
              <a:headEnd len="med" w="med" type="none"/>
              <a:tailEnd len="med" w="med" type="triangle"/>
            </a:ln>
          </p:spPr>
        </p:cxnSp>
      </p:grpSp>
      <p:grpSp>
        <p:nvGrpSpPr>
          <p:cNvPr id="2261" name="Google Shape;2261;p145"/>
          <p:cNvGrpSpPr/>
          <p:nvPr/>
        </p:nvGrpSpPr>
        <p:grpSpPr>
          <a:xfrm>
            <a:off x="3203573" y="1296562"/>
            <a:ext cx="1031875" cy="1043841"/>
            <a:chOff x="4989" y="1169"/>
            <a:chExt cx="600" cy="658"/>
          </a:xfrm>
        </p:grpSpPr>
        <p:sp>
          <p:nvSpPr>
            <p:cNvPr id="2262" name="Google Shape;2262;p145"/>
            <p:cNvSpPr/>
            <p:nvPr/>
          </p:nvSpPr>
          <p:spPr>
            <a:xfrm>
              <a:off x="4989" y="1227"/>
              <a:ext cx="600" cy="600"/>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j</a:t>
              </a:r>
              <a:endParaRPr/>
            </a:p>
          </p:txBody>
        </p:sp>
        <p:cxnSp>
          <p:nvCxnSpPr>
            <p:cNvPr id="2263" name="Google Shape;2263;p145"/>
            <p:cNvCxnSpPr/>
            <p:nvPr/>
          </p:nvCxnSpPr>
          <p:spPr>
            <a:xfrm rot="10800000">
              <a:off x="5203" y="1169"/>
              <a:ext cx="298" cy="0"/>
            </a:xfrm>
            <a:prstGeom prst="straightConnector1">
              <a:avLst/>
            </a:prstGeom>
            <a:noFill/>
            <a:ln cap="flat" cmpd="sng" w="38100">
              <a:solidFill>
                <a:srgbClr val="FF3300"/>
              </a:solidFill>
              <a:prstDash val="solid"/>
              <a:miter lim="800000"/>
              <a:headEnd len="med" w="med" type="none"/>
              <a:tailEnd len="med" w="med" type="triangle"/>
            </a:ln>
          </p:spPr>
        </p:cxnSp>
      </p:grpSp>
      <p:sp>
        <p:nvSpPr>
          <p:cNvPr id="2264" name="Google Shape;2264;p145"/>
          <p:cNvSpPr txBox="1"/>
          <p:nvPr/>
        </p:nvSpPr>
        <p:spPr>
          <a:xfrm>
            <a:off x="7512050" y="5456237"/>
            <a:ext cx="12207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8" name="Shape 2268"/>
        <p:cNvGrpSpPr/>
        <p:nvPr/>
      </p:nvGrpSpPr>
      <p:grpSpPr>
        <a:xfrm>
          <a:off x="0" y="0"/>
          <a:ext cx="0" cy="0"/>
          <a:chOff x="0" y="0"/>
          <a:chExt cx="0" cy="0"/>
        </a:xfrm>
      </p:grpSpPr>
      <p:grpSp>
        <p:nvGrpSpPr>
          <p:cNvPr id="2269" name="Google Shape;2269;p146"/>
          <p:cNvGrpSpPr/>
          <p:nvPr/>
        </p:nvGrpSpPr>
        <p:grpSpPr>
          <a:xfrm>
            <a:off x="6811962" y="1512887"/>
            <a:ext cx="1327150" cy="617537"/>
            <a:chOff x="1725" y="837"/>
            <a:chExt cx="772" cy="389"/>
          </a:xfrm>
        </p:grpSpPr>
        <p:sp>
          <p:nvSpPr>
            <p:cNvPr id="2270" name="Google Shape;2270;p146"/>
            <p:cNvSpPr/>
            <p:nvPr/>
          </p:nvSpPr>
          <p:spPr>
            <a:xfrm>
              <a:off x="2037" y="837"/>
              <a:ext cx="460" cy="389"/>
            </a:xfrm>
            <a:prstGeom prst="ellipse">
              <a:avLst/>
            </a:prstGeom>
            <a:gradFill>
              <a:gsLst>
                <a:gs pos="0">
                  <a:srgbClr val="FFFFFF">
                    <a:alpha val="60000"/>
                  </a:srgbClr>
                </a:gs>
                <a:gs pos="100000">
                  <a:srgbClr val="FFFF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271" name="Google Shape;2271;p146"/>
            <p:cNvSpPr txBox="1"/>
            <p:nvPr/>
          </p:nvSpPr>
          <p:spPr>
            <a:xfrm>
              <a:off x="1725" y="887"/>
              <a:ext cx="24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X</a:t>
              </a:r>
              <a:endParaRPr/>
            </a:p>
          </p:txBody>
        </p:sp>
      </p:grpSp>
      <p:sp>
        <p:nvSpPr>
          <p:cNvPr id="2272" name="Google Shape;2272;p14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sp>
        <p:nvSpPr>
          <p:cNvPr id="2273" name="Google Shape;2273;p146"/>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274" name="Google Shape;2274;p146"/>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275" name="Google Shape;2275;p146"/>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276" name="Google Shape;2276;p146"/>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277" name="Google Shape;2277;p146"/>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278" name="Google Shape;2278;p146"/>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2279" name="Google Shape;2279;p146"/>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280" name="Google Shape;2280;p146"/>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2281" name="Google Shape;2281;p146"/>
          <p:cNvGrpSpPr/>
          <p:nvPr/>
        </p:nvGrpSpPr>
        <p:grpSpPr>
          <a:xfrm>
            <a:off x="1108075" y="2287587"/>
            <a:ext cx="8550275" cy="608012"/>
            <a:chOff x="644" y="1153"/>
            <a:chExt cx="4972" cy="383"/>
          </a:xfrm>
        </p:grpSpPr>
        <p:sp>
          <p:nvSpPr>
            <p:cNvPr id="2282" name="Google Shape;2282;p146"/>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283" name="Google Shape;2283;p146"/>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284" name="Google Shape;2284;p146"/>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285" name="Google Shape;2285;p146"/>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286" name="Google Shape;2286;p146"/>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287" name="Google Shape;2287;p146"/>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288" name="Google Shape;2288;p146"/>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289" name="Google Shape;2289;p146"/>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2290" name="Google Shape;2290;p146"/>
          <p:cNvSpPr/>
          <p:nvPr/>
        </p:nvSpPr>
        <p:spPr>
          <a:xfrm>
            <a:off x="5421312" y="3581400"/>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left</a:t>
            </a:r>
            <a:endParaRPr/>
          </a:p>
        </p:txBody>
      </p:sp>
      <p:sp>
        <p:nvSpPr>
          <p:cNvPr id="2291" name="Google Shape;2291;p146"/>
          <p:cNvSpPr/>
          <p:nvPr/>
        </p:nvSpPr>
        <p:spPr>
          <a:xfrm>
            <a:off x="8758237" y="3551237"/>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right</a:t>
            </a:r>
            <a:endParaRPr/>
          </a:p>
        </p:txBody>
      </p:sp>
      <p:grpSp>
        <p:nvGrpSpPr>
          <p:cNvPr id="2292" name="Google Shape;2292;p146"/>
          <p:cNvGrpSpPr/>
          <p:nvPr/>
        </p:nvGrpSpPr>
        <p:grpSpPr>
          <a:xfrm>
            <a:off x="5421300" y="1545525"/>
            <a:ext cx="990600" cy="950912"/>
            <a:chOff x="575" y="1170"/>
            <a:chExt cx="576" cy="599"/>
          </a:xfrm>
        </p:grpSpPr>
        <p:sp>
          <p:nvSpPr>
            <p:cNvPr id="2293" name="Google Shape;2293;p146"/>
            <p:cNvSpPr/>
            <p:nvPr/>
          </p:nvSpPr>
          <p:spPr>
            <a:xfrm>
              <a:off x="575" y="1305"/>
              <a:ext cx="576" cy="464"/>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i</a:t>
              </a:r>
              <a:endParaRPr/>
            </a:p>
          </p:txBody>
        </p:sp>
        <p:cxnSp>
          <p:nvCxnSpPr>
            <p:cNvPr id="2294" name="Google Shape;2294;p146"/>
            <p:cNvCxnSpPr/>
            <p:nvPr/>
          </p:nvCxnSpPr>
          <p:spPr>
            <a:xfrm>
              <a:off x="720" y="1170"/>
              <a:ext cx="298" cy="0"/>
            </a:xfrm>
            <a:prstGeom prst="straightConnector1">
              <a:avLst/>
            </a:prstGeom>
            <a:noFill/>
            <a:ln cap="flat" cmpd="sng" w="38100">
              <a:solidFill>
                <a:srgbClr val="0000FF"/>
              </a:solidFill>
              <a:prstDash val="solid"/>
              <a:miter lim="800000"/>
              <a:headEnd len="med" w="med" type="none"/>
              <a:tailEnd len="med" w="med" type="triangle"/>
            </a:ln>
          </p:spPr>
        </p:cxnSp>
      </p:grpSp>
      <p:grpSp>
        <p:nvGrpSpPr>
          <p:cNvPr id="2295" name="Google Shape;2295;p146"/>
          <p:cNvGrpSpPr/>
          <p:nvPr/>
        </p:nvGrpSpPr>
        <p:grpSpPr>
          <a:xfrm>
            <a:off x="8732837" y="1544737"/>
            <a:ext cx="990600" cy="952500"/>
            <a:chOff x="5083" y="1169"/>
            <a:chExt cx="576" cy="600"/>
          </a:xfrm>
        </p:grpSpPr>
        <p:sp>
          <p:nvSpPr>
            <p:cNvPr id="2296" name="Google Shape;2296;p146"/>
            <p:cNvSpPr/>
            <p:nvPr/>
          </p:nvSpPr>
          <p:spPr>
            <a:xfrm>
              <a:off x="5083" y="1305"/>
              <a:ext cx="576" cy="464"/>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j</a:t>
              </a:r>
              <a:endParaRPr/>
            </a:p>
          </p:txBody>
        </p:sp>
        <p:cxnSp>
          <p:nvCxnSpPr>
            <p:cNvPr id="2297" name="Google Shape;2297;p146"/>
            <p:cNvCxnSpPr/>
            <p:nvPr/>
          </p:nvCxnSpPr>
          <p:spPr>
            <a:xfrm rot="10800000">
              <a:off x="5203" y="1169"/>
              <a:ext cx="298" cy="0"/>
            </a:xfrm>
            <a:prstGeom prst="straightConnector1">
              <a:avLst/>
            </a:prstGeom>
            <a:noFill/>
            <a:ln cap="flat" cmpd="sng" w="38100">
              <a:solidFill>
                <a:srgbClr val="FF3300"/>
              </a:solidFill>
              <a:prstDash val="solid"/>
              <a:miter lim="800000"/>
              <a:headEnd len="med" w="med" type="none"/>
              <a:tailEnd len="med" w="med" type="triangle"/>
            </a:ln>
          </p:spPr>
        </p:cxnSp>
      </p:grpSp>
      <p:sp>
        <p:nvSpPr>
          <p:cNvPr id="2298" name="Google Shape;2298;p146"/>
          <p:cNvSpPr txBox="1"/>
          <p:nvPr/>
        </p:nvSpPr>
        <p:spPr>
          <a:xfrm>
            <a:off x="7512050" y="5456237"/>
            <a:ext cx="12207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2299" name="Google Shape;2299;p146"/>
          <p:cNvGrpSpPr/>
          <p:nvPr/>
        </p:nvGrpSpPr>
        <p:grpSpPr>
          <a:xfrm>
            <a:off x="4622800" y="4532300"/>
            <a:ext cx="3094928" cy="1217624"/>
            <a:chOff x="1382" y="2788"/>
            <a:chExt cx="1800" cy="767"/>
          </a:xfrm>
        </p:grpSpPr>
        <p:sp>
          <p:nvSpPr>
            <p:cNvPr id="2300" name="Google Shape;2300;p146"/>
            <p:cNvSpPr/>
            <p:nvPr/>
          </p:nvSpPr>
          <p:spPr>
            <a:xfrm>
              <a:off x="1875" y="2788"/>
              <a:ext cx="600" cy="300"/>
            </a:xfrm>
            <a:prstGeom prst="octagon">
              <a:avLst>
                <a:gd fmla="val 6621" name="adj"/>
              </a:avLst>
            </a:prstGeom>
            <a:solidFill>
              <a:srgbClr val="FF3300"/>
            </a:solidFill>
            <a:ln cap="flat" cmpd="sng" w="28575">
              <a:solidFill>
                <a:srgbClr val="FF3300"/>
              </a:solidFill>
              <a:prstDash val="solid"/>
              <a:miter lim="800000"/>
              <a:headEnd len="sm" w="sm" type="none"/>
              <a:tailEnd len="sm" w="sm" type="none"/>
            </a:ln>
          </p:spPr>
          <p:txBody>
            <a:bodyPr anchorCtr="0" anchor="t" bIns="45700" lIns="91425" spcFirstLastPara="1" rIns="0" wrap="square" tIns="45700">
              <a:noAutofit/>
            </a:bodyPr>
            <a:lstStyle/>
            <a:p>
              <a:pPr indent="0" lvl="0" marL="0" marR="0" rtl="0" algn="ctr">
                <a:lnSpc>
                  <a:spcPct val="100000"/>
                </a:lnSpc>
                <a:spcBef>
                  <a:spcPts val="0"/>
                </a:spcBef>
                <a:spcAft>
                  <a:spcPts val="0"/>
                </a:spcAft>
                <a:buClr>
                  <a:schemeClr val="lt1"/>
                </a:buClr>
                <a:buSzPts val="2600"/>
                <a:buFont typeface="Helvetica Neue"/>
                <a:buNone/>
              </a:pPr>
              <a:r>
                <a:rPr b="1" i="0" lang="en-US" sz="2600" u="none">
                  <a:solidFill>
                    <a:schemeClr val="lt1"/>
                  </a:solidFill>
                  <a:latin typeface="Helvetica Neue"/>
                  <a:ea typeface="Helvetica Neue"/>
                  <a:cs typeface="Helvetica Neue"/>
                  <a:sym typeface="Helvetica Neue"/>
                </a:rPr>
                <a:t>STOP </a:t>
              </a:r>
              <a:endParaRPr/>
            </a:p>
          </p:txBody>
        </p:sp>
        <p:sp>
          <p:nvSpPr>
            <p:cNvPr id="2301" name="Google Shape;2301;p146"/>
            <p:cNvSpPr txBox="1"/>
            <p:nvPr/>
          </p:nvSpPr>
          <p:spPr>
            <a:xfrm>
              <a:off x="1382" y="3255"/>
              <a:ext cx="1800" cy="3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rPr>
                <a:t>Not less than</a:t>
              </a:r>
              <a:r>
                <a:rPr b="0" i="0" lang="en-US" sz="2400" u="none">
                  <a:solidFill>
                    <a:schemeClr val="dk1"/>
                  </a:solidFill>
                  <a:latin typeface="Arial"/>
                  <a:ea typeface="Arial"/>
                  <a:cs typeface="Arial"/>
                  <a:sym typeface="Arial"/>
                </a:rPr>
                <a:t> X</a:t>
              </a:r>
              <a:endParaRPr/>
            </a:p>
          </p:txBody>
        </p:sp>
      </p:grpSp>
      <p:grpSp>
        <p:nvGrpSpPr>
          <p:cNvPr id="2302" name="Google Shape;2302;p146"/>
          <p:cNvGrpSpPr/>
          <p:nvPr/>
        </p:nvGrpSpPr>
        <p:grpSpPr>
          <a:xfrm>
            <a:off x="7009351" y="4541825"/>
            <a:ext cx="3096600" cy="1206499"/>
            <a:chOff x="1494" y="2788"/>
            <a:chExt cx="1800" cy="760"/>
          </a:xfrm>
        </p:grpSpPr>
        <p:sp>
          <p:nvSpPr>
            <p:cNvPr id="2303" name="Google Shape;2303;p146"/>
            <p:cNvSpPr/>
            <p:nvPr/>
          </p:nvSpPr>
          <p:spPr>
            <a:xfrm>
              <a:off x="1959" y="2788"/>
              <a:ext cx="600" cy="300"/>
            </a:xfrm>
            <a:prstGeom prst="octagon">
              <a:avLst>
                <a:gd fmla="val 6621" name="adj"/>
              </a:avLst>
            </a:prstGeom>
            <a:solidFill>
              <a:srgbClr val="FF3300"/>
            </a:solidFill>
            <a:ln cap="flat" cmpd="sng" w="28575">
              <a:solidFill>
                <a:srgbClr val="FF3300"/>
              </a:solidFill>
              <a:prstDash val="solid"/>
              <a:miter lim="800000"/>
              <a:headEnd len="sm" w="sm" type="none"/>
              <a:tailEnd len="sm" w="sm" type="none"/>
            </a:ln>
          </p:spPr>
          <p:txBody>
            <a:bodyPr anchorCtr="0" anchor="t" bIns="45700" lIns="91425" spcFirstLastPara="1" rIns="0" wrap="square" tIns="45700">
              <a:noAutofit/>
            </a:bodyPr>
            <a:lstStyle/>
            <a:p>
              <a:pPr indent="0" lvl="0" marL="0" marR="0" rtl="0" algn="ctr">
                <a:lnSpc>
                  <a:spcPct val="100000"/>
                </a:lnSpc>
                <a:spcBef>
                  <a:spcPts val="0"/>
                </a:spcBef>
                <a:spcAft>
                  <a:spcPts val="0"/>
                </a:spcAft>
                <a:buClr>
                  <a:schemeClr val="lt1"/>
                </a:buClr>
                <a:buSzPts val="2600"/>
                <a:buFont typeface="Helvetica Neue"/>
                <a:buNone/>
              </a:pPr>
              <a:r>
                <a:rPr b="1" i="0" lang="en-US" sz="2600" u="none">
                  <a:solidFill>
                    <a:schemeClr val="lt1"/>
                  </a:solidFill>
                  <a:latin typeface="Helvetica Neue"/>
                  <a:ea typeface="Helvetica Neue"/>
                  <a:cs typeface="Helvetica Neue"/>
                  <a:sym typeface="Helvetica Neue"/>
                </a:rPr>
                <a:t>STOP </a:t>
              </a:r>
              <a:endParaRPr/>
            </a:p>
          </p:txBody>
        </p:sp>
        <p:sp>
          <p:nvSpPr>
            <p:cNvPr id="2304" name="Google Shape;2304;p146"/>
            <p:cNvSpPr txBox="1"/>
            <p:nvPr/>
          </p:nvSpPr>
          <p:spPr>
            <a:xfrm>
              <a:off x="1494" y="3248"/>
              <a:ext cx="1800" cy="3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rPr>
                <a:t>Not greater than</a:t>
              </a:r>
              <a:r>
                <a:rPr b="0" i="0" lang="en-US" sz="2400" u="none">
                  <a:solidFill>
                    <a:schemeClr val="dk1"/>
                  </a:solidFill>
                  <a:latin typeface="Arial"/>
                  <a:ea typeface="Arial"/>
                  <a:cs typeface="Arial"/>
                  <a:sym typeface="Arial"/>
                </a:rPr>
                <a:t> X</a:t>
              </a:r>
              <a:endParaRPr/>
            </a:p>
          </p:txBody>
        </p:sp>
      </p:grpSp>
      <p:sp>
        <p:nvSpPr>
          <p:cNvPr id="2305" name="Google Shape;2305;p146"/>
          <p:cNvSpPr txBox="1"/>
          <p:nvPr/>
        </p:nvSpPr>
        <p:spPr>
          <a:xfrm>
            <a:off x="2553575" y="339025"/>
            <a:ext cx="3386100" cy="585000"/>
          </a:xfrm>
          <a:prstGeom prst="rect">
            <a:avLst/>
          </a:prstGeom>
          <a:solidFill>
            <a:srgbClr val="0000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00"/>
              </a:buClr>
              <a:buSzPts val="3200"/>
              <a:buFont typeface="Times New Roman"/>
              <a:buNone/>
            </a:pPr>
            <a:r>
              <a:rPr b="1" i="0" lang="en-US" sz="3200" u="none">
                <a:solidFill>
                  <a:srgbClr val="FFFF00"/>
                </a:solidFill>
                <a:latin typeface="Times New Roman"/>
                <a:ea typeface="Times New Roman"/>
                <a:cs typeface="Times New Roman"/>
                <a:sym typeface="Times New Roman"/>
              </a:rPr>
              <a:t>Saép xeáp ñoaïn 3</a:t>
            </a:r>
            <a:endParaRPr/>
          </a:p>
        </p:txBody>
      </p:sp>
      <p:sp>
        <p:nvSpPr>
          <p:cNvPr id="2306" name="Google Shape;2306;p146"/>
          <p:cNvSpPr txBox="1"/>
          <p:nvPr/>
        </p:nvSpPr>
        <p:spPr>
          <a:xfrm>
            <a:off x="6127650" y="92874"/>
            <a:ext cx="3386100" cy="1077300"/>
          </a:xfrm>
          <a:prstGeom prst="rect">
            <a:avLst/>
          </a:prstGeom>
          <a:solidFill>
            <a:srgbClr val="0000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00"/>
              </a:buClr>
              <a:buSzPts val="3200"/>
              <a:buFont typeface="Times New Roman"/>
              <a:buNone/>
            </a:pPr>
            <a:r>
              <a:rPr b="1" i="0" lang="en-US" sz="3200" u="none">
                <a:solidFill>
                  <a:srgbClr val="FFFF00"/>
                </a:solidFill>
                <a:latin typeface="Times New Roman"/>
                <a:ea typeface="Times New Roman"/>
                <a:cs typeface="Times New Roman"/>
                <a:sym typeface="Times New Roman"/>
              </a:rPr>
              <a:t>Phaân hoaïch daõy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05"/>
                                        </p:tgtEl>
                                        <p:attrNameLst>
                                          <p:attrName>style.visibility</p:attrName>
                                        </p:attrNameLst>
                                      </p:cBhvr>
                                      <p:to>
                                        <p:strVal val="visible"/>
                                      </p:to>
                                    </p:set>
                                    <p:anim calcmode="lin" valueType="num">
                                      <p:cBhvr additive="base">
                                        <p:cTn dur="1000"/>
                                        <p:tgtEl>
                                          <p:spTgt spid="230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306"/>
                                        </p:tgtEl>
                                        <p:attrNameLst>
                                          <p:attrName>style.visibility</p:attrName>
                                        </p:attrNameLst>
                                      </p:cBhvr>
                                      <p:to>
                                        <p:strVal val="visible"/>
                                      </p:to>
                                    </p:set>
                                    <p:anim calcmode="lin" valueType="num">
                                      <p:cBhvr additive="base">
                                        <p:cTn dur="1000"/>
                                        <p:tgtEl>
                                          <p:spTgt spid="2306"/>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90"/>
                                        </p:tgtEl>
                                        <p:attrNameLst>
                                          <p:attrName>style.visibility</p:attrName>
                                        </p:attrNameLst>
                                      </p:cBhvr>
                                      <p:to>
                                        <p:strVal val="visible"/>
                                      </p:to>
                                    </p:set>
                                    <p:animEffect filter="fade" transition="in">
                                      <p:cBhvr>
                                        <p:cTn dur="1000"/>
                                        <p:tgtEl>
                                          <p:spTgt spid="2290"/>
                                        </p:tgtEl>
                                      </p:cBhvr>
                                    </p:animEffect>
                                  </p:childTnLst>
                                </p:cTn>
                              </p:par>
                              <p:par>
                                <p:cTn fill="hold" nodeType="withEffect" presetClass="entr" presetID="10" presetSubtype="0">
                                  <p:stCondLst>
                                    <p:cond delay="0"/>
                                  </p:stCondLst>
                                  <p:childTnLst>
                                    <p:set>
                                      <p:cBhvr>
                                        <p:cTn dur="1" fill="hold">
                                          <p:stCondLst>
                                            <p:cond delay="0"/>
                                          </p:stCondLst>
                                        </p:cTn>
                                        <p:tgtEl>
                                          <p:spTgt spid="2291"/>
                                        </p:tgtEl>
                                        <p:attrNameLst>
                                          <p:attrName>style.visibility</p:attrName>
                                        </p:attrNameLst>
                                      </p:cBhvr>
                                      <p:to>
                                        <p:strVal val="visible"/>
                                      </p:to>
                                    </p:set>
                                    <p:animEffect filter="fade" transition="in">
                                      <p:cBhvr>
                                        <p:cTn dur="1000"/>
                                        <p:tgtEl>
                                          <p:spTgt spid="2291"/>
                                        </p:tgtEl>
                                      </p:cBhvr>
                                    </p:animEffect>
                                  </p:childTnLst>
                                </p:cTn>
                              </p:par>
                            </p:childTnLst>
                          </p:cTn>
                        </p:par>
                        <p:par>
                          <p:cTn fill="hold">
                            <p:stCondLst>
                              <p:cond delay="2000"/>
                            </p:stCondLst>
                            <p:childTnLst>
                              <p:par>
                                <p:cTn fill="hold" nodeType="afterEffect" presetClass="exit" presetID="2" presetSubtype="4">
                                  <p:stCondLst>
                                    <p:cond delay="0"/>
                                  </p:stCondLst>
                                  <p:childTnLst>
                                    <p:anim calcmode="lin" valueType="num">
                                      <p:cBhvr additive="base">
                                        <p:cTn dur="1000"/>
                                        <p:tgtEl>
                                          <p:spTgt spid="2306"/>
                                        </p:tgtEl>
                                        <p:attrNameLst>
                                          <p:attrName>ppt_y</p:attrName>
                                        </p:attrNameLst>
                                      </p:cBhvr>
                                      <p:tavLst>
                                        <p:tav fmla="" tm="0">
                                          <p:val>
                                            <p:strVal val="#ppt_y"/>
                                          </p:val>
                                        </p:tav>
                                        <p:tav fmla="" tm="100000">
                                          <p:val>
                                            <p:strVal val="#ppt_y+1"/>
                                          </p:val>
                                        </p:tav>
                                      </p:tavLst>
                                    </p:anim>
                                    <p:set>
                                      <p:cBhvr>
                                        <p:cTn dur="1" fill="hold">
                                          <p:stCondLst>
                                            <p:cond delay="1000"/>
                                          </p:stCondLst>
                                        </p:cTn>
                                        <p:tgtEl>
                                          <p:spTgt spid="23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0" name="Shape 2310"/>
        <p:cNvGrpSpPr/>
        <p:nvPr/>
      </p:nvGrpSpPr>
      <p:grpSpPr>
        <a:xfrm>
          <a:off x="0" y="0"/>
          <a:ext cx="0" cy="0"/>
          <a:chOff x="0" y="0"/>
          <a:chExt cx="0" cy="0"/>
        </a:xfrm>
      </p:grpSpPr>
      <p:sp>
        <p:nvSpPr>
          <p:cNvPr id="2311" name="Google Shape;2311;p14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Quick Sort – Ví Dụ</a:t>
            </a:r>
            <a:endParaRPr/>
          </a:p>
        </p:txBody>
      </p:sp>
      <p:sp>
        <p:nvSpPr>
          <p:cNvPr id="2312" name="Google Shape;2312;p147"/>
          <p:cNvSpPr/>
          <p:nvPr/>
        </p:nvSpPr>
        <p:spPr>
          <a:xfrm>
            <a:off x="2214562" y="2871787"/>
            <a:ext cx="792162"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313" name="Google Shape;2313;p147"/>
          <p:cNvSpPr/>
          <p:nvPr/>
        </p:nvSpPr>
        <p:spPr>
          <a:xfrm>
            <a:off x="332422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314" name="Google Shape;2314;p147"/>
          <p:cNvSpPr/>
          <p:nvPr/>
        </p:nvSpPr>
        <p:spPr>
          <a:xfrm>
            <a:off x="4432300"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315" name="Google Shape;2315;p147"/>
          <p:cNvSpPr/>
          <p:nvPr/>
        </p:nvSpPr>
        <p:spPr>
          <a:xfrm>
            <a:off x="5541962" y="2871787"/>
            <a:ext cx="790575" cy="617537"/>
          </a:xfrm>
          <a:prstGeom prst="ellipse">
            <a:avLst/>
          </a:prstGeom>
          <a:gradFill>
            <a:gsLst>
              <a:gs pos="0">
                <a:srgbClr val="FFFFFF">
                  <a:alpha val="60000"/>
                </a:srgbClr>
              </a:gs>
              <a:gs pos="100000">
                <a:srgbClr val="FFFF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316" name="Google Shape;2316;p147"/>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317" name="Google Shape;2317;p147"/>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2318" name="Google Shape;2318;p147"/>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319" name="Google Shape;2319;p147"/>
          <p:cNvSpPr/>
          <p:nvPr/>
        </p:nvSpPr>
        <p:spPr>
          <a:xfrm>
            <a:off x="1108075" y="2871787"/>
            <a:ext cx="790575" cy="617537"/>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nvGrpSpPr>
          <p:cNvPr id="2320" name="Google Shape;2320;p147"/>
          <p:cNvGrpSpPr/>
          <p:nvPr/>
        </p:nvGrpSpPr>
        <p:grpSpPr>
          <a:xfrm>
            <a:off x="1108075" y="2287587"/>
            <a:ext cx="8550275" cy="608012"/>
            <a:chOff x="644" y="1153"/>
            <a:chExt cx="4972" cy="383"/>
          </a:xfrm>
        </p:grpSpPr>
        <p:sp>
          <p:nvSpPr>
            <p:cNvPr id="2321" name="Google Shape;2321;p147"/>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322" name="Google Shape;2322;p147"/>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323" name="Google Shape;2323;p147"/>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324" name="Google Shape;2324;p147"/>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325" name="Google Shape;2325;p147"/>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326" name="Google Shape;2326;p147"/>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327" name="Google Shape;2327;p147"/>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328" name="Google Shape;2328;p147"/>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2329" name="Google Shape;2329;p147"/>
          <p:cNvSpPr/>
          <p:nvPr/>
        </p:nvSpPr>
        <p:spPr>
          <a:xfrm>
            <a:off x="5421312" y="3581400"/>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left</a:t>
            </a:r>
            <a:endParaRPr/>
          </a:p>
        </p:txBody>
      </p:sp>
      <p:sp>
        <p:nvSpPr>
          <p:cNvPr id="2330" name="Google Shape;2330;p147"/>
          <p:cNvSpPr/>
          <p:nvPr/>
        </p:nvSpPr>
        <p:spPr>
          <a:xfrm>
            <a:off x="8758237" y="3551237"/>
            <a:ext cx="990600" cy="736600"/>
          </a:xfrm>
          <a:prstGeom prst="upArrowCallout">
            <a:avLst>
              <a:gd fmla="val 9189" name="adj1"/>
              <a:gd fmla="val 25000" name="adj2"/>
              <a:gd fmla="val 25000" name="adj3"/>
              <a:gd fmla="val 64977" name="adj4"/>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right</a:t>
            </a:r>
            <a:endParaRPr/>
          </a:p>
        </p:txBody>
      </p:sp>
      <p:grpSp>
        <p:nvGrpSpPr>
          <p:cNvPr id="2331" name="Google Shape;2331;p147"/>
          <p:cNvGrpSpPr/>
          <p:nvPr/>
        </p:nvGrpSpPr>
        <p:grpSpPr>
          <a:xfrm>
            <a:off x="6549237" y="1407875"/>
            <a:ext cx="990600" cy="950912"/>
            <a:chOff x="575" y="1170"/>
            <a:chExt cx="576" cy="599"/>
          </a:xfrm>
        </p:grpSpPr>
        <p:sp>
          <p:nvSpPr>
            <p:cNvPr id="2332" name="Google Shape;2332;p147"/>
            <p:cNvSpPr/>
            <p:nvPr/>
          </p:nvSpPr>
          <p:spPr>
            <a:xfrm>
              <a:off x="575" y="1305"/>
              <a:ext cx="576" cy="464"/>
            </a:xfrm>
            <a:prstGeom prst="downArrowCallout">
              <a:avLst>
                <a:gd fmla="val 12411" name="adj1"/>
                <a:gd fmla="val 25000" name="adj2"/>
                <a:gd fmla="val 25000" name="adj3"/>
                <a:gd fmla="val 64977" name="adj4"/>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i</a:t>
              </a:r>
              <a:endParaRPr/>
            </a:p>
          </p:txBody>
        </p:sp>
        <p:cxnSp>
          <p:nvCxnSpPr>
            <p:cNvPr id="2333" name="Google Shape;2333;p147"/>
            <p:cNvCxnSpPr/>
            <p:nvPr/>
          </p:nvCxnSpPr>
          <p:spPr>
            <a:xfrm>
              <a:off x="720" y="1170"/>
              <a:ext cx="298" cy="0"/>
            </a:xfrm>
            <a:prstGeom prst="straightConnector1">
              <a:avLst/>
            </a:prstGeom>
            <a:noFill/>
            <a:ln cap="flat" cmpd="sng" w="38100">
              <a:solidFill>
                <a:srgbClr val="0000FF"/>
              </a:solidFill>
              <a:prstDash val="solid"/>
              <a:miter lim="800000"/>
              <a:headEnd len="med" w="med" type="none"/>
              <a:tailEnd len="med" w="med" type="triangle"/>
            </a:ln>
          </p:spPr>
        </p:cxnSp>
      </p:grpSp>
      <p:grpSp>
        <p:nvGrpSpPr>
          <p:cNvPr id="2334" name="Google Shape;2334;p147"/>
          <p:cNvGrpSpPr/>
          <p:nvPr/>
        </p:nvGrpSpPr>
        <p:grpSpPr>
          <a:xfrm>
            <a:off x="5441925" y="1407087"/>
            <a:ext cx="990600" cy="952500"/>
            <a:chOff x="5083" y="1169"/>
            <a:chExt cx="576" cy="600"/>
          </a:xfrm>
        </p:grpSpPr>
        <p:sp>
          <p:nvSpPr>
            <p:cNvPr id="2335" name="Google Shape;2335;p147"/>
            <p:cNvSpPr/>
            <p:nvPr/>
          </p:nvSpPr>
          <p:spPr>
            <a:xfrm>
              <a:off x="5083" y="1305"/>
              <a:ext cx="576" cy="464"/>
            </a:xfrm>
            <a:prstGeom prst="downArrowCallout">
              <a:avLst>
                <a:gd fmla="val 12411" name="adj1"/>
                <a:gd fmla="val 25000" name="adj2"/>
                <a:gd fmla="val 25000" name="adj3"/>
                <a:gd fmla="val 64977" name="adj4"/>
              </a:avLst>
            </a:prstGeom>
            <a:noFill/>
            <a:ln cap="flat" cmpd="sng" w="9525">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0" i="0" lang="en-US" sz="2400" u="none">
                  <a:solidFill>
                    <a:schemeClr val="dk1"/>
                  </a:solidFill>
                  <a:latin typeface="Helvetica Neue"/>
                  <a:ea typeface="Helvetica Neue"/>
                  <a:cs typeface="Helvetica Neue"/>
                  <a:sym typeface="Helvetica Neue"/>
                </a:rPr>
                <a:t>j</a:t>
              </a:r>
              <a:endParaRPr/>
            </a:p>
          </p:txBody>
        </p:sp>
        <p:cxnSp>
          <p:nvCxnSpPr>
            <p:cNvPr id="2336" name="Google Shape;2336;p147"/>
            <p:cNvCxnSpPr/>
            <p:nvPr/>
          </p:nvCxnSpPr>
          <p:spPr>
            <a:xfrm rot="10800000">
              <a:off x="5203" y="1169"/>
              <a:ext cx="298" cy="0"/>
            </a:xfrm>
            <a:prstGeom prst="straightConnector1">
              <a:avLst/>
            </a:prstGeom>
            <a:noFill/>
            <a:ln cap="flat" cmpd="sng" w="38100">
              <a:solidFill>
                <a:srgbClr val="FF3300"/>
              </a:solidFill>
              <a:prstDash val="solid"/>
              <a:miter lim="800000"/>
              <a:headEnd len="med" w="med" type="none"/>
              <a:tailEnd len="med" w="med" type="triangle"/>
            </a:ln>
          </p:spPr>
        </p:cxnSp>
      </p:grpSp>
      <p:sp>
        <p:nvSpPr>
          <p:cNvPr id="2337" name="Google Shape;2337;p147"/>
          <p:cNvSpPr txBox="1"/>
          <p:nvPr/>
        </p:nvSpPr>
        <p:spPr>
          <a:xfrm>
            <a:off x="7512050" y="5456237"/>
            <a:ext cx="12207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38" name="Google Shape;2338;p147"/>
          <p:cNvSpPr txBox="1"/>
          <p:nvPr/>
        </p:nvSpPr>
        <p:spPr>
          <a:xfrm>
            <a:off x="3987650" y="230100"/>
            <a:ext cx="3386100" cy="585000"/>
          </a:xfrm>
          <a:prstGeom prst="rect">
            <a:avLst/>
          </a:prstGeom>
          <a:solidFill>
            <a:srgbClr val="0000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00"/>
              </a:buClr>
              <a:buSzPts val="3200"/>
              <a:buFont typeface="Times New Roman"/>
              <a:buNone/>
            </a:pPr>
            <a:r>
              <a:rPr b="1" i="0" lang="en-US" sz="3200" u="none">
                <a:solidFill>
                  <a:srgbClr val="FFFF00"/>
                </a:solidFill>
                <a:latin typeface="Times New Roman"/>
                <a:ea typeface="Times New Roman"/>
                <a:cs typeface="Times New Roman"/>
                <a:sym typeface="Times New Roman"/>
              </a:rPr>
              <a:t>Saép xeáp ñoaïn 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2338"/>
                                        </p:tgtEl>
                                      </p:cBhvr>
                                    </p:animEffect>
                                    <p:set>
                                      <p:cBhvr>
                                        <p:cTn dur="1" fill="hold">
                                          <p:stCondLst>
                                            <p:cond delay="500"/>
                                          </p:stCondLst>
                                        </p:cTn>
                                        <p:tgtEl>
                                          <p:spTgt spid="233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2" name="Shape 2342"/>
        <p:cNvGrpSpPr/>
        <p:nvPr/>
      </p:nvGrpSpPr>
      <p:grpSpPr>
        <a:xfrm>
          <a:off x="0" y="0"/>
          <a:ext cx="0" cy="0"/>
          <a:chOff x="0" y="0"/>
          <a:chExt cx="0" cy="0"/>
        </a:xfrm>
      </p:grpSpPr>
      <p:sp>
        <p:nvSpPr>
          <p:cNvPr id="2343" name="Google Shape;2343;p14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Độ Phức Tạp Của Quick Sort</a:t>
            </a:r>
            <a:endParaRPr/>
          </a:p>
        </p:txBody>
      </p:sp>
      <p:pic>
        <p:nvPicPr>
          <p:cNvPr id="2344" name="Google Shape;2344;p148"/>
          <p:cNvPicPr preferRelativeResize="0"/>
          <p:nvPr>
            <p:ph idx="1" type="body"/>
          </p:nvPr>
        </p:nvPicPr>
        <p:blipFill rotWithShape="1">
          <a:blip r:embed="rId3">
            <a:alphaModFix/>
          </a:blip>
          <a:srcRect b="0" l="0" r="0" t="0"/>
          <a:stretch/>
        </p:blipFill>
        <p:spPr>
          <a:xfrm>
            <a:off x="1195387" y="2095500"/>
            <a:ext cx="8296275" cy="3144837"/>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8" name="Shape 2348"/>
        <p:cNvGrpSpPr/>
        <p:nvPr/>
      </p:nvGrpSpPr>
      <p:grpSpPr>
        <a:xfrm>
          <a:off x="0" y="0"/>
          <a:ext cx="0" cy="0"/>
          <a:chOff x="0" y="0"/>
          <a:chExt cx="0" cy="0"/>
        </a:xfrm>
      </p:grpSpPr>
      <p:sp>
        <p:nvSpPr>
          <p:cNvPr id="2349" name="Google Shape;2349;p14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Các Thuật Toán Sắp Xếp</a:t>
            </a:r>
            <a:endParaRPr/>
          </a:p>
        </p:txBody>
      </p:sp>
      <p:sp>
        <p:nvSpPr>
          <p:cNvPr id="2350" name="Google Shape;2350;p149"/>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	1. Đổi chỗ trực tiếp – Interchange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2. Chọn trực tiếp – Selection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3. Nổi bọt – Bubble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4. Shaker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5. Chèn trực tiếp –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6. Chèn nhị phân – Binary Insertion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7. Shell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8. Heap Sort</a:t>
            </a:r>
            <a:r>
              <a:rPr b="1" i="0" lang="en-US" sz="2800" u="none">
                <a:solidFill>
                  <a:schemeClr val="dk1"/>
                </a:solidFill>
                <a:latin typeface="Arial"/>
                <a:ea typeface="Arial"/>
                <a:cs typeface="Arial"/>
                <a:sym typeface="Arial"/>
              </a:rPr>
              <a:t> </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9. Quick Sort</a:t>
            </a:r>
            <a:endParaRPr/>
          </a:p>
          <a:p>
            <a:pPr indent="-463550" lvl="0" marL="463550" rtl="0" algn="l">
              <a:lnSpc>
                <a:spcPct val="100000"/>
              </a:lnSpc>
              <a:spcBef>
                <a:spcPts val="560"/>
              </a:spcBef>
              <a:spcAft>
                <a:spcPts val="0"/>
              </a:spcAft>
              <a:buClr>
                <a:schemeClr val="dk1"/>
              </a:buClr>
              <a:buSzPts val="2800"/>
              <a:buNone/>
            </a:pPr>
            <a:r>
              <a:rPr b="1" i="0" lang="en-US" sz="2800" u="none">
                <a:solidFill>
                  <a:schemeClr val="dk1"/>
                </a:solidFill>
                <a:latin typeface="Arial"/>
                <a:ea typeface="Arial"/>
                <a:cs typeface="Arial"/>
                <a:sym typeface="Arial"/>
              </a:rPr>
              <a:t>	10. Merge Sort</a:t>
            </a:r>
            <a:endParaRPr/>
          </a:p>
          <a:p>
            <a:pPr indent="-463550" lvl="0" marL="463550" rtl="0" algn="l">
              <a:lnSpc>
                <a:spcPct val="10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	11. Radix Sort</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4" name="Shape 2354"/>
        <p:cNvGrpSpPr/>
        <p:nvPr/>
      </p:nvGrpSpPr>
      <p:grpSpPr>
        <a:xfrm>
          <a:off x="0" y="0"/>
          <a:ext cx="0" cy="0"/>
          <a:chOff x="0" y="0"/>
          <a:chExt cx="0" cy="0"/>
        </a:xfrm>
      </p:grpSpPr>
      <p:sp>
        <p:nvSpPr>
          <p:cNvPr id="2355" name="Google Shape;2355;p150"/>
          <p:cNvSpPr txBox="1"/>
          <p:nvPr>
            <p:ph type="title"/>
          </p:nvPr>
        </p:nvSpPr>
        <p:spPr>
          <a:xfrm>
            <a:off x="704850" y="0"/>
            <a:ext cx="9194800" cy="735012"/>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Ý Tưởng</a:t>
            </a:r>
            <a:endParaRPr/>
          </a:p>
        </p:txBody>
      </p:sp>
      <p:sp>
        <p:nvSpPr>
          <p:cNvPr id="2356" name="Google Shape;2356;p150"/>
          <p:cNvSpPr txBox="1"/>
          <p:nvPr>
            <p:ph idx="1" type="body"/>
          </p:nvPr>
        </p:nvSpPr>
        <p:spPr>
          <a:xfrm>
            <a:off x="1127125" y="1243012"/>
            <a:ext cx="8043862" cy="4979987"/>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Giải thuật Merge sort sắp xếp </a:t>
            </a:r>
            <a:r>
              <a:rPr b="0" i="0" lang="en-US" sz="2800" u="none">
                <a:solidFill>
                  <a:srgbClr val="000000"/>
                </a:solidFill>
                <a:latin typeface="Arial"/>
                <a:ea typeface="Arial"/>
                <a:cs typeface="Arial"/>
                <a:sym typeface="Arial"/>
              </a:rPr>
              <a:t>dãy</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1</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2</a:t>
            </a:r>
            <a:r>
              <a:rPr b="1" i="0" lang="en-US" sz="2800" u="none">
                <a:solidFill>
                  <a:schemeClr val="dk1"/>
                </a:solidFill>
                <a:latin typeface="Arial"/>
                <a:ea typeface="Arial"/>
                <a:cs typeface="Arial"/>
                <a:sym typeface="Arial"/>
              </a:rPr>
              <a:t>, ..., an</a:t>
            </a:r>
            <a:r>
              <a:rPr b="0" i="0" lang="en-US" sz="2800" u="none">
                <a:solidFill>
                  <a:schemeClr val="dk1"/>
                </a:solidFill>
                <a:latin typeface="Arial"/>
                <a:ea typeface="Arial"/>
                <a:cs typeface="Arial"/>
                <a:sym typeface="Arial"/>
              </a:rPr>
              <a:t> dựa trên nhận xét sau:</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Mỗi dãy </a:t>
            </a:r>
            <a:r>
              <a:rPr b="1" i="0" lang="en-US" sz="2800" u="none">
                <a:solidFill>
                  <a:schemeClr val="dk1"/>
                </a:solidFill>
                <a:latin typeface="Arial"/>
                <a:ea typeface="Arial"/>
                <a:cs typeface="Arial"/>
                <a:sym typeface="Arial"/>
              </a:rPr>
              <a:t>a</a:t>
            </a:r>
            <a:r>
              <a:rPr b="1" baseline="-25000" i="0" lang="en-US" sz="2800" u="none">
                <a:solidFill>
                  <a:schemeClr val="dk1"/>
                </a:solidFill>
                <a:latin typeface="Arial"/>
                <a:ea typeface="Arial"/>
                <a:cs typeface="Arial"/>
                <a:sym typeface="Arial"/>
              </a:rPr>
              <a:t>1</a:t>
            </a:r>
            <a:r>
              <a:rPr b="1" i="0" lang="en-US" sz="2800" u="none">
                <a:solidFill>
                  <a:schemeClr val="dk1"/>
                </a:solidFill>
                <a:latin typeface="Arial"/>
                <a:ea typeface="Arial"/>
                <a:cs typeface="Arial"/>
                <a:sym typeface="Arial"/>
              </a:rPr>
              <a:t>, a</a:t>
            </a:r>
            <a:r>
              <a:rPr b="1" baseline="-25000" i="0" lang="en-US" sz="2800" u="none">
                <a:solidFill>
                  <a:schemeClr val="dk1"/>
                </a:solidFill>
                <a:latin typeface="Arial"/>
                <a:ea typeface="Arial"/>
                <a:cs typeface="Arial"/>
                <a:sym typeface="Arial"/>
              </a:rPr>
              <a:t>2</a:t>
            </a:r>
            <a:r>
              <a:rPr b="1" i="0" lang="en-US" sz="2800" u="none">
                <a:solidFill>
                  <a:schemeClr val="dk1"/>
                </a:solidFill>
                <a:latin typeface="Arial"/>
                <a:ea typeface="Arial"/>
                <a:cs typeface="Arial"/>
                <a:sym typeface="Arial"/>
              </a:rPr>
              <a:t>, ..., an</a:t>
            </a:r>
            <a:r>
              <a:rPr b="0" i="0" lang="en-US" sz="2800" u="none">
                <a:solidFill>
                  <a:schemeClr val="dk1"/>
                </a:solidFill>
                <a:latin typeface="Arial"/>
                <a:ea typeface="Arial"/>
                <a:cs typeface="Arial"/>
                <a:sym typeface="Arial"/>
              </a:rPr>
              <a:t> bất kỳ là một tập hợp các dãy con liên tiếp mà mỗi dãy con đều đã có thứ tự. </a:t>
            </a:r>
            <a:endParaRPr/>
          </a:p>
          <a:p>
            <a:pPr indent="-349249" lvl="2" marL="1487487"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Ví dụ: dãy 12, 2, 8, 5, 1, 6, 4, 15 có thể coi như gồm 5 dãy con không giảm (12); (2, 8); (5); (1, 6); (4, 15).</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Dãy đã có thứ tự coi như có 1 dãy con.</a:t>
            </a:r>
            <a:endParaRPr/>
          </a:p>
          <a:p>
            <a:pPr indent="-463550" lvl="0" marL="46355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Arial"/>
                <a:ea typeface="Arial"/>
                <a:cs typeface="Arial"/>
                <a:sym typeface="Arial"/>
              </a:rPr>
              <a:t>Hướng tiếp cận: tìm cách làm giảm số dãy con không giảm của dãy ban đầu.</a:t>
            </a:r>
            <a:endParaRPr/>
          </a:p>
          <a:p>
            <a:pPr indent="-260350" lvl="0" marL="463550" rtl="0" algn="l">
              <a:spcBef>
                <a:spcPts val="640"/>
              </a:spcBef>
              <a:spcAft>
                <a:spcPts val="0"/>
              </a:spcAft>
              <a:buClr>
                <a:schemeClr val="dk1"/>
              </a:buClr>
              <a:buSzPts val="3200"/>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0" name="Shape 2360"/>
        <p:cNvGrpSpPr/>
        <p:nvPr/>
      </p:nvGrpSpPr>
      <p:grpSpPr>
        <a:xfrm>
          <a:off x="0" y="0"/>
          <a:ext cx="0" cy="0"/>
          <a:chOff x="0" y="0"/>
          <a:chExt cx="0" cy="0"/>
        </a:xfrm>
      </p:grpSpPr>
      <p:sp>
        <p:nvSpPr>
          <p:cNvPr id="2361" name="Google Shape;2361;p151"/>
          <p:cNvSpPr txBox="1"/>
          <p:nvPr>
            <p:ph type="title"/>
          </p:nvPr>
        </p:nvSpPr>
        <p:spPr>
          <a:xfrm>
            <a:off x="704850" y="0"/>
            <a:ext cx="9217025"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Sắp Xếp Trộn - Merge Sort </a:t>
            </a:r>
            <a:endParaRPr/>
          </a:p>
        </p:txBody>
      </p:sp>
      <p:sp>
        <p:nvSpPr>
          <p:cNvPr id="2362" name="Google Shape;2362;p151"/>
          <p:cNvSpPr txBox="1"/>
          <p:nvPr>
            <p:ph idx="1" type="body"/>
          </p:nvPr>
        </p:nvSpPr>
        <p:spPr>
          <a:xfrm>
            <a:off x="1265237" y="1374775"/>
            <a:ext cx="7829550" cy="4486275"/>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Mảng A chia làm 02 phần bằng nhau.</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Sắp xếp 02 phần </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Trộn 02 nửa lại</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6" name="Shape 2366"/>
        <p:cNvGrpSpPr/>
        <p:nvPr/>
      </p:nvGrpSpPr>
      <p:grpSpPr>
        <a:xfrm>
          <a:off x="0" y="0"/>
          <a:ext cx="0" cy="0"/>
          <a:chOff x="0" y="0"/>
          <a:chExt cx="0" cy="0"/>
        </a:xfrm>
      </p:grpSpPr>
      <p:sp>
        <p:nvSpPr>
          <p:cNvPr id="2367" name="Google Shape;2367;p15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b="1" sz="3200">
              <a:solidFill>
                <a:schemeClr val="lt1"/>
              </a:solidFill>
              <a:latin typeface="Arial"/>
              <a:ea typeface="Arial"/>
              <a:cs typeface="Arial"/>
              <a:sym typeface="Arial"/>
            </a:endParaRPr>
          </a:p>
        </p:txBody>
      </p:sp>
      <p:pic>
        <p:nvPicPr>
          <p:cNvPr id="2368" name="Google Shape;2368;p152"/>
          <p:cNvPicPr preferRelativeResize="0"/>
          <p:nvPr/>
        </p:nvPicPr>
        <p:blipFill rotWithShape="1">
          <a:blip r:embed="rId3">
            <a:alphaModFix/>
          </a:blip>
          <a:srcRect b="0" l="0" r="0" t="0"/>
          <a:stretch/>
        </p:blipFill>
        <p:spPr>
          <a:xfrm>
            <a:off x="1423987" y="1700212"/>
            <a:ext cx="6481762" cy="1643062"/>
          </a:xfrm>
          <a:prstGeom prst="rect">
            <a:avLst/>
          </a:prstGeom>
          <a:noFill/>
          <a:ln>
            <a:noFill/>
          </a:ln>
        </p:spPr>
      </p:pic>
      <p:pic>
        <p:nvPicPr>
          <p:cNvPr id="2369" name="Google Shape;2369;p152"/>
          <p:cNvPicPr preferRelativeResize="0"/>
          <p:nvPr/>
        </p:nvPicPr>
        <p:blipFill rotWithShape="1">
          <a:blip r:embed="rId4">
            <a:alphaModFix/>
          </a:blip>
          <a:srcRect b="0" l="0" r="0" t="0"/>
          <a:stretch/>
        </p:blipFill>
        <p:spPr>
          <a:xfrm>
            <a:off x="1712912" y="4400550"/>
            <a:ext cx="2808287" cy="706437"/>
          </a:xfrm>
          <a:prstGeom prst="rect">
            <a:avLst/>
          </a:prstGeom>
          <a:noFill/>
          <a:ln>
            <a:noFill/>
          </a:ln>
        </p:spPr>
      </p:pic>
      <p:pic>
        <p:nvPicPr>
          <p:cNvPr id="2370" name="Google Shape;2370;p152"/>
          <p:cNvPicPr preferRelativeResize="0"/>
          <p:nvPr/>
        </p:nvPicPr>
        <p:blipFill rotWithShape="1">
          <a:blip r:embed="rId5">
            <a:alphaModFix/>
          </a:blip>
          <a:srcRect b="0" l="0" r="0" t="0"/>
          <a:stretch/>
        </p:blipFill>
        <p:spPr>
          <a:xfrm>
            <a:off x="5240337" y="4402137"/>
            <a:ext cx="2736850" cy="755650"/>
          </a:xfrm>
          <a:prstGeom prst="rect">
            <a:avLst/>
          </a:prstGeom>
          <a:noFill/>
          <a:ln>
            <a:noFill/>
          </a:ln>
        </p:spPr>
      </p:pic>
      <p:sp>
        <p:nvSpPr>
          <p:cNvPr id="2371" name="Google Shape;2371;p152"/>
          <p:cNvSpPr/>
          <p:nvPr/>
        </p:nvSpPr>
        <p:spPr>
          <a:xfrm>
            <a:off x="2792412" y="3500437"/>
            <a:ext cx="360362" cy="649287"/>
          </a:xfrm>
          <a:prstGeom prst="downArrow">
            <a:avLst>
              <a:gd fmla="val 50000" name="adj1"/>
              <a:gd fmla="val 50000" name="adj2"/>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72" name="Google Shape;2372;p152"/>
          <p:cNvSpPr/>
          <p:nvPr/>
        </p:nvSpPr>
        <p:spPr>
          <a:xfrm>
            <a:off x="6392862" y="3573462"/>
            <a:ext cx="360362" cy="649287"/>
          </a:xfrm>
          <a:prstGeom prst="downArrow">
            <a:avLst>
              <a:gd fmla="val 50000" name="adj1"/>
              <a:gd fmla="val 50000" name="adj2"/>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6" name="Shape 2376"/>
        <p:cNvGrpSpPr/>
        <p:nvPr/>
      </p:nvGrpSpPr>
      <p:grpSpPr>
        <a:xfrm>
          <a:off x="0" y="0"/>
          <a:ext cx="0" cy="0"/>
          <a:chOff x="0" y="0"/>
          <a:chExt cx="0" cy="0"/>
        </a:xfrm>
      </p:grpSpPr>
      <p:sp>
        <p:nvSpPr>
          <p:cNvPr id="2377" name="Google Shape;2377;p15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b="1" sz="3200">
              <a:solidFill>
                <a:schemeClr val="lt1"/>
              </a:solidFill>
              <a:latin typeface="Arial"/>
              <a:ea typeface="Arial"/>
              <a:cs typeface="Arial"/>
              <a:sym typeface="Arial"/>
            </a:endParaRPr>
          </a:p>
        </p:txBody>
      </p:sp>
      <p:pic>
        <p:nvPicPr>
          <p:cNvPr id="2378" name="Google Shape;2378;p153"/>
          <p:cNvPicPr preferRelativeResize="0"/>
          <p:nvPr/>
        </p:nvPicPr>
        <p:blipFill rotWithShape="1">
          <a:blip r:embed="rId3">
            <a:alphaModFix/>
          </a:blip>
          <a:srcRect b="0" l="0" r="0" t="0"/>
          <a:stretch/>
        </p:blipFill>
        <p:spPr>
          <a:xfrm>
            <a:off x="2073275" y="1268412"/>
            <a:ext cx="5832475" cy="48514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2" name="Shape 2382"/>
        <p:cNvGrpSpPr/>
        <p:nvPr/>
      </p:nvGrpSpPr>
      <p:grpSpPr>
        <a:xfrm>
          <a:off x="0" y="0"/>
          <a:ext cx="0" cy="0"/>
          <a:chOff x="0" y="0"/>
          <a:chExt cx="0" cy="0"/>
        </a:xfrm>
      </p:grpSpPr>
      <p:sp>
        <p:nvSpPr>
          <p:cNvPr id="2383" name="Google Shape;2383;p15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b="1" sz="3200">
              <a:solidFill>
                <a:schemeClr val="lt1"/>
              </a:solidFill>
              <a:latin typeface="Arial"/>
              <a:ea typeface="Arial"/>
              <a:cs typeface="Arial"/>
              <a:sym typeface="Arial"/>
            </a:endParaRPr>
          </a:p>
        </p:txBody>
      </p:sp>
      <p:pic>
        <p:nvPicPr>
          <p:cNvPr id="2384" name="Google Shape;2384;p154"/>
          <p:cNvPicPr preferRelativeResize="0"/>
          <p:nvPr/>
        </p:nvPicPr>
        <p:blipFill rotWithShape="1">
          <a:blip r:embed="rId3">
            <a:alphaModFix/>
          </a:blip>
          <a:srcRect b="0" l="0" r="0" t="0"/>
          <a:stretch/>
        </p:blipFill>
        <p:spPr>
          <a:xfrm>
            <a:off x="1712912" y="1397000"/>
            <a:ext cx="6911975" cy="4865687"/>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8" name="Shape 2388"/>
        <p:cNvGrpSpPr/>
        <p:nvPr/>
      </p:nvGrpSpPr>
      <p:grpSpPr>
        <a:xfrm>
          <a:off x="0" y="0"/>
          <a:ext cx="0" cy="0"/>
          <a:chOff x="0" y="0"/>
          <a:chExt cx="0" cy="0"/>
        </a:xfrm>
      </p:grpSpPr>
      <p:sp>
        <p:nvSpPr>
          <p:cNvPr id="2389" name="Google Shape;2389;p15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b="1" sz="3200">
              <a:solidFill>
                <a:schemeClr val="lt1"/>
              </a:solidFill>
              <a:latin typeface="Arial"/>
              <a:ea typeface="Arial"/>
              <a:cs typeface="Arial"/>
              <a:sym typeface="Arial"/>
            </a:endParaRPr>
          </a:p>
        </p:txBody>
      </p:sp>
      <p:pic>
        <p:nvPicPr>
          <p:cNvPr id="2390" name="Google Shape;2390;p155"/>
          <p:cNvPicPr preferRelativeResize="0"/>
          <p:nvPr>
            <p:ph idx="1" type="body"/>
          </p:nvPr>
        </p:nvPicPr>
        <p:blipFill rotWithShape="1">
          <a:blip r:embed="rId3">
            <a:alphaModFix/>
          </a:blip>
          <a:srcRect b="0" l="0" r="0" t="0"/>
          <a:stretch/>
        </p:blipFill>
        <p:spPr>
          <a:xfrm>
            <a:off x="2293937" y="1458912"/>
            <a:ext cx="6202362" cy="4408487"/>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p156"/>
          <p:cNvSpPr txBox="1"/>
          <p:nvPr>
            <p:ph type="title"/>
          </p:nvPr>
        </p:nvSpPr>
        <p:spPr>
          <a:xfrm>
            <a:off x="704850" y="-30480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b="1" sz="3200">
              <a:solidFill>
                <a:schemeClr val="lt1"/>
              </a:solidFill>
              <a:latin typeface="Arial"/>
              <a:ea typeface="Arial"/>
              <a:cs typeface="Arial"/>
              <a:sym typeface="Arial"/>
            </a:endParaRPr>
          </a:p>
        </p:txBody>
      </p:sp>
      <p:sp>
        <p:nvSpPr>
          <p:cNvPr id="2396" name="Google Shape;2396;p156"/>
          <p:cNvSpPr txBox="1"/>
          <p:nvPr>
            <p:ph idx="1" type="body"/>
          </p:nvPr>
        </p:nvSpPr>
        <p:spPr>
          <a:xfrm>
            <a:off x="992187" y="1176337"/>
            <a:ext cx="8569325" cy="5111750"/>
          </a:xfrm>
          <a:prstGeom prst="rect">
            <a:avLst/>
          </a:prstGeom>
          <a:noFill/>
          <a:ln>
            <a:noFill/>
          </a:ln>
        </p:spPr>
        <p:txBody>
          <a:bodyPr anchorCtr="0" anchor="t" bIns="45700" lIns="91425" spcFirstLastPara="1" rIns="91425" wrap="square" tIns="45700">
            <a:noAutofit/>
          </a:bodyPr>
          <a:lstStyle/>
          <a:p>
            <a:pPr indent="-285750" lvl="0" marL="463550" rtl="0" algn="l">
              <a:spcBef>
                <a:spcPts val="0"/>
              </a:spcBef>
              <a:spcAft>
                <a:spcPts val="0"/>
              </a:spcAft>
              <a:buClr>
                <a:schemeClr val="dk1"/>
              </a:buClr>
              <a:buSzPts val="2800"/>
              <a:buNone/>
            </a:pPr>
            <a:r>
              <a:t/>
            </a:r>
            <a:endParaRPr sz="2800">
              <a:solidFill>
                <a:schemeClr val="dk1"/>
              </a:solidFill>
              <a:latin typeface="Arial"/>
              <a:ea typeface="Arial"/>
              <a:cs typeface="Arial"/>
              <a:sym typeface="Arial"/>
            </a:endParaRPr>
          </a:p>
        </p:txBody>
      </p:sp>
      <p:pic>
        <p:nvPicPr>
          <p:cNvPr id="2397" name="Google Shape;2397;p156"/>
          <p:cNvPicPr preferRelativeResize="0"/>
          <p:nvPr/>
        </p:nvPicPr>
        <p:blipFill rotWithShape="1">
          <a:blip r:embed="rId3">
            <a:alphaModFix/>
          </a:blip>
          <a:srcRect b="0" l="0" r="0" t="0"/>
          <a:stretch/>
        </p:blipFill>
        <p:spPr>
          <a:xfrm>
            <a:off x="2792412" y="1639887"/>
            <a:ext cx="5329237" cy="4416425"/>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1" name="Shape 2401"/>
        <p:cNvGrpSpPr/>
        <p:nvPr/>
      </p:nvGrpSpPr>
      <p:grpSpPr>
        <a:xfrm>
          <a:off x="0" y="0"/>
          <a:ext cx="0" cy="0"/>
          <a:chOff x="0" y="0"/>
          <a:chExt cx="0" cy="0"/>
        </a:xfrm>
      </p:grpSpPr>
      <p:sp>
        <p:nvSpPr>
          <p:cNvPr id="2402" name="Google Shape;2402;p15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403" name="Google Shape;2403;p157"/>
          <p:cNvSpPr txBox="1"/>
          <p:nvPr/>
        </p:nvSpPr>
        <p:spPr>
          <a:xfrm>
            <a:off x="2514600"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04" name="Google Shape;2404;p157"/>
          <p:cNvSpPr txBox="1"/>
          <p:nvPr/>
        </p:nvSpPr>
        <p:spPr>
          <a:xfrm>
            <a:off x="3128962" y="5692775"/>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405" name="Google Shape;2405;p157"/>
          <p:cNvSpPr txBox="1"/>
          <p:nvPr/>
        </p:nvSpPr>
        <p:spPr>
          <a:xfrm>
            <a:off x="3743325"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406" name="Google Shape;2406;p157"/>
          <p:cNvSpPr txBox="1"/>
          <p:nvPr/>
        </p:nvSpPr>
        <p:spPr>
          <a:xfrm>
            <a:off x="4357687"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407" name="Google Shape;2407;p157"/>
          <p:cNvSpPr txBox="1"/>
          <p:nvPr/>
        </p:nvSpPr>
        <p:spPr>
          <a:xfrm>
            <a:off x="4973637"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22</a:t>
            </a:r>
            <a:endParaRPr/>
          </a:p>
        </p:txBody>
      </p:sp>
      <p:sp>
        <p:nvSpPr>
          <p:cNvPr id="2408" name="Google Shape;2408;p157"/>
          <p:cNvSpPr txBox="1"/>
          <p:nvPr/>
        </p:nvSpPr>
        <p:spPr>
          <a:xfrm>
            <a:off x="5588000" y="5692775"/>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09" name="Google Shape;2409;p157"/>
          <p:cNvSpPr txBox="1"/>
          <p:nvPr/>
        </p:nvSpPr>
        <p:spPr>
          <a:xfrm>
            <a:off x="6203950" y="5692775"/>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19</a:t>
            </a:r>
            <a:endParaRPr/>
          </a:p>
        </p:txBody>
      </p:sp>
      <p:sp>
        <p:nvSpPr>
          <p:cNvPr id="2410" name="Google Shape;2410;p157"/>
          <p:cNvSpPr txBox="1"/>
          <p:nvPr/>
        </p:nvSpPr>
        <p:spPr>
          <a:xfrm>
            <a:off x="6816725"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55</a:t>
            </a:r>
            <a:endParaRPr/>
          </a:p>
        </p:txBody>
      </p:sp>
      <p:sp>
        <p:nvSpPr>
          <p:cNvPr id="2411" name="Google Shape;2411;p157"/>
          <p:cNvSpPr txBox="1"/>
          <p:nvPr/>
        </p:nvSpPr>
        <p:spPr>
          <a:xfrm>
            <a:off x="7432675"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37</a:t>
            </a:r>
            <a:endParaRPr/>
          </a:p>
        </p:txBody>
      </p:sp>
      <p:sp>
        <p:nvSpPr>
          <p:cNvPr id="2412" name="Google Shape;2412;p157"/>
          <p:cNvSpPr txBox="1"/>
          <p:nvPr/>
        </p:nvSpPr>
        <p:spPr>
          <a:xfrm>
            <a:off x="8047037"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13" name="Google Shape;2413;p157"/>
          <p:cNvSpPr txBox="1"/>
          <p:nvPr/>
        </p:nvSpPr>
        <p:spPr>
          <a:xfrm>
            <a:off x="8662987" y="5692775"/>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99</a:t>
            </a:r>
            <a:endParaRPr/>
          </a:p>
        </p:txBody>
      </p:sp>
      <p:sp>
        <p:nvSpPr>
          <p:cNvPr id="2414" name="Google Shape;2414;p157"/>
          <p:cNvSpPr txBox="1"/>
          <p:nvPr/>
        </p:nvSpPr>
        <p:spPr>
          <a:xfrm>
            <a:off x="9278937" y="5692775"/>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2 </a:t>
            </a:r>
            <a:endParaRPr/>
          </a:p>
        </p:txBody>
      </p:sp>
      <p:sp>
        <p:nvSpPr>
          <p:cNvPr id="2415" name="Google Shape;2415;p157"/>
          <p:cNvSpPr txBox="1"/>
          <p:nvPr/>
        </p:nvSpPr>
        <p:spPr>
          <a:xfrm>
            <a:off x="511175" y="11763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416" name="Google Shape;2416;p157"/>
          <p:cNvSpPr txBox="1"/>
          <p:nvPr/>
        </p:nvSpPr>
        <p:spPr>
          <a:xfrm>
            <a:off x="1081087"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17" name="Google Shape;2417;p157"/>
          <p:cNvSpPr txBox="1"/>
          <p:nvPr/>
        </p:nvSpPr>
        <p:spPr>
          <a:xfrm>
            <a:off x="1652587"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418" name="Google Shape;2418;p157"/>
          <p:cNvSpPr txBox="1"/>
          <p:nvPr/>
        </p:nvSpPr>
        <p:spPr>
          <a:xfrm>
            <a:off x="2224087" y="11763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419" name="Google Shape;2419;p157"/>
          <p:cNvSpPr txBox="1"/>
          <p:nvPr/>
        </p:nvSpPr>
        <p:spPr>
          <a:xfrm>
            <a:off x="2794000"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20" name="Google Shape;2420;p157"/>
          <p:cNvSpPr txBox="1"/>
          <p:nvPr/>
        </p:nvSpPr>
        <p:spPr>
          <a:xfrm>
            <a:off x="3365500"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421" name="Google Shape;2421;p157"/>
          <p:cNvSpPr txBox="1"/>
          <p:nvPr/>
        </p:nvSpPr>
        <p:spPr>
          <a:xfrm>
            <a:off x="3937000" y="11763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422" name="Google Shape;2422;p157"/>
          <p:cNvSpPr txBox="1"/>
          <p:nvPr/>
        </p:nvSpPr>
        <p:spPr>
          <a:xfrm>
            <a:off x="4506912"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423" name="Google Shape;2423;p157"/>
          <p:cNvSpPr txBox="1"/>
          <p:nvPr/>
        </p:nvSpPr>
        <p:spPr>
          <a:xfrm>
            <a:off x="5078412"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22</a:t>
            </a:r>
            <a:endParaRPr/>
          </a:p>
        </p:txBody>
      </p:sp>
      <p:sp>
        <p:nvSpPr>
          <p:cNvPr id="2424" name="Google Shape;2424;p157"/>
          <p:cNvSpPr txBox="1"/>
          <p:nvPr/>
        </p:nvSpPr>
        <p:spPr>
          <a:xfrm>
            <a:off x="5649912" y="11763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25" name="Google Shape;2425;p157"/>
          <p:cNvSpPr txBox="1"/>
          <p:nvPr/>
        </p:nvSpPr>
        <p:spPr>
          <a:xfrm>
            <a:off x="6219825"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19</a:t>
            </a:r>
            <a:endParaRPr/>
          </a:p>
        </p:txBody>
      </p:sp>
      <p:sp>
        <p:nvSpPr>
          <p:cNvPr id="2426" name="Google Shape;2426;p157"/>
          <p:cNvSpPr txBox="1"/>
          <p:nvPr/>
        </p:nvSpPr>
        <p:spPr>
          <a:xfrm>
            <a:off x="6791325"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55</a:t>
            </a:r>
            <a:endParaRPr/>
          </a:p>
        </p:txBody>
      </p:sp>
      <p:sp>
        <p:nvSpPr>
          <p:cNvPr id="2427" name="Google Shape;2427;p157"/>
          <p:cNvSpPr txBox="1"/>
          <p:nvPr/>
        </p:nvSpPr>
        <p:spPr>
          <a:xfrm>
            <a:off x="7362825" y="11763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37</a:t>
            </a:r>
            <a:endParaRPr/>
          </a:p>
        </p:txBody>
      </p:sp>
      <p:sp>
        <p:nvSpPr>
          <p:cNvPr id="2428" name="Google Shape;2428;p157"/>
          <p:cNvSpPr txBox="1"/>
          <p:nvPr/>
        </p:nvSpPr>
        <p:spPr>
          <a:xfrm>
            <a:off x="7932737"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29" name="Google Shape;2429;p157"/>
          <p:cNvSpPr txBox="1"/>
          <p:nvPr/>
        </p:nvSpPr>
        <p:spPr>
          <a:xfrm>
            <a:off x="8504237"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99</a:t>
            </a:r>
            <a:endParaRPr/>
          </a:p>
        </p:txBody>
      </p:sp>
      <p:sp>
        <p:nvSpPr>
          <p:cNvPr id="2430" name="Google Shape;2430;p157"/>
          <p:cNvSpPr txBox="1"/>
          <p:nvPr/>
        </p:nvSpPr>
        <p:spPr>
          <a:xfrm>
            <a:off x="9077325" y="11763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2 </a:t>
            </a:r>
            <a:endParaRPr/>
          </a:p>
        </p:txBody>
      </p:sp>
      <p:sp>
        <p:nvSpPr>
          <p:cNvPr id="2431" name="Google Shape;2431;p157"/>
          <p:cNvSpPr txBox="1"/>
          <p:nvPr/>
        </p:nvSpPr>
        <p:spPr>
          <a:xfrm>
            <a:off x="327025" y="25479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432" name="Google Shape;2432;p157"/>
          <p:cNvSpPr txBox="1"/>
          <p:nvPr/>
        </p:nvSpPr>
        <p:spPr>
          <a:xfrm>
            <a:off x="898525" y="25479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33" name="Google Shape;2433;p157"/>
          <p:cNvSpPr txBox="1"/>
          <p:nvPr/>
        </p:nvSpPr>
        <p:spPr>
          <a:xfrm>
            <a:off x="1468437" y="25479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434" name="Google Shape;2434;p157"/>
          <p:cNvSpPr txBox="1"/>
          <p:nvPr/>
        </p:nvSpPr>
        <p:spPr>
          <a:xfrm>
            <a:off x="2039937" y="25479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435" name="Google Shape;2435;p157"/>
          <p:cNvSpPr txBox="1"/>
          <p:nvPr/>
        </p:nvSpPr>
        <p:spPr>
          <a:xfrm>
            <a:off x="2611437" y="25479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36" name="Google Shape;2436;p157"/>
          <p:cNvSpPr txBox="1"/>
          <p:nvPr/>
        </p:nvSpPr>
        <p:spPr>
          <a:xfrm>
            <a:off x="3181350" y="25479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437" name="Google Shape;2437;p157"/>
          <p:cNvSpPr txBox="1"/>
          <p:nvPr/>
        </p:nvSpPr>
        <p:spPr>
          <a:xfrm>
            <a:off x="3752850" y="25479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438" name="Google Shape;2438;p157"/>
          <p:cNvSpPr txBox="1"/>
          <p:nvPr/>
        </p:nvSpPr>
        <p:spPr>
          <a:xfrm>
            <a:off x="4324350" y="25479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439" name="Google Shape;2439;p157"/>
          <p:cNvSpPr txBox="1"/>
          <p:nvPr/>
        </p:nvSpPr>
        <p:spPr>
          <a:xfrm>
            <a:off x="4986337" y="25352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22</a:t>
            </a:r>
            <a:endParaRPr/>
          </a:p>
        </p:txBody>
      </p:sp>
      <p:sp>
        <p:nvSpPr>
          <p:cNvPr id="2440" name="Google Shape;2440;p157"/>
          <p:cNvSpPr txBox="1"/>
          <p:nvPr/>
        </p:nvSpPr>
        <p:spPr>
          <a:xfrm>
            <a:off x="5556250" y="25352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41" name="Google Shape;2441;p157"/>
          <p:cNvSpPr txBox="1"/>
          <p:nvPr/>
        </p:nvSpPr>
        <p:spPr>
          <a:xfrm>
            <a:off x="6127750" y="25352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19</a:t>
            </a:r>
            <a:endParaRPr/>
          </a:p>
        </p:txBody>
      </p:sp>
      <p:sp>
        <p:nvSpPr>
          <p:cNvPr id="2442" name="Google Shape;2442;p157"/>
          <p:cNvSpPr txBox="1"/>
          <p:nvPr/>
        </p:nvSpPr>
        <p:spPr>
          <a:xfrm>
            <a:off x="6699250" y="25352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55</a:t>
            </a:r>
            <a:endParaRPr/>
          </a:p>
        </p:txBody>
      </p:sp>
      <p:sp>
        <p:nvSpPr>
          <p:cNvPr id="2443" name="Google Shape;2443;p157"/>
          <p:cNvSpPr txBox="1"/>
          <p:nvPr/>
        </p:nvSpPr>
        <p:spPr>
          <a:xfrm>
            <a:off x="7269162" y="25352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37</a:t>
            </a:r>
            <a:endParaRPr/>
          </a:p>
        </p:txBody>
      </p:sp>
      <p:sp>
        <p:nvSpPr>
          <p:cNvPr id="2444" name="Google Shape;2444;p157"/>
          <p:cNvSpPr txBox="1"/>
          <p:nvPr/>
        </p:nvSpPr>
        <p:spPr>
          <a:xfrm>
            <a:off x="7840662" y="25352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45" name="Google Shape;2445;p157"/>
          <p:cNvSpPr txBox="1"/>
          <p:nvPr/>
        </p:nvSpPr>
        <p:spPr>
          <a:xfrm>
            <a:off x="8412162" y="25352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99</a:t>
            </a:r>
            <a:endParaRPr/>
          </a:p>
        </p:txBody>
      </p:sp>
      <p:sp>
        <p:nvSpPr>
          <p:cNvPr id="2446" name="Google Shape;2446;p157"/>
          <p:cNvSpPr txBox="1"/>
          <p:nvPr/>
        </p:nvSpPr>
        <p:spPr>
          <a:xfrm>
            <a:off x="8983662" y="25352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2 </a:t>
            </a:r>
            <a:endParaRPr/>
          </a:p>
        </p:txBody>
      </p:sp>
      <p:cxnSp>
        <p:nvCxnSpPr>
          <p:cNvPr id="2447" name="Google Shape;2447;p157"/>
          <p:cNvCxnSpPr/>
          <p:nvPr/>
        </p:nvCxnSpPr>
        <p:spPr>
          <a:xfrm flipH="1">
            <a:off x="2798762" y="1655762"/>
            <a:ext cx="2260600" cy="852487"/>
          </a:xfrm>
          <a:prstGeom prst="straightConnector1">
            <a:avLst/>
          </a:prstGeom>
          <a:noFill/>
          <a:ln cap="flat" cmpd="sng" w="19050">
            <a:solidFill>
              <a:schemeClr val="dk1"/>
            </a:solidFill>
            <a:prstDash val="solid"/>
            <a:miter lim="800000"/>
            <a:headEnd len="med" w="med" type="none"/>
            <a:tailEnd len="med" w="med" type="triangle"/>
          </a:ln>
        </p:spPr>
      </p:cxnSp>
      <p:cxnSp>
        <p:nvCxnSpPr>
          <p:cNvPr id="2448" name="Google Shape;2448;p157"/>
          <p:cNvCxnSpPr/>
          <p:nvPr/>
        </p:nvCxnSpPr>
        <p:spPr>
          <a:xfrm>
            <a:off x="5046662" y="1655762"/>
            <a:ext cx="2195512" cy="877887"/>
          </a:xfrm>
          <a:prstGeom prst="straightConnector1">
            <a:avLst/>
          </a:prstGeom>
          <a:noFill/>
          <a:ln cap="flat" cmpd="sng" w="19050">
            <a:solidFill>
              <a:schemeClr val="dk1"/>
            </a:solidFill>
            <a:prstDash val="solid"/>
            <a:miter lim="800000"/>
            <a:headEnd len="med" w="med" type="none"/>
            <a:tailEnd len="med" w="med" type="triangle"/>
          </a:ln>
        </p:spPr>
      </p:cxnSp>
      <p:cxnSp>
        <p:nvCxnSpPr>
          <p:cNvPr id="2449" name="Google Shape;2449;p157"/>
          <p:cNvCxnSpPr/>
          <p:nvPr/>
        </p:nvCxnSpPr>
        <p:spPr>
          <a:xfrm>
            <a:off x="4913312" y="2519362"/>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450" name="Google Shape;2450;p157"/>
          <p:cNvCxnSpPr/>
          <p:nvPr/>
        </p:nvCxnSpPr>
        <p:spPr>
          <a:xfrm>
            <a:off x="4918075" y="3611562"/>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451" name="Google Shape;2451;p157"/>
          <p:cNvCxnSpPr/>
          <p:nvPr/>
        </p:nvCxnSpPr>
        <p:spPr>
          <a:xfrm>
            <a:off x="2473325" y="4764087"/>
            <a:ext cx="0" cy="520700"/>
          </a:xfrm>
          <a:prstGeom prst="straightConnector1">
            <a:avLst/>
          </a:prstGeom>
          <a:noFill/>
          <a:ln cap="flat" cmpd="sng" w="57150">
            <a:solidFill>
              <a:srgbClr val="CC3300"/>
            </a:solidFill>
            <a:prstDash val="solid"/>
            <a:miter lim="800000"/>
            <a:headEnd len="med" w="med" type="none"/>
            <a:tailEnd len="med" w="med" type="none"/>
          </a:ln>
        </p:spPr>
      </p:cxnSp>
      <p:sp>
        <p:nvSpPr>
          <p:cNvPr id="2452" name="Google Shape;2452;p157"/>
          <p:cNvSpPr txBox="1"/>
          <p:nvPr/>
        </p:nvSpPr>
        <p:spPr>
          <a:xfrm>
            <a:off x="180975" y="3649662"/>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453" name="Google Shape;2453;p157"/>
          <p:cNvSpPr txBox="1"/>
          <p:nvPr/>
        </p:nvSpPr>
        <p:spPr>
          <a:xfrm>
            <a:off x="750887" y="364966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54" name="Google Shape;2454;p157"/>
          <p:cNvSpPr txBox="1"/>
          <p:nvPr/>
        </p:nvSpPr>
        <p:spPr>
          <a:xfrm>
            <a:off x="1322387" y="364966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455" name="Google Shape;2455;p157"/>
          <p:cNvSpPr txBox="1"/>
          <p:nvPr/>
        </p:nvSpPr>
        <p:spPr>
          <a:xfrm>
            <a:off x="1893887" y="3649662"/>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456" name="Google Shape;2456;p157"/>
          <p:cNvSpPr txBox="1"/>
          <p:nvPr/>
        </p:nvSpPr>
        <p:spPr>
          <a:xfrm>
            <a:off x="2560637" y="36385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57" name="Google Shape;2457;p157"/>
          <p:cNvSpPr txBox="1"/>
          <p:nvPr/>
        </p:nvSpPr>
        <p:spPr>
          <a:xfrm>
            <a:off x="3132137" y="3638550"/>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458" name="Google Shape;2458;p157"/>
          <p:cNvSpPr txBox="1"/>
          <p:nvPr/>
        </p:nvSpPr>
        <p:spPr>
          <a:xfrm>
            <a:off x="3702050" y="36385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459" name="Google Shape;2459;p157"/>
          <p:cNvSpPr txBox="1"/>
          <p:nvPr/>
        </p:nvSpPr>
        <p:spPr>
          <a:xfrm>
            <a:off x="4273550" y="36385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cxnSp>
        <p:nvCxnSpPr>
          <p:cNvPr id="2460" name="Google Shape;2460;p157"/>
          <p:cNvCxnSpPr/>
          <p:nvPr/>
        </p:nvCxnSpPr>
        <p:spPr>
          <a:xfrm>
            <a:off x="2509837" y="3659187"/>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461" name="Google Shape;2461;p157"/>
          <p:cNvCxnSpPr/>
          <p:nvPr/>
        </p:nvCxnSpPr>
        <p:spPr>
          <a:xfrm flipH="1">
            <a:off x="1298575" y="3027362"/>
            <a:ext cx="1271587" cy="593725"/>
          </a:xfrm>
          <a:prstGeom prst="straightConnector1">
            <a:avLst/>
          </a:prstGeom>
          <a:noFill/>
          <a:ln cap="flat" cmpd="sng" w="19050">
            <a:solidFill>
              <a:schemeClr val="dk1"/>
            </a:solidFill>
            <a:prstDash val="solid"/>
            <a:miter lim="800000"/>
            <a:headEnd len="med" w="med" type="none"/>
            <a:tailEnd len="med" w="med" type="triangle"/>
          </a:ln>
        </p:spPr>
      </p:cxnSp>
      <p:cxnSp>
        <p:nvCxnSpPr>
          <p:cNvPr id="2462" name="Google Shape;2462;p157"/>
          <p:cNvCxnSpPr/>
          <p:nvPr/>
        </p:nvCxnSpPr>
        <p:spPr>
          <a:xfrm>
            <a:off x="2557462" y="3052762"/>
            <a:ext cx="1123950" cy="555625"/>
          </a:xfrm>
          <a:prstGeom prst="straightConnector1">
            <a:avLst/>
          </a:prstGeom>
          <a:noFill/>
          <a:ln cap="flat" cmpd="sng" w="19050">
            <a:solidFill>
              <a:schemeClr val="dk1"/>
            </a:solidFill>
            <a:prstDash val="solid"/>
            <a:miter lim="800000"/>
            <a:headEnd len="med" w="med" type="none"/>
            <a:tailEnd len="med" w="med" type="triangle"/>
          </a:ln>
        </p:spPr>
      </p:cxnSp>
      <p:sp>
        <p:nvSpPr>
          <p:cNvPr id="2463" name="Google Shape;2463;p157"/>
          <p:cNvSpPr txBox="1"/>
          <p:nvPr/>
        </p:nvSpPr>
        <p:spPr>
          <a:xfrm>
            <a:off x="5018087" y="36258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22</a:t>
            </a:r>
            <a:endParaRPr/>
          </a:p>
        </p:txBody>
      </p:sp>
      <p:sp>
        <p:nvSpPr>
          <p:cNvPr id="2464" name="Google Shape;2464;p157"/>
          <p:cNvSpPr txBox="1"/>
          <p:nvPr/>
        </p:nvSpPr>
        <p:spPr>
          <a:xfrm>
            <a:off x="5589587" y="36258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65" name="Google Shape;2465;p157"/>
          <p:cNvSpPr txBox="1"/>
          <p:nvPr/>
        </p:nvSpPr>
        <p:spPr>
          <a:xfrm>
            <a:off x="6161087" y="3625850"/>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19</a:t>
            </a:r>
            <a:endParaRPr/>
          </a:p>
        </p:txBody>
      </p:sp>
      <p:sp>
        <p:nvSpPr>
          <p:cNvPr id="2466" name="Google Shape;2466;p157"/>
          <p:cNvSpPr txBox="1"/>
          <p:nvPr/>
        </p:nvSpPr>
        <p:spPr>
          <a:xfrm>
            <a:off x="6731000" y="36258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55</a:t>
            </a:r>
            <a:endParaRPr/>
          </a:p>
        </p:txBody>
      </p:sp>
      <p:sp>
        <p:nvSpPr>
          <p:cNvPr id="2467" name="Google Shape;2467;p157"/>
          <p:cNvSpPr txBox="1"/>
          <p:nvPr/>
        </p:nvSpPr>
        <p:spPr>
          <a:xfrm>
            <a:off x="7424737" y="3602037"/>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37</a:t>
            </a:r>
            <a:endParaRPr/>
          </a:p>
        </p:txBody>
      </p:sp>
      <p:sp>
        <p:nvSpPr>
          <p:cNvPr id="2468" name="Google Shape;2468;p157"/>
          <p:cNvSpPr txBox="1"/>
          <p:nvPr/>
        </p:nvSpPr>
        <p:spPr>
          <a:xfrm>
            <a:off x="7994650" y="36020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69" name="Google Shape;2469;p157"/>
          <p:cNvSpPr txBox="1"/>
          <p:nvPr/>
        </p:nvSpPr>
        <p:spPr>
          <a:xfrm>
            <a:off x="8566150" y="36020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99</a:t>
            </a:r>
            <a:endParaRPr/>
          </a:p>
        </p:txBody>
      </p:sp>
      <p:sp>
        <p:nvSpPr>
          <p:cNvPr id="2470" name="Google Shape;2470;p157"/>
          <p:cNvSpPr txBox="1"/>
          <p:nvPr/>
        </p:nvSpPr>
        <p:spPr>
          <a:xfrm>
            <a:off x="9139237" y="3602037"/>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2 </a:t>
            </a:r>
            <a:endParaRPr/>
          </a:p>
        </p:txBody>
      </p:sp>
      <p:cxnSp>
        <p:nvCxnSpPr>
          <p:cNvPr id="2471" name="Google Shape;2471;p157"/>
          <p:cNvCxnSpPr/>
          <p:nvPr/>
        </p:nvCxnSpPr>
        <p:spPr>
          <a:xfrm>
            <a:off x="7354887" y="3598862"/>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472" name="Google Shape;2472;p157"/>
          <p:cNvCxnSpPr/>
          <p:nvPr/>
        </p:nvCxnSpPr>
        <p:spPr>
          <a:xfrm flipH="1">
            <a:off x="6157912" y="3001962"/>
            <a:ext cx="1111250" cy="606425"/>
          </a:xfrm>
          <a:prstGeom prst="straightConnector1">
            <a:avLst/>
          </a:prstGeom>
          <a:noFill/>
          <a:ln cap="flat" cmpd="sng" w="19050">
            <a:solidFill>
              <a:schemeClr val="dk1"/>
            </a:solidFill>
            <a:prstDash val="solid"/>
            <a:miter lim="800000"/>
            <a:headEnd len="med" w="med" type="none"/>
            <a:tailEnd len="med" w="med" type="triangle"/>
          </a:ln>
        </p:spPr>
      </p:cxnSp>
      <p:cxnSp>
        <p:nvCxnSpPr>
          <p:cNvPr id="2473" name="Google Shape;2473;p157"/>
          <p:cNvCxnSpPr/>
          <p:nvPr/>
        </p:nvCxnSpPr>
        <p:spPr>
          <a:xfrm>
            <a:off x="7281862" y="3001962"/>
            <a:ext cx="1311275" cy="581025"/>
          </a:xfrm>
          <a:prstGeom prst="straightConnector1">
            <a:avLst/>
          </a:prstGeom>
          <a:noFill/>
          <a:ln cap="flat" cmpd="sng" w="19050">
            <a:solidFill>
              <a:schemeClr val="dk1"/>
            </a:solidFill>
            <a:prstDash val="solid"/>
            <a:miter lim="800000"/>
            <a:headEnd len="med" w="med" type="none"/>
            <a:tailEnd len="med" w="med" type="triangle"/>
          </a:ln>
        </p:spPr>
      </p:cxnSp>
      <p:grpSp>
        <p:nvGrpSpPr>
          <p:cNvPr id="2474" name="Google Shape;2474;p157"/>
          <p:cNvGrpSpPr/>
          <p:nvPr/>
        </p:nvGrpSpPr>
        <p:grpSpPr>
          <a:xfrm>
            <a:off x="104775" y="4140200"/>
            <a:ext cx="2332037" cy="1098550"/>
            <a:chOff x="61" y="2608"/>
            <a:chExt cx="1356" cy="692"/>
          </a:xfrm>
        </p:grpSpPr>
        <p:sp>
          <p:nvSpPr>
            <p:cNvPr id="2475" name="Google Shape;2475;p157"/>
            <p:cNvSpPr txBox="1"/>
            <p:nvPr/>
          </p:nvSpPr>
          <p:spPr>
            <a:xfrm>
              <a:off x="61" y="2979"/>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476" name="Google Shape;2476;p157"/>
            <p:cNvSpPr txBox="1"/>
            <p:nvPr/>
          </p:nvSpPr>
          <p:spPr>
            <a:xfrm>
              <a:off x="393" y="2979"/>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77" name="Google Shape;2477;p157"/>
            <p:cNvSpPr txBox="1"/>
            <p:nvPr/>
          </p:nvSpPr>
          <p:spPr>
            <a:xfrm>
              <a:off x="765" y="2979"/>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478" name="Google Shape;2478;p157"/>
            <p:cNvSpPr txBox="1"/>
            <p:nvPr/>
          </p:nvSpPr>
          <p:spPr>
            <a:xfrm>
              <a:off x="1097" y="2979"/>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cxnSp>
          <p:nvCxnSpPr>
            <p:cNvPr id="2479" name="Google Shape;2479;p157"/>
            <p:cNvCxnSpPr/>
            <p:nvPr/>
          </p:nvCxnSpPr>
          <p:spPr>
            <a:xfrm>
              <a:off x="725" y="2972"/>
              <a:ext cx="0" cy="328"/>
            </a:xfrm>
            <a:prstGeom prst="straightConnector1">
              <a:avLst/>
            </a:prstGeom>
            <a:noFill/>
            <a:ln cap="flat" cmpd="sng" w="57150">
              <a:solidFill>
                <a:srgbClr val="CC3300"/>
              </a:solidFill>
              <a:prstDash val="solid"/>
              <a:miter lim="800000"/>
              <a:headEnd len="med" w="med" type="none"/>
              <a:tailEnd len="med" w="med" type="none"/>
            </a:ln>
          </p:spPr>
        </p:cxnSp>
        <p:cxnSp>
          <p:nvCxnSpPr>
            <p:cNvPr id="2480" name="Google Shape;2480;p157"/>
            <p:cNvCxnSpPr/>
            <p:nvPr/>
          </p:nvCxnSpPr>
          <p:spPr>
            <a:xfrm flipH="1">
              <a:off x="374" y="2608"/>
              <a:ext cx="373" cy="381"/>
            </a:xfrm>
            <a:prstGeom prst="straightConnector1">
              <a:avLst/>
            </a:prstGeom>
            <a:noFill/>
            <a:ln cap="flat" cmpd="sng" w="19050">
              <a:solidFill>
                <a:schemeClr val="dk1"/>
              </a:solidFill>
              <a:prstDash val="solid"/>
              <a:miter lim="800000"/>
              <a:headEnd len="med" w="med" type="none"/>
              <a:tailEnd len="med" w="med" type="triangle"/>
            </a:ln>
          </p:spPr>
        </p:cxnSp>
        <p:cxnSp>
          <p:nvCxnSpPr>
            <p:cNvPr id="2481" name="Google Shape;2481;p157"/>
            <p:cNvCxnSpPr/>
            <p:nvPr/>
          </p:nvCxnSpPr>
          <p:spPr>
            <a:xfrm>
              <a:off x="739" y="2608"/>
              <a:ext cx="374" cy="358"/>
            </a:xfrm>
            <a:prstGeom prst="straightConnector1">
              <a:avLst/>
            </a:prstGeom>
            <a:noFill/>
            <a:ln cap="flat" cmpd="sng" w="19050">
              <a:solidFill>
                <a:schemeClr val="dk1"/>
              </a:solidFill>
              <a:prstDash val="solid"/>
              <a:miter lim="800000"/>
              <a:headEnd len="med" w="med" type="none"/>
              <a:tailEnd len="med" w="med" type="triangle"/>
            </a:ln>
          </p:spPr>
        </p:cxnSp>
      </p:grpSp>
      <p:cxnSp>
        <p:nvCxnSpPr>
          <p:cNvPr id="2482" name="Google Shape;2482;p157"/>
          <p:cNvCxnSpPr/>
          <p:nvPr/>
        </p:nvCxnSpPr>
        <p:spPr>
          <a:xfrm flipH="1">
            <a:off x="3092450" y="4114800"/>
            <a:ext cx="601662" cy="593725"/>
          </a:xfrm>
          <a:prstGeom prst="straightConnector1">
            <a:avLst/>
          </a:prstGeom>
          <a:noFill/>
          <a:ln cap="flat" cmpd="sng" w="19050">
            <a:solidFill>
              <a:schemeClr val="dk1"/>
            </a:solidFill>
            <a:prstDash val="solid"/>
            <a:miter lim="800000"/>
            <a:headEnd len="med" w="med" type="none"/>
            <a:tailEnd len="med" w="med" type="triangle"/>
          </a:ln>
        </p:spPr>
      </p:cxnSp>
      <p:sp>
        <p:nvSpPr>
          <p:cNvPr id="2483" name="Google Shape;2483;p157"/>
          <p:cNvSpPr txBox="1"/>
          <p:nvPr/>
        </p:nvSpPr>
        <p:spPr>
          <a:xfrm>
            <a:off x="2524125" y="47307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484" name="Google Shape;2484;p157"/>
          <p:cNvSpPr txBox="1"/>
          <p:nvPr/>
        </p:nvSpPr>
        <p:spPr>
          <a:xfrm>
            <a:off x="3095625" y="47307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485" name="Google Shape;2485;p157"/>
          <p:cNvSpPr txBox="1"/>
          <p:nvPr/>
        </p:nvSpPr>
        <p:spPr>
          <a:xfrm>
            <a:off x="3719512" y="47307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486" name="Google Shape;2486;p157"/>
          <p:cNvSpPr txBox="1"/>
          <p:nvPr/>
        </p:nvSpPr>
        <p:spPr>
          <a:xfrm>
            <a:off x="4291012" y="47307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cxnSp>
        <p:nvCxnSpPr>
          <p:cNvPr id="2487" name="Google Shape;2487;p157"/>
          <p:cNvCxnSpPr/>
          <p:nvPr/>
        </p:nvCxnSpPr>
        <p:spPr>
          <a:xfrm>
            <a:off x="3665537" y="4716462"/>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488" name="Google Shape;2488;p157"/>
          <p:cNvCxnSpPr/>
          <p:nvPr/>
        </p:nvCxnSpPr>
        <p:spPr>
          <a:xfrm>
            <a:off x="3708400" y="4140200"/>
            <a:ext cx="615950" cy="579437"/>
          </a:xfrm>
          <a:prstGeom prst="straightConnector1">
            <a:avLst/>
          </a:prstGeom>
          <a:noFill/>
          <a:ln cap="flat" cmpd="sng" w="19050">
            <a:solidFill>
              <a:schemeClr val="dk1"/>
            </a:solidFill>
            <a:prstDash val="solid"/>
            <a:miter lim="800000"/>
            <a:headEnd len="med" w="med" type="none"/>
            <a:tailEnd len="med" w="med" type="triangle"/>
          </a:ln>
        </p:spPr>
      </p:cxnSp>
      <p:sp>
        <p:nvSpPr>
          <p:cNvPr id="2489" name="Google Shape;2489;p157"/>
          <p:cNvSpPr txBox="1"/>
          <p:nvPr/>
        </p:nvSpPr>
        <p:spPr>
          <a:xfrm>
            <a:off x="4967287" y="4729162"/>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22</a:t>
            </a:r>
            <a:endParaRPr/>
          </a:p>
        </p:txBody>
      </p:sp>
      <p:sp>
        <p:nvSpPr>
          <p:cNvPr id="2490" name="Google Shape;2490;p157"/>
          <p:cNvSpPr txBox="1"/>
          <p:nvPr/>
        </p:nvSpPr>
        <p:spPr>
          <a:xfrm>
            <a:off x="5537200" y="472916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491" name="Google Shape;2491;p157"/>
          <p:cNvSpPr txBox="1"/>
          <p:nvPr/>
        </p:nvSpPr>
        <p:spPr>
          <a:xfrm>
            <a:off x="6176962" y="472916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19</a:t>
            </a:r>
            <a:endParaRPr/>
          </a:p>
        </p:txBody>
      </p:sp>
      <p:sp>
        <p:nvSpPr>
          <p:cNvPr id="2492" name="Google Shape;2492;p157"/>
          <p:cNvSpPr txBox="1"/>
          <p:nvPr/>
        </p:nvSpPr>
        <p:spPr>
          <a:xfrm>
            <a:off x="6748462" y="472916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55</a:t>
            </a:r>
            <a:endParaRPr/>
          </a:p>
        </p:txBody>
      </p:sp>
      <p:cxnSp>
        <p:nvCxnSpPr>
          <p:cNvPr id="2493" name="Google Shape;2493;p157"/>
          <p:cNvCxnSpPr/>
          <p:nvPr/>
        </p:nvCxnSpPr>
        <p:spPr>
          <a:xfrm>
            <a:off x="4905375" y="4733925"/>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494" name="Google Shape;2494;p157"/>
          <p:cNvCxnSpPr/>
          <p:nvPr/>
        </p:nvCxnSpPr>
        <p:spPr>
          <a:xfrm>
            <a:off x="6113462" y="4725987"/>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495" name="Google Shape;2495;p157"/>
          <p:cNvCxnSpPr/>
          <p:nvPr/>
        </p:nvCxnSpPr>
        <p:spPr>
          <a:xfrm>
            <a:off x="7337425" y="4705350"/>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496" name="Google Shape;2496;p157"/>
          <p:cNvCxnSpPr/>
          <p:nvPr/>
        </p:nvCxnSpPr>
        <p:spPr>
          <a:xfrm flipH="1">
            <a:off x="5514975" y="4114800"/>
            <a:ext cx="642937" cy="604837"/>
          </a:xfrm>
          <a:prstGeom prst="straightConnector1">
            <a:avLst/>
          </a:prstGeom>
          <a:noFill/>
          <a:ln cap="flat" cmpd="sng" w="19050">
            <a:solidFill>
              <a:schemeClr val="dk1"/>
            </a:solidFill>
            <a:prstDash val="solid"/>
            <a:miter lim="800000"/>
            <a:headEnd len="med" w="med" type="none"/>
            <a:tailEnd len="med" w="med" type="triangle"/>
          </a:ln>
        </p:spPr>
      </p:cxnSp>
      <p:cxnSp>
        <p:nvCxnSpPr>
          <p:cNvPr id="2497" name="Google Shape;2497;p157"/>
          <p:cNvCxnSpPr/>
          <p:nvPr/>
        </p:nvCxnSpPr>
        <p:spPr>
          <a:xfrm>
            <a:off x="6157912" y="4102100"/>
            <a:ext cx="574675" cy="606425"/>
          </a:xfrm>
          <a:prstGeom prst="straightConnector1">
            <a:avLst/>
          </a:prstGeom>
          <a:noFill/>
          <a:ln cap="flat" cmpd="sng" w="19050">
            <a:solidFill>
              <a:schemeClr val="dk1"/>
            </a:solidFill>
            <a:prstDash val="solid"/>
            <a:miter lim="800000"/>
            <a:headEnd len="med" w="med" type="none"/>
            <a:tailEnd len="med" w="med" type="triangle"/>
          </a:ln>
        </p:spPr>
      </p:cxnSp>
      <p:sp>
        <p:nvSpPr>
          <p:cNvPr id="2498" name="Google Shape;2498;p157"/>
          <p:cNvSpPr txBox="1"/>
          <p:nvPr/>
        </p:nvSpPr>
        <p:spPr>
          <a:xfrm>
            <a:off x="7388225" y="47180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37</a:t>
            </a:r>
            <a:endParaRPr/>
          </a:p>
        </p:txBody>
      </p:sp>
      <p:sp>
        <p:nvSpPr>
          <p:cNvPr id="2499" name="Google Shape;2499;p157"/>
          <p:cNvSpPr txBox="1"/>
          <p:nvPr/>
        </p:nvSpPr>
        <p:spPr>
          <a:xfrm>
            <a:off x="7959725" y="4718050"/>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500" name="Google Shape;2500;p157"/>
          <p:cNvSpPr txBox="1"/>
          <p:nvPr/>
        </p:nvSpPr>
        <p:spPr>
          <a:xfrm>
            <a:off x="8597900" y="4718050"/>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99</a:t>
            </a:r>
            <a:endParaRPr/>
          </a:p>
        </p:txBody>
      </p:sp>
      <p:sp>
        <p:nvSpPr>
          <p:cNvPr id="2501" name="Google Shape;2501;p157"/>
          <p:cNvSpPr txBox="1"/>
          <p:nvPr/>
        </p:nvSpPr>
        <p:spPr>
          <a:xfrm>
            <a:off x="9169400" y="471805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2 </a:t>
            </a:r>
            <a:endParaRPr/>
          </a:p>
        </p:txBody>
      </p:sp>
      <p:cxnSp>
        <p:nvCxnSpPr>
          <p:cNvPr id="2502" name="Google Shape;2502;p157"/>
          <p:cNvCxnSpPr/>
          <p:nvPr/>
        </p:nvCxnSpPr>
        <p:spPr>
          <a:xfrm>
            <a:off x="8559800" y="4722812"/>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03" name="Google Shape;2503;p157"/>
          <p:cNvCxnSpPr/>
          <p:nvPr/>
        </p:nvCxnSpPr>
        <p:spPr>
          <a:xfrm flipH="1">
            <a:off x="7951787" y="4040187"/>
            <a:ext cx="603250" cy="668337"/>
          </a:xfrm>
          <a:prstGeom prst="straightConnector1">
            <a:avLst/>
          </a:prstGeom>
          <a:noFill/>
          <a:ln cap="flat" cmpd="sng" w="19050">
            <a:solidFill>
              <a:schemeClr val="dk1"/>
            </a:solidFill>
            <a:prstDash val="solid"/>
            <a:miter lim="800000"/>
            <a:headEnd len="med" w="med" type="none"/>
            <a:tailEnd len="med" w="med" type="triangle"/>
          </a:ln>
        </p:spPr>
      </p:cxnSp>
      <p:cxnSp>
        <p:nvCxnSpPr>
          <p:cNvPr id="2504" name="Google Shape;2504;p157"/>
          <p:cNvCxnSpPr/>
          <p:nvPr/>
        </p:nvCxnSpPr>
        <p:spPr>
          <a:xfrm>
            <a:off x="8555037" y="4029075"/>
            <a:ext cx="614362" cy="690562"/>
          </a:xfrm>
          <a:prstGeom prst="straightConnector1">
            <a:avLst/>
          </a:prstGeom>
          <a:noFill/>
          <a:ln cap="flat" cmpd="sng" w="19050">
            <a:solidFill>
              <a:schemeClr val="dk1"/>
            </a:solidFill>
            <a:prstDash val="solid"/>
            <a:miter lim="800000"/>
            <a:headEnd len="med" w="med" type="none"/>
            <a:tailEnd len="med" w="med" type="triangle"/>
          </a:ln>
        </p:spPr>
      </p:cxnSp>
      <p:cxnSp>
        <p:nvCxnSpPr>
          <p:cNvPr id="2505" name="Google Shape;2505;p157"/>
          <p:cNvCxnSpPr/>
          <p:nvPr/>
        </p:nvCxnSpPr>
        <p:spPr>
          <a:xfrm flipH="1">
            <a:off x="2770187" y="5176837"/>
            <a:ext cx="295275" cy="5191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06" name="Google Shape;2506;p157"/>
          <p:cNvCxnSpPr/>
          <p:nvPr/>
        </p:nvCxnSpPr>
        <p:spPr>
          <a:xfrm>
            <a:off x="3078162" y="5214937"/>
            <a:ext cx="322262" cy="4810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07" name="Google Shape;2507;p157"/>
          <p:cNvCxnSpPr/>
          <p:nvPr/>
        </p:nvCxnSpPr>
        <p:spPr>
          <a:xfrm flipH="1">
            <a:off x="3989387" y="5214937"/>
            <a:ext cx="307975" cy="469900"/>
          </a:xfrm>
          <a:prstGeom prst="straightConnector1">
            <a:avLst/>
          </a:prstGeom>
          <a:noFill/>
          <a:ln cap="flat" cmpd="sng" w="19050">
            <a:solidFill>
              <a:schemeClr val="dk1"/>
            </a:solidFill>
            <a:prstDash val="solid"/>
            <a:miter lim="800000"/>
            <a:headEnd len="med" w="med" type="none"/>
            <a:tailEnd len="med" w="med" type="triangle"/>
          </a:ln>
        </p:spPr>
      </p:cxnSp>
      <p:cxnSp>
        <p:nvCxnSpPr>
          <p:cNvPr id="2508" name="Google Shape;2508;p157"/>
          <p:cNvCxnSpPr/>
          <p:nvPr/>
        </p:nvCxnSpPr>
        <p:spPr>
          <a:xfrm>
            <a:off x="4324350" y="5214937"/>
            <a:ext cx="320675" cy="4810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09" name="Google Shape;2509;p157"/>
          <p:cNvCxnSpPr/>
          <p:nvPr/>
        </p:nvCxnSpPr>
        <p:spPr>
          <a:xfrm flipH="1">
            <a:off x="5221287" y="5176837"/>
            <a:ext cx="293687" cy="5191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10" name="Google Shape;2510;p157"/>
          <p:cNvCxnSpPr/>
          <p:nvPr/>
        </p:nvCxnSpPr>
        <p:spPr>
          <a:xfrm>
            <a:off x="5529262" y="5189537"/>
            <a:ext cx="333375" cy="495300"/>
          </a:xfrm>
          <a:prstGeom prst="straightConnector1">
            <a:avLst/>
          </a:prstGeom>
          <a:noFill/>
          <a:ln cap="flat" cmpd="sng" w="19050">
            <a:solidFill>
              <a:schemeClr val="dk1"/>
            </a:solidFill>
            <a:prstDash val="solid"/>
            <a:miter lim="800000"/>
            <a:headEnd len="med" w="med" type="none"/>
            <a:tailEnd len="med" w="med" type="triangle"/>
          </a:ln>
        </p:spPr>
      </p:cxnSp>
      <p:cxnSp>
        <p:nvCxnSpPr>
          <p:cNvPr id="2511" name="Google Shape;2511;p157"/>
          <p:cNvCxnSpPr/>
          <p:nvPr/>
        </p:nvCxnSpPr>
        <p:spPr>
          <a:xfrm flipH="1">
            <a:off x="6438900" y="5214937"/>
            <a:ext cx="293687" cy="4810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12" name="Google Shape;2512;p157"/>
          <p:cNvCxnSpPr/>
          <p:nvPr/>
        </p:nvCxnSpPr>
        <p:spPr>
          <a:xfrm>
            <a:off x="6761162" y="5227637"/>
            <a:ext cx="320675" cy="4683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13" name="Google Shape;2513;p157"/>
          <p:cNvCxnSpPr/>
          <p:nvPr/>
        </p:nvCxnSpPr>
        <p:spPr>
          <a:xfrm flipH="1">
            <a:off x="7683500" y="5165725"/>
            <a:ext cx="280987" cy="5191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14" name="Google Shape;2514;p157"/>
          <p:cNvCxnSpPr/>
          <p:nvPr/>
        </p:nvCxnSpPr>
        <p:spPr>
          <a:xfrm>
            <a:off x="7964487" y="5189537"/>
            <a:ext cx="374650" cy="4937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15" name="Google Shape;2515;p157"/>
          <p:cNvCxnSpPr/>
          <p:nvPr/>
        </p:nvCxnSpPr>
        <p:spPr>
          <a:xfrm flipH="1">
            <a:off x="8875712" y="5176837"/>
            <a:ext cx="266700" cy="5191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16" name="Google Shape;2516;p157"/>
          <p:cNvCxnSpPr/>
          <p:nvPr/>
        </p:nvCxnSpPr>
        <p:spPr>
          <a:xfrm>
            <a:off x="9183687" y="5153025"/>
            <a:ext cx="333375" cy="542925"/>
          </a:xfrm>
          <a:prstGeom prst="straightConnector1">
            <a:avLst/>
          </a:prstGeom>
          <a:noFill/>
          <a:ln cap="flat" cmpd="sng" w="19050">
            <a:solidFill>
              <a:schemeClr val="dk1"/>
            </a:solidFill>
            <a:prstDash val="solid"/>
            <a:miter lim="800000"/>
            <a:headEnd len="med" w="med" type="none"/>
            <a:tailEnd len="med" w="med" type="triangle"/>
          </a:ln>
        </p:spPr>
      </p:cxnSp>
      <p:grpSp>
        <p:nvGrpSpPr>
          <p:cNvPr id="2517" name="Google Shape;2517;p157"/>
          <p:cNvGrpSpPr/>
          <p:nvPr/>
        </p:nvGrpSpPr>
        <p:grpSpPr>
          <a:xfrm>
            <a:off x="55562" y="5165725"/>
            <a:ext cx="1201737" cy="1052512"/>
            <a:chOff x="32" y="3254"/>
            <a:chExt cx="699" cy="663"/>
          </a:xfrm>
        </p:grpSpPr>
        <p:sp>
          <p:nvSpPr>
            <p:cNvPr id="2518" name="Google Shape;2518;p157"/>
            <p:cNvSpPr txBox="1"/>
            <p:nvPr/>
          </p:nvSpPr>
          <p:spPr>
            <a:xfrm>
              <a:off x="32" y="3586"/>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519" name="Google Shape;2519;p157"/>
            <p:cNvSpPr txBox="1"/>
            <p:nvPr/>
          </p:nvSpPr>
          <p:spPr>
            <a:xfrm>
              <a:off x="389" y="3586"/>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cxnSp>
          <p:nvCxnSpPr>
            <p:cNvPr id="2520" name="Google Shape;2520;p157"/>
            <p:cNvCxnSpPr/>
            <p:nvPr/>
          </p:nvCxnSpPr>
          <p:spPr>
            <a:xfrm flipH="1">
              <a:off x="163" y="3254"/>
              <a:ext cx="226" cy="327"/>
            </a:xfrm>
            <a:prstGeom prst="straightConnector1">
              <a:avLst/>
            </a:prstGeom>
            <a:noFill/>
            <a:ln cap="flat" cmpd="sng" w="19050">
              <a:solidFill>
                <a:schemeClr val="dk1"/>
              </a:solidFill>
              <a:prstDash val="solid"/>
              <a:miter lim="800000"/>
              <a:headEnd len="med" w="med" type="none"/>
              <a:tailEnd len="med" w="med" type="triangle"/>
            </a:ln>
          </p:spPr>
        </p:cxnSp>
        <p:cxnSp>
          <p:nvCxnSpPr>
            <p:cNvPr id="2521" name="Google Shape;2521;p157"/>
            <p:cNvCxnSpPr/>
            <p:nvPr/>
          </p:nvCxnSpPr>
          <p:spPr>
            <a:xfrm>
              <a:off x="389" y="3261"/>
              <a:ext cx="125" cy="3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22" name="Google Shape;2522;p157"/>
            <p:cNvCxnSpPr/>
            <p:nvPr/>
          </p:nvCxnSpPr>
          <p:spPr>
            <a:xfrm>
              <a:off x="362" y="3589"/>
              <a:ext cx="0" cy="328"/>
            </a:xfrm>
            <a:prstGeom prst="straightConnector1">
              <a:avLst/>
            </a:prstGeom>
            <a:noFill/>
            <a:ln cap="flat" cmpd="sng" w="57150">
              <a:solidFill>
                <a:srgbClr val="CC3300"/>
              </a:solidFill>
              <a:prstDash val="solid"/>
              <a:miter lim="800000"/>
              <a:headEnd len="med" w="med" type="none"/>
              <a:tailEnd len="med" w="med" type="none"/>
            </a:ln>
          </p:spPr>
        </p:cxnSp>
        <p:cxnSp>
          <p:nvCxnSpPr>
            <p:cNvPr id="2523" name="Google Shape;2523;p157"/>
            <p:cNvCxnSpPr/>
            <p:nvPr/>
          </p:nvCxnSpPr>
          <p:spPr>
            <a:xfrm>
              <a:off x="731" y="3584"/>
              <a:ext cx="0" cy="328"/>
            </a:xfrm>
            <a:prstGeom prst="straightConnector1">
              <a:avLst/>
            </a:prstGeom>
            <a:noFill/>
            <a:ln cap="flat" cmpd="sng" w="57150">
              <a:solidFill>
                <a:srgbClr val="CC3300"/>
              </a:solidFill>
              <a:prstDash val="solid"/>
              <a:miter lim="800000"/>
              <a:headEnd len="med" w="med" type="none"/>
              <a:tailEnd len="med" w="med" type="none"/>
            </a:ln>
          </p:spPr>
        </p:cxnSp>
      </p:grpSp>
      <p:sp>
        <p:nvSpPr>
          <p:cNvPr id="2524" name="Google Shape;2524;p157"/>
          <p:cNvSpPr txBox="1"/>
          <p:nvPr/>
        </p:nvSpPr>
        <p:spPr>
          <a:xfrm>
            <a:off x="1284287"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525" name="Google Shape;2525;p157"/>
          <p:cNvSpPr txBox="1"/>
          <p:nvPr/>
        </p:nvSpPr>
        <p:spPr>
          <a:xfrm>
            <a:off x="1898650" y="5692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cxnSp>
        <p:nvCxnSpPr>
          <p:cNvPr id="2526" name="Google Shape;2526;p157"/>
          <p:cNvCxnSpPr/>
          <p:nvPr/>
        </p:nvCxnSpPr>
        <p:spPr>
          <a:xfrm flipH="1">
            <a:off x="1471612" y="5189537"/>
            <a:ext cx="388937" cy="506412"/>
          </a:xfrm>
          <a:prstGeom prst="straightConnector1">
            <a:avLst/>
          </a:prstGeom>
          <a:noFill/>
          <a:ln cap="flat" cmpd="sng" w="19050">
            <a:solidFill>
              <a:schemeClr val="dk1"/>
            </a:solidFill>
            <a:prstDash val="solid"/>
            <a:miter lim="800000"/>
            <a:headEnd len="med" w="med" type="none"/>
            <a:tailEnd len="med" w="med" type="triangle"/>
          </a:ln>
        </p:spPr>
      </p:cxnSp>
      <p:cxnSp>
        <p:nvCxnSpPr>
          <p:cNvPr id="2527" name="Google Shape;2527;p157"/>
          <p:cNvCxnSpPr/>
          <p:nvPr/>
        </p:nvCxnSpPr>
        <p:spPr>
          <a:xfrm>
            <a:off x="1874837" y="5176837"/>
            <a:ext cx="279400" cy="508000"/>
          </a:xfrm>
          <a:prstGeom prst="straightConnector1">
            <a:avLst/>
          </a:prstGeom>
          <a:noFill/>
          <a:ln cap="flat" cmpd="sng" w="19050">
            <a:solidFill>
              <a:schemeClr val="dk1"/>
            </a:solidFill>
            <a:prstDash val="solid"/>
            <a:miter lim="800000"/>
            <a:headEnd len="med" w="med" type="none"/>
            <a:tailEnd len="med" w="med" type="triangle"/>
          </a:ln>
        </p:spPr>
      </p:cxnSp>
      <p:cxnSp>
        <p:nvCxnSpPr>
          <p:cNvPr id="2528" name="Google Shape;2528;p157"/>
          <p:cNvCxnSpPr/>
          <p:nvPr/>
        </p:nvCxnSpPr>
        <p:spPr>
          <a:xfrm>
            <a:off x="1858962" y="5689600"/>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29" name="Google Shape;2529;p157"/>
          <p:cNvCxnSpPr/>
          <p:nvPr/>
        </p:nvCxnSpPr>
        <p:spPr>
          <a:xfrm>
            <a:off x="2478087" y="5681662"/>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0" name="Google Shape;2530;p157"/>
          <p:cNvCxnSpPr/>
          <p:nvPr/>
        </p:nvCxnSpPr>
        <p:spPr>
          <a:xfrm>
            <a:off x="3094037" y="5680075"/>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1" name="Google Shape;2531;p157"/>
          <p:cNvCxnSpPr/>
          <p:nvPr/>
        </p:nvCxnSpPr>
        <p:spPr>
          <a:xfrm>
            <a:off x="3727450" y="5710237"/>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2" name="Google Shape;2532;p157"/>
          <p:cNvCxnSpPr/>
          <p:nvPr/>
        </p:nvCxnSpPr>
        <p:spPr>
          <a:xfrm>
            <a:off x="4330700" y="5708650"/>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3" name="Google Shape;2533;p157"/>
          <p:cNvCxnSpPr/>
          <p:nvPr/>
        </p:nvCxnSpPr>
        <p:spPr>
          <a:xfrm>
            <a:off x="4937125" y="5713412"/>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4" name="Google Shape;2534;p157"/>
          <p:cNvCxnSpPr/>
          <p:nvPr/>
        </p:nvCxnSpPr>
        <p:spPr>
          <a:xfrm>
            <a:off x="5556250" y="5716587"/>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5" name="Google Shape;2535;p157"/>
          <p:cNvCxnSpPr/>
          <p:nvPr/>
        </p:nvCxnSpPr>
        <p:spPr>
          <a:xfrm>
            <a:off x="6164262" y="5683250"/>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6" name="Google Shape;2536;p157"/>
          <p:cNvCxnSpPr/>
          <p:nvPr/>
        </p:nvCxnSpPr>
        <p:spPr>
          <a:xfrm>
            <a:off x="6770687" y="5688012"/>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7" name="Google Shape;2537;p157"/>
          <p:cNvCxnSpPr/>
          <p:nvPr/>
        </p:nvCxnSpPr>
        <p:spPr>
          <a:xfrm>
            <a:off x="7391400" y="5692775"/>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8" name="Google Shape;2538;p157"/>
          <p:cNvCxnSpPr/>
          <p:nvPr/>
        </p:nvCxnSpPr>
        <p:spPr>
          <a:xfrm>
            <a:off x="8024812" y="5710237"/>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39" name="Google Shape;2539;p157"/>
          <p:cNvCxnSpPr/>
          <p:nvPr/>
        </p:nvCxnSpPr>
        <p:spPr>
          <a:xfrm>
            <a:off x="8613775" y="5697537"/>
            <a:ext cx="0" cy="520700"/>
          </a:xfrm>
          <a:prstGeom prst="straightConnector1">
            <a:avLst/>
          </a:prstGeom>
          <a:noFill/>
          <a:ln cap="flat" cmpd="sng" w="57150">
            <a:solidFill>
              <a:srgbClr val="CC3300"/>
            </a:solidFill>
            <a:prstDash val="solid"/>
            <a:miter lim="800000"/>
            <a:headEnd len="med" w="med" type="none"/>
            <a:tailEnd len="med" w="med" type="none"/>
          </a:ln>
        </p:spPr>
      </p:cxnSp>
      <p:cxnSp>
        <p:nvCxnSpPr>
          <p:cNvPr id="2540" name="Google Shape;2540;p157"/>
          <p:cNvCxnSpPr/>
          <p:nvPr/>
        </p:nvCxnSpPr>
        <p:spPr>
          <a:xfrm>
            <a:off x="9236075" y="5726112"/>
            <a:ext cx="0" cy="520700"/>
          </a:xfrm>
          <a:prstGeom prst="straightConnector1">
            <a:avLst/>
          </a:prstGeom>
          <a:noFill/>
          <a:ln cap="flat" cmpd="sng" w="57150">
            <a:solidFill>
              <a:srgbClr val="CC3300"/>
            </a:solidFill>
            <a:prstDash val="solid"/>
            <a:miter lim="800000"/>
            <a:headEnd len="med" w="med" type="none"/>
            <a:tailEnd len="med" w="med" type="none"/>
          </a:ln>
        </p:spPr>
      </p:cxn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4" name="Shape 2544"/>
        <p:cNvGrpSpPr/>
        <p:nvPr/>
      </p:nvGrpSpPr>
      <p:grpSpPr>
        <a:xfrm>
          <a:off x="0" y="0"/>
          <a:ext cx="0" cy="0"/>
          <a:chOff x="0" y="0"/>
          <a:chExt cx="0" cy="0"/>
        </a:xfrm>
      </p:grpSpPr>
      <p:sp>
        <p:nvSpPr>
          <p:cNvPr id="2545" name="Google Shape;2545;p15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grpSp>
        <p:nvGrpSpPr>
          <p:cNvPr id="2546" name="Google Shape;2546;p158"/>
          <p:cNvGrpSpPr/>
          <p:nvPr/>
        </p:nvGrpSpPr>
        <p:grpSpPr>
          <a:xfrm>
            <a:off x="312737" y="1322387"/>
            <a:ext cx="4548187" cy="476250"/>
            <a:chOff x="182" y="833"/>
            <a:chExt cx="2644" cy="300"/>
          </a:xfrm>
        </p:grpSpPr>
        <p:sp>
          <p:nvSpPr>
            <p:cNvPr id="2547" name="Google Shape;2547;p158"/>
            <p:cNvSpPr txBox="1"/>
            <p:nvPr/>
          </p:nvSpPr>
          <p:spPr>
            <a:xfrm>
              <a:off x="182" y="833"/>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548" name="Google Shape;2548;p158"/>
            <p:cNvSpPr txBox="1"/>
            <p:nvPr/>
          </p:nvSpPr>
          <p:spPr>
            <a:xfrm>
              <a:off x="514" y="833"/>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549" name="Google Shape;2549;p158"/>
            <p:cNvSpPr txBox="1"/>
            <p:nvPr/>
          </p:nvSpPr>
          <p:spPr>
            <a:xfrm>
              <a:off x="846" y="833"/>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550" name="Google Shape;2550;p158"/>
            <p:cNvSpPr txBox="1"/>
            <p:nvPr/>
          </p:nvSpPr>
          <p:spPr>
            <a:xfrm>
              <a:off x="1178" y="833"/>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551" name="Google Shape;2551;p158"/>
            <p:cNvSpPr txBox="1"/>
            <p:nvPr/>
          </p:nvSpPr>
          <p:spPr>
            <a:xfrm>
              <a:off x="1510" y="833"/>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552" name="Google Shape;2552;p158"/>
            <p:cNvSpPr txBox="1"/>
            <p:nvPr/>
          </p:nvSpPr>
          <p:spPr>
            <a:xfrm>
              <a:off x="1842" y="833"/>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553" name="Google Shape;2553;p158"/>
            <p:cNvSpPr txBox="1"/>
            <p:nvPr/>
          </p:nvSpPr>
          <p:spPr>
            <a:xfrm>
              <a:off x="2174" y="833"/>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554" name="Google Shape;2554;p158"/>
            <p:cNvSpPr txBox="1"/>
            <p:nvPr/>
          </p:nvSpPr>
          <p:spPr>
            <a:xfrm>
              <a:off x="2506" y="833"/>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grpSp>
      <p:grpSp>
        <p:nvGrpSpPr>
          <p:cNvPr id="2555" name="Google Shape;2555;p158"/>
          <p:cNvGrpSpPr/>
          <p:nvPr/>
        </p:nvGrpSpPr>
        <p:grpSpPr>
          <a:xfrm>
            <a:off x="166687" y="1801812"/>
            <a:ext cx="2389187" cy="1098550"/>
            <a:chOff x="97" y="1135"/>
            <a:chExt cx="1389" cy="692"/>
          </a:xfrm>
        </p:grpSpPr>
        <p:sp>
          <p:nvSpPr>
            <p:cNvPr id="2556" name="Google Shape;2556;p158"/>
            <p:cNvSpPr txBox="1"/>
            <p:nvPr/>
          </p:nvSpPr>
          <p:spPr>
            <a:xfrm>
              <a:off x="97" y="1527"/>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557" name="Google Shape;2557;p158"/>
            <p:cNvSpPr txBox="1"/>
            <p:nvPr/>
          </p:nvSpPr>
          <p:spPr>
            <a:xfrm>
              <a:off x="429" y="1527"/>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558" name="Google Shape;2558;p158"/>
            <p:cNvSpPr txBox="1"/>
            <p:nvPr/>
          </p:nvSpPr>
          <p:spPr>
            <a:xfrm>
              <a:off x="761" y="1527"/>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559" name="Google Shape;2559;p158"/>
            <p:cNvSpPr txBox="1"/>
            <p:nvPr/>
          </p:nvSpPr>
          <p:spPr>
            <a:xfrm>
              <a:off x="1093" y="1527"/>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cxnSp>
          <p:nvCxnSpPr>
            <p:cNvPr id="2560" name="Google Shape;2560;p158"/>
            <p:cNvCxnSpPr/>
            <p:nvPr/>
          </p:nvCxnSpPr>
          <p:spPr>
            <a:xfrm flipH="1">
              <a:off x="747" y="1135"/>
              <a:ext cx="739" cy="374"/>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561" name="Google Shape;2561;p158"/>
          <p:cNvGrpSpPr/>
          <p:nvPr/>
        </p:nvGrpSpPr>
        <p:grpSpPr>
          <a:xfrm>
            <a:off x="2495550" y="1827212"/>
            <a:ext cx="2314575" cy="1127125"/>
            <a:chOff x="1451" y="1151"/>
            <a:chExt cx="1346" cy="710"/>
          </a:xfrm>
        </p:grpSpPr>
        <p:sp>
          <p:nvSpPr>
            <p:cNvPr id="2562" name="Google Shape;2562;p158"/>
            <p:cNvSpPr txBox="1"/>
            <p:nvPr/>
          </p:nvSpPr>
          <p:spPr>
            <a:xfrm>
              <a:off x="1481" y="1520"/>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563" name="Google Shape;2563;p158"/>
            <p:cNvSpPr txBox="1"/>
            <p:nvPr/>
          </p:nvSpPr>
          <p:spPr>
            <a:xfrm>
              <a:off x="1813" y="1520"/>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564" name="Google Shape;2564;p158"/>
            <p:cNvSpPr txBox="1"/>
            <p:nvPr/>
          </p:nvSpPr>
          <p:spPr>
            <a:xfrm>
              <a:off x="2145" y="1520"/>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565" name="Google Shape;2565;p158"/>
            <p:cNvSpPr txBox="1"/>
            <p:nvPr/>
          </p:nvSpPr>
          <p:spPr>
            <a:xfrm>
              <a:off x="2477" y="1520"/>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cxnSp>
          <p:nvCxnSpPr>
            <p:cNvPr id="2566" name="Google Shape;2566;p158"/>
            <p:cNvCxnSpPr/>
            <p:nvPr/>
          </p:nvCxnSpPr>
          <p:spPr>
            <a:xfrm>
              <a:off x="1451" y="1533"/>
              <a:ext cx="0" cy="328"/>
            </a:xfrm>
            <a:prstGeom prst="straightConnector1">
              <a:avLst/>
            </a:prstGeom>
            <a:noFill/>
            <a:ln cap="flat" cmpd="sng" w="57150">
              <a:solidFill>
                <a:srgbClr val="CC3300"/>
              </a:solidFill>
              <a:prstDash val="solid"/>
              <a:miter lim="800000"/>
              <a:headEnd len="med" w="med" type="none"/>
              <a:tailEnd len="med" w="med" type="none"/>
            </a:ln>
          </p:spPr>
        </p:cxnSp>
        <p:cxnSp>
          <p:nvCxnSpPr>
            <p:cNvPr id="2567" name="Google Shape;2567;p158"/>
            <p:cNvCxnSpPr/>
            <p:nvPr/>
          </p:nvCxnSpPr>
          <p:spPr>
            <a:xfrm>
              <a:off x="1479" y="1151"/>
              <a:ext cx="654" cy="350"/>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568" name="Google Shape;2568;p158"/>
          <p:cNvGrpSpPr/>
          <p:nvPr/>
        </p:nvGrpSpPr>
        <p:grpSpPr>
          <a:xfrm>
            <a:off x="90487" y="2914650"/>
            <a:ext cx="1181100" cy="1098550"/>
            <a:chOff x="53" y="1836"/>
            <a:chExt cx="686" cy="692"/>
          </a:xfrm>
        </p:grpSpPr>
        <p:sp>
          <p:nvSpPr>
            <p:cNvPr id="2569" name="Google Shape;2569;p158"/>
            <p:cNvSpPr txBox="1"/>
            <p:nvPr/>
          </p:nvSpPr>
          <p:spPr>
            <a:xfrm>
              <a:off x="53" y="2207"/>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570" name="Google Shape;2570;p158"/>
            <p:cNvSpPr txBox="1"/>
            <p:nvPr/>
          </p:nvSpPr>
          <p:spPr>
            <a:xfrm>
              <a:off x="385" y="2207"/>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cxnSp>
          <p:nvCxnSpPr>
            <p:cNvPr id="2571" name="Google Shape;2571;p158"/>
            <p:cNvCxnSpPr/>
            <p:nvPr/>
          </p:nvCxnSpPr>
          <p:spPr>
            <a:xfrm>
              <a:off x="717" y="2200"/>
              <a:ext cx="0" cy="328"/>
            </a:xfrm>
            <a:prstGeom prst="straightConnector1">
              <a:avLst/>
            </a:prstGeom>
            <a:noFill/>
            <a:ln cap="flat" cmpd="sng" w="57150">
              <a:solidFill>
                <a:srgbClr val="CC3300"/>
              </a:solidFill>
              <a:prstDash val="solid"/>
              <a:miter lim="800000"/>
              <a:headEnd len="med" w="med" type="none"/>
              <a:tailEnd len="med" w="med" type="none"/>
            </a:ln>
          </p:spPr>
        </p:cxnSp>
        <p:cxnSp>
          <p:nvCxnSpPr>
            <p:cNvPr id="2572" name="Google Shape;2572;p158"/>
            <p:cNvCxnSpPr/>
            <p:nvPr/>
          </p:nvCxnSpPr>
          <p:spPr>
            <a:xfrm flipH="1">
              <a:off x="366" y="1836"/>
              <a:ext cx="373" cy="381"/>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573" name="Google Shape;2573;p158"/>
          <p:cNvGrpSpPr/>
          <p:nvPr/>
        </p:nvGrpSpPr>
        <p:grpSpPr>
          <a:xfrm>
            <a:off x="1257300" y="2914650"/>
            <a:ext cx="1165225" cy="1065212"/>
            <a:chOff x="731" y="1836"/>
            <a:chExt cx="678" cy="671"/>
          </a:xfrm>
        </p:grpSpPr>
        <p:sp>
          <p:nvSpPr>
            <p:cNvPr id="2574" name="Google Shape;2574;p158"/>
            <p:cNvSpPr txBox="1"/>
            <p:nvPr/>
          </p:nvSpPr>
          <p:spPr>
            <a:xfrm>
              <a:off x="757" y="2207"/>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575" name="Google Shape;2575;p158"/>
            <p:cNvSpPr txBox="1"/>
            <p:nvPr/>
          </p:nvSpPr>
          <p:spPr>
            <a:xfrm>
              <a:off x="1089" y="2207"/>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cxnSp>
          <p:nvCxnSpPr>
            <p:cNvPr id="2576" name="Google Shape;2576;p158"/>
            <p:cNvCxnSpPr/>
            <p:nvPr/>
          </p:nvCxnSpPr>
          <p:spPr>
            <a:xfrm>
              <a:off x="731" y="1836"/>
              <a:ext cx="374" cy="358"/>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577" name="Google Shape;2577;p158"/>
          <p:cNvGrpSpPr/>
          <p:nvPr/>
        </p:nvGrpSpPr>
        <p:grpSpPr>
          <a:xfrm>
            <a:off x="2511425" y="2889250"/>
            <a:ext cx="1168400" cy="1122362"/>
            <a:chOff x="1460" y="1820"/>
            <a:chExt cx="680" cy="707"/>
          </a:xfrm>
        </p:grpSpPr>
        <p:cxnSp>
          <p:nvCxnSpPr>
            <p:cNvPr id="2578" name="Google Shape;2578;p158"/>
            <p:cNvCxnSpPr/>
            <p:nvPr/>
          </p:nvCxnSpPr>
          <p:spPr>
            <a:xfrm flipH="1">
              <a:off x="1790" y="1820"/>
              <a:ext cx="350" cy="374"/>
            </a:xfrm>
            <a:prstGeom prst="straightConnector1">
              <a:avLst/>
            </a:prstGeom>
            <a:noFill/>
            <a:ln cap="flat" cmpd="sng" w="19050">
              <a:solidFill>
                <a:schemeClr val="dk1"/>
              </a:solidFill>
              <a:prstDash val="solid"/>
              <a:miter lim="800000"/>
              <a:headEnd len="med" w="med" type="none"/>
              <a:tailEnd len="med" w="med" type="triangle"/>
            </a:ln>
          </p:spPr>
        </p:cxnSp>
        <p:sp>
          <p:nvSpPr>
            <p:cNvPr id="2579" name="Google Shape;2579;p158"/>
            <p:cNvSpPr txBox="1"/>
            <p:nvPr/>
          </p:nvSpPr>
          <p:spPr>
            <a:xfrm>
              <a:off x="1460" y="2208"/>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580" name="Google Shape;2580;p158"/>
            <p:cNvSpPr txBox="1"/>
            <p:nvPr/>
          </p:nvSpPr>
          <p:spPr>
            <a:xfrm>
              <a:off x="1792" y="2208"/>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cxnSp>
          <p:nvCxnSpPr>
            <p:cNvPr id="2581" name="Google Shape;2581;p158"/>
            <p:cNvCxnSpPr/>
            <p:nvPr/>
          </p:nvCxnSpPr>
          <p:spPr>
            <a:xfrm>
              <a:off x="2123" y="2199"/>
              <a:ext cx="0" cy="328"/>
            </a:xfrm>
            <a:prstGeom prst="straightConnector1">
              <a:avLst/>
            </a:prstGeom>
            <a:noFill/>
            <a:ln cap="flat" cmpd="sng" w="57150">
              <a:solidFill>
                <a:srgbClr val="CC3300"/>
              </a:solidFill>
              <a:prstDash val="solid"/>
              <a:miter lim="800000"/>
              <a:headEnd len="med" w="med" type="none"/>
              <a:tailEnd len="med" w="med" type="none"/>
            </a:ln>
          </p:spPr>
        </p:cxnSp>
      </p:grpSp>
      <p:grpSp>
        <p:nvGrpSpPr>
          <p:cNvPr id="2582" name="Google Shape;2582;p158"/>
          <p:cNvGrpSpPr/>
          <p:nvPr/>
        </p:nvGrpSpPr>
        <p:grpSpPr>
          <a:xfrm>
            <a:off x="3694112" y="2914650"/>
            <a:ext cx="1133475" cy="1066800"/>
            <a:chOff x="2148" y="1836"/>
            <a:chExt cx="659" cy="672"/>
          </a:xfrm>
        </p:grpSpPr>
        <p:sp>
          <p:nvSpPr>
            <p:cNvPr id="2583" name="Google Shape;2583;p158"/>
            <p:cNvSpPr txBox="1"/>
            <p:nvPr/>
          </p:nvSpPr>
          <p:spPr>
            <a:xfrm>
              <a:off x="2155" y="2208"/>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584" name="Google Shape;2584;p158"/>
            <p:cNvSpPr txBox="1"/>
            <p:nvPr/>
          </p:nvSpPr>
          <p:spPr>
            <a:xfrm>
              <a:off x="2487" y="2208"/>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cxnSp>
          <p:nvCxnSpPr>
            <p:cNvPr id="2585" name="Google Shape;2585;p158"/>
            <p:cNvCxnSpPr/>
            <p:nvPr/>
          </p:nvCxnSpPr>
          <p:spPr>
            <a:xfrm>
              <a:off x="2148" y="1836"/>
              <a:ext cx="358" cy="365"/>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586" name="Google Shape;2586;p158"/>
          <p:cNvGrpSpPr/>
          <p:nvPr/>
        </p:nvGrpSpPr>
        <p:grpSpPr>
          <a:xfrm>
            <a:off x="655637" y="3951287"/>
            <a:ext cx="549275" cy="992187"/>
            <a:chOff x="381" y="2489"/>
            <a:chExt cx="320" cy="625"/>
          </a:xfrm>
        </p:grpSpPr>
        <p:sp>
          <p:nvSpPr>
            <p:cNvPr id="2587" name="Google Shape;2587;p158"/>
            <p:cNvSpPr txBox="1"/>
            <p:nvPr/>
          </p:nvSpPr>
          <p:spPr>
            <a:xfrm>
              <a:off x="381" y="2814"/>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cxnSp>
          <p:nvCxnSpPr>
            <p:cNvPr id="2588" name="Google Shape;2588;p158"/>
            <p:cNvCxnSpPr/>
            <p:nvPr/>
          </p:nvCxnSpPr>
          <p:spPr>
            <a:xfrm>
              <a:off x="381" y="2489"/>
              <a:ext cx="125" cy="312"/>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589" name="Google Shape;2589;p158"/>
          <p:cNvGrpSpPr/>
          <p:nvPr/>
        </p:nvGrpSpPr>
        <p:grpSpPr>
          <a:xfrm>
            <a:off x="41275" y="3940175"/>
            <a:ext cx="614362" cy="1052512"/>
            <a:chOff x="24" y="2482"/>
            <a:chExt cx="357" cy="663"/>
          </a:xfrm>
        </p:grpSpPr>
        <p:sp>
          <p:nvSpPr>
            <p:cNvPr id="2590" name="Google Shape;2590;p158"/>
            <p:cNvSpPr txBox="1"/>
            <p:nvPr/>
          </p:nvSpPr>
          <p:spPr>
            <a:xfrm>
              <a:off x="24" y="2814"/>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cxnSp>
          <p:nvCxnSpPr>
            <p:cNvPr id="2591" name="Google Shape;2591;p158"/>
            <p:cNvCxnSpPr/>
            <p:nvPr/>
          </p:nvCxnSpPr>
          <p:spPr>
            <a:xfrm flipH="1">
              <a:off x="155" y="2482"/>
              <a:ext cx="226" cy="327"/>
            </a:xfrm>
            <a:prstGeom prst="straightConnector1">
              <a:avLst/>
            </a:prstGeom>
            <a:noFill/>
            <a:ln cap="flat" cmpd="sng" w="19050">
              <a:solidFill>
                <a:schemeClr val="dk1"/>
              </a:solidFill>
              <a:prstDash val="solid"/>
              <a:miter lim="800000"/>
              <a:headEnd len="med" w="med" type="none"/>
              <a:tailEnd len="med" w="med" type="triangle"/>
            </a:ln>
          </p:spPr>
        </p:cxnSp>
        <p:cxnSp>
          <p:nvCxnSpPr>
            <p:cNvPr id="2592" name="Google Shape;2592;p158"/>
            <p:cNvCxnSpPr/>
            <p:nvPr/>
          </p:nvCxnSpPr>
          <p:spPr>
            <a:xfrm>
              <a:off x="354" y="2817"/>
              <a:ext cx="0" cy="328"/>
            </a:xfrm>
            <a:prstGeom prst="straightConnector1">
              <a:avLst/>
            </a:prstGeom>
            <a:noFill/>
            <a:ln cap="flat" cmpd="sng" w="57150">
              <a:solidFill>
                <a:srgbClr val="CC3300"/>
              </a:solidFill>
              <a:prstDash val="solid"/>
              <a:miter lim="800000"/>
              <a:headEnd len="med" w="med" type="none"/>
              <a:tailEnd len="med" w="med" type="none"/>
            </a:ln>
          </p:spPr>
        </p:cxnSp>
      </p:grpSp>
      <p:grpSp>
        <p:nvGrpSpPr>
          <p:cNvPr id="2593" name="Google Shape;2593;p158"/>
          <p:cNvGrpSpPr/>
          <p:nvPr/>
        </p:nvGrpSpPr>
        <p:grpSpPr>
          <a:xfrm>
            <a:off x="1860550" y="3951287"/>
            <a:ext cx="574675" cy="992187"/>
            <a:chOff x="1082" y="2489"/>
            <a:chExt cx="334" cy="625"/>
          </a:xfrm>
        </p:grpSpPr>
        <p:sp>
          <p:nvSpPr>
            <p:cNvPr id="2594" name="Google Shape;2594;p158"/>
            <p:cNvSpPr txBox="1"/>
            <p:nvPr/>
          </p:nvSpPr>
          <p:spPr>
            <a:xfrm>
              <a:off x="1096" y="2814"/>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cxnSp>
          <p:nvCxnSpPr>
            <p:cNvPr id="2595" name="Google Shape;2595;p158"/>
            <p:cNvCxnSpPr/>
            <p:nvPr/>
          </p:nvCxnSpPr>
          <p:spPr>
            <a:xfrm>
              <a:off x="1082" y="2489"/>
              <a:ext cx="163" cy="320"/>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596" name="Google Shape;2596;p158"/>
          <p:cNvGrpSpPr/>
          <p:nvPr/>
        </p:nvGrpSpPr>
        <p:grpSpPr>
          <a:xfrm>
            <a:off x="1271587" y="3963987"/>
            <a:ext cx="576262" cy="1020762"/>
            <a:chOff x="739" y="2497"/>
            <a:chExt cx="335" cy="643"/>
          </a:xfrm>
        </p:grpSpPr>
        <p:sp>
          <p:nvSpPr>
            <p:cNvPr id="2597" name="Google Shape;2597;p158"/>
            <p:cNvSpPr txBox="1"/>
            <p:nvPr/>
          </p:nvSpPr>
          <p:spPr>
            <a:xfrm>
              <a:off x="739" y="2814"/>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cxnSp>
          <p:nvCxnSpPr>
            <p:cNvPr id="2598" name="Google Shape;2598;p158"/>
            <p:cNvCxnSpPr/>
            <p:nvPr/>
          </p:nvCxnSpPr>
          <p:spPr>
            <a:xfrm flipH="1">
              <a:off x="848" y="2497"/>
              <a:ext cx="226" cy="319"/>
            </a:xfrm>
            <a:prstGeom prst="straightConnector1">
              <a:avLst/>
            </a:prstGeom>
            <a:noFill/>
            <a:ln cap="flat" cmpd="sng" w="19050">
              <a:solidFill>
                <a:schemeClr val="dk1"/>
              </a:solidFill>
              <a:prstDash val="solid"/>
              <a:miter lim="800000"/>
              <a:headEnd len="med" w="med" type="none"/>
              <a:tailEnd len="med" w="med" type="triangle"/>
            </a:ln>
          </p:spPr>
        </p:cxnSp>
        <p:cxnSp>
          <p:nvCxnSpPr>
            <p:cNvPr id="2599" name="Google Shape;2599;p158"/>
            <p:cNvCxnSpPr/>
            <p:nvPr/>
          </p:nvCxnSpPr>
          <p:spPr>
            <a:xfrm>
              <a:off x="1073" y="2812"/>
              <a:ext cx="0" cy="328"/>
            </a:xfrm>
            <a:prstGeom prst="straightConnector1">
              <a:avLst/>
            </a:prstGeom>
            <a:noFill/>
            <a:ln cap="flat" cmpd="sng" w="57150">
              <a:solidFill>
                <a:srgbClr val="CC3300"/>
              </a:solidFill>
              <a:prstDash val="solid"/>
              <a:miter lim="800000"/>
              <a:headEnd len="med" w="med" type="none"/>
              <a:tailEnd len="med" w="med" type="none"/>
            </a:ln>
          </p:spPr>
        </p:cxnSp>
      </p:grpSp>
      <p:grpSp>
        <p:nvGrpSpPr>
          <p:cNvPr id="2600" name="Google Shape;2600;p158"/>
          <p:cNvGrpSpPr/>
          <p:nvPr/>
        </p:nvGrpSpPr>
        <p:grpSpPr>
          <a:xfrm>
            <a:off x="3065462" y="3989387"/>
            <a:ext cx="600075" cy="954087"/>
            <a:chOff x="1782" y="2513"/>
            <a:chExt cx="349" cy="601"/>
          </a:xfrm>
        </p:grpSpPr>
        <p:sp>
          <p:nvSpPr>
            <p:cNvPr id="2601" name="Google Shape;2601;p158"/>
            <p:cNvSpPr txBox="1"/>
            <p:nvPr/>
          </p:nvSpPr>
          <p:spPr>
            <a:xfrm>
              <a:off x="1811" y="2814"/>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cxnSp>
          <p:nvCxnSpPr>
            <p:cNvPr id="2602" name="Google Shape;2602;p158"/>
            <p:cNvCxnSpPr/>
            <p:nvPr/>
          </p:nvCxnSpPr>
          <p:spPr>
            <a:xfrm>
              <a:off x="1782" y="2513"/>
              <a:ext cx="187" cy="303"/>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03" name="Google Shape;2603;p158"/>
          <p:cNvGrpSpPr/>
          <p:nvPr/>
        </p:nvGrpSpPr>
        <p:grpSpPr>
          <a:xfrm>
            <a:off x="2500312" y="3951287"/>
            <a:ext cx="579437" cy="1023937"/>
            <a:chOff x="1454" y="2489"/>
            <a:chExt cx="337" cy="645"/>
          </a:xfrm>
        </p:grpSpPr>
        <p:sp>
          <p:nvSpPr>
            <p:cNvPr id="2604" name="Google Shape;2604;p158"/>
            <p:cNvSpPr txBox="1"/>
            <p:nvPr/>
          </p:nvSpPr>
          <p:spPr>
            <a:xfrm>
              <a:off x="1454" y="2814"/>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cxnSp>
          <p:nvCxnSpPr>
            <p:cNvPr id="2605" name="Google Shape;2605;p158"/>
            <p:cNvCxnSpPr/>
            <p:nvPr/>
          </p:nvCxnSpPr>
          <p:spPr>
            <a:xfrm flipH="1">
              <a:off x="1603" y="2489"/>
              <a:ext cx="171" cy="327"/>
            </a:xfrm>
            <a:prstGeom prst="straightConnector1">
              <a:avLst/>
            </a:prstGeom>
            <a:noFill/>
            <a:ln cap="flat" cmpd="sng" w="19050">
              <a:solidFill>
                <a:schemeClr val="dk1"/>
              </a:solidFill>
              <a:prstDash val="solid"/>
              <a:miter lim="800000"/>
              <a:headEnd len="med" w="med" type="none"/>
              <a:tailEnd len="med" w="med" type="triangle"/>
            </a:ln>
          </p:spPr>
        </p:cxnSp>
        <p:cxnSp>
          <p:nvCxnSpPr>
            <p:cNvPr id="2606" name="Google Shape;2606;p158"/>
            <p:cNvCxnSpPr/>
            <p:nvPr/>
          </p:nvCxnSpPr>
          <p:spPr>
            <a:xfrm>
              <a:off x="1791" y="2806"/>
              <a:ext cx="0" cy="328"/>
            </a:xfrm>
            <a:prstGeom prst="straightConnector1">
              <a:avLst/>
            </a:prstGeom>
            <a:noFill/>
            <a:ln cap="flat" cmpd="sng" w="57150">
              <a:solidFill>
                <a:srgbClr val="CC3300"/>
              </a:solidFill>
              <a:prstDash val="solid"/>
              <a:miter lim="800000"/>
              <a:headEnd len="med" w="med" type="none"/>
              <a:tailEnd len="med" w="med" type="none"/>
            </a:ln>
          </p:spPr>
        </p:cxnSp>
      </p:grpSp>
      <p:grpSp>
        <p:nvGrpSpPr>
          <p:cNvPr id="2607" name="Google Shape;2607;p158"/>
          <p:cNvGrpSpPr/>
          <p:nvPr/>
        </p:nvGrpSpPr>
        <p:grpSpPr>
          <a:xfrm>
            <a:off x="4310062" y="3989387"/>
            <a:ext cx="584200" cy="954087"/>
            <a:chOff x="2506" y="2513"/>
            <a:chExt cx="340" cy="601"/>
          </a:xfrm>
        </p:grpSpPr>
        <p:sp>
          <p:nvSpPr>
            <p:cNvPr id="2608" name="Google Shape;2608;p158"/>
            <p:cNvSpPr txBox="1"/>
            <p:nvPr/>
          </p:nvSpPr>
          <p:spPr>
            <a:xfrm>
              <a:off x="2526" y="2814"/>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cxnSp>
          <p:nvCxnSpPr>
            <p:cNvPr id="2609" name="Google Shape;2609;p158"/>
            <p:cNvCxnSpPr/>
            <p:nvPr/>
          </p:nvCxnSpPr>
          <p:spPr>
            <a:xfrm>
              <a:off x="2506" y="2513"/>
              <a:ext cx="187" cy="303"/>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10" name="Google Shape;2610;p158"/>
          <p:cNvGrpSpPr/>
          <p:nvPr/>
        </p:nvGrpSpPr>
        <p:grpSpPr>
          <a:xfrm>
            <a:off x="3730625" y="3989387"/>
            <a:ext cx="585787" cy="1014412"/>
            <a:chOff x="2169" y="2513"/>
            <a:chExt cx="341" cy="639"/>
          </a:xfrm>
        </p:grpSpPr>
        <p:grpSp>
          <p:nvGrpSpPr>
            <p:cNvPr id="2611" name="Google Shape;2611;p158"/>
            <p:cNvGrpSpPr/>
            <p:nvPr/>
          </p:nvGrpSpPr>
          <p:grpSpPr>
            <a:xfrm>
              <a:off x="2169" y="2513"/>
              <a:ext cx="322" cy="601"/>
              <a:chOff x="2169" y="2513"/>
              <a:chExt cx="322" cy="601"/>
            </a:xfrm>
          </p:grpSpPr>
          <p:sp>
            <p:nvSpPr>
              <p:cNvPr id="2612" name="Google Shape;2612;p158"/>
              <p:cNvSpPr txBox="1"/>
              <p:nvPr/>
            </p:nvSpPr>
            <p:spPr>
              <a:xfrm>
                <a:off x="2169" y="2814"/>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cxnSp>
            <p:nvCxnSpPr>
              <p:cNvPr id="2613" name="Google Shape;2613;p158"/>
              <p:cNvCxnSpPr/>
              <p:nvPr/>
            </p:nvCxnSpPr>
            <p:spPr>
              <a:xfrm flipH="1">
                <a:off x="2312" y="2513"/>
                <a:ext cx="179" cy="296"/>
              </a:xfrm>
              <a:prstGeom prst="straightConnector1">
                <a:avLst/>
              </a:prstGeom>
              <a:noFill/>
              <a:ln cap="flat" cmpd="sng" w="19050">
                <a:solidFill>
                  <a:schemeClr val="dk1"/>
                </a:solidFill>
                <a:prstDash val="solid"/>
                <a:miter lim="800000"/>
                <a:headEnd len="med" w="med" type="none"/>
                <a:tailEnd len="med" w="med" type="triangle"/>
              </a:ln>
            </p:spPr>
          </p:cxnSp>
        </p:grpSp>
        <p:cxnSp>
          <p:nvCxnSpPr>
            <p:cNvPr id="2614" name="Google Shape;2614;p158"/>
            <p:cNvCxnSpPr/>
            <p:nvPr/>
          </p:nvCxnSpPr>
          <p:spPr>
            <a:xfrm>
              <a:off x="2510" y="2824"/>
              <a:ext cx="0" cy="328"/>
            </a:xfrm>
            <a:prstGeom prst="straightConnector1">
              <a:avLst/>
            </a:prstGeom>
            <a:noFill/>
            <a:ln cap="flat" cmpd="sng" w="57150">
              <a:solidFill>
                <a:srgbClr val="CC3300"/>
              </a:solidFill>
              <a:prstDash val="solid"/>
              <a:miter lim="800000"/>
              <a:headEnd len="med" w="med" type="none"/>
              <a:tailEnd len="med" w="med" type="none"/>
            </a:ln>
          </p:spPr>
        </p:cxnSp>
      </p:grpSp>
      <p:grpSp>
        <p:nvGrpSpPr>
          <p:cNvPr id="2615" name="Google Shape;2615;p158"/>
          <p:cNvGrpSpPr/>
          <p:nvPr/>
        </p:nvGrpSpPr>
        <p:grpSpPr>
          <a:xfrm>
            <a:off x="0" y="4954587"/>
            <a:ext cx="550862" cy="763587"/>
            <a:chOff x="0" y="3121"/>
            <a:chExt cx="320" cy="481"/>
          </a:xfrm>
        </p:grpSpPr>
        <p:sp>
          <p:nvSpPr>
            <p:cNvPr id="2616" name="Google Shape;2616;p158"/>
            <p:cNvSpPr txBox="1"/>
            <p:nvPr/>
          </p:nvSpPr>
          <p:spPr>
            <a:xfrm>
              <a:off x="0" y="3302"/>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cxnSp>
          <p:nvCxnSpPr>
            <p:cNvPr id="2617" name="Google Shape;2617;p158"/>
            <p:cNvCxnSpPr/>
            <p:nvPr/>
          </p:nvCxnSpPr>
          <p:spPr>
            <a:xfrm>
              <a:off x="156" y="3121"/>
              <a:ext cx="0" cy="179"/>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18" name="Google Shape;2618;p158"/>
          <p:cNvGrpSpPr/>
          <p:nvPr/>
        </p:nvGrpSpPr>
        <p:grpSpPr>
          <a:xfrm>
            <a:off x="617537" y="4959350"/>
            <a:ext cx="550862" cy="758825"/>
            <a:chOff x="359" y="3124"/>
            <a:chExt cx="320" cy="478"/>
          </a:xfrm>
        </p:grpSpPr>
        <p:sp>
          <p:nvSpPr>
            <p:cNvPr id="2619" name="Google Shape;2619;p158"/>
            <p:cNvSpPr txBox="1"/>
            <p:nvPr/>
          </p:nvSpPr>
          <p:spPr>
            <a:xfrm>
              <a:off x="359" y="3302"/>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cxnSp>
          <p:nvCxnSpPr>
            <p:cNvPr id="2620" name="Google Shape;2620;p158"/>
            <p:cNvCxnSpPr/>
            <p:nvPr/>
          </p:nvCxnSpPr>
          <p:spPr>
            <a:xfrm>
              <a:off x="533" y="3124"/>
              <a:ext cx="0" cy="179"/>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21" name="Google Shape;2621;p158"/>
          <p:cNvGrpSpPr/>
          <p:nvPr/>
        </p:nvGrpSpPr>
        <p:grpSpPr>
          <a:xfrm>
            <a:off x="1236662" y="4962525"/>
            <a:ext cx="550862" cy="755650"/>
            <a:chOff x="719" y="3126"/>
            <a:chExt cx="320" cy="476"/>
          </a:xfrm>
        </p:grpSpPr>
        <p:sp>
          <p:nvSpPr>
            <p:cNvPr id="2622" name="Google Shape;2622;p158"/>
            <p:cNvSpPr txBox="1"/>
            <p:nvPr/>
          </p:nvSpPr>
          <p:spPr>
            <a:xfrm>
              <a:off x="719" y="3302"/>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cxnSp>
          <p:nvCxnSpPr>
            <p:cNvPr id="2623" name="Google Shape;2623;p158"/>
            <p:cNvCxnSpPr/>
            <p:nvPr/>
          </p:nvCxnSpPr>
          <p:spPr>
            <a:xfrm>
              <a:off x="878" y="3126"/>
              <a:ext cx="0" cy="179"/>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24" name="Google Shape;2624;p158"/>
          <p:cNvGrpSpPr/>
          <p:nvPr/>
        </p:nvGrpSpPr>
        <p:grpSpPr>
          <a:xfrm>
            <a:off x="1855787" y="4941887"/>
            <a:ext cx="550862" cy="776287"/>
            <a:chOff x="1079" y="3113"/>
            <a:chExt cx="320" cy="489"/>
          </a:xfrm>
        </p:grpSpPr>
        <p:sp>
          <p:nvSpPr>
            <p:cNvPr id="2625" name="Google Shape;2625;p158"/>
            <p:cNvSpPr txBox="1"/>
            <p:nvPr/>
          </p:nvSpPr>
          <p:spPr>
            <a:xfrm>
              <a:off x="1079" y="3302"/>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cxnSp>
          <p:nvCxnSpPr>
            <p:cNvPr id="2626" name="Google Shape;2626;p158"/>
            <p:cNvCxnSpPr/>
            <p:nvPr/>
          </p:nvCxnSpPr>
          <p:spPr>
            <a:xfrm>
              <a:off x="1231" y="3113"/>
              <a:ext cx="0" cy="179"/>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27" name="Google Shape;2627;p158"/>
          <p:cNvGrpSpPr/>
          <p:nvPr/>
        </p:nvGrpSpPr>
        <p:grpSpPr>
          <a:xfrm>
            <a:off x="2474912" y="4970462"/>
            <a:ext cx="550862" cy="747712"/>
            <a:chOff x="1439" y="3131"/>
            <a:chExt cx="320" cy="471"/>
          </a:xfrm>
        </p:grpSpPr>
        <p:sp>
          <p:nvSpPr>
            <p:cNvPr id="2628" name="Google Shape;2628;p158"/>
            <p:cNvSpPr txBox="1"/>
            <p:nvPr/>
          </p:nvSpPr>
          <p:spPr>
            <a:xfrm>
              <a:off x="1439" y="3302"/>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cxnSp>
          <p:nvCxnSpPr>
            <p:cNvPr id="2629" name="Google Shape;2629;p158"/>
            <p:cNvCxnSpPr/>
            <p:nvPr/>
          </p:nvCxnSpPr>
          <p:spPr>
            <a:xfrm>
              <a:off x="1615" y="3131"/>
              <a:ext cx="0" cy="179"/>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30" name="Google Shape;2630;p158"/>
          <p:cNvGrpSpPr/>
          <p:nvPr/>
        </p:nvGrpSpPr>
        <p:grpSpPr>
          <a:xfrm>
            <a:off x="3094037" y="4949825"/>
            <a:ext cx="550862" cy="768350"/>
            <a:chOff x="1799" y="3118"/>
            <a:chExt cx="320" cy="484"/>
          </a:xfrm>
        </p:grpSpPr>
        <p:sp>
          <p:nvSpPr>
            <p:cNvPr id="2631" name="Google Shape;2631;p158"/>
            <p:cNvSpPr txBox="1"/>
            <p:nvPr/>
          </p:nvSpPr>
          <p:spPr>
            <a:xfrm>
              <a:off x="1799" y="3302"/>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cxnSp>
          <p:nvCxnSpPr>
            <p:cNvPr id="2632" name="Google Shape;2632;p158"/>
            <p:cNvCxnSpPr/>
            <p:nvPr/>
          </p:nvCxnSpPr>
          <p:spPr>
            <a:xfrm>
              <a:off x="1968" y="3118"/>
              <a:ext cx="0" cy="179"/>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33" name="Google Shape;2633;p158"/>
          <p:cNvGrpSpPr/>
          <p:nvPr/>
        </p:nvGrpSpPr>
        <p:grpSpPr>
          <a:xfrm>
            <a:off x="3713162" y="4941887"/>
            <a:ext cx="550862" cy="776287"/>
            <a:chOff x="2159" y="3113"/>
            <a:chExt cx="320" cy="489"/>
          </a:xfrm>
        </p:grpSpPr>
        <p:sp>
          <p:nvSpPr>
            <p:cNvPr id="2634" name="Google Shape;2634;p158"/>
            <p:cNvSpPr txBox="1"/>
            <p:nvPr/>
          </p:nvSpPr>
          <p:spPr>
            <a:xfrm>
              <a:off x="2159" y="3302"/>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cxnSp>
          <p:nvCxnSpPr>
            <p:cNvPr id="2635" name="Google Shape;2635;p158"/>
            <p:cNvCxnSpPr/>
            <p:nvPr/>
          </p:nvCxnSpPr>
          <p:spPr>
            <a:xfrm>
              <a:off x="2321" y="3113"/>
              <a:ext cx="0" cy="179"/>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36" name="Google Shape;2636;p158"/>
          <p:cNvGrpSpPr/>
          <p:nvPr/>
        </p:nvGrpSpPr>
        <p:grpSpPr>
          <a:xfrm>
            <a:off x="4332287" y="4957762"/>
            <a:ext cx="550862" cy="760412"/>
            <a:chOff x="2519" y="3123"/>
            <a:chExt cx="320" cy="479"/>
          </a:xfrm>
        </p:grpSpPr>
        <p:sp>
          <p:nvSpPr>
            <p:cNvPr id="2637" name="Google Shape;2637;p158"/>
            <p:cNvSpPr txBox="1"/>
            <p:nvPr/>
          </p:nvSpPr>
          <p:spPr>
            <a:xfrm>
              <a:off x="2519" y="3302"/>
              <a:ext cx="320" cy="30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cxnSp>
          <p:nvCxnSpPr>
            <p:cNvPr id="2638" name="Google Shape;2638;p158"/>
            <p:cNvCxnSpPr/>
            <p:nvPr/>
          </p:nvCxnSpPr>
          <p:spPr>
            <a:xfrm>
              <a:off x="2689" y="3123"/>
              <a:ext cx="0" cy="179"/>
            </a:xfrm>
            <a:prstGeom prst="straightConnector1">
              <a:avLst/>
            </a:prstGeom>
            <a:noFill/>
            <a:ln cap="flat" cmpd="sng" w="19050">
              <a:solidFill>
                <a:schemeClr val="dk1"/>
              </a:solidFill>
              <a:prstDash val="solid"/>
              <a:miter lim="800000"/>
              <a:headEnd len="med" w="med" type="none"/>
              <a:tailEnd len="med" w="med" type="triangle"/>
            </a:ln>
          </p:spPr>
        </p:cxnSp>
      </p:grpSp>
      <p:sp>
        <p:nvSpPr>
          <p:cNvPr id="2639" name="Google Shape;2639;p158"/>
          <p:cNvSpPr txBox="1"/>
          <p:nvPr/>
        </p:nvSpPr>
        <p:spPr>
          <a:xfrm>
            <a:off x="5022850" y="44577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640" name="Google Shape;2640;p158"/>
          <p:cNvSpPr txBox="1"/>
          <p:nvPr/>
        </p:nvSpPr>
        <p:spPr>
          <a:xfrm>
            <a:off x="5640387" y="44577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641" name="Google Shape;2641;p158"/>
          <p:cNvSpPr txBox="1"/>
          <p:nvPr/>
        </p:nvSpPr>
        <p:spPr>
          <a:xfrm>
            <a:off x="6259512" y="44577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642" name="Google Shape;2642;p158"/>
          <p:cNvSpPr txBox="1"/>
          <p:nvPr/>
        </p:nvSpPr>
        <p:spPr>
          <a:xfrm>
            <a:off x="6878637" y="44577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643" name="Google Shape;2643;p158"/>
          <p:cNvSpPr txBox="1"/>
          <p:nvPr/>
        </p:nvSpPr>
        <p:spPr>
          <a:xfrm>
            <a:off x="7497762" y="44577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644" name="Google Shape;2644;p158"/>
          <p:cNvSpPr txBox="1"/>
          <p:nvPr/>
        </p:nvSpPr>
        <p:spPr>
          <a:xfrm>
            <a:off x="8116887" y="44577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645" name="Google Shape;2645;p158"/>
          <p:cNvSpPr txBox="1"/>
          <p:nvPr/>
        </p:nvSpPr>
        <p:spPr>
          <a:xfrm>
            <a:off x="8736012" y="44577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646" name="Google Shape;2646;p158"/>
          <p:cNvSpPr txBox="1"/>
          <p:nvPr/>
        </p:nvSpPr>
        <p:spPr>
          <a:xfrm>
            <a:off x="9355137" y="44577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647" name="Google Shape;2647;p158"/>
          <p:cNvSpPr txBox="1"/>
          <p:nvPr/>
        </p:nvSpPr>
        <p:spPr>
          <a:xfrm>
            <a:off x="5110162" y="3521075"/>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648" name="Google Shape;2648;p158"/>
          <p:cNvSpPr txBox="1"/>
          <p:nvPr/>
        </p:nvSpPr>
        <p:spPr>
          <a:xfrm>
            <a:off x="5661025" y="35210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649" name="Google Shape;2649;p158"/>
          <p:cNvSpPr txBox="1"/>
          <p:nvPr/>
        </p:nvSpPr>
        <p:spPr>
          <a:xfrm>
            <a:off x="6854825" y="35210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650" name="Google Shape;2650;p158"/>
          <p:cNvSpPr txBox="1"/>
          <p:nvPr/>
        </p:nvSpPr>
        <p:spPr>
          <a:xfrm>
            <a:off x="6310312" y="3521075"/>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651" name="Google Shape;2651;p158"/>
          <p:cNvSpPr txBox="1"/>
          <p:nvPr/>
        </p:nvSpPr>
        <p:spPr>
          <a:xfrm>
            <a:off x="7532687" y="3521075"/>
            <a:ext cx="63182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652" name="Google Shape;2652;p158"/>
          <p:cNvSpPr txBox="1"/>
          <p:nvPr/>
        </p:nvSpPr>
        <p:spPr>
          <a:xfrm>
            <a:off x="8091487" y="3521075"/>
            <a:ext cx="63182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653" name="Google Shape;2653;p158"/>
          <p:cNvSpPr txBox="1"/>
          <p:nvPr/>
        </p:nvSpPr>
        <p:spPr>
          <a:xfrm>
            <a:off x="8809037" y="3533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654" name="Google Shape;2654;p158"/>
          <p:cNvSpPr txBox="1"/>
          <p:nvPr/>
        </p:nvSpPr>
        <p:spPr>
          <a:xfrm>
            <a:off x="9355137" y="353377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655" name="Google Shape;2655;p158"/>
          <p:cNvSpPr txBox="1"/>
          <p:nvPr/>
        </p:nvSpPr>
        <p:spPr>
          <a:xfrm>
            <a:off x="5081587" y="24511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656" name="Google Shape;2656;p158"/>
          <p:cNvSpPr txBox="1"/>
          <p:nvPr/>
        </p:nvSpPr>
        <p:spPr>
          <a:xfrm>
            <a:off x="5634037" y="2451100"/>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657" name="Google Shape;2657;p158"/>
          <p:cNvSpPr txBox="1"/>
          <p:nvPr/>
        </p:nvSpPr>
        <p:spPr>
          <a:xfrm>
            <a:off x="6173787" y="244951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658" name="Google Shape;2658;p158"/>
          <p:cNvSpPr txBox="1"/>
          <p:nvPr/>
        </p:nvSpPr>
        <p:spPr>
          <a:xfrm>
            <a:off x="6710362" y="244951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grpSp>
        <p:nvGrpSpPr>
          <p:cNvPr id="2659" name="Google Shape;2659;p158"/>
          <p:cNvGrpSpPr/>
          <p:nvPr/>
        </p:nvGrpSpPr>
        <p:grpSpPr>
          <a:xfrm>
            <a:off x="5595937" y="2905125"/>
            <a:ext cx="1190625" cy="506412"/>
            <a:chOff x="3254" y="1830"/>
            <a:chExt cx="692" cy="319"/>
          </a:xfrm>
        </p:grpSpPr>
        <p:cxnSp>
          <p:nvCxnSpPr>
            <p:cNvPr id="2660" name="Google Shape;2660;p158"/>
            <p:cNvCxnSpPr/>
            <p:nvPr/>
          </p:nvCxnSpPr>
          <p:spPr>
            <a:xfrm flipH="1" rot="10800000">
              <a:off x="3254" y="1830"/>
              <a:ext cx="334" cy="311"/>
            </a:xfrm>
            <a:prstGeom prst="straightConnector1">
              <a:avLst/>
            </a:prstGeom>
            <a:noFill/>
            <a:ln cap="flat" cmpd="sng" w="19050">
              <a:solidFill>
                <a:schemeClr val="dk1"/>
              </a:solidFill>
              <a:prstDash val="solid"/>
              <a:miter lim="800000"/>
              <a:headEnd len="med" w="med" type="none"/>
              <a:tailEnd len="med" w="med" type="triangle"/>
            </a:ln>
          </p:spPr>
        </p:cxnSp>
        <p:cxnSp>
          <p:nvCxnSpPr>
            <p:cNvPr id="2661" name="Google Shape;2661;p158"/>
            <p:cNvCxnSpPr/>
            <p:nvPr/>
          </p:nvCxnSpPr>
          <p:spPr>
            <a:xfrm rot="10800000">
              <a:off x="3581" y="1837"/>
              <a:ext cx="365" cy="312"/>
            </a:xfrm>
            <a:prstGeom prst="straightConnector1">
              <a:avLst/>
            </a:prstGeom>
            <a:noFill/>
            <a:ln cap="flat" cmpd="sng" w="19050">
              <a:solidFill>
                <a:schemeClr val="dk1"/>
              </a:solidFill>
              <a:prstDash val="solid"/>
              <a:miter lim="800000"/>
              <a:headEnd len="med" w="med" type="none"/>
              <a:tailEnd len="med" w="med" type="triangle"/>
            </a:ln>
          </p:spPr>
        </p:cxnSp>
      </p:grpSp>
      <p:sp>
        <p:nvSpPr>
          <p:cNvPr id="2662" name="Google Shape;2662;p158"/>
          <p:cNvSpPr txBox="1"/>
          <p:nvPr/>
        </p:nvSpPr>
        <p:spPr>
          <a:xfrm>
            <a:off x="7553325" y="246221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663" name="Google Shape;2663;p158"/>
          <p:cNvSpPr txBox="1"/>
          <p:nvPr/>
        </p:nvSpPr>
        <p:spPr>
          <a:xfrm>
            <a:off x="8097837" y="2462212"/>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664" name="Google Shape;2664;p158"/>
          <p:cNvSpPr txBox="1"/>
          <p:nvPr/>
        </p:nvSpPr>
        <p:spPr>
          <a:xfrm>
            <a:off x="8645525" y="2462212"/>
            <a:ext cx="63182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665" name="Google Shape;2665;p158"/>
          <p:cNvSpPr txBox="1"/>
          <p:nvPr/>
        </p:nvSpPr>
        <p:spPr>
          <a:xfrm>
            <a:off x="9232900" y="2462212"/>
            <a:ext cx="63182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grpSp>
        <p:nvGrpSpPr>
          <p:cNvPr id="2666" name="Google Shape;2666;p158"/>
          <p:cNvGrpSpPr/>
          <p:nvPr/>
        </p:nvGrpSpPr>
        <p:grpSpPr>
          <a:xfrm>
            <a:off x="8091487" y="2908300"/>
            <a:ext cx="1149350" cy="495300"/>
            <a:chOff x="4705" y="1832"/>
            <a:chExt cx="668" cy="312"/>
          </a:xfrm>
        </p:grpSpPr>
        <p:cxnSp>
          <p:nvCxnSpPr>
            <p:cNvPr id="2667" name="Google Shape;2667;p158"/>
            <p:cNvCxnSpPr/>
            <p:nvPr/>
          </p:nvCxnSpPr>
          <p:spPr>
            <a:xfrm flipH="1" rot="10800000">
              <a:off x="4705" y="1840"/>
              <a:ext cx="319" cy="296"/>
            </a:xfrm>
            <a:prstGeom prst="straightConnector1">
              <a:avLst/>
            </a:prstGeom>
            <a:noFill/>
            <a:ln cap="flat" cmpd="sng" w="19050">
              <a:solidFill>
                <a:schemeClr val="dk1"/>
              </a:solidFill>
              <a:prstDash val="solid"/>
              <a:miter lim="800000"/>
              <a:headEnd len="med" w="med" type="none"/>
              <a:tailEnd len="med" w="med" type="triangle"/>
            </a:ln>
          </p:spPr>
        </p:cxnSp>
        <p:cxnSp>
          <p:nvCxnSpPr>
            <p:cNvPr id="2668" name="Google Shape;2668;p158"/>
            <p:cNvCxnSpPr/>
            <p:nvPr/>
          </p:nvCxnSpPr>
          <p:spPr>
            <a:xfrm rot="10800000">
              <a:off x="5008" y="1832"/>
              <a:ext cx="365" cy="312"/>
            </a:xfrm>
            <a:prstGeom prst="straightConnector1">
              <a:avLst/>
            </a:prstGeom>
            <a:noFill/>
            <a:ln cap="flat" cmpd="sng" w="19050">
              <a:solidFill>
                <a:schemeClr val="dk1"/>
              </a:solidFill>
              <a:prstDash val="solid"/>
              <a:miter lim="800000"/>
              <a:headEnd len="med" w="med" type="none"/>
              <a:tailEnd len="med" w="med" type="triangle"/>
            </a:ln>
          </p:spPr>
        </p:cxnSp>
      </p:grpSp>
      <p:sp>
        <p:nvSpPr>
          <p:cNvPr id="2669" name="Google Shape;2669;p158"/>
          <p:cNvSpPr txBox="1"/>
          <p:nvPr/>
        </p:nvSpPr>
        <p:spPr>
          <a:xfrm>
            <a:off x="5176837" y="134302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670" name="Google Shape;2670;p158"/>
          <p:cNvSpPr txBox="1"/>
          <p:nvPr/>
        </p:nvSpPr>
        <p:spPr>
          <a:xfrm>
            <a:off x="5727700" y="1343025"/>
            <a:ext cx="54927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671" name="Google Shape;2671;p158"/>
          <p:cNvSpPr txBox="1"/>
          <p:nvPr/>
        </p:nvSpPr>
        <p:spPr>
          <a:xfrm>
            <a:off x="6281737" y="134302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672" name="Google Shape;2672;p158"/>
          <p:cNvSpPr txBox="1"/>
          <p:nvPr/>
        </p:nvSpPr>
        <p:spPr>
          <a:xfrm>
            <a:off x="6843712" y="1343025"/>
            <a:ext cx="630237"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673" name="Google Shape;2673;p158"/>
          <p:cNvSpPr txBox="1"/>
          <p:nvPr/>
        </p:nvSpPr>
        <p:spPr>
          <a:xfrm>
            <a:off x="7472362" y="134302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674" name="Google Shape;2674;p158"/>
          <p:cNvSpPr txBox="1"/>
          <p:nvPr/>
        </p:nvSpPr>
        <p:spPr>
          <a:xfrm>
            <a:off x="8013700" y="134302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675" name="Google Shape;2675;p158"/>
          <p:cNvSpPr txBox="1"/>
          <p:nvPr/>
        </p:nvSpPr>
        <p:spPr>
          <a:xfrm>
            <a:off x="8564562" y="1343025"/>
            <a:ext cx="550862"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676" name="Google Shape;2676;p158"/>
          <p:cNvSpPr txBox="1"/>
          <p:nvPr/>
        </p:nvSpPr>
        <p:spPr>
          <a:xfrm>
            <a:off x="9088437" y="1343025"/>
            <a:ext cx="631825" cy="476250"/>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grpSp>
        <p:nvGrpSpPr>
          <p:cNvPr id="2677" name="Google Shape;2677;p158"/>
          <p:cNvGrpSpPr/>
          <p:nvPr/>
        </p:nvGrpSpPr>
        <p:grpSpPr>
          <a:xfrm>
            <a:off x="6170612" y="1817687"/>
            <a:ext cx="2476500" cy="641350"/>
            <a:chOff x="3588" y="1145"/>
            <a:chExt cx="1440" cy="404"/>
          </a:xfrm>
        </p:grpSpPr>
        <p:cxnSp>
          <p:nvCxnSpPr>
            <p:cNvPr id="2678" name="Google Shape;2678;p158"/>
            <p:cNvCxnSpPr/>
            <p:nvPr/>
          </p:nvCxnSpPr>
          <p:spPr>
            <a:xfrm flipH="1" rot="10800000">
              <a:off x="3588" y="1145"/>
              <a:ext cx="755" cy="389"/>
            </a:xfrm>
            <a:prstGeom prst="straightConnector1">
              <a:avLst/>
            </a:prstGeom>
            <a:noFill/>
            <a:ln cap="flat" cmpd="sng" w="19050">
              <a:solidFill>
                <a:schemeClr val="dk1"/>
              </a:solidFill>
              <a:prstDash val="solid"/>
              <a:miter lim="800000"/>
              <a:headEnd len="med" w="med" type="none"/>
              <a:tailEnd len="med" w="med" type="triangle"/>
            </a:ln>
          </p:spPr>
        </p:cxnSp>
        <p:cxnSp>
          <p:nvCxnSpPr>
            <p:cNvPr id="2679" name="Google Shape;2679;p158"/>
            <p:cNvCxnSpPr/>
            <p:nvPr/>
          </p:nvCxnSpPr>
          <p:spPr>
            <a:xfrm rot="10800000">
              <a:off x="4352" y="1145"/>
              <a:ext cx="676" cy="404"/>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80" name="Google Shape;2680;p158"/>
          <p:cNvGrpSpPr/>
          <p:nvPr/>
        </p:nvGrpSpPr>
        <p:grpSpPr>
          <a:xfrm>
            <a:off x="5260975" y="4003675"/>
            <a:ext cx="668337" cy="457200"/>
            <a:chOff x="3059" y="2522"/>
            <a:chExt cx="389" cy="288"/>
          </a:xfrm>
        </p:grpSpPr>
        <p:cxnSp>
          <p:nvCxnSpPr>
            <p:cNvPr id="2681" name="Google Shape;2681;p158"/>
            <p:cNvCxnSpPr/>
            <p:nvPr/>
          </p:nvCxnSpPr>
          <p:spPr>
            <a:xfrm flipH="1" rot="10800000">
              <a:off x="3059" y="2522"/>
              <a:ext cx="226" cy="280"/>
            </a:xfrm>
            <a:prstGeom prst="straightConnector1">
              <a:avLst/>
            </a:prstGeom>
            <a:noFill/>
            <a:ln cap="flat" cmpd="sng" w="19050">
              <a:solidFill>
                <a:schemeClr val="dk1"/>
              </a:solidFill>
              <a:prstDash val="solid"/>
              <a:miter lim="800000"/>
              <a:headEnd len="med" w="med" type="none"/>
              <a:tailEnd len="med" w="med" type="triangle"/>
            </a:ln>
          </p:spPr>
        </p:cxnSp>
        <p:cxnSp>
          <p:nvCxnSpPr>
            <p:cNvPr id="2682" name="Google Shape;2682;p158"/>
            <p:cNvCxnSpPr/>
            <p:nvPr/>
          </p:nvCxnSpPr>
          <p:spPr>
            <a:xfrm rot="10800000">
              <a:off x="3277" y="2522"/>
              <a:ext cx="171" cy="288"/>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83" name="Google Shape;2683;p158"/>
          <p:cNvGrpSpPr/>
          <p:nvPr/>
        </p:nvGrpSpPr>
        <p:grpSpPr>
          <a:xfrm>
            <a:off x="6470650" y="3957637"/>
            <a:ext cx="681037" cy="469900"/>
            <a:chOff x="3762" y="2493"/>
            <a:chExt cx="396" cy="296"/>
          </a:xfrm>
        </p:grpSpPr>
        <p:cxnSp>
          <p:nvCxnSpPr>
            <p:cNvPr id="2684" name="Google Shape;2684;p158"/>
            <p:cNvCxnSpPr/>
            <p:nvPr/>
          </p:nvCxnSpPr>
          <p:spPr>
            <a:xfrm flipH="1" rot="10800000">
              <a:off x="3762" y="2493"/>
              <a:ext cx="226" cy="280"/>
            </a:xfrm>
            <a:prstGeom prst="straightConnector1">
              <a:avLst/>
            </a:prstGeom>
            <a:noFill/>
            <a:ln cap="flat" cmpd="sng" w="19050">
              <a:solidFill>
                <a:schemeClr val="dk1"/>
              </a:solidFill>
              <a:prstDash val="solid"/>
              <a:miter lim="800000"/>
              <a:headEnd len="med" w="med" type="none"/>
              <a:tailEnd len="med" w="med" type="triangle"/>
            </a:ln>
          </p:spPr>
        </p:cxnSp>
        <p:cxnSp>
          <p:nvCxnSpPr>
            <p:cNvPr id="2685" name="Google Shape;2685;p158"/>
            <p:cNvCxnSpPr/>
            <p:nvPr/>
          </p:nvCxnSpPr>
          <p:spPr>
            <a:xfrm rot="10800000">
              <a:off x="3987" y="2501"/>
              <a:ext cx="171" cy="288"/>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86" name="Google Shape;2686;p158"/>
          <p:cNvGrpSpPr/>
          <p:nvPr/>
        </p:nvGrpSpPr>
        <p:grpSpPr>
          <a:xfrm>
            <a:off x="7664450" y="3973512"/>
            <a:ext cx="722312" cy="484187"/>
            <a:chOff x="4457" y="2503"/>
            <a:chExt cx="420" cy="305"/>
          </a:xfrm>
        </p:grpSpPr>
        <p:cxnSp>
          <p:nvCxnSpPr>
            <p:cNvPr id="2687" name="Google Shape;2687;p158"/>
            <p:cNvCxnSpPr/>
            <p:nvPr/>
          </p:nvCxnSpPr>
          <p:spPr>
            <a:xfrm flipH="1" rot="10800000">
              <a:off x="4457" y="2503"/>
              <a:ext cx="226" cy="280"/>
            </a:xfrm>
            <a:prstGeom prst="straightConnector1">
              <a:avLst/>
            </a:prstGeom>
            <a:noFill/>
            <a:ln cap="flat" cmpd="sng" w="19050">
              <a:solidFill>
                <a:schemeClr val="dk1"/>
              </a:solidFill>
              <a:prstDash val="solid"/>
              <a:miter lim="800000"/>
              <a:headEnd len="med" w="med" type="none"/>
              <a:tailEnd len="med" w="med" type="triangle"/>
            </a:ln>
          </p:spPr>
        </p:cxnSp>
        <p:cxnSp>
          <p:nvCxnSpPr>
            <p:cNvPr id="2688" name="Google Shape;2688;p158"/>
            <p:cNvCxnSpPr/>
            <p:nvPr/>
          </p:nvCxnSpPr>
          <p:spPr>
            <a:xfrm rot="10800000">
              <a:off x="4706" y="2520"/>
              <a:ext cx="171" cy="288"/>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689" name="Google Shape;2689;p158"/>
          <p:cNvGrpSpPr/>
          <p:nvPr/>
        </p:nvGrpSpPr>
        <p:grpSpPr>
          <a:xfrm>
            <a:off x="8955087" y="3976687"/>
            <a:ext cx="681037" cy="498475"/>
            <a:chOff x="5207" y="2505"/>
            <a:chExt cx="396" cy="314"/>
          </a:xfrm>
        </p:grpSpPr>
        <p:cxnSp>
          <p:nvCxnSpPr>
            <p:cNvPr id="2690" name="Google Shape;2690;p158"/>
            <p:cNvCxnSpPr/>
            <p:nvPr/>
          </p:nvCxnSpPr>
          <p:spPr>
            <a:xfrm flipH="1" rot="10800000">
              <a:off x="5207" y="2505"/>
              <a:ext cx="226" cy="280"/>
            </a:xfrm>
            <a:prstGeom prst="straightConnector1">
              <a:avLst/>
            </a:prstGeom>
            <a:noFill/>
            <a:ln cap="flat" cmpd="sng" w="19050">
              <a:solidFill>
                <a:schemeClr val="dk1"/>
              </a:solidFill>
              <a:prstDash val="solid"/>
              <a:miter lim="800000"/>
              <a:headEnd len="med" w="med" type="none"/>
              <a:tailEnd len="med" w="med" type="triangle"/>
            </a:ln>
          </p:spPr>
        </p:cxnSp>
        <p:cxnSp>
          <p:nvCxnSpPr>
            <p:cNvPr id="2691" name="Google Shape;2691;p158"/>
            <p:cNvCxnSpPr/>
            <p:nvPr/>
          </p:nvCxnSpPr>
          <p:spPr>
            <a:xfrm rot="10800000">
              <a:off x="5432" y="2531"/>
              <a:ext cx="171" cy="288"/>
            </a:xfrm>
            <a:prstGeom prst="straightConnector1">
              <a:avLst/>
            </a:prstGeom>
            <a:noFill/>
            <a:ln cap="flat" cmpd="sng" w="19050">
              <a:solidFill>
                <a:schemeClr val="dk1"/>
              </a:solidFill>
              <a:prstDash val="solid"/>
              <a:miter lim="800000"/>
              <a:headEnd len="med" w="med" type="none"/>
              <a:tailEnd len="med" w="med" type="triangle"/>
            </a:ln>
          </p:spPr>
        </p:cxnSp>
      </p:grpSp>
      <p:sp>
        <p:nvSpPr>
          <p:cNvPr id="2692" name="Google Shape;2692;p158"/>
          <p:cNvSpPr txBox="1"/>
          <p:nvPr/>
        </p:nvSpPr>
        <p:spPr>
          <a:xfrm>
            <a:off x="0" y="5229225"/>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693" name="Google Shape;2693;p158"/>
          <p:cNvSpPr txBox="1"/>
          <p:nvPr/>
        </p:nvSpPr>
        <p:spPr>
          <a:xfrm>
            <a:off x="625475" y="5229225"/>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694" name="Google Shape;2694;p158"/>
          <p:cNvSpPr txBox="1"/>
          <p:nvPr/>
        </p:nvSpPr>
        <p:spPr>
          <a:xfrm>
            <a:off x="26987" y="4478337"/>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695" name="Google Shape;2695;p158"/>
          <p:cNvSpPr txBox="1"/>
          <p:nvPr/>
        </p:nvSpPr>
        <p:spPr>
          <a:xfrm>
            <a:off x="658812" y="4467225"/>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grpSp>
        <p:nvGrpSpPr>
          <p:cNvPr id="2696" name="Google Shape;2696;p158"/>
          <p:cNvGrpSpPr/>
          <p:nvPr/>
        </p:nvGrpSpPr>
        <p:grpSpPr>
          <a:xfrm>
            <a:off x="107950" y="2906712"/>
            <a:ext cx="1179512" cy="1098550"/>
            <a:chOff x="53" y="1836"/>
            <a:chExt cx="686" cy="692"/>
          </a:xfrm>
        </p:grpSpPr>
        <p:sp>
          <p:nvSpPr>
            <p:cNvPr id="2697" name="Google Shape;2697;p158"/>
            <p:cNvSpPr txBox="1"/>
            <p:nvPr/>
          </p:nvSpPr>
          <p:spPr>
            <a:xfrm>
              <a:off x="53" y="2207"/>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698" name="Google Shape;2698;p158"/>
            <p:cNvSpPr txBox="1"/>
            <p:nvPr/>
          </p:nvSpPr>
          <p:spPr>
            <a:xfrm>
              <a:off x="385" y="2207"/>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cxnSp>
          <p:nvCxnSpPr>
            <p:cNvPr id="2699" name="Google Shape;2699;p158"/>
            <p:cNvCxnSpPr/>
            <p:nvPr/>
          </p:nvCxnSpPr>
          <p:spPr>
            <a:xfrm>
              <a:off x="717" y="2200"/>
              <a:ext cx="0" cy="328"/>
            </a:xfrm>
            <a:prstGeom prst="straightConnector1">
              <a:avLst/>
            </a:prstGeom>
            <a:noFill/>
            <a:ln cap="flat" cmpd="sng" w="57150">
              <a:solidFill>
                <a:srgbClr val="CC3300"/>
              </a:solidFill>
              <a:prstDash val="solid"/>
              <a:miter lim="800000"/>
              <a:headEnd len="med" w="med" type="none"/>
              <a:tailEnd len="med" w="med" type="none"/>
            </a:ln>
          </p:spPr>
        </p:cxnSp>
        <p:cxnSp>
          <p:nvCxnSpPr>
            <p:cNvPr id="2700" name="Google Shape;2700;p158"/>
            <p:cNvCxnSpPr/>
            <p:nvPr/>
          </p:nvCxnSpPr>
          <p:spPr>
            <a:xfrm flipH="1">
              <a:off x="366" y="1836"/>
              <a:ext cx="373" cy="381"/>
            </a:xfrm>
            <a:prstGeom prst="straightConnector1">
              <a:avLst/>
            </a:prstGeom>
            <a:noFill/>
            <a:ln cap="flat" cmpd="sng" w="19050">
              <a:solidFill>
                <a:schemeClr val="dk1"/>
              </a:solidFill>
              <a:prstDash val="solid"/>
              <a:miter lim="800000"/>
              <a:headEnd len="med" w="med" type="none"/>
              <a:tailEnd len="med" w="med" type="triangle"/>
            </a:ln>
          </p:spPr>
        </p:cxnSp>
      </p:grpSp>
      <p:sp>
        <p:nvSpPr>
          <p:cNvPr id="2701" name="Google Shape;2701;p158"/>
          <p:cNvSpPr txBox="1"/>
          <p:nvPr/>
        </p:nvSpPr>
        <p:spPr>
          <a:xfrm>
            <a:off x="1231900" y="5229225"/>
            <a:ext cx="549275"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702" name="Google Shape;2702;p158"/>
          <p:cNvSpPr txBox="1"/>
          <p:nvPr/>
        </p:nvSpPr>
        <p:spPr>
          <a:xfrm>
            <a:off x="1273175" y="4473575"/>
            <a:ext cx="549275"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703" name="Google Shape;2703;p158"/>
          <p:cNvSpPr txBox="1"/>
          <p:nvPr/>
        </p:nvSpPr>
        <p:spPr>
          <a:xfrm>
            <a:off x="1862137" y="5227637"/>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704" name="Google Shape;2704;p158"/>
          <p:cNvSpPr txBox="1"/>
          <p:nvPr/>
        </p:nvSpPr>
        <p:spPr>
          <a:xfrm>
            <a:off x="1890712" y="4475162"/>
            <a:ext cx="549275"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grpSp>
        <p:nvGrpSpPr>
          <p:cNvPr id="2705" name="Google Shape;2705;p158"/>
          <p:cNvGrpSpPr/>
          <p:nvPr/>
        </p:nvGrpSpPr>
        <p:grpSpPr>
          <a:xfrm>
            <a:off x="1249362" y="2919412"/>
            <a:ext cx="1165225" cy="1065212"/>
            <a:chOff x="731" y="1836"/>
            <a:chExt cx="678" cy="671"/>
          </a:xfrm>
        </p:grpSpPr>
        <p:sp>
          <p:nvSpPr>
            <p:cNvPr id="2706" name="Google Shape;2706;p158"/>
            <p:cNvSpPr txBox="1"/>
            <p:nvPr/>
          </p:nvSpPr>
          <p:spPr>
            <a:xfrm>
              <a:off x="757" y="2207"/>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707" name="Google Shape;2707;p158"/>
            <p:cNvSpPr txBox="1"/>
            <p:nvPr/>
          </p:nvSpPr>
          <p:spPr>
            <a:xfrm>
              <a:off x="1089" y="2207"/>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cxnSp>
          <p:nvCxnSpPr>
            <p:cNvPr id="2708" name="Google Shape;2708;p158"/>
            <p:cNvCxnSpPr/>
            <p:nvPr/>
          </p:nvCxnSpPr>
          <p:spPr>
            <a:xfrm>
              <a:off x="731" y="1836"/>
              <a:ext cx="374" cy="358"/>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709" name="Google Shape;2709;p158"/>
          <p:cNvGrpSpPr/>
          <p:nvPr/>
        </p:nvGrpSpPr>
        <p:grpSpPr>
          <a:xfrm>
            <a:off x="169862" y="1795462"/>
            <a:ext cx="2389187" cy="1098550"/>
            <a:chOff x="97" y="1135"/>
            <a:chExt cx="1389" cy="692"/>
          </a:xfrm>
        </p:grpSpPr>
        <p:sp>
          <p:nvSpPr>
            <p:cNvPr id="2710" name="Google Shape;2710;p158"/>
            <p:cNvSpPr txBox="1"/>
            <p:nvPr/>
          </p:nvSpPr>
          <p:spPr>
            <a:xfrm>
              <a:off x="97" y="1527"/>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711" name="Google Shape;2711;p158"/>
            <p:cNvSpPr txBox="1"/>
            <p:nvPr/>
          </p:nvSpPr>
          <p:spPr>
            <a:xfrm>
              <a:off x="429" y="1527"/>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712" name="Google Shape;2712;p158"/>
            <p:cNvSpPr txBox="1"/>
            <p:nvPr/>
          </p:nvSpPr>
          <p:spPr>
            <a:xfrm>
              <a:off x="761" y="1527"/>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713" name="Google Shape;2713;p158"/>
            <p:cNvSpPr txBox="1"/>
            <p:nvPr/>
          </p:nvSpPr>
          <p:spPr>
            <a:xfrm>
              <a:off x="1093" y="1527"/>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cxnSp>
          <p:nvCxnSpPr>
            <p:cNvPr id="2714" name="Google Shape;2714;p158"/>
            <p:cNvCxnSpPr/>
            <p:nvPr/>
          </p:nvCxnSpPr>
          <p:spPr>
            <a:xfrm flipH="1">
              <a:off x="747" y="1135"/>
              <a:ext cx="739" cy="374"/>
            </a:xfrm>
            <a:prstGeom prst="straightConnector1">
              <a:avLst/>
            </a:prstGeom>
            <a:noFill/>
            <a:ln cap="flat" cmpd="sng" w="19050">
              <a:solidFill>
                <a:schemeClr val="dk1"/>
              </a:solidFill>
              <a:prstDash val="solid"/>
              <a:miter lim="800000"/>
              <a:headEnd len="med" w="med" type="none"/>
              <a:tailEnd len="med" w="med" type="triangle"/>
            </a:ln>
          </p:spPr>
        </p:cxnSp>
      </p:grpSp>
      <p:sp>
        <p:nvSpPr>
          <p:cNvPr id="2715" name="Google Shape;2715;p158"/>
          <p:cNvSpPr txBox="1"/>
          <p:nvPr/>
        </p:nvSpPr>
        <p:spPr>
          <a:xfrm>
            <a:off x="2471737" y="5227637"/>
            <a:ext cx="549275"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716" name="Google Shape;2716;p158"/>
          <p:cNvSpPr txBox="1"/>
          <p:nvPr/>
        </p:nvSpPr>
        <p:spPr>
          <a:xfrm>
            <a:off x="2501900" y="4478337"/>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717" name="Google Shape;2717;p158"/>
          <p:cNvSpPr txBox="1"/>
          <p:nvPr/>
        </p:nvSpPr>
        <p:spPr>
          <a:xfrm>
            <a:off x="3089275" y="5240337"/>
            <a:ext cx="549275"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718" name="Google Shape;2718;p158"/>
          <p:cNvSpPr txBox="1"/>
          <p:nvPr/>
        </p:nvSpPr>
        <p:spPr>
          <a:xfrm>
            <a:off x="3116262" y="4462462"/>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grpSp>
        <p:nvGrpSpPr>
          <p:cNvPr id="2719" name="Google Shape;2719;p158"/>
          <p:cNvGrpSpPr/>
          <p:nvPr/>
        </p:nvGrpSpPr>
        <p:grpSpPr>
          <a:xfrm>
            <a:off x="2530475" y="2881312"/>
            <a:ext cx="1168400" cy="1122362"/>
            <a:chOff x="1460" y="1820"/>
            <a:chExt cx="680" cy="707"/>
          </a:xfrm>
        </p:grpSpPr>
        <p:cxnSp>
          <p:nvCxnSpPr>
            <p:cNvPr id="2720" name="Google Shape;2720;p158"/>
            <p:cNvCxnSpPr/>
            <p:nvPr/>
          </p:nvCxnSpPr>
          <p:spPr>
            <a:xfrm flipH="1">
              <a:off x="1790" y="1820"/>
              <a:ext cx="350" cy="374"/>
            </a:xfrm>
            <a:prstGeom prst="straightConnector1">
              <a:avLst/>
            </a:prstGeom>
            <a:noFill/>
            <a:ln cap="flat" cmpd="sng" w="19050">
              <a:solidFill>
                <a:schemeClr val="dk1"/>
              </a:solidFill>
              <a:prstDash val="solid"/>
              <a:miter lim="800000"/>
              <a:headEnd len="med" w="med" type="none"/>
              <a:tailEnd len="med" w="med" type="triangle"/>
            </a:ln>
          </p:spPr>
        </p:cxnSp>
        <p:sp>
          <p:nvSpPr>
            <p:cNvPr id="2721" name="Google Shape;2721;p158"/>
            <p:cNvSpPr txBox="1"/>
            <p:nvPr/>
          </p:nvSpPr>
          <p:spPr>
            <a:xfrm>
              <a:off x="1460" y="2208"/>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722" name="Google Shape;2722;p158"/>
            <p:cNvSpPr txBox="1"/>
            <p:nvPr/>
          </p:nvSpPr>
          <p:spPr>
            <a:xfrm>
              <a:off x="1792" y="2208"/>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cxnSp>
          <p:nvCxnSpPr>
            <p:cNvPr id="2723" name="Google Shape;2723;p158"/>
            <p:cNvCxnSpPr/>
            <p:nvPr/>
          </p:nvCxnSpPr>
          <p:spPr>
            <a:xfrm>
              <a:off x="2123" y="2199"/>
              <a:ext cx="0" cy="328"/>
            </a:xfrm>
            <a:prstGeom prst="straightConnector1">
              <a:avLst/>
            </a:prstGeom>
            <a:noFill/>
            <a:ln cap="flat" cmpd="sng" w="57150">
              <a:solidFill>
                <a:srgbClr val="CC3300"/>
              </a:solidFill>
              <a:prstDash val="solid"/>
              <a:miter lim="800000"/>
              <a:headEnd len="med" w="med" type="none"/>
              <a:tailEnd len="med" w="med" type="none"/>
            </a:ln>
          </p:spPr>
        </p:cxnSp>
      </p:grpSp>
      <p:sp>
        <p:nvSpPr>
          <p:cNvPr id="2724" name="Google Shape;2724;p158"/>
          <p:cNvSpPr txBox="1"/>
          <p:nvPr/>
        </p:nvSpPr>
        <p:spPr>
          <a:xfrm>
            <a:off x="3708400" y="5240337"/>
            <a:ext cx="549275"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725" name="Google Shape;2725;p158"/>
          <p:cNvSpPr txBox="1"/>
          <p:nvPr/>
        </p:nvSpPr>
        <p:spPr>
          <a:xfrm>
            <a:off x="3738562" y="4467225"/>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726" name="Google Shape;2726;p158"/>
          <p:cNvSpPr txBox="1"/>
          <p:nvPr/>
        </p:nvSpPr>
        <p:spPr>
          <a:xfrm>
            <a:off x="4337050" y="5229225"/>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727" name="Google Shape;2727;p158"/>
          <p:cNvSpPr txBox="1"/>
          <p:nvPr/>
        </p:nvSpPr>
        <p:spPr>
          <a:xfrm>
            <a:off x="4341812" y="4467225"/>
            <a:ext cx="550862" cy="47625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grpSp>
        <p:nvGrpSpPr>
          <p:cNvPr id="2728" name="Google Shape;2728;p158"/>
          <p:cNvGrpSpPr/>
          <p:nvPr/>
        </p:nvGrpSpPr>
        <p:grpSpPr>
          <a:xfrm>
            <a:off x="3700462" y="2908300"/>
            <a:ext cx="1133475" cy="1066800"/>
            <a:chOff x="2148" y="1836"/>
            <a:chExt cx="659" cy="672"/>
          </a:xfrm>
        </p:grpSpPr>
        <p:sp>
          <p:nvSpPr>
            <p:cNvPr id="2729" name="Google Shape;2729;p158"/>
            <p:cNvSpPr txBox="1"/>
            <p:nvPr/>
          </p:nvSpPr>
          <p:spPr>
            <a:xfrm>
              <a:off x="2155" y="2208"/>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730" name="Google Shape;2730;p158"/>
            <p:cNvSpPr txBox="1"/>
            <p:nvPr/>
          </p:nvSpPr>
          <p:spPr>
            <a:xfrm>
              <a:off x="2487" y="2208"/>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cxnSp>
          <p:nvCxnSpPr>
            <p:cNvPr id="2731" name="Google Shape;2731;p158"/>
            <p:cNvCxnSpPr/>
            <p:nvPr/>
          </p:nvCxnSpPr>
          <p:spPr>
            <a:xfrm>
              <a:off x="2148" y="1836"/>
              <a:ext cx="358" cy="365"/>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732" name="Google Shape;2732;p158"/>
          <p:cNvGrpSpPr/>
          <p:nvPr/>
        </p:nvGrpSpPr>
        <p:grpSpPr>
          <a:xfrm>
            <a:off x="2500312" y="1831975"/>
            <a:ext cx="2314575" cy="1127125"/>
            <a:chOff x="1451" y="1151"/>
            <a:chExt cx="1346" cy="710"/>
          </a:xfrm>
        </p:grpSpPr>
        <p:sp>
          <p:nvSpPr>
            <p:cNvPr id="2733" name="Google Shape;2733;p158"/>
            <p:cNvSpPr txBox="1"/>
            <p:nvPr/>
          </p:nvSpPr>
          <p:spPr>
            <a:xfrm>
              <a:off x="1481" y="1520"/>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734" name="Google Shape;2734;p158"/>
            <p:cNvSpPr txBox="1"/>
            <p:nvPr/>
          </p:nvSpPr>
          <p:spPr>
            <a:xfrm>
              <a:off x="1813" y="1520"/>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735" name="Google Shape;2735;p158"/>
            <p:cNvSpPr txBox="1"/>
            <p:nvPr/>
          </p:nvSpPr>
          <p:spPr>
            <a:xfrm>
              <a:off x="2145" y="1520"/>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736" name="Google Shape;2736;p158"/>
            <p:cNvSpPr txBox="1"/>
            <p:nvPr/>
          </p:nvSpPr>
          <p:spPr>
            <a:xfrm>
              <a:off x="2477" y="1520"/>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cxnSp>
          <p:nvCxnSpPr>
            <p:cNvPr id="2737" name="Google Shape;2737;p158"/>
            <p:cNvCxnSpPr/>
            <p:nvPr/>
          </p:nvCxnSpPr>
          <p:spPr>
            <a:xfrm>
              <a:off x="1451" y="1533"/>
              <a:ext cx="0" cy="328"/>
            </a:xfrm>
            <a:prstGeom prst="straightConnector1">
              <a:avLst/>
            </a:prstGeom>
            <a:noFill/>
            <a:ln cap="flat" cmpd="sng" w="57150">
              <a:solidFill>
                <a:srgbClr val="CC3300"/>
              </a:solidFill>
              <a:prstDash val="solid"/>
              <a:miter lim="800000"/>
              <a:headEnd len="med" w="med" type="none"/>
              <a:tailEnd len="med" w="med" type="none"/>
            </a:ln>
          </p:spPr>
        </p:cxnSp>
        <p:cxnSp>
          <p:nvCxnSpPr>
            <p:cNvPr id="2738" name="Google Shape;2738;p158"/>
            <p:cNvCxnSpPr/>
            <p:nvPr/>
          </p:nvCxnSpPr>
          <p:spPr>
            <a:xfrm>
              <a:off x="1479" y="1151"/>
              <a:ext cx="654" cy="350"/>
            </a:xfrm>
            <a:prstGeom prst="straightConnector1">
              <a:avLst/>
            </a:prstGeom>
            <a:noFill/>
            <a:ln cap="flat" cmpd="sng" w="19050">
              <a:solidFill>
                <a:schemeClr val="dk1"/>
              </a:solidFill>
              <a:prstDash val="solid"/>
              <a:miter lim="800000"/>
              <a:headEnd len="med" w="med" type="none"/>
              <a:tailEnd len="med" w="med" type="triangle"/>
            </a:ln>
          </p:spPr>
        </p:cxnSp>
      </p:grpSp>
      <p:grpSp>
        <p:nvGrpSpPr>
          <p:cNvPr id="2739" name="Google Shape;2739;p158"/>
          <p:cNvGrpSpPr/>
          <p:nvPr/>
        </p:nvGrpSpPr>
        <p:grpSpPr>
          <a:xfrm>
            <a:off x="317500" y="1327150"/>
            <a:ext cx="4548187" cy="476250"/>
            <a:chOff x="182" y="833"/>
            <a:chExt cx="2644" cy="300"/>
          </a:xfrm>
        </p:grpSpPr>
        <p:sp>
          <p:nvSpPr>
            <p:cNvPr id="2740" name="Google Shape;2740;p158"/>
            <p:cNvSpPr txBox="1"/>
            <p:nvPr/>
          </p:nvSpPr>
          <p:spPr>
            <a:xfrm>
              <a:off x="182" y="833"/>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741" name="Google Shape;2741;p158"/>
            <p:cNvSpPr txBox="1"/>
            <p:nvPr/>
          </p:nvSpPr>
          <p:spPr>
            <a:xfrm>
              <a:off x="514" y="833"/>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742" name="Google Shape;2742;p158"/>
            <p:cNvSpPr txBox="1"/>
            <p:nvPr/>
          </p:nvSpPr>
          <p:spPr>
            <a:xfrm>
              <a:off x="846" y="833"/>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743" name="Google Shape;2743;p158"/>
            <p:cNvSpPr txBox="1"/>
            <p:nvPr/>
          </p:nvSpPr>
          <p:spPr>
            <a:xfrm>
              <a:off x="1178" y="833"/>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744" name="Google Shape;2744;p158"/>
            <p:cNvSpPr txBox="1"/>
            <p:nvPr/>
          </p:nvSpPr>
          <p:spPr>
            <a:xfrm>
              <a:off x="1510" y="833"/>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745" name="Google Shape;2745;p158"/>
            <p:cNvSpPr txBox="1"/>
            <p:nvPr/>
          </p:nvSpPr>
          <p:spPr>
            <a:xfrm>
              <a:off x="1842" y="833"/>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746" name="Google Shape;2746;p158"/>
            <p:cNvSpPr txBox="1"/>
            <p:nvPr/>
          </p:nvSpPr>
          <p:spPr>
            <a:xfrm>
              <a:off x="2174" y="833"/>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747" name="Google Shape;2747;p158"/>
            <p:cNvSpPr txBox="1"/>
            <p:nvPr/>
          </p:nvSpPr>
          <p:spPr>
            <a:xfrm>
              <a:off x="2506" y="833"/>
              <a:ext cx="320" cy="300"/>
            </a:xfrm>
            <a:prstGeom prst="rect">
              <a:avLst/>
            </a:prstGeom>
            <a:solidFill>
              <a:srgbClr val="66C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grpSp>
      <p:sp>
        <p:nvSpPr>
          <p:cNvPr id="2748" name="Google Shape;2748;p158"/>
          <p:cNvSpPr txBox="1"/>
          <p:nvPr/>
        </p:nvSpPr>
        <p:spPr>
          <a:xfrm>
            <a:off x="5014912" y="4460875"/>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749" name="Google Shape;2749;p158"/>
          <p:cNvSpPr txBox="1"/>
          <p:nvPr/>
        </p:nvSpPr>
        <p:spPr>
          <a:xfrm>
            <a:off x="5632450" y="4449762"/>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750" name="Google Shape;2750;p158"/>
          <p:cNvSpPr txBox="1"/>
          <p:nvPr/>
        </p:nvSpPr>
        <p:spPr>
          <a:xfrm>
            <a:off x="6864350" y="4465637"/>
            <a:ext cx="54927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751" name="Google Shape;2751;p158"/>
          <p:cNvSpPr txBox="1"/>
          <p:nvPr/>
        </p:nvSpPr>
        <p:spPr>
          <a:xfrm>
            <a:off x="6270625" y="4451350"/>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752" name="Google Shape;2752;p158"/>
          <p:cNvSpPr txBox="1"/>
          <p:nvPr/>
        </p:nvSpPr>
        <p:spPr>
          <a:xfrm>
            <a:off x="6305550" y="3517900"/>
            <a:ext cx="54927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753" name="Google Shape;2753;p158"/>
          <p:cNvSpPr txBox="1"/>
          <p:nvPr/>
        </p:nvSpPr>
        <p:spPr>
          <a:xfrm>
            <a:off x="5657850" y="3516312"/>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754" name="Google Shape;2754;p158"/>
          <p:cNvSpPr txBox="1"/>
          <p:nvPr/>
        </p:nvSpPr>
        <p:spPr>
          <a:xfrm>
            <a:off x="6848475" y="3516312"/>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755" name="Google Shape;2755;p158"/>
          <p:cNvSpPr txBox="1"/>
          <p:nvPr/>
        </p:nvSpPr>
        <p:spPr>
          <a:xfrm>
            <a:off x="5116512" y="3517900"/>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756" name="Google Shape;2756;p158"/>
          <p:cNvSpPr txBox="1"/>
          <p:nvPr/>
        </p:nvSpPr>
        <p:spPr>
          <a:xfrm>
            <a:off x="8112125" y="4438650"/>
            <a:ext cx="577850"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757" name="Google Shape;2757;p158"/>
          <p:cNvSpPr txBox="1"/>
          <p:nvPr/>
        </p:nvSpPr>
        <p:spPr>
          <a:xfrm>
            <a:off x="7477125" y="4462462"/>
            <a:ext cx="592137"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758" name="Google Shape;2758;p158"/>
          <p:cNvSpPr txBox="1"/>
          <p:nvPr/>
        </p:nvSpPr>
        <p:spPr>
          <a:xfrm>
            <a:off x="9355137" y="4452937"/>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759" name="Google Shape;2759;p158"/>
          <p:cNvSpPr txBox="1"/>
          <p:nvPr/>
        </p:nvSpPr>
        <p:spPr>
          <a:xfrm>
            <a:off x="8742362" y="4464050"/>
            <a:ext cx="54927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760" name="Google Shape;2760;p158"/>
          <p:cNvSpPr txBox="1"/>
          <p:nvPr/>
        </p:nvSpPr>
        <p:spPr>
          <a:xfrm>
            <a:off x="8804275" y="3529012"/>
            <a:ext cx="54927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761" name="Google Shape;2761;p158"/>
          <p:cNvSpPr txBox="1"/>
          <p:nvPr/>
        </p:nvSpPr>
        <p:spPr>
          <a:xfrm>
            <a:off x="9355137" y="3529012"/>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762" name="Google Shape;2762;p158"/>
          <p:cNvSpPr txBox="1"/>
          <p:nvPr/>
        </p:nvSpPr>
        <p:spPr>
          <a:xfrm>
            <a:off x="7537450" y="3516312"/>
            <a:ext cx="63182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763" name="Google Shape;2763;p158"/>
          <p:cNvSpPr txBox="1"/>
          <p:nvPr/>
        </p:nvSpPr>
        <p:spPr>
          <a:xfrm>
            <a:off x="8096250" y="3517900"/>
            <a:ext cx="63182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764" name="Google Shape;2764;p158"/>
          <p:cNvSpPr txBox="1"/>
          <p:nvPr/>
        </p:nvSpPr>
        <p:spPr>
          <a:xfrm>
            <a:off x="7550150" y="2460625"/>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1 </a:t>
            </a:r>
            <a:endParaRPr/>
          </a:p>
        </p:txBody>
      </p:sp>
      <p:sp>
        <p:nvSpPr>
          <p:cNvPr id="2765" name="Google Shape;2765;p158"/>
          <p:cNvSpPr txBox="1"/>
          <p:nvPr/>
        </p:nvSpPr>
        <p:spPr>
          <a:xfrm>
            <a:off x="5089525" y="2446337"/>
            <a:ext cx="54927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6 </a:t>
            </a:r>
            <a:endParaRPr/>
          </a:p>
        </p:txBody>
      </p:sp>
      <p:sp>
        <p:nvSpPr>
          <p:cNvPr id="2766" name="Google Shape;2766;p158"/>
          <p:cNvSpPr txBox="1"/>
          <p:nvPr/>
        </p:nvSpPr>
        <p:spPr>
          <a:xfrm>
            <a:off x="8093075" y="2459037"/>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9 </a:t>
            </a:r>
            <a:endParaRPr/>
          </a:p>
        </p:txBody>
      </p:sp>
      <p:sp>
        <p:nvSpPr>
          <p:cNvPr id="2767" name="Google Shape;2767;p158"/>
          <p:cNvSpPr txBox="1"/>
          <p:nvPr/>
        </p:nvSpPr>
        <p:spPr>
          <a:xfrm>
            <a:off x="8642350" y="2459037"/>
            <a:ext cx="630237"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15</a:t>
            </a:r>
            <a:endParaRPr/>
          </a:p>
        </p:txBody>
      </p:sp>
      <p:sp>
        <p:nvSpPr>
          <p:cNvPr id="2768" name="Google Shape;2768;p158"/>
          <p:cNvSpPr txBox="1"/>
          <p:nvPr/>
        </p:nvSpPr>
        <p:spPr>
          <a:xfrm>
            <a:off x="5629275" y="2459037"/>
            <a:ext cx="54927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18</a:t>
            </a:r>
            <a:endParaRPr/>
          </a:p>
        </p:txBody>
      </p:sp>
      <p:sp>
        <p:nvSpPr>
          <p:cNvPr id="2769" name="Google Shape;2769;p158"/>
          <p:cNvSpPr txBox="1"/>
          <p:nvPr/>
        </p:nvSpPr>
        <p:spPr>
          <a:xfrm>
            <a:off x="6170612" y="2447925"/>
            <a:ext cx="550862"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26</a:t>
            </a:r>
            <a:endParaRPr/>
          </a:p>
        </p:txBody>
      </p:sp>
      <p:sp>
        <p:nvSpPr>
          <p:cNvPr id="2770" name="Google Shape;2770;p158"/>
          <p:cNvSpPr txBox="1"/>
          <p:nvPr/>
        </p:nvSpPr>
        <p:spPr>
          <a:xfrm>
            <a:off x="6721475" y="2446337"/>
            <a:ext cx="54927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32</a:t>
            </a:r>
            <a:endParaRPr/>
          </a:p>
        </p:txBody>
      </p:sp>
      <p:sp>
        <p:nvSpPr>
          <p:cNvPr id="2771" name="Google Shape;2771;p158"/>
          <p:cNvSpPr txBox="1"/>
          <p:nvPr/>
        </p:nvSpPr>
        <p:spPr>
          <a:xfrm>
            <a:off x="9274175" y="2460625"/>
            <a:ext cx="631825" cy="476250"/>
          </a:xfrm>
          <a:prstGeom prst="rect">
            <a:avLst/>
          </a:prstGeom>
          <a:solidFill>
            <a:srgbClr val="FFCC00"/>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43</a:t>
            </a:r>
            <a:endParaRPr/>
          </a:p>
        </p:txBody>
      </p:sp>
      <p:sp>
        <p:nvSpPr>
          <p:cNvPr id="2772" name="Google Shape;2772;p158"/>
          <p:cNvSpPr txBox="1"/>
          <p:nvPr/>
        </p:nvSpPr>
        <p:spPr>
          <a:xfrm>
            <a:off x="1508125" y="857250"/>
            <a:ext cx="22383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3300"/>
              </a:buClr>
              <a:buSzPts val="2000"/>
              <a:buFont typeface="Times New Roman"/>
              <a:buNone/>
            </a:pPr>
            <a:r>
              <a:rPr b="0" i="0" lang="en-US" sz="2000" u="sng">
                <a:solidFill>
                  <a:srgbClr val="CC3300"/>
                </a:solidFill>
                <a:latin typeface="Times New Roman"/>
                <a:ea typeface="Times New Roman"/>
                <a:cs typeface="Times New Roman"/>
                <a:sym typeface="Times New Roman"/>
              </a:rPr>
              <a:t>Original Sequence</a:t>
            </a:r>
            <a:endParaRPr/>
          </a:p>
        </p:txBody>
      </p:sp>
      <p:sp>
        <p:nvSpPr>
          <p:cNvPr id="2773" name="Google Shape;2773;p158"/>
          <p:cNvSpPr txBox="1"/>
          <p:nvPr/>
        </p:nvSpPr>
        <p:spPr>
          <a:xfrm>
            <a:off x="6251575" y="884237"/>
            <a:ext cx="20399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3300"/>
              </a:buClr>
              <a:buSzPts val="2000"/>
              <a:buFont typeface="Times New Roman"/>
              <a:buNone/>
            </a:pPr>
            <a:r>
              <a:rPr b="0" i="0" lang="en-US" sz="2000" u="sng">
                <a:solidFill>
                  <a:srgbClr val="CC3300"/>
                </a:solidFill>
                <a:latin typeface="Times New Roman"/>
                <a:ea typeface="Times New Roman"/>
                <a:cs typeface="Times New Roman"/>
                <a:sym typeface="Times New Roman"/>
              </a:rPr>
              <a:t>Sorted Sequence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9"/>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92"/>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6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0"/>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93"/>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8"/>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47"/>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49"/>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26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1"/>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701"/>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2"/>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703"/>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0"/>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50"/>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51"/>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26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2"/>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55"/>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55"/>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2656"/>
                                        </p:tgtEl>
                                        <p:attrNameLst>
                                          <p:attrName>style.visibility</p:attrName>
                                        </p:attrNameLst>
                                      </p:cBhvr>
                                      <p:to>
                                        <p:strVal val="visible"/>
                                      </p:to>
                                    </p:set>
                                  </p:childTnLst>
                                </p:cTn>
                              </p:par>
                            </p:childTnLst>
                          </p:cTn>
                        </p:par>
                        <p:par>
                          <p:cTn fill="hold">
                            <p:stCondLst>
                              <p:cond delay="4"/>
                            </p:stCondLst>
                            <p:childTnLst>
                              <p:par>
                                <p:cTn fill="hold" nodeType="afterEffect" presetClass="entr" presetID="1" presetSubtype="0">
                                  <p:stCondLst>
                                    <p:cond delay="0"/>
                                  </p:stCondLst>
                                  <p:childTnLst>
                                    <p:set>
                                      <p:cBhvr>
                                        <p:cTn dur="1" fill="hold">
                                          <p:stCondLst>
                                            <p:cond delay="0"/>
                                          </p:stCondLst>
                                        </p:cTn>
                                        <p:tgtEl>
                                          <p:spTgt spid="2753"/>
                                        </p:tgtEl>
                                        <p:attrNameLst>
                                          <p:attrName>style.visibility</p:attrName>
                                        </p:attrNameLst>
                                      </p:cBhvr>
                                      <p:to>
                                        <p:strVal val="visible"/>
                                      </p:to>
                                    </p:set>
                                  </p:childTnLst>
                                </p:cTn>
                              </p:par>
                            </p:childTnLst>
                          </p:cTn>
                        </p:par>
                        <p:par>
                          <p:cTn fill="hold">
                            <p:stCondLst>
                              <p:cond delay="5"/>
                            </p:stCondLst>
                            <p:childTnLst>
                              <p:par>
                                <p:cTn fill="hold" nodeType="afterEffect" presetClass="entr" presetID="1" presetSubtype="0">
                                  <p:stCondLst>
                                    <p:cond delay="0"/>
                                  </p:stCondLst>
                                  <p:childTnLst>
                                    <p:set>
                                      <p:cBhvr>
                                        <p:cTn dur="1" fill="hold">
                                          <p:stCondLst>
                                            <p:cond delay="0"/>
                                          </p:stCondLst>
                                        </p:cTn>
                                        <p:tgtEl>
                                          <p:spTgt spid="2657"/>
                                        </p:tgtEl>
                                        <p:attrNameLst>
                                          <p:attrName>style.visibility</p:attrName>
                                        </p:attrNameLst>
                                      </p:cBhvr>
                                      <p:to>
                                        <p:strVal val="visible"/>
                                      </p:to>
                                    </p:set>
                                  </p:childTnLst>
                                </p:cTn>
                              </p:par>
                            </p:childTnLst>
                          </p:cTn>
                        </p:par>
                        <p:par>
                          <p:cTn fill="hold">
                            <p:stCondLst>
                              <p:cond delay="6"/>
                            </p:stCondLst>
                            <p:childTnLst>
                              <p:par>
                                <p:cTn fill="hold" nodeType="afterEffect" presetClass="entr" presetID="1" presetSubtype="0">
                                  <p:stCondLst>
                                    <p:cond delay="0"/>
                                  </p:stCondLst>
                                  <p:childTnLst>
                                    <p:set>
                                      <p:cBhvr>
                                        <p:cTn dur="1" fill="hold">
                                          <p:stCondLst>
                                            <p:cond delay="0"/>
                                          </p:stCondLst>
                                        </p:cTn>
                                        <p:tgtEl>
                                          <p:spTgt spid="2754"/>
                                        </p:tgtEl>
                                        <p:attrNameLst>
                                          <p:attrName>style.visibility</p:attrName>
                                        </p:attrNameLst>
                                      </p:cBhvr>
                                      <p:to>
                                        <p:strVal val="visible"/>
                                      </p:to>
                                    </p:set>
                                  </p:childTnLst>
                                </p:cTn>
                              </p:par>
                            </p:childTnLst>
                          </p:cTn>
                        </p:par>
                        <p:par>
                          <p:cTn fill="hold">
                            <p:stCondLst>
                              <p:cond delay="7"/>
                            </p:stCondLst>
                            <p:childTnLst>
                              <p:par>
                                <p:cTn fill="hold" nodeType="afterEffect" presetClass="entr" presetID="1" presetSubtype="0">
                                  <p:stCondLst>
                                    <p:cond delay="0"/>
                                  </p:stCondLst>
                                  <p:childTnLst>
                                    <p:set>
                                      <p:cBhvr>
                                        <p:cTn dur="1" fill="hold">
                                          <p:stCondLst>
                                            <p:cond delay="0"/>
                                          </p:stCondLst>
                                        </p:cTn>
                                        <p:tgtEl>
                                          <p:spTgt spid="26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3"/>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715"/>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4"/>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717"/>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51"/>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57"/>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26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5"/>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724"/>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726"/>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8"/>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53"/>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59"/>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26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0"/>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62"/>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61"/>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2663"/>
                                        </p:tgtEl>
                                        <p:attrNameLst>
                                          <p:attrName>style.visibility</p:attrName>
                                        </p:attrNameLst>
                                      </p:cBhvr>
                                      <p:to>
                                        <p:strVal val="visible"/>
                                      </p:to>
                                    </p:set>
                                  </p:childTnLst>
                                </p:cTn>
                              </p:par>
                            </p:childTnLst>
                          </p:cTn>
                        </p:par>
                        <p:par>
                          <p:cTn fill="hold">
                            <p:stCondLst>
                              <p:cond delay="4"/>
                            </p:stCondLst>
                            <p:childTnLst>
                              <p:par>
                                <p:cTn fill="hold" nodeType="afterEffect" presetClass="entr" presetID="1" presetSubtype="0">
                                  <p:stCondLst>
                                    <p:cond delay="0"/>
                                  </p:stCondLst>
                                  <p:childTnLst>
                                    <p:set>
                                      <p:cBhvr>
                                        <p:cTn dur="1" fill="hold">
                                          <p:stCondLst>
                                            <p:cond delay="0"/>
                                          </p:stCondLst>
                                        </p:cTn>
                                        <p:tgtEl>
                                          <p:spTgt spid="2762"/>
                                        </p:tgtEl>
                                        <p:attrNameLst>
                                          <p:attrName>style.visibility</p:attrName>
                                        </p:attrNameLst>
                                      </p:cBhvr>
                                      <p:to>
                                        <p:strVal val="visible"/>
                                      </p:to>
                                    </p:set>
                                  </p:childTnLst>
                                </p:cTn>
                              </p:par>
                            </p:childTnLst>
                          </p:cTn>
                        </p:par>
                        <p:par>
                          <p:cTn fill="hold">
                            <p:stCondLst>
                              <p:cond delay="5"/>
                            </p:stCondLst>
                            <p:childTnLst>
                              <p:par>
                                <p:cTn fill="hold" nodeType="afterEffect" presetClass="entr" presetID="1" presetSubtype="0">
                                  <p:stCondLst>
                                    <p:cond delay="0"/>
                                  </p:stCondLst>
                                  <p:childTnLst>
                                    <p:set>
                                      <p:cBhvr>
                                        <p:cTn dur="1" fill="hold">
                                          <p:stCondLst>
                                            <p:cond delay="0"/>
                                          </p:stCondLst>
                                        </p:cTn>
                                        <p:tgtEl>
                                          <p:spTgt spid="2664"/>
                                        </p:tgtEl>
                                        <p:attrNameLst>
                                          <p:attrName>style.visibility</p:attrName>
                                        </p:attrNameLst>
                                      </p:cBhvr>
                                      <p:to>
                                        <p:strVal val="visible"/>
                                      </p:to>
                                    </p:set>
                                  </p:childTnLst>
                                </p:cTn>
                              </p:par>
                            </p:childTnLst>
                          </p:cTn>
                        </p:par>
                        <p:par>
                          <p:cTn fill="hold">
                            <p:stCondLst>
                              <p:cond delay="6"/>
                            </p:stCondLst>
                            <p:childTnLst>
                              <p:par>
                                <p:cTn fill="hold" nodeType="afterEffect" presetClass="entr" presetID="1" presetSubtype="0">
                                  <p:stCondLst>
                                    <p:cond delay="0"/>
                                  </p:stCondLst>
                                  <p:childTnLst>
                                    <p:set>
                                      <p:cBhvr>
                                        <p:cTn dur="1" fill="hold">
                                          <p:stCondLst>
                                            <p:cond delay="0"/>
                                          </p:stCondLst>
                                        </p:cTn>
                                        <p:tgtEl>
                                          <p:spTgt spid="2763"/>
                                        </p:tgtEl>
                                        <p:attrNameLst>
                                          <p:attrName>style.visibility</p:attrName>
                                        </p:attrNameLst>
                                      </p:cBhvr>
                                      <p:to>
                                        <p:strVal val="visible"/>
                                      </p:to>
                                    </p:set>
                                  </p:childTnLst>
                                </p:cTn>
                              </p:par>
                            </p:childTnLst>
                          </p:cTn>
                        </p:par>
                        <p:par>
                          <p:cTn fill="hold">
                            <p:stCondLst>
                              <p:cond delay="7"/>
                            </p:stCondLst>
                            <p:childTnLst>
                              <p:par>
                                <p:cTn fill="hold" nodeType="afterEffect" presetClass="entr" presetID="1" presetSubtype="0">
                                  <p:stCondLst>
                                    <p:cond delay="0"/>
                                  </p:stCondLst>
                                  <p:childTnLst>
                                    <p:set>
                                      <p:cBhvr>
                                        <p:cTn dur="1" fill="hold">
                                          <p:stCondLst>
                                            <p:cond delay="0"/>
                                          </p:stCondLst>
                                        </p:cTn>
                                        <p:tgtEl>
                                          <p:spTgt spid="2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4"/>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669"/>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2765"/>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2670"/>
                                        </p:tgtEl>
                                        <p:attrNameLst>
                                          <p:attrName>style.visibility</p:attrName>
                                        </p:attrNameLst>
                                      </p:cBhvr>
                                      <p:to>
                                        <p:strVal val="visible"/>
                                      </p:to>
                                    </p:set>
                                  </p:childTnLst>
                                </p:cTn>
                              </p:par>
                            </p:childTnLst>
                          </p:cTn>
                        </p:par>
                        <p:par>
                          <p:cTn fill="hold">
                            <p:stCondLst>
                              <p:cond delay="4"/>
                            </p:stCondLst>
                            <p:childTnLst>
                              <p:par>
                                <p:cTn fill="hold" nodeType="afterEffect" presetClass="entr" presetID="1" presetSubtype="0">
                                  <p:stCondLst>
                                    <p:cond delay="0"/>
                                  </p:stCondLst>
                                  <p:childTnLst>
                                    <p:set>
                                      <p:cBhvr>
                                        <p:cTn dur="1" fill="hold">
                                          <p:stCondLst>
                                            <p:cond delay="0"/>
                                          </p:stCondLst>
                                        </p:cTn>
                                        <p:tgtEl>
                                          <p:spTgt spid="2766"/>
                                        </p:tgtEl>
                                        <p:attrNameLst>
                                          <p:attrName>style.visibility</p:attrName>
                                        </p:attrNameLst>
                                      </p:cBhvr>
                                      <p:to>
                                        <p:strVal val="visible"/>
                                      </p:to>
                                    </p:set>
                                  </p:childTnLst>
                                </p:cTn>
                              </p:par>
                            </p:childTnLst>
                          </p:cTn>
                        </p:par>
                        <p:par>
                          <p:cTn fill="hold">
                            <p:stCondLst>
                              <p:cond delay="5"/>
                            </p:stCondLst>
                            <p:childTnLst>
                              <p:par>
                                <p:cTn fill="hold" nodeType="afterEffect" presetClass="entr" presetID="1" presetSubtype="0">
                                  <p:stCondLst>
                                    <p:cond delay="0"/>
                                  </p:stCondLst>
                                  <p:childTnLst>
                                    <p:set>
                                      <p:cBhvr>
                                        <p:cTn dur="1" fill="hold">
                                          <p:stCondLst>
                                            <p:cond delay="0"/>
                                          </p:stCondLst>
                                        </p:cTn>
                                        <p:tgtEl>
                                          <p:spTgt spid="2671"/>
                                        </p:tgtEl>
                                        <p:attrNameLst>
                                          <p:attrName>style.visibility</p:attrName>
                                        </p:attrNameLst>
                                      </p:cBhvr>
                                      <p:to>
                                        <p:strVal val="visible"/>
                                      </p:to>
                                    </p:set>
                                  </p:childTnLst>
                                </p:cTn>
                              </p:par>
                            </p:childTnLst>
                          </p:cTn>
                        </p:par>
                        <p:par>
                          <p:cTn fill="hold">
                            <p:stCondLst>
                              <p:cond delay="6"/>
                            </p:stCondLst>
                            <p:childTnLst>
                              <p:par>
                                <p:cTn fill="hold" nodeType="afterEffect" presetClass="entr" presetID="1" presetSubtype="0">
                                  <p:stCondLst>
                                    <p:cond delay="0"/>
                                  </p:stCondLst>
                                  <p:childTnLst>
                                    <p:set>
                                      <p:cBhvr>
                                        <p:cTn dur="1" fill="hold">
                                          <p:stCondLst>
                                            <p:cond delay="0"/>
                                          </p:stCondLst>
                                        </p:cTn>
                                        <p:tgtEl>
                                          <p:spTgt spid="2767"/>
                                        </p:tgtEl>
                                        <p:attrNameLst>
                                          <p:attrName>style.visibility</p:attrName>
                                        </p:attrNameLst>
                                      </p:cBhvr>
                                      <p:to>
                                        <p:strVal val="visible"/>
                                      </p:to>
                                    </p:set>
                                  </p:childTnLst>
                                </p:cTn>
                              </p:par>
                            </p:childTnLst>
                          </p:cTn>
                        </p:par>
                        <p:par>
                          <p:cTn fill="hold">
                            <p:stCondLst>
                              <p:cond delay="7"/>
                            </p:stCondLst>
                            <p:childTnLst>
                              <p:par>
                                <p:cTn fill="hold" nodeType="afterEffect" presetClass="entr" presetID="1" presetSubtype="0">
                                  <p:stCondLst>
                                    <p:cond delay="0"/>
                                  </p:stCondLst>
                                  <p:childTnLst>
                                    <p:set>
                                      <p:cBhvr>
                                        <p:cTn dur="1" fill="hold">
                                          <p:stCondLst>
                                            <p:cond delay="0"/>
                                          </p:stCondLst>
                                        </p:cTn>
                                        <p:tgtEl>
                                          <p:spTgt spid="2672"/>
                                        </p:tgtEl>
                                        <p:attrNameLst>
                                          <p:attrName>style.visibility</p:attrName>
                                        </p:attrNameLst>
                                      </p:cBhvr>
                                      <p:to>
                                        <p:strVal val="visible"/>
                                      </p:to>
                                    </p:set>
                                  </p:childTnLst>
                                </p:cTn>
                              </p:par>
                            </p:childTnLst>
                          </p:cTn>
                        </p:par>
                        <p:par>
                          <p:cTn fill="hold">
                            <p:stCondLst>
                              <p:cond delay="8"/>
                            </p:stCondLst>
                            <p:childTnLst>
                              <p:par>
                                <p:cTn fill="hold" nodeType="afterEffect" presetClass="entr" presetID="1" presetSubtype="0">
                                  <p:stCondLst>
                                    <p:cond delay="0"/>
                                  </p:stCondLst>
                                  <p:childTnLst>
                                    <p:set>
                                      <p:cBhvr>
                                        <p:cTn dur="1" fill="hold">
                                          <p:stCondLst>
                                            <p:cond delay="0"/>
                                          </p:stCondLst>
                                        </p:cTn>
                                        <p:tgtEl>
                                          <p:spTgt spid="2768"/>
                                        </p:tgtEl>
                                        <p:attrNameLst>
                                          <p:attrName>style.visibility</p:attrName>
                                        </p:attrNameLst>
                                      </p:cBhvr>
                                      <p:to>
                                        <p:strVal val="visible"/>
                                      </p:to>
                                    </p:set>
                                  </p:childTnLst>
                                </p:cTn>
                              </p:par>
                            </p:childTnLst>
                          </p:cTn>
                        </p:par>
                        <p:par>
                          <p:cTn fill="hold">
                            <p:stCondLst>
                              <p:cond delay="9"/>
                            </p:stCondLst>
                            <p:childTnLst>
                              <p:par>
                                <p:cTn fill="hold" nodeType="afterEffect" presetClass="entr" presetID="1" presetSubtype="0">
                                  <p:stCondLst>
                                    <p:cond delay="0"/>
                                  </p:stCondLst>
                                  <p:childTnLst>
                                    <p:set>
                                      <p:cBhvr>
                                        <p:cTn dur="1" fill="hold">
                                          <p:stCondLst>
                                            <p:cond delay="0"/>
                                          </p:stCondLst>
                                        </p:cTn>
                                        <p:tgtEl>
                                          <p:spTgt spid="2673"/>
                                        </p:tgtEl>
                                        <p:attrNameLst>
                                          <p:attrName>style.visibility</p:attrName>
                                        </p:attrNameLst>
                                      </p:cBhvr>
                                      <p:to>
                                        <p:strVal val="visible"/>
                                      </p:to>
                                    </p:set>
                                  </p:childTnLst>
                                </p:cTn>
                              </p:par>
                            </p:childTnLst>
                          </p:cTn>
                        </p:par>
                        <p:par>
                          <p:cTn fill="hold">
                            <p:stCondLst>
                              <p:cond delay="10"/>
                            </p:stCondLst>
                            <p:childTnLst>
                              <p:par>
                                <p:cTn fill="hold" nodeType="afterEffect" presetClass="entr" presetID="1" presetSubtype="0">
                                  <p:stCondLst>
                                    <p:cond delay="0"/>
                                  </p:stCondLst>
                                  <p:childTnLst>
                                    <p:set>
                                      <p:cBhvr>
                                        <p:cTn dur="1" fill="hold">
                                          <p:stCondLst>
                                            <p:cond delay="0"/>
                                          </p:stCondLst>
                                        </p:cTn>
                                        <p:tgtEl>
                                          <p:spTgt spid="2769"/>
                                        </p:tgtEl>
                                        <p:attrNameLst>
                                          <p:attrName>style.visibility</p:attrName>
                                        </p:attrNameLst>
                                      </p:cBhvr>
                                      <p:to>
                                        <p:strVal val="visible"/>
                                      </p:to>
                                    </p:set>
                                  </p:childTnLst>
                                </p:cTn>
                              </p:par>
                            </p:childTnLst>
                          </p:cTn>
                        </p:par>
                        <p:par>
                          <p:cTn fill="hold">
                            <p:stCondLst>
                              <p:cond delay="11"/>
                            </p:stCondLst>
                            <p:childTnLst>
                              <p:par>
                                <p:cTn fill="hold" nodeType="afterEffect" presetClass="entr" presetID="1" presetSubtype="0">
                                  <p:stCondLst>
                                    <p:cond delay="0"/>
                                  </p:stCondLst>
                                  <p:childTnLst>
                                    <p:set>
                                      <p:cBhvr>
                                        <p:cTn dur="1" fill="hold">
                                          <p:stCondLst>
                                            <p:cond delay="0"/>
                                          </p:stCondLst>
                                        </p:cTn>
                                        <p:tgtEl>
                                          <p:spTgt spid="2674"/>
                                        </p:tgtEl>
                                        <p:attrNameLst>
                                          <p:attrName>style.visibility</p:attrName>
                                        </p:attrNameLst>
                                      </p:cBhvr>
                                      <p:to>
                                        <p:strVal val="visible"/>
                                      </p:to>
                                    </p:set>
                                  </p:childTnLst>
                                </p:cTn>
                              </p:par>
                            </p:childTnLst>
                          </p:cTn>
                        </p:par>
                        <p:par>
                          <p:cTn fill="hold">
                            <p:stCondLst>
                              <p:cond delay="12"/>
                            </p:stCondLst>
                            <p:childTnLst>
                              <p:par>
                                <p:cTn fill="hold" nodeType="afterEffect" presetClass="entr" presetID="1" presetSubtype="0">
                                  <p:stCondLst>
                                    <p:cond delay="0"/>
                                  </p:stCondLst>
                                  <p:childTnLst>
                                    <p:set>
                                      <p:cBhvr>
                                        <p:cTn dur="1" fill="hold">
                                          <p:stCondLst>
                                            <p:cond delay="0"/>
                                          </p:stCondLst>
                                        </p:cTn>
                                        <p:tgtEl>
                                          <p:spTgt spid="2770"/>
                                        </p:tgtEl>
                                        <p:attrNameLst>
                                          <p:attrName>style.visibility</p:attrName>
                                        </p:attrNameLst>
                                      </p:cBhvr>
                                      <p:to>
                                        <p:strVal val="visible"/>
                                      </p:to>
                                    </p:set>
                                  </p:childTnLst>
                                </p:cTn>
                              </p:par>
                            </p:childTnLst>
                          </p:cTn>
                        </p:par>
                        <p:par>
                          <p:cTn fill="hold">
                            <p:stCondLst>
                              <p:cond delay="13"/>
                            </p:stCondLst>
                            <p:childTnLst>
                              <p:par>
                                <p:cTn fill="hold" nodeType="afterEffect" presetClass="entr" presetID="1" presetSubtype="0">
                                  <p:stCondLst>
                                    <p:cond delay="0"/>
                                  </p:stCondLst>
                                  <p:childTnLst>
                                    <p:set>
                                      <p:cBhvr>
                                        <p:cTn dur="1" fill="hold">
                                          <p:stCondLst>
                                            <p:cond delay="0"/>
                                          </p:stCondLst>
                                        </p:cTn>
                                        <p:tgtEl>
                                          <p:spTgt spid="2675"/>
                                        </p:tgtEl>
                                        <p:attrNameLst>
                                          <p:attrName>style.visibility</p:attrName>
                                        </p:attrNameLst>
                                      </p:cBhvr>
                                      <p:to>
                                        <p:strVal val="visible"/>
                                      </p:to>
                                    </p:set>
                                  </p:childTnLst>
                                </p:cTn>
                              </p:par>
                            </p:childTnLst>
                          </p:cTn>
                        </p:par>
                        <p:par>
                          <p:cTn fill="hold">
                            <p:stCondLst>
                              <p:cond delay="14"/>
                            </p:stCondLst>
                            <p:childTnLst>
                              <p:par>
                                <p:cTn fill="hold" nodeType="afterEffect" presetClass="entr" presetID="1" presetSubtype="0">
                                  <p:stCondLst>
                                    <p:cond delay="0"/>
                                  </p:stCondLst>
                                  <p:childTnLst>
                                    <p:set>
                                      <p:cBhvr>
                                        <p:cTn dur="1" fill="hold">
                                          <p:stCondLst>
                                            <p:cond delay="0"/>
                                          </p:stCondLst>
                                        </p:cTn>
                                        <p:tgtEl>
                                          <p:spTgt spid="2771"/>
                                        </p:tgtEl>
                                        <p:attrNameLst>
                                          <p:attrName>style.visibility</p:attrName>
                                        </p:attrNameLst>
                                      </p:cBhvr>
                                      <p:to>
                                        <p:strVal val="visible"/>
                                      </p:to>
                                    </p:set>
                                  </p:childTnLst>
                                </p:cTn>
                              </p:par>
                            </p:childTnLst>
                          </p:cTn>
                        </p:par>
                        <p:par>
                          <p:cTn fill="hold">
                            <p:stCondLst>
                              <p:cond delay="15"/>
                            </p:stCondLst>
                            <p:childTnLst>
                              <p:par>
                                <p:cTn fill="hold" nodeType="afterEffect" presetClass="entr" presetID="1" presetSubtype="0">
                                  <p:stCondLst>
                                    <p:cond delay="0"/>
                                  </p:stCondLst>
                                  <p:childTnLst>
                                    <p:set>
                                      <p:cBhvr>
                                        <p:cTn dur="1" fill="hold">
                                          <p:stCondLst>
                                            <p:cond delay="0"/>
                                          </p:stCondLst>
                                        </p:cTn>
                                        <p:tgtEl>
                                          <p:spTgt spid="26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9" name="Shape 2779"/>
        <p:cNvGrpSpPr/>
        <p:nvPr/>
      </p:nvGrpSpPr>
      <p:grpSpPr>
        <a:xfrm>
          <a:off x="0" y="0"/>
          <a:ext cx="0" cy="0"/>
          <a:chOff x="0" y="0"/>
          <a:chExt cx="0" cy="0"/>
        </a:xfrm>
      </p:grpSpPr>
      <p:sp>
        <p:nvSpPr>
          <p:cNvPr id="2780" name="Google Shape;2780;p15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a:t>
            </a:r>
            <a:endParaRPr/>
          </a:p>
        </p:txBody>
      </p:sp>
      <p:sp>
        <p:nvSpPr>
          <p:cNvPr id="2781" name="Google Shape;2781;p159"/>
          <p:cNvSpPr txBox="1"/>
          <p:nvPr/>
        </p:nvSpPr>
        <p:spPr>
          <a:xfrm>
            <a:off x="596900" y="2217737"/>
            <a:ext cx="85121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82" name="Google Shape;2782;p159"/>
          <p:cNvSpPr txBox="1"/>
          <p:nvPr/>
        </p:nvSpPr>
        <p:spPr>
          <a:xfrm>
            <a:off x="992187" y="1052512"/>
            <a:ext cx="8640762" cy="49657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void MergeSort </a:t>
            </a:r>
            <a:r>
              <a:rPr b="1" i="0" lang="en-US" sz="3200" u="none">
                <a:solidFill>
                  <a:schemeClr val="dk1"/>
                </a:solidFill>
                <a:latin typeface="Times New Roman"/>
                <a:ea typeface="Times New Roman"/>
                <a:cs typeface="Times New Roman"/>
                <a:sym typeface="Times New Roman"/>
              </a:rPr>
              <a:t>(Day &amp;d, </a:t>
            </a:r>
            <a:r>
              <a:rPr b="1" i="1" lang="en-US" sz="3200" u="none">
                <a:solidFill>
                  <a:schemeClr val="dk1"/>
                </a:solidFill>
                <a:latin typeface="Times New Roman"/>
                <a:ea typeface="Times New Roman"/>
                <a:cs typeface="Times New Roman"/>
                <a:sym typeface="Times New Roman"/>
              </a:rPr>
              <a:t>p</a:t>
            </a:r>
            <a:r>
              <a:rPr b="1" i="0" lang="en-US" sz="3200" u="none">
                <a:solidFill>
                  <a:schemeClr val="dk1"/>
                </a:solidFill>
                <a:latin typeface="Times New Roman"/>
                <a:ea typeface="Times New Roman"/>
                <a:cs typeface="Times New Roman"/>
                <a:sym typeface="Times New Roman"/>
              </a:rPr>
              <a:t>, </a:t>
            </a:r>
            <a:r>
              <a:rPr b="1" i="1" lang="en-US" sz="3200" u="none">
                <a:solidFill>
                  <a:schemeClr val="dk1"/>
                </a:solidFill>
                <a:latin typeface="Times New Roman"/>
                <a:ea typeface="Times New Roman"/>
                <a:cs typeface="Times New Roman"/>
                <a:sym typeface="Times New Roman"/>
              </a:rPr>
              <a:t>r</a:t>
            </a:r>
            <a:r>
              <a:rPr b="1" i="0" lang="en-US" sz="3200" u="none">
                <a:solidFill>
                  <a:schemeClr val="dk1"/>
                </a:solidFill>
                <a:latin typeface="Times New Roman"/>
                <a:ea typeface="Times New Roman"/>
                <a:cs typeface="Times New Roman"/>
                <a:sym typeface="Times New Roman"/>
              </a:rPr>
              <a:t>)</a:t>
            </a:r>
            <a:endParaRPr/>
          </a:p>
          <a:p>
            <a:pPr indent="-457200" lvl="0" marL="45720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a:t>
            </a:r>
            <a:endParaRPr b="0" i="0" sz="3200" u="non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	if</a:t>
            </a:r>
            <a:r>
              <a:rPr b="1" i="1"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p</a:t>
            </a:r>
            <a:r>
              <a:rPr b="0" i="0" lang="en-US" sz="3200" u="none">
                <a:solidFill>
                  <a:schemeClr val="dk1"/>
                </a:solidFill>
                <a:latin typeface="Times New Roman"/>
                <a:ea typeface="Times New Roman"/>
                <a:cs typeface="Times New Roman"/>
                <a:sym typeface="Times New Roman"/>
              </a:rPr>
              <a:t> &lt; </a:t>
            </a:r>
            <a:r>
              <a:rPr b="0" i="1" lang="en-US" sz="3200" u="none">
                <a:solidFill>
                  <a:schemeClr val="dk1"/>
                </a:solidFill>
                <a:latin typeface="Times New Roman"/>
                <a:ea typeface="Times New Roman"/>
                <a:cs typeface="Times New Roman"/>
                <a:sym typeface="Times New Roman"/>
              </a:rPr>
              <a:t>r</a:t>
            </a:r>
            <a:endParaRPr/>
          </a:p>
          <a:p>
            <a:pPr indent="-457200" lvl="0" marL="457200" marR="0" rtl="0" algn="l">
              <a:lnSpc>
                <a:spcPct val="100000"/>
              </a:lnSpc>
              <a:spcBef>
                <a:spcPts val="0"/>
              </a:spcBef>
              <a:spcAft>
                <a:spcPts val="0"/>
              </a:spcAft>
              <a:buClr>
                <a:schemeClr val="dk1"/>
              </a:buClr>
              <a:buSzPts val="3200"/>
              <a:buFont typeface="Times New Roman"/>
              <a:buNone/>
            </a:pPr>
            <a:r>
              <a:rPr b="0" i="1" lang="en-US" sz="3200" u="none">
                <a:solidFill>
                  <a:schemeClr val="dk1"/>
                </a:solidFill>
                <a:latin typeface="Times New Roman"/>
                <a:ea typeface="Times New Roman"/>
                <a:cs typeface="Times New Roman"/>
                <a:sym typeface="Times New Roman"/>
              </a:rPr>
              <a:t>	{</a:t>
            </a:r>
            <a:endParaRPr/>
          </a:p>
          <a:p>
            <a:pPr indent="-457200" lvl="0" marL="457200" marR="0" rtl="0" algn="l">
              <a:lnSpc>
                <a:spcPct val="100000"/>
              </a:lnSpc>
              <a:spcBef>
                <a:spcPts val="0"/>
              </a:spcBef>
              <a:spcAft>
                <a:spcPts val="0"/>
              </a:spcAft>
              <a:buClr>
                <a:schemeClr val="dk1"/>
              </a:buClr>
              <a:buSzPts val="3200"/>
              <a:buFont typeface="Times New Roman"/>
              <a:buNone/>
            </a:pPr>
            <a:r>
              <a:rPr b="0" i="1" lang="en-US" sz="3200" u="none">
                <a:solidFill>
                  <a:schemeClr val="dk1"/>
                </a:solidFill>
                <a:latin typeface="Times New Roman"/>
                <a:ea typeface="Times New Roman"/>
                <a:cs typeface="Times New Roman"/>
                <a:sym typeface="Times New Roman"/>
              </a:rPr>
              <a:t>		q</a:t>
            </a:r>
            <a:r>
              <a:rPr b="0" i="0" lang="en-US" sz="3200" u="none">
                <a:solidFill>
                  <a:schemeClr val="dk1"/>
                </a:solidFill>
                <a:latin typeface="Times New Roman"/>
                <a:ea typeface="Times New Roman"/>
                <a:cs typeface="Times New Roman"/>
                <a:sym typeface="Times New Roman"/>
              </a:rPr>
              <a:t> = (</a:t>
            </a:r>
            <a:r>
              <a:rPr b="0" i="1" lang="en-US" sz="3200" u="none">
                <a:solidFill>
                  <a:schemeClr val="dk1"/>
                </a:solidFill>
                <a:latin typeface="Times New Roman"/>
                <a:ea typeface="Times New Roman"/>
                <a:cs typeface="Times New Roman"/>
                <a:sym typeface="Times New Roman"/>
              </a:rPr>
              <a:t>p</a:t>
            </a:r>
            <a:r>
              <a:rPr b="0" i="0" lang="en-US" sz="3200" u="none">
                <a:solidFill>
                  <a:schemeClr val="dk1"/>
                </a:solidFill>
                <a:latin typeface="Times New Roman"/>
                <a:ea typeface="Times New Roman"/>
                <a:cs typeface="Times New Roman"/>
                <a:sym typeface="Times New Roman"/>
              </a:rPr>
              <a:t>+</a:t>
            </a:r>
            <a:r>
              <a:rPr b="0" i="1" lang="en-US" sz="3200" u="none">
                <a:solidFill>
                  <a:schemeClr val="dk1"/>
                </a:solidFill>
                <a:latin typeface="Times New Roman"/>
                <a:ea typeface="Times New Roman"/>
                <a:cs typeface="Times New Roman"/>
                <a:sym typeface="Times New Roman"/>
              </a:rPr>
              <a:t>r</a:t>
            </a:r>
            <a:r>
              <a:rPr b="0" i="0" lang="en-US" sz="3200" u="none">
                <a:solidFill>
                  <a:schemeClr val="dk1"/>
                </a:solidFill>
                <a:latin typeface="Times New Roman"/>
                <a:ea typeface="Times New Roman"/>
                <a:cs typeface="Times New Roman"/>
                <a:sym typeface="Times New Roman"/>
              </a:rPr>
              <a:t>)/2</a:t>
            </a:r>
            <a:endParaRPr/>
          </a:p>
          <a:p>
            <a:pPr indent="-457200" lvl="0" marL="45720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MergeSort</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A</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p</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q</a:t>
            </a:r>
            <a:r>
              <a:rPr b="0" i="0" lang="en-US" sz="3200" u="none">
                <a:solidFill>
                  <a:schemeClr val="dk1"/>
                </a:solidFill>
                <a:latin typeface="Times New Roman"/>
                <a:ea typeface="Times New Roman"/>
                <a:cs typeface="Times New Roman"/>
                <a:sym typeface="Times New Roman"/>
              </a:rPr>
              <a:t>)</a:t>
            </a:r>
            <a:endParaRPr/>
          </a:p>
          <a:p>
            <a:pPr indent="-457200" lvl="0" marL="45720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MergeSort</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A</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q</a:t>
            </a:r>
            <a:r>
              <a:rPr b="0" i="0" lang="en-US" sz="3200" u="none">
                <a:solidFill>
                  <a:schemeClr val="dk1"/>
                </a:solidFill>
                <a:latin typeface="Times New Roman"/>
                <a:ea typeface="Times New Roman"/>
                <a:cs typeface="Times New Roman"/>
                <a:sym typeface="Times New Roman"/>
              </a:rPr>
              <a:t>+1, </a:t>
            </a:r>
            <a:r>
              <a:rPr b="0" i="1" lang="en-US" sz="3200" u="none">
                <a:solidFill>
                  <a:schemeClr val="dk1"/>
                </a:solidFill>
                <a:latin typeface="Times New Roman"/>
                <a:ea typeface="Times New Roman"/>
                <a:cs typeface="Times New Roman"/>
                <a:sym typeface="Times New Roman"/>
              </a:rPr>
              <a:t>r</a:t>
            </a:r>
            <a:r>
              <a:rPr b="0" i="0" lang="en-US" sz="3200" u="none">
                <a:solidFill>
                  <a:schemeClr val="dk1"/>
                </a:solidFill>
                <a:latin typeface="Times New Roman"/>
                <a:ea typeface="Times New Roman"/>
                <a:cs typeface="Times New Roman"/>
                <a:sym typeface="Times New Roman"/>
              </a:rPr>
              <a:t>)</a:t>
            </a:r>
            <a:endParaRPr/>
          </a:p>
          <a:p>
            <a:pPr indent="-457200" lvl="0" marL="45720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Merge</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A</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p</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q</a:t>
            </a:r>
            <a:r>
              <a:rPr b="0" i="0" lang="en-US" sz="3200" u="none">
                <a:solidFill>
                  <a:schemeClr val="dk1"/>
                </a:solidFill>
                <a:latin typeface="Times New Roman"/>
                <a:ea typeface="Times New Roman"/>
                <a:cs typeface="Times New Roman"/>
                <a:sym typeface="Times New Roman"/>
              </a:rPr>
              <a:t>, </a:t>
            </a:r>
            <a:r>
              <a:rPr b="0" i="1" lang="en-US" sz="3200" u="none">
                <a:solidFill>
                  <a:schemeClr val="dk1"/>
                </a:solidFill>
                <a:latin typeface="Times New Roman"/>
                <a:ea typeface="Times New Roman"/>
                <a:cs typeface="Times New Roman"/>
                <a:sym typeface="Times New Roman"/>
              </a:rPr>
              <a:t>r</a:t>
            </a:r>
            <a:r>
              <a:rPr b="0" i="0" lang="en-US" sz="3200" u="none">
                <a:solidFill>
                  <a:schemeClr val="dk1"/>
                </a:solidFill>
                <a:latin typeface="Times New Roman"/>
                <a:ea typeface="Times New Roman"/>
                <a:cs typeface="Times New Roman"/>
                <a:sym typeface="Times New Roman"/>
              </a:rPr>
              <a:t>);</a:t>
            </a:r>
            <a:endParaRPr/>
          </a:p>
          <a:p>
            <a:pPr indent="-457200" lvl="0" marL="45720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	}</a:t>
            </a:r>
            <a:endParaRPr/>
          </a:p>
          <a:p>
            <a:pPr indent="-457200" lvl="0" marL="45720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6" name="Shape 2786"/>
        <p:cNvGrpSpPr/>
        <p:nvPr/>
      </p:nvGrpSpPr>
      <p:grpSpPr>
        <a:xfrm>
          <a:off x="0" y="0"/>
          <a:ext cx="0" cy="0"/>
          <a:chOff x="0" y="0"/>
          <a:chExt cx="0" cy="0"/>
        </a:xfrm>
      </p:grpSpPr>
      <p:sp>
        <p:nvSpPr>
          <p:cNvPr id="2787" name="Google Shape;2787;p16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a:t>
            </a:r>
            <a:endParaRPr/>
          </a:p>
        </p:txBody>
      </p:sp>
      <p:sp>
        <p:nvSpPr>
          <p:cNvPr id="2788" name="Google Shape;2788;p160"/>
          <p:cNvSpPr txBox="1"/>
          <p:nvPr>
            <p:ph idx="1" type="body"/>
          </p:nvPr>
        </p:nvSpPr>
        <p:spPr>
          <a:xfrm>
            <a:off x="792162" y="908050"/>
            <a:ext cx="9129712" cy="5661025"/>
          </a:xfrm>
          <a:prstGeom prst="rect">
            <a:avLst/>
          </a:prstGeom>
          <a:noFill/>
          <a:ln>
            <a:noFill/>
          </a:ln>
        </p:spPr>
        <p:txBody>
          <a:bodyPr anchorCtr="0" anchor="t" bIns="45700" lIns="91425" spcFirstLastPara="1" rIns="91425" wrap="square" tIns="45700">
            <a:noAutofit/>
          </a:bodyPr>
          <a:lstStyle/>
          <a:p>
            <a:pPr indent="-446087" lvl="1" marL="1023937"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Các dãy con tăng dần sẽ được tách ra 2 dãy phụ theo nguyên tắc </a:t>
            </a:r>
            <a:r>
              <a:rPr b="1" i="0" lang="en-US" sz="2800" u="sng">
                <a:solidFill>
                  <a:schemeClr val="dk1"/>
                </a:solidFill>
                <a:latin typeface="Arial"/>
                <a:ea typeface="Arial"/>
                <a:cs typeface="Arial"/>
                <a:sym typeface="Arial"/>
              </a:rPr>
              <a:t>phân phối đều luân phiên</a:t>
            </a:r>
            <a:r>
              <a:rPr b="0" i="0" lang="en-US" sz="2800" u="none">
                <a:solidFill>
                  <a:schemeClr val="dk1"/>
                </a:solidFill>
                <a:latin typeface="Arial"/>
                <a:ea typeface="Arial"/>
                <a:cs typeface="Arial"/>
                <a:sym typeface="Arial"/>
              </a:rPr>
              <a:t>. </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Trộn từng cặp dãy con của hai dãy phụ thành một dãy con của dãy ban đầu 🡪 dãy mới có số lượng dãy con giảm đi so với dãy ban đầu. </a:t>
            </a:r>
            <a:endParaRPr/>
          </a:p>
          <a:p>
            <a:pPr indent="-285750" lvl="0" marL="463550" rtl="0" algn="l">
              <a:spcBef>
                <a:spcPts val="56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2" name="Shape 2792"/>
        <p:cNvGrpSpPr/>
        <p:nvPr/>
      </p:nvGrpSpPr>
      <p:grpSpPr>
        <a:xfrm>
          <a:off x="0" y="0"/>
          <a:ext cx="0" cy="0"/>
          <a:chOff x="0" y="0"/>
          <a:chExt cx="0" cy="0"/>
        </a:xfrm>
      </p:grpSpPr>
      <p:sp>
        <p:nvSpPr>
          <p:cNvPr id="2793" name="Google Shape;2793;p16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a:t>
            </a:r>
            <a:endParaRPr/>
          </a:p>
        </p:txBody>
      </p:sp>
      <p:sp>
        <p:nvSpPr>
          <p:cNvPr id="2794" name="Google Shape;2794;p161"/>
          <p:cNvSpPr txBox="1"/>
          <p:nvPr>
            <p:ph idx="1" type="body"/>
          </p:nvPr>
        </p:nvSpPr>
        <p:spPr>
          <a:xfrm>
            <a:off x="992187" y="1243012"/>
            <a:ext cx="8569325" cy="5281612"/>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Bước 1 : k = 1; </a:t>
            </a:r>
            <a:r>
              <a:rPr b="0" i="1" lang="en-US" sz="2400" u="none">
                <a:solidFill>
                  <a:schemeClr val="dk1"/>
                </a:solidFill>
                <a:latin typeface="Arial"/>
                <a:ea typeface="Arial"/>
                <a:cs typeface="Arial"/>
                <a:sym typeface="Arial"/>
              </a:rPr>
              <a:t>// dãy con có 1 phần tử là dãy không giảm</a:t>
            </a:r>
            <a:endParaRPr/>
          </a:p>
          <a:p>
            <a:pPr indent="-463550" lvl="0" marL="463550" rtl="0" algn="l">
              <a:lnSpc>
                <a:spcPct val="100000"/>
              </a:lnSpc>
              <a:spcBef>
                <a:spcPts val="440"/>
              </a:spcBef>
              <a:spcAft>
                <a:spcPts val="0"/>
              </a:spcAft>
              <a:buClr>
                <a:schemeClr val="dk1"/>
              </a:buClr>
              <a:buSzPts val="2200"/>
              <a:buFont typeface="Noto Sans Symbols"/>
              <a:buChar char="⮚"/>
            </a:pPr>
            <a:r>
              <a:rPr b="0" i="0" lang="en-US" sz="2200" u="none">
                <a:solidFill>
                  <a:schemeClr val="dk1"/>
                </a:solidFill>
                <a:latin typeface="Arial"/>
                <a:ea typeface="Arial"/>
                <a:cs typeface="Arial"/>
                <a:sym typeface="Arial"/>
              </a:rPr>
              <a:t>Bước 2 : Lặp trong khi (k &lt; N) </a:t>
            </a:r>
            <a:r>
              <a:rPr b="0" i="1" lang="en-US" sz="2200" u="none">
                <a:solidFill>
                  <a:schemeClr val="dk1"/>
                </a:solidFill>
                <a:latin typeface="Arial"/>
                <a:ea typeface="Arial"/>
                <a:cs typeface="Arial"/>
                <a:sym typeface="Arial"/>
              </a:rPr>
              <a:t>// dãy còn hơn 1 dãy con</a:t>
            </a:r>
            <a:endParaRPr/>
          </a:p>
          <a:p>
            <a:pPr indent="-446087" lvl="1" marL="1023937" rtl="0" algn="l">
              <a:lnSpc>
                <a:spcPct val="100000"/>
              </a:lnSpc>
              <a:spcBef>
                <a:spcPts val="52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Bước 21: </a:t>
            </a:r>
            <a:r>
              <a:rPr b="0" i="0" lang="en-US" sz="2600" u="none">
                <a:solidFill>
                  <a:srgbClr val="FF3300"/>
                </a:solidFill>
                <a:latin typeface="Arial"/>
                <a:ea typeface="Arial"/>
                <a:cs typeface="Arial"/>
                <a:sym typeface="Arial"/>
              </a:rPr>
              <a:t>Phân phối đều luân phiên</a:t>
            </a:r>
            <a:r>
              <a:rPr b="0" i="0" lang="en-US" sz="2600" u="none">
                <a:solidFill>
                  <a:schemeClr val="dk1"/>
                </a:solidFill>
                <a:latin typeface="Arial"/>
                <a:ea typeface="Arial"/>
                <a:cs typeface="Arial"/>
                <a:sym typeface="Arial"/>
              </a:rPr>
              <a:t> dãy a</a:t>
            </a:r>
            <a:r>
              <a:rPr b="0" baseline="-25000" i="0" lang="en-US" sz="2600" u="none">
                <a:solidFill>
                  <a:schemeClr val="dk1"/>
                </a:solidFill>
                <a:latin typeface="Arial"/>
                <a:ea typeface="Arial"/>
                <a:cs typeface="Arial"/>
                <a:sym typeface="Arial"/>
              </a:rPr>
              <a:t>1</a:t>
            </a:r>
            <a:r>
              <a:rPr b="0" i="0" lang="en-US" sz="2600" u="none">
                <a:solidFill>
                  <a:schemeClr val="dk1"/>
                </a:solidFill>
                <a:latin typeface="Arial"/>
                <a:ea typeface="Arial"/>
                <a:cs typeface="Arial"/>
                <a:sym typeface="Arial"/>
              </a:rPr>
              <a:t>, a</a:t>
            </a:r>
            <a:r>
              <a:rPr b="0" baseline="-25000" i="0" lang="en-US" sz="2600" u="none">
                <a:solidFill>
                  <a:schemeClr val="dk1"/>
                </a:solidFill>
                <a:latin typeface="Arial"/>
                <a:ea typeface="Arial"/>
                <a:cs typeface="Arial"/>
                <a:sym typeface="Arial"/>
              </a:rPr>
              <a:t>2</a:t>
            </a:r>
            <a:r>
              <a:rPr b="0" i="0" lang="en-US" sz="2600" u="none">
                <a:solidFill>
                  <a:schemeClr val="dk1"/>
                </a:solidFill>
                <a:latin typeface="Arial"/>
                <a:ea typeface="Arial"/>
                <a:cs typeface="Arial"/>
                <a:sym typeface="Arial"/>
              </a:rPr>
              <a:t>, …, an thành 2 dãy b, c theo từng nhóm k phần tử liên tiếp nhau.</a:t>
            </a:r>
            <a:endParaRPr/>
          </a:p>
          <a:p>
            <a:pPr indent="-349249" lvl="2" marL="1487487" rtl="0" algn="l">
              <a:lnSpc>
                <a:spcPct val="100000"/>
              </a:lnSpc>
              <a:spcBef>
                <a:spcPts val="0"/>
              </a:spcBef>
              <a:spcAft>
                <a:spcPts val="0"/>
              </a:spcAft>
              <a:buClr>
                <a:schemeClr val="dk1"/>
              </a:buClr>
              <a:buSzPts val="2600"/>
              <a:buNone/>
            </a:pPr>
            <a:r>
              <a:rPr b="0" i="1" lang="en-US" sz="2600" u="none">
                <a:solidFill>
                  <a:schemeClr val="dk1"/>
                </a:solidFill>
                <a:latin typeface="Arial"/>
                <a:ea typeface="Arial"/>
                <a:cs typeface="Arial"/>
                <a:sym typeface="Arial"/>
              </a:rPr>
              <a:t>	//b = a</a:t>
            </a:r>
            <a:r>
              <a:rPr b="0" baseline="-25000" i="1" lang="en-US" sz="2600" u="none">
                <a:solidFill>
                  <a:schemeClr val="dk1"/>
                </a:solidFill>
                <a:latin typeface="Arial"/>
                <a:ea typeface="Arial"/>
                <a:cs typeface="Arial"/>
                <a:sym typeface="Arial"/>
              </a:rPr>
              <a:t>1</a:t>
            </a:r>
            <a:r>
              <a:rPr b="0" i="1" lang="en-US" sz="2600" u="none">
                <a:solidFill>
                  <a:schemeClr val="dk1"/>
                </a:solidFill>
                <a:latin typeface="Arial"/>
                <a:ea typeface="Arial"/>
                <a:cs typeface="Arial"/>
                <a:sym typeface="Arial"/>
              </a:rPr>
              <a:t>, …, ak, a</a:t>
            </a:r>
            <a:r>
              <a:rPr b="0" baseline="-25000" i="1" lang="en-US" sz="2600" u="none">
                <a:solidFill>
                  <a:schemeClr val="dk1"/>
                </a:solidFill>
                <a:latin typeface="Arial"/>
                <a:ea typeface="Arial"/>
                <a:cs typeface="Arial"/>
                <a:sym typeface="Arial"/>
              </a:rPr>
              <a:t>2k+1</a:t>
            </a:r>
            <a:r>
              <a:rPr b="0" i="1" lang="en-US" sz="2600" u="none">
                <a:solidFill>
                  <a:schemeClr val="dk1"/>
                </a:solidFill>
                <a:latin typeface="Arial"/>
                <a:ea typeface="Arial"/>
                <a:cs typeface="Arial"/>
                <a:sym typeface="Arial"/>
              </a:rPr>
              <a:t>, …, a</a:t>
            </a:r>
            <a:r>
              <a:rPr b="0" baseline="-25000" i="1" lang="en-US" sz="2600" u="none">
                <a:solidFill>
                  <a:schemeClr val="dk1"/>
                </a:solidFill>
                <a:latin typeface="Arial"/>
                <a:ea typeface="Arial"/>
                <a:cs typeface="Arial"/>
                <a:sym typeface="Arial"/>
              </a:rPr>
              <a:t>3k</a:t>
            </a:r>
            <a:r>
              <a:rPr b="0" i="1" lang="en-US" sz="2600" u="none">
                <a:solidFill>
                  <a:schemeClr val="dk1"/>
                </a:solidFill>
                <a:latin typeface="Arial"/>
                <a:ea typeface="Arial"/>
                <a:cs typeface="Arial"/>
                <a:sym typeface="Arial"/>
              </a:rPr>
              <a:t>, …</a:t>
            </a:r>
            <a:endParaRPr/>
          </a:p>
          <a:p>
            <a:pPr indent="-349249" lvl="2" marL="1487487" rtl="0" algn="l">
              <a:lnSpc>
                <a:spcPct val="100000"/>
              </a:lnSpc>
              <a:spcBef>
                <a:spcPts val="0"/>
              </a:spcBef>
              <a:spcAft>
                <a:spcPts val="0"/>
              </a:spcAft>
              <a:buClr>
                <a:schemeClr val="dk1"/>
              </a:buClr>
              <a:buSzPts val="2600"/>
              <a:buNone/>
            </a:pPr>
            <a:r>
              <a:rPr b="0" i="1" lang="en-US" sz="2600" u="none">
                <a:solidFill>
                  <a:schemeClr val="dk1"/>
                </a:solidFill>
                <a:latin typeface="Arial"/>
                <a:ea typeface="Arial"/>
                <a:cs typeface="Arial"/>
                <a:sym typeface="Arial"/>
              </a:rPr>
              <a:t>   //c = ak</a:t>
            </a:r>
            <a:r>
              <a:rPr b="0" baseline="-25000" i="1" lang="en-US" sz="2600" u="none">
                <a:solidFill>
                  <a:schemeClr val="dk1"/>
                </a:solidFill>
                <a:latin typeface="Arial"/>
                <a:ea typeface="Arial"/>
                <a:cs typeface="Arial"/>
                <a:sym typeface="Arial"/>
              </a:rPr>
              <a:t>+1</a:t>
            </a:r>
            <a:r>
              <a:rPr b="0" i="1" lang="en-US" sz="2600" u="none">
                <a:solidFill>
                  <a:schemeClr val="dk1"/>
                </a:solidFill>
                <a:latin typeface="Arial"/>
                <a:ea typeface="Arial"/>
                <a:cs typeface="Arial"/>
                <a:sym typeface="Arial"/>
              </a:rPr>
              <a:t>, …, a</a:t>
            </a:r>
            <a:r>
              <a:rPr b="0" baseline="-25000" i="1" lang="en-US" sz="2600" u="none">
                <a:solidFill>
                  <a:schemeClr val="dk1"/>
                </a:solidFill>
                <a:latin typeface="Arial"/>
                <a:ea typeface="Arial"/>
                <a:cs typeface="Arial"/>
                <a:sym typeface="Arial"/>
              </a:rPr>
              <a:t>2k</a:t>
            </a:r>
            <a:r>
              <a:rPr b="0" i="1" lang="en-US" sz="2600" u="none">
                <a:solidFill>
                  <a:schemeClr val="dk1"/>
                </a:solidFill>
                <a:latin typeface="Arial"/>
                <a:ea typeface="Arial"/>
                <a:cs typeface="Arial"/>
                <a:sym typeface="Arial"/>
              </a:rPr>
              <a:t>, a</a:t>
            </a:r>
            <a:r>
              <a:rPr b="0" baseline="-25000" i="1" lang="en-US" sz="2600" u="none">
                <a:solidFill>
                  <a:schemeClr val="dk1"/>
                </a:solidFill>
                <a:latin typeface="Arial"/>
                <a:ea typeface="Arial"/>
                <a:cs typeface="Arial"/>
                <a:sym typeface="Arial"/>
              </a:rPr>
              <a:t>3k+1</a:t>
            </a:r>
            <a:r>
              <a:rPr b="0" i="1" lang="en-US" sz="2600" u="none">
                <a:solidFill>
                  <a:schemeClr val="dk1"/>
                </a:solidFill>
                <a:latin typeface="Arial"/>
                <a:ea typeface="Arial"/>
                <a:cs typeface="Arial"/>
                <a:sym typeface="Arial"/>
              </a:rPr>
              <a:t>, …, a</a:t>
            </a:r>
            <a:r>
              <a:rPr b="0" baseline="-25000" i="1" lang="en-US" sz="2600" u="none">
                <a:solidFill>
                  <a:schemeClr val="dk1"/>
                </a:solidFill>
                <a:latin typeface="Arial"/>
                <a:ea typeface="Arial"/>
                <a:cs typeface="Arial"/>
                <a:sym typeface="Arial"/>
              </a:rPr>
              <a:t>4k</a:t>
            </a:r>
            <a:r>
              <a:rPr b="0" i="1" lang="en-US" sz="2600" u="none">
                <a:solidFill>
                  <a:schemeClr val="dk1"/>
                </a:solidFill>
                <a:latin typeface="Arial"/>
                <a:ea typeface="Arial"/>
                <a:cs typeface="Arial"/>
                <a:sym typeface="Arial"/>
              </a:rPr>
              <a:t>, …</a:t>
            </a:r>
            <a:endParaRPr/>
          </a:p>
          <a:p>
            <a:pPr indent="-446087" lvl="1" marL="1023937" rtl="0" algn="l">
              <a:lnSpc>
                <a:spcPct val="100000"/>
              </a:lnSpc>
              <a:spcBef>
                <a:spcPts val="52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Bước 22: </a:t>
            </a:r>
            <a:r>
              <a:rPr b="0" i="0" lang="en-US" sz="2600" u="none">
                <a:solidFill>
                  <a:srgbClr val="FF3300"/>
                </a:solidFill>
                <a:latin typeface="Arial"/>
                <a:ea typeface="Arial"/>
                <a:cs typeface="Arial"/>
                <a:sym typeface="Arial"/>
              </a:rPr>
              <a:t>Trộn</a:t>
            </a:r>
            <a:r>
              <a:rPr b="0" i="0" lang="en-US" sz="2600" u="none">
                <a:solidFill>
                  <a:schemeClr val="dk1"/>
                </a:solidFill>
                <a:latin typeface="Arial"/>
                <a:ea typeface="Arial"/>
                <a:cs typeface="Arial"/>
                <a:sym typeface="Arial"/>
              </a:rPr>
              <a:t> từng cặp dãy con gồm k phần tử của 2 dãy b, c vào a. </a:t>
            </a:r>
            <a:endParaRPr/>
          </a:p>
          <a:p>
            <a:pPr indent="-446087" lvl="1" marL="1023937" rtl="0" algn="l">
              <a:lnSpc>
                <a:spcPct val="100000"/>
              </a:lnSpc>
              <a:spcBef>
                <a:spcPts val="520"/>
              </a:spcBef>
              <a:spcAft>
                <a:spcPts val="0"/>
              </a:spcAft>
              <a:buClr>
                <a:schemeClr val="dk1"/>
              </a:buClr>
              <a:buSzPts val="2600"/>
              <a:buFont typeface="Noto Sans Symbols"/>
              <a:buChar char="⮲"/>
            </a:pPr>
            <a:r>
              <a:rPr b="0" i="0" lang="en-US" sz="2600" u="none">
                <a:solidFill>
                  <a:schemeClr val="dk1"/>
                </a:solidFill>
                <a:latin typeface="Arial"/>
                <a:ea typeface="Arial"/>
                <a:cs typeface="Arial"/>
                <a:sym typeface="Arial"/>
              </a:rPr>
              <a:t>Bước 23: k = k*2;</a:t>
            </a:r>
            <a:endParaRPr/>
          </a:p>
          <a:p>
            <a:pPr indent="-298450" lvl="0" marL="463550" rtl="0" algn="l">
              <a:spcBef>
                <a:spcPts val="520"/>
              </a:spcBef>
              <a:spcAft>
                <a:spcPts val="0"/>
              </a:spcAft>
              <a:buClr>
                <a:schemeClr val="dk1"/>
              </a:buClr>
              <a:buSzPts val="2600"/>
              <a:buNone/>
            </a:pPr>
            <a:r>
              <a:t/>
            </a:r>
            <a:endParaRPr b="0" i="0" sz="2600" u="none">
              <a:solidFill>
                <a:schemeClr val="dk1"/>
              </a:solidFill>
              <a:latin typeface="Arial"/>
              <a:ea typeface="Arial"/>
              <a:cs typeface="Arial"/>
              <a:sym typeface="Arial"/>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8" name="Shape 2798"/>
        <p:cNvGrpSpPr/>
        <p:nvPr/>
      </p:nvGrpSpPr>
      <p:grpSpPr>
        <a:xfrm>
          <a:off x="0" y="0"/>
          <a:ext cx="0" cy="0"/>
          <a:chOff x="0" y="0"/>
          <a:chExt cx="0" cy="0"/>
        </a:xfrm>
      </p:grpSpPr>
      <p:sp>
        <p:nvSpPr>
          <p:cNvPr id="2799" name="Google Shape;2799;p162"/>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800" name="Google Shape;2800;p162"/>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801" name="Google Shape;2801;p162"/>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02" name="Google Shape;2802;p162"/>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803" name="Google Shape;2803;p162"/>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804" name="Google Shape;2804;p162"/>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805" name="Google Shape;2805;p162"/>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806" name="Google Shape;2806;p162"/>
          <p:cNvSpPr/>
          <p:nvPr/>
        </p:nvSpPr>
        <p:spPr>
          <a:xfrm>
            <a:off x="11080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grpSp>
        <p:nvGrpSpPr>
          <p:cNvPr id="2807" name="Google Shape;2807;p162"/>
          <p:cNvGrpSpPr/>
          <p:nvPr/>
        </p:nvGrpSpPr>
        <p:grpSpPr>
          <a:xfrm>
            <a:off x="1108075" y="2287587"/>
            <a:ext cx="8550275" cy="608012"/>
            <a:chOff x="644" y="1153"/>
            <a:chExt cx="4972" cy="383"/>
          </a:xfrm>
        </p:grpSpPr>
        <p:sp>
          <p:nvSpPr>
            <p:cNvPr id="2808" name="Google Shape;2808;p162"/>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809" name="Google Shape;2809;p162"/>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810" name="Google Shape;2810;p162"/>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811" name="Google Shape;2811;p162"/>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12" name="Google Shape;2812;p162"/>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813" name="Google Shape;2813;p162"/>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814" name="Google Shape;2814;p162"/>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815" name="Google Shape;2815;p162"/>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2816" name="Google Shape;2816;p16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817" name="Google Shape;2817;p162"/>
          <p:cNvSpPr txBox="1"/>
          <p:nvPr/>
        </p:nvSpPr>
        <p:spPr>
          <a:xfrm>
            <a:off x="1100137" y="1493837"/>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1;</a:t>
            </a:r>
            <a:endParaRPr/>
          </a:p>
        </p:txBody>
      </p:sp>
      <p:sp>
        <p:nvSpPr>
          <p:cNvPr id="2818" name="Google Shape;2818;p162"/>
          <p:cNvSpPr txBox="1"/>
          <p:nvPr/>
        </p:nvSpPr>
        <p:spPr>
          <a:xfrm>
            <a:off x="4538662" y="1493837"/>
            <a:ext cx="497046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Phaân </a:t>
            </a:r>
            <a:r>
              <a:rPr b="1" i="0" lang="en-US" sz="2800" u="none">
                <a:solidFill>
                  <a:srgbClr val="FF3300"/>
                </a:solidFill>
                <a:latin typeface="Helvetica Neue"/>
                <a:ea typeface="Helvetica Neue"/>
                <a:cs typeface="Helvetica Neue"/>
                <a:sym typeface="Helvetica Neue"/>
              </a:rPr>
              <a:t>phoái</a:t>
            </a:r>
            <a:r>
              <a:rPr b="1" i="0" lang="en-US" sz="2400" u="none">
                <a:solidFill>
                  <a:srgbClr val="FF3300"/>
                </a:solidFill>
                <a:latin typeface="Helvetica Neue"/>
                <a:ea typeface="Helvetica Neue"/>
                <a:cs typeface="Helvetica Neue"/>
                <a:sym typeface="Helvetica Neue"/>
              </a:rPr>
              <a:t> ñeàu luaân phieân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818"/>
                                        </p:tgtEl>
                                        <p:attrNameLst>
                                          <p:attrName>style.visibility</p:attrName>
                                        </p:attrNameLst>
                                      </p:cBhvr>
                                      <p:to>
                                        <p:strVal val="visible"/>
                                      </p:to>
                                    </p:set>
                                    <p:anim calcmode="lin" valueType="num">
                                      <p:cBhvr additive="base">
                                        <p:cTn dur="500"/>
                                        <p:tgtEl>
                                          <p:spTgt spid="281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17"/>
                                        </p:tgtEl>
                                        <p:attrNameLst>
                                          <p:attrName>style.visibility</p:attrName>
                                        </p:attrNameLst>
                                      </p:cBhvr>
                                      <p:to>
                                        <p:strVal val="visible"/>
                                      </p:to>
                                    </p:set>
                                    <p:anim calcmode="lin" valueType="num">
                                      <p:cBhvr additive="base">
                                        <p:cTn dur="500"/>
                                        <p:tgtEl>
                                          <p:spTgt spid="281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2" name="Shape 2822"/>
        <p:cNvGrpSpPr/>
        <p:nvPr/>
      </p:nvGrpSpPr>
      <p:grpSpPr>
        <a:xfrm>
          <a:off x="0" y="0"/>
          <a:ext cx="0" cy="0"/>
          <a:chOff x="0" y="0"/>
          <a:chExt cx="0" cy="0"/>
        </a:xfrm>
      </p:grpSpPr>
      <p:sp>
        <p:nvSpPr>
          <p:cNvPr id="2823" name="Google Shape;2823;p163"/>
          <p:cNvSpPr/>
          <p:nvPr/>
        </p:nvSpPr>
        <p:spPr>
          <a:xfrm>
            <a:off x="2214562"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824" name="Google Shape;2824;p163"/>
          <p:cNvSpPr/>
          <p:nvPr/>
        </p:nvSpPr>
        <p:spPr>
          <a:xfrm>
            <a:off x="3324225"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2825" name="Google Shape;2825;p163"/>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26" name="Google Shape;2826;p163"/>
          <p:cNvSpPr/>
          <p:nvPr/>
        </p:nvSpPr>
        <p:spPr>
          <a:xfrm>
            <a:off x="5541962"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a:t>
            </a:r>
            <a:endParaRPr/>
          </a:p>
        </p:txBody>
      </p:sp>
      <p:sp>
        <p:nvSpPr>
          <p:cNvPr id="2827" name="Google Shape;2827;p163"/>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828" name="Google Shape;2828;p163"/>
          <p:cNvSpPr/>
          <p:nvPr/>
        </p:nvSpPr>
        <p:spPr>
          <a:xfrm>
            <a:off x="7758112"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4</a:t>
            </a:r>
            <a:endParaRPr/>
          </a:p>
        </p:txBody>
      </p:sp>
      <p:sp>
        <p:nvSpPr>
          <p:cNvPr id="2829" name="Google Shape;2829;p163"/>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830" name="Google Shape;2830;p163"/>
          <p:cNvSpPr/>
          <p:nvPr/>
        </p:nvSpPr>
        <p:spPr>
          <a:xfrm>
            <a:off x="1108075"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grpSp>
        <p:nvGrpSpPr>
          <p:cNvPr id="2831" name="Google Shape;2831;p163"/>
          <p:cNvGrpSpPr/>
          <p:nvPr/>
        </p:nvGrpSpPr>
        <p:grpSpPr>
          <a:xfrm>
            <a:off x="1108075" y="2287587"/>
            <a:ext cx="8550275" cy="608012"/>
            <a:chOff x="644" y="1153"/>
            <a:chExt cx="4972" cy="383"/>
          </a:xfrm>
        </p:grpSpPr>
        <p:sp>
          <p:nvSpPr>
            <p:cNvPr id="2832" name="Google Shape;2832;p163"/>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833" name="Google Shape;2833;p163"/>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834" name="Google Shape;2834;p163"/>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835" name="Google Shape;2835;p163"/>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36" name="Google Shape;2836;p163"/>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837" name="Google Shape;2837;p163"/>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838" name="Google Shape;2838;p163"/>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839" name="Google Shape;2839;p163"/>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2840" name="Google Shape;2840;p16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841" name="Google Shape;2841;p163"/>
          <p:cNvSpPr txBox="1"/>
          <p:nvPr/>
        </p:nvSpPr>
        <p:spPr>
          <a:xfrm>
            <a:off x="1100137" y="1493837"/>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1;</a:t>
            </a:r>
            <a:endParaRPr/>
          </a:p>
        </p:txBody>
      </p:sp>
      <p:sp>
        <p:nvSpPr>
          <p:cNvPr id="2842" name="Google Shape;2842;p163"/>
          <p:cNvSpPr txBox="1"/>
          <p:nvPr/>
        </p:nvSpPr>
        <p:spPr>
          <a:xfrm>
            <a:off x="4538662" y="1493837"/>
            <a:ext cx="497046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Phaân </a:t>
            </a:r>
            <a:r>
              <a:rPr b="1" i="0" lang="en-US" sz="2800" u="none">
                <a:solidFill>
                  <a:srgbClr val="FF3300"/>
                </a:solidFill>
                <a:latin typeface="Helvetica Neue"/>
                <a:ea typeface="Helvetica Neue"/>
                <a:cs typeface="Helvetica Neue"/>
                <a:sym typeface="Helvetica Neue"/>
              </a:rPr>
              <a:t>phoái</a:t>
            </a:r>
            <a:r>
              <a:rPr b="1" i="0" lang="en-US" sz="2400" u="none">
                <a:solidFill>
                  <a:srgbClr val="FF3300"/>
                </a:solidFill>
                <a:latin typeface="Helvetica Neue"/>
                <a:ea typeface="Helvetica Neue"/>
                <a:cs typeface="Helvetica Neue"/>
                <a:sym typeface="Helvetica Neue"/>
              </a:rPr>
              <a:t> ñeàu luaân phieân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2830"/>
                                        </p:tgtEl>
                                        <p:attrNameLst>
                                          <p:attrName>r</p:attrName>
                                        </p:attrNameLst>
                                      </p:cBhvr>
                                    </p:animRot>
                                  </p:childTnLst>
                                </p:cTn>
                              </p:par>
                            </p:childTnLst>
                          </p:cTn>
                        </p:par>
                        <p:par>
                          <p:cTn fill="hold">
                            <p:stCondLst>
                              <p:cond delay="1000"/>
                            </p:stCondLst>
                            <p:childTnLst>
                              <p:par>
                                <p:cTn fill="hold" nodeType="afterEffect" presetClass="emph" presetID="8" presetSubtype="0">
                                  <p:stCondLst>
                                    <p:cond delay="0"/>
                                  </p:stCondLst>
                                  <p:childTnLst>
                                    <p:animRot by="-21600000">
                                      <p:cBhvr>
                                        <p:cTn dur="1000" fill="hold"/>
                                        <p:tgtEl>
                                          <p:spTgt spid="2823"/>
                                        </p:tgtEl>
                                        <p:attrNameLst>
                                          <p:attrName>r</p:attrName>
                                        </p:attrNameLst>
                                      </p:cBhvr>
                                    </p:animRot>
                                  </p:childTnLst>
                                </p:cTn>
                              </p:par>
                            </p:childTnLst>
                          </p:cTn>
                        </p:par>
                        <p:par>
                          <p:cTn fill="hold">
                            <p:stCondLst>
                              <p:cond delay="2000"/>
                            </p:stCondLst>
                            <p:childTnLst>
                              <p:par>
                                <p:cTn fill="hold" nodeType="afterEffect" presetClass="emph" presetID="8" presetSubtype="0">
                                  <p:stCondLst>
                                    <p:cond delay="0"/>
                                  </p:stCondLst>
                                  <p:childTnLst>
                                    <p:animRot by="-21600000">
                                      <p:cBhvr>
                                        <p:cTn dur="1000" fill="hold"/>
                                        <p:tgtEl>
                                          <p:spTgt spid="2824"/>
                                        </p:tgtEl>
                                        <p:attrNameLst>
                                          <p:attrName>r</p:attrName>
                                        </p:attrNameLst>
                                      </p:cBhvr>
                                    </p:animRot>
                                  </p:childTnLst>
                                </p:cTn>
                              </p:par>
                            </p:childTnLst>
                          </p:cTn>
                        </p:par>
                        <p:par>
                          <p:cTn fill="hold">
                            <p:stCondLst>
                              <p:cond delay="3000"/>
                            </p:stCondLst>
                            <p:childTnLst>
                              <p:par>
                                <p:cTn fill="hold" nodeType="afterEffect" presetClass="emph" presetID="8" presetSubtype="0">
                                  <p:stCondLst>
                                    <p:cond delay="0"/>
                                  </p:stCondLst>
                                  <p:childTnLst>
                                    <p:animRot by="-21600000">
                                      <p:cBhvr>
                                        <p:cTn dur="1000" fill="hold"/>
                                        <p:tgtEl>
                                          <p:spTgt spid="2825"/>
                                        </p:tgtEl>
                                        <p:attrNameLst>
                                          <p:attrName>r</p:attrName>
                                        </p:attrNameLst>
                                      </p:cBhvr>
                                    </p:animRot>
                                  </p:childTnLst>
                                </p:cTn>
                              </p:par>
                            </p:childTnLst>
                          </p:cTn>
                        </p:par>
                        <p:par>
                          <p:cTn fill="hold">
                            <p:stCondLst>
                              <p:cond delay="4000"/>
                            </p:stCondLst>
                            <p:childTnLst>
                              <p:par>
                                <p:cTn fill="hold" nodeType="afterEffect" presetClass="emph" presetID="8" presetSubtype="0">
                                  <p:stCondLst>
                                    <p:cond delay="0"/>
                                  </p:stCondLst>
                                  <p:childTnLst>
                                    <p:animRot by="-21600000">
                                      <p:cBhvr>
                                        <p:cTn dur="1000" fill="hold"/>
                                        <p:tgtEl>
                                          <p:spTgt spid="2826"/>
                                        </p:tgtEl>
                                        <p:attrNameLst>
                                          <p:attrName>r</p:attrName>
                                        </p:attrNameLst>
                                      </p:cBhvr>
                                    </p:animRot>
                                  </p:childTnLst>
                                </p:cTn>
                              </p:par>
                            </p:childTnLst>
                          </p:cTn>
                        </p:par>
                        <p:par>
                          <p:cTn fill="hold">
                            <p:stCondLst>
                              <p:cond delay="5000"/>
                            </p:stCondLst>
                            <p:childTnLst>
                              <p:par>
                                <p:cTn fill="hold" nodeType="afterEffect" presetClass="emph" presetID="8" presetSubtype="0">
                                  <p:stCondLst>
                                    <p:cond delay="0"/>
                                  </p:stCondLst>
                                  <p:childTnLst>
                                    <p:animRot by="-21600000">
                                      <p:cBhvr>
                                        <p:cTn dur="1000" fill="hold"/>
                                        <p:tgtEl>
                                          <p:spTgt spid="2827"/>
                                        </p:tgtEl>
                                        <p:attrNameLst>
                                          <p:attrName>r</p:attrName>
                                        </p:attrNameLst>
                                      </p:cBhvr>
                                    </p:animRot>
                                  </p:childTnLst>
                                </p:cTn>
                              </p:par>
                            </p:childTnLst>
                          </p:cTn>
                        </p:par>
                        <p:par>
                          <p:cTn fill="hold">
                            <p:stCondLst>
                              <p:cond delay="6000"/>
                            </p:stCondLst>
                            <p:childTnLst>
                              <p:par>
                                <p:cTn fill="hold" nodeType="afterEffect" presetClass="emph" presetID="8" presetSubtype="0">
                                  <p:stCondLst>
                                    <p:cond delay="0"/>
                                  </p:stCondLst>
                                  <p:childTnLst>
                                    <p:animRot by="-21600000">
                                      <p:cBhvr>
                                        <p:cTn dur="1000" fill="hold"/>
                                        <p:tgtEl>
                                          <p:spTgt spid="2828"/>
                                        </p:tgtEl>
                                        <p:attrNameLst>
                                          <p:attrName>r</p:attrName>
                                        </p:attrNameLst>
                                      </p:cBhvr>
                                    </p:animRot>
                                  </p:childTnLst>
                                </p:cTn>
                              </p:par>
                            </p:childTnLst>
                          </p:cTn>
                        </p:par>
                        <p:par>
                          <p:cTn fill="hold">
                            <p:stCondLst>
                              <p:cond delay="7000"/>
                            </p:stCondLst>
                            <p:childTnLst>
                              <p:par>
                                <p:cTn fill="hold" nodeType="afterEffect" presetClass="emph" presetID="8" presetSubtype="0">
                                  <p:stCondLst>
                                    <p:cond delay="0"/>
                                  </p:stCondLst>
                                  <p:childTnLst>
                                    <p:animRot by="-21600000">
                                      <p:cBhvr>
                                        <p:cTn dur="1000" fill="hold"/>
                                        <p:tgtEl>
                                          <p:spTgt spid="2829"/>
                                        </p:tgtEl>
                                        <p:attrNameLst>
                                          <p:attrName>r</p:attrName>
                                        </p:attrNameLst>
                                      </p:cBhvr>
                                    </p:animRot>
                                  </p:childTnLst>
                                </p:cTn>
                              </p:par>
                            </p:childTnLst>
                          </p:cTn>
                        </p:par>
                        <p:par>
                          <p:cTn fill="hold">
                            <p:stCondLst>
                              <p:cond delay="8000"/>
                            </p:stCondLst>
                            <p:childTnLst>
                              <p:par>
                                <p:cTn fill="hold" nodeType="afterEffect" presetClass="exit" presetID="2" presetSubtype="1">
                                  <p:stCondLst>
                                    <p:cond delay="0"/>
                                  </p:stCondLst>
                                  <p:childTnLst>
                                    <p:anim calcmode="lin" valueType="num">
                                      <p:cBhvr additive="base">
                                        <p:cTn dur="1000"/>
                                        <p:tgtEl>
                                          <p:spTgt spid="2842"/>
                                        </p:tgtEl>
                                        <p:attrNameLst>
                                          <p:attrName>ppt_y</p:attrName>
                                        </p:attrNameLst>
                                      </p:cBhvr>
                                      <p:tavLst>
                                        <p:tav fmla="" tm="0">
                                          <p:val>
                                            <p:strVal val="#ppt_y"/>
                                          </p:val>
                                        </p:tav>
                                        <p:tav fmla="" tm="100000">
                                          <p:val>
                                            <p:strVal val="#ppt_y-1"/>
                                          </p:val>
                                        </p:tav>
                                      </p:tavLst>
                                    </p:anim>
                                    <p:set>
                                      <p:cBhvr>
                                        <p:cTn dur="1" fill="hold">
                                          <p:stCondLst>
                                            <p:cond delay="1000"/>
                                          </p:stCondLst>
                                        </p:cTn>
                                        <p:tgtEl>
                                          <p:spTgt spid="284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6" name="Shape 2846"/>
        <p:cNvGrpSpPr/>
        <p:nvPr/>
      </p:nvGrpSpPr>
      <p:grpSpPr>
        <a:xfrm>
          <a:off x="0" y="0"/>
          <a:ext cx="0" cy="0"/>
          <a:chOff x="0" y="0"/>
          <a:chExt cx="0" cy="0"/>
        </a:xfrm>
      </p:grpSpPr>
      <p:sp>
        <p:nvSpPr>
          <p:cNvPr id="2847" name="Google Shape;2847;p164"/>
          <p:cNvSpPr/>
          <p:nvPr/>
        </p:nvSpPr>
        <p:spPr>
          <a:xfrm>
            <a:off x="1108075" y="509746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848" name="Google Shape;2848;p164"/>
          <p:cNvSpPr/>
          <p:nvPr/>
        </p:nvSpPr>
        <p:spPr>
          <a:xfrm>
            <a:off x="2201862" y="43195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2849" name="Google Shape;2849;p164"/>
          <p:cNvSpPr/>
          <p:nvPr/>
        </p:nvSpPr>
        <p:spPr>
          <a:xfrm>
            <a:off x="2203450" y="50958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50" name="Google Shape;2850;p164"/>
          <p:cNvSpPr/>
          <p:nvPr/>
        </p:nvSpPr>
        <p:spPr>
          <a:xfrm>
            <a:off x="3313112"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a:t>
            </a:r>
            <a:endParaRPr/>
          </a:p>
        </p:txBody>
      </p:sp>
      <p:sp>
        <p:nvSpPr>
          <p:cNvPr id="2851" name="Google Shape;2851;p164"/>
          <p:cNvSpPr/>
          <p:nvPr/>
        </p:nvSpPr>
        <p:spPr>
          <a:xfrm>
            <a:off x="3313112" y="50990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852" name="Google Shape;2852;p164"/>
          <p:cNvSpPr/>
          <p:nvPr/>
        </p:nvSpPr>
        <p:spPr>
          <a:xfrm>
            <a:off x="4422775" y="4318000"/>
            <a:ext cx="792162"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4</a:t>
            </a:r>
            <a:endParaRPr/>
          </a:p>
        </p:txBody>
      </p:sp>
      <p:sp>
        <p:nvSpPr>
          <p:cNvPr id="2853" name="Google Shape;2853;p164"/>
          <p:cNvSpPr/>
          <p:nvPr/>
        </p:nvSpPr>
        <p:spPr>
          <a:xfrm>
            <a:off x="4424362" y="509905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854" name="Google Shape;2854;p164"/>
          <p:cNvSpPr/>
          <p:nvPr/>
        </p:nvSpPr>
        <p:spPr>
          <a:xfrm>
            <a:off x="1108075"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grpSp>
        <p:nvGrpSpPr>
          <p:cNvPr id="2855" name="Google Shape;2855;p164"/>
          <p:cNvGrpSpPr/>
          <p:nvPr/>
        </p:nvGrpSpPr>
        <p:grpSpPr>
          <a:xfrm>
            <a:off x="1108075" y="2287587"/>
            <a:ext cx="8550275" cy="608012"/>
            <a:chOff x="644" y="1153"/>
            <a:chExt cx="4972" cy="383"/>
          </a:xfrm>
        </p:grpSpPr>
        <p:sp>
          <p:nvSpPr>
            <p:cNvPr id="2856" name="Google Shape;2856;p164"/>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857" name="Google Shape;2857;p164"/>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858" name="Google Shape;2858;p164"/>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859" name="Google Shape;2859;p164"/>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860" name="Google Shape;2860;p164"/>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61" name="Google Shape;2861;p164"/>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862" name="Google Shape;2862;p164"/>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863" name="Google Shape;2863;p164"/>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2864" name="Google Shape;2864;p16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865" name="Google Shape;2865;p164"/>
          <p:cNvSpPr txBox="1"/>
          <p:nvPr/>
        </p:nvSpPr>
        <p:spPr>
          <a:xfrm>
            <a:off x="1100137" y="1412875"/>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1;</a:t>
            </a:r>
            <a:endParaRPr/>
          </a:p>
        </p:txBody>
      </p:sp>
      <p:sp>
        <p:nvSpPr>
          <p:cNvPr id="2866" name="Google Shape;2866;p164"/>
          <p:cNvSpPr txBox="1"/>
          <p:nvPr/>
        </p:nvSpPr>
        <p:spPr>
          <a:xfrm>
            <a:off x="4538662" y="1412875"/>
            <a:ext cx="4970462" cy="457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Troän töøng caëp ñöôøng chaïy</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0" name="Shape 2870"/>
        <p:cNvGrpSpPr/>
        <p:nvPr/>
      </p:nvGrpSpPr>
      <p:grpSpPr>
        <a:xfrm>
          <a:off x="0" y="0"/>
          <a:ext cx="0" cy="0"/>
          <a:chOff x="0" y="0"/>
          <a:chExt cx="0" cy="0"/>
        </a:xfrm>
      </p:grpSpPr>
      <p:sp>
        <p:nvSpPr>
          <p:cNvPr id="2871" name="Google Shape;2871;p165"/>
          <p:cNvSpPr/>
          <p:nvPr/>
        </p:nvSpPr>
        <p:spPr>
          <a:xfrm>
            <a:off x="1108075" y="50974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sp>
        <p:nvSpPr>
          <p:cNvPr id="2872" name="Google Shape;2872;p165"/>
          <p:cNvSpPr/>
          <p:nvPr/>
        </p:nvSpPr>
        <p:spPr>
          <a:xfrm>
            <a:off x="2201862" y="43195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873" name="Google Shape;2873;p165"/>
          <p:cNvSpPr/>
          <p:nvPr/>
        </p:nvSpPr>
        <p:spPr>
          <a:xfrm>
            <a:off x="2203450" y="50958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74" name="Google Shape;2874;p165"/>
          <p:cNvSpPr/>
          <p:nvPr/>
        </p:nvSpPr>
        <p:spPr>
          <a:xfrm>
            <a:off x="3313112"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a:t>
            </a:r>
            <a:endParaRPr/>
          </a:p>
        </p:txBody>
      </p:sp>
      <p:sp>
        <p:nvSpPr>
          <p:cNvPr id="2875" name="Google Shape;2875;p165"/>
          <p:cNvSpPr/>
          <p:nvPr/>
        </p:nvSpPr>
        <p:spPr>
          <a:xfrm>
            <a:off x="3313112" y="5099050"/>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6</a:t>
            </a:r>
            <a:endParaRPr/>
          </a:p>
        </p:txBody>
      </p:sp>
      <p:sp>
        <p:nvSpPr>
          <p:cNvPr id="2876" name="Google Shape;2876;p165"/>
          <p:cNvSpPr/>
          <p:nvPr/>
        </p:nvSpPr>
        <p:spPr>
          <a:xfrm>
            <a:off x="4422775" y="431800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877" name="Google Shape;2877;p165"/>
          <p:cNvSpPr/>
          <p:nvPr/>
        </p:nvSpPr>
        <p:spPr>
          <a:xfrm>
            <a:off x="4424362" y="509905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878" name="Google Shape;2878;p165"/>
          <p:cNvSpPr/>
          <p:nvPr/>
        </p:nvSpPr>
        <p:spPr>
          <a:xfrm>
            <a:off x="1108075"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grpSp>
        <p:nvGrpSpPr>
          <p:cNvPr id="2879" name="Google Shape;2879;p165"/>
          <p:cNvGrpSpPr/>
          <p:nvPr/>
        </p:nvGrpSpPr>
        <p:grpSpPr>
          <a:xfrm>
            <a:off x="1108075" y="2287587"/>
            <a:ext cx="8550275" cy="608012"/>
            <a:chOff x="644" y="1153"/>
            <a:chExt cx="4972" cy="383"/>
          </a:xfrm>
        </p:grpSpPr>
        <p:sp>
          <p:nvSpPr>
            <p:cNvPr id="2880" name="Google Shape;2880;p165"/>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881" name="Google Shape;2881;p165"/>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882" name="Google Shape;2882;p165"/>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883" name="Google Shape;2883;p165"/>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884" name="Google Shape;2884;p165"/>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85" name="Google Shape;2885;p165"/>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886" name="Google Shape;2886;p165"/>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887" name="Google Shape;2887;p165"/>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2888" name="Google Shape;2888;p16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889" name="Google Shape;2889;p165"/>
          <p:cNvSpPr txBox="1"/>
          <p:nvPr/>
        </p:nvSpPr>
        <p:spPr>
          <a:xfrm>
            <a:off x="1100137" y="1493837"/>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1;</a:t>
            </a:r>
            <a:endParaRPr/>
          </a:p>
        </p:txBody>
      </p:sp>
      <p:sp>
        <p:nvSpPr>
          <p:cNvPr id="2890" name="Google Shape;2890;p165"/>
          <p:cNvSpPr txBox="1"/>
          <p:nvPr/>
        </p:nvSpPr>
        <p:spPr>
          <a:xfrm>
            <a:off x="4538662" y="1493837"/>
            <a:ext cx="4970462" cy="457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Troän töøng caëp ñöôøng chaïy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2890"/>
                                        </p:tgtEl>
                                        <p:attrNameLst>
                                          <p:attrName>style.visibility</p:attrName>
                                        </p:attrNameLst>
                                      </p:cBhvr>
                                      <p:to>
                                        <p:strVal val="visible"/>
                                      </p:to>
                                    </p:set>
                                    <p:anim calcmode="lin" valueType="num">
                                      <p:cBhvr additive="base">
                                        <p:cTn dur="1000"/>
                                        <p:tgtEl>
                                          <p:spTgt spid="2890"/>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xit" presetID="2" presetSubtype="1">
                                  <p:stCondLst>
                                    <p:cond delay="0"/>
                                  </p:stCondLst>
                                  <p:childTnLst>
                                    <p:anim calcmode="lin" valueType="num">
                                      <p:cBhvr additive="base">
                                        <p:cTn dur="1000"/>
                                        <p:tgtEl>
                                          <p:spTgt spid="2890"/>
                                        </p:tgtEl>
                                        <p:attrNameLst>
                                          <p:attrName>ppt_y</p:attrName>
                                        </p:attrNameLst>
                                      </p:cBhvr>
                                      <p:tavLst>
                                        <p:tav fmla="" tm="0">
                                          <p:val>
                                            <p:strVal val="#ppt_y"/>
                                          </p:val>
                                        </p:tav>
                                        <p:tav fmla="" tm="100000">
                                          <p:val>
                                            <p:strVal val="#ppt_y-1"/>
                                          </p:val>
                                        </p:tav>
                                      </p:tavLst>
                                    </p:anim>
                                    <p:set>
                                      <p:cBhvr>
                                        <p:cTn dur="1" fill="hold">
                                          <p:stCondLst>
                                            <p:cond delay="1000"/>
                                          </p:stCondLst>
                                        </p:cTn>
                                        <p:tgtEl>
                                          <p:spTgt spid="2890"/>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2" presetSubtype="8">
                                  <p:stCondLst>
                                    <p:cond delay="0"/>
                                  </p:stCondLst>
                                  <p:childTnLst>
                                    <p:anim calcmode="lin" valueType="num">
                                      <p:cBhvr additive="base">
                                        <p:cTn dur="1000"/>
                                        <p:tgtEl>
                                          <p:spTgt spid="2889"/>
                                        </p:tgtEl>
                                        <p:attrNameLst>
                                          <p:attrName>ppt_x</p:attrName>
                                        </p:attrNameLst>
                                      </p:cBhvr>
                                      <p:tavLst>
                                        <p:tav fmla="" tm="0">
                                          <p:val>
                                            <p:strVal val="#ppt_x"/>
                                          </p:val>
                                        </p:tav>
                                        <p:tav fmla="" tm="100000">
                                          <p:val>
                                            <p:strVal val="#ppt_x-1"/>
                                          </p:val>
                                        </p:tav>
                                      </p:tavLst>
                                    </p:anim>
                                    <p:set>
                                      <p:cBhvr>
                                        <p:cTn dur="1" fill="hold">
                                          <p:stCondLst>
                                            <p:cond delay="1000"/>
                                          </p:stCondLst>
                                        </p:cTn>
                                        <p:tgtEl>
                                          <p:spTgt spid="288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4" name="Shape 2894"/>
        <p:cNvGrpSpPr/>
        <p:nvPr/>
      </p:nvGrpSpPr>
      <p:grpSpPr>
        <a:xfrm>
          <a:off x="0" y="0"/>
          <a:ext cx="0" cy="0"/>
          <a:chOff x="0" y="0"/>
          <a:chExt cx="0" cy="0"/>
        </a:xfrm>
      </p:grpSpPr>
      <p:sp>
        <p:nvSpPr>
          <p:cNvPr id="2895" name="Google Shape;2895;p166"/>
          <p:cNvSpPr/>
          <p:nvPr/>
        </p:nvSpPr>
        <p:spPr>
          <a:xfrm>
            <a:off x="2214562" y="2871787"/>
            <a:ext cx="792162"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sp>
        <p:nvSpPr>
          <p:cNvPr id="2896" name="Google Shape;2896;p166"/>
          <p:cNvSpPr/>
          <p:nvPr/>
        </p:nvSpPr>
        <p:spPr>
          <a:xfrm>
            <a:off x="332422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897" name="Google Shape;2897;p166"/>
          <p:cNvSpPr/>
          <p:nvPr/>
        </p:nvSpPr>
        <p:spPr>
          <a:xfrm>
            <a:off x="4432300"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898" name="Google Shape;2898;p166"/>
          <p:cNvSpPr/>
          <p:nvPr/>
        </p:nvSpPr>
        <p:spPr>
          <a:xfrm>
            <a:off x="5541962"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a:t>
            </a:r>
            <a:endParaRPr/>
          </a:p>
        </p:txBody>
      </p:sp>
      <p:sp>
        <p:nvSpPr>
          <p:cNvPr id="2899" name="Google Shape;2899;p166"/>
          <p:cNvSpPr/>
          <p:nvPr/>
        </p:nvSpPr>
        <p:spPr>
          <a:xfrm>
            <a:off x="6648450" y="2871787"/>
            <a:ext cx="792162"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6</a:t>
            </a:r>
            <a:endParaRPr/>
          </a:p>
        </p:txBody>
      </p:sp>
      <p:sp>
        <p:nvSpPr>
          <p:cNvPr id="2900" name="Google Shape;2900;p166"/>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01" name="Google Shape;2901;p166"/>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902" name="Google Shape;2902;p166"/>
          <p:cNvSpPr/>
          <p:nvPr/>
        </p:nvSpPr>
        <p:spPr>
          <a:xfrm>
            <a:off x="1108075"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grpSp>
        <p:nvGrpSpPr>
          <p:cNvPr id="2903" name="Google Shape;2903;p166"/>
          <p:cNvGrpSpPr/>
          <p:nvPr/>
        </p:nvGrpSpPr>
        <p:grpSpPr>
          <a:xfrm>
            <a:off x="1108075" y="3397250"/>
            <a:ext cx="8550275" cy="608012"/>
            <a:chOff x="644" y="1153"/>
            <a:chExt cx="4972" cy="383"/>
          </a:xfrm>
        </p:grpSpPr>
        <p:sp>
          <p:nvSpPr>
            <p:cNvPr id="2904" name="Google Shape;2904;p166"/>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905" name="Google Shape;2905;p166"/>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906" name="Google Shape;2906;p166"/>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907" name="Google Shape;2907;p166"/>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08" name="Google Shape;2908;p166"/>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909" name="Google Shape;2909;p166"/>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910" name="Google Shape;2910;p166"/>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911" name="Google Shape;2911;p166"/>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2912" name="Google Shape;2912;p16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913" name="Google Shape;2913;p166"/>
          <p:cNvSpPr txBox="1"/>
          <p:nvPr/>
        </p:nvSpPr>
        <p:spPr>
          <a:xfrm>
            <a:off x="1100137" y="1493837"/>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2;</a:t>
            </a:r>
            <a:endParaRPr/>
          </a:p>
        </p:txBody>
      </p:sp>
      <p:sp>
        <p:nvSpPr>
          <p:cNvPr id="2914" name="Google Shape;2914;p166"/>
          <p:cNvSpPr txBox="1"/>
          <p:nvPr/>
        </p:nvSpPr>
        <p:spPr>
          <a:xfrm>
            <a:off x="4538662" y="1493837"/>
            <a:ext cx="497046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Phaân </a:t>
            </a:r>
            <a:r>
              <a:rPr b="1" i="0" lang="en-US" sz="2800" u="none">
                <a:solidFill>
                  <a:srgbClr val="FF3300"/>
                </a:solidFill>
                <a:latin typeface="Helvetica Neue"/>
                <a:ea typeface="Helvetica Neue"/>
                <a:cs typeface="Helvetica Neue"/>
                <a:sym typeface="Helvetica Neue"/>
              </a:rPr>
              <a:t>phoái</a:t>
            </a:r>
            <a:r>
              <a:rPr b="1" i="0" lang="en-US" sz="2400" u="none">
                <a:solidFill>
                  <a:srgbClr val="FF3300"/>
                </a:solidFill>
                <a:latin typeface="Helvetica Neue"/>
                <a:ea typeface="Helvetica Neue"/>
                <a:cs typeface="Helvetica Neue"/>
                <a:sym typeface="Helvetica Neue"/>
              </a:rPr>
              <a:t> ñeàu luaân phieân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914"/>
                                        </p:tgtEl>
                                        <p:attrNameLst>
                                          <p:attrName>style.visibility</p:attrName>
                                        </p:attrNameLst>
                                      </p:cBhvr>
                                      <p:to>
                                        <p:strVal val="visible"/>
                                      </p:to>
                                    </p:set>
                                    <p:anim calcmode="lin" valueType="num">
                                      <p:cBhvr additive="base">
                                        <p:cTn dur="1000"/>
                                        <p:tgtEl>
                                          <p:spTgt spid="2914"/>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2913"/>
                                        </p:tgtEl>
                                        <p:attrNameLst>
                                          <p:attrName>style.visibility</p:attrName>
                                        </p:attrNameLst>
                                      </p:cBhvr>
                                      <p:to>
                                        <p:strVal val="visible"/>
                                      </p:to>
                                    </p:set>
                                    <p:anim calcmode="lin" valueType="num">
                                      <p:cBhvr additive="base">
                                        <p:cTn dur="1000"/>
                                        <p:tgtEl>
                                          <p:spTgt spid="2913"/>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mph" presetID="8" presetSubtype="0">
                                  <p:stCondLst>
                                    <p:cond delay="0"/>
                                  </p:stCondLst>
                                  <p:childTnLst>
                                    <p:animRot by="-21600000">
                                      <p:cBhvr>
                                        <p:cTn dur="1000" fill="hold"/>
                                        <p:tgtEl>
                                          <p:spTgt spid="2902"/>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2895"/>
                                        </p:tgtEl>
                                        <p:attrNameLst>
                                          <p:attrName>r</p:attrName>
                                        </p:attrNameLst>
                                      </p:cBhvr>
                                    </p:animRot>
                                  </p:childTnLst>
                                </p:cTn>
                              </p:par>
                            </p:childTnLst>
                          </p:cTn>
                        </p:par>
                        <p:par>
                          <p:cTn fill="hold">
                            <p:stCondLst>
                              <p:cond delay="3000"/>
                            </p:stCondLst>
                            <p:childTnLst>
                              <p:par>
                                <p:cTn fill="hold" nodeType="afterEffect" presetClass="emph" presetID="8" presetSubtype="0">
                                  <p:stCondLst>
                                    <p:cond delay="0"/>
                                  </p:stCondLst>
                                  <p:childTnLst>
                                    <p:animRot by="-21600000">
                                      <p:cBhvr>
                                        <p:cTn dur="1000" fill="hold"/>
                                        <p:tgtEl>
                                          <p:spTgt spid="2896"/>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2897"/>
                                        </p:tgtEl>
                                        <p:attrNameLst>
                                          <p:attrName>r</p:attrName>
                                        </p:attrNameLst>
                                      </p:cBhvr>
                                    </p:animRot>
                                  </p:childTnLst>
                                </p:cTn>
                              </p:par>
                            </p:childTnLst>
                          </p:cTn>
                        </p:par>
                        <p:par>
                          <p:cTn fill="hold">
                            <p:stCondLst>
                              <p:cond delay="4000"/>
                            </p:stCondLst>
                            <p:childTnLst>
                              <p:par>
                                <p:cTn fill="hold" nodeType="afterEffect" presetClass="emph" presetID="8" presetSubtype="0">
                                  <p:stCondLst>
                                    <p:cond delay="0"/>
                                  </p:stCondLst>
                                  <p:childTnLst>
                                    <p:animRot by="-21600000">
                                      <p:cBhvr>
                                        <p:cTn dur="1000" fill="hold"/>
                                        <p:tgtEl>
                                          <p:spTgt spid="2898"/>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2899"/>
                                        </p:tgtEl>
                                        <p:attrNameLst>
                                          <p:attrName>r</p:attrName>
                                        </p:attrNameLst>
                                      </p:cBhvr>
                                    </p:animRot>
                                  </p:childTnLst>
                                </p:cTn>
                              </p:par>
                            </p:childTnLst>
                          </p:cTn>
                        </p:par>
                        <p:par>
                          <p:cTn fill="hold">
                            <p:stCondLst>
                              <p:cond delay="5000"/>
                            </p:stCondLst>
                            <p:childTnLst>
                              <p:par>
                                <p:cTn fill="hold" nodeType="afterEffect" presetClass="emph" presetID="8" presetSubtype="0">
                                  <p:stCondLst>
                                    <p:cond delay="0"/>
                                  </p:stCondLst>
                                  <p:childTnLst>
                                    <p:animRot by="-21600000">
                                      <p:cBhvr>
                                        <p:cTn dur="1000" fill="hold"/>
                                        <p:tgtEl>
                                          <p:spTgt spid="2900"/>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2901"/>
                                        </p:tgtEl>
                                        <p:attrNameLst>
                                          <p:attrName>r</p:attrName>
                                        </p:attrNameLst>
                                      </p:cBhvr>
                                    </p:animRot>
                                  </p:childTnLst>
                                </p:cTn>
                              </p:par>
                            </p:childTnLst>
                          </p:cTn>
                        </p:par>
                        <p:par>
                          <p:cTn fill="hold">
                            <p:stCondLst>
                              <p:cond delay="6000"/>
                            </p:stCondLst>
                            <p:childTnLst>
                              <p:par>
                                <p:cTn fill="hold" nodeType="afterEffect" presetClass="exit" presetID="2" presetSubtype="1">
                                  <p:stCondLst>
                                    <p:cond delay="0"/>
                                  </p:stCondLst>
                                  <p:childTnLst>
                                    <p:anim calcmode="lin" valueType="num">
                                      <p:cBhvr additive="base">
                                        <p:cTn dur="1000"/>
                                        <p:tgtEl>
                                          <p:spTgt spid="2914"/>
                                        </p:tgtEl>
                                        <p:attrNameLst>
                                          <p:attrName>ppt_y</p:attrName>
                                        </p:attrNameLst>
                                      </p:cBhvr>
                                      <p:tavLst>
                                        <p:tav fmla="" tm="0">
                                          <p:val>
                                            <p:strVal val="#ppt_y"/>
                                          </p:val>
                                        </p:tav>
                                        <p:tav fmla="" tm="100000">
                                          <p:val>
                                            <p:strVal val="#ppt_y-1"/>
                                          </p:val>
                                        </p:tav>
                                      </p:tavLst>
                                    </p:anim>
                                    <p:set>
                                      <p:cBhvr>
                                        <p:cTn dur="1" fill="hold">
                                          <p:stCondLst>
                                            <p:cond delay="1000"/>
                                          </p:stCondLst>
                                        </p:cTn>
                                        <p:tgtEl>
                                          <p:spTgt spid="29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8" name="Shape 2918"/>
        <p:cNvGrpSpPr/>
        <p:nvPr/>
      </p:nvGrpSpPr>
      <p:grpSpPr>
        <a:xfrm>
          <a:off x="0" y="0"/>
          <a:ext cx="0" cy="0"/>
          <a:chOff x="0" y="0"/>
          <a:chExt cx="0" cy="0"/>
        </a:xfrm>
      </p:grpSpPr>
      <p:sp>
        <p:nvSpPr>
          <p:cNvPr id="2919" name="Google Shape;2919;p167"/>
          <p:cNvSpPr/>
          <p:nvPr/>
        </p:nvSpPr>
        <p:spPr>
          <a:xfrm>
            <a:off x="1108075" y="509746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920" name="Google Shape;2920;p167"/>
          <p:cNvSpPr/>
          <p:nvPr/>
        </p:nvSpPr>
        <p:spPr>
          <a:xfrm>
            <a:off x="2201862" y="43195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sp>
        <p:nvSpPr>
          <p:cNvPr id="2921" name="Google Shape;2921;p167"/>
          <p:cNvSpPr/>
          <p:nvPr/>
        </p:nvSpPr>
        <p:spPr>
          <a:xfrm>
            <a:off x="2203450" y="50958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2922" name="Google Shape;2922;p167"/>
          <p:cNvSpPr/>
          <p:nvPr/>
        </p:nvSpPr>
        <p:spPr>
          <a:xfrm>
            <a:off x="3313112"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a:t>
            </a:r>
            <a:endParaRPr/>
          </a:p>
        </p:txBody>
      </p:sp>
      <p:sp>
        <p:nvSpPr>
          <p:cNvPr id="2923" name="Google Shape;2923;p167"/>
          <p:cNvSpPr/>
          <p:nvPr/>
        </p:nvSpPr>
        <p:spPr>
          <a:xfrm>
            <a:off x="3313112" y="50990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24" name="Google Shape;2924;p167"/>
          <p:cNvSpPr/>
          <p:nvPr/>
        </p:nvSpPr>
        <p:spPr>
          <a:xfrm>
            <a:off x="4422775" y="4318000"/>
            <a:ext cx="792162"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6</a:t>
            </a:r>
            <a:endParaRPr/>
          </a:p>
        </p:txBody>
      </p:sp>
      <p:sp>
        <p:nvSpPr>
          <p:cNvPr id="2925" name="Google Shape;2925;p167"/>
          <p:cNvSpPr/>
          <p:nvPr/>
        </p:nvSpPr>
        <p:spPr>
          <a:xfrm>
            <a:off x="4424362" y="509905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926" name="Google Shape;2926;p167"/>
          <p:cNvSpPr/>
          <p:nvPr/>
        </p:nvSpPr>
        <p:spPr>
          <a:xfrm>
            <a:off x="1108075"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grpSp>
        <p:nvGrpSpPr>
          <p:cNvPr id="2927" name="Google Shape;2927;p167"/>
          <p:cNvGrpSpPr/>
          <p:nvPr/>
        </p:nvGrpSpPr>
        <p:grpSpPr>
          <a:xfrm>
            <a:off x="1108075" y="2287587"/>
            <a:ext cx="8550275" cy="608012"/>
            <a:chOff x="644" y="1153"/>
            <a:chExt cx="4972" cy="383"/>
          </a:xfrm>
        </p:grpSpPr>
        <p:sp>
          <p:nvSpPr>
            <p:cNvPr id="2928" name="Google Shape;2928;p167"/>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929" name="Google Shape;2929;p167"/>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930" name="Google Shape;2930;p167"/>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931" name="Google Shape;2931;p167"/>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32" name="Google Shape;2932;p167"/>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933" name="Google Shape;2933;p167"/>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934" name="Google Shape;2934;p167"/>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935" name="Google Shape;2935;p167"/>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2936" name="Google Shape;2936;p16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937" name="Google Shape;2937;p167"/>
          <p:cNvSpPr txBox="1"/>
          <p:nvPr/>
        </p:nvSpPr>
        <p:spPr>
          <a:xfrm>
            <a:off x="1100137" y="1493837"/>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2;</a:t>
            </a:r>
            <a:endParaRPr/>
          </a:p>
        </p:txBody>
      </p:sp>
      <p:sp>
        <p:nvSpPr>
          <p:cNvPr id="2938" name="Google Shape;2938;p167"/>
          <p:cNvSpPr txBox="1"/>
          <p:nvPr/>
        </p:nvSpPr>
        <p:spPr>
          <a:xfrm>
            <a:off x="4538662" y="1493837"/>
            <a:ext cx="4970462" cy="457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Troän töøng caëp ñöôøng chaïy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938"/>
                                        </p:tgtEl>
                                        <p:attrNameLst>
                                          <p:attrName>style.visibility</p:attrName>
                                        </p:attrNameLst>
                                      </p:cBhvr>
                                      <p:to>
                                        <p:strVal val="visible"/>
                                      </p:to>
                                    </p:set>
                                    <p:anim calcmode="lin" valueType="num">
                                      <p:cBhvr additive="base">
                                        <p:cTn dur="500"/>
                                        <p:tgtEl>
                                          <p:spTgt spid="29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2" name="Shape 2942"/>
        <p:cNvGrpSpPr/>
        <p:nvPr/>
      </p:nvGrpSpPr>
      <p:grpSpPr>
        <a:xfrm>
          <a:off x="0" y="0"/>
          <a:ext cx="0" cy="0"/>
          <a:chOff x="0" y="0"/>
          <a:chExt cx="0" cy="0"/>
        </a:xfrm>
      </p:grpSpPr>
      <p:sp>
        <p:nvSpPr>
          <p:cNvPr id="2943" name="Google Shape;2943;p168"/>
          <p:cNvSpPr/>
          <p:nvPr/>
        </p:nvSpPr>
        <p:spPr>
          <a:xfrm>
            <a:off x="1108075" y="50974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5</a:t>
            </a:r>
            <a:endParaRPr/>
          </a:p>
        </p:txBody>
      </p:sp>
      <p:sp>
        <p:nvSpPr>
          <p:cNvPr id="2944" name="Google Shape;2944;p168"/>
          <p:cNvSpPr/>
          <p:nvPr/>
        </p:nvSpPr>
        <p:spPr>
          <a:xfrm>
            <a:off x="2201862" y="43195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sp>
        <p:nvSpPr>
          <p:cNvPr id="2945" name="Google Shape;2945;p168"/>
          <p:cNvSpPr/>
          <p:nvPr/>
        </p:nvSpPr>
        <p:spPr>
          <a:xfrm>
            <a:off x="2203450" y="5095875"/>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2946" name="Google Shape;2946;p168"/>
          <p:cNvSpPr/>
          <p:nvPr/>
        </p:nvSpPr>
        <p:spPr>
          <a:xfrm>
            <a:off x="3313112" y="432276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947" name="Google Shape;2947;p168"/>
          <p:cNvSpPr/>
          <p:nvPr/>
        </p:nvSpPr>
        <p:spPr>
          <a:xfrm>
            <a:off x="3313112" y="50990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48" name="Google Shape;2948;p168"/>
          <p:cNvSpPr/>
          <p:nvPr/>
        </p:nvSpPr>
        <p:spPr>
          <a:xfrm>
            <a:off x="4422775" y="431800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949" name="Google Shape;2949;p168"/>
          <p:cNvSpPr/>
          <p:nvPr/>
        </p:nvSpPr>
        <p:spPr>
          <a:xfrm>
            <a:off x="4424362" y="509905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950" name="Google Shape;2950;p168"/>
          <p:cNvSpPr/>
          <p:nvPr/>
        </p:nvSpPr>
        <p:spPr>
          <a:xfrm>
            <a:off x="1108075"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grpSp>
        <p:nvGrpSpPr>
          <p:cNvPr id="2951" name="Google Shape;2951;p168"/>
          <p:cNvGrpSpPr/>
          <p:nvPr/>
        </p:nvGrpSpPr>
        <p:grpSpPr>
          <a:xfrm>
            <a:off x="1108075" y="2287587"/>
            <a:ext cx="8550275" cy="608012"/>
            <a:chOff x="644" y="1153"/>
            <a:chExt cx="4972" cy="383"/>
          </a:xfrm>
        </p:grpSpPr>
        <p:sp>
          <p:nvSpPr>
            <p:cNvPr id="2952" name="Google Shape;2952;p168"/>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953" name="Google Shape;2953;p168"/>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954" name="Google Shape;2954;p168"/>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955" name="Google Shape;2955;p168"/>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56" name="Google Shape;2956;p168"/>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957" name="Google Shape;2957;p168"/>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958" name="Google Shape;2958;p168"/>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959" name="Google Shape;2959;p168"/>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2960" name="Google Shape;2960;p16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961" name="Google Shape;2961;p168"/>
          <p:cNvSpPr txBox="1"/>
          <p:nvPr/>
        </p:nvSpPr>
        <p:spPr>
          <a:xfrm>
            <a:off x="1100137" y="1493837"/>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2;</a:t>
            </a:r>
            <a:endParaRPr/>
          </a:p>
        </p:txBody>
      </p:sp>
      <p:sp>
        <p:nvSpPr>
          <p:cNvPr id="2962" name="Google Shape;2962;p168"/>
          <p:cNvSpPr txBox="1"/>
          <p:nvPr/>
        </p:nvSpPr>
        <p:spPr>
          <a:xfrm>
            <a:off x="4538662" y="1493837"/>
            <a:ext cx="4970462" cy="457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Troän töøng caëp ñöôøng chaïy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500"/>
                                        <p:tgtEl>
                                          <p:spTgt spid="2961"/>
                                        </p:tgtEl>
                                        <p:attrNameLst>
                                          <p:attrName>ppt_x</p:attrName>
                                        </p:attrNameLst>
                                      </p:cBhvr>
                                      <p:tavLst>
                                        <p:tav fmla="" tm="0">
                                          <p:val>
                                            <p:strVal val="#ppt_x"/>
                                          </p:val>
                                        </p:tav>
                                        <p:tav fmla="" tm="100000">
                                          <p:val>
                                            <p:strVal val="#ppt_x-1"/>
                                          </p:val>
                                        </p:tav>
                                      </p:tavLst>
                                    </p:anim>
                                    <p:set>
                                      <p:cBhvr>
                                        <p:cTn dur="1" fill="hold">
                                          <p:stCondLst>
                                            <p:cond delay="500"/>
                                          </p:stCondLst>
                                        </p:cTn>
                                        <p:tgtEl>
                                          <p:spTgt spid="2961"/>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2" presetSubtype="1">
                                  <p:stCondLst>
                                    <p:cond delay="0"/>
                                  </p:stCondLst>
                                  <p:childTnLst>
                                    <p:anim calcmode="lin" valueType="num">
                                      <p:cBhvr additive="base">
                                        <p:cTn dur="500"/>
                                        <p:tgtEl>
                                          <p:spTgt spid="2962"/>
                                        </p:tgtEl>
                                        <p:attrNameLst>
                                          <p:attrName>ppt_y</p:attrName>
                                        </p:attrNameLst>
                                      </p:cBhvr>
                                      <p:tavLst>
                                        <p:tav fmla="" tm="0">
                                          <p:val>
                                            <p:strVal val="#ppt_y"/>
                                          </p:val>
                                        </p:tav>
                                        <p:tav fmla="" tm="100000">
                                          <p:val>
                                            <p:strVal val="#ppt_y-1"/>
                                          </p:val>
                                        </p:tav>
                                      </p:tavLst>
                                    </p:anim>
                                    <p:set>
                                      <p:cBhvr>
                                        <p:cTn dur="1" fill="hold">
                                          <p:stCondLst>
                                            <p:cond delay="500"/>
                                          </p:stCondLst>
                                        </p:cTn>
                                        <p:tgtEl>
                                          <p:spTgt spid="296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6" name="Shape 2966"/>
        <p:cNvGrpSpPr/>
        <p:nvPr/>
      </p:nvGrpSpPr>
      <p:grpSpPr>
        <a:xfrm>
          <a:off x="0" y="0"/>
          <a:ext cx="0" cy="0"/>
          <a:chOff x="0" y="0"/>
          <a:chExt cx="0" cy="0"/>
        </a:xfrm>
      </p:grpSpPr>
      <p:sp>
        <p:nvSpPr>
          <p:cNvPr id="2967" name="Google Shape;2967;p169"/>
          <p:cNvSpPr/>
          <p:nvPr/>
        </p:nvSpPr>
        <p:spPr>
          <a:xfrm>
            <a:off x="2214562" y="2871787"/>
            <a:ext cx="792162"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5</a:t>
            </a:r>
            <a:endParaRPr/>
          </a:p>
        </p:txBody>
      </p:sp>
      <p:sp>
        <p:nvSpPr>
          <p:cNvPr id="2968" name="Google Shape;2968;p169"/>
          <p:cNvSpPr/>
          <p:nvPr/>
        </p:nvSpPr>
        <p:spPr>
          <a:xfrm>
            <a:off x="3324225"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2969" name="Google Shape;2969;p169"/>
          <p:cNvSpPr/>
          <p:nvPr/>
        </p:nvSpPr>
        <p:spPr>
          <a:xfrm>
            <a:off x="4432300"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sp>
        <p:nvSpPr>
          <p:cNvPr id="2970" name="Google Shape;2970;p169"/>
          <p:cNvSpPr/>
          <p:nvPr/>
        </p:nvSpPr>
        <p:spPr>
          <a:xfrm>
            <a:off x="554196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971" name="Google Shape;2971;p169"/>
          <p:cNvSpPr/>
          <p:nvPr/>
        </p:nvSpPr>
        <p:spPr>
          <a:xfrm>
            <a:off x="6648450" y="2871787"/>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72" name="Google Shape;2972;p169"/>
          <p:cNvSpPr/>
          <p:nvPr/>
        </p:nvSpPr>
        <p:spPr>
          <a:xfrm>
            <a:off x="7758112"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973" name="Google Shape;2973;p169"/>
          <p:cNvSpPr/>
          <p:nvPr/>
        </p:nvSpPr>
        <p:spPr>
          <a:xfrm>
            <a:off x="8867775" y="2871787"/>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974" name="Google Shape;2974;p169"/>
          <p:cNvSpPr/>
          <p:nvPr/>
        </p:nvSpPr>
        <p:spPr>
          <a:xfrm>
            <a:off x="1108075" y="28717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grpSp>
        <p:nvGrpSpPr>
          <p:cNvPr id="2975" name="Google Shape;2975;p169"/>
          <p:cNvGrpSpPr/>
          <p:nvPr/>
        </p:nvGrpSpPr>
        <p:grpSpPr>
          <a:xfrm>
            <a:off x="1108075" y="3397250"/>
            <a:ext cx="8550275" cy="608012"/>
            <a:chOff x="644" y="1153"/>
            <a:chExt cx="4972" cy="383"/>
          </a:xfrm>
        </p:grpSpPr>
        <p:sp>
          <p:nvSpPr>
            <p:cNvPr id="2976" name="Google Shape;2976;p169"/>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977" name="Google Shape;2977;p169"/>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2978" name="Google Shape;2978;p169"/>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2979" name="Google Shape;2979;p169"/>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80" name="Google Shape;2980;p169"/>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2981" name="Google Shape;2981;p169"/>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982" name="Google Shape;2982;p169"/>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2983" name="Google Shape;2983;p169"/>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2984" name="Google Shape;2984;p16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2985" name="Google Shape;2985;p169"/>
          <p:cNvSpPr txBox="1"/>
          <p:nvPr/>
        </p:nvSpPr>
        <p:spPr>
          <a:xfrm>
            <a:off x="1100137" y="1484312"/>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4;</a:t>
            </a:r>
            <a:endParaRPr/>
          </a:p>
        </p:txBody>
      </p:sp>
      <p:sp>
        <p:nvSpPr>
          <p:cNvPr id="2986" name="Google Shape;2986;p169"/>
          <p:cNvSpPr txBox="1"/>
          <p:nvPr/>
        </p:nvSpPr>
        <p:spPr>
          <a:xfrm>
            <a:off x="4538662" y="1484312"/>
            <a:ext cx="497046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Phaân </a:t>
            </a:r>
            <a:r>
              <a:rPr b="1" i="0" lang="en-US" sz="2800" u="none">
                <a:solidFill>
                  <a:srgbClr val="FF3300"/>
                </a:solidFill>
                <a:latin typeface="Helvetica Neue"/>
                <a:ea typeface="Helvetica Neue"/>
                <a:cs typeface="Helvetica Neue"/>
                <a:sym typeface="Helvetica Neue"/>
              </a:rPr>
              <a:t>phoái</a:t>
            </a:r>
            <a:r>
              <a:rPr b="1" i="0" lang="en-US" sz="2400" u="none">
                <a:solidFill>
                  <a:srgbClr val="FF3300"/>
                </a:solidFill>
                <a:latin typeface="Helvetica Neue"/>
                <a:ea typeface="Helvetica Neue"/>
                <a:cs typeface="Helvetica Neue"/>
                <a:sym typeface="Helvetica Neue"/>
              </a:rPr>
              <a:t> ñeàu luaân phieân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986"/>
                                        </p:tgtEl>
                                        <p:attrNameLst>
                                          <p:attrName>style.visibility</p:attrName>
                                        </p:attrNameLst>
                                      </p:cBhvr>
                                      <p:to>
                                        <p:strVal val="visible"/>
                                      </p:to>
                                    </p:set>
                                    <p:anim calcmode="lin" valueType="num">
                                      <p:cBhvr additive="base">
                                        <p:cTn dur="500"/>
                                        <p:tgtEl>
                                          <p:spTgt spid="2986"/>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2985"/>
                                        </p:tgtEl>
                                        <p:attrNameLst>
                                          <p:attrName>style.visibility</p:attrName>
                                        </p:attrNameLst>
                                      </p:cBhvr>
                                      <p:to>
                                        <p:strVal val="visible"/>
                                      </p:to>
                                    </p:set>
                                    <p:anim calcmode="lin" valueType="num">
                                      <p:cBhvr additive="base">
                                        <p:cTn dur="500"/>
                                        <p:tgtEl>
                                          <p:spTgt spid="29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297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6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6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69"/>
                                        </p:tgtEl>
                                        <p:attrNameLst>
                                          <p:attrName>r</p:attrName>
                                        </p:attrNameLst>
                                      </p:cBhvr>
                                    </p:animRot>
                                  </p:childTnLst>
                                </p:cTn>
                              </p:par>
                            </p:childTnLst>
                          </p:cTn>
                        </p:par>
                        <p:par>
                          <p:cTn fill="hold">
                            <p:stCondLst>
                              <p:cond delay="2000"/>
                            </p:stCondLst>
                            <p:childTnLst>
                              <p:par>
                                <p:cTn fill="hold" nodeType="afterEffect" presetClass="emph" presetID="8" presetSubtype="0">
                                  <p:stCondLst>
                                    <p:cond delay="0"/>
                                  </p:stCondLst>
                                  <p:childTnLst>
                                    <p:animRot by="-21600000">
                                      <p:cBhvr>
                                        <p:cTn dur="2000" fill="hold"/>
                                        <p:tgtEl>
                                          <p:spTgt spid="297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7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7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973"/>
                                        </p:tgtEl>
                                        <p:attrNameLst>
                                          <p:attrName>r</p:attrName>
                                        </p:attrNameLst>
                                      </p:cBhvr>
                                    </p:animRot>
                                  </p:childTnLst>
                                </p:cTn>
                              </p:par>
                            </p:childTnLst>
                          </p:cTn>
                        </p:par>
                        <p:par>
                          <p:cTn fill="hold">
                            <p:stCondLst>
                              <p:cond delay="4000"/>
                            </p:stCondLst>
                            <p:childTnLst>
                              <p:par>
                                <p:cTn fill="hold" nodeType="afterEffect" presetClass="exit" presetID="2" presetSubtype="4">
                                  <p:stCondLst>
                                    <p:cond delay="0"/>
                                  </p:stCondLst>
                                  <p:childTnLst>
                                    <p:anim calcmode="lin" valueType="num">
                                      <p:cBhvr additive="base">
                                        <p:cTn dur="500"/>
                                        <p:tgtEl>
                                          <p:spTgt spid="2986"/>
                                        </p:tgtEl>
                                        <p:attrNameLst>
                                          <p:attrName>ppt_y</p:attrName>
                                        </p:attrNameLst>
                                      </p:cBhvr>
                                      <p:tavLst>
                                        <p:tav fmla="" tm="0">
                                          <p:val>
                                            <p:strVal val="#ppt_y"/>
                                          </p:val>
                                        </p:tav>
                                        <p:tav fmla="" tm="100000">
                                          <p:val>
                                            <p:strVal val="#ppt_y+1"/>
                                          </p:val>
                                        </p:tav>
                                      </p:tavLst>
                                    </p:anim>
                                    <p:set>
                                      <p:cBhvr>
                                        <p:cTn dur="1" fill="hold">
                                          <p:stCondLst>
                                            <p:cond delay="500"/>
                                          </p:stCondLst>
                                        </p:cTn>
                                        <p:tgtEl>
                                          <p:spTgt spid="298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0" name="Shape 2990"/>
        <p:cNvGrpSpPr/>
        <p:nvPr/>
      </p:nvGrpSpPr>
      <p:grpSpPr>
        <a:xfrm>
          <a:off x="0" y="0"/>
          <a:ext cx="0" cy="0"/>
          <a:chOff x="0" y="0"/>
          <a:chExt cx="0" cy="0"/>
        </a:xfrm>
      </p:grpSpPr>
      <p:sp>
        <p:nvSpPr>
          <p:cNvPr id="2991" name="Google Shape;2991;p170"/>
          <p:cNvSpPr/>
          <p:nvPr/>
        </p:nvSpPr>
        <p:spPr>
          <a:xfrm>
            <a:off x="1108075" y="5097462"/>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2992" name="Google Shape;2992;p170"/>
          <p:cNvSpPr/>
          <p:nvPr/>
        </p:nvSpPr>
        <p:spPr>
          <a:xfrm>
            <a:off x="2201862" y="43195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5</a:t>
            </a:r>
            <a:endParaRPr/>
          </a:p>
        </p:txBody>
      </p:sp>
      <p:sp>
        <p:nvSpPr>
          <p:cNvPr id="2993" name="Google Shape;2993;p170"/>
          <p:cNvSpPr/>
          <p:nvPr/>
        </p:nvSpPr>
        <p:spPr>
          <a:xfrm>
            <a:off x="2203450" y="5095875"/>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2994" name="Google Shape;2994;p170"/>
          <p:cNvSpPr/>
          <p:nvPr/>
        </p:nvSpPr>
        <p:spPr>
          <a:xfrm>
            <a:off x="3313112"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2995" name="Google Shape;2995;p170"/>
          <p:cNvSpPr/>
          <p:nvPr/>
        </p:nvSpPr>
        <p:spPr>
          <a:xfrm>
            <a:off x="3313112" y="5099050"/>
            <a:ext cx="790575"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2996" name="Google Shape;2996;p170"/>
          <p:cNvSpPr/>
          <p:nvPr/>
        </p:nvSpPr>
        <p:spPr>
          <a:xfrm>
            <a:off x="4422775" y="4318000"/>
            <a:ext cx="792162"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sp>
        <p:nvSpPr>
          <p:cNvPr id="2997" name="Google Shape;2997;p170"/>
          <p:cNvSpPr/>
          <p:nvPr/>
        </p:nvSpPr>
        <p:spPr>
          <a:xfrm>
            <a:off x="4424362" y="5099050"/>
            <a:ext cx="792162" cy="617537"/>
          </a:xfrm>
          <a:prstGeom prst="ellipse">
            <a:avLst/>
          </a:prstGeom>
          <a:gradFill>
            <a:gsLst>
              <a:gs pos="0">
                <a:srgbClr val="FFFFFF">
                  <a:alpha val="60000"/>
                </a:srgbClr>
              </a:gs>
              <a:gs pos="100000">
                <a:srgbClr val="33CC33"/>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2998" name="Google Shape;2998;p170"/>
          <p:cNvSpPr/>
          <p:nvPr/>
        </p:nvSpPr>
        <p:spPr>
          <a:xfrm>
            <a:off x="1108075"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grpSp>
        <p:nvGrpSpPr>
          <p:cNvPr id="2999" name="Google Shape;2999;p170"/>
          <p:cNvGrpSpPr/>
          <p:nvPr/>
        </p:nvGrpSpPr>
        <p:grpSpPr>
          <a:xfrm>
            <a:off x="1108075" y="2287587"/>
            <a:ext cx="8550275" cy="608012"/>
            <a:chOff x="644" y="1153"/>
            <a:chExt cx="4972" cy="383"/>
          </a:xfrm>
        </p:grpSpPr>
        <p:sp>
          <p:nvSpPr>
            <p:cNvPr id="3000" name="Google Shape;3000;p170"/>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3001" name="Google Shape;3001;p170"/>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002" name="Google Shape;3002;p170"/>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3003" name="Google Shape;3003;p170"/>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004" name="Google Shape;3004;p170"/>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005" name="Google Shape;3005;p170"/>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006" name="Google Shape;3006;p170"/>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3007" name="Google Shape;3007;p170"/>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3008" name="Google Shape;3008;p17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3009" name="Google Shape;3009;p170"/>
          <p:cNvSpPr txBox="1"/>
          <p:nvPr/>
        </p:nvSpPr>
        <p:spPr>
          <a:xfrm>
            <a:off x="1100137" y="1484312"/>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4;</a:t>
            </a:r>
            <a:endParaRPr/>
          </a:p>
        </p:txBody>
      </p:sp>
      <p:sp>
        <p:nvSpPr>
          <p:cNvPr id="3010" name="Google Shape;3010;p170"/>
          <p:cNvSpPr txBox="1"/>
          <p:nvPr/>
        </p:nvSpPr>
        <p:spPr>
          <a:xfrm>
            <a:off x="4538662" y="1484312"/>
            <a:ext cx="4970462" cy="457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Troän töøng caëp ñöôøng chaïy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010"/>
                                        </p:tgtEl>
                                        <p:attrNameLst>
                                          <p:attrName>style.visibility</p:attrName>
                                        </p:attrNameLst>
                                      </p:cBhvr>
                                      <p:to>
                                        <p:strVal val="visible"/>
                                      </p:to>
                                    </p:set>
                                    <p:anim calcmode="lin" valueType="num">
                                      <p:cBhvr additive="base">
                                        <p:cTn dur="500"/>
                                        <p:tgtEl>
                                          <p:spTgt spid="301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4" name="Shape 3014"/>
        <p:cNvGrpSpPr/>
        <p:nvPr/>
      </p:nvGrpSpPr>
      <p:grpSpPr>
        <a:xfrm>
          <a:off x="0" y="0"/>
          <a:ext cx="0" cy="0"/>
          <a:chOff x="0" y="0"/>
          <a:chExt cx="0" cy="0"/>
        </a:xfrm>
      </p:grpSpPr>
      <p:sp>
        <p:nvSpPr>
          <p:cNvPr id="3015" name="Google Shape;3015;p171"/>
          <p:cNvSpPr/>
          <p:nvPr/>
        </p:nvSpPr>
        <p:spPr>
          <a:xfrm>
            <a:off x="1108075" y="50974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a:t>
            </a:r>
            <a:endParaRPr/>
          </a:p>
        </p:txBody>
      </p:sp>
      <p:sp>
        <p:nvSpPr>
          <p:cNvPr id="3016" name="Google Shape;3016;p171"/>
          <p:cNvSpPr/>
          <p:nvPr/>
        </p:nvSpPr>
        <p:spPr>
          <a:xfrm>
            <a:off x="2201862" y="4319587"/>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5</a:t>
            </a:r>
            <a:endParaRPr/>
          </a:p>
        </p:txBody>
      </p:sp>
      <p:sp>
        <p:nvSpPr>
          <p:cNvPr id="3017" name="Google Shape;3017;p171"/>
          <p:cNvSpPr/>
          <p:nvPr/>
        </p:nvSpPr>
        <p:spPr>
          <a:xfrm>
            <a:off x="2203450" y="5095875"/>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4</a:t>
            </a:r>
            <a:endParaRPr/>
          </a:p>
        </p:txBody>
      </p:sp>
      <p:sp>
        <p:nvSpPr>
          <p:cNvPr id="3018" name="Google Shape;3018;p171"/>
          <p:cNvSpPr/>
          <p:nvPr/>
        </p:nvSpPr>
        <p:spPr>
          <a:xfrm>
            <a:off x="3313112"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3019" name="Google Shape;3019;p171"/>
          <p:cNvSpPr/>
          <p:nvPr/>
        </p:nvSpPr>
        <p:spPr>
          <a:xfrm>
            <a:off x="3313112" y="5099050"/>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6</a:t>
            </a:r>
            <a:endParaRPr/>
          </a:p>
        </p:txBody>
      </p:sp>
      <p:sp>
        <p:nvSpPr>
          <p:cNvPr id="3020" name="Google Shape;3020;p171"/>
          <p:cNvSpPr/>
          <p:nvPr/>
        </p:nvSpPr>
        <p:spPr>
          <a:xfrm>
            <a:off x="4422775" y="4318000"/>
            <a:ext cx="792162"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sp>
        <p:nvSpPr>
          <p:cNvPr id="3021" name="Google Shape;3021;p171"/>
          <p:cNvSpPr/>
          <p:nvPr/>
        </p:nvSpPr>
        <p:spPr>
          <a:xfrm>
            <a:off x="4424362" y="5099050"/>
            <a:ext cx="792162"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15</a:t>
            </a:r>
            <a:endParaRPr/>
          </a:p>
        </p:txBody>
      </p:sp>
      <p:sp>
        <p:nvSpPr>
          <p:cNvPr id="3022" name="Google Shape;3022;p171"/>
          <p:cNvSpPr/>
          <p:nvPr/>
        </p:nvSpPr>
        <p:spPr>
          <a:xfrm>
            <a:off x="1108075" y="4322762"/>
            <a:ext cx="790575" cy="617537"/>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grpSp>
        <p:nvGrpSpPr>
          <p:cNvPr id="3023" name="Google Shape;3023;p171"/>
          <p:cNvGrpSpPr/>
          <p:nvPr/>
        </p:nvGrpSpPr>
        <p:grpSpPr>
          <a:xfrm>
            <a:off x="1108075" y="2287587"/>
            <a:ext cx="8550275" cy="608012"/>
            <a:chOff x="644" y="1153"/>
            <a:chExt cx="4972" cy="383"/>
          </a:xfrm>
        </p:grpSpPr>
        <p:sp>
          <p:nvSpPr>
            <p:cNvPr id="3024" name="Google Shape;3024;p171"/>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sp>
          <p:nvSpPr>
            <p:cNvPr id="3025" name="Google Shape;3025;p171"/>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026" name="Google Shape;3026;p171"/>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3027" name="Google Shape;3027;p171"/>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028" name="Google Shape;3028;p171"/>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029" name="Google Shape;3029;p171"/>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030" name="Google Shape;3030;p171"/>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3031" name="Google Shape;3031;p171"/>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0</a:t>
              </a:r>
              <a:endParaRPr/>
            </a:p>
          </p:txBody>
        </p:sp>
      </p:grpSp>
      <p:sp>
        <p:nvSpPr>
          <p:cNvPr id="3032" name="Google Shape;3032;p17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3033" name="Google Shape;3033;p171"/>
          <p:cNvSpPr txBox="1"/>
          <p:nvPr/>
        </p:nvSpPr>
        <p:spPr>
          <a:xfrm>
            <a:off x="1100137" y="1484312"/>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4;</a:t>
            </a:r>
            <a:endParaRPr/>
          </a:p>
        </p:txBody>
      </p:sp>
      <p:sp>
        <p:nvSpPr>
          <p:cNvPr id="3034" name="Google Shape;3034;p171"/>
          <p:cNvSpPr txBox="1"/>
          <p:nvPr/>
        </p:nvSpPr>
        <p:spPr>
          <a:xfrm>
            <a:off x="4538662" y="1484312"/>
            <a:ext cx="4970462" cy="4572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400"/>
              <a:buFont typeface="Helvetica Neue"/>
              <a:buNone/>
            </a:pPr>
            <a:r>
              <a:rPr b="1" i="0" lang="en-US" sz="2400" u="none">
                <a:solidFill>
                  <a:srgbClr val="FF3300"/>
                </a:solidFill>
                <a:latin typeface="Helvetica Neue"/>
                <a:ea typeface="Helvetica Neue"/>
                <a:cs typeface="Helvetica Neue"/>
                <a:sym typeface="Helvetica Neue"/>
              </a:rPr>
              <a:t>Troän töøng caëp ñöôøng chaïy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2" presetSubtype="8">
                                  <p:stCondLst>
                                    <p:cond delay="0"/>
                                  </p:stCondLst>
                                  <p:childTnLst>
                                    <p:anim calcmode="lin" valueType="num">
                                      <p:cBhvr additive="base">
                                        <p:cTn dur="1000"/>
                                        <p:tgtEl>
                                          <p:spTgt spid="3033"/>
                                        </p:tgtEl>
                                        <p:attrNameLst>
                                          <p:attrName>ppt_x</p:attrName>
                                        </p:attrNameLst>
                                      </p:cBhvr>
                                      <p:tavLst>
                                        <p:tav fmla="" tm="0">
                                          <p:val>
                                            <p:strVal val="#ppt_x"/>
                                          </p:val>
                                        </p:tav>
                                        <p:tav fmla="" tm="100000">
                                          <p:val>
                                            <p:strVal val="#ppt_x-1"/>
                                          </p:val>
                                        </p:tav>
                                      </p:tavLst>
                                    </p:anim>
                                    <p:set>
                                      <p:cBhvr>
                                        <p:cTn dur="1" fill="hold">
                                          <p:stCondLst>
                                            <p:cond delay="1000"/>
                                          </p:stCondLst>
                                        </p:cTn>
                                        <p:tgtEl>
                                          <p:spTgt spid="3033"/>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2" presetSubtype="1">
                                  <p:stCondLst>
                                    <p:cond delay="0"/>
                                  </p:stCondLst>
                                  <p:childTnLst>
                                    <p:anim calcmode="lin" valueType="num">
                                      <p:cBhvr additive="base">
                                        <p:cTn dur="1000"/>
                                        <p:tgtEl>
                                          <p:spTgt spid="3034"/>
                                        </p:tgtEl>
                                        <p:attrNameLst>
                                          <p:attrName>ppt_y</p:attrName>
                                        </p:attrNameLst>
                                      </p:cBhvr>
                                      <p:tavLst>
                                        <p:tav fmla="" tm="0">
                                          <p:val>
                                            <p:strVal val="#ppt_y"/>
                                          </p:val>
                                        </p:tav>
                                        <p:tav fmla="" tm="100000">
                                          <p:val>
                                            <p:strVal val="#ppt_y-1"/>
                                          </p:val>
                                        </p:tav>
                                      </p:tavLst>
                                    </p:anim>
                                    <p:set>
                                      <p:cBhvr>
                                        <p:cTn dur="1" fill="hold">
                                          <p:stCondLst>
                                            <p:cond delay="1000"/>
                                          </p:stCondLst>
                                        </p:cTn>
                                        <p:tgtEl>
                                          <p:spTgt spid="303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8" name="Shape 3038"/>
        <p:cNvGrpSpPr/>
        <p:nvPr/>
      </p:nvGrpSpPr>
      <p:grpSpPr>
        <a:xfrm>
          <a:off x="0" y="0"/>
          <a:ext cx="0" cy="0"/>
          <a:chOff x="0" y="0"/>
          <a:chExt cx="0" cy="0"/>
        </a:xfrm>
      </p:grpSpPr>
      <p:grpSp>
        <p:nvGrpSpPr>
          <p:cNvPr id="3039" name="Google Shape;3039;p172"/>
          <p:cNvGrpSpPr/>
          <p:nvPr/>
        </p:nvGrpSpPr>
        <p:grpSpPr>
          <a:xfrm>
            <a:off x="1108075" y="2871787"/>
            <a:ext cx="8550275" cy="617537"/>
            <a:chOff x="644" y="1809"/>
            <a:chExt cx="4972" cy="389"/>
          </a:xfrm>
        </p:grpSpPr>
        <p:sp>
          <p:nvSpPr>
            <p:cNvPr id="3040" name="Google Shape;3040;p172"/>
            <p:cNvSpPr/>
            <p:nvPr/>
          </p:nvSpPr>
          <p:spPr>
            <a:xfrm>
              <a:off x="1288" y="1809"/>
              <a:ext cx="460" cy="389"/>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2</a:t>
              </a:r>
              <a:endParaRPr/>
            </a:p>
          </p:txBody>
        </p:sp>
        <p:sp>
          <p:nvSpPr>
            <p:cNvPr id="3041" name="Google Shape;3041;p172"/>
            <p:cNvSpPr/>
            <p:nvPr/>
          </p:nvSpPr>
          <p:spPr>
            <a:xfrm>
              <a:off x="1933" y="1809"/>
              <a:ext cx="460" cy="389"/>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4</a:t>
              </a:r>
              <a:endParaRPr/>
            </a:p>
          </p:txBody>
        </p:sp>
        <p:sp>
          <p:nvSpPr>
            <p:cNvPr id="3042" name="Google Shape;3042;p172"/>
            <p:cNvSpPr/>
            <p:nvPr/>
          </p:nvSpPr>
          <p:spPr>
            <a:xfrm>
              <a:off x="2577" y="1809"/>
              <a:ext cx="460" cy="389"/>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5</a:t>
              </a:r>
              <a:endParaRPr/>
            </a:p>
          </p:txBody>
        </p:sp>
        <p:sp>
          <p:nvSpPr>
            <p:cNvPr id="3043" name="Google Shape;3043;p172"/>
            <p:cNvSpPr/>
            <p:nvPr/>
          </p:nvSpPr>
          <p:spPr>
            <a:xfrm>
              <a:off x="3222" y="1809"/>
              <a:ext cx="460" cy="389"/>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6</a:t>
              </a:r>
              <a:endParaRPr/>
            </a:p>
          </p:txBody>
        </p:sp>
        <p:sp>
          <p:nvSpPr>
            <p:cNvPr id="3044" name="Google Shape;3044;p172"/>
            <p:cNvSpPr/>
            <p:nvPr/>
          </p:nvSpPr>
          <p:spPr>
            <a:xfrm>
              <a:off x="3866" y="1809"/>
              <a:ext cx="460" cy="389"/>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8</a:t>
              </a:r>
              <a:endParaRPr/>
            </a:p>
          </p:txBody>
        </p:sp>
        <p:sp>
          <p:nvSpPr>
            <p:cNvPr id="3045" name="Google Shape;3045;p172"/>
            <p:cNvSpPr/>
            <p:nvPr/>
          </p:nvSpPr>
          <p:spPr>
            <a:xfrm>
              <a:off x="4511" y="1809"/>
              <a:ext cx="460" cy="389"/>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12</a:t>
              </a:r>
              <a:endParaRPr/>
            </a:p>
          </p:txBody>
        </p:sp>
        <p:sp>
          <p:nvSpPr>
            <p:cNvPr id="3046" name="Google Shape;3046;p172"/>
            <p:cNvSpPr/>
            <p:nvPr/>
          </p:nvSpPr>
          <p:spPr>
            <a:xfrm>
              <a:off x="5156" y="1809"/>
              <a:ext cx="460" cy="389"/>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15</a:t>
              </a:r>
              <a:endParaRPr/>
            </a:p>
          </p:txBody>
        </p:sp>
        <p:sp>
          <p:nvSpPr>
            <p:cNvPr id="3047" name="Google Shape;3047;p172"/>
            <p:cNvSpPr/>
            <p:nvPr/>
          </p:nvSpPr>
          <p:spPr>
            <a:xfrm>
              <a:off x="644" y="1809"/>
              <a:ext cx="460" cy="389"/>
            </a:xfrm>
            <a:prstGeom prst="ellipse">
              <a:avLst/>
            </a:prstGeom>
            <a:gradFill>
              <a:gsLst>
                <a:gs pos="0">
                  <a:srgbClr val="FFFFFF"/>
                </a:gs>
                <a:gs pos="100000">
                  <a:srgbClr val="CC00CC"/>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1</a:t>
              </a:r>
              <a:endParaRPr/>
            </a:p>
          </p:txBody>
        </p:sp>
      </p:grpSp>
      <p:grpSp>
        <p:nvGrpSpPr>
          <p:cNvPr id="3048" name="Google Shape;3048;p172"/>
          <p:cNvGrpSpPr/>
          <p:nvPr/>
        </p:nvGrpSpPr>
        <p:grpSpPr>
          <a:xfrm>
            <a:off x="1108075" y="2287587"/>
            <a:ext cx="8550275" cy="608012"/>
            <a:chOff x="644" y="1153"/>
            <a:chExt cx="4972" cy="383"/>
          </a:xfrm>
        </p:grpSpPr>
        <p:sp>
          <p:nvSpPr>
            <p:cNvPr id="3049" name="Google Shape;3049;p172"/>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050" name="Google Shape;3050;p172"/>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3051" name="Google Shape;3051;p172"/>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052" name="Google Shape;3052;p172"/>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053" name="Google Shape;3053;p172"/>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054" name="Google Shape;3054;p172"/>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3055" name="Google Shape;3055;p172"/>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3056" name="Google Shape;3056;p172"/>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3057" name="Google Shape;3057;p17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3058" name="Google Shape;3058;p172"/>
          <p:cNvSpPr txBox="1"/>
          <p:nvPr/>
        </p:nvSpPr>
        <p:spPr>
          <a:xfrm>
            <a:off x="1100137" y="1493837"/>
            <a:ext cx="1700212" cy="51911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800"/>
              <a:buFont typeface="Helvetica Neue"/>
              <a:buNone/>
            </a:pPr>
            <a:r>
              <a:rPr b="1" i="0" lang="en-US" sz="2800" u="none">
                <a:solidFill>
                  <a:srgbClr val="FF3300"/>
                </a:solidFill>
                <a:latin typeface="Helvetica Neue"/>
                <a:ea typeface="Helvetica Neue"/>
                <a:cs typeface="Helvetica Neue"/>
                <a:sym typeface="Helvetica Neue"/>
              </a:rPr>
              <a:t>k = 8;</a:t>
            </a:r>
            <a:endParaRPr/>
          </a:p>
        </p:txBody>
      </p:sp>
      <p:grpSp>
        <p:nvGrpSpPr>
          <p:cNvPr id="3059" name="Google Shape;3059;p172"/>
          <p:cNvGrpSpPr/>
          <p:nvPr/>
        </p:nvGrpSpPr>
        <p:grpSpPr>
          <a:xfrm>
            <a:off x="3333750" y="4135437"/>
            <a:ext cx="2938462" cy="1198562"/>
            <a:chOff x="1382" y="2788"/>
            <a:chExt cx="1709" cy="755"/>
          </a:xfrm>
        </p:grpSpPr>
        <p:sp>
          <p:nvSpPr>
            <p:cNvPr id="3060" name="Google Shape;3060;p172"/>
            <p:cNvSpPr/>
            <p:nvPr/>
          </p:nvSpPr>
          <p:spPr>
            <a:xfrm>
              <a:off x="1959" y="2788"/>
              <a:ext cx="554" cy="488"/>
            </a:xfrm>
            <a:prstGeom prst="octagon">
              <a:avLst>
                <a:gd fmla="val 6621" name="adj"/>
              </a:avLst>
            </a:prstGeom>
            <a:solidFill>
              <a:srgbClr val="FF3300"/>
            </a:solidFill>
            <a:ln cap="flat" cmpd="sng" w="28575">
              <a:solidFill>
                <a:srgbClr val="FF3300"/>
              </a:solidFill>
              <a:prstDash val="solid"/>
              <a:miter lim="800000"/>
              <a:headEnd len="sm" w="sm" type="none"/>
              <a:tailEnd len="sm" w="sm" type="none"/>
            </a:ln>
          </p:spPr>
          <p:txBody>
            <a:bodyPr anchorCtr="0" anchor="t" bIns="45700" lIns="91425" spcFirstLastPara="1" rIns="0" wrap="square" tIns="45700">
              <a:noAutofit/>
            </a:bodyPr>
            <a:lstStyle/>
            <a:p>
              <a:pPr indent="0" lvl="0" marL="0" marR="0" rtl="0" algn="ctr">
                <a:lnSpc>
                  <a:spcPct val="100000"/>
                </a:lnSpc>
                <a:spcBef>
                  <a:spcPts val="0"/>
                </a:spcBef>
                <a:spcAft>
                  <a:spcPts val="0"/>
                </a:spcAft>
                <a:buClr>
                  <a:schemeClr val="lt1"/>
                </a:buClr>
                <a:buSzPts val="2600"/>
                <a:buFont typeface="Helvetica Neue"/>
                <a:buNone/>
              </a:pPr>
              <a:r>
                <a:rPr b="1" i="0" lang="en-US" sz="2600" u="none">
                  <a:solidFill>
                    <a:schemeClr val="lt1"/>
                  </a:solidFill>
                  <a:latin typeface="Helvetica Neue"/>
                  <a:ea typeface="Helvetica Neue"/>
                  <a:cs typeface="Helvetica Neue"/>
                  <a:sym typeface="Helvetica Neue"/>
                </a:rPr>
                <a:t>STOP </a:t>
              </a:r>
              <a:endParaRPr/>
            </a:p>
          </p:txBody>
        </p:sp>
        <p:sp>
          <p:nvSpPr>
            <p:cNvPr id="3061" name="Google Shape;3061;p172"/>
            <p:cNvSpPr txBox="1"/>
            <p:nvPr/>
          </p:nvSpPr>
          <p:spPr>
            <a:xfrm>
              <a:off x="1382" y="3255"/>
              <a:ext cx="1709" cy="288"/>
            </a:xfrm>
            <a:prstGeom prst="rect">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Chỉ một mảng con</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058"/>
                                        </p:tgtEl>
                                        <p:attrNameLst>
                                          <p:attrName>style.visibility</p:attrName>
                                        </p:attrNameLst>
                                      </p:cBhvr>
                                      <p:to>
                                        <p:strVal val="visible"/>
                                      </p:to>
                                    </p:set>
                                    <p:anim calcmode="lin" valueType="num">
                                      <p:cBhvr additive="base">
                                        <p:cTn dur="1000"/>
                                        <p:tgtEl>
                                          <p:spTgt spid="3058"/>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xit" presetID="2" presetSubtype="8">
                                  <p:stCondLst>
                                    <p:cond delay="0"/>
                                  </p:stCondLst>
                                  <p:childTnLst>
                                    <p:anim calcmode="lin" valueType="num">
                                      <p:cBhvr additive="base">
                                        <p:cTn dur="1000"/>
                                        <p:tgtEl>
                                          <p:spTgt spid="3058"/>
                                        </p:tgtEl>
                                        <p:attrNameLst>
                                          <p:attrName>ppt_x</p:attrName>
                                        </p:attrNameLst>
                                      </p:cBhvr>
                                      <p:tavLst>
                                        <p:tav fmla="" tm="0">
                                          <p:val>
                                            <p:strVal val="#ppt_x"/>
                                          </p:val>
                                        </p:tav>
                                        <p:tav fmla="" tm="100000">
                                          <p:val>
                                            <p:strVal val="#ppt_x-1"/>
                                          </p:val>
                                        </p:tav>
                                      </p:tavLst>
                                    </p:anim>
                                    <p:set>
                                      <p:cBhvr>
                                        <p:cTn dur="1" fill="hold">
                                          <p:stCondLst>
                                            <p:cond delay="1000"/>
                                          </p:stCondLst>
                                        </p:cTn>
                                        <p:tgtEl>
                                          <p:spTgt spid="305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5" name="Shape 3065"/>
        <p:cNvGrpSpPr/>
        <p:nvPr/>
      </p:nvGrpSpPr>
      <p:grpSpPr>
        <a:xfrm>
          <a:off x="0" y="0"/>
          <a:ext cx="0" cy="0"/>
          <a:chOff x="0" y="0"/>
          <a:chExt cx="0" cy="0"/>
        </a:xfrm>
      </p:grpSpPr>
      <p:grpSp>
        <p:nvGrpSpPr>
          <p:cNvPr id="3066" name="Google Shape;3066;p173"/>
          <p:cNvGrpSpPr/>
          <p:nvPr/>
        </p:nvGrpSpPr>
        <p:grpSpPr>
          <a:xfrm>
            <a:off x="1108075" y="2871787"/>
            <a:ext cx="8550275" cy="617537"/>
            <a:chOff x="644" y="1809"/>
            <a:chExt cx="4972" cy="389"/>
          </a:xfrm>
        </p:grpSpPr>
        <p:sp>
          <p:nvSpPr>
            <p:cNvPr id="3067" name="Google Shape;3067;p173"/>
            <p:cNvSpPr/>
            <p:nvPr/>
          </p:nvSpPr>
          <p:spPr>
            <a:xfrm>
              <a:off x="1288"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068" name="Google Shape;3068;p173"/>
            <p:cNvSpPr/>
            <p:nvPr/>
          </p:nvSpPr>
          <p:spPr>
            <a:xfrm>
              <a:off x="1933"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069" name="Google Shape;3069;p173"/>
            <p:cNvSpPr/>
            <p:nvPr/>
          </p:nvSpPr>
          <p:spPr>
            <a:xfrm>
              <a:off x="2577"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070" name="Google Shape;3070;p173"/>
            <p:cNvSpPr/>
            <p:nvPr/>
          </p:nvSpPr>
          <p:spPr>
            <a:xfrm>
              <a:off x="3222"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071" name="Google Shape;3071;p173"/>
            <p:cNvSpPr/>
            <p:nvPr/>
          </p:nvSpPr>
          <p:spPr>
            <a:xfrm>
              <a:off x="3866"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3072" name="Google Shape;3072;p173"/>
            <p:cNvSpPr/>
            <p:nvPr/>
          </p:nvSpPr>
          <p:spPr>
            <a:xfrm>
              <a:off x="4511"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12</a:t>
              </a:r>
              <a:endParaRPr/>
            </a:p>
          </p:txBody>
        </p:sp>
        <p:sp>
          <p:nvSpPr>
            <p:cNvPr id="3073" name="Google Shape;3073;p173"/>
            <p:cNvSpPr/>
            <p:nvPr/>
          </p:nvSpPr>
          <p:spPr>
            <a:xfrm>
              <a:off x="5156"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15</a:t>
              </a:r>
              <a:endParaRPr/>
            </a:p>
          </p:txBody>
        </p:sp>
        <p:sp>
          <p:nvSpPr>
            <p:cNvPr id="3074" name="Google Shape;3074;p173"/>
            <p:cNvSpPr/>
            <p:nvPr/>
          </p:nvSpPr>
          <p:spPr>
            <a:xfrm>
              <a:off x="644" y="1809"/>
              <a:ext cx="460" cy="389"/>
            </a:xfrm>
            <a:prstGeom prst="ellipse">
              <a:avLst/>
            </a:prstGeom>
            <a:gradFill>
              <a:gsLst>
                <a:gs pos="0">
                  <a:srgbClr val="FFFFFF">
                    <a:alpha val="60000"/>
                  </a:srgbClr>
                </a:gs>
                <a:gs pos="100000">
                  <a:srgbClr val="FF3300"/>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grpSp>
        <p:nvGrpSpPr>
          <p:cNvPr id="3075" name="Google Shape;3075;p173"/>
          <p:cNvGrpSpPr/>
          <p:nvPr/>
        </p:nvGrpSpPr>
        <p:grpSpPr>
          <a:xfrm>
            <a:off x="1108075" y="2287587"/>
            <a:ext cx="8550275" cy="608012"/>
            <a:chOff x="644" y="1153"/>
            <a:chExt cx="4972" cy="383"/>
          </a:xfrm>
        </p:grpSpPr>
        <p:sp>
          <p:nvSpPr>
            <p:cNvPr id="3076" name="Google Shape;3076;p173"/>
            <p:cNvSpPr/>
            <p:nvPr/>
          </p:nvSpPr>
          <p:spPr>
            <a:xfrm>
              <a:off x="1288"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2</a:t>
              </a:r>
              <a:endParaRPr/>
            </a:p>
          </p:txBody>
        </p:sp>
        <p:sp>
          <p:nvSpPr>
            <p:cNvPr id="3077" name="Google Shape;3077;p173"/>
            <p:cNvSpPr/>
            <p:nvPr/>
          </p:nvSpPr>
          <p:spPr>
            <a:xfrm>
              <a:off x="1933"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3</a:t>
              </a:r>
              <a:endParaRPr/>
            </a:p>
          </p:txBody>
        </p:sp>
        <p:sp>
          <p:nvSpPr>
            <p:cNvPr id="3078" name="Google Shape;3078;p173"/>
            <p:cNvSpPr/>
            <p:nvPr/>
          </p:nvSpPr>
          <p:spPr>
            <a:xfrm>
              <a:off x="2577"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4</a:t>
              </a:r>
              <a:endParaRPr/>
            </a:p>
          </p:txBody>
        </p:sp>
        <p:sp>
          <p:nvSpPr>
            <p:cNvPr id="3079" name="Google Shape;3079;p173"/>
            <p:cNvSpPr/>
            <p:nvPr/>
          </p:nvSpPr>
          <p:spPr>
            <a:xfrm>
              <a:off x="3222"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5</a:t>
              </a:r>
              <a:endParaRPr/>
            </a:p>
          </p:txBody>
        </p:sp>
        <p:sp>
          <p:nvSpPr>
            <p:cNvPr id="3080" name="Google Shape;3080;p173"/>
            <p:cNvSpPr/>
            <p:nvPr/>
          </p:nvSpPr>
          <p:spPr>
            <a:xfrm>
              <a:off x="386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6</a:t>
              </a:r>
              <a:endParaRPr/>
            </a:p>
          </p:txBody>
        </p:sp>
        <p:sp>
          <p:nvSpPr>
            <p:cNvPr id="3081" name="Google Shape;3081;p173"/>
            <p:cNvSpPr/>
            <p:nvPr/>
          </p:nvSpPr>
          <p:spPr>
            <a:xfrm>
              <a:off x="4511"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7</a:t>
              </a:r>
              <a:endParaRPr/>
            </a:p>
          </p:txBody>
        </p:sp>
        <p:sp>
          <p:nvSpPr>
            <p:cNvPr id="3082" name="Google Shape;3082;p173"/>
            <p:cNvSpPr/>
            <p:nvPr/>
          </p:nvSpPr>
          <p:spPr>
            <a:xfrm>
              <a:off x="5156"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8</a:t>
              </a:r>
              <a:endParaRPr/>
            </a:p>
          </p:txBody>
        </p:sp>
        <p:sp>
          <p:nvSpPr>
            <p:cNvPr id="3083" name="Google Shape;3083;p173"/>
            <p:cNvSpPr/>
            <p:nvPr/>
          </p:nvSpPr>
          <p:spPr>
            <a:xfrm>
              <a:off x="644" y="1153"/>
              <a:ext cx="460" cy="383"/>
            </a:xfrm>
            <a:prstGeom prst="ellipse">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Helvetica Neue"/>
                <a:buNone/>
              </a:pPr>
              <a:r>
                <a:rPr b="1" i="0" lang="en-US" sz="2400" u="none">
                  <a:solidFill>
                    <a:schemeClr val="dk1"/>
                  </a:solidFill>
                  <a:latin typeface="Helvetica Neue"/>
                  <a:ea typeface="Helvetica Neue"/>
                  <a:cs typeface="Helvetica Neue"/>
                  <a:sym typeface="Helvetica Neue"/>
                </a:rPr>
                <a:t>1</a:t>
              </a:r>
              <a:endParaRPr/>
            </a:p>
          </p:txBody>
        </p:sp>
      </p:grpSp>
      <p:sp>
        <p:nvSpPr>
          <p:cNvPr id="3084" name="Google Shape;3084;p17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Ví Dụ</a:t>
            </a:r>
            <a:endParaRPr/>
          </a:p>
        </p:txBody>
      </p:sp>
      <p:sp>
        <p:nvSpPr>
          <p:cNvPr id="3085" name="Google Shape;3085;p173"/>
          <p:cNvSpPr txBox="1"/>
          <p:nvPr/>
        </p:nvSpPr>
        <p:spPr>
          <a:xfrm>
            <a:off x="7777162" y="5410200"/>
            <a:ext cx="660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9" name="Shape 3089"/>
        <p:cNvGrpSpPr/>
        <p:nvPr/>
      </p:nvGrpSpPr>
      <p:grpSpPr>
        <a:xfrm>
          <a:off x="0" y="0"/>
          <a:ext cx="0" cy="0"/>
          <a:chOff x="0" y="0"/>
          <a:chExt cx="0" cy="0"/>
        </a:xfrm>
      </p:grpSpPr>
      <p:sp>
        <p:nvSpPr>
          <p:cNvPr id="3090" name="Google Shape;3090;p17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Cài Đặt</a:t>
            </a:r>
            <a:endParaRPr/>
          </a:p>
        </p:txBody>
      </p:sp>
      <p:sp>
        <p:nvSpPr>
          <p:cNvPr id="3091" name="Google Shape;3091;p174"/>
          <p:cNvSpPr txBox="1"/>
          <p:nvPr>
            <p:ph idx="1" type="body"/>
          </p:nvPr>
        </p:nvSpPr>
        <p:spPr>
          <a:xfrm>
            <a:off x="742950" y="1265237"/>
            <a:ext cx="8832850" cy="5273675"/>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Dữ liệu hỗ trợ: 2 mảng b, c:</a:t>
            </a:r>
            <a:endParaRPr/>
          </a:p>
          <a:p>
            <a:pPr indent="-463550" lvl="0" marL="463550" rtl="0" algn="l">
              <a:lnSpc>
                <a:spcPct val="90000"/>
              </a:lnSpc>
              <a:spcBef>
                <a:spcPts val="480"/>
              </a:spcBef>
              <a:spcAft>
                <a:spcPts val="0"/>
              </a:spcAft>
              <a:buClr>
                <a:srgbClr val="0000FF"/>
              </a:buClr>
              <a:buSzPts val="2400"/>
              <a:buNone/>
            </a:pPr>
            <a:r>
              <a:rPr b="1" i="0" lang="en-US" sz="2400" u="none">
                <a:solidFill>
                  <a:srgbClr val="0000FF"/>
                </a:solidFill>
                <a:latin typeface="Arial"/>
                <a:ea typeface="Arial"/>
                <a:cs typeface="Arial"/>
                <a:sym typeface="Arial"/>
              </a:rPr>
              <a:t>	int</a:t>
            </a:r>
            <a:r>
              <a:rPr b="1" i="0" lang="en-US" sz="2400" u="none">
                <a:solidFill>
                  <a:schemeClr val="dk1"/>
                </a:solidFill>
                <a:latin typeface="Arial"/>
                <a:ea typeface="Arial"/>
                <a:cs typeface="Arial"/>
                <a:sym typeface="Arial"/>
              </a:rPr>
              <a:t>	  b[MAX], c[MAX], nb, nc;</a:t>
            </a:r>
            <a:endParaRPr/>
          </a:p>
          <a:p>
            <a:pPr indent="-463550" lvl="0" marL="463550" rtl="0" algn="l">
              <a:lnSpc>
                <a:spcPct val="90000"/>
              </a:lnSpc>
              <a:spcBef>
                <a:spcPts val="480"/>
              </a:spcBef>
              <a:spcAft>
                <a:spcPts val="0"/>
              </a:spcAft>
              <a:buClr>
                <a:schemeClr val="dk1"/>
              </a:buClr>
              <a:buSzPts val="2400"/>
              <a:buFont typeface="Noto Sans Symbols"/>
              <a:buChar char="⮚"/>
            </a:pPr>
            <a:r>
              <a:rPr b="0" i="0" lang="en-US" sz="2400" u="none">
                <a:solidFill>
                  <a:schemeClr val="dk1"/>
                </a:solidFill>
                <a:latin typeface="Arial"/>
                <a:ea typeface="Arial"/>
                <a:cs typeface="Arial"/>
                <a:sym typeface="Arial"/>
              </a:rPr>
              <a:t>Các hàm cần cài đặt:</a:t>
            </a:r>
            <a:endParaRPr/>
          </a:p>
          <a:p>
            <a:pPr indent="-446087" lvl="1" marL="1023937" rtl="0" algn="l">
              <a:lnSpc>
                <a:spcPct val="90000"/>
              </a:lnSpc>
              <a:spcBef>
                <a:spcPts val="480"/>
              </a:spcBef>
              <a:spcAft>
                <a:spcPts val="0"/>
              </a:spcAft>
              <a:buClr>
                <a:srgbClr val="0000FF"/>
              </a:buClr>
              <a:buSzPts val="2400"/>
              <a:buFont typeface="Noto Sans Symbols"/>
              <a:buChar char="⮲"/>
            </a:pPr>
            <a:r>
              <a:rPr b="1" i="0" lang="en-US" sz="2400" u="none">
                <a:solidFill>
                  <a:srgbClr val="0000FF"/>
                </a:solidFill>
                <a:latin typeface="Arial"/>
                <a:ea typeface="Arial"/>
                <a:cs typeface="Arial"/>
                <a:sym typeface="Arial"/>
              </a:rPr>
              <a:t>void</a:t>
            </a:r>
            <a:r>
              <a:rPr b="1" i="0" lang="en-US" sz="2400" u="none">
                <a:solidFill>
                  <a:schemeClr val="dk1"/>
                </a:solidFill>
                <a:latin typeface="Arial"/>
                <a:ea typeface="Arial"/>
                <a:cs typeface="Arial"/>
                <a:sym typeface="Arial"/>
              </a:rPr>
              <a:t> MergeSort(</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N);</a:t>
            </a:r>
            <a:r>
              <a:rPr b="1" i="0" lang="en-US" sz="2400" u="none">
                <a:solidFill>
                  <a:srgbClr val="FF3300"/>
                </a:solidFill>
                <a:latin typeface="Arial"/>
                <a:ea typeface="Arial"/>
                <a:cs typeface="Arial"/>
                <a:sym typeface="Arial"/>
              </a:rPr>
              <a:t> </a:t>
            </a:r>
            <a:r>
              <a:rPr b="0" i="0" lang="en-US" sz="2400" u="none">
                <a:solidFill>
                  <a:schemeClr val="dk1"/>
                </a:solidFill>
                <a:latin typeface="Arial"/>
                <a:ea typeface="Arial"/>
                <a:cs typeface="Arial"/>
                <a:sym typeface="Arial"/>
              </a:rPr>
              <a:t>: Sắp xếp mảng (a, N) tăng dần</a:t>
            </a:r>
            <a:endParaRPr/>
          </a:p>
          <a:p>
            <a:pPr indent="-446087" lvl="1" marL="1023937" rtl="0" algn="l">
              <a:lnSpc>
                <a:spcPct val="90000"/>
              </a:lnSpc>
              <a:spcBef>
                <a:spcPts val="480"/>
              </a:spcBef>
              <a:spcAft>
                <a:spcPts val="0"/>
              </a:spcAft>
              <a:buClr>
                <a:srgbClr val="0000FF"/>
              </a:buClr>
              <a:buSzPts val="2400"/>
              <a:buFont typeface="Noto Sans Symbols"/>
              <a:buChar char="⮲"/>
            </a:pPr>
            <a:r>
              <a:rPr b="1" i="0" lang="en-US" sz="2400" u="none">
                <a:solidFill>
                  <a:srgbClr val="0000FF"/>
                </a:solidFill>
                <a:latin typeface="Arial"/>
                <a:ea typeface="Arial"/>
                <a:cs typeface="Arial"/>
                <a:sym typeface="Arial"/>
              </a:rPr>
              <a:t>void</a:t>
            </a:r>
            <a:r>
              <a:rPr b="1" i="0" lang="en-US" sz="2400" u="none">
                <a:solidFill>
                  <a:schemeClr val="dk1"/>
                </a:solidFill>
                <a:latin typeface="Arial"/>
                <a:ea typeface="Arial"/>
                <a:cs typeface="Arial"/>
                <a:sym typeface="Arial"/>
              </a:rPr>
              <a:t> Distribute(</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 int N,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&amp;nb,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&amp;nc,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k);</a:t>
            </a:r>
            <a:r>
              <a:rPr b="1" i="0" lang="en-US" sz="2400" u="none">
                <a:solidFill>
                  <a:srgbClr val="FF3300"/>
                </a:solidFill>
                <a:latin typeface="Arial"/>
                <a:ea typeface="Arial"/>
                <a:cs typeface="Arial"/>
                <a:sym typeface="Arial"/>
              </a:rPr>
              <a:t> </a:t>
            </a:r>
            <a:r>
              <a:rPr b="0" i="0" lang="en-US" sz="2400" u="none">
                <a:solidFill>
                  <a:schemeClr val="dk1"/>
                </a:solidFill>
                <a:latin typeface="Arial"/>
                <a:ea typeface="Arial"/>
                <a:cs typeface="Arial"/>
                <a:sym typeface="Arial"/>
              </a:rPr>
              <a:t>Phân phối đều luân phiên các dãy con độ dài k từ mảng a vào hai mảng con b và c</a:t>
            </a:r>
            <a:endParaRPr/>
          </a:p>
          <a:p>
            <a:pPr indent="-446087" lvl="1" marL="1023937" rtl="0" algn="l">
              <a:lnSpc>
                <a:spcPct val="90000"/>
              </a:lnSpc>
              <a:spcBef>
                <a:spcPts val="480"/>
              </a:spcBef>
              <a:spcAft>
                <a:spcPts val="0"/>
              </a:spcAft>
              <a:buClr>
                <a:srgbClr val="0000FF"/>
              </a:buClr>
              <a:buSzPts val="2400"/>
              <a:buFont typeface="Noto Sans Symbols"/>
              <a:buChar char="⮲"/>
            </a:pPr>
            <a:r>
              <a:rPr b="1" i="0" lang="en-US" sz="2400" u="none">
                <a:solidFill>
                  <a:srgbClr val="0000FF"/>
                </a:solidFill>
                <a:latin typeface="Arial"/>
                <a:ea typeface="Arial"/>
                <a:cs typeface="Arial"/>
                <a:sym typeface="Arial"/>
              </a:rPr>
              <a:t>void</a:t>
            </a:r>
            <a:r>
              <a:rPr b="1" i="0" lang="en-US" sz="2400" u="none">
                <a:solidFill>
                  <a:schemeClr val="dk1"/>
                </a:solidFill>
                <a:latin typeface="Arial"/>
                <a:ea typeface="Arial"/>
                <a:cs typeface="Arial"/>
                <a:sym typeface="Arial"/>
              </a:rPr>
              <a:t> Merge(</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nb,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nc,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k);</a:t>
            </a:r>
            <a:r>
              <a:rPr b="1" i="0" lang="en-US" sz="2400" u="none">
                <a:solidFill>
                  <a:srgbClr val="FF3300"/>
                </a:solidFill>
                <a:latin typeface="Arial"/>
                <a:ea typeface="Arial"/>
                <a:cs typeface="Arial"/>
                <a:sym typeface="Arial"/>
              </a:rPr>
              <a:t> </a:t>
            </a:r>
            <a:r>
              <a:rPr b="0" i="0" lang="en-US" sz="2400" u="none">
                <a:solidFill>
                  <a:schemeClr val="dk1"/>
                </a:solidFill>
                <a:latin typeface="Arial"/>
                <a:ea typeface="Arial"/>
                <a:cs typeface="Arial"/>
                <a:sym typeface="Arial"/>
              </a:rPr>
              <a:t>: Trộn mảng b và mảng c vào mảng a</a:t>
            </a:r>
            <a:r>
              <a:rPr b="1" i="0" lang="en-US" sz="2400" u="none">
                <a:solidFill>
                  <a:srgbClr val="0000FF"/>
                </a:solidFill>
                <a:latin typeface="Arial"/>
                <a:ea typeface="Arial"/>
                <a:cs typeface="Arial"/>
                <a:sym typeface="Arial"/>
              </a:rPr>
              <a:t>		</a:t>
            </a:r>
            <a:endParaRPr b="1" i="0" sz="2400" u="none">
              <a:solidFill>
                <a:schemeClr val="dk1"/>
              </a:solidFill>
              <a:latin typeface="Arial"/>
              <a:ea typeface="Arial"/>
              <a:cs typeface="Arial"/>
              <a:sym typeface="Arial"/>
            </a:endParaRPr>
          </a:p>
          <a:p>
            <a:pPr indent="-446087" lvl="1" marL="1023937" rtl="0" algn="l">
              <a:lnSpc>
                <a:spcPct val="90000"/>
              </a:lnSpc>
              <a:spcBef>
                <a:spcPts val="480"/>
              </a:spcBef>
              <a:spcAft>
                <a:spcPts val="0"/>
              </a:spcAft>
              <a:buClr>
                <a:srgbClr val="0000FF"/>
              </a:buClr>
              <a:buSzPts val="2400"/>
              <a:buFont typeface="Noto Sans Symbols"/>
              <a:buChar char="⮲"/>
            </a:pPr>
            <a:r>
              <a:rPr b="1" i="0" lang="en-US" sz="2400" u="none">
                <a:solidFill>
                  <a:srgbClr val="0000FF"/>
                </a:solidFill>
                <a:latin typeface="Arial"/>
                <a:ea typeface="Arial"/>
                <a:cs typeface="Arial"/>
                <a:sym typeface="Arial"/>
              </a:rPr>
              <a:t>void</a:t>
            </a:r>
            <a:r>
              <a:rPr b="1" i="0" lang="en-US" sz="2400" u="none">
                <a:solidFill>
                  <a:schemeClr val="dk1"/>
                </a:solidFill>
                <a:latin typeface="Arial"/>
                <a:ea typeface="Arial"/>
                <a:cs typeface="Arial"/>
                <a:sym typeface="Arial"/>
              </a:rPr>
              <a:t> MergeSubarr(</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nb,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nc,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&amp;pa,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&amp;pb, </a:t>
            </a:r>
            <a:r>
              <a:rPr b="1" i="0" lang="en-US" sz="2400" u="none">
                <a:solidFill>
                  <a:srgbClr val="0000FF"/>
                </a:solidFill>
                <a:latin typeface="Arial"/>
                <a:ea typeface="Arial"/>
                <a:cs typeface="Arial"/>
                <a:sym typeface="Arial"/>
              </a:rPr>
              <a:t>int</a:t>
            </a:r>
            <a:r>
              <a:rPr b="1" i="0" lang="en-US" sz="2400" u="none">
                <a:solidFill>
                  <a:schemeClr val="dk1"/>
                </a:solidFill>
                <a:latin typeface="Arial"/>
                <a:ea typeface="Arial"/>
                <a:cs typeface="Arial"/>
                <a:sym typeface="Arial"/>
              </a:rPr>
              <a:t> &amp;pc,</a:t>
            </a:r>
            <a:r>
              <a:rPr b="1" i="0" lang="en-US" sz="2400" u="none">
                <a:solidFill>
                  <a:srgbClr val="0000FF"/>
                </a:solidFill>
                <a:latin typeface="Arial"/>
                <a:ea typeface="Arial"/>
                <a:cs typeface="Arial"/>
                <a:sym typeface="Arial"/>
              </a:rPr>
              <a:t> int</a:t>
            </a:r>
            <a:r>
              <a:rPr b="1" i="0" lang="en-US" sz="2400" u="none">
                <a:solidFill>
                  <a:schemeClr val="dk1"/>
                </a:solidFill>
                <a:latin typeface="Arial"/>
                <a:ea typeface="Arial"/>
                <a:cs typeface="Arial"/>
                <a:sym typeface="Arial"/>
              </a:rPr>
              <a:t> k);</a:t>
            </a:r>
            <a:r>
              <a:rPr b="1" i="0" lang="en-US" sz="2400" u="none">
                <a:solidFill>
                  <a:srgbClr val="FF3300"/>
                </a:solidFill>
                <a:latin typeface="Arial"/>
                <a:ea typeface="Arial"/>
                <a:cs typeface="Arial"/>
                <a:sym typeface="Arial"/>
              </a:rPr>
              <a:t> </a:t>
            </a:r>
            <a:r>
              <a:rPr b="0" i="0" lang="en-US" sz="2400" u="none">
                <a:solidFill>
                  <a:schemeClr val="dk1"/>
                </a:solidFill>
                <a:latin typeface="Arial"/>
                <a:ea typeface="Arial"/>
                <a:cs typeface="Arial"/>
                <a:sym typeface="Arial"/>
              </a:rPr>
              <a:t>: Trộn một cặp dãy con từ b và c vào a</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5" name="Shape 3095"/>
        <p:cNvGrpSpPr/>
        <p:nvPr/>
      </p:nvGrpSpPr>
      <p:grpSpPr>
        <a:xfrm>
          <a:off x="0" y="0"/>
          <a:ext cx="0" cy="0"/>
          <a:chOff x="0" y="0"/>
          <a:chExt cx="0" cy="0"/>
        </a:xfrm>
      </p:grpSpPr>
      <p:sp>
        <p:nvSpPr>
          <p:cNvPr id="3096" name="Google Shape;3096;p17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Cài Đặt</a:t>
            </a:r>
            <a:endParaRPr/>
          </a:p>
        </p:txBody>
      </p:sp>
      <p:sp>
        <p:nvSpPr>
          <p:cNvPr id="3097" name="Google Shape;3097;p175"/>
          <p:cNvSpPr txBox="1"/>
          <p:nvPr>
            <p:ph idx="1" type="body"/>
          </p:nvPr>
        </p:nvSpPr>
        <p:spPr>
          <a:xfrm>
            <a:off x="1195387" y="1712912"/>
            <a:ext cx="8075700" cy="4048200"/>
          </a:xfrm>
          <a:prstGeom prst="rect">
            <a:avLst/>
          </a:prstGeom>
          <a:noFill/>
          <a:ln>
            <a:noFill/>
          </a:ln>
        </p:spPr>
        <p:txBody>
          <a:bodyPr anchorCtr="0" anchor="t" bIns="45700" lIns="91425" spcFirstLastPara="1" rIns="91425" wrap="square" tIns="45700">
            <a:noAutofit/>
          </a:bodyPr>
          <a:lstStyle/>
          <a:p>
            <a:pPr indent="-463550" lvl="0" marL="463550" rtl="0" algn="l">
              <a:lnSpc>
                <a:spcPct val="80000"/>
              </a:lnSpc>
              <a:spcBef>
                <a:spcPts val="0"/>
              </a:spcBef>
              <a:spcAft>
                <a:spcPts val="0"/>
              </a:spcAft>
              <a:buClr>
                <a:srgbClr val="0000FF"/>
              </a:buClr>
              <a:buSzPts val="2400"/>
              <a:buNone/>
            </a:pPr>
            <a:r>
              <a:rPr b="0" i="0" lang="en-US" sz="2400" u="none">
                <a:solidFill>
                  <a:srgbClr val="0000FF"/>
                </a:solidFill>
                <a:latin typeface="Arial"/>
                <a:ea typeface="Arial"/>
                <a:cs typeface="Arial"/>
                <a:sym typeface="Arial"/>
              </a:rPr>
              <a:t>int </a:t>
            </a:r>
            <a:r>
              <a:rPr b="0" i="0" lang="en-US" sz="2400" u="none">
                <a:solidFill>
                  <a:schemeClr val="dk1"/>
                </a:solidFill>
                <a:latin typeface="Arial"/>
                <a:ea typeface="Arial"/>
                <a:cs typeface="Arial"/>
                <a:sym typeface="Arial"/>
              </a:rPr>
              <a:t>b[MAX], c[MAX], nb, nc;</a:t>
            </a:r>
            <a:endParaRPr/>
          </a:p>
          <a:p>
            <a:pPr indent="-463550" lvl="0" marL="463550" rtl="0" algn="l">
              <a:lnSpc>
                <a:spcPct val="80000"/>
              </a:lnSpc>
              <a:spcBef>
                <a:spcPts val="480"/>
              </a:spcBef>
              <a:spcAft>
                <a:spcPts val="0"/>
              </a:spcAft>
              <a:buClr>
                <a:schemeClr val="dk1"/>
              </a:buClr>
              <a:buSzPts val="2400"/>
              <a:buNone/>
            </a:pPr>
            <a:r>
              <a:t/>
            </a:r>
            <a:endParaRPr b="0" i="0" sz="2400" u="none">
              <a:solidFill>
                <a:srgbClr val="0000FF"/>
              </a:solidFill>
              <a:latin typeface="Arial"/>
              <a:ea typeface="Arial"/>
              <a:cs typeface="Arial"/>
              <a:sym typeface="Arial"/>
            </a:endParaRPr>
          </a:p>
          <a:p>
            <a:pPr indent="-463550" lvl="0" marL="463550" rtl="0" algn="l">
              <a:lnSpc>
                <a:spcPct val="80000"/>
              </a:lnSpc>
              <a:spcBef>
                <a:spcPts val="480"/>
              </a:spcBef>
              <a:spcAft>
                <a:spcPts val="0"/>
              </a:spcAft>
              <a:buClr>
                <a:srgbClr val="0000FF"/>
              </a:buClr>
              <a:buSzPts val="2400"/>
              <a:buNone/>
            </a:pPr>
            <a:r>
              <a:rPr b="0" i="0" lang="en-US" sz="2400" u="none">
                <a:solidFill>
                  <a:srgbClr val="0000FF"/>
                </a:solidFill>
                <a:latin typeface="Arial"/>
                <a:ea typeface="Arial"/>
                <a:cs typeface="Arial"/>
                <a:sym typeface="Arial"/>
              </a:rPr>
              <a:t>void</a:t>
            </a:r>
            <a:r>
              <a:rPr b="0" i="0" lang="en-US" sz="2400" u="none">
                <a:solidFill>
                  <a:srgbClr val="000000"/>
                </a:solidFill>
                <a:latin typeface="Arial"/>
                <a:ea typeface="Arial"/>
                <a:cs typeface="Arial"/>
                <a:sym typeface="Arial"/>
              </a:rPr>
              <a:t> </a:t>
            </a:r>
            <a:r>
              <a:rPr b="0" i="0" lang="en-US" sz="2400" u="none">
                <a:solidFill>
                  <a:schemeClr val="dk1"/>
                </a:solidFill>
                <a:latin typeface="Arial"/>
                <a:ea typeface="Arial"/>
                <a:cs typeface="Arial"/>
                <a:sym typeface="Arial"/>
              </a:rPr>
              <a:t>MergeSort</a:t>
            </a:r>
            <a:r>
              <a:rPr b="0" i="0" lang="en-US" sz="2400" u="none">
                <a:solidFill>
                  <a:srgbClr val="000000"/>
                </a:solidFill>
                <a:latin typeface="Arial"/>
                <a:ea typeface="Arial"/>
                <a:cs typeface="Arial"/>
                <a:sym typeface="Arial"/>
              </a:rPr>
              <a:t>(</a:t>
            </a:r>
            <a:r>
              <a:rPr b="0" i="0" lang="en-US" sz="2400" u="none">
                <a:solidFill>
                  <a:srgbClr val="0000FF"/>
                </a:solidFill>
                <a:latin typeface="Arial"/>
                <a:ea typeface="Arial"/>
                <a:cs typeface="Arial"/>
                <a:sym typeface="Arial"/>
              </a:rPr>
              <a:t>int</a:t>
            </a:r>
            <a:r>
              <a:rPr b="0" i="0" lang="en-US" sz="2400" u="none">
                <a:solidFill>
                  <a:srgbClr val="000000"/>
                </a:solidFill>
                <a:latin typeface="Arial"/>
                <a:ea typeface="Arial"/>
                <a:cs typeface="Arial"/>
                <a:sym typeface="Arial"/>
              </a:rPr>
              <a:t> a[], </a:t>
            </a:r>
            <a:r>
              <a:rPr b="0" i="0" lang="en-US" sz="2400" u="none">
                <a:solidFill>
                  <a:srgbClr val="0000FF"/>
                </a:solidFill>
                <a:latin typeface="Arial"/>
                <a:ea typeface="Arial"/>
                <a:cs typeface="Arial"/>
                <a:sym typeface="Arial"/>
              </a:rPr>
              <a:t>int</a:t>
            </a:r>
            <a:r>
              <a:rPr b="0" i="0" lang="en-US" sz="2400" u="none">
                <a:solidFill>
                  <a:srgbClr val="000000"/>
                </a:solidFill>
                <a:latin typeface="Arial"/>
                <a:ea typeface="Arial"/>
                <a:cs typeface="Arial"/>
                <a:sym typeface="Arial"/>
              </a:rPr>
              <a:t> N)</a:t>
            </a:r>
            <a:endParaRPr/>
          </a:p>
          <a:p>
            <a:pPr indent="-463550" lvl="0" marL="463550" rtl="0" algn="l">
              <a:lnSpc>
                <a:spcPct val="80000"/>
              </a:lnSpc>
              <a:spcBef>
                <a:spcPts val="480"/>
              </a:spcBef>
              <a:spcAft>
                <a:spcPts val="0"/>
              </a:spcAft>
              <a:buClr>
                <a:srgbClr val="000000"/>
              </a:buClr>
              <a:buSzPts val="2400"/>
              <a:buNone/>
            </a:pPr>
            <a:r>
              <a:rPr b="0" i="0" lang="en-US" sz="2400" u="none">
                <a:solidFill>
                  <a:srgbClr val="000000"/>
                </a:solidFill>
                <a:latin typeface="Arial"/>
                <a:ea typeface="Arial"/>
                <a:cs typeface="Arial"/>
                <a:sym typeface="Arial"/>
              </a:rPr>
              <a:t>{ 	</a:t>
            </a:r>
            <a:endParaRPr/>
          </a:p>
          <a:p>
            <a:pPr indent="-463550" lvl="0" marL="463550" rtl="0" algn="l">
              <a:lnSpc>
                <a:spcPct val="80000"/>
              </a:lnSpc>
              <a:spcBef>
                <a:spcPts val="480"/>
              </a:spcBef>
              <a:spcAft>
                <a:spcPts val="0"/>
              </a:spcAft>
              <a:buClr>
                <a:srgbClr val="000000"/>
              </a:buClr>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int</a:t>
            </a:r>
            <a:r>
              <a:rPr b="0" i="0" lang="en-US" sz="2400" u="none">
                <a:solidFill>
                  <a:srgbClr val="000000"/>
                </a:solidFill>
                <a:latin typeface="Arial"/>
                <a:ea typeface="Arial"/>
                <a:cs typeface="Arial"/>
                <a:sym typeface="Arial"/>
              </a:rPr>
              <a:t>	k;</a:t>
            </a:r>
            <a:endParaRPr/>
          </a:p>
          <a:p>
            <a:pPr indent="-463550" lvl="0" marL="463550" rtl="0" algn="l">
              <a:lnSpc>
                <a:spcPct val="80000"/>
              </a:lnSpc>
              <a:spcBef>
                <a:spcPts val="480"/>
              </a:spcBef>
              <a:spcAft>
                <a:spcPts val="0"/>
              </a:spcAft>
              <a:buClr>
                <a:srgbClr val="000000"/>
              </a:buClr>
              <a:buSzPts val="2400"/>
              <a:buNone/>
            </a:pPr>
            <a:r>
              <a:rPr b="0" i="0" lang="en-US" sz="2400" u="none">
                <a:solidFill>
                  <a:srgbClr val="000000"/>
                </a:solidFill>
                <a:latin typeface="Arial"/>
                <a:ea typeface="Arial"/>
                <a:cs typeface="Arial"/>
                <a:sym typeface="Arial"/>
              </a:rPr>
              <a:t>	</a:t>
            </a:r>
            <a:r>
              <a:rPr b="0" i="0" lang="en-US" sz="2400" u="none">
                <a:solidFill>
                  <a:srgbClr val="0000FF"/>
                </a:solidFill>
                <a:latin typeface="Arial"/>
                <a:ea typeface="Arial"/>
                <a:cs typeface="Arial"/>
                <a:sym typeface="Arial"/>
              </a:rPr>
              <a:t>for </a:t>
            </a:r>
            <a:r>
              <a:rPr b="0" i="0" lang="en-US" sz="2400" u="none">
                <a:solidFill>
                  <a:srgbClr val="000000"/>
                </a:solidFill>
                <a:latin typeface="Arial"/>
                <a:ea typeface="Arial"/>
                <a:cs typeface="Arial"/>
                <a:sym typeface="Arial"/>
              </a:rPr>
              <a:t>(k = 1; k &lt; N; k *= 2) </a:t>
            </a:r>
            <a:endParaRPr/>
          </a:p>
          <a:p>
            <a:pPr indent="-463550" lvl="0" marL="463550" rtl="0" algn="l">
              <a:lnSpc>
                <a:spcPct val="80000"/>
              </a:lnSpc>
              <a:spcBef>
                <a:spcPts val="480"/>
              </a:spcBef>
              <a:spcAft>
                <a:spcPts val="0"/>
              </a:spcAft>
              <a:buClr>
                <a:srgbClr val="000000"/>
              </a:buClr>
              <a:buSzPts val="2400"/>
              <a:buNone/>
            </a:pPr>
            <a:r>
              <a:rPr b="0" i="0" lang="en-US" sz="2400" u="none">
                <a:solidFill>
                  <a:srgbClr val="000000"/>
                </a:solidFill>
                <a:latin typeface="Arial"/>
                <a:ea typeface="Arial"/>
                <a:cs typeface="Arial"/>
                <a:sym typeface="Arial"/>
              </a:rPr>
              <a:t>	{</a:t>
            </a:r>
            <a:endParaRPr/>
          </a:p>
          <a:p>
            <a:pPr indent="-463550" lvl="0" marL="463550" rtl="0" algn="l">
              <a:lnSpc>
                <a:spcPct val="80000"/>
              </a:lnSpc>
              <a:spcBef>
                <a:spcPts val="480"/>
              </a:spcBef>
              <a:spcAft>
                <a:spcPts val="0"/>
              </a:spcAft>
              <a:buClr>
                <a:srgbClr val="000000"/>
              </a:buClr>
              <a:buSzPts val="2400"/>
              <a:buNone/>
            </a:pPr>
            <a:r>
              <a:rPr b="0" i="0" lang="en-US" sz="2400" u="none">
                <a:solidFill>
                  <a:srgbClr val="000000"/>
                </a:solidFill>
                <a:latin typeface="Arial"/>
                <a:ea typeface="Arial"/>
                <a:cs typeface="Arial"/>
                <a:sym typeface="Arial"/>
              </a:rPr>
              <a:t>		</a:t>
            </a:r>
            <a:r>
              <a:rPr b="0" i="0" lang="en-US" sz="2400" u="none">
                <a:solidFill>
                  <a:schemeClr val="dk1"/>
                </a:solidFill>
                <a:latin typeface="Arial"/>
                <a:ea typeface="Arial"/>
                <a:cs typeface="Arial"/>
                <a:sym typeface="Arial"/>
              </a:rPr>
              <a:t>Distribute</a:t>
            </a:r>
            <a:r>
              <a:rPr b="0" i="0" lang="en-US" sz="2400" u="none">
                <a:solidFill>
                  <a:srgbClr val="000000"/>
                </a:solidFill>
                <a:latin typeface="Arial"/>
                <a:ea typeface="Arial"/>
                <a:cs typeface="Arial"/>
                <a:sym typeface="Arial"/>
              </a:rPr>
              <a:t>(a, N, nb, nc, k);</a:t>
            </a:r>
            <a:endParaRPr/>
          </a:p>
          <a:p>
            <a:pPr indent="-463550" lvl="0" marL="463550" rtl="0" algn="l">
              <a:lnSpc>
                <a:spcPct val="80000"/>
              </a:lnSpc>
              <a:spcBef>
                <a:spcPts val="480"/>
              </a:spcBef>
              <a:spcAft>
                <a:spcPts val="0"/>
              </a:spcAft>
              <a:buClr>
                <a:srgbClr val="000000"/>
              </a:buClr>
              <a:buSzPts val="2400"/>
              <a:buNone/>
            </a:pPr>
            <a:r>
              <a:rPr b="0" i="0" lang="en-US" sz="2400" u="none">
                <a:solidFill>
                  <a:srgbClr val="000000"/>
                </a:solidFill>
                <a:latin typeface="Arial"/>
                <a:ea typeface="Arial"/>
                <a:cs typeface="Arial"/>
                <a:sym typeface="Arial"/>
              </a:rPr>
              <a:t>		</a:t>
            </a:r>
            <a:r>
              <a:rPr b="0" i="0" lang="en-US" sz="2400" u="none">
                <a:solidFill>
                  <a:schemeClr val="dk1"/>
                </a:solidFill>
                <a:latin typeface="Arial"/>
                <a:ea typeface="Arial"/>
                <a:cs typeface="Arial"/>
                <a:sym typeface="Arial"/>
              </a:rPr>
              <a:t>Merge</a:t>
            </a:r>
            <a:r>
              <a:rPr b="0" i="0" lang="en-US" sz="2400" u="none">
                <a:solidFill>
                  <a:srgbClr val="000000"/>
                </a:solidFill>
                <a:latin typeface="Arial"/>
                <a:ea typeface="Arial"/>
                <a:cs typeface="Arial"/>
                <a:sym typeface="Arial"/>
              </a:rPr>
              <a:t>(a, nb, nc, k);</a:t>
            </a:r>
            <a:endParaRPr/>
          </a:p>
          <a:p>
            <a:pPr indent="-463550" lvl="0" marL="463550" rtl="0" algn="l">
              <a:lnSpc>
                <a:spcPct val="80000"/>
              </a:lnSpc>
              <a:spcBef>
                <a:spcPts val="480"/>
              </a:spcBef>
              <a:spcAft>
                <a:spcPts val="0"/>
              </a:spcAft>
              <a:buClr>
                <a:srgbClr val="000000"/>
              </a:buClr>
              <a:buSzPts val="2400"/>
              <a:buNone/>
            </a:pPr>
            <a:r>
              <a:rPr b="0" i="0" lang="en-US" sz="2400" u="none">
                <a:solidFill>
                  <a:srgbClr val="000000"/>
                </a:solidFill>
                <a:latin typeface="Arial"/>
                <a:ea typeface="Arial"/>
                <a:cs typeface="Arial"/>
                <a:sym typeface="Arial"/>
              </a:rPr>
              <a:t>	}</a:t>
            </a:r>
            <a:endParaRPr/>
          </a:p>
          <a:p>
            <a:pPr indent="-463550" lvl="0" marL="463550" rtl="0" algn="l">
              <a:lnSpc>
                <a:spcPct val="80000"/>
              </a:lnSpc>
              <a:spcBef>
                <a:spcPts val="480"/>
              </a:spcBef>
              <a:spcAft>
                <a:spcPts val="0"/>
              </a:spcAft>
              <a:buClr>
                <a:srgbClr val="000000"/>
              </a:buClr>
              <a:buSzPts val="2400"/>
              <a:buNone/>
            </a:pPr>
            <a:r>
              <a:rPr b="0" i="0" lang="en-US" sz="2400" u="none">
                <a:solidFill>
                  <a:srgbClr val="000000"/>
                </a:solidFill>
                <a:latin typeface="Arial"/>
                <a:ea typeface="Arial"/>
                <a:cs typeface="Arial"/>
                <a:sym typeface="Arial"/>
              </a:rPr>
              <a:t>}</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1" name="Shape 3101"/>
        <p:cNvGrpSpPr/>
        <p:nvPr/>
      </p:nvGrpSpPr>
      <p:grpSpPr>
        <a:xfrm>
          <a:off x="0" y="0"/>
          <a:ext cx="0" cy="0"/>
          <a:chOff x="0" y="0"/>
          <a:chExt cx="0" cy="0"/>
        </a:xfrm>
      </p:grpSpPr>
      <p:sp>
        <p:nvSpPr>
          <p:cNvPr id="3102" name="Google Shape;3102;p176"/>
          <p:cNvSpPr txBox="1"/>
          <p:nvPr>
            <p:ph type="title"/>
          </p:nvPr>
        </p:nvSpPr>
        <p:spPr>
          <a:xfrm>
            <a:off x="704850" y="0"/>
            <a:ext cx="9201150" cy="749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Merge Sort – Cài Đặt</a:t>
            </a:r>
            <a:endParaRPr/>
          </a:p>
        </p:txBody>
      </p:sp>
      <p:sp>
        <p:nvSpPr>
          <p:cNvPr id="3103" name="Google Shape;3103;p176"/>
          <p:cNvSpPr txBox="1"/>
          <p:nvPr>
            <p:ph idx="1" type="body"/>
          </p:nvPr>
        </p:nvSpPr>
        <p:spPr>
          <a:xfrm>
            <a:off x="1774462" y="1176337"/>
            <a:ext cx="9085200" cy="502770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rgbClr val="0000FF"/>
              </a:buClr>
              <a:buSzPts val="2000"/>
              <a:buNone/>
            </a:pPr>
            <a:r>
              <a:rPr b="1" i="0" lang="en-US" sz="2000" u="none">
                <a:solidFill>
                  <a:srgbClr val="0000FF"/>
                </a:solidFill>
                <a:latin typeface="Arial"/>
                <a:ea typeface="Arial"/>
                <a:cs typeface="Arial"/>
                <a:sym typeface="Arial"/>
              </a:rPr>
              <a:t>void</a:t>
            </a:r>
            <a:r>
              <a:rPr b="1" i="0" lang="en-US" sz="2000" u="none">
                <a:solidFill>
                  <a:srgbClr val="000000"/>
                </a:solidFill>
                <a:latin typeface="Arial"/>
                <a:ea typeface="Arial"/>
                <a:cs typeface="Arial"/>
                <a:sym typeface="Arial"/>
              </a:rPr>
              <a:t> </a:t>
            </a:r>
            <a:r>
              <a:rPr b="1" i="0" lang="en-US" sz="2000" u="none">
                <a:solidFill>
                  <a:srgbClr val="FF0000"/>
                </a:solidFill>
                <a:latin typeface="Arial"/>
                <a:ea typeface="Arial"/>
                <a:cs typeface="Arial"/>
                <a:sym typeface="Arial"/>
              </a:rPr>
              <a:t>Distribute</a:t>
            </a:r>
            <a:r>
              <a:rPr b="1" i="0" lang="en-US" sz="2000" u="none">
                <a:solidFill>
                  <a:srgbClr val="000000"/>
                </a:solidFill>
                <a:latin typeface="Arial"/>
                <a:ea typeface="Arial"/>
                <a:cs typeface="Arial"/>
                <a:sym typeface="Arial"/>
              </a:rPr>
              <a:t>(</a:t>
            </a:r>
            <a:r>
              <a:rPr b="1" i="0" lang="en-US" sz="2000" u="none">
                <a:solidFill>
                  <a:srgbClr val="0000FF"/>
                </a:solidFill>
                <a:latin typeface="Arial"/>
                <a:ea typeface="Arial"/>
                <a:cs typeface="Arial"/>
                <a:sym typeface="Arial"/>
              </a:rPr>
              <a:t>int </a:t>
            </a:r>
            <a:r>
              <a:rPr b="1" i="0" lang="en-US" sz="2000" u="none">
                <a:solidFill>
                  <a:srgbClr val="000000"/>
                </a:solidFill>
                <a:latin typeface="Arial"/>
                <a:ea typeface="Arial"/>
                <a:cs typeface="Arial"/>
                <a:sym typeface="Arial"/>
              </a:rPr>
              <a:t> a[], </a:t>
            </a:r>
            <a:r>
              <a:rPr b="1" i="0" lang="en-US" sz="2000" u="none">
                <a:solidFill>
                  <a:srgbClr val="0000FF"/>
                </a:solidFill>
                <a:latin typeface="Arial"/>
                <a:ea typeface="Arial"/>
                <a:cs typeface="Arial"/>
                <a:sym typeface="Arial"/>
              </a:rPr>
              <a:t>int</a:t>
            </a:r>
            <a:r>
              <a:rPr b="1" i="0" lang="en-US" sz="2000" u="none">
                <a:solidFill>
                  <a:srgbClr val="000000"/>
                </a:solidFill>
                <a:latin typeface="Arial"/>
                <a:ea typeface="Arial"/>
                <a:cs typeface="Arial"/>
                <a:sym typeface="Arial"/>
              </a:rPr>
              <a:t> N, </a:t>
            </a:r>
            <a:r>
              <a:rPr b="1" i="0" lang="en-US" sz="2000" u="none">
                <a:solidFill>
                  <a:srgbClr val="0000FF"/>
                </a:solidFill>
                <a:latin typeface="Arial"/>
                <a:ea typeface="Arial"/>
                <a:cs typeface="Arial"/>
                <a:sym typeface="Arial"/>
              </a:rPr>
              <a:t>int</a:t>
            </a:r>
            <a:r>
              <a:rPr b="1" i="0" lang="en-US" sz="2000" u="none">
                <a:solidFill>
                  <a:srgbClr val="000000"/>
                </a:solidFill>
                <a:latin typeface="Arial"/>
                <a:ea typeface="Arial"/>
                <a:cs typeface="Arial"/>
                <a:sym typeface="Arial"/>
              </a:rPr>
              <a:t> &amp;nb, </a:t>
            </a:r>
            <a:r>
              <a:rPr b="1" i="0" lang="en-US" sz="2000" u="none">
                <a:solidFill>
                  <a:srgbClr val="0000FF"/>
                </a:solidFill>
                <a:latin typeface="Arial"/>
                <a:ea typeface="Arial"/>
                <a:cs typeface="Arial"/>
                <a:sym typeface="Arial"/>
              </a:rPr>
              <a:t>int &amp;</a:t>
            </a:r>
            <a:r>
              <a:rPr b="1" i="0" lang="en-US" sz="2000" u="none">
                <a:solidFill>
                  <a:srgbClr val="000000"/>
                </a:solidFill>
                <a:latin typeface="Arial"/>
                <a:ea typeface="Arial"/>
                <a:cs typeface="Arial"/>
                <a:sym typeface="Arial"/>
              </a:rPr>
              <a:t>nc, </a:t>
            </a:r>
            <a:r>
              <a:rPr b="1" i="0" lang="en-US" sz="2000" u="none">
                <a:solidFill>
                  <a:srgbClr val="0000FF"/>
                </a:solidFill>
                <a:latin typeface="Arial"/>
                <a:ea typeface="Arial"/>
                <a:cs typeface="Arial"/>
                <a:sym typeface="Arial"/>
              </a:rPr>
              <a:t>int </a:t>
            </a:r>
            <a:r>
              <a:rPr b="1" i="0" lang="en-US" sz="2000" u="none">
                <a:solidFill>
                  <a:srgbClr val="000000"/>
                </a:solidFill>
                <a:latin typeface="Arial"/>
                <a:ea typeface="Arial"/>
                <a:cs typeface="Arial"/>
                <a:sym typeface="Arial"/>
              </a:rPr>
              <a:t>k)</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a:t>
            </a:r>
            <a:r>
              <a:rPr b="1" i="0" lang="en-US" sz="2000" u="none">
                <a:solidFill>
                  <a:srgbClr val="0000FF"/>
                </a:solidFill>
                <a:latin typeface="Arial"/>
                <a:ea typeface="Arial"/>
                <a:cs typeface="Arial"/>
                <a:sym typeface="Arial"/>
              </a:rPr>
              <a:t>int</a:t>
            </a:r>
            <a:r>
              <a:rPr b="1" i="0" lang="en-US" sz="2000" u="none">
                <a:solidFill>
                  <a:srgbClr val="000000"/>
                </a:solidFill>
                <a:latin typeface="Arial"/>
                <a:ea typeface="Arial"/>
                <a:cs typeface="Arial"/>
                <a:sym typeface="Arial"/>
              </a:rPr>
              <a:t>	 i, pa, pb, pc;</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pa = pb = pc = 0;</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a:t>
            </a:r>
            <a:r>
              <a:rPr b="1" i="0" lang="en-US" sz="2000" u="none">
                <a:solidFill>
                  <a:srgbClr val="0000FF"/>
                </a:solidFill>
                <a:latin typeface="Arial"/>
                <a:ea typeface="Arial"/>
                <a:cs typeface="Arial"/>
                <a:sym typeface="Arial"/>
              </a:rPr>
              <a:t>while </a:t>
            </a:r>
            <a:r>
              <a:rPr b="1" i="0" lang="en-US" sz="2000" u="none">
                <a:solidFill>
                  <a:srgbClr val="000000"/>
                </a:solidFill>
                <a:latin typeface="Arial"/>
                <a:ea typeface="Arial"/>
                <a:cs typeface="Arial"/>
                <a:sym typeface="Arial"/>
              </a:rPr>
              <a:t>(pa &lt; N)</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a:t>
            </a:r>
            <a:r>
              <a:rPr b="1" i="0" lang="en-US" sz="2000" u="none">
                <a:solidFill>
                  <a:srgbClr val="0000FF"/>
                </a:solidFill>
                <a:latin typeface="Arial"/>
                <a:ea typeface="Arial"/>
                <a:cs typeface="Arial"/>
                <a:sym typeface="Arial"/>
              </a:rPr>
              <a:t>for</a:t>
            </a:r>
            <a:r>
              <a:rPr b="1" i="0" lang="en-US" sz="2000" u="none">
                <a:solidFill>
                  <a:schemeClr val="dk1"/>
                </a:solidFill>
                <a:latin typeface="Arial"/>
                <a:ea typeface="Arial"/>
                <a:cs typeface="Arial"/>
                <a:sym typeface="Arial"/>
              </a:rPr>
              <a:t> (i=0; (pa&lt;N) &amp;&amp; (i&lt;k); i++, pa++, pb++)</a:t>
            </a:r>
            <a:endParaRPr/>
          </a:p>
          <a:p>
            <a:pPr indent="-463550" lvl="0" marL="463550" rtl="0" algn="l">
              <a:lnSpc>
                <a:spcPct val="90000"/>
              </a:lnSpc>
              <a:spcBef>
                <a:spcPts val="400"/>
              </a:spcBef>
              <a:spcAft>
                <a:spcPts val="0"/>
              </a:spcAft>
              <a:buClr>
                <a:schemeClr val="dk1"/>
              </a:buClr>
              <a:buSzPts val="2000"/>
              <a:buNone/>
            </a:pPr>
            <a:r>
              <a:rPr b="1" i="0" lang="en-US" sz="2000" u="none">
                <a:solidFill>
                  <a:schemeClr val="dk1"/>
                </a:solidFill>
                <a:latin typeface="Arial"/>
                <a:ea typeface="Arial"/>
                <a:cs typeface="Arial"/>
                <a:sym typeface="Arial"/>
              </a:rPr>
              <a:t>			b[pb] = a[pa];</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a:t>
            </a:r>
            <a:r>
              <a:rPr b="1" i="0" lang="en-US" sz="2000" u="none">
                <a:solidFill>
                  <a:srgbClr val="0000FF"/>
                </a:solidFill>
                <a:latin typeface="Arial"/>
                <a:ea typeface="Arial"/>
                <a:cs typeface="Arial"/>
                <a:sym typeface="Arial"/>
              </a:rPr>
              <a:t>for</a:t>
            </a:r>
            <a:r>
              <a:rPr b="1" i="0" lang="en-US" sz="2000" u="none">
                <a:solidFill>
                  <a:schemeClr val="dk1"/>
                </a:solidFill>
                <a:latin typeface="Arial"/>
                <a:ea typeface="Arial"/>
                <a:cs typeface="Arial"/>
                <a:sym typeface="Arial"/>
              </a:rPr>
              <a:t> (i=0; (pa&lt;N) &amp;&amp; (i&lt;k); i++, pa++, pc++)</a:t>
            </a:r>
            <a:endParaRPr/>
          </a:p>
          <a:p>
            <a:pPr indent="-463550" lvl="0" marL="463550" rtl="0" algn="l">
              <a:lnSpc>
                <a:spcPct val="90000"/>
              </a:lnSpc>
              <a:spcBef>
                <a:spcPts val="400"/>
              </a:spcBef>
              <a:spcAft>
                <a:spcPts val="0"/>
              </a:spcAft>
              <a:buClr>
                <a:schemeClr val="dk1"/>
              </a:buClr>
              <a:buSzPts val="2000"/>
              <a:buNone/>
            </a:pPr>
            <a:r>
              <a:rPr b="1" i="0" lang="en-US" sz="2000" u="none">
                <a:solidFill>
                  <a:schemeClr val="dk1"/>
                </a:solidFill>
                <a:latin typeface="Arial"/>
                <a:ea typeface="Arial"/>
                <a:cs typeface="Arial"/>
                <a:sym typeface="Arial"/>
              </a:rPr>
              <a:t>			c[pc] = a[pa];</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	nb = pb;	nc = pc;</a:t>
            </a:r>
            <a:endParaRPr/>
          </a:p>
          <a:p>
            <a:pPr indent="-463550" lvl="0" marL="463550" rtl="0" algn="l">
              <a:lnSpc>
                <a:spcPct val="90000"/>
              </a:lnSpc>
              <a:spcBef>
                <a:spcPts val="400"/>
              </a:spcBef>
              <a:spcAft>
                <a:spcPts val="0"/>
              </a:spcAft>
              <a:buClr>
                <a:srgbClr val="000000"/>
              </a:buClr>
              <a:buSzPts val="2000"/>
              <a:buNone/>
            </a:pPr>
            <a:r>
              <a:rPr b="1" i="0" lang="en-US" sz="2000" u="none">
                <a:solidFill>
                  <a:srgbClr val="000000"/>
                </a:solidFill>
                <a:latin typeface="Arial"/>
                <a:ea typeface="Arial"/>
                <a:cs typeface="Arial"/>
                <a:sym typeface="Arial"/>
              </a:rPr>
              <a:t>}</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7" name="Shape 3107"/>
        <p:cNvGrpSpPr/>
        <p:nvPr/>
      </p:nvGrpSpPr>
      <p:grpSpPr>
        <a:xfrm>
          <a:off x="0" y="0"/>
          <a:ext cx="0" cy="0"/>
          <a:chOff x="0" y="0"/>
          <a:chExt cx="0" cy="0"/>
        </a:xfrm>
      </p:grpSpPr>
      <p:sp>
        <p:nvSpPr>
          <p:cNvPr id="3108" name="Google Shape;3108;p177"/>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200"/>
              <a:buFont typeface="Arial"/>
              <a:buNone/>
            </a:pPr>
            <a:r>
              <a:rPr b="1" i="0" lang="en-US" sz="3200" u="none">
                <a:solidFill>
                  <a:srgbClr val="FFF3F3"/>
                </a:solidFill>
                <a:latin typeface="Arial"/>
                <a:ea typeface="Arial"/>
                <a:cs typeface="Arial"/>
                <a:sym typeface="Arial"/>
              </a:rPr>
              <a:t>Các Thuật Toán Sắp Xếp</a:t>
            </a:r>
            <a:endParaRPr/>
          </a:p>
        </p:txBody>
      </p:sp>
      <p:sp>
        <p:nvSpPr>
          <p:cNvPr id="3109" name="Google Shape;3109;p177"/>
          <p:cNvSpPr txBox="1"/>
          <p:nvPr>
            <p:ph idx="1" type="body"/>
          </p:nvPr>
        </p:nvSpPr>
        <p:spPr>
          <a:xfrm>
            <a:off x="1062037" y="1044575"/>
            <a:ext cx="8499475" cy="548005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800"/>
              <a:buNone/>
            </a:pPr>
            <a:r>
              <a:rPr b="0" i="0" lang="en-US" sz="2800" u="none">
                <a:solidFill>
                  <a:schemeClr val="dk1"/>
                </a:solidFill>
                <a:latin typeface="Arial"/>
                <a:ea typeface="Arial"/>
                <a:cs typeface="Arial"/>
                <a:sym typeface="Arial"/>
              </a:rPr>
              <a:t>1. Đổi chỗ trực tiếp – Interchange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2. Nổi bọt – Bubble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3. Shaker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4. Chèn trực tiếp – Insertion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5. Chèn nhị phân – Binary Insertion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6. Shell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7. Chọn trực tiếp – Selection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8. Quick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9. Merge Sort</a:t>
            </a:r>
            <a:endParaRPr/>
          </a:p>
          <a:p>
            <a:pPr indent="-463550" lvl="0" marL="463550" rtl="0" algn="l">
              <a:lnSpc>
                <a:spcPct val="90000"/>
              </a:lnSpc>
              <a:spcBef>
                <a:spcPts val="560"/>
              </a:spcBef>
              <a:spcAft>
                <a:spcPts val="0"/>
              </a:spcAft>
              <a:buClr>
                <a:schemeClr val="dk1"/>
              </a:buClr>
              <a:buSzPts val="2800"/>
              <a:buNone/>
            </a:pPr>
            <a:r>
              <a:rPr b="0" i="0" lang="en-US" sz="2800" u="none">
                <a:solidFill>
                  <a:schemeClr val="dk1"/>
                </a:solidFill>
                <a:latin typeface="Arial"/>
                <a:ea typeface="Arial"/>
                <a:cs typeface="Arial"/>
                <a:sym typeface="Arial"/>
              </a:rPr>
              <a:t>10. Heap Sort </a:t>
            </a:r>
            <a:endParaRPr/>
          </a:p>
          <a:p>
            <a:pPr indent="-463550" lvl="0" marL="463550" rtl="0" algn="l">
              <a:lnSpc>
                <a:spcPct val="90000"/>
              </a:lnSpc>
              <a:spcBef>
                <a:spcPts val="640"/>
              </a:spcBef>
              <a:spcAft>
                <a:spcPts val="0"/>
              </a:spcAft>
              <a:buClr>
                <a:schemeClr val="dk1"/>
              </a:buClr>
              <a:buSzPts val="3200"/>
              <a:buNone/>
            </a:pPr>
            <a:r>
              <a:rPr b="1" i="0" lang="en-US" sz="3200" u="none">
                <a:solidFill>
                  <a:schemeClr val="dk1"/>
                </a:solidFill>
                <a:latin typeface="Arial"/>
                <a:ea typeface="Arial"/>
                <a:cs typeface="Arial"/>
                <a:sym typeface="Arial"/>
              </a:rPr>
              <a:t>11. Radix Sort</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3" name="Shape 3113"/>
        <p:cNvGrpSpPr/>
        <p:nvPr/>
      </p:nvGrpSpPr>
      <p:grpSpPr>
        <a:xfrm>
          <a:off x="0" y="0"/>
          <a:ext cx="0" cy="0"/>
          <a:chOff x="0" y="0"/>
          <a:chExt cx="0" cy="0"/>
        </a:xfrm>
      </p:grpSpPr>
      <p:sp>
        <p:nvSpPr>
          <p:cNvPr id="3114" name="Google Shape;3114;p17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400"/>
              <a:buFont typeface="Arial"/>
              <a:buNone/>
            </a:pPr>
            <a:r>
              <a:rPr b="1" i="0" lang="en-US" sz="2400" u="none">
                <a:solidFill>
                  <a:srgbClr val="FFF3F3"/>
                </a:solidFill>
                <a:latin typeface="Arial"/>
                <a:ea typeface="Arial"/>
                <a:cs typeface="Arial"/>
                <a:sym typeface="Arial"/>
              </a:rPr>
              <a:t>Sắp Xếp Theo Phương Pháp Cơ Số Radix Sort</a:t>
            </a:r>
            <a:r>
              <a:rPr b="1" i="0" lang="en-US" sz="3200" u="none">
                <a:solidFill>
                  <a:srgbClr val="FFF3F3"/>
                </a:solidFill>
                <a:latin typeface="Arial"/>
                <a:ea typeface="Arial"/>
                <a:cs typeface="Arial"/>
                <a:sym typeface="Arial"/>
              </a:rPr>
              <a:t> </a:t>
            </a:r>
            <a:endParaRPr/>
          </a:p>
        </p:txBody>
      </p:sp>
      <p:sp>
        <p:nvSpPr>
          <p:cNvPr id="3115" name="Google Shape;3115;p178"/>
          <p:cNvSpPr txBox="1"/>
          <p:nvPr>
            <p:ph idx="1" type="body"/>
          </p:nvPr>
        </p:nvSpPr>
        <p:spPr>
          <a:xfrm>
            <a:off x="992187" y="981075"/>
            <a:ext cx="8569325" cy="5543550"/>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Radix Sort là một thuật toán tiếp cận theo một hướng hoàn toàn khác. </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Nếu như trong các thuật toán khác, cơ sở để sắp xếp luôn là việc so sánh giá trị của 2 phần tử thì Radix Sort lại dựa trên nguyên tắc phân loại thư của bưu điện. Vì lý do đó Radix Sort còn có tên là Postman’s sort. </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Radix Sort không hề quan tâm đến việc so sánh giá trị của phần tử mà bản thân việc phân loại và trình tự phân loại sẽ tạo ra thứ tự cho các phần tử. </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9" name="Shape 3119"/>
        <p:cNvGrpSpPr/>
        <p:nvPr/>
      </p:nvGrpSpPr>
      <p:grpSpPr>
        <a:xfrm>
          <a:off x="0" y="0"/>
          <a:ext cx="0" cy="0"/>
          <a:chOff x="0" y="0"/>
          <a:chExt cx="0" cy="0"/>
        </a:xfrm>
      </p:grpSpPr>
      <p:sp>
        <p:nvSpPr>
          <p:cNvPr id="3120" name="Google Shape;3120;p17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400"/>
              <a:buFont typeface="Arial"/>
              <a:buNone/>
            </a:pPr>
            <a:r>
              <a:rPr b="1" i="0" lang="en-US" sz="2400" u="none">
                <a:solidFill>
                  <a:srgbClr val="FFF3F3"/>
                </a:solidFill>
                <a:latin typeface="Arial"/>
                <a:ea typeface="Arial"/>
                <a:cs typeface="Arial"/>
                <a:sym typeface="Arial"/>
              </a:rPr>
              <a:t>Sắp Xếp Theo Phương Pháp Cơ Số Radix Sort</a:t>
            </a:r>
            <a:r>
              <a:rPr b="1" i="0" lang="en-US" sz="2800" u="none">
                <a:solidFill>
                  <a:srgbClr val="FFF3F3"/>
                </a:solidFill>
                <a:latin typeface="Arial"/>
                <a:ea typeface="Arial"/>
                <a:cs typeface="Arial"/>
                <a:sym typeface="Arial"/>
              </a:rPr>
              <a:t> </a:t>
            </a:r>
            <a:endParaRPr/>
          </a:p>
        </p:txBody>
      </p:sp>
      <p:sp>
        <p:nvSpPr>
          <p:cNvPr id="3121" name="Google Shape;3121;p179"/>
          <p:cNvSpPr txBox="1"/>
          <p:nvPr>
            <p:ph idx="1" type="body"/>
          </p:nvPr>
        </p:nvSpPr>
        <p:spPr>
          <a:xfrm>
            <a:off x="1062037" y="1176337"/>
            <a:ext cx="8431212" cy="5046662"/>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Mô phỏng lại qui trình trên, để sắp xếp dãy a</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 an, giải thuật Radix Sort thực hiện như sau:</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Trước tiên, ta có thể giả sử mỗi phần tử a</a:t>
            </a:r>
            <a:r>
              <a:rPr b="0" baseline="-25000" i="0" lang="en-US" sz="2800" u="none">
                <a:solidFill>
                  <a:schemeClr val="dk1"/>
                </a:solidFill>
                <a:latin typeface="Arial"/>
                <a:ea typeface="Arial"/>
                <a:cs typeface="Arial"/>
                <a:sym typeface="Arial"/>
              </a:rPr>
              <a:t>i</a:t>
            </a:r>
            <a:r>
              <a:rPr b="0" i="0" lang="en-US" sz="2800" u="none">
                <a:solidFill>
                  <a:schemeClr val="dk1"/>
                </a:solidFill>
                <a:latin typeface="Arial"/>
                <a:ea typeface="Arial"/>
                <a:cs typeface="Arial"/>
                <a:sym typeface="Arial"/>
              </a:rPr>
              <a:t> trong dãy a</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a</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 a</a:t>
            </a:r>
            <a:r>
              <a:rPr b="0" baseline="-25000" i="0"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 là một số nguyên có tối đa m chữ số.</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Ta phân loại các phần tử lần lượt theo các chữ số hàng đơn vị, hàng chục, hàng trăm, … tương tự việc phân loại thư theo tỉnh thành, quận huyện, phường xã, ….</a:t>
            </a:r>
            <a:endParaRPr/>
          </a:p>
          <a:p>
            <a:pPr indent="-285750" lvl="0" marL="463550" rtl="0" algn="l">
              <a:spcBef>
                <a:spcPts val="56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5" name="Shape 3125"/>
        <p:cNvGrpSpPr/>
        <p:nvPr/>
      </p:nvGrpSpPr>
      <p:grpSpPr>
        <a:xfrm>
          <a:off x="0" y="0"/>
          <a:ext cx="0" cy="0"/>
          <a:chOff x="0" y="0"/>
          <a:chExt cx="0" cy="0"/>
        </a:xfrm>
      </p:grpSpPr>
      <p:sp>
        <p:nvSpPr>
          <p:cNvPr id="3126" name="Google Shape;3126;p18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Sắp Xếp Theo Phương Pháp Cơ Số Radix Sort </a:t>
            </a:r>
            <a:endParaRPr/>
          </a:p>
        </p:txBody>
      </p:sp>
      <p:sp>
        <p:nvSpPr>
          <p:cNvPr id="3127" name="Google Shape;3127;p180"/>
          <p:cNvSpPr txBox="1"/>
          <p:nvPr>
            <p:ph idx="1" type="body"/>
          </p:nvPr>
        </p:nvSpPr>
        <p:spPr>
          <a:xfrm>
            <a:off x="992187" y="1176337"/>
            <a:ext cx="8569325" cy="4521200"/>
          </a:xfrm>
          <a:prstGeom prst="rect">
            <a:avLst/>
          </a:prstGeom>
          <a:noFill/>
          <a:ln>
            <a:noFill/>
          </a:ln>
        </p:spPr>
        <p:txBody>
          <a:bodyPr anchorCtr="0" anchor="t" bIns="45700" lIns="91425" spcFirstLastPara="1" rIns="91425" wrap="square" tIns="45700">
            <a:noAutofit/>
          </a:bodyPr>
          <a:lstStyle/>
          <a:p>
            <a:pPr indent="-463550" lvl="0" marL="463550" rtl="0" algn="l">
              <a:lnSpc>
                <a:spcPct val="9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Bước 1 :// k cho biết chữ số dùng để phân loại hiện hành</a:t>
            </a:r>
            <a:endParaRPr/>
          </a:p>
          <a:p>
            <a:pPr indent="-446087" lvl="1" marL="1023937"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k = 0;	// k = 0: hàng đơn vị; k = 1: hàng chục; …</a:t>
            </a:r>
            <a:endParaRPr/>
          </a:p>
          <a:p>
            <a:pPr indent="-463550" lvl="0" marL="463550"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Bước 2 : //Tạo các lô chứa các loại phần tử khác nhau</a:t>
            </a:r>
            <a:endParaRPr/>
          </a:p>
          <a:p>
            <a:pPr indent="-446087" lvl="1" marL="1023937" rtl="0" algn="l">
              <a:lnSpc>
                <a:spcPct val="9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Khởi tạo 10 lô B</a:t>
            </a:r>
            <a:r>
              <a:rPr b="0" baseline="-25000" i="0" lang="en-US" sz="2800" u="none">
                <a:solidFill>
                  <a:schemeClr val="dk1"/>
                </a:solidFill>
                <a:latin typeface="Arial"/>
                <a:ea typeface="Arial"/>
                <a:cs typeface="Arial"/>
                <a:sym typeface="Arial"/>
              </a:rPr>
              <a:t>0</a:t>
            </a:r>
            <a:r>
              <a:rPr b="0" i="0" lang="en-US" sz="2800" u="none">
                <a:solidFill>
                  <a:schemeClr val="dk1"/>
                </a:solidFill>
                <a:latin typeface="Arial"/>
                <a:ea typeface="Arial"/>
                <a:cs typeface="Arial"/>
                <a:sym typeface="Arial"/>
              </a:rPr>
              <a:t>, B</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 B</a:t>
            </a:r>
            <a:r>
              <a:rPr b="0" baseline="-25000" i="0" lang="en-US" sz="2800" u="none">
                <a:solidFill>
                  <a:schemeClr val="dk1"/>
                </a:solidFill>
                <a:latin typeface="Arial"/>
                <a:ea typeface="Arial"/>
                <a:cs typeface="Arial"/>
                <a:sym typeface="Arial"/>
              </a:rPr>
              <a:t>9</a:t>
            </a:r>
            <a:r>
              <a:rPr b="0" i="0" lang="en-US" sz="2800" u="none">
                <a:solidFill>
                  <a:schemeClr val="dk1"/>
                </a:solidFill>
                <a:latin typeface="Arial"/>
                <a:ea typeface="Arial"/>
                <a:cs typeface="Arial"/>
                <a:sym typeface="Arial"/>
              </a:rPr>
              <a:t> rỗng; </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1" name="Shape 3131"/>
        <p:cNvGrpSpPr/>
        <p:nvPr/>
      </p:nvGrpSpPr>
      <p:grpSpPr>
        <a:xfrm>
          <a:off x="0" y="0"/>
          <a:ext cx="0" cy="0"/>
          <a:chOff x="0" y="0"/>
          <a:chExt cx="0" cy="0"/>
        </a:xfrm>
      </p:grpSpPr>
      <p:sp>
        <p:nvSpPr>
          <p:cNvPr id="3132" name="Google Shape;3132;p18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Sắp Xếp Theo Phương Pháp Cơ Số Radix Sort</a:t>
            </a:r>
            <a:endParaRPr/>
          </a:p>
        </p:txBody>
      </p:sp>
      <p:sp>
        <p:nvSpPr>
          <p:cNvPr id="3133" name="Google Shape;3133;p181"/>
          <p:cNvSpPr txBox="1"/>
          <p:nvPr>
            <p:ph idx="1" type="body"/>
          </p:nvPr>
        </p:nvSpPr>
        <p:spPr>
          <a:xfrm>
            <a:off x="1127125" y="1243012"/>
            <a:ext cx="8366125" cy="4979987"/>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Bước 3 : </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For i = 1 .. n do</a:t>
            </a:r>
            <a:endParaRPr/>
          </a:p>
          <a:p>
            <a:pPr indent="-349249" lvl="2" marL="148748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Đặt a</a:t>
            </a:r>
            <a:r>
              <a:rPr b="0" baseline="-25000" i="0" lang="en-US" sz="2800" u="none">
                <a:solidFill>
                  <a:schemeClr val="dk1"/>
                </a:solidFill>
                <a:latin typeface="Arial"/>
                <a:ea typeface="Arial"/>
                <a:cs typeface="Arial"/>
                <a:sym typeface="Arial"/>
              </a:rPr>
              <a:t>i</a:t>
            </a:r>
            <a:r>
              <a:rPr b="0" i="0" lang="en-US" sz="2800" u="none">
                <a:solidFill>
                  <a:schemeClr val="dk1"/>
                </a:solidFill>
                <a:latin typeface="Arial"/>
                <a:ea typeface="Arial"/>
                <a:cs typeface="Arial"/>
                <a:sym typeface="Arial"/>
              </a:rPr>
              <a:t> vào lô B</a:t>
            </a:r>
            <a:r>
              <a:rPr b="0" baseline="-25000" i="0"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 với t: chữ số thứ k của a</a:t>
            </a:r>
            <a:r>
              <a:rPr b="0" baseline="-25000" i="0" lang="en-US" sz="2800" u="none">
                <a:solidFill>
                  <a:schemeClr val="dk1"/>
                </a:solidFill>
                <a:latin typeface="Arial"/>
                <a:ea typeface="Arial"/>
                <a:cs typeface="Arial"/>
                <a:sym typeface="Arial"/>
              </a:rPr>
              <a:t>i</a:t>
            </a:r>
            <a:r>
              <a:rPr b="0" i="0" lang="en-US" sz="2800" u="none">
                <a:solidFill>
                  <a:schemeClr val="dk1"/>
                </a:solidFill>
                <a:latin typeface="Arial"/>
                <a:ea typeface="Arial"/>
                <a:cs typeface="Arial"/>
                <a:sym typeface="Arial"/>
              </a:rPr>
              <a:t>;</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Bước 4 : </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Nối B</a:t>
            </a:r>
            <a:r>
              <a:rPr b="0" baseline="-25000" i="0" lang="en-US" sz="2800" u="none">
                <a:solidFill>
                  <a:schemeClr val="dk1"/>
                </a:solidFill>
                <a:latin typeface="Arial"/>
                <a:ea typeface="Arial"/>
                <a:cs typeface="Arial"/>
                <a:sym typeface="Arial"/>
              </a:rPr>
              <a:t>0</a:t>
            </a:r>
            <a:r>
              <a:rPr b="0" i="0" lang="en-US" sz="2800" u="none">
                <a:solidFill>
                  <a:schemeClr val="dk1"/>
                </a:solidFill>
                <a:latin typeface="Arial"/>
                <a:ea typeface="Arial"/>
                <a:cs typeface="Arial"/>
                <a:sym typeface="Arial"/>
              </a:rPr>
              <a:t>, B</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 B</a:t>
            </a:r>
            <a:r>
              <a:rPr b="0" baseline="-25000" i="0" lang="en-US" sz="2800" u="none">
                <a:solidFill>
                  <a:schemeClr val="dk1"/>
                </a:solidFill>
                <a:latin typeface="Arial"/>
                <a:ea typeface="Arial"/>
                <a:cs typeface="Arial"/>
                <a:sym typeface="Arial"/>
              </a:rPr>
              <a:t>9</a:t>
            </a:r>
            <a:r>
              <a:rPr b="0" i="0" lang="en-US" sz="2800" u="none">
                <a:solidFill>
                  <a:schemeClr val="dk1"/>
                </a:solidFill>
                <a:latin typeface="Arial"/>
                <a:ea typeface="Arial"/>
                <a:cs typeface="Arial"/>
                <a:sym typeface="Arial"/>
              </a:rPr>
              <a:t> lại (theo đúng trình tự) thành a.</a:t>
            </a:r>
            <a:endParaRPr/>
          </a:p>
          <a:p>
            <a:pPr indent="-463550" lvl="0" marL="4635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Bước 5 : </a:t>
            </a:r>
            <a:endParaRPr/>
          </a:p>
          <a:p>
            <a:pPr indent="-446087" lvl="1" marL="1023937"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k = k+1;Nếu k &lt; m thì trở lại bước 2. Ngược lại: Dừng</a:t>
            </a:r>
            <a:endParaRPr/>
          </a:p>
          <a:p>
            <a:pPr indent="-285750" lvl="0" marL="463550" rtl="0" algn="l">
              <a:spcBef>
                <a:spcPts val="560"/>
              </a:spcBef>
              <a:spcAft>
                <a:spcPts val="0"/>
              </a:spcAft>
              <a:buClr>
                <a:schemeClr val="dk1"/>
              </a:buClr>
              <a:buSzPts val="2800"/>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7" name="Shape 3137"/>
        <p:cNvGrpSpPr/>
        <p:nvPr/>
      </p:nvGrpSpPr>
      <p:grpSpPr>
        <a:xfrm>
          <a:off x="0" y="0"/>
          <a:ext cx="0" cy="0"/>
          <a:chOff x="0" y="0"/>
          <a:chExt cx="0" cy="0"/>
        </a:xfrm>
      </p:grpSpPr>
      <p:sp>
        <p:nvSpPr>
          <p:cNvPr id="3138" name="Google Shape;3138;p18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Sắp Xếp Theo Phương Pháp Cơ Số Radix Sort </a:t>
            </a:r>
            <a:endParaRPr/>
          </a:p>
        </p:txBody>
      </p:sp>
      <p:pic>
        <p:nvPicPr>
          <p:cNvPr descr="RadixSort01" id="3139" name="Google Shape;3139;p182"/>
          <p:cNvPicPr preferRelativeResize="0"/>
          <p:nvPr/>
        </p:nvPicPr>
        <p:blipFill rotWithShape="1">
          <a:blip r:embed="rId3">
            <a:alphaModFix/>
          </a:blip>
          <a:srcRect b="0" l="0" r="0" t="0"/>
          <a:stretch/>
        </p:blipFill>
        <p:spPr>
          <a:xfrm>
            <a:off x="992187" y="981075"/>
            <a:ext cx="8497887" cy="5472112"/>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3" name="Shape 3143"/>
        <p:cNvGrpSpPr/>
        <p:nvPr/>
      </p:nvGrpSpPr>
      <p:grpSpPr>
        <a:xfrm>
          <a:off x="0" y="0"/>
          <a:ext cx="0" cy="0"/>
          <a:chOff x="0" y="0"/>
          <a:chExt cx="0" cy="0"/>
        </a:xfrm>
      </p:grpSpPr>
      <p:sp>
        <p:nvSpPr>
          <p:cNvPr id="3144" name="Google Shape;3144;p18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Sắp Xếp Theo Phương Pháp Cơ Số Radix Sort</a:t>
            </a:r>
            <a:endParaRPr/>
          </a:p>
        </p:txBody>
      </p:sp>
      <p:pic>
        <p:nvPicPr>
          <p:cNvPr descr="RadixSort02" id="3145" name="Google Shape;3145;p183"/>
          <p:cNvPicPr preferRelativeResize="0"/>
          <p:nvPr/>
        </p:nvPicPr>
        <p:blipFill rotWithShape="1">
          <a:blip r:embed="rId3">
            <a:alphaModFix/>
          </a:blip>
          <a:srcRect b="0" l="0" r="0" t="0"/>
          <a:stretch/>
        </p:blipFill>
        <p:spPr>
          <a:xfrm>
            <a:off x="992187" y="1052512"/>
            <a:ext cx="8640762" cy="5256212"/>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9" name="Shape 3149"/>
        <p:cNvGrpSpPr/>
        <p:nvPr/>
      </p:nvGrpSpPr>
      <p:grpSpPr>
        <a:xfrm>
          <a:off x="0" y="0"/>
          <a:ext cx="0" cy="0"/>
          <a:chOff x="0" y="0"/>
          <a:chExt cx="0" cy="0"/>
        </a:xfrm>
      </p:grpSpPr>
      <p:sp>
        <p:nvSpPr>
          <p:cNvPr id="3150" name="Google Shape;3150;p184"/>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Sắp Xếp Theo Phương Pháp Cơ Số Radix Sort</a:t>
            </a:r>
            <a:endParaRPr/>
          </a:p>
        </p:txBody>
      </p:sp>
      <p:pic>
        <p:nvPicPr>
          <p:cNvPr descr="RadixSort03" id="3151" name="Google Shape;3151;p184"/>
          <p:cNvPicPr preferRelativeResize="0"/>
          <p:nvPr/>
        </p:nvPicPr>
        <p:blipFill rotWithShape="1">
          <a:blip r:embed="rId3">
            <a:alphaModFix/>
          </a:blip>
          <a:srcRect b="0" l="0" r="0" t="0"/>
          <a:stretch/>
        </p:blipFill>
        <p:spPr>
          <a:xfrm>
            <a:off x="992187" y="1052512"/>
            <a:ext cx="8569325" cy="5256212"/>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5" name="Shape 3155"/>
        <p:cNvGrpSpPr/>
        <p:nvPr/>
      </p:nvGrpSpPr>
      <p:grpSpPr>
        <a:xfrm>
          <a:off x="0" y="0"/>
          <a:ext cx="0" cy="0"/>
          <a:chOff x="0" y="0"/>
          <a:chExt cx="0" cy="0"/>
        </a:xfrm>
      </p:grpSpPr>
      <p:sp>
        <p:nvSpPr>
          <p:cNvPr id="3156" name="Google Shape;3156;p185"/>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Sắp Xếp Theo Phương Pháp Cơ Số Radix Sort</a:t>
            </a:r>
            <a:endParaRPr/>
          </a:p>
        </p:txBody>
      </p:sp>
      <p:pic>
        <p:nvPicPr>
          <p:cNvPr descr="RadixSort04" id="3157" name="Google Shape;3157;p185"/>
          <p:cNvPicPr preferRelativeResize="0"/>
          <p:nvPr/>
        </p:nvPicPr>
        <p:blipFill rotWithShape="1">
          <a:blip r:embed="rId3">
            <a:alphaModFix/>
          </a:blip>
          <a:srcRect b="0" l="0" r="0" t="0"/>
          <a:stretch/>
        </p:blipFill>
        <p:spPr>
          <a:xfrm>
            <a:off x="1208087" y="1196975"/>
            <a:ext cx="8285162" cy="4492625"/>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1" name="Shape 3161"/>
        <p:cNvGrpSpPr/>
        <p:nvPr/>
      </p:nvGrpSpPr>
      <p:grpSpPr>
        <a:xfrm>
          <a:off x="0" y="0"/>
          <a:ext cx="0" cy="0"/>
          <a:chOff x="0" y="0"/>
          <a:chExt cx="0" cy="0"/>
        </a:xfrm>
      </p:grpSpPr>
      <p:sp>
        <p:nvSpPr>
          <p:cNvPr id="3162" name="Google Shape;3162;p18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Sắp Xếp Theo Phương Pháp Cơ Số Radix Sort</a:t>
            </a:r>
            <a:endParaRPr/>
          </a:p>
        </p:txBody>
      </p:sp>
      <p:pic>
        <p:nvPicPr>
          <p:cNvPr descr="RadixSort05" id="3163" name="Google Shape;3163;p186"/>
          <p:cNvPicPr preferRelativeResize="0"/>
          <p:nvPr/>
        </p:nvPicPr>
        <p:blipFill rotWithShape="1">
          <a:blip r:embed="rId3">
            <a:alphaModFix/>
          </a:blip>
          <a:srcRect b="0" l="0" r="0" t="0"/>
          <a:stretch/>
        </p:blipFill>
        <p:spPr>
          <a:xfrm>
            <a:off x="920750" y="1125537"/>
            <a:ext cx="8308975" cy="451485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7" name="Shape 3167"/>
        <p:cNvGrpSpPr/>
        <p:nvPr/>
      </p:nvGrpSpPr>
      <p:grpSpPr>
        <a:xfrm>
          <a:off x="0" y="0"/>
          <a:ext cx="0" cy="0"/>
          <a:chOff x="0" y="0"/>
          <a:chExt cx="0" cy="0"/>
        </a:xfrm>
      </p:grpSpPr>
      <p:sp>
        <p:nvSpPr>
          <p:cNvPr id="3168" name="Google Shape;3168;p187"/>
          <p:cNvSpPr txBox="1"/>
          <p:nvPr>
            <p:ph idx="4294967295"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Sorting Algorithms </a:t>
            </a:r>
            <a:endParaRPr/>
          </a:p>
        </p:txBody>
      </p:sp>
      <p:sp>
        <p:nvSpPr>
          <p:cNvPr id="3169" name="Google Shape;3169;p187"/>
          <p:cNvSpPr txBox="1"/>
          <p:nvPr>
            <p:ph idx="4294967295" type="body"/>
          </p:nvPr>
        </p:nvSpPr>
        <p:spPr>
          <a:xfrm>
            <a:off x="704850" y="981075"/>
            <a:ext cx="8856662" cy="5543550"/>
          </a:xfrm>
          <a:prstGeom prst="rect">
            <a:avLst/>
          </a:prstGeom>
          <a:noFill/>
          <a:ln>
            <a:noFill/>
          </a:ln>
        </p:spPr>
        <p:txBody>
          <a:bodyPr anchorCtr="0" anchor="t" bIns="45700" lIns="91425" spcFirstLastPara="1" rIns="91425" wrap="square" tIns="45700">
            <a:noAutofit/>
          </a:bodyPr>
          <a:lstStyle/>
          <a:p>
            <a:pPr indent="-463550" lvl="0" marL="463550"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Demo</a:t>
            </a:r>
            <a:endParaRPr/>
          </a:p>
          <a:p>
            <a:pPr indent="-446087" lvl="1" marL="1023937" marR="0" rtl="0" algn="l">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Animation of sorting algorithms</a:t>
            </a:r>
            <a:endParaRPr/>
          </a:p>
          <a:p>
            <a:pPr indent="-349249" lvl="2" marL="1487487" marR="0" rtl="0" algn="l">
              <a:lnSpc>
                <a:spcPct val="100000"/>
              </a:lnSpc>
              <a:spcBef>
                <a:spcPts val="480"/>
              </a:spcBef>
              <a:spcAft>
                <a:spcPts val="0"/>
              </a:spcAft>
              <a:buClr>
                <a:schemeClr val="dk1"/>
              </a:buClr>
              <a:buSzPts val="2400"/>
              <a:buFont typeface="Noto Sans Symbols"/>
              <a:buChar char="▪"/>
            </a:pPr>
            <a:r>
              <a:rPr b="0" i="0" lang="en-US" sz="2400" u="sng" cap="none" strike="noStrike">
                <a:solidFill>
                  <a:schemeClr val="dk1"/>
                </a:solidFill>
                <a:latin typeface="Arial"/>
                <a:ea typeface="Arial"/>
                <a:cs typeface="Arial"/>
                <a:sym typeface="Arial"/>
                <a:hlinkClick r:id="rId3">
                  <a:extLst>
                    <a:ext uri="{A12FA001-AC4F-418D-AE19-62706E023703}">
                      <ahyp:hlinkClr val="tx"/>
                    </a:ext>
                  </a:extLst>
                </a:hlinkClick>
              </a:rPr>
              <a:t>http://math.hws.edu/TMCM/java/xSortLab/</a:t>
            </a:r>
            <a:endParaRPr/>
          </a:p>
          <a:p>
            <a:pPr indent="-349249" lvl="2" marL="1487487" marR="0" rtl="0" algn="l">
              <a:lnSpc>
                <a:spcPct val="10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 </a:t>
            </a:r>
            <a:r>
              <a:rPr b="0" i="0" lang="en-US" sz="2400" u="sng" cap="none" strike="noStrike">
                <a:solidFill>
                  <a:schemeClr val="dk1"/>
                </a:solidFill>
                <a:latin typeface="Arial"/>
                <a:ea typeface="Arial"/>
                <a:cs typeface="Arial"/>
                <a:sym typeface="Arial"/>
                <a:hlinkClick r:id="rId4">
                  <a:extLst>
                    <a:ext uri="{A12FA001-AC4F-418D-AE19-62706E023703}">
                      <ahyp:hlinkClr val="tx"/>
                    </a:ext>
                  </a:extLst>
                </a:hlinkClick>
              </a:rPr>
              <a:t>http://www.cs.ubc.ca/~harrison/Java/sorting-demo.html</a:t>
            </a:r>
            <a:endParaRPr/>
          </a:p>
          <a:p>
            <a:pPr indent="-349249" lvl="2" marL="1487487" marR="0" rtl="0" algn="l">
              <a:lnSpc>
                <a:spcPct val="100000"/>
              </a:lnSpc>
              <a:spcBef>
                <a:spcPts val="480"/>
              </a:spcBef>
              <a:spcAft>
                <a:spcPts val="0"/>
              </a:spcAft>
              <a:buClr>
                <a:schemeClr val="dk1"/>
              </a:buClr>
              <a:buSzPts val="2400"/>
              <a:buFont typeface="Noto Sans Symbols"/>
              <a:buChar char="▪"/>
            </a:pPr>
            <a:r>
              <a:rPr b="0" i="0" lang="en-US" sz="2400" u="sng" cap="none" strike="noStrike">
                <a:solidFill>
                  <a:schemeClr val="dk1"/>
                </a:solidFill>
                <a:latin typeface="Arial"/>
                <a:ea typeface="Arial"/>
                <a:cs typeface="Arial"/>
                <a:sym typeface="Arial"/>
                <a:hlinkClick r:id="rId5">
                  <a:extLst>
                    <a:ext uri="{A12FA001-AC4F-418D-AE19-62706E023703}">
                      <ahyp:hlinkClr val="tx"/>
                    </a:ext>
                  </a:extLst>
                </a:hlinkClick>
              </a:rPr>
              <a:t>http://www.cs.uwaterloo.ca/~bwbecker/sortingDemo/</a:t>
            </a:r>
            <a:endParaRPr/>
          </a:p>
          <a:p>
            <a:pPr indent="-349249" lvl="2" marL="1487487" marR="0" rtl="0" algn="l">
              <a:lnSpc>
                <a:spcPct val="100000"/>
              </a:lnSpc>
              <a:spcBef>
                <a:spcPts val="480"/>
              </a:spcBef>
              <a:spcAft>
                <a:spcPts val="0"/>
              </a:spcAft>
              <a:buClr>
                <a:schemeClr val="dk1"/>
              </a:buClr>
              <a:buSzPts val="2400"/>
              <a:buFont typeface="Noto Sans Symbols"/>
              <a:buChar char="▪"/>
            </a:pPr>
            <a:r>
              <a:rPr b="0" i="0" lang="en-US" sz="2400" u="sng" cap="none" strike="noStrike">
                <a:solidFill>
                  <a:schemeClr val="dk1"/>
                </a:solidFill>
                <a:latin typeface="Arial"/>
                <a:ea typeface="Arial"/>
                <a:cs typeface="Arial"/>
                <a:sym typeface="Arial"/>
                <a:hlinkClick r:id="rId6">
                  <a:extLst>
                    <a:ext uri="{A12FA001-AC4F-418D-AE19-62706E023703}">
                      <ahyp:hlinkClr val="tx"/>
                    </a:ext>
                  </a:extLst>
                </a:hlinkClick>
              </a:rPr>
              <a:t>http://www2.hawaii.edu/~copley/665/HSApplet.html</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(heap sort)</a:t>
            </a:r>
            <a:endParaRPr/>
          </a:p>
          <a:p>
            <a:pPr indent="-349249" lvl="2" marL="1487487" marR="0" rtl="0" algn="l">
              <a:lnSpc>
                <a:spcPct val="100000"/>
              </a:lnSpc>
              <a:spcBef>
                <a:spcPts val="480"/>
              </a:spcBef>
              <a:spcAft>
                <a:spcPts val="0"/>
              </a:spcAft>
              <a:buClr>
                <a:schemeClr val="dk1"/>
              </a:buClr>
              <a:buSzPts val="2400"/>
              <a:buFont typeface="Noto Sans Symbols"/>
              <a:buChar char="▪"/>
            </a:pPr>
            <a:r>
              <a:rPr b="0" i="0" lang="en-US" sz="2400" u="sng" cap="none" strike="noStrike">
                <a:solidFill>
                  <a:schemeClr val="dk1"/>
                </a:solidFill>
                <a:latin typeface="Arial"/>
                <a:ea typeface="Arial"/>
                <a:cs typeface="Arial"/>
                <a:sym typeface="Arial"/>
                <a:hlinkClick r:id="rId7">
                  <a:extLst>
                    <a:ext uri="{A12FA001-AC4F-418D-AE19-62706E023703}">
                      <ahyp:hlinkClr val="tx"/>
                    </a:ext>
                  </a:extLst>
                </a:hlinkClick>
              </a:rPr>
              <a:t>http://pages.stern.nyu.edu/~panos/java/Quicksort/</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(quick sort)</a:t>
            </a:r>
            <a:endParaRPr/>
          </a:p>
          <a:p>
            <a:pPr indent="-311150" lvl="0" marL="463550" marR="0" rtl="0" algn="l">
              <a:spcBef>
                <a:spcPts val="480"/>
              </a:spcBef>
              <a:spcAft>
                <a:spcPts val="0"/>
              </a:spcAft>
              <a:buClr>
                <a:schemeClr val="dk1"/>
              </a:buClr>
              <a:buSzPts val="2400"/>
              <a:buFont typeface="Noto Sans Symbols"/>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3" name="Shape 3173"/>
        <p:cNvGrpSpPr/>
        <p:nvPr/>
      </p:nvGrpSpPr>
      <p:grpSpPr>
        <a:xfrm>
          <a:off x="0" y="0"/>
          <a:ext cx="0" cy="0"/>
          <a:chOff x="0" y="0"/>
          <a:chExt cx="0" cy="0"/>
        </a:xfrm>
      </p:grpSpPr>
      <p:sp>
        <p:nvSpPr>
          <p:cNvPr id="3174" name="Google Shape;3174;p188"/>
          <p:cNvSpPr txBox="1"/>
          <p:nvPr>
            <p:ph idx="4294967295" type="title"/>
          </p:nvPr>
        </p:nvSpPr>
        <p:spPr>
          <a:xfrm>
            <a:off x="920750" y="79375"/>
            <a:ext cx="8785225" cy="60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Sorting Algorithms Comparison</a:t>
            </a:r>
            <a:endParaRPr/>
          </a:p>
        </p:txBody>
      </p:sp>
      <p:graphicFrame>
        <p:nvGraphicFramePr>
          <p:cNvPr id="3175" name="Google Shape;3175;p188"/>
          <p:cNvGraphicFramePr/>
          <p:nvPr/>
        </p:nvGraphicFramePr>
        <p:xfrm>
          <a:off x="776287" y="836612"/>
          <a:ext cx="3000000" cy="3000000"/>
        </p:xfrm>
        <a:graphic>
          <a:graphicData uri="http://schemas.openxmlformats.org/drawingml/2006/table">
            <a:tbl>
              <a:tblPr>
                <a:noFill/>
                <a:tableStyleId>{ECD7EECE-6296-4E87-9BD6-23A6A938FC80}</a:tableStyleId>
              </a:tblPr>
              <a:tblGrid>
                <a:gridCol w="1531925"/>
                <a:gridCol w="1157275"/>
                <a:gridCol w="1168400"/>
                <a:gridCol w="1285875"/>
                <a:gridCol w="1285875"/>
                <a:gridCol w="1285875"/>
                <a:gridCol w="1285875"/>
              </a:tblGrid>
              <a:tr h="852475">
                <a:tc>
                  <a:txBody>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Method</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Average Time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Best Time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Worst Time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Auxiliary Space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Sort In Place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Stability</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1357300">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Simple Sort (Selection, Insertion, Bubble,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baseline="30000" i="0" lang="en-US" sz="1600" u="none" cap="none" strike="noStrike">
                          <a:solidFill>
                            <a:srgbClr val="000000"/>
                          </a:solidFill>
                          <a:latin typeface="Arial"/>
                          <a:ea typeface="Arial"/>
                          <a:cs typeface="Arial"/>
                          <a:sym typeface="Arial"/>
                        </a:rPr>
                        <a:t>2</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baseline="30000" i="0" lang="en-US" sz="1600" u="none" cap="none" strike="noStrike">
                          <a:solidFill>
                            <a:srgbClr val="000000"/>
                          </a:solidFill>
                          <a:latin typeface="Arial"/>
                          <a:ea typeface="Arial"/>
                          <a:cs typeface="Arial"/>
                          <a:sym typeface="Arial"/>
                        </a:rPr>
                        <a:t>2</a:t>
                      </a:r>
                      <a:r>
                        <a:rPr b="0" i="0" lang="en-US" sz="16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baseline="30000" i="0" lang="en-US" sz="1600" u="none" cap="none" strike="noStrike">
                          <a:solidFill>
                            <a:srgbClr val="000000"/>
                          </a:solidFill>
                          <a:latin typeface="Arial"/>
                          <a:ea typeface="Arial"/>
                          <a:cs typeface="Arial"/>
                          <a:sym typeface="Arial"/>
                        </a:rPr>
                        <a:t>2</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(1)</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Yes</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Yes</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850900">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Quick Sort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baseline="30000" i="0" lang="en-US" sz="1600" u="none" cap="none" strike="noStrike">
                          <a:solidFill>
                            <a:srgbClr val="000000"/>
                          </a:solidFill>
                          <a:latin typeface="Arial"/>
                          <a:ea typeface="Arial"/>
                          <a:cs typeface="Arial"/>
                          <a:sym typeface="Arial"/>
                        </a:rPr>
                        <a:t>2</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Ω</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(stack size)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Yes</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No</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85247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Heap Sort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(1)</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Yes</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No</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850900">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Merge Sort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log</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No</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Yes</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852475">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Radix Sort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r</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k</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r</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k</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O</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n</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r</a:t>
                      </a:r>
                      <a:r>
                        <a:rPr b="0" i="0" lang="en-US" sz="1600" u="none" cap="none" strike="noStrike">
                          <a:solidFill>
                            <a:srgbClr val="000000"/>
                          </a:solidFill>
                          <a:latin typeface="Arial"/>
                          <a:ea typeface="Arial"/>
                          <a:cs typeface="Arial"/>
                          <a:sym typeface="Arial"/>
                        </a:rPr>
                        <a:t>)</a:t>
                      </a:r>
                      <a:r>
                        <a:rPr b="0" i="1" lang="en-US" sz="1600" u="none" cap="none" strike="noStrike">
                          <a:solidFill>
                            <a:srgbClr val="000000"/>
                          </a:solidFill>
                          <a:latin typeface="Arial"/>
                          <a:ea typeface="Arial"/>
                          <a:cs typeface="Arial"/>
                          <a:sym typeface="Arial"/>
                        </a:rPr>
                        <a:t>k</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a:t>
                      </a:r>
                      <a:r>
                        <a:rPr b="0" i="1" lang="en-US" sz="1600" u="none" cap="none" strike="noStrike">
                          <a:solidFill>
                            <a:srgbClr val="000000"/>
                          </a:solidFill>
                          <a:latin typeface="Arial"/>
                          <a:ea typeface="Arial"/>
                          <a:cs typeface="Arial"/>
                          <a:sym typeface="Arial"/>
                        </a:rPr>
                        <a:t>rk</a:t>
                      </a:r>
                      <a:r>
                        <a:rPr b="0" i="0" lang="en-US" sz="1600" u="none" cap="none" strike="noStrike">
                          <a:solidFill>
                            <a:srgbClr val="000000"/>
                          </a:solidFill>
                          <a:latin typeface="Arial"/>
                          <a:ea typeface="Arial"/>
                          <a:cs typeface="Arial"/>
                          <a:sym typeface="Arial"/>
                        </a:rPr>
                        <a:t>)</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No</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Yes</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bl>
          </a:graphicData>
        </a:graphic>
      </p:graphicFrame>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9" name="Shape 3179"/>
        <p:cNvGrpSpPr/>
        <p:nvPr/>
      </p:nvGrpSpPr>
      <p:grpSpPr>
        <a:xfrm>
          <a:off x="0" y="0"/>
          <a:ext cx="0" cy="0"/>
          <a:chOff x="0" y="0"/>
          <a:chExt cx="0" cy="0"/>
        </a:xfrm>
      </p:grpSpPr>
      <p:sp>
        <p:nvSpPr>
          <p:cNvPr id="3180" name="Google Shape;3180;p18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Bài Tập</a:t>
            </a:r>
            <a:endParaRPr/>
          </a:p>
        </p:txBody>
      </p:sp>
      <p:sp>
        <p:nvSpPr>
          <p:cNvPr id="3181" name="Google Shape;3181;p189"/>
          <p:cNvSpPr txBox="1"/>
          <p:nvPr>
            <p:ph idx="1" type="body"/>
          </p:nvPr>
        </p:nvSpPr>
        <p:spPr>
          <a:xfrm>
            <a:off x="1127125" y="1243012"/>
            <a:ext cx="7967662" cy="4979987"/>
          </a:xfrm>
          <a:prstGeom prst="rect">
            <a:avLst/>
          </a:prstGeom>
          <a:noFill/>
          <a:ln>
            <a:noFill/>
          </a:ln>
        </p:spPr>
        <p:txBody>
          <a:bodyPr anchorCtr="0" anchor="t" bIns="45700" lIns="91425" spcFirstLastPara="1" rIns="91425" wrap="square" tIns="45700">
            <a:noAutofit/>
          </a:bodyPr>
          <a:lstStyle/>
          <a:p>
            <a:pPr indent="-463550" lvl="0" marL="46355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Nhập một dãy số nguyên n phần tử.</a:t>
            </a:r>
            <a:endParaRPr/>
          </a:p>
          <a:p>
            <a:pPr indent="-463550" lvl="0" marL="463550"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Sắp xếp lại dãy sao cho: </a:t>
            </a:r>
            <a:endParaRPr/>
          </a:p>
          <a:p>
            <a:pPr indent="-349249" lvl="2" marL="1487487"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số nguyên dương đầu ở đầu dãy và theo thứ tự giảm.</a:t>
            </a:r>
            <a:endParaRPr/>
          </a:p>
          <a:p>
            <a:pPr indent="-349249" lvl="2" marL="1487487"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số nguyên âm tăng ở cuối dãy và theo thứ tự tăng.</a:t>
            </a:r>
            <a:endParaRPr/>
          </a:p>
          <a:p>
            <a:pPr indent="-349249" lvl="2" marL="1487487" rtl="0" algn="l">
              <a:lnSpc>
                <a:spcPct val="100000"/>
              </a:lnSpc>
              <a:spcBef>
                <a:spcPts val="140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số 0 ở giữa.</a:t>
            </a:r>
            <a:endParaRPr/>
          </a:p>
          <a:p>
            <a:pPr indent="-463550" lvl="0" marL="463550" rtl="0" algn="l">
              <a:lnSpc>
                <a:spcPct val="100000"/>
              </a:lnSpc>
              <a:spcBef>
                <a:spcPts val="1400"/>
              </a:spcBef>
              <a:spcAft>
                <a:spcPts val="0"/>
              </a:spcAft>
              <a:buClr>
                <a:schemeClr val="dk1"/>
              </a:buClr>
              <a:buSzPts val="2800"/>
              <a:buFont typeface="Noto Sans Symbols"/>
              <a:buChar char="⮚"/>
            </a:pPr>
            <a:r>
              <a:rPr b="0" i="1" lang="en-US" sz="2800" u="none">
                <a:solidFill>
                  <a:schemeClr val="dk1"/>
                </a:solidFill>
                <a:latin typeface="Arial"/>
                <a:ea typeface="Arial"/>
                <a:cs typeface="Arial"/>
                <a:sym typeface="Arial"/>
              </a:rPr>
              <a:t>Lưu ý: Không dùng đổi chỗ trực tiếp.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2">
  <a:themeElements>
    <a:clrScheme name="t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2006-03-07T22:30:17Z</dcterms:created>
  <dc:creator>User</dc:creator>
</cp:coreProperties>
</file>

<file path=docProps/custom.xml><?xml version="1.0" encoding="utf-8"?>
<Properties xmlns="http://schemas.openxmlformats.org/officeDocument/2006/custom-properties" xmlns:vt="http://schemas.openxmlformats.org/officeDocument/2006/docPropsVTypes"/>
</file>