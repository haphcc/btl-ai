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906000"/>
  <p:notesSz cx="9601200" cy="7313600"/>
  <p:embeddedFontLst>
    <p:embeddedFont>
      <p:font typeface="Teko"/>
      <p:regular r:id="rId26"/>
      <p:bold r:id="rId27"/>
    </p:embeddedFont>
    <p:embeddedFont>
      <p:font typeface="Tahoma"/>
      <p:regular r:id="rId28"/>
      <p:bold r:id="rId29"/>
    </p:embeddedFont>
    <p:embeddedFont>
      <p:font typeface="Helvetica Neue"/>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120">
          <p15:clr>
            <a:srgbClr val="000000"/>
          </p15:clr>
        </p15:guide>
      </p15:sldGuideLst>
    </p:ext>
    <p:ext uri="{2D200454-40CA-4A62-9FC3-DE9A4176ACB9}">
      <p15:notesGuideLst>
        <p15:guide id="1" orient="horz" pos="2303">
          <p15:clr>
            <a:srgbClr val="000000"/>
          </p15:clr>
        </p15:guide>
        <p15:guide id="2" pos="3024">
          <p15:clr>
            <a:srgbClr val="000000"/>
          </p15:clr>
        </p15:guide>
      </p15:notesGuideLst>
    </p:ext>
    <p:ext uri="GoogleSlidesCustomDataVersion2">
      <go:slidesCustomData xmlns:go="http://customooxmlschemas.google.com/" r:id="rId34" roundtripDataSignature="AMtx7mia3K3AmNk6KRPyRN3PCZzKu6MX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Lst>
    </p:cSldViewPr>
  </p:slideViewPr>
  <p:notesViewPr>
    <p:cSldViewPr snapToGrid="0">
      <p:cViewPr varScale="1">
        <p:scale>
          <a:sx n="100" d="100"/>
          <a:sy n="100" d="100"/>
        </p:scale>
        <p:origin x="0" y="0"/>
      </p:cViewPr>
      <p:guideLst>
        <p:guide pos="2303" orient="horz"/>
        <p:guide pos="3024"/>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eko-regular.fntdata"/><Relationship Id="rId25" Type="http://schemas.openxmlformats.org/officeDocument/2006/relationships/slide" Target="slides/slide20.xml"/><Relationship Id="rId28" Type="http://schemas.openxmlformats.org/officeDocument/2006/relationships/font" Target="fonts/Tahoma-regular.fntdata"/><Relationship Id="rId27" Type="http://schemas.openxmlformats.org/officeDocument/2006/relationships/font" Target="fonts/Tek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6.xml"/><Relationship Id="rId33" Type="http://schemas.openxmlformats.org/officeDocument/2006/relationships/font" Target="fonts/HelveticaNeue-boldItalic.fntdata"/><Relationship Id="rId10" Type="http://schemas.openxmlformats.org/officeDocument/2006/relationships/slide" Target="slides/slide5.xml"/><Relationship Id="rId32" Type="http://schemas.openxmlformats.org/officeDocument/2006/relationships/font" Target="fonts/HelveticaNeue-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160837" cy="366712"/>
          </a:xfrm>
          <a:prstGeom prst="rect">
            <a:avLst/>
          </a:prstGeom>
          <a:noFill/>
          <a:ln>
            <a:noFill/>
          </a:ln>
        </p:spPr>
        <p:txBody>
          <a:bodyPr anchorCtr="0" anchor="t" bIns="48300" lIns="96625" spcFirstLastPara="1" rIns="96625" wrap="square" tIns="483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p:nvPr>
            <p:ph idx="3"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 name="Google Shape;5;n"/>
          <p:cNvSpPr txBox="1"/>
          <p:nvPr>
            <p:ph idx="1" type="body"/>
          </p:nvPr>
        </p:nvSpPr>
        <p:spPr>
          <a:xfrm>
            <a:off x="960437" y="3475037"/>
            <a:ext cx="7680325" cy="3290887"/>
          </a:xfrm>
          <a:prstGeom prst="rect">
            <a:avLst/>
          </a:prstGeom>
          <a:noFill/>
          <a:ln>
            <a:noFill/>
          </a:ln>
        </p:spPr>
        <p:txBody>
          <a:bodyPr anchorCtr="0" anchor="t" bIns="48300" lIns="96625" spcFirstLastPara="1" rIns="96625" wrap="square" tIns="483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 name="Google Shape;6;n"/>
          <p:cNvSpPr txBox="1"/>
          <p:nvPr>
            <p:ph idx="11" type="ftr"/>
          </p:nvPr>
        </p:nvSpPr>
        <p:spPr>
          <a:xfrm>
            <a:off x="0" y="6945312"/>
            <a:ext cx="4160837" cy="366712"/>
          </a:xfrm>
          <a:prstGeom prst="rect">
            <a:avLst/>
          </a:prstGeom>
          <a:noFill/>
          <a:ln>
            <a:noFill/>
          </a:ln>
        </p:spPr>
        <p:txBody>
          <a:bodyPr anchorCtr="0" anchor="b" bIns="48300" lIns="96625" spcFirstLastPara="1" rIns="96625" wrap="square" tIns="483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2" type="sldNum"/>
          </p:nvPr>
        </p:nvSpPr>
        <p:spPr>
          <a:xfrm>
            <a:off x="5438775" y="6945312"/>
            <a:ext cx="4160837" cy="366712"/>
          </a:xfrm>
          <a:prstGeom prst="rect">
            <a:avLst/>
          </a:prstGeom>
          <a:noFill/>
          <a:ln>
            <a:noFill/>
          </a:ln>
        </p:spPr>
        <p:txBody>
          <a:bodyPr anchorCtr="0" anchor="b" bIns="48300" lIns="96625" spcFirstLastPara="1" rIns="96625" wrap="square" tIns="483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8" name="Google Shape;58;p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4" name="Google Shape;64;p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0" name="Google Shape;80;p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79" name="Google Shape;179;p1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48" name="Google Shape;248;p1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55" name="Google Shape;255;p1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61" name="Google Shape;261;p1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3b129c0046_0_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3b129c0046_0_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30" name="Google Shape;330;g33b129c0046_0_0:notes"/>
          <p:cNvSpPr txBox="1"/>
          <p:nvPr>
            <p:ph idx="12" type="sldNum"/>
          </p:nvPr>
        </p:nvSpPr>
        <p:spPr>
          <a:xfrm>
            <a:off x="5438775" y="6945312"/>
            <a:ext cx="4160700" cy="3666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35" name="Google Shape;335;p1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41" name="Google Shape;341;p1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87" name="Google Shape;387;p1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56" name="Google Shape;456;p1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65" name="Google Shape;465;p1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71" name="Google Shape;471;p2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77" name="Google Shape;477;p2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83" name="Google Shape;483;p2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24"/>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 name="Google Shape;22;p24"/>
          <p:cNvSpPr txBox="1"/>
          <p:nvPr>
            <p:ph idx="1" type="body"/>
          </p:nvPr>
        </p:nvSpPr>
        <p:spPr>
          <a:xfrm>
            <a:off x="776287" y="765175"/>
            <a:ext cx="9129712" cy="57594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25"/>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5" name="Shape 25"/>
        <p:cNvGrpSpPr/>
        <p:nvPr/>
      </p:nvGrpSpPr>
      <p:grpSpPr>
        <a:xfrm>
          <a:off x="0" y="0"/>
          <a:ext cx="0" cy="0"/>
          <a:chOff x="0" y="0"/>
          <a:chExt cx="0" cy="0"/>
        </a:xfrm>
      </p:grpSpPr>
      <p:sp>
        <p:nvSpPr>
          <p:cNvPr id="26" name="Google Shape;26;p26"/>
          <p:cNvSpPr txBox="1"/>
          <p:nvPr>
            <p:ph type="title"/>
          </p:nvPr>
        </p:nvSpPr>
        <p:spPr>
          <a:xfrm rot="5400000">
            <a:off x="5405438" y="2024063"/>
            <a:ext cx="6524625" cy="2476500"/>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26"/>
          <p:cNvSpPr txBox="1"/>
          <p:nvPr>
            <p:ph idx="1" type="body"/>
          </p:nvPr>
        </p:nvSpPr>
        <p:spPr>
          <a:xfrm rot="5400000">
            <a:off x="376238" y="-376237"/>
            <a:ext cx="6524625" cy="7277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8" name="Shape 28"/>
        <p:cNvGrpSpPr/>
        <p:nvPr/>
      </p:nvGrpSpPr>
      <p:grpSpPr>
        <a:xfrm>
          <a:off x="0" y="0"/>
          <a:ext cx="0" cy="0"/>
          <a:chOff x="0" y="0"/>
          <a:chExt cx="0" cy="0"/>
        </a:xfrm>
      </p:grpSpPr>
      <p:sp>
        <p:nvSpPr>
          <p:cNvPr id="29" name="Google Shape;29;p27"/>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27"/>
          <p:cNvSpPr txBox="1"/>
          <p:nvPr>
            <p:ph idx="1" type="body"/>
          </p:nvPr>
        </p:nvSpPr>
        <p:spPr>
          <a:xfrm rot="5400000">
            <a:off x="2461418" y="-919956"/>
            <a:ext cx="5759450" cy="912971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 name="Shape 31"/>
        <p:cNvGrpSpPr/>
        <p:nvPr/>
      </p:nvGrpSpPr>
      <p:grpSpPr>
        <a:xfrm>
          <a:off x="0" y="0"/>
          <a:ext cx="0" cy="0"/>
          <a:chOff x="0" y="0"/>
          <a:chExt cx="0" cy="0"/>
        </a:xfrm>
      </p:grpSpPr>
      <p:sp>
        <p:nvSpPr>
          <p:cNvPr id="32" name="Google Shape;32;p28"/>
          <p:cNvSpPr txBox="1"/>
          <p:nvPr>
            <p:ph type="title"/>
          </p:nvPr>
        </p:nvSpPr>
        <p:spPr>
          <a:xfrm>
            <a:off x="1941513" y="4800600"/>
            <a:ext cx="5943600" cy="566738"/>
          </a:xfrm>
          <a:prstGeom prst="rect">
            <a:avLst/>
          </a:prstGeom>
          <a:solidFill>
            <a:srgbClr val="008000"/>
          </a:soli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28"/>
          <p:cNvSpPr/>
          <p:nvPr>
            <p:ph idx="2" type="pic"/>
          </p:nvPr>
        </p:nvSpPr>
        <p:spPr>
          <a:xfrm>
            <a:off x="1941513" y="612775"/>
            <a:ext cx="5943600" cy="4114800"/>
          </a:xfrm>
          <a:prstGeom prst="rect">
            <a:avLst/>
          </a:prstGeom>
          <a:noFill/>
          <a:ln>
            <a:noFill/>
          </a:ln>
        </p:spPr>
      </p:sp>
      <p:sp>
        <p:nvSpPr>
          <p:cNvPr id="34" name="Google Shape;34;p28"/>
          <p:cNvSpPr txBox="1"/>
          <p:nvPr>
            <p:ph idx="1" type="body"/>
          </p:nvPr>
        </p:nvSpPr>
        <p:spPr>
          <a:xfrm>
            <a:off x="1941513" y="5367338"/>
            <a:ext cx="59436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5" name="Shape 35"/>
        <p:cNvGrpSpPr/>
        <p:nvPr/>
      </p:nvGrpSpPr>
      <p:grpSpPr>
        <a:xfrm>
          <a:off x="0" y="0"/>
          <a:ext cx="0" cy="0"/>
          <a:chOff x="0" y="0"/>
          <a:chExt cx="0" cy="0"/>
        </a:xfrm>
      </p:grpSpPr>
      <p:sp>
        <p:nvSpPr>
          <p:cNvPr id="36" name="Google Shape;36;p29"/>
          <p:cNvSpPr txBox="1"/>
          <p:nvPr>
            <p:ph type="title"/>
          </p:nvPr>
        </p:nvSpPr>
        <p:spPr>
          <a:xfrm>
            <a:off x="495300" y="273050"/>
            <a:ext cx="3259138" cy="1162050"/>
          </a:xfrm>
          <a:prstGeom prst="rect">
            <a:avLst/>
          </a:prstGeom>
          <a:solidFill>
            <a:srgbClr val="008000"/>
          </a:soli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29"/>
          <p:cNvSpPr txBox="1"/>
          <p:nvPr>
            <p:ph idx="1" type="body"/>
          </p:nvPr>
        </p:nvSpPr>
        <p:spPr>
          <a:xfrm>
            <a:off x="3873500" y="273050"/>
            <a:ext cx="553720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38" name="Google Shape;38;p29"/>
          <p:cNvSpPr txBox="1"/>
          <p:nvPr>
            <p:ph idx="2" type="body"/>
          </p:nvPr>
        </p:nvSpPr>
        <p:spPr>
          <a:xfrm>
            <a:off x="495300" y="1435100"/>
            <a:ext cx="3259138"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495300" y="274638"/>
            <a:ext cx="8915400" cy="1143000"/>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31"/>
          <p:cNvSpPr txBox="1"/>
          <p:nvPr>
            <p:ph idx="1" type="body"/>
          </p:nvPr>
        </p:nvSpPr>
        <p:spPr>
          <a:xfrm>
            <a:off x="495300" y="1535113"/>
            <a:ext cx="437673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3" name="Google Shape;43;p31"/>
          <p:cNvSpPr txBox="1"/>
          <p:nvPr>
            <p:ph idx="2" type="body"/>
          </p:nvPr>
        </p:nvSpPr>
        <p:spPr>
          <a:xfrm>
            <a:off x="495300" y="2174875"/>
            <a:ext cx="437673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4" name="Google Shape;44;p31"/>
          <p:cNvSpPr txBox="1"/>
          <p:nvPr>
            <p:ph idx="3" type="body"/>
          </p:nvPr>
        </p:nvSpPr>
        <p:spPr>
          <a:xfrm>
            <a:off x="5032375" y="1535113"/>
            <a:ext cx="437832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5" name="Google Shape;45;p31"/>
          <p:cNvSpPr txBox="1"/>
          <p:nvPr>
            <p:ph idx="4" type="body"/>
          </p:nvPr>
        </p:nvSpPr>
        <p:spPr>
          <a:xfrm>
            <a:off x="5032375" y="2174875"/>
            <a:ext cx="437832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32"/>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32"/>
          <p:cNvSpPr txBox="1"/>
          <p:nvPr>
            <p:ph idx="1" type="body"/>
          </p:nvPr>
        </p:nvSpPr>
        <p:spPr>
          <a:xfrm>
            <a:off x="776288" y="765175"/>
            <a:ext cx="4487862" cy="575945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9" name="Google Shape;49;p32"/>
          <p:cNvSpPr txBox="1"/>
          <p:nvPr>
            <p:ph idx="2" type="body"/>
          </p:nvPr>
        </p:nvSpPr>
        <p:spPr>
          <a:xfrm>
            <a:off x="5416550" y="765175"/>
            <a:ext cx="4489450" cy="575945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sp>
        <p:nvSpPr>
          <p:cNvPr id="51" name="Google Shape;51;p33"/>
          <p:cNvSpPr txBox="1"/>
          <p:nvPr>
            <p:ph type="title"/>
          </p:nvPr>
        </p:nvSpPr>
        <p:spPr>
          <a:xfrm>
            <a:off x="782638" y="4406900"/>
            <a:ext cx="8420100" cy="1362075"/>
          </a:xfrm>
          <a:prstGeom prst="rect">
            <a:avLst/>
          </a:prstGeom>
          <a:solidFill>
            <a:srgbClr val="008000"/>
          </a:solid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33"/>
          <p:cNvSpPr txBox="1"/>
          <p:nvPr>
            <p:ph idx="1" type="body"/>
          </p:nvPr>
        </p:nvSpPr>
        <p:spPr>
          <a:xfrm>
            <a:off x="782638" y="2906713"/>
            <a:ext cx="84201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34"/>
          <p:cNvSpPr txBox="1"/>
          <p:nvPr>
            <p:ph type="ctrTitle"/>
          </p:nvPr>
        </p:nvSpPr>
        <p:spPr>
          <a:xfrm>
            <a:off x="742950" y="2130425"/>
            <a:ext cx="8420100" cy="147002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34"/>
          <p:cNvSpPr txBox="1"/>
          <p:nvPr>
            <p:ph idx="1" type="subTitle"/>
          </p:nvPr>
        </p:nvSpPr>
        <p:spPr>
          <a:xfrm>
            <a:off x="1485900" y="3886200"/>
            <a:ext cx="69342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sp>
        <p:nvSpPr>
          <p:cNvPr id="9" name="Google Shape;9;p23"/>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9pPr>
          </a:lstStyle>
          <a:p/>
        </p:txBody>
      </p:sp>
      <p:sp>
        <p:nvSpPr>
          <p:cNvPr id="10" name="Google Shape;10;p23"/>
          <p:cNvSpPr txBox="1"/>
          <p:nvPr>
            <p:ph idx="1" type="body"/>
          </p:nvPr>
        </p:nvSpPr>
        <p:spPr>
          <a:xfrm>
            <a:off x="776287" y="765175"/>
            <a:ext cx="9129712" cy="575945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logo" id="11" name="Google Shape;11;p23"/>
          <p:cNvPicPr preferRelativeResize="0"/>
          <p:nvPr/>
        </p:nvPicPr>
        <p:blipFill rotWithShape="1">
          <a:blip r:embed="rId1">
            <a:alphaModFix/>
          </a:blip>
          <a:srcRect b="0" l="0" r="0" t="0"/>
          <a:stretch/>
        </p:blipFill>
        <p:spPr>
          <a:xfrm>
            <a:off x="0" y="0"/>
            <a:ext cx="704850" cy="765175"/>
          </a:xfrm>
          <a:prstGeom prst="rect">
            <a:avLst/>
          </a:prstGeom>
          <a:noFill/>
          <a:ln>
            <a:noFill/>
          </a:ln>
        </p:spPr>
      </p:pic>
      <p:sp>
        <p:nvSpPr>
          <p:cNvPr id="12" name="Google Shape;12;p23"/>
          <p:cNvSpPr txBox="1"/>
          <p:nvPr/>
        </p:nvSpPr>
        <p:spPr>
          <a:xfrm>
            <a:off x="0" y="908050"/>
            <a:ext cx="4159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 name="Google Shape;13;p23"/>
          <p:cNvSpPr txBox="1"/>
          <p:nvPr/>
        </p:nvSpPr>
        <p:spPr>
          <a:xfrm>
            <a:off x="0" y="762000"/>
            <a:ext cx="704850" cy="60960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23"/>
          <p:cNvSpPr txBox="1"/>
          <p:nvPr/>
        </p:nvSpPr>
        <p:spPr>
          <a:xfrm rot="-5400000">
            <a:off x="-1262856" y="4728368"/>
            <a:ext cx="35877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3F3"/>
              </a:buClr>
              <a:buSzPts val="1800"/>
              <a:buFont typeface="Arial"/>
              <a:buNone/>
            </a:pPr>
            <a:r>
              <a:rPr b="1" i="0" lang="en-US" sz="1800" u="none">
                <a:solidFill>
                  <a:srgbClr val="FFF3F3"/>
                </a:solidFill>
                <a:latin typeface="Arial"/>
                <a:ea typeface="Arial"/>
                <a:cs typeface="Arial"/>
                <a:sym typeface="Arial"/>
              </a:rPr>
              <a:t>Cấu  trúc dữ liệu 1 vá thuật giải</a:t>
            </a:r>
            <a:endParaRPr/>
          </a:p>
        </p:txBody>
      </p:sp>
      <p:sp>
        <p:nvSpPr>
          <p:cNvPr id="15" name="Google Shape;15;p23"/>
          <p:cNvSpPr txBox="1"/>
          <p:nvPr/>
        </p:nvSpPr>
        <p:spPr>
          <a:xfrm>
            <a:off x="0" y="762000"/>
            <a:ext cx="704850" cy="6096000"/>
          </a:xfrm>
          <a:prstGeom prst="rect">
            <a:avLst/>
          </a:prstGeom>
          <a:solidFill>
            <a:srgbClr val="FFCC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 name="Google Shape;16;p23"/>
          <p:cNvSpPr txBox="1"/>
          <p:nvPr/>
        </p:nvSpPr>
        <p:spPr>
          <a:xfrm rot="-5400000">
            <a:off x="-1199356" y="4937918"/>
            <a:ext cx="3303587"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66"/>
              </a:buClr>
              <a:buSzPts val="1400"/>
              <a:buFont typeface="Arial"/>
              <a:buNone/>
            </a:pPr>
            <a:r>
              <a:rPr b="1" i="0" lang="en-US" sz="1400" u="none">
                <a:solidFill>
                  <a:srgbClr val="003366"/>
                </a:solidFill>
                <a:latin typeface="Arial"/>
                <a:ea typeface="Arial"/>
                <a:cs typeface="Arial"/>
                <a:sym typeface="Arial"/>
              </a:rPr>
              <a:t>CẤU TRÚC DỮ LIỆU VÀ GIẢI THUẬT </a:t>
            </a:r>
            <a:endParaRPr/>
          </a:p>
        </p:txBody>
      </p:sp>
      <p:pic>
        <p:nvPicPr>
          <p:cNvPr id="17" name="Google Shape;17;p23"/>
          <p:cNvPicPr preferRelativeResize="0"/>
          <p:nvPr/>
        </p:nvPicPr>
        <p:blipFill rotWithShape="1">
          <a:blip r:embed="rId2">
            <a:alphaModFix/>
          </a:blip>
          <a:srcRect b="0" l="0" r="0" t="0"/>
          <a:stretch/>
        </p:blipFill>
        <p:spPr>
          <a:xfrm>
            <a:off x="0" y="0"/>
            <a:ext cx="704850" cy="762000"/>
          </a:xfrm>
          <a:prstGeom prst="rect">
            <a:avLst/>
          </a:prstGeom>
          <a:noFill/>
          <a:ln>
            <a:noFill/>
          </a:ln>
        </p:spPr>
      </p:pic>
      <p:sp>
        <p:nvSpPr>
          <p:cNvPr id="18" name="Google Shape;18;p23"/>
          <p:cNvSpPr txBox="1"/>
          <p:nvPr/>
        </p:nvSpPr>
        <p:spPr>
          <a:xfrm>
            <a:off x="776287" y="79375"/>
            <a:ext cx="8929687" cy="609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Click To Edit Master Title Style</a:t>
            </a:r>
            <a:endParaRPr/>
          </a:p>
        </p:txBody>
      </p:sp>
      <p:sp>
        <p:nvSpPr>
          <p:cNvPr id="19" name="Google Shape;19;p23"/>
          <p:cNvSpPr txBox="1"/>
          <p:nvPr/>
        </p:nvSpPr>
        <p:spPr>
          <a:xfrm>
            <a:off x="9304337" y="6430962"/>
            <a:ext cx="762000"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200"/>
              <a:buFont typeface="Arial"/>
              <a:buNone/>
            </a:pPr>
            <a:fld id="{00000000-1234-1234-1234-123412341234}" type="slidenum">
              <a:rPr b="1" i="0" lang="en-US" sz="1200" u="none">
                <a:solidFill>
                  <a:schemeClr val="dk2"/>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Một Số Khái Niệm</a:t>
            </a:r>
            <a:endParaRPr/>
          </a:p>
        </p:txBody>
      </p:sp>
      <p:sp>
        <p:nvSpPr>
          <p:cNvPr id="61" name="Google Shape;61;p3"/>
          <p:cNvSpPr txBox="1"/>
          <p:nvPr>
            <p:ph idx="1" type="body"/>
          </p:nvPr>
        </p:nvSpPr>
        <p:spPr>
          <a:xfrm>
            <a:off x="776287" y="692150"/>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080808"/>
              </a:buClr>
              <a:buSzPts val="3200"/>
              <a:buFont typeface="Arial"/>
              <a:buChar char="•"/>
            </a:pPr>
            <a:r>
              <a:rPr b="0" i="0" lang="en-US" sz="3200" u="none">
                <a:solidFill>
                  <a:srgbClr val="080808"/>
                </a:solidFill>
                <a:highlight>
                  <a:srgbClr val="FFFF99"/>
                </a:highlight>
                <a:latin typeface="Arial"/>
                <a:ea typeface="Arial"/>
                <a:cs typeface="Arial"/>
                <a:sym typeface="Arial"/>
              </a:rPr>
              <a:t>Bậc của một nút</a:t>
            </a:r>
            <a:r>
              <a:rPr b="0" i="0" lang="en-US" sz="3200" u="none">
                <a:solidFill>
                  <a:srgbClr val="080808"/>
                </a:solidFill>
                <a:latin typeface="Arial"/>
                <a:ea typeface="Arial"/>
                <a:cs typeface="Arial"/>
                <a:sym typeface="Arial"/>
              </a:rPr>
              <a:t>: là </a:t>
            </a:r>
            <a:r>
              <a:rPr b="0" i="0" lang="en-US" sz="3200" u="none">
                <a:solidFill>
                  <a:srgbClr val="080808"/>
                </a:solidFill>
                <a:highlight>
                  <a:srgbClr val="FFFF00"/>
                </a:highlight>
                <a:latin typeface="Arial"/>
                <a:ea typeface="Arial"/>
                <a:cs typeface="Arial"/>
                <a:sym typeface="Arial"/>
              </a:rPr>
              <a:t>số cây con</a:t>
            </a:r>
            <a:r>
              <a:rPr b="0" i="0" lang="en-US" sz="3200" u="none">
                <a:solidFill>
                  <a:srgbClr val="080808"/>
                </a:solidFill>
                <a:latin typeface="Arial"/>
                <a:ea typeface="Arial"/>
                <a:cs typeface="Arial"/>
                <a:sym typeface="Arial"/>
              </a:rPr>
              <a:t> của nút đó .</a:t>
            </a:r>
            <a:endParaRPr/>
          </a:p>
          <a:p>
            <a:pPr indent="-342900" lvl="0" marL="342900" rtl="0" algn="l">
              <a:lnSpc>
                <a:spcPct val="90000"/>
              </a:lnSpc>
              <a:spcBef>
                <a:spcPts val="640"/>
              </a:spcBef>
              <a:spcAft>
                <a:spcPts val="0"/>
              </a:spcAft>
              <a:buClr>
                <a:srgbClr val="080808"/>
              </a:buClr>
              <a:buSzPts val="3200"/>
              <a:buFont typeface="Arial"/>
              <a:buChar char="•"/>
            </a:pPr>
            <a:r>
              <a:rPr b="0" i="0" lang="en-US" sz="3200" u="none">
                <a:solidFill>
                  <a:srgbClr val="080808"/>
                </a:solidFill>
                <a:latin typeface="Arial"/>
                <a:ea typeface="Arial"/>
                <a:cs typeface="Arial"/>
                <a:sym typeface="Arial"/>
              </a:rPr>
              <a:t>Bậc của một cây: là bậc lớn nhất của các nút trong cây </a:t>
            </a:r>
            <a:endParaRPr/>
          </a:p>
          <a:p>
            <a:pPr indent="-342900" lvl="0" marL="342900" rtl="0" algn="l">
              <a:lnSpc>
                <a:spcPct val="90000"/>
              </a:lnSpc>
              <a:spcBef>
                <a:spcPts val="640"/>
              </a:spcBef>
              <a:spcAft>
                <a:spcPts val="0"/>
              </a:spcAft>
              <a:buClr>
                <a:srgbClr val="080808"/>
              </a:buClr>
              <a:buSzPts val="3200"/>
              <a:buFont typeface="Arial"/>
              <a:buChar char="•"/>
            </a:pPr>
            <a:r>
              <a:rPr b="0" i="0" lang="en-US" sz="3200" u="none">
                <a:solidFill>
                  <a:srgbClr val="080808"/>
                </a:solidFill>
                <a:latin typeface="Arial"/>
                <a:ea typeface="Arial"/>
                <a:cs typeface="Arial"/>
                <a:sym typeface="Arial"/>
              </a:rPr>
              <a:t>Nút gốc: là nút không có nút cha.</a:t>
            </a:r>
            <a:endParaRPr/>
          </a:p>
          <a:p>
            <a:pPr indent="-342900" lvl="0" marL="342900" rtl="0" algn="l">
              <a:lnSpc>
                <a:spcPct val="90000"/>
              </a:lnSpc>
              <a:spcBef>
                <a:spcPts val="640"/>
              </a:spcBef>
              <a:spcAft>
                <a:spcPts val="0"/>
              </a:spcAft>
              <a:buClr>
                <a:srgbClr val="080808"/>
              </a:buClr>
              <a:buSzPts val="3200"/>
              <a:buFont typeface="Arial"/>
              <a:buChar char="•"/>
            </a:pPr>
            <a:r>
              <a:rPr b="0" i="0" lang="en-US" sz="3200" u="none">
                <a:solidFill>
                  <a:srgbClr val="080808"/>
                </a:solidFill>
                <a:latin typeface="Arial"/>
                <a:ea typeface="Arial"/>
                <a:cs typeface="Arial"/>
                <a:sym typeface="Arial"/>
              </a:rPr>
              <a:t>Nút lá: là nút có bậc bằng 0 .</a:t>
            </a:r>
            <a:endParaRPr/>
          </a:p>
          <a:p>
            <a:pPr indent="-342900" lvl="0" marL="342900" rtl="0" algn="l">
              <a:lnSpc>
                <a:spcPct val="90000"/>
              </a:lnSpc>
              <a:spcBef>
                <a:spcPts val="640"/>
              </a:spcBef>
              <a:spcAft>
                <a:spcPts val="0"/>
              </a:spcAft>
              <a:buClr>
                <a:srgbClr val="080808"/>
              </a:buClr>
              <a:buSzPts val="3200"/>
              <a:buFont typeface="Arial"/>
              <a:buChar char="•"/>
            </a:pPr>
            <a:r>
              <a:rPr b="0" i="0" lang="en-US" sz="3200" u="none">
                <a:solidFill>
                  <a:srgbClr val="080808"/>
                </a:solidFill>
                <a:latin typeface="Arial"/>
                <a:ea typeface="Arial"/>
                <a:cs typeface="Arial"/>
                <a:sym typeface="Arial"/>
              </a:rPr>
              <a:t>Mức của một nút:</a:t>
            </a:r>
            <a:endParaRPr/>
          </a:p>
          <a:p>
            <a:pPr indent="-285750" lvl="1" marL="742950" rtl="0" algn="l">
              <a:lnSpc>
                <a:spcPct val="90000"/>
              </a:lnSpc>
              <a:spcBef>
                <a:spcPts val="560"/>
              </a:spcBef>
              <a:spcAft>
                <a:spcPts val="0"/>
              </a:spcAft>
              <a:buClr>
                <a:srgbClr val="080808"/>
              </a:buClr>
              <a:buSzPts val="2800"/>
              <a:buFont typeface="Arial"/>
              <a:buChar char="–"/>
            </a:pPr>
            <a:r>
              <a:rPr b="0" i="0" lang="en-US" sz="2800" u="none">
                <a:solidFill>
                  <a:srgbClr val="080808"/>
                </a:solidFill>
                <a:latin typeface="Arial"/>
                <a:ea typeface="Arial"/>
                <a:cs typeface="Arial"/>
                <a:sym typeface="Arial"/>
              </a:rPr>
              <a:t>Mức (gốc (T) ) = 0.</a:t>
            </a:r>
            <a:endParaRPr/>
          </a:p>
          <a:p>
            <a:pPr indent="-285750" lvl="1" marL="742950" rtl="0" algn="l">
              <a:lnSpc>
                <a:spcPct val="90000"/>
              </a:lnSpc>
              <a:spcBef>
                <a:spcPts val="560"/>
              </a:spcBef>
              <a:spcAft>
                <a:spcPts val="0"/>
              </a:spcAft>
              <a:buClr>
                <a:srgbClr val="080808"/>
              </a:buClr>
              <a:buSzPts val="2800"/>
              <a:buFont typeface="Arial"/>
              <a:buChar char="–"/>
            </a:pPr>
            <a:r>
              <a:rPr b="0" i="0" lang="en-US" sz="2800" u="none">
                <a:solidFill>
                  <a:srgbClr val="080808"/>
                </a:solidFill>
                <a:latin typeface="Arial"/>
                <a:ea typeface="Arial"/>
                <a:cs typeface="Arial"/>
                <a:sym typeface="Arial"/>
              </a:rPr>
              <a:t>Gọi T1, T2, T3, ... , Tn là các cây con của T0 :</a:t>
            </a:r>
            <a:br>
              <a:rPr b="0" i="0" lang="en-US" sz="2800" u="none">
                <a:solidFill>
                  <a:srgbClr val="080808"/>
                </a:solidFill>
                <a:latin typeface="Arial"/>
                <a:ea typeface="Arial"/>
                <a:cs typeface="Arial"/>
                <a:sym typeface="Arial"/>
              </a:rPr>
            </a:br>
            <a:r>
              <a:rPr b="0" i="0" lang="en-US" sz="2800" u="none">
                <a:solidFill>
                  <a:srgbClr val="080808"/>
                </a:solidFill>
                <a:latin typeface="Arial"/>
                <a:ea typeface="Arial"/>
                <a:cs typeface="Arial"/>
                <a:sym typeface="Arial"/>
              </a:rPr>
              <a:t>Mức (T1) = Mức (T2) = . . .  = Mức (Tn) = Mức (T0) + 1.</a:t>
            </a:r>
            <a:endParaRPr/>
          </a:p>
          <a:p>
            <a:pPr indent="-342900" lvl="0" marL="342900" rtl="0" algn="l">
              <a:lnSpc>
                <a:spcPct val="90000"/>
              </a:lnSpc>
              <a:spcBef>
                <a:spcPts val="640"/>
              </a:spcBef>
              <a:spcAft>
                <a:spcPts val="0"/>
              </a:spcAft>
              <a:buClr>
                <a:srgbClr val="080808"/>
              </a:buClr>
              <a:buSzPts val="3200"/>
              <a:buFont typeface="Arial"/>
              <a:buChar char="•"/>
            </a:pPr>
            <a:r>
              <a:rPr b="0" i="0" lang="en-US" sz="3200" u="none">
                <a:solidFill>
                  <a:srgbClr val="080808"/>
                </a:solidFill>
                <a:latin typeface="Arial"/>
                <a:ea typeface="Arial"/>
                <a:cs typeface="Arial"/>
                <a:sym typeface="Arial"/>
              </a:rPr>
              <a:t>Độ dài đường đi từ gốc đến nút x: là số nhánh cần đi qua kể từ gốc đến x.</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Cấu Trúc Dữ Liệu Của Cây Nhị Phân</a:t>
            </a:r>
            <a:endParaRPr/>
          </a:p>
        </p:txBody>
      </p:sp>
      <p:sp>
        <p:nvSpPr>
          <p:cNvPr id="67" name="Google Shape;67;p6"/>
          <p:cNvSpPr txBox="1"/>
          <p:nvPr>
            <p:ph idx="1" type="body"/>
          </p:nvPr>
        </p:nvSpPr>
        <p:spPr>
          <a:xfrm>
            <a:off x="1938125" y="1490875"/>
            <a:ext cx="7305300" cy="51807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rgbClr val="080808"/>
              </a:buClr>
              <a:buSzPts val="3200"/>
              <a:buFont typeface="Arial"/>
              <a:buNone/>
            </a:pPr>
            <a:r>
              <a:rPr b="0" i="0" lang="en-US" sz="3200" u="none">
                <a:solidFill>
                  <a:srgbClr val="080808"/>
                </a:solidFill>
                <a:latin typeface="Arial"/>
                <a:ea typeface="Arial"/>
                <a:cs typeface="Arial"/>
                <a:sym typeface="Arial"/>
              </a:rPr>
              <a:t>typedef struct tagTNode</a:t>
            </a:r>
            <a:endParaRPr/>
          </a:p>
          <a:p>
            <a:pPr indent="-342900" lvl="0" marL="342900" rtl="0" algn="l">
              <a:lnSpc>
                <a:spcPct val="80000"/>
              </a:lnSpc>
              <a:spcBef>
                <a:spcPts val="640"/>
              </a:spcBef>
              <a:spcAft>
                <a:spcPts val="0"/>
              </a:spcAft>
              <a:buClr>
                <a:srgbClr val="080808"/>
              </a:buClr>
              <a:buSzPts val="3200"/>
              <a:buFont typeface="Arial"/>
              <a:buNone/>
            </a:pPr>
            <a:r>
              <a:rPr b="0" i="0" lang="en-US" sz="3200" u="none">
                <a:solidFill>
                  <a:srgbClr val="080808"/>
                </a:solidFill>
                <a:latin typeface="Arial"/>
                <a:ea typeface="Arial"/>
                <a:cs typeface="Arial"/>
                <a:sym typeface="Arial"/>
              </a:rPr>
              <a:t>{</a:t>
            </a:r>
            <a:endParaRPr/>
          </a:p>
          <a:p>
            <a:pPr indent="-342900" lvl="0" marL="342900" rtl="0" algn="l">
              <a:lnSpc>
                <a:spcPct val="80000"/>
              </a:lnSpc>
              <a:spcBef>
                <a:spcPts val="640"/>
              </a:spcBef>
              <a:spcAft>
                <a:spcPts val="0"/>
              </a:spcAft>
              <a:buClr>
                <a:srgbClr val="080808"/>
              </a:buClr>
              <a:buSzPts val="3200"/>
              <a:buFont typeface="Arial"/>
              <a:buNone/>
            </a:pPr>
            <a:r>
              <a:rPr b="0" i="0" lang="en-US" sz="3200" u="none">
                <a:solidFill>
                  <a:srgbClr val="080808"/>
                </a:solidFill>
                <a:latin typeface="Arial"/>
                <a:ea typeface="Arial"/>
                <a:cs typeface="Arial"/>
                <a:sym typeface="Arial"/>
              </a:rPr>
              <a:t>	Data	Key; </a:t>
            </a:r>
            <a:endParaRPr/>
          </a:p>
          <a:p>
            <a:pPr indent="-342900" lvl="0" marL="342900" rtl="0" algn="l">
              <a:lnSpc>
                <a:spcPct val="80000"/>
              </a:lnSpc>
              <a:spcBef>
                <a:spcPts val="640"/>
              </a:spcBef>
              <a:spcAft>
                <a:spcPts val="0"/>
              </a:spcAft>
              <a:buClr>
                <a:srgbClr val="080808"/>
              </a:buClr>
              <a:buSzPts val="3200"/>
              <a:buFont typeface="Arial"/>
              <a:buNone/>
            </a:pPr>
            <a:r>
              <a:rPr b="0" i="0" lang="en-US" sz="3200" u="none">
                <a:solidFill>
                  <a:srgbClr val="080808"/>
                </a:solidFill>
                <a:latin typeface="Arial"/>
                <a:ea typeface="Arial"/>
                <a:cs typeface="Arial"/>
                <a:sym typeface="Arial"/>
              </a:rPr>
              <a:t>	struct tagTNode *pLeft; </a:t>
            </a:r>
            <a:endParaRPr b="0" i="0" sz="3200" u="none">
              <a:solidFill>
                <a:srgbClr val="080808"/>
              </a:solidFill>
              <a:latin typeface="Arial"/>
              <a:ea typeface="Arial"/>
              <a:cs typeface="Arial"/>
              <a:sym typeface="Arial"/>
            </a:endParaRPr>
          </a:p>
          <a:p>
            <a:pPr indent="-342900" lvl="0" marL="342900" rtl="0" algn="l">
              <a:lnSpc>
                <a:spcPct val="80000"/>
              </a:lnSpc>
              <a:spcBef>
                <a:spcPts val="640"/>
              </a:spcBef>
              <a:spcAft>
                <a:spcPts val="0"/>
              </a:spcAft>
              <a:buClr>
                <a:srgbClr val="080808"/>
              </a:buClr>
              <a:buSzPts val="3200"/>
              <a:buFont typeface="Arial"/>
              <a:buNone/>
            </a:pPr>
            <a:r>
              <a:rPr lang="en-US">
                <a:solidFill>
                  <a:srgbClr val="080808"/>
                </a:solidFill>
              </a:rPr>
              <a:t>   </a:t>
            </a:r>
            <a:r>
              <a:rPr b="0" i="0" lang="en-US" sz="3200" u="none">
                <a:solidFill>
                  <a:srgbClr val="080808"/>
                </a:solidFill>
                <a:latin typeface="Arial"/>
                <a:ea typeface="Arial"/>
                <a:cs typeface="Arial"/>
                <a:sym typeface="Arial"/>
              </a:rPr>
              <a:t>struct tagTNode *pRight; </a:t>
            </a:r>
            <a:endParaRPr/>
          </a:p>
          <a:p>
            <a:pPr indent="-342900" lvl="0" marL="342900" rtl="0" algn="l">
              <a:lnSpc>
                <a:spcPct val="80000"/>
              </a:lnSpc>
              <a:spcBef>
                <a:spcPts val="640"/>
              </a:spcBef>
              <a:spcAft>
                <a:spcPts val="0"/>
              </a:spcAft>
              <a:buClr>
                <a:srgbClr val="080808"/>
              </a:buClr>
              <a:buSzPts val="3200"/>
              <a:buFont typeface="Arial"/>
              <a:buNone/>
            </a:pPr>
            <a:r>
              <a:rPr b="0" i="0" lang="en-US" sz="3200" u="none">
                <a:solidFill>
                  <a:srgbClr val="080808"/>
                </a:solidFill>
                <a:latin typeface="Arial"/>
                <a:ea typeface="Arial"/>
                <a:cs typeface="Arial"/>
                <a:sym typeface="Arial"/>
              </a:rPr>
              <a:t>}TNode;</a:t>
            </a:r>
            <a:endParaRPr/>
          </a:p>
          <a:p>
            <a:pPr indent="-342900" lvl="0" marL="342900" rtl="0" algn="l">
              <a:lnSpc>
                <a:spcPct val="80000"/>
              </a:lnSpc>
              <a:spcBef>
                <a:spcPts val="640"/>
              </a:spcBef>
              <a:spcAft>
                <a:spcPts val="0"/>
              </a:spcAft>
              <a:buClr>
                <a:schemeClr val="dk1"/>
              </a:buClr>
              <a:buSzPts val="3200"/>
              <a:buFont typeface="Arial"/>
              <a:buNone/>
            </a:pPr>
            <a:r>
              <a:t/>
            </a:r>
            <a:endParaRPr b="0" i="0" sz="3200" u="none">
              <a:solidFill>
                <a:srgbClr val="080808"/>
              </a:solidFill>
              <a:latin typeface="Arial"/>
              <a:ea typeface="Arial"/>
              <a:cs typeface="Arial"/>
              <a:sym typeface="Arial"/>
            </a:endParaRPr>
          </a:p>
          <a:p>
            <a:pPr indent="-342900" lvl="0" marL="342900" rtl="0" algn="l">
              <a:lnSpc>
                <a:spcPct val="80000"/>
              </a:lnSpc>
              <a:spcBef>
                <a:spcPts val="640"/>
              </a:spcBef>
              <a:spcAft>
                <a:spcPts val="0"/>
              </a:spcAft>
              <a:buClr>
                <a:srgbClr val="080808"/>
              </a:buClr>
              <a:buSzPts val="3200"/>
              <a:buFont typeface="Arial"/>
              <a:buNone/>
            </a:pPr>
            <a:r>
              <a:rPr b="0" i="0" lang="en-US" sz="3200" u="none">
                <a:solidFill>
                  <a:srgbClr val="080808"/>
                </a:solidFill>
                <a:latin typeface="Arial"/>
                <a:ea typeface="Arial"/>
                <a:cs typeface="Arial"/>
                <a:sym typeface="Arial"/>
              </a:rPr>
              <a:t>typedef TNode *TREE;</a:t>
            </a:r>
            <a:endParaRPr/>
          </a:p>
          <a:p>
            <a:pPr indent="-342900" lvl="0" marL="342900" rtl="0" algn="l">
              <a:lnSpc>
                <a:spcPct val="80000"/>
              </a:lnSpc>
              <a:spcBef>
                <a:spcPts val="640"/>
              </a:spcBef>
              <a:spcAft>
                <a:spcPts val="0"/>
              </a:spcAft>
              <a:buClr>
                <a:schemeClr val="dk1"/>
              </a:buClr>
              <a:buSzPts val="3200"/>
              <a:buFont typeface="Arial"/>
              <a:buNone/>
            </a:pPr>
            <a:r>
              <a:t/>
            </a:r>
            <a:endParaRPr b="1" i="0" sz="3200" u="none">
              <a:solidFill>
                <a:srgbClr val="080808"/>
              </a:solidFill>
              <a:latin typeface="Arial"/>
              <a:ea typeface="Arial"/>
              <a:cs typeface="Arial"/>
              <a:sym typeface="Arial"/>
            </a:endParaRPr>
          </a:p>
          <a:p>
            <a:pPr indent="-139700" lvl="0" marL="342900" rtl="0" algn="l">
              <a:spcBef>
                <a:spcPts val="640"/>
              </a:spcBef>
              <a:spcAft>
                <a:spcPts val="0"/>
              </a:spcAft>
              <a:buClr>
                <a:schemeClr val="dk1"/>
              </a:buClr>
              <a:buSzPts val="3200"/>
              <a:buFont typeface="Arial"/>
              <a:buNone/>
            </a:pPr>
            <a:r>
              <a:t/>
            </a:r>
            <a:endParaRPr b="1" i="0" sz="3200" u="none">
              <a:solidFill>
                <a:srgbClr val="08080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Cây Nhị Phân</a:t>
            </a:r>
            <a:endParaRPr/>
          </a:p>
        </p:txBody>
      </p:sp>
      <p:sp>
        <p:nvSpPr>
          <p:cNvPr id="73" name="Google Shape;73;p5"/>
          <p:cNvSpPr txBox="1"/>
          <p:nvPr>
            <p:ph idx="1" type="body"/>
          </p:nvPr>
        </p:nvSpPr>
        <p:spPr>
          <a:xfrm>
            <a:off x="1323975" y="1409700"/>
            <a:ext cx="7772400" cy="6143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Mỗi nút có tối đa 2 cây con</a:t>
            </a:r>
            <a:endParaRPr/>
          </a:p>
        </p:txBody>
      </p:sp>
      <p:grpSp>
        <p:nvGrpSpPr>
          <p:cNvPr id="74" name="Google Shape;74;p5"/>
          <p:cNvGrpSpPr/>
          <p:nvPr/>
        </p:nvGrpSpPr>
        <p:grpSpPr>
          <a:xfrm>
            <a:off x="1857375" y="2133600"/>
            <a:ext cx="6259512" cy="3543300"/>
            <a:chOff x="816" y="1728"/>
            <a:chExt cx="3943" cy="2232"/>
          </a:xfrm>
        </p:grpSpPr>
        <p:pic>
          <p:nvPicPr>
            <p:cNvPr id="75" name="Google Shape;75;p5"/>
            <p:cNvPicPr preferRelativeResize="0"/>
            <p:nvPr/>
          </p:nvPicPr>
          <p:blipFill rotWithShape="1">
            <a:blip r:embed="rId3">
              <a:alphaModFix/>
            </a:blip>
            <a:srcRect b="0" l="0" r="0" t="0"/>
            <a:stretch/>
          </p:blipFill>
          <p:spPr>
            <a:xfrm>
              <a:off x="912" y="1728"/>
              <a:ext cx="3744" cy="2232"/>
            </a:xfrm>
            <a:prstGeom prst="rect">
              <a:avLst/>
            </a:prstGeom>
            <a:noFill/>
            <a:ln>
              <a:noFill/>
            </a:ln>
          </p:spPr>
        </p:pic>
        <p:sp>
          <p:nvSpPr>
            <p:cNvPr id="76" name="Google Shape;76;p5"/>
            <p:cNvSpPr txBox="1"/>
            <p:nvPr/>
          </p:nvSpPr>
          <p:spPr>
            <a:xfrm>
              <a:off x="816" y="1968"/>
              <a:ext cx="631" cy="35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imes New Roman"/>
                <a:buNone/>
              </a:pPr>
              <a:r>
                <a:rPr b="1" i="0" lang="en-US" sz="2400" u="none">
                  <a:solidFill>
                    <a:srgbClr val="080808"/>
                  </a:solidFill>
                  <a:latin typeface="Times New Roman"/>
                  <a:ea typeface="Times New Roman"/>
                  <a:cs typeface="Times New Roman"/>
                  <a:sym typeface="Times New Roman"/>
                </a:rPr>
                <a:t>Cây con tr</a:t>
              </a:r>
              <a:r>
                <a:rPr b="1" lang="en-US" sz="2400">
                  <a:solidFill>
                    <a:srgbClr val="080808"/>
                  </a:solidFill>
                  <a:latin typeface="Times New Roman"/>
                  <a:ea typeface="Times New Roman"/>
                  <a:cs typeface="Times New Roman"/>
                  <a:sym typeface="Times New Roman"/>
                </a:rPr>
                <a:t>á</a:t>
              </a:r>
              <a:r>
                <a:rPr b="1" i="0" lang="en-US" sz="2400" u="none">
                  <a:solidFill>
                    <a:srgbClr val="080808"/>
                  </a:solidFill>
                  <a:latin typeface="Times New Roman"/>
                  <a:ea typeface="Times New Roman"/>
                  <a:cs typeface="Times New Roman"/>
                  <a:sym typeface="Times New Roman"/>
                </a:rPr>
                <a:t>i</a:t>
              </a:r>
              <a:endParaRPr/>
            </a:p>
          </p:txBody>
        </p:sp>
        <p:sp>
          <p:nvSpPr>
            <p:cNvPr id="77" name="Google Shape;77;p5"/>
            <p:cNvSpPr txBox="1"/>
            <p:nvPr/>
          </p:nvSpPr>
          <p:spPr>
            <a:xfrm>
              <a:off x="4128" y="2016"/>
              <a:ext cx="631" cy="35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80808"/>
                </a:buClr>
                <a:buSzPts val="2400"/>
                <a:buFont typeface="Times New Roman"/>
                <a:buNone/>
              </a:pPr>
              <a:r>
                <a:rPr b="1" i="0" lang="en-US" sz="2400" u="none">
                  <a:solidFill>
                    <a:srgbClr val="080808"/>
                  </a:solidFill>
                  <a:latin typeface="Times New Roman"/>
                  <a:ea typeface="Times New Roman"/>
                  <a:cs typeface="Times New Roman"/>
                  <a:sym typeface="Times New Roman"/>
                </a:rPr>
                <a:t>Cây con ph</a:t>
              </a:r>
              <a:r>
                <a:rPr b="1" lang="en-US" sz="2400">
                  <a:solidFill>
                    <a:srgbClr val="080808"/>
                  </a:solidFill>
                  <a:latin typeface="Times New Roman"/>
                  <a:ea typeface="Times New Roman"/>
                  <a:cs typeface="Times New Roman"/>
                  <a:sym typeface="Times New Roman"/>
                </a:rPr>
                <a:t>ả</a:t>
              </a:r>
              <a:r>
                <a:rPr b="1" i="0" lang="en-US" sz="2400" u="none">
                  <a:solidFill>
                    <a:srgbClr val="080808"/>
                  </a:solidFill>
                  <a:latin typeface="Times New Roman"/>
                  <a:ea typeface="Times New Roman"/>
                  <a:cs typeface="Times New Roman"/>
                  <a:sym typeface="Times New Roman"/>
                </a:rPr>
                <a:t>i</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animEffect filter="fade" transition="in">
                                      <p:cBhvr>
                                        <p:cTn dur="500"/>
                                        <p:tgtEl>
                                          <p:spTgt spid="7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0" i="0" lang="en-US" sz="3200" u="none">
                <a:solidFill>
                  <a:srgbClr val="FFF3F3"/>
                </a:solidFill>
                <a:latin typeface="Arial"/>
                <a:ea typeface="Arial"/>
                <a:cs typeface="Arial"/>
                <a:sym typeface="Arial"/>
              </a:rPr>
              <a:t>VD: Cây Được Tổ Chức Trong Bộ Nhớ Trong</a:t>
            </a:r>
            <a:endParaRPr/>
          </a:p>
        </p:txBody>
      </p:sp>
      <p:sp>
        <p:nvSpPr>
          <p:cNvPr id="83" name="Google Shape;83;p7"/>
          <p:cNvSpPr txBox="1"/>
          <p:nvPr/>
        </p:nvSpPr>
        <p:spPr>
          <a:xfrm>
            <a:off x="5106987" y="1938337"/>
            <a:ext cx="762000"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3f</a:t>
            </a:r>
            <a:endParaRPr/>
          </a:p>
        </p:txBody>
      </p:sp>
      <p:sp>
        <p:nvSpPr>
          <p:cNvPr id="84" name="Google Shape;84;p7"/>
          <p:cNvSpPr txBox="1"/>
          <p:nvPr/>
        </p:nvSpPr>
        <p:spPr>
          <a:xfrm>
            <a:off x="4344987" y="1938337"/>
            <a:ext cx="762000" cy="482600"/>
          </a:xfrm>
          <a:prstGeom prst="rect">
            <a:avLst/>
          </a:prstGeom>
          <a:gradFill>
            <a:gsLst>
              <a:gs pos="0">
                <a:srgbClr val="FFFFFF"/>
              </a:gs>
              <a:gs pos="100000">
                <a:srgbClr val="69FF69">
                  <a:alpha val="60000"/>
                </a:srgbClr>
              </a:gs>
            </a:gsLst>
            <a:path path="circle">
              <a:fillToRect b="50%" l="50%" r="50%" t="50%"/>
            </a:path>
            <a:tileRect/>
          </a:gradFill>
          <a:ln cap="flat" cmpd="sng" w="9525">
            <a:solidFill>
              <a:srgbClr val="33CCCC"/>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6</a:t>
            </a:r>
            <a:endParaRPr/>
          </a:p>
        </p:txBody>
      </p:sp>
      <p:sp>
        <p:nvSpPr>
          <p:cNvPr id="85" name="Google Shape;85;p7"/>
          <p:cNvSpPr txBox="1"/>
          <p:nvPr/>
        </p:nvSpPr>
        <p:spPr>
          <a:xfrm>
            <a:off x="3603625" y="1938337"/>
            <a:ext cx="701675"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2f</a:t>
            </a:r>
            <a:endParaRPr/>
          </a:p>
        </p:txBody>
      </p:sp>
      <p:cxnSp>
        <p:nvCxnSpPr>
          <p:cNvPr id="86" name="Google Shape;86;p7"/>
          <p:cNvCxnSpPr/>
          <p:nvPr/>
        </p:nvCxnSpPr>
        <p:spPr>
          <a:xfrm>
            <a:off x="3582987" y="1938337"/>
            <a:ext cx="2286000" cy="0"/>
          </a:xfrm>
          <a:prstGeom prst="straightConnector1">
            <a:avLst/>
          </a:prstGeom>
          <a:noFill/>
          <a:ln cap="sq" cmpd="sng" w="38100">
            <a:solidFill>
              <a:schemeClr val="hlink"/>
            </a:solidFill>
            <a:prstDash val="solid"/>
            <a:miter lim="800000"/>
            <a:headEnd len="med" w="med" type="none"/>
            <a:tailEnd len="med" w="med" type="none"/>
          </a:ln>
        </p:spPr>
      </p:cxnSp>
      <p:cxnSp>
        <p:nvCxnSpPr>
          <p:cNvPr id="87" name="Google Shape;87;p7"/>
          <p:cNvCxnSpPr/>
          <p:nvPr/>
        </p:nvCxnSpPr>
        <p:spPr>
          <a:xfrm>
            <a:off x="3582987" y="2455862"/>
            <a:ext cx="2286000" cy="0"/>
          </a:xfrm>
          <a:prstGeom prst="straightConnector1">
            <a:avLst/>
          </a:prstGeom>
          <a:noFill/>
          <a:ln cap="sq" cmpd="sng" w="38100">
            <a:solidFill>
              <a:schemeClr val="hlink"/>
            </a:solidFill>
            <a:prstDash val="solid"/>
            <a:miter lim="800000"/>
            <a:headEnd len="med" w="med" type="none"/>
            <a:tailEnd len="med" w="med" type="none"/>
          </a:ln>
        </p:spPr>
      </p:cxnSp>
      <p:cxnSp>
        <p:nvCxnSpPr>
          <p:cNvPr id="88" name="Google Shape;88;p7"/>
          <p:cNvCxnSpPr/>
          <p:nvPr/>
        </p:nvCxnSpPr>
        <p:spPr>
          <a:xfrm>
            <a:off x="3582987" y="1938337"/>
            <a:ext cx="0" cy="517525"/>
          </a:xfrm>
          <a:prstGeom prst="straightConnector1">
            <a:avLst/>
          </a:prstGeom>
          <a:noFill/>
          <a:ln cap="sq" cmpd="sng" w="38100">
            <a:solidFill>
              <a:schemeClr val="hlink"/>
            </a:solidFill>
            <a:prstDash val="solid"/>
            <a:miter lim="800000"/>
            <a:headEnd len="med" w="med" type="none"/>
            <a:tailEnd len="med" w="med" type="none"/>
          </a:ln>
        </p:spPr>
      </p:cxnSp>
      <p:cxnSp>
        <p:nvCxnSpPr>
          <p:cNvPr id="89" name="Google Shape;89;p7"/>
          <p:cNvCxnSpPr/>
          <p:nvPr/>
        </p:nvCxnSpPr>
        <p:spPr>
          <a:xfrm>
            <a:off x="4344987" y="1938337"/>
            <a:ext cx="0" cy="517525"/>
          </a:xfrm>
          <a:prstGeom prst="straightConnector1">
            <a:avLst/>
          </a:prstGeom>
          <a:noFill/>
          <a:ln cap="flat" cmpd="sng" w="38100">
            <a:solidFill>
              <a:schemeClr val="hlink"/>
            </a:solidFill>
            <a:prstDash val="solid"/>
            <a:miter lim="800000"/>
            <a:headEnd len="med" w="med" type="none"/>
            <a:tailEnd len="med" w="med" type="none"/>
          </a:ln>
        </p:spPr>
      </p:cxnSp>
      <p:cxnSp>
        <p:nvCxnSpPr>
          <p:cNvPr id="90" name="Google Shape;90;p7"/>
          <p:cNvCxnSpPr/>
          <p:nvPr/>
        </p:nvCxnSpPr>
        <p:spPr>
          <a:xfrm>
            <a:off x="5106987" y="1938337"/>
            <a:ext cx="0" cy="517525"/>
          </a:xfrm>
          <a:prstGeom prst="straightConnector1">
            <a:avLst/>
          </a:prstGeom>
          <a:noFill/>
          <a:ln cap="flat" cmpd="sng" w="9525">
            <a:solidFill>
              <a:schemeClr val="dk1"/>
            </a:solidFill>
            <a:prstDash val="solid"/>
            <a:miter lim="800000"/>
            <a:headEnd len="med" w="med" type="none"/>
            <a:tailEnd len="med" w="med" type="none"/>
          </a:ln>
        </p:spPr>
      </p:cxnSp>
      <p:cxnSp>
        <p:nvCxnSpPr>
          <p:cNvPr id="91" name="Google Shape;91;p7"/>
          <p:cNvCxnSpPr/>
          <p:nvPr/>
        </p:nvCxnSpPr>
        <p:spPr>
          <a:xfrm>
            <a:off x="5868987" y="1938337"/>
            <a:ext cx="0" cy="517525"/>
          </a:xfrm>
          <a:prstGeom prst="straightConnector1">
            <a:avLst/>
          </a:prstGeom>
          <a:noFill/>
          <a:ln cap="sq" cmpd="sng" w="38100">
            <a:solidFill>
              <a:schemeClr val="hlink"/>
            </a:solidFill>
            <a:prstDash val="solid"/>
            <a:miter lim="800000"/>
            <a:headEnd len="med" w="med" type="none"/>
            <a:tailEnd len="med" w="med" type="none"/>
          </a:ln>
        </p:spPr>
      </p:cxnSp>
      <p:sp>
        <p:nvSpPr>
          <p:cNvPr id="92" name="Google Shape;92;p7"/>
          <p:cNvSpPr txBox="1"/>
          <p:nvPr/>
        </p:nvSpPr>
        <p:spPr>
          <a:xfrm>
            <a:off x="3430587" y="1557337"/>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1f</a:t>
            </a:r>
            <a:endParaRPr/>
          </a:p>
        </p:txBody>
      </p:sp>
      <p:sp>
        <p:nvSpPr>
          <p:cNvPr id="93" name="Google Shape;93;p7"/>
          <p:cNvSpPr txBox="1"/>
          <p:nvPr/>
        </p:nvSpPr>
        <p:spPr>
          <a:xfrm>
            <a:off x="8154987" y="3309937"/>
            <a:ext cx="762000"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N</a:t>
            </a:r>
            <a:endParaRPr/>
          </a:p>
        </p:txBody>
      </p:sp>
      <p:sp>
        <p:nvSpPr>
          <p:cNvPr id="94" name="Google Shape;94;p7"/>
          <p:cNvSpPr txBox="1"/>
          <p:nvPr/>
        </p:nvSpPr>
        <p:spPr>
          <a:xfrm>
            <a:off x="7392987" y="3309937"/>
            <a:ext cx="762000" cy="482600"/>
          </a:xfrm>
          <a:prstGeom prst="rect">
            <a:avLst/>
          </a:prstGeom>
          <a:gradFill>
            <a:gsLst>
              <a:gs pos="0">
                <a:srgbClr val="FFFFFF"/>
              </a:gs>
              <a:gs pos="100000">
                <a:srgbClr val="69FF69">
                  <a:alpha val="60000"/>
                </a:srgbClr>
              </a:gs>
            </a:gsLst>
            <a:path path="circle">
              <a:fillToRect b="50%" l="50%" r="50%" t="50%"/>
            </a:path>
            <a:tileRect/>
          </a:gradFill>
          <a:ln cap="flat" cmpd="sng" w="9525">
            <a:solidFill>
              <a:srgbClr val="33CCCC"/>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9</a:t>
            </a:r>
            <a:endParaRPr/>
          </a:p>
        </p:txBody>
      </p:sp>
      <p:sp>
        <p:nvSpPr>
          <p:cNvPr id="95" name="Google Shape;95;p7"/>
          <p:cNvSpPr txBox="1"/>
          <p:nvPr/>
        </p:nvSpPr>
        <p:spPr>
          <a:xfrm>
            <a:off x="6630987" y="3309937"/>
            <a:ext cx="762000"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7f</a:t>
            </a:r>
            <a:endParaRPr/>
          </a:p>
        </p:txBody>
      </p:sp>
      <p:cxnSp>
        <p:nvCxnSpPr>
          <p:cNvPr id="96" name="Google Shape;96;p7"/>
          <p:cNvCxnSpPr/>
          <p:nvPr/>
        </p:nvCxnSpPr>
        <p:spPr>
          <a:xfrm>
            <a:off x="6630987" y="3309937"/>
            <a:ext cx="2286000" cy="0"/>
          </a:xfrm>
          <a:prstGeom prst="straightConnector1">
            <a:avLst/>
          </a:prstGeom>
          <a:noFill/>
          <a:ln cap="sq" cmpd="sng" w="38100">
            <a:solidFill>
              <a:schemeClr val="hlink"/>
            </a:solidFill>
            <a:prstDash val="solid"/>
            <a:miter lim="800000"/>
            <a:headEnd len="med" w="med" type="none"/>
            <a:tailEnd len="med" w="med" type="none"/>
          </a:ln>
        </p:spPr>
      </p:cxnSp>
      <p:cxnSp>
        <p:nvCxnSpPr>
          <p:cNvPr id="97" name="Google Shape;97;p7"/>
          <p:cNvCxnSpPr/>
          <p:nvPr/>
        </p:nvCxnSpPr>
        <p:spPr>
          <a:xfrm>
            <a:off x="6630987" y="3827462"/>
            <a:ext cx="2286000" cy="0"/>
          </a:xfrm>
          <a:prstGeom prst="straightConnector1">
            <a:avLst/>
          </a:prstGeom>
          <a:noFill/>
          <a:ln cap="sq" cmpd="sng" w="38100">
            <a:solidFill>
              <a:schemeClr val="hlink"/>
            </a:solidFill>
            <a:prstDash val="solid"/>
            <a:miter lim="800000"/>
            <a:headEnd len="med" w="med" type="none"/>
            <a:tailEnd len="med" w="med" type="none"/>
          </a:ln>
        </p:spPr>
      </p:cxnSp>
      <p:cxnSp>
        <p:nvCxnSpPr>
          <p:cNvPr id="98" name="Google Shape;98;p7"/>
          <p:cNvCxnSpPr/>
          <p:nvPr/>
        </p:nvCxnSpPr>
        <p:spPr>
          <a:xfrm>
            <a:off x="6630987" y="3309937"/>
            <a:ext cx="0" cy="517525"/>
          </a:xfrm>
          <a:prstGeom prst="straightConnector1">
            <a:avLst/>
          </a:prstGeom>
          <a:noFill/>
          <a:ln cap="sq" cmpd="sng" w="38100">
            <a:solidFill>
              <a:schemeClr val="hlink"/>
            </a:solidFill>
            <a:prstDash val="solid"/>
            <a:miter lim="800000"/>
            <a:headEnd len="med" w="med" type="none"/>
            <a:tailEnd len="med" w="med" type="none"/>
          </a:ln>
        </p:spPr>
      </p:cxnSp>
      <p:cxnSp>
        <p:nvCxnSpPr>
          <p:cNvPr id="99" name="Google Shape;99;p7"/>
          <p:cNvCxnSpPr/>
          <p:nvPr/>
        </p:nvCxnSpPr>
        <p:spPr>
          <a:xfrm>
            <a:off x="7392987" y="3309937"/>
            <a:ext cx="0" cy="517525"/>
          </a:xfrm>
          <a:prstGeom prst="straightConnector1">
            <a:avLst/>
          </a:prstGeom>
          <a:noFill/>
          <a:ln cap="flat" cmpd="sng" w="38100">
            <a:solidFill>
              <a:schemeClr val="hlink"/>
            </a:solidFill>
            <a:prstDash val="solid"/>
            <a:miter lim="800000"/>
            <a:headEnd len="med" w="med" type="none"/>
            <a:tailEnd len="med" w="med" type="none"/>
          </a:ln>
        </p:spPr>
      </p:cxnSp>
      <p:cxnSp>
        <p:nvCxnSpPr>
          <p:cNvPr id="100" name="Google Shape;100;p7"/>
          <p:cNvCxnSpPr/>
          <p:nvPr/>
        </p:nvCxnSpPr>
        <p:spPr>
          <a:xfrm>
            <a:off x="8154987" y="3309937"/>
            <a:ext cx="0" cy="517525"/>
          </a:xfrm>
          <a:prstGeom prst="straightConnector1">
            <a:avLst/>
          </a:prstGeom>
          <a:noFill/>
          <a:ln cap="flat" cmpd="sng" w="38100">
            <a:solidFill>
              <a:schemeClr val="hlink"/>
            </a:solidFill>
            <a:prstDash val="solid"/>
            <a:miter lim="800000"/>
            <a:headEnd len="med" w="med" type="none"/>
            <a:tailEnd len="med" w="med" type="none"/>
          </a:ln>
        </p:spPr>
      </p:cxnSp>
      <p:cxnSp>
        <p:nvCxnSpPr>
          <p:cNvPr id="101" name="Google Shape;101;p7"/>
          <p:cNvCxnSpPr/>
          <p:nvPr/>
        </p:nvCxnSpPr>
        <p:spPr>
          <a:xfrm>
            <a:off x="8916987" y="3309937"/>
            <a:ext cx="0" cy="517525"/>
          </a:xfrm>
          <a:prstGeom prst="straightConnector1">
            <a:avLst/>
          </a:prstGeom>
          <a:noFill/>
          <a:ln cap="sq" cmpd="sng" w="38100">
            <a:solidFill>
              <a:schemeClr val="hlink"/>
            </a:solidFill>
            <a:prstDash val="solid"/>
            <a:miter lim="800000"/>
            <a:headEnd len="med" w="med" type="none"/>
            <a:tailEnd len="med" w="med" type="none"/>
          </a:ln>
        </p:spPr>
      </p:cxnSp>
      <p:sp>
        <p:nvSpPr>
          <p:cNvPr id="102" name="Google Shape;102;p7"/>
          <p:cNvSpPr txBox="1"/>
          <p:nvPr/>
        </p:nvSpPr>
        <p:spPr>
          <a:xfrm>
            <a:off x="6478587" y="2928937"/>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3f</a:t>
            </a:r>
            <a:endParaRPr/>
          </a:p>
        </p:txBody>
      </p:sp>
      <p:sp>
        <p:nvSpPr>
          <p:cNvPr id="103" name="Google Shape;103;p7"/>
          <p:cNvSpPr txBox="1"/>
          <p:nvPr/>
        </p:nvSpPr>
        <p:spPr>
          <a:xfrm>
            <a:off x="2668587" y="3478212"/>
            <a:ext cx="762000"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5f</a:t>
            </a:r>
            <a:endParaRPr/>
          </a:p>
        </p:txBody>
      </p:sp>
      <p:sp>
        <p:nvSpPr>
          <p:cNvPr id="104" name="Google Shape;104;p7"/>
          <p:cNvSpPr txBox="1"/>
          <p:nvPr/>
        </p:nvSpPr>
        <p:spPr>
          <a:xfrm>
            <a:off x="1906587" y="3478212"/>
            <a:ext cx="762000" cy="482600"/>
          </a:xfrm>
          <a:prstGeom prst="rect">
            <a:avLst/>
          </a:prstGeom>
          <a:gradFill>
            <a:gsLst>
              <a:gs pos="0">
                <a:srgbClr val="FFFFFF"/>
              </a:gs>
              <a:gs pos="100000">
                <a:srgbClr val="69FF69">
                  <a:alpha val="60000"/>
                </a:srgbClr>
              </a:gs>
            </a:gsLst>
            <a:path path="circle">
              <a:fillToRect b="50%" l="50%" r="50%" t="50%"/>
            </a:path>
            <a:tileRect/>
          </a:gradFill>
          <a:ln cap="flat" cmpd="sng" w="9525">
            <a:solidFill>
              <a:srgbClr val="33CCCC"/>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4</a:t>
            </a:r>
            <a:endParaRPr/>
          </a:p>
        </p:txBody>
      </p:sp>
      <p:sp>
        <p:nvSpPr>
          <p:cNvPr id="105" name="Google Shape;105;p7"/>
          <p:cNvSpPr txBox="1"/>
          <p:nvPr/>
        </p:nvSpPr>
        <p:spPr>
          <a:xfrm>
            <a:off x="1144587" y="3478212"/>
            <a:ext cx="762000"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N</a:t>
            </a:r>
            <a:endParaRPr/>
          </a:p>
        </p:txBody>
      </p:sp>
      <p:cxnSp>
        <p:nvCxnSpPr>
          <p:cNvPr id="106" name="Google Shape;106;p7"/>
          <p:cNvCxnSpPr/>
          <p:nvPr/>
        </p:nvCxnSpPr>
        <p:spPr>
          <a:xfrm>
            <a:off x="1144587" y="3478212"/>
            <a:ext cx="2286000" cy="0"/>
          </a:xfrm>
          <a:prstGeom prst="straightConnector1">
            <a:avLst/>
          </a:prstGeom>
          <a:noFill/>
          <a:ln cap="sq" cmpd="sng" w="38100">
            <a:solidFill>
              <a:schemeClr val="hlink"/>
            </a:solidFill>
            <a:prstDash val="solid"/>
            <a:miter lim="800000"/>
            <a:headEnd len="med" w="med" type="none"/>
            <a:tailEnd len="med" w="med" type="none"/>
          </a:ln>
        </p:spPr>
      </p:cxnSp>
      <p:cxnSp>
        <p:nvCxnSpPr>
          <p:cNvPr id="107" name="Google Shape;107;p7"/>
          <p:cNvCxnSpPr/>
          <p:nvPr/>
        </p:nvCxnSpPr>
        <p:spPr>
          <a:xfrm>
            <a:off x="1144587" y="3995737"/>
            <a:ext cx="2286000" cy="0"/>
          </a:xfrm>
          <a:prstGeom prst="straightConnector1">
            <a:avLst/>
          </a:prstGeom>
          <a:noFill/>
          <a:ln cap="sq" cmpd="sng" w="38100">
            <a:solidFill>
              <a:schemeClr val="hlink"/>
            </a:solidFill>
            <a:prstDash val="solid"/>
            <a:miter lim="800000"/>
            <a:headEnd len="med" w="med" type="none"/>
            <a:tailEnd len="med" w="med" type="none"/>
          </a:ln>
        </p:spPr>
      </p:cxnSp>
      <p:cxnSp>
        <p:nvCxnSpPr>
          <p:cNvPr id="108" name="Google Shape;108;p7"/>
          <p:cNvCxnSpPr/>
          <p:nvPr/>
        </p:nvCxnSpPr>
        <p:spPr>
          <a:xfrm>
            <a:off x="1144587" y="3478212"/>
            <a:ext cx="0" cy="517525"/>
          </a:xfrm>
          <a:prstGeom prst="straightConnector1">
            <a:avLst/>
          </a:prstGeom>
          <a:noFill/>
          <a:ln cap="sq" cmpd="sng" w="38100">
            <a:solidFill>
              <a:schemeClr val="hlink"/>
            </a:solidFill>
            <a:prstDash val="solid"/>
            <a:miter lim="800000"/>
            <a:headEnd len="med" w="med" type="none"/>
            <a:tailEnd len="med" w="med" type="none"/>
          </a:ln>
        </p:spPr>
      </p:cxnSp>
      <p:cxnSp>
        <p:nvCxnSpPr>
          <p:cNvPr id="109" name="Google Shape;109;p7"/>
          <p:cNvCxnSpPr/>
          <p:nvPr/>
        </p:nvCxnSpPr>
        <p:spPr>
          <a:xfrm>
            <a:off x="1906587" y="3478212"/>
            <a:ext cx="0" cy="517525"/>
          </a:xfrm>
          <a:prstGeom prst="straightConnector1">
            <a:avLst/>
          </a:prstGeom>
          <a:noFill/>
          <a:ln cap="flat" cmpd="sng" w="38100">
            <a:solidFill>
              <a:schemeClr val="hlink"/>
            </a:solidFill>
            <a:prstDash val="solid"/>
            <a:miter lim="800000"/>
            <a:headEnd len="med" w="med" type="none"/>
            <a:tailEnd len="med" w="med" type="none"/>
          </a:ln>
        </p:spPr>
      </p:cxnSp>
      <p:cxnSp>
        <p:nvCxnSpPr>
          <p:cNvPr id="110" name="Google Shape;110;p7"/>
          <p:cNvCxnSpPr/>
          <p:nvPr/>
        </p:nvCxnSpPr>
        <p:spPr>
          <a:xfrm>
            <a:off x="2668587" y="3478212"/>
            <a:ext cx="0" cy="517525"/>
          </a:xfrm>
          <a:prstGeom prst="straightConnector1">
            <a:avLst/>
          </a:prstGeom>
          <a:noFill/>
          <a:ln cap="flat" cmpd="sng" w="38100">
            <a:solidFill>
              <a:schemeClr val="hlink"/>
            </a:solidFill>
            <a:prstDash val="solid"/>
            <a:miter lim="800000"/>
            <a:headEnd len="med" w="med" type="none"/>
            <a:tailEnd len="med" w="med" type="none"/>
          </a:ln>
        </p:spPr>
      </p:cxnSp>
      <p:cxnSp>
        <p:nvCxnSpPr>
          <p:cNvPr id="111" name="Google Shape;111;p7"/>
          <p:cNvCxnSpPr/>
          <p:nvPr/>
        </p:nvCxnSpPr>
        <p:spPr>
          <a:xfrm>
            <a:off x="3430587" y="3478212"/>
            <a:ext cx="0" cy="517525"/>
          </a:xfrm>
          <a:prstGeom prst="straightConnector1">
            <a:avLst/>
          </a:prstGeom>
          <a:noFill/>
          <a:ln cap="sq" cmpd="sng" w="38100">
            <a:solidFill>
              <a:schemeClr val="hlink"/>
            </a:solidFill>
            <a:prstDash val="solid"/>
            <a:miter lim="800000"/>
            <a:headEnd len="med" w="med" type="none"/>
            <a:tailEnd len="med" w="med" type="none"/>
          </a:ln>
        </p:spPr>
      </p:cxnSp>
      <p:sp>
        <p:nvSpPr>
          <p:cNvPr id="112" name="Google Shape;112;p7"/>
          <p:cNvSpPr txBox="1"/>
          <p:nvPr/>
        </p:nvSpPr>
        <p:spPr>
          <a:xfrm>
            <a:off x="992187" y="3097212"/>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2f</a:t>
            </a:r>
            <a:endParaRPr/>
          </a:p>
        </p:txBody>
      </p:sp>
      <p:sp>
        <p:nvSpPr>
          <p:cNvPr id="113" name="Google Shape;113;p7"/>
          <p:cNvSpPr txBox="1"/>
          <p:nvPr/>
        </p:nvSpPr>
        <p:spPr>
          <a:xfrm>
            <a:off x="4344987" y="5002212"/>
            <a:ext cx="762000"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N</a:t>
            </a:r>
            <a:endParaRPr/>
          </a:p>
        </p:txBody>
      </p:sp>
      <p:sp>
        <p:nvSpPr>
          <p:cNvPr id="114" name="Google Shape;114;p7"/>
          <p:cNvSpPr txBox="1"/>
          <p:nvPr/>
        </p:nvSpPr>
        <p:spPr>
          <a:xfrm>
            <a:off x="3582987" y="5002212"/>
            <a:ext cx="762000" cy="482600"/>
          </a:xfrm>
          <a:prstGeom prst="rect">
            <a:avLst/>
          </a:prstGeom>
          <a:gradFill>
            <a:gsLst>
              <a:gs pos="0">
                <a:srgbClr val="FFFFFF"/>
              </a:gs>
              <a:gs pos="100000">
                <a:srgbClr val="69FF69">
                  <a:alpha val="60000"/>
                </a:srgbClr>
              </a:gs>
            </a:gsLst>
            <a:path path="circle">
              <a:fillToRect b="50%" l="50%" r="50%" t="50%"/>
            </a:path>
            <a:tileRect/>
          </a:gradFill>
          <a:ln cap="flat" cmpd="sng" w="9525">
            <a:solidFill>
              <a:srgbClr val="33CCCC"/>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5</a:t>
            </a:r>
            <a:endParaRPr/>
          </a:p>
        </p:txBody>
      </p:sp>
      <p:sp>
        <p:nvSpPr>
          <p:cNvPr id="115" name="Google Shape;115;p7"/>
          <p:cNvSpPr txBox="1"/>
          <p:nvPr/>
        </p:nvSpPr>
        <p:spPr>
          <a:xfrm>
            <a:off x="2820987" y="5002212"/>
            <a:ext cx="762000"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N</a:t>
            </a:r>
            <a:endParaRPr/>
          </a:p>
        </p:txBody>
      </p:sp>
      <p:cxnSp>
        <p:nvCxnSpPr>
          <p:cNvPr id="116" name="Google Shape;116;p7"/>
          <p:cNvCxnSpPr/>
          <p:nvPr/>
        </p:nvCxnSpPr>
        <p:spPr>
          <a:xfrm>
            <a:off x="2820987" y="5002212"/>
            <a:ext cx="2286000" cy="0"/>
          </a:xfrm>
          <a:prstGeom prst="straightConnector1">
            <a:avLst/>
          </a:prstGeom>
          <a:noFill/>
          <a:ln cap="sq" cmpd="sng" w="38100">
            <a:solidFill>
              <a:schemeClr val="hlink"/>
            </a:solidFill>
            <a:prstDash val="solid"/>
            <a:miter lim="800000"/>
            <a:headEnd len="med" w="med" type="none"/>
            <a:tailEnd len="med" w="med" type="none"/>
          </a:ln>
        </p:spPr>
      </p:cxnSp>
      <p:cxnSp>
        <p:nvCxnSpPr>
          <p:cNvPr id="117" name="Google Shape;117;p7"/>
          <p:cNvCxnSpPr/>
          <p:nvPr/>
        </p:nvCxnSpPr>
        <p:spPr>
          <a:xfrm>
            <a:off x="2820987" y="5519737"/>
            <a:ext cx="2286000" cy="0"/>
          </a:xfrm>
          <a:prstGeom prst="straightConnector1">
            <a:avLst/>
          </a:prstGeom>
          <a:noFill/>
          <a:ln cap="flat" cmpd="sng" w="9525">
            <a:solidFill>
              <a:schemeClr val="dk1"/>
            </a:solidFill>
            <a:prstDash val="solid"/>
            <a:miter lim="800000"/>
            <a:headEnd len="med" w="med" type="none"/>
            <a:tailEnd len="med" w="med" type="none"/>
          </a:ln>
        </p:spPr>
      </p:cxnSp>
      <p:cxnSp>
        <p:nvCxnSpPr>
          <p:cNvPr id="118" name="Google Shape;118;p7"/>
          <p:cNvCxnSpPr/>
          <p:nvPr/>
        </p:nvCxnSpPr>
        <p:spPr>
          <a:xfrm>
            <a:off x="2820987" y="5002212"/>
            <a:ext cx="0" cy="517525"/>
          </a:xfrm>
          <a:prstGeom prst="straightConnector1">
            <a:avLst/>
          </a:prstGeom>
          <a:noFill/>
          <a:ln cap="sq" cmpd="sng" w="38100">
            <a:solidFill>
              <a:schemeClr val="hlink"/>
            </a:solidFill>
            <a:prstDash val="solid"/>
            <a:miter lim="800000"/>
            <a:headEnd len="med" w="med" type="none"/>
            <a:tailEnd len="med" w="med" type="none"/>
          </a:ln>
        </p:spPr>
      </p:cxnSp>
      <p:cxnSp>
        <p:nvCxnSpPr>
          <p:cNvPr id="119" name="Google Shape;119;p7"/>
          <p:cNvCxnSpPr/>
          <p:nvPr/>
        </p:nvCxnSpPr>
        <p:spPr>
          <a:xfrm>
            <a:off x="3582987" y="5002212"/>
            <a:ext cx="0" cy="517525"/>
          </a:xfrm>
          <a:prstGeom prst="straightConnector1">
            <a:avLst/>
          </a:prstGeom>
          <a:noFill/>
          <a:ln cap="flat" cmpd="sng" w="38100">
            <a:solidFill>
              <a:schemeClr val="hlink"/>
            </a:solidFill>
            <a:prstDash val="solid"/>
            <a:miter lim="800000"/>
            <a:headEnd len="med" w="med" type="none"/>
            <a:tailEnd len="med" w="med" type="none"/>
          </a:ln>
        </p:spPr>
      </p:cxnSp>
      <p:cxnSp>
        <p:nvCxnSpPr>
          <p:cNvPr id="120" name="Google Shape;120;p7"/>
          <p:cNvCxnSpPr/>
          <p:nvPr/>
        </p:nvCxnSpPr>
        <p:spPr>
          <a:xfrm>
            <a:off x="4344987" y="5002212"/>
            <a:ext cx="0" cy="517525"/>
          </a:xfrm>
          <a:prstGeom prst="straightConnector1">
            <a:avLst/>
          </a:prstGeom>
          <a:noFill/>
          <a:ln cap="flat" cmpd="sng" w="38100">
            <a:solidFill>
              <a:schemeClr val="hlink"/>
            </a:solidFill>
            <a:prstDash val="solid"/>
            <a:miter lim="800000"/>
            <a:headEnd len="med" w="med" type="none"/>
            <a:tailEnd len="med" w="med" type="none"/>
          </a:ln>
        </p:spPr>
      </p:cxnSp>
      <p:cxnSp>
        <p:nvCxnSpPr>
          <p:cNvPr id="121" name="Google Shape;121;p7"/>
          <p:cNvCxnSpPr/>
          <p:nvPr/>
        </p:nvCxnSpPr>
        <p:spPr>
          <a:xfrm>
            <a:off x="5106987" y="5002212"/>
            <a:ext cx="0" cy="517525"/>
          </a:xfrm>
          <a:prstGeom prst="straightConnector1">
            <a:avLst/>
          </a:prstGeom>
          <a:noFill/>
          <a:ln cap="sq" cmpd="sng" w="38100">
            <a:solidFill>
              <a:schemeClr val="hlink"/>
            </a:solidFill>
            <a:prstDash val="solid"/>
            <a:miter lim="800000"/>
            <a:headEnd len="med" w="med" type="none"/>
            <a:tailEnd len="med" w="med" type="none"/>
          </a:ln>
        </p:spPr>
      </p:cxnSp>
      <p:sp>
        <p:nvSpPr>
          <p:cNvPr id="122" name="Google Shape;122;p7"/>
          <p:cNvSpPr txBox="1"/>
          <p:nvPr/>
        </p:nvSpPr>
        <p:spPr>
          <a:xfrm>
            <a:off x="2668587" y="4621212"/>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5f</a:t>
            </a:r>
            <a:endParaRPr/>
          </a:p>
        </p:txBody>
      </p:sp>
      <p:sp>
        <p:nvSpPr>
          <p:cNvPr id="123" name="Google Shape;123;p7"/>
          <p:cNvSpPr txBox="1"/>
          <p:nvPr/>
        </p:nvSpPr>
        <p:spPr>
          <a:xfrm>
            <a:off x="7240587" y="5002212"/>
            <a:ext cx="762000"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N</a:t>
            </a:r>
            <a:endParaRPr/>
          </a:p>
        </p:txBody>
      </p:sp>
      <p:sp>
        <p:nvSpPr>
          <p:cNvPr id="124" name="Google Shape;124;p7"/>
          <p:cNvSpPr txBox="1"/>
          <p:nvPr/>
        </p:nvSpPr>
        <p:spPr>
          <a:xfrm>
            <a:off x="6478587" y="5002212"/>
            <a:ext cx="762000" cy="482600"/>
          </a:xfrm>
          <a:prstGeom prst="rect">
            <a:avLst/>
          </a:prstGeom>
          <a:gradFill>
            <a:gsLst>
              <a:gs pos="0">
                <a:srgbClr val="FFFFFF"/>
              </a:gs>
              <a:gs pos="100000">
                <a:srgbClr val="69FF69">
                  <a:alpha val="60000"/>
                </a:srgbClr>
              </a:gs>
            </a:gsLst>
            <a:path path="circle">
              <a:fillToRect b="50%" l="50%" r="50%" t="50%"/>
            </a:path>
            <a:tileRect/>
          </a:gradFill>
          <a:ln cap="flat" cmpd="sng" w="9525">
            <a:solidFill>
              <a:srgbClr val="33CCCC"/>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8</a:t>
            </a:r>
            <a:endParaRPr/>
          </a:p>
        </p:txBody>
      </p:sp>
      <p:sp>
        <p:nvSpPr>
          <p:cNvPr id="125" name="Google Shape;125;p7"/>
          <p:cNvSpPr txBox="1"/>
          <p:nvPr/>
        </p:nvSpPr>
        <p:spPr>
          <a:xfrm>
            <a:off x="5716587" y="5002212"/>
            <a:ext cx="762000" cy="482600"/>
          </a:xfrm>
          <a:prstGeom prst="rect">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500"/>
              <a:buFont typeface="Helvetica Neue"/>
              <a:buNone/>
            </a:pPr>
            <a:r>
              <a:rPr b="1" i="0" lang="en-US" sz="2500" u="none">
                <a:solidFill>
                  <a:schemeClr val="dk1"/>
                </a:solidFill>
                <a:latin typeface="Helvetica Neue"/>
                <a:ea typeface="Helvetica Neue"/>
                <a:cs typeface="Helvetica Neue"/>
                <a:sym typeface="Helvetica Neue"/>
              </a:rPr>
              <a:t>N</a:t>
            </a:r>
            <a:endParaRPr/>
          </a:p>
        </p:txBody>
      </p:sp>
      <p:cxnSp>
        <p:nvCxnSpPr>
          <p:cNvPr id="126" name="Google Shape;126;p7"/>
          <p:cNvCxnSpPr/>
          <p:nvPr/>
        </p:nvCxnSpPr>
        <p:spPr>
          <a:xfrm>
            <a:off x="5716587" y="5002212"/>
            <a:ext cx="2286000" cy="0"/>
          </a:xfrm>
          <a:prstGeom prst="straightConnector1">
            <a:avLst/>
          </a:prstGeom>
          <a:noFill/>
          <a:ln cap="sq" cmpd="sng" w="28575">
            <a:solidFill>
              <a:schemeClr val="hlink"/>
            </a:solidFill>
            <a:prstDash val="solid"/>
            <a:miter lim="800000"/>
            <a:headEnd len="med" w="med" type="none"/>
            <a:tailEnd len="med" w="med" type="none"/>
          </a:ln>
        </p:spPr>
      </p:cxnSp>
      <p:cxnSp>
        <p:nvCxnSpPr>
          <p:cNvPr id="127" name="Google Shape;127;p7"/>
          <p:cNvCxnSpPr/>
          <p:nvPr/>
        </p:nvCxnSpPr>
        <p:spPr>
          <a:xfrm>
            <a:off x="5716587" y="5519737"/>
            <a:ext cx="2286000" cy="0"/>
          </a:xfrm>
          <a:prstGeom prst="straightConnector1">
            <a:avLst/>
          </a:prstGeom>
          <a:noFill/>
          <a:ln cap="sq" cmpd="sng" w="28575">
            <a:solidFill>
              <a:schemeClr val="hlink"/>
            </a:solidFill>
            <a:prstDash val="solid"/>
            <a:miter lim="800000"/>
            <a:headEnd len="med" w="med" type="none"/>
            <a:tailEnd len="med" w="med" type="none"/>
          </a:ln>
        </p:spPr>
      </p:cxnSp>
      <p:cxnSp>
        <p:nvCxnSpPr>
          <p:cNvPr id="128" name="Google Shape;128;p7"/>
          <p:cNvCxnSpPr/>
          <p:nvPr/>
        </p:nvCxnSpPr>
        <p:spPr>
          <a:xfrm>
            <a:off x="5716587" y="5002212"/>
            <a:ext cx="0" cy="517525"/>
          </a:xfrm>
          <a:prstGeom prst="straightConnector1">
            <a:avLst/>
          </a:prstGeom>
          <a:noFill/>
          <a:ln cap="sq" cmpd="sng" w="28575">
            <a:solidFill>
              <a:schemeClr val="hlink"/>
            </a:solidFill>
            <a:prstDash val="solid"/>
            <a:miter lim="800000"/>
            <a:headEnd len="med" w="med" type="none"/>
            <a:tailEnd len="med" w="med" type="none"/>
          </a:ln>
        </p:spPr>
      </p:cxnSp>
      <p:cxnSp>
        <p:nvCxnSpPr>
          <p:cNvPr id="129" name="Google Shape;129;p7"/>
          <p:cNvCxnSpPr/>
          <p:nvPr/>
        </p:nvCxnSpPr>
        <p:spPr>
          <a:xfrm>
            <a:off x="6478587" y="5002212"/>
            <a:ext cx="0" cy="517525"/>
          </a:xfrm>
          <a:prstGeom prst="straightConnector1">
            <a:avLst/>
          </a:prstGeom>
          <a:noFill/>
          <a:ln cap="flat" cmpd="sng" w="12700">
            <a:solidFill>
              <a:schemeClr val="hlink"/>
            </a:solidFill>
            <a:prstDash val="solid"/>
            <a:miter lim="800000"/>
            <a:headEnd len="med" w="med" type="none"/>
            <a:tailEnd len="med" w="med" type="none"/>
          </a:ln>
        </p:spPr>
      </p:cxnSp>
      <p:cxnSp>
        <p:nvCxnSpPr>
          <p:cNvPr id="130" name="Google Shape;130;p7"/>
          <p:cNvCxnSpPr/>
          <p:nvPr/>
        </p:nvCxnSpPr>
        <p:spPr>
          <a:xfrm>
            <a:off x="7240587" y="5002212"/>
            <a:ext cx="0" cy="517525"/>
          </a:xfrm>
          <a:prstGeom prst="straightConnector1">
            <a:avLst/>
          </a:prstGeom>
          <a:noFill/>
          <a:ln cap="flat" cmpd="sng" w="12700">
            <a:solidFill>
              <a:schemeClr val="hlink"/>
            </a:solidFill>
            <a:prstDash val="solid"/>
            <a:miter lim="800000"/>
            <a:headEnd len="med" w="med" type="none"/>
            <a:tailEnd len="med" w="med" type="none"/>
          </a:ln>
        </p:spPr>
      </p:cxnSp>
      <p:cxnSp>
        <p:nvCxnSpPr>
          <p:cNvPr id="131" name="Google Shape;131;p7"/>
          <p:cNvCxnSpPr/>
          <p:nvPr/>
        </p:nvCxnSpPr>
        <p:spPr>
          <a:xfrm>
            <a:off x="8002587" y="5002212"/>
            <a:ext cx="0" cy="517525"/>
          </a:xfrm>
          <a:prstGeom prst="straightConnector1">
            <a:avLst/>
          </a:prstGeom>
          <a:noFill/>
          <a:ln cap="sq" cmpd="sng" w="28575">
            <a:solidFill>
              <a:schemeClr val="hlink"/>
            </a:solidFill>
            <a:prstDash val="solid"/>
            <a:miter lim="800000"/>
            <a:headEnd len="med" w="med" type="none"/>
            <a:tailEnd len="med" w="med" type="none"/>
          </a:ln>
        </p:spPr>
      </p:cxnSp>
      <p:sp>
        <p:nvSpPr>
          <p:cNvPr id="132" name="Google Shape;132;p7"/>
          <p:cNvSpPr txBox="1"/>
          <p:nvPr/>
        </p:nvSpPr>
        <p:spPr>
          <a:xfrm>
            <a:off x="5564187" y="4621212"/>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7f</a:t>
            </a:r>
            <a:endParaRPr/>
          </a:p>
        </p:txBody>
      </p:sp>
      <p:cxnSp>
        <p:nvCxnSpPr>
          <p:cNvPr id="133" name="Google Shape;133;p7"/>
          <p:cNvCxnSpPr/>
          <p:nvPr/>
        </p:nvCxnSpPr>
        <p:spPr>
          <a:xfrm flipH="1">
            <a:off x="2211387" y="2471737"/>
            <a:ext cx="2514600" cy="990600"/>
          </a:xfrm>
          <a:prstGeom prst="straightConnector1">
            <a:avLst/>
          </a:prstGeom>
          <a:noFill/>
          <a:ln cap="flat" cmpd="sng" w="28575">
            <a:solidFill>
              <a:schemeClr val="dk1"/>
            </a:solidFill>
            <a:prstDash val="solid"/>
            <a:miter lim="800000"/>
            <a:headEnd len="med" w="med" type="none"/>
            <a:tailEnd len="med" w="med" type="none"/>
          </a:ln>
        </p:spPr>
      </p:cxnSp>
      <p:cxnSp>
        <p:nvCxnSpPr>
          <p:cNvPr id="134" name="Google Shape;134;p7"/>
          <p:cNvCxnSpPr/>
          <p:nvPr/>
        </p:nvCxnSpPr>
        <p:spPr>
          <a:xfrm>
            <a:off x="4725987" y="2471737"/>
            <a:ext cx="3048000" cy="838200"/>
          </a:xfrm>
          <a:prstGeom prst="straightConnector1">
            <a:avLst/>
          </a:prstGeom>
          <a:noFill/>
          <a:ln cap="flat" cmpd="sng" w="28575">
            <a:solidFill>
              <a:schemeClr val="dk1"/>
            </a:solidFill>
            <a:prstDash val="solid"/>
            <a:miter lim="800000"/>
            <a:headEnd len="med" w="med" type="none"/>
            <a:tailEnd len="med" w="med" type="none"/>
          </a:ln>
        </p:spPr>
      </p:cxnSp>
      <p:cxnSp>
        <p:nvCxnSpPr>
          <p:cNvPr id="135" name="Google Shape;135;p7"/>
          <p:cNvCxnSpPr/>
          <p:nvPr/>
        </p:nvCxnSpPr>
        <p:spPr>
          <a:xfrm>
            <a:off x="2211387" y="3995737"/>
            <a:ext cx="1905000" cy="990600"/>
          </a:xfrm>
          <a:prstGeom prst="straightConnector1">
            <a:avLst/>
          </a:prstGeom>
          <a:noFill/>
          <a:ln cap="flat" cmpd="sng" w="28575">
            <a:solidFill>
              <a:schemeClr val="dk1"/>
            </a:solidFill>
            <a:prstDash val="solid"/>
            <a:miter lim="800000"/>
            <a:headEnd len="med" w="med" type="none"/>
            <a:tailEnd len="med" w="med" type="none"/>
          </a:ln>
        </p:spPr>
      </p:cxnSp>
      <p:cxnSp>
        <p:nvCxnSpPr>
          <p:cNvPr id="136" name="Google Shape;136;p7"/>
          <p:cNvCxnSpPr/>
          <p:nvPr/>
        </p:nvCxnSpPr>
        <p:spPr>
          <a:xfrm flipH="1">
            <a:off x="6783387" y="3843337"/>
            <a:ext cx="990600" cy="1143000"/>
          </a:xfrm>
          <a:prstGeom prst="straightConnector1">
            <a:avLst/>
          </a:prstGeom>
          <a:noFill/>
          <a:ln cap="flat" cmpd="sng" w="28575">
            <a:solidFill>
              <a:schemeClr val="dk1"/>
            </a:solidFill>
            <a:prstDash val="solid"/>
            <a:miter lim="800000"/>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Duyệt Cây Nhị Phân </a:t>
            </a:r>
            <a:endParaRPr/>
          </a:p>
        </p:txBody>
      </p:sp>
      <p:sp>
        <p:nvSpPr>
          <p:cNvPr id="142" name="Google Shape;142;p8"/>
          <p:cNvSpPr txBox="1"/>
          <p:nvPr/>
        </p:nvSpPr>
        <p:spPr>
          <a:xfrm>
            <a:off x="776287" y="981075"/>
            <a:ext cx="8713800" cy="4211700"/>
          </a:xfrm>
          <a:prstGeom prst="rect">
            <a:avLst/>
          </a:prstGeom>
          <a:noFill/>
          <a:ln>
            <a:noFill/>
          </a:ln>
        </p:spPr>
        <p:txBody>
          <a:bodyPr anchorCtr="0" anchor="t" bIns="45700" lIns="91425" spcFirstLastPara="1" rIns="91425" wrap="square" tIns="45700">
            <a:spAutoFit/>
          </a:bodyPr>
          <a:lstStyle/>
          <a:p>
            <a:pPr indent="-228600" lvl="0" marL="0" marR="0" rtl="0" algn="l">
              <a:lnSpc>
                <a:spcPct val="100000"/>
              </a:lnSpc>
              <a:spcBef>
                <a:spcPts val="0"/>
              </a:spcBef>
              <a:spcAft>
                <a:spcPts val="0"/>
              </a:spcAft>
              <a:buClr>
                <a:srgbClr val="080808"/>
              </a:buClr>
              <a:buSzPts val="3600"/>
              <a:buFont typeface="Noto Sans Symbols"/>
              <a:buChar char="▪"/>
            </a:pPr>
            <a:r>
              <a:rPr b="0" i="0" lang="en-US" sz="3600" u="none">
                <a:solidFill>
                  <a:srgbClr val="080808"/>
                </a:solidFill>
                <a:latin typeface="Arial"/>
                <a:ea typeface="Arial"/>
                <a:cs typeface="Arial"/>
                <a:sym typeface="Arial"/>
              </a:rPr>
              <a:t> </a:t>
            </a:r>
            <a:r>
              <a:rPr b="0" i="0" lang="en-US" sz="3600" u="none">
                <a:solidFill>
                  <a:srgbClr val="080808"/>
                </a:solidFill>
                <a:latin typeface="Arial"/>
                <a:ea typeface="Arial"/>
                <a:cs typeface="Arial"/>
                <a:sym typeface="Arial"/>
              </a:rPr>
              <a:t>Có 3 trình tự thăm gốc :</a:t>
            </a:r>
            <a:endParaRPr/>
          </a:p>
          <a:p>
            <a:pPr indent="-228600" lvl="2" marL="914400" marR="0" rtl="0" algn="l">
              <a:lnSpc>
                <a:spcPct val="100000"/>
              </a:lnSpc>
              <a:spcBef>
                <a:spcPts val="0"/>
              </a:spcBef>
              <a:spcAft>
                <a:spcPts val="0"/>
              </a:spcAft>
              <a:buClr>
                <a:srgbClr val="080808"/>
              </a:buClr>
              <a:buSzPts val="3600"/>
              <a:buFont typeface="Noto Sans Symbols"/>
              <a:buChar char="▪"/>
            </a:pPr>
            <a:r>
              <a:rPr b="0" i="0" lang="en-US" sz="3600" u="none" cap="none" strike="noStrike">
                <a:solidFill>
                  <a:srgbClr val="080808"/>
                </a:solidFill>
                <a:latin typeface="Arial"/>
                <a:ea typeface="Arial"/>
                <a:cs typeface="Arial"/>
                <a:sym typeface="Arial"/>
              </a:rPr>
              <a:t> Duyệt trước</a:t>
            </a:r>
            <a:endParaRPr/>
          </a:p>
          <a:p>
            <a:pPr indent="-228600" lvl="2" marL="914400" marR="0" rtl="0" algn="l">
              <a:lnSpc>
                <a:spcPct val="100000"/>
              </a:lnSpc>
              <a:spcBef>
                <a:spcPts val="0"/>
              </a:spcBef>
              <a:spcAft>
                <a:spcPts val="0"/>
              </a:spcAft>
              <a:buClr>
                <a:srgbClr val="080808"/>
              </a:buClr>
              <a:buSzPts val="3600"/>
              <a:buFont typeface="Noto Sans Symbols"/>
              <a:buChar char="▪"/>
            </a:pPr>
            <a:r>
              <a:rPr b="0" i="0" lang="en-US" sz="3600" u="none" cap="none" strike="noStrike">
                <a:solidFill>
                  <a:srgbClr val="080808"/>
                </a:solidFill>
                <a:latin typeface="Arial"/>
                <a:ea typeface="Arial"/>
                <a:cs typeface="Arial"/>
                <a:sym typeface="Arial"/>
              </a:rPr>
              <a:t> Duyệt giữa</a:t>
            </a:r>
            <a:endParaRPr/>
          </a:p>
          <a:p>
            <a:pPr indent="-228600" lvl="2" marL="914400" marR="0" rtl="0" algn="l">
              <a:lnSpc>
                <a:spcPct val="100000"/>
              </a:lnSpc>
              <a:spcBef>
                <a:spcPts val="0"/>
              </a:spcBef>
              <a:spcAft>
                <a:spcPts val="0"/>
              </a:spcAft>
              <a:buClr>
                <a:srgbClr val="080808"/>
              </a:buClr>
              <a:buSzPts val="3600"/>
              <a:buFont typeface="Noto Sans Symbols"/>
              <a:buChar char="▪"/>
            </a:pPr>
            <a:r>
              <a:rPr b="0" i="0" lang="en-US" sz="3600" u="none" cap="none" strike="noStrike">
                <a:solidFill>
                  <a:srgbClr val="080808"/>
                </a:solidFill>
                <a:latin typeface="Arial"/>
                <a:ea typeface="Arial"/>
                <a:cs typeface="Arial"/>
                <a:sym typeface="Arial"/>
              </a:rPr>
              <a:t> Duyệt sau</a:t>
            </a:r>
            <a:endParaRPr/>
          </a:p>
          <a:p>
            <a:pPr indent="-228600" lvl="0" marL="0" marR="0" rtl="0" algn="l">
              <a:lnSpc>
                <a:spcPct val="100000"/>
              </a:lnSpc>
              <a:spcBef>
                <a:spcPts val="0"/>
              </a:spcBef>
              <a:spcAft>
                <a:spcPts val="0"/>
              </a:spcAft>
              <a:buClr>
                <a:srgbClr val="080808"/>
              </a:buClr>
              <a:buSzPts val="3600"/>
              <a:buFont typeface="Noto Sans Symbols"/>
              <a:buChar char="▪"/>
            </a:pPr>
            <a:r>
              <a:rPr b="0" i="0" lang="en-US" sz="3600" u="none">
                <a:solidFill>
                  <a:srgbClr val="080808"/>
                </a:solidFill>
                <a:latin typeface="Arial"/>
                <a:ea typeface="Arial"/>
                <a:cs typeface="Arial"/>
                <a:sym typeface="Arial"/>
              </a:rPr>
              <a:t>  Độ phức tạp O (log2(h))</a:t>
            </a:r>
            <a:endParaRPr/>
          </a:p>
          <a:p>
            <a:pPr indent="0" lvl="1" marL="457200" marR="0" rtl="0" algn="l">
              <a:lnSpc>
                <a:spcPct val="100000"/>
              </a:lnSpc>
              <a:spcBef>
                <a:spcPts val="0"/>
              </a:spcBef>
              <a:spcAft>
                <a:spcPts val="0"/>
              </a:spcAft>
              <a:buClr>
                <a:srgbClr val="080808"/>
              </a:buClr>
              <a:buSzPts val="3600"/>
              <a:buFont typeface="Arial"/>
              <a:buNone/>
            </a:pPr>
            <a:r>
              <a:rPr b="0" i="0" lang="en-US" sz="3600" u="none" cap="none" strike="noStrike">
                <a:solidFill>
                  <a:srgbClr val="080808"/>
                </a:solidFill>
                <a:latin typeface="Arial"/>
                <a:ea typeface="Arial"/>
                <a:cs typeface="Arial"/>
                <a:sym typeface="Arial"/>
              </a:rPr>
              <a:t>    Trong </a:t>
            </a:r>
            <a:r>
              <a:rPr b="0" i="0" lang="en-US" sz="3600" u="none" cap="none" strike="noStrike">
                <a:solidFill>
                  <a:schemeClr val="dk1"/>
                </a:solidFill>
                <a:latin typeface="Arial"/>
                <a:ea typeface="Arial"/>
                <a:cs typeface="Arial"/>
                <a:sym typeface="Arial"/>
              </a:rPr>
              <a:t>đó </a:t>
            </a:r>
            <a:r>
              <a:rPr b="0" i="0" lang="en-US" sz="3600" u="none" cap="none" strike="noStrike">
                <a:solidFill>
                  <a:srgbClr val="080808"/>
                </a:solidFill>
                <a:latin typeface="Arial"/>
                <a:ea typeface="Arial"/>
                <a:cs typeface="Arial"/>
                <a:sym typeface="Arial"/>
              </a:rPr>
              <a:t>h là chiều cao cây</a:t>
            </a:r>
            <a:endParaRPr/>
          </a:p>
          <a:p>
            <a:pPr indent="0" lvl="0" marL="0" marR="0" rtl="0" algn="l">
              <a:lnSpc>
                <a:spcPct val="100000"/>
              </a:lnSpc>
              <a:spcBef>
                <a:spcPts val="0"/>
              </a:spcBef>
              <a:spcAft>
                <a:spcPts val="0"/>
              </a:spcAft>
              <a:buNone/>
            </a:pPr>
            <a:r>
              <a:t/>
            </a:r>
            <a:endParaRPr b="0" i="0" sz="3600" u="none" cap="none" strike="noStrike">
              <a:solidFill>
                <a:srgbClr val="080808"/>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Ví Dụ Kết Quả Của Phép Duyệt  Cây</a:t>
            </a:r>
            <a:endParaRPr/>
          </a:p>
        </p:txBody>
      </p:sp>
      <p:sp>
        <p:nvSpPr>
          <p:cNvPr id="148" name="Google Shape;148;p9"/>
          <p:cNvSpPr txBox="1"/>
          <p:nvPr>
            <p:ph idx="1" type="body"/>
          </p:nvPr>
        </p:nvSpPr>
        <p:spPr>
          <a:xfrm>
            <a:off x="776287" y="4781550"/>
            <a:ext cx="9129712" cy="17430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NLR: 9, 2, 6, 1, 10, 8, 5, 3, 7, 12, 4.</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LNR: 6, 2, 10, 1, 9, 3, 5, 8, 12, 7, 4.</a:t>
            </a:r>
            <a:endParaRPr/>
          </a:p>
          <a:p>
            <a:pPr indent="-342900" lvl="0" marL="34290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K</a:t>
            </a:r>
            <a:r>
              <a:rPr b="0" i="0" lang="en-US" sz="3200" u="none">
                <a:solidFill>
                  <a:schemeClr val="dk1"/>
                </a:solidFill>
                <a:latin typeface="Arial"/>
                <a:ea typeface="Arial"/>
                <a:cs typeface="Arial"/>
                <a:sym typeface="Arial"/>
              </a:rPr>
              <a:t>ết quả phép duyệt: </a:t>
            </a:r>
            <a:r>
              <a:rPr b="0" i="0" lang="en-US" sz="3200" u="none">
                <a:solidFill>
                  <a:schemeClr val="dk1"/>
                </a:solidFill>
                <a:latin typeface="Times New Roman"/>
                <a:ea typeface="Times New Roman"/>
                <a:cs typeface="Times New Roman"/>
                <a:sym typeface="Times New Roman"/>
              </a:rPr>
              <a:t>LRN, NRL,</a:t>
            </a:r>
            <a:r>
              <a:rPr lang="en-US">
                <a:latin typeface="Times New Roman"/>
                <a:ea typeface="Times New Roman"/>
                <a:cs typeface="Times New Roman"/>
                <a:sym typeface="Times New Roman"/>
              </a:rPr>
              <a:t>N</a:t>
            </a:r>
            <a:r>
              <a:rPr b="0" i="0" lang="en-US" sz="3200" u="none">
                <a:solidFill>
                  <a:schemeClr val="dk1"/>
                </a:solidFill>
                <a:latin typeface="Times New Roman"/>
                <a:ea typeface="Times New Roman"/>
                <a:cs typeface="Times New Roman"/>
                <a:sym typeface="Times New Roman"/>
              </a:rPr>
              <a:t>LR, LNR?</a:t>
            </a:r>
            <a:endParaRPr/>
          </a:p>
        </p:txBody>
      </p:sp>
      <p:grpSp>
        <p:nvGrpSpPr>
          <p:cNvPr id="149" name="Google Shape;149;p9"/>
          <p:cNvGrpSpPr/>
          <p:nvPr/>
        </p:nvGrpSpPr>
        <p:grpSpPr>
          <a:xfrm>
            <a:off x="2014525" y="1123787"/>
            <a:ext cx="7200900" cy="3773487"/>
            <a:chOff x="489" y="573"/>
            <a:chExt cx="4536" cy="2377"/>
          </a:xfrm>
        </p:grpSpPr>
        <p:sp>
          <p:nvSpPr>
            <p:cNvPr id="150" name="Google Shape;150;p9"/>
            <p:cNvSpPr/>
            <p:nvPr/>
          </p:nvSpPr>
          <p:spPr>
            <a:xfrm>
              <a:off x="1944" y="573"/>
              <a:ext cx="624"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9</a:t>
              </a:r>
              <a:endParaRPr/>
            </a:p>
          </p:txBody>
        </p:sp>
        <p:sp>
          <p:nvSpPr>
            <p:cNvPr id="151" name="Google Shape;151;p9"/>
            <p:cNvSpPr/>
            <p:nvPr/>
          </p:nvSpPr>
          <p:spPr>
            <a:xfrm>
              <a:off x="3075" y="890"/>
              <a:ext cx="576"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8</a:t>
              </a:r>
              <a:endParaRPr/>
            </a:p>
          </p:txBody>
        </p:sp>
        <p:sp>
          <p:nvSpPr>
            <p:cNvPr id="152" name="Google Shape;152;p9"/>
            <p:cNvSpPr/>
            <p:nvPr/>
          </p:nvSpPr>
          <p:spPr>
            <a:xfrm>
              <a:off x="936" y="915"/>
              <a:ext cx="432"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2</a:t>
              </a:r>
              <a:endParaRPr/>
            </a:p>
          </p:txBody>
        </p:sp>
        <p:sp>
          <p:nvSpPr>
            <p:cNvPr id="153" name="Google Shape;153;p9"/>
            <p:cNvSpPr/>
            <p:nvPr/>
          </p:nvSpPr>
          <p:spPr>
            <a:xfrm>
              <a:off x="1487" y="1616"/>
              <a:ext cx="480"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1</a:t>
              </a:r>
              <a:endParaRPr/>
            </a:p>
          </p:txBody>
        </p:sp>
        <p:sp>
          <p:nvSpPr>
            <p:cNvPr id="154" name="Google Shape;154;p9"/>
            <p:cNvSpPr/>
            <p:nvPr/>
          </p:nvSpPr>
          <p:spPr>
            <a:xfrm>
              <a:off x="489" y="1661"/>
              <a:ext cx="432"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6</a:t>
              </a:r>
              <a:endParaRPr/>
            </a:p>
          </p:txBody>
        </p:sp>
        <p:sp>
          <p:nvSpPr>
            <p:cNvPr id="155" name="Google Shape;155;p9"/>
            <p:cNvSpPr/>
            <p:nvPr/>
          </p:nvSpPr>
          <p:spPr>
            <a:xfrm>
              <a:off x="1033" y="2296"/>
              <a:ext cx="480"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10</a:t>
              </a:r>
              <a:endParaRPr/>
            </a:p>
          </p:txBody>
        </p:sp>
        <p:sp>
          <p:nvSpPr>
            <p:cNvPr id="156" name="Google Shape;156;p9"/>
            <p:cNvSpPr/>
            <p:nvPr/>
          </p:nvSpPr>
          <p:spPr>
            <a:xfrm>
              <a:off x="2568" y="1724"/>
              <a:ext cx="600" cy="300"/>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5</a:t>
              </a:r>
              <a:endParaRPr/>
            </a:p>
          </p:txBody>
        </p:sp>
        <p:sp>
          <p:nvSpPr>
            <p:cNvPr id="157" name="Google Shape;157;p9"/>
            <p:cNvSpPr/>
            <p:nvPr/>
          </p:nvSpPr>
          <p:spPr>
            <a:xfrm>
              <a:off x="1986" y="2568"/>
              <a:ext cx="454"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3</a:t>
              </a:r>
              <a:endParaRPr/>
            </a:p>
          </p:txBody>
        </p:sp>
        <p:sp>
          <p:nvSpPr>
            <p:cNvPr id="158" name="Google Shape;158;p9"/>
            <p:cNvSpPr/>
            <p:nvPr/>
          </p:nvSpPr>
          <p:spPr>
            <a:xfrm>
              <a:off x="3800" y="1706"/>
              <a:ext cx="499"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7</a:t>
              </a:r>
              <a:endParaRPr/>
            </a:p>
          </p:txBody>
        </p:sp>
        <p:sp>
          <p:nvSpPr>
            <p:cNvPr id="159" name="Google Shape;159;p9"/>
            <p:cNvSpPr/>
            <p:nvPr/>
          </p:nvSpPr>
          <p:spPr>
            <a:xfrm>
              <a:off x="4617" y="2614"/>
              <a:ext cx="408"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4</a:t>
              </a:r>
              <a:endParaRPr/>
            </a:p>
          </p:txBody>
        </p:sp>
        <p:cxnSp>
          <p:nvCxnSpPr>
            <p:cNvPr id="160" name="Google Shape;160;p9"/>
            <p:cNvCxnSpPr/>
            <p:nvPr/>
          </p:nvCxnSpPr>
          <p:spPr>
            <a:xfrm flipH="1">
              <a:off x="1320" y="864"/>
              <a:ext cx="720" cy="137"/>
            </a:xfrm>
            <a:prstGeom prst="straightConnector1">
              <a:avLst/>
            </a:prstGeom>
            <a:noFill/>
            <a:ln cap="flat" cmpd="sng" w="9525">
              <a:solidFill>
                <a:schemeClr val="dk1"/>
              </a:solidFill>
              <a:prstDash val="solid"/>
              <a:miter lim="800000"/>
              <a:headEnd len="med" w="med" type="none"/>
              <a:tailEnd len="med" w="med" type="none"/>
            </a:ln>
          </p:spPr>
        </p:cxnSp>
        <p:cxnSp>
          <p:nvCxnSpPr>
            <p:cNvPr id="161" name="Google Shape;161;p9"/>
            <p:cNvCxnSpPr/>
            <p:nvPr/>
          </p:nvCxnSpPr>
          <p:spPr>
            <a:xfrm>
              <a:off x="2568" y="777"/>
              <a:ext cx="688" cy="113"/>
            </a:xfrm>
            <a:prstGeom prst="straightConnector1">
              <a:avLst/>
            </a:prstGeom>
            <a:noFill/>
            <a:ln cap="flat" cmpd="sng" w="9525">
              <a:solidFill>
                <a:schemeClr val="dk1"/>
              </a:solidFill>
              <a:prstDash val="solid"/>
              <a:miter lim="800000"/>
              <a:headEnd len="med" w="med" type="none"/>
              <a:tailEnd len="med" w="med" type="none"/>
            </a:ln>
          </p:spPr>
        </p:cxnSp>
        <p:cxnSp>
          <p:nvCxnSpPr>
            <p:cNvPr id="162" name="Google Shape;162;p9"/>
            <p:cNvCxnSpPr/>
            <p:nvPr/>
          </p:nvCxnSpPr>
          <p:spPr>
            <a:xfrm>
              <a:off x="1176" y="1256"/>
              <a:ext cx="447" cy="360"/>
            </a:xfrm>
            <a:prstGeom prst="straightConnector1">
              <a:avLst/>
            </a:prstGeom>
            <a:noFill/>
            <a:ln cap="flat" cmpd="sng" w="9525">
              <a:solidFill>
                <a:schemeClr val="dk1"/>
              </a:solidFill>
              <a:prstDash val="solid"/>
              <a:miter lim="800000"/>
              <a:headEnd len="med" w="med" type="none"/>
              <a:tailEnd len="med" w="med" type="none"/>
            </a:ln>
          </p:spPr>
        </p:cxnSp>
        <p:cxnSp>
          <p:nvCxnSpPr>
            <p:cNvPr id="163" name="Google Shape;163;p9"/>
            <p:cNvCxnSpPr/>
            <p:nvPr/>
          </p:nvCxnSpPr>
          <p:spPr>
            <a:xfrm flipH="1">
              <a:off x="761" y="1251"/>
              <a:ext cx="379" cy="410"/>
            </a:xfrm>
            <a:prstGeom prst="straightConnector1">
              <a:avLst/>
            </a:prstGeom>
            <a:noFill/>
            <a:ln cap="flat" cmpd="sng" w="9525">
              <a:solidFill>
                <a:schemeClr val="dk1"/>
              </a:solidFill>
              <a:prstDash val="solid"/>
              <a:miter lim="800000"/>
              <a:headEnd len="med" w="med" type="none"/>
              <a:tailEnd len="med" w="med" type="none"/>
            </a:ln>
          </p:spPr>
        </p:cxnSp>
        <p:cxnSp>
          <p:nvCxnSpPr>
            <p:cNvPr id="164" name="Google Shape;164;p9"/>
            <p:cNvCxnSpPr/>
            <p:nvPr/>
          </p:nvCxnSpPr>
          <p:spPr>
            <a:xfrm flipH="1">
              <a:off x="1143" y="1997"/>
              <a:ext cx="600" cy="300"/>
            </a:xfrm>
            <a:prstGeom prst="straightConnector1">
              <a:avLst/>
            </a:prstGeom>
            <a:noFill/>
            <a:ln cap="flat" cmpd="sng" w="9525">
              <a:solidFill>
                <a:schemeClr val="dk1"/>
              </a:solidFill>
              <a:prstDash val="solid"/>
              <a:miter lim="800000"/>
              <a:headEnd len="med" w="med" type="none"/>
              <a:tailEnd len="med" w="med" type="none"/>
            </a:ln>
          </p:spPr>
        </p:cxnSp>
        <p:cxnSp>
          <p:nvCxnSpPr>
            <p:cNvPr id="165" name="Google Shape;165;p9"/>
            <p:cNvCxnSpPr/>
            <p:nvPr/>
          </p:nvCxnSpPr>
          <p:spPr>
            <a:xfrm flipH="1">
              <a:off x="2848" y="1207"/>
              <a:ext cx="544" cy="499"/>
            </a:xfrm>
            <a:prstGeom prst="straightConnector1">
              <a:avLst/>
            </a:prstGeom>
            <a:noFill/>
            <a:ln cap="flat" cmpd="sng" w="9525">
              <a:solidFill>
                <a:schemeClr val="dk1"/>
              </a:solidFill>
              <a:prstDash val="solid"/>
              <a:miter lim="800000"/>
              <a:headEnd len="med" w="med" type="none"/>
              <a:tailEnd len="med" w="med" type="none"/>
            </a:ln>
          </p:spPr>
        </p:cxnSp>
        <p:cxnSp>
          <p:nvCxnSpPr>
            <p:cNvPr id="166" name="Google Shape;166;p9"/>
            <p:cNvCxnSpPr/>
            <p:nvPr/>
          </p:nvCxnSpPr>
          <p:spPr>
            <a:xfrm>
              <a:off x="3392" y="1207"/>
              <a:ext cx="635" cy="499"/>
            </a:xfrm>
            <a:prstGeom prst="straightConnector1">
              <a:avLst/>
            </a:prstGeom>
            <a:noFill/>
            <a:ln cap="flat" cmpd="sng" w="9525">
              <a:solidFill>
                <a:schemeClr val="dk1"/>
              </a:solidFill>
              <a:prstDash val="solid"/>
              <a:miter lim="800000"/>
              <a:headEnd len="med" w="med" type="none"/>
              <a:tailEnd len="med" w="med" type="none"/>
            </a:ln>
          </p:spPr>
        </p:cxnSp>
        <p:cxnSp>
          <p:nvCxnSpPr>
            <p:cNvPr id="167" name="Google Shape;167;p9"/>
            <p:cNvCxnSpPr/>
            <p:nvPr/>
          </p:nvCxnSpPr>
          <p:spPr>
            <a:xfrm flipH="1">
              <a:off x="2258" y="2024"/>
              <a:ext cx="499" cy="538"/>
            </a:xfrm>
            <a:prstGeom prst="straightConnector1">
              <a:avLst/>
            </a:prstGeom>
            <a:noFill/>
            <a:ln cap="flat" cmpd="sng" w="9525">
              <a:solidFill>
                <a:schemeClr val="dk1"/>
              </a:solidFill>
              <a:prstDash val="solid"/>
              <a:miter lim="800000"/>
              <a:headEnd len="med" w="med" type="none"/>
              <a:tailEnd len="med" w="med" type="none"/>
            </a:ln>
          </p:spPr>
        </p:cxnSp>
        <p:cxnSp>
          <p:nvCxnSpPr>
            <p:cNvPr id="168" name="Google Shape;168;p9"/>
            <p:cNvCxnSpPr/>
            <p:nvPr/>
          </p:nvCxnSpPr>
          <p:spPr>
            <a:xfrm>
              <a:off x="4073" y="2024"/>
              <a:ext cx="725" cy="590"/>
            </a:xfrm>
            <a:prstGeom prst="straightConnector1">
              <a:avLst/>
            </a:prstGeom>
            <a:noFill/>
            <a:ln cap="flat" cmpd="sng" w="9525">
              <a:solidFill>
                <a:schemeClr val="dk1"/>
              </a:solidFill>
              <a:prstDash val="solid"/>
              <a:miter lim="800000"/>
              <a:headEnd len="med" w="med" type="none"/>
              <a:tailEnd len="med" w="med" type="none"/>
            </a:ln>
          </p:spPr>
        </p:cxnSp>
        <p:sp>
          <p:nvSpPr>
            <p:cNvPr id="169" name="Google Shape;169;p9"/>
            <p:cNvSpPr/>
            <p:nvPr/>
          </p:nvSpPr>
          <p:spPr>
            <a:xfrm>
              <a:off x="3316" y="2604"/>
              <a:ext cx="432" cy="336"/>
            </a:xfrm>
            <a:prstGeom prst="ellipse">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1" i="0" lang="en-US" sz="2000" u="none">
                  <a:solidFill>
                    <a:schemeClr val="dk1"/>
                  </a:solidFill>
                  <a:latin typeface="Helvetica Neue"/>
                  <a:ea typeface="Helvetica Neue"/>
                  <a:cs typeface="Helvetica Neue"/>
                  <a:sym typeface="Helvetica Neue"/>
                </a:rPr>
                <a:t>12</a:t>
              </a:r>
              <a:endParaRPr/>
            </a:p>
          </p:txBody>
        </p:sp>
        <p:cxnSp>
          <p:nvCxnSpPr>
            <p:cNvPr id="170" name="Google Shape;170;p9"/>
            <p:cNvCxnSpPr/>
            <p:nvPr/>
          </p:nvCxnSpPr>
          <p:spPr>
            <a:xfrm flipH="1">
              <a:off x="3528" y="2024"/>
              <a:ext cx="528" cy="581"/>
            </a:xfrm>
            <a:prstGeom prst="straightConnector1">
              <a:avLst/>
            </a:prstGeom>
            <a:noFill/>
            <a:ln cap="flat" cmpd="sng" w="9525">
              <a:solidFill>
                <a:schemeClr val="dk1"/>
              </a:solidFill>
              <a:prstDash val="solid"/>
              <a:miter lim="800000"/>
              <a:headEnd len="med" w="med" type="none"/>
              <a:tailEnd len="med" w="med" type="non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Duyệt Trước </a:t>
            </a:r>
            <a:endParaRPr/>
          </a:p>
        </p:txBody>
      </p:sp>
      <p:sp>
        <p:nvSpPr>
          <p:cNvPr id="176" name="Google Shape;176;p10"/>
          <p:cNvSpPr txBox="1"/>
          <p:nvPr>
            <p:ph idx="1" type="body"/>
          </p:nvPr>
        </p:nvSpPr>
        <p:spPr>
          <a:xfrm>
            <a:off x="740575" y="1060775"/>
            <a:ext cx="9129600" cy="5247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void	NLR(TREE Root)</a:t>
            </a:r>
            <a:endParaRPr/>
          </a:p>
          <a:p>
            <a:pPr indent="-342900" lvl="0" marL="34290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a:t>
            </a:r>
            <a:endParaRPr/>
          </a:p>
          <a:p>
            <a:pPr indent="-342900" lvl="0" marL="34290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if (Root != NULL)</a:t>
            </a:r>
            <a:endParaRPr/>
          </a:p>
          <a:p>
            <a:pPr indent="-342900" lvl="0" marL="34290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endParaRPr/>
          </a:p>
          <a:p>
            <a:pPr indent="-342900" lvl="0" marL="342900" rtl="0" algn="l">
              <a:lnSpc>
                <a:spcPct val="100000"/>
              </a:lnSpc>
              <a:spcBef>
                <a:spcPts val="64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&lt;X</a:t>
            </a:r>
            <a:r>
              <a:rPr b="0" i="0" lang="en-US" sz="3200" u="none">
                <a:solidFill>
                  <a:schemeClr val="dk1"/>
                </a:solidFill>
                <a:latin typeface="Arial"/>
                <a:ea typeface="Arial"/>
                <a:cs typeface="Arial"/>
                <a:sym typeface="Arial"/>
              </a:rPr>
              <a:t>ử lý</a:t>
            </a:r>
            <a:r>
              <a:rPr b="0" i="0" lang="en-US" sz="2800" u="none">
                <a:solidFill>
                  <a:srgbClr val="080808"/>
                </a:solidFill>
                <a:latin typeface="Arial"/>
                <a:ea typeface="Arial"/>
                <a:cs typeface="Arial"/>
                <a:sym typeface="Arial"/>
              </a:rPr>
              <a:t> Root&gt;; //X</a:t>
            </a:r>
            <a:r>
              <a:rPr b="0" i="0" lang="en-US" sz="3200" u="none">
                <a:solidFill>
                  <a:schemeClr val="dk1"/>
                </a:solidFill>
                <a:latin typeface="Arial"/>
                <a:ea typeface="Arial"/>
                <a:cs typeface="Arial"/>
                <a:sym typeface="Arial"/>
              </a:rPr>
              <a:t>ử lý tương ứng theo nhu cầu</a:t>
            </a:r>
            <a:r>
              <a:rPr b="0" i="0" lang="en-US" sz="2800" u="none">
                <a:solidFill>
                  <a:srgbClr val="080808"/>
                </a:solidFill>
                <a:latin typeface="Arial"/>
                <a:ea typeface="Arial"/>
                <a:cs typeface="Arial"/>
                <a:sym typeface="Arial"/>
              </a:rPr>
              <a:t>	NLR(Root-&gt;pLeft);</a:t>
            </a:r>
            <a:endParaRPr/>
          </a:p>
          <a:p>
            <a:pPr indent="-342900" lvl="0" marL="34290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NLR(Root-&gt;pRight);</a:t>
            </a:r>
            <a:endParaRPr/>
          </a:p>
          <a:p>
            <a:pPr indent="-342900" lvl="0" marL="34290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endParaRPr/>
          </a:p>
          <a:p>
            <a:pPr indent="-342900" lvl="0" marL="342900" rtl="0" algn="l">
              <a:lnSpc>
                <a:spcPct val="10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a:t>
            </a:r>
            <a:endParaRPr/>
          </a:p>
          <a:p>
            <a:pPr indent="-342900" lvl="0" marL="34290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Kiểu duyệt này trước tiên thăm nút gốc sau đó thăm các nút của cây con trái rồi đến cây con phải</a:t>
            </a:r>
            <a:r>
              <a:rPr b="0" i="0" lang="en-US" sz="2800" u="non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2"/>
          <p:cNvSpPr txBox="1"/>
          <p:nvPr>
            <p:ph type="title"/>
          </p:nvPr>
        </p:nvSpPr>
        <p:spPr>
          <a:xfrm>
            <a:off x="704850" y="0"/>
            <a:ext cx="920115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VD</a:t>
            </a:r>
            <a:endParaRPr/>
          </a:p>
        </p:txBody>
      </p:sp>
      <p:sp>
        <p:nvSpPr>
          <p:cNvPr id="182" name="Google Shape;182;p12"/>
          <p:cNvSpPr txBox="1"/>
          <p:nvPr>
            <p:ph idx="1" type="body"/>
          </p:nvPr>
        </p:nvSpPr>
        <p:spPr>
          <a:xfrm>
            <a:off x="776287" y="765175"/>
            <a:ext cx="9129712" cy="5759450"/>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sz="3200">
              <a:solidFill>
                <a:schemeClr val="dk1"/>
              </a:solidFill>
              <a:latin typeface="Arial"/>
              <a:ea typeface="Arial"/>
              <a:cs typeface="Arial"/>
              <a:sym typeface="Arial"/>
            </a:endParaRPr>
          </a:p>
        </p:txBody>
      </p:sp>
      <p:sp>
        <p:nvSpPr>
          <p:cNvPr id="183" name="Google Shape;183;p12"/>
          <p:cNvSpPr/>
          <p:nvPr/>
        </p:nvSpPr>
        <p:spPr>
          <a:xfrm>
            <a:off x="4705350" y="1143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A</a:t>
            </a:r>
            <a:endParaRPr/>
          </a:p>
        </p:txBody>
      </p:sp>
      <p:sp>
        <p:nvSpPr>
          <p:cNvPr id="184" name="Google Shape;184;p12"/>
          <p:cNvSpPr/>
          <p:nvPr/>
        </p:nvSpPr>
        <p:spPr>
          <a:xfrm>
            <a:off x="3054350" y="1828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B</a:t>
            </a:r>
            <a:endParaRPr/>
          </a:p>
        </p:txBody>
      </p:sp>
      <p:sp>
        <p:nvSpPr>
          <p:cNvPr id="185" name="Google Shape;185;p12"/>
          <p:cNvSpPr/>
          <p:nvPr/>
        </p:nvSpPr>
        <p:spPr>
          <a:xfrm>
            <a:off x="214630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D</a:t>
            </a:r>
            <a:endParaRPr/>
          </a:p>
        </p:txBody>
      </p:sp>
      <p:sp>
        <p:nvSpPr>
          <p:cNvPr id="186" name="Google Shape;186;p12"/>
          <p:cNvSpPr/>
          <p:nvPr/>
        </p:nvSpPr>
        <p:spPr>
          <a:xfrm>
            <a:off x="165100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H</a:t>
            </a:r>
            <a:endParaRPr/>
          </a:p>
        </p:txBody>
      </p:sp>
      <p:sp>
        <p:nvSpPr>
          <p:cNvPr id="187" name="Google Shape;187;p12"/>
          <p:cNvSpPr/>
          <p:nvPr/>
        </p:nvSpPr>
        <p:spPr>
          <a:xfrm>
            <a:off x="264160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I</a:t>
            </a:r>
            <a:endParaRPr/>
          </a:p>
        </p:txBody>
      </p:sp>
      <p:sp>
        <p:nvSpPr>
          <p:cNvPr id="188" name="Google Shape;188;p12"/>
          <p:cNvSpPr/>
          <p:nvPr/>
        </p:nvSpPr>
        <p:spPr>
          <a:xfrm>
            <a:off x="2393950" y="4191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N</a:t>
            </a:r>
            <a:endParaRPr/>
          </a:p>
        </p:txBody>
      </p:sp>
      <p:cxnSp>
        <p:nvCxnSpPr>
          <p:cNvPr id="189" name="Google Shape;189;p12"/>
          <p:cNvCxnSpPr/>
          <p:nvPr/>
        </p:nvCxnSpPr>
        <p:spPr>
          <a:xfrm flipH="1">
            <a:off x="198120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190" name="Google Shape;190;p12"/>
          <p:cNvCxnSpPr/>
          <p:nvPr/>
        </p:nvCxnSpPr>
        <p:spPr>
          <a:xfrm>
            <a:off x="247650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191" name="Google Shape;191;p12"/>
          <p:cNvCxnSpPr/>
          <p:nvPr/>
        </p:nvCxnSpPr>
        <p:spPr>
          <a:xfrm flipH="1">
            <a:off x="2641600" y="3886200"/>
            <a:ext cx="165100" cy="304800"/>
          </a:xfrm>
          <a:prstGeom prst="straightConnector1">
            <a:avLst/>
          </a:prstGeom>
          <a:noFill/>
          <a:ln cap="flat" cmpd="sng" w="28575">
            <a:solidFill>
              <a:schemeClr val="dk1"/>
            </a:solidFill>
            <a:prstDash val="solid"/>
            <a:miter lim="800000"/>
            <a:headEnd len="med" w="med" type="none"/>
            <a:tailEnd len="med" w="med" type="none"/>
          </a:ln>
        </p:spPr>
      </p:cxnSp>
      <p:cxnSp>
        <p:nvCxnSpPr>
          <p:cNvPr id="192" name="Google Shape;192;p12"/>
          <p:cNvCxnSpPr/>
          <p:nvPr/>
        </p:nvCxnSpPr>
        <p:spPr>
          <a:xfrm flipH="1">
            <a:off x="24765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sp>
        <p:nvSpPr>
          <p:cNvPr id="193" name="Google Shape;193;p12"/>
          <p:cNvSpPr/>
          <p:nvPr/>
        </p:nvSpPr>
        <p:spPr>
          <a:xfrm>
            <a:off x="387985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E</a:t>
            </a:r>
            <a:endParaRPr/>
          </a:p>
        </p:txBody>
      </p:sp>
      <p:sp>
        <p:nvSpPr>
          <p:cNvPr id="194" name="Google Shape;194;p12"/>
          <p:cNvSpPr/>
          <p:nvPr/>
        </p:nvSpPr>
        <p:spPr>
          <a:xfrm>
            <a:off x="338455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J</a:t>
            </a:r>
            <a:endParaRPr/>
          </a:p>
        </p:txBody>
      </p:sp>
      <p:sp>
        <p:nvSpPr>
          <p:cNvPr id="195" name="Google Shape;195;p12"/>
          <p:cNvSpPr/>
          <p:nvPr/>
        </p:nvSpPr>
        <p:spPr>
          <a:xfrm>
            <a:off x="437515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K</a:t>
            </a:r>
            <a:endParaRPr/>
          </a:p>
        </p:txBody>
      </p:sp>
      <p:sp>
        <p:nvSpPr>
          <p:cNvPr id="196" name="Google Shape;196;p12"/>
          <p:cNvSpPr/>
          <p:nvPr/>
        </p:nvSpPr>
        <p:spPr>
          <a:xfrm flipH="1">
            <a:off x="3714750" y="4191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O</a:t>
            </a:r>
            <a:endParaRPr/>
          </a:p>
        </p:txBody>
      </p:sp>
      <p:cxnSp>
        <p:nvCxnSpPr>
          <p:cNvPr id="197" name="Google Shape;197;p12"/>
          <p:cNvCxnSpPr/>
          <p:nvPr/>
        </p:nvCxnSpPr>
        <p:spPr>
          <a:xfrm flipH="1">
            <a:off x="371475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198" name="Google Shape;198;p12"/>
          <p:cNvCxnSpPr/>
          <p:nvPr/>
        </p:nvCxnSpPr>
        <p:spPr>
          <a:xfrm>
            <a:off x="421005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199" name="Google Shape;199;p12"/>
          <p:cNvCxnSpPr/>
          <p:nvPr/>
        </p:nvCxnSpPr>
        <p:spPr>
          <a:xfrm>
            <a:off x="3714750" y="3886200"/>
            <a:ext cx="165100" cy="304800"/>
          </a:xfrm>
          <a:prstGeom prst="straightConnector1">
            <a:avLst/>
          </a:prstGeom>
          <a:noFill/>
          <a:ln cap="flat" cmpd="sng" w="28575">
            <a:solidFill>
              <a:schemeClr val="dk1"/>
            </a:solidFill>
            <a:prstDash val="solid"/>
            <a:miter lim="800000"/>
            <a:headEnd len="med" w="med" type="none"/>
            <a:tailEnd len="med" w="med" type="none"/>
          </a:ln>
        </p:spPr>
      </p:cxnSp>
      <p:cxnSp>
        <p:nvCxnSpPr>
          <p:cNvPr id="200" name="Google Shape;200;p12"/>
          <p:cNvCxnSpPr/>
          <p:nvPr/>
        </p:nvCxnSpPr>
        <p:spPr>
          <a:xfrm>
            <a:off x="34671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01" name="Google Shape;201;p12"/>
          <p:cNvCxnSpPr/>
          <p:nvPr/>
        </p:nvCxnSpPr>
        <p:spPr>
          <a:xfrm flipH="1">
            <a:off x="3384550" y="1524000"/>
            <a:ext cx="1403350" cy="304800"/>
          </a:xfrm>
          <a:prstGeom prst="straightConnector1">
            <a:avLst/>
          </a:prstGeom>
          <a:noFill/>
          <a:ln cap="flat" cmpd="sng" w="28575">
            <a:solidFill>
              <a:schemeClr val="dk1"/>
            </a:solidFill>
            <a:prstDash val="solid"/>
            <a:miter lim="800000"/>
            <a:headEnd len="med" w="med" type="none"/>
            <a:tailEnd len="med" w="med" type="none"/>
          </a:ln>
        </p:spPr>
      </p:cxnSp>
      <p:sp>
        <p:nvSpPr>
          <p:cNvPr id="202" name="Google Shape;202;p12"/>
          <p:cNvSpPr/>
          <p:nvPr/>
        </p:nvSpPr>
        <p:spPr>
          <a:xfrm>
            <a:off x="6356350" y="1828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C</a:t>
            </a:r>
            <a:endParaRPr/>
          </a:p>
        </p:txBody>
      </p:sp>
      <p:sp>
        <p:nvSpPr>
          <p:cNvPr id="203" name="Google Shape;203;p12"/>
          <p:cNvSpPr/>
          <p:nvPr/>
        </p:nvSpPr>
        <p:spPr>
          <a:xfrm>
            <a:off x="544830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F</a:t>
            </a:r>
            <a:endParaRPr/>
          </a:p>
        </p:txBody>
      </p:sp>
      <p:sp>
        <p:nvSpPr>
          <p:cNvPr id="204" name="Google Shape;204;p12"/>
          <p:cNvSpPr/>
          <p:nvPr/>
        </p:nvSpPr>
        <p:spPr>
          <a:xfrm>
            <a:off x="594360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L</a:t>
            </a:r>
            <a:endParaRPr/>
          </a:p>
        </p:txBody>
      </p:sp>
      <p:sp>
        <p:nvSpPr>
          <p:cNvPr id="205" name="Google Shape;205;p12"/>
          <p:cNvSpPr/>
          <p:nvPr/>
        </p:nvSpPr>
        <p:spPr>
          <a:xfrm>
            <a:off x="5695950" y="4191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a:t>
            </a:r>
            <a:endParaRPr/>
          </a:p>
        </p:txBody>
      </p:sp>
      <p:cxnSp>
        <p:nvCxnSpPr>
          <p:cNvPr id="206" name="Google Shape;206;p12"/>
          <p:cNvCxnSpPr/>
          <p:nvPr/>
        </p:nvCxnSpPr>
        <p:spPr>
          <a:xfrm>
            <a:off x="577850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07" name="Google Shape;207;p12"/>
          <p:cNvCxnSpPr/>
          <p:nvPr/>
        </p:nvCxnSpPr>
        <p:spPr>
          <a:xfrm flipH="1">
            <a:off x="5943600" y="3886200"/>
            <a:ext cx="165100" cy="304800"/>
          </a:xfrm>
          <a:prstGeom prst="straightConnector1">
            <a:avLst/>
          </a:prstGeom>
          <a:noFill/>
          <a:ln cap="flat" cmpd="sng" w="28575">
            <a:solidFill>
              <a:schemeClr val="dk1"/>
            </a:solidFill>
            <a:prstDash val="solid"/>
            <a:miter lim="800000"/>
            <a:headEnd len="med" w="med" type="none"/>
            <a:tailEnd len="med" w="med" type="none"/>
          </a:ln>
        </p:spPr>
      </p:cxnSp>
      <p:cxnSp>
        <p:nvCxnSpPr>
          <p:cNvPr id="208" name="Google Shape;208;p12"/>
          <p:cNvCxnSpPr/>
          <p:nvPr/>
        </p:nvCxnSpPr>
        <p:spPr>
          <a:xfrm flipH="1">
            <a:off x="57785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sp>
        <p:nvSpPr>
          <p:cNvPr id="209" name="Google Shape;209;p12"/>
          <p:cNvSpPr/>
          <p:nvPr/>
        </p:nvSpPr>
        <p:spPr>
          <a:xfrm>
            <a:off x="718185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G</a:t>
            </a:r>
            <a:endParaRPr/>
          </a:p>
        </p:txBody>
      </p:sp>
      <p:sp>
        <p:nvSpPr>
          <p:cNvPr id="210" name="Google Shape;210;p12"/>
          <p:cNvSpPr/>
          <p:nvPr/>
        </p:nvSpPr>
        <p:spPr>
          <a:xfrm>
            <a:off x="668655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M</a:t>
            </a:r>
            <a:endParaRPr/>
          </a:p>
        </p:txBody>
      </p:sp>
      <p:cxnSp>
        <p:nvCxnSpPr>
          <p:cNvPr id="211" name="Google Shape;211;p12"/>
          <p:cNvCxnSpPr/>
          <p:nvPr/>
        </p:nvCxnSpPr>
        <p:spPr>
          <a:xfrm flipH="1">
            <a:off x="701675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12" name="Google Shape;212;p12"/>
          <p:cNvCxnSpPr/>
          <p:nvPr/>
        </p:nvCxnSpPr>
        <p:spPr>
          <a:xfrm>
            <a:off x="67691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13" name="Google Shape;213;p12"/>
          <p:cNvCxnSpPr/>
          <p:nvPr/>
        </p:nvCxnSpPr>
        <p:spPr>
          <a:xfrm>
            <a:off x="5118100" y="1524000"/>
            <a:ext cx="1403350" cy="304800"/>
          </a:xfrm>
          <a:prstGeom prst="straightConnector1">
            <a:avLst/>
          </a:prstGeom>
          <a:noFill/>
          <a:ln cap="flat" cmpd="sng" w="28575">
            <a:solidFill>
              <a:schemeClr val="dk1"/>
            </a:solidFill>
            <a:prstDash val="solid"/>
            <a:miter lim="800000"/>
            <a:headEnd len="med" w="med" type="none"/>
            <a:tailEnd len="med" w="med" type="none"/>
          </a:ln>
        </p:spPr>
      </p:cxnSp>
      <p:sp>
        <p:nvSpPr>
          <p:cNvPr id="214" name="Google Shape;214;p12"/>
          <p:cNvSpPr txBox="1"/>
          <p:nvPr/>
        </p:nvSpPr>
        <p:spPr>
          <a:xfrm>
            <a:off x="2276475" y="5754687"/>
            <a:ext cx="42068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A</a:t>
            </a:r>
            <a:endParaRPr/>
          </a:p>
        </p:txBody>
      </p:sp>
      <p:sp>
        <p:nvSpPr>
          <p:cNvPr id="215" name="Google Shape;215;p12"/>
          <p:cNvSpPr txBox="1"/>
          <p:nvPr/>
        </p:nvSpPr>
        <p:spPr>
          <a:xfrm>
            <a:off x="908050" y="5754687"/>
            <a:ext cx="14287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Kết quả:</a:t>
            </a:r>
            <a:endParaRPr/>
          </a:p>
        </p:txBody>
      </p:sp>
      <p:sp>
        <p:nvSpPr>
          <p:cNvPr id="216" name="Google Shape;216;p12"/>
          <p:cNvSpPr/>
          <p:nvPr/>
        </p:nvSpPr>
        <p:spPr>
          <a:xfrm>
            <a:off x="1073150" y="1295400"/>
            <a:ext cx="4210050" cy="4191000"/>
          </a:xfrm>
          <a:prstGeom prst="ellipse">
            <a:avLst/>
          </a:prstGeom>
          <a:noFill/>
          <a:ln cap="flat" cmpd="sng" w="28575">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7" name="Google Shape;217;p12"/>
          <p:cNvSpPr txBox="1"/>
          <p:nvPr/>
        </p:nvSpPr>
        <p:spPr>
          <a:xfrm>
            <a:off x="2660650" y="5754687"/>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B</a:t>
            </a:r>
            <a:endParaRPr/>
          </a:p>
        </p:txBody>
      </p:sp>
      <p:sp>
        <p:nvSpPr>
          <p:cNvPr id="218" name="Google Shape;218;p12"/>
          <p:cNvSpPr/>
          <p:nvPr/>
        </p:nvSpPr>
        <p:spPr>
          <a:xfrm>
            <a:off x="1320800" y="2286000"/>
            <a:ext cx="20637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 name="Google Shape;219;p12"/>
          <p:cNvSpPr txBox="1"/>
          <p:nvPr/>
        </p:nvSpPr>
        <p:spPr>
          <a:xfrm>
            <a:off x="3065462"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D</a:t>
            </a:r>
            <a:endParaRPr/>
          </a:p>
        </p:txBody>
      </p:sp>
      <p:sp>
        <p:nvSpPr>
          <p:cNvPr id="220" name="Google Shape;220;p12"/>
          <p:cNvSpPr/>
          <p:nvPr/>
        </p:nvSpPr>
        <p:spPr>
          <a:xfrm>
            <a:off x="1403350" y="3276600"/>
            <a:ext cx="1073150" cy="7620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 name="Google Shape;221;p12"/>
          <p:cNvSpPr txBox="1"/>
          <p:nvPr/>
        </p:nvSpPr>
        <p:spPr>
          <a:xfrm>
            <a:off x="3484562"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H</a:t>
            </a:r>
            <a:endParaRPr/>
          </a:p>
        </p:txBody>
      </p:sp>
      <p:sp>
        <p:nvSpPr>
          <p:cNvPr id="222" name="Google Shape;222;p12"/>
          <p:cNvSpPr/>
          <p:nvPr/>
        </p:nvSpPr>
        <p:spPr>
          <a:xfrm>
            <a:off x="1981200" y="3048000"/>
            <a:ext cx="1320900" cy="16764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3" name="Google Shape;223;p12"/>
          <p:cNvSpPr txBox="1"/>
          <p:nvPr/>
        </p:nvSpPr>
        <p:spPr>
          <a:xfrm>
            <a:off x="3963987" y="5754687"/>
            <a:ext cx="29051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I</a:t>
            </a:r>
            <a:endParaRPr/>
          </a:p>
        </p:txBody>
      </p:sp>
      <p:sp>
        <p:nvSpPr>
          <p:cNvPr id="224" name="Google Shape;224;p12"/>
          <p:cNvSpPr/>
          <p:nvPr/>
        </p:nvSpPr>
        <p:spPr>
          <a:xfrm>
            <a:off x="2228850" y="4038600"/>
            <a:ext cx="825500" cy="762000"/>
          </a:xfrm>
          <a:prstGeom prst="ellipse">
            <a:avLst/>
          </a:prstGeom>
          <a:noFill/>
          <a:ln cap="flat" cmpd="sng" w="28575">
            <a:solidFill>
              <a:srgbClr val="66FF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5" name="Google Shape;225;p12"/>
          <p:cNvSpPr txBox="1"/>
          <p:nvPr/>
        </p:nvSpPr>
        <p:spPr>
          <a:xfrm>
            <a:off x="4324350"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N</a:t>
            </a:r>
            <a:endParaRPr/>
          </a:p>
        </p:txBody>
      </p:sp>
      <p:sp>
        <p:nvSpPr>
          <p:cNvPr id="226" name="Google Shape;226;p12"/>
          <p:cNvSpPr/>
          <p:nvPr/>
        </p:nvSpPr>
        <p:spPr>
          <a:xfrm>
            <a:off x="3136900" y="2305838"/>
            <a:ext cx="206370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7" name="Google Shape;227;p12"/>
          <p:cNvSpPr txBox="1"/>
          <p:nvPr/>
        </p:nvSpPr>
        <p:spPr>
          <a:xfrm>
            <a:off x="4730750" y="5754687"/>
            <a:ext cx="42068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E</a:t>
            </a:r>
            <a:endParaRPr/>
          </a:p>
        </p:txBody>
      </p:sp>
      <p:sp>
        <p:nvSpPr>
          <p:cNvPr id="228" name="Google Shape;228;p12"/>
          <p:cNvSpPr/>
          <p:nvPr/>
        </p:nvSpPr>
        <p:spPr>
          <a:xfrm>
            <a:off x="3219450" y="3200400"/>
            <a:ext cx="1320800" cy="16764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9" name="Google Shape;229;p12"/>
          <p:cNvSpPr txBox="1"/>
          <p:nvPr/>
        </p:nvSpPr>
        <p:spPr>
          <a:xfrm>
            <a:off x="5162550" y="5754687"/>
            <a:ext cx="3651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J</a:t>
            </a:r>
            <a:endParaRPr/>
          </a:p>
        </p:txBody>
      </p:sp>
      <p:sp>
        <p:nvSpPr>
          <p:cNvPr id="230" name="Google Shape;230;p12"/>
          <p:cNvSpPr/>
          <p:nvPr/>
        </p:nvSpPr>
        <p:spPr>
          <a:xfrm>
            <a:off x="3549650" y="4038600"/>
            <a:ext cx="825500" cy="762000"/>
          </a:xfrm>
          <a:prstGeom prst="ellipse">
            <a:avLst/>
          </a:prstGeom>
          <a:noFill/>
          <a:ln cap="flat" cmpd="sng" w="28575">
            <a:solidFill>
              <a:srgbClr val="66FF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1" name="Google Shape;231;p12"/>
          <p:cNvSpPr txBox="1"/>
          <p:nvPr/>
        </p:nvSpPr>
        <p:spPr>
          <a:xfrm>
            <a:off x="5508625" y="5754687"/>
            <a:ext cx="45561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O</a:t>
            </a:r>
            <a:endParaRPr/>
          </a:p>
        </p:txBody>
      </p:sp>
      <p:sp>
        <p:nvSpPr>
          <p:cNvPr id="232" name="Google Shape;232;p12"/>
          <p:cNvSpPr/>
          <p:nvPr/>
        </p:nvSpPr>
        <p:spPr>
          <a:xfrm>
            <a:off x="4210050" y="3200400"/>
            <a:ext cx="908050" cy="8382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3" name="Google Shape;233;p12"/>
          <p:cNvSpPr txBox="1"/>
          <p:nvPr/>
        </p:nvSpPr>
        <p:spPr>
          <a:xfrm>
            <a:off x="5976937" y="5754687"/>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K</a:t>
            </a:r>
            <a:endParaRPr/>
          </a:p>
        </p:txBody>
      </p:sp>
      <p:sp>
        <p:nvSpPr>
          <p:cNvPr id="234" name="Google Shape;234;p12"/>
          <p:cNvSpPr/>
          <p:nvPr/>
        </p:nvSpPr>
        <p:spPr>
          <a:xfrm>
            <a:off x="4953000" y="1295400"/>
            <a:ext cx="4210050" cy="4191000"/>
          </a:xfrm>
          <a:prstGeom prst="ellipse">
            <a:avLst/>
          </a:prstGeom>
          <a:noFill/>
          <a:ln cap="flat" cmpd="sng" w="28575">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5" name="Google Shape;235;p12"/>
          <p:cNvSpPr txBox="1"/>
          <p:nvPr/>
        </p:nvSpPr>
        <p:spPr>
          <a:xfrm>
            <a:off x="6367462"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C</a:t>
            </a:r>
            <a:endParaRPr/>
          </a:p>
        </p:txBody>
      </p:sp>
      <p:sp>
        <p:nvSpPr>
          <p:cNvPr id="236" name="Google Shape;236;p12"/>
          <p:cNvSpPr/>
          <p:nvPr/>
        </p:nvSpPr>
        <p:spPr>
          <a:xfrm>
            <a:off x="5200650" y="2286000"/>
            <a:ext cx="15684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7" name="Google Shape;237;p12"/>
          <p:cNvSpPr txBox="1"/>
          <p:nvPr/>
        </p:nvSpPr>
        <p:spPr>
          <a:xfrm>
            <a:off x="6805612" y="5754687"/>
            <a:ext cx="4000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F</a:t>
            </a:r>
            <a:endParaRPr/>
          </a:p>
        </p:txBody>
      </p:sp>
      <p:sp>
        <p:nvSpPr>
          <p:cNvPr id="238" name="Google Shape;238;p12"/>
          <p:cNvSpPr/>
          <p:nvPr/>
        </p:nvSpPr>
        <p:spPr>
          <a:xfrm>
            <a:off x="5365750" y="3352800"/>
            <a:ext cx="1320900" cy="16764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9" name="Google Shape;239;p12"/>
          <p:cNvSpPr txBox="1"/>
          <p:nvPr/>
        </p:nvSpPr>
        <p:spPr>
          <a:xfrm>
            <a:off x="7291387" y="5754687"/>
            <a:ext cx="3841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L</a:t>
            </a:r>
            <a:endParaRPr/>
          </a:p>
        </p:txBody>
      </p:sp>
      <p:sp>
        <p:nvSpPr>
          <p:cNvPr id="240" name="Google Shape;240;p12"/>
          <p:cNvSpPr/>
          <p:nvPr/>
        </p:nvSpPr>
        <p:spPr>
          <a:xfrm>
            <a:off x="5530850" y="4038600"/>
            <a:ext cx="825500" cy="762000"/>
          </a:xfrm>
          <a:prstGeom prst="ellipse">
            <a:avLst/>
          </a:prstGeom>
          <a:noFill/>
          <a:ln cap="flat" cmpd="sng" w="28575">
            <a:solidFill>
              <a:srgbClr val="66FF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1" name="Google Shape;241;p12"/>
          <p:cNvSpPr txBox="1"/>
          <p:nvPr/>
        </p:nvSpPr>
        <p:spPr>
          <a:xfrm>
            <a:off x="7680325" y="5754687"/>
            <a:ext cx="42068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P</a:t>
            </a:r>
            <a:endParaRPr/>
          </a:p>
        </p:txBody>
      </p:sp>
      <p:sp>
        <p:nvSpPr>
          <p:cNvPr id="242" name="Google Shape;242;p12"/>
          <p:cNvSpPr/>
          <p:nvPr/>
        </p:nvSpPr>
        <p:spPr>
          <a:xfrm>
            <a:off x="6604000" y="2286000"/>
            <a:ext cx="15684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3" name="Google Shape;243;p12"/>
          <p:cNvSpPr txBox="1"/>
          <p:nvPr/>
        </p:nvSpPr>
        <p:spPr>
          <a:xfrm>
            <a:off x="8091487" y="5754687"/>
            <a:ext cx="45561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G</a:t>
            </a:r>
            <a:endParaRPr/>
          </a:p>
        </p:txBody>
      </p:sp>
      <p:sp>
        <p:nvSpPr>
          <p:cNvPr id="244" name="Google Shape;244;p12"/>
          <p:cNvSpPr/>
          <p:nvPr/>
        </p:nvSpPr>
        <p:spPr>
          <a:xfrm>
            <a:off x="6604000" y="3200400"/>
            <a:ext cx="908050" cy="8382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5" name="Google Shape;245;p12"/>
          <p:cNvSpPr txBox="1"/>
          <p:nvPr/>
        </p:nvSpPr>
        <p:spPr>
          <a:xfrm>
            <a:off x="8509000" y="5743575"/>
            <a:ext cx="47466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3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3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1"/>
          <p:cNvSpPr txBox="1"/>
          <p:nvPr>
            <p:ph type="title"/>
          </p:nvPr>
        </p:nvSpPr>
        <p:spPr>
          <a:xfrm>
            <a:off x="704850" y="0"/>
            <a:ext cx="920115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Duyệt theo thứ tự trước (Node-Left-Right) </a:t>
            </a:r>
            <a:endParaRPr/>
          </a:p>
        </p:txBody>
      </p:sp>
      <p:sp>
        <p:nvSpPr>
          <p:cNvPr id="251" name="Google Shape;251;p11"/>
          <p:cNvSpPr txBox="1"/>
          <p:nvPr>
            <p:ph idx="1" type="body"/>
          </p:nvPr>
        </p:nvSpPr>
        <p:spPr>
          <a:xfrm>
            <a:off x="776287" y="765175"/>
            <a:ext cx="9129712" cy="57594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Một</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ví</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dụ</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đọc</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một</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quyển</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sách</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hay</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bài</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báo</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từ</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đầu</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đến</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cuối</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như</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minh</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họa</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trong</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hình</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bên</a:t>
            </a:r>
            <a:r>
              <a:rPr b="0" i="0" lang="en-US" sz="3200" u="none">
                <a:solidFill>
                  <a:schemeClr val="dk1"/>
                </a:solidFill>
                <a:latin typeface="Helvetica Neue"/>
                <a:ea typeface="Helvetica Neue"/>
                <a:cs typeface="Helvetica Neue"/>
                <a:sym typeface="Helvetica Neue"/>
              </a:rPr>
              <a:t> </a:t>
            </a:r>
            <a:r>
              <a:rPr b="0" i="0" lang="en-US" sz="3200" u="none">
                <a:solidFill>
                  <a:schemeClr val="dk1"/>
                </a:solidFill>
                <a:latin typeface="Times New Roman"/>
                <a:ea typeface="Times New Roman"/>
                <a:cs typeface="Times New Roman"/>
                <a:sym typeface="Times New Roman"/>
              </a:rPr>
              <a:t>dưới</a:t>
            </a:r>
            <a:r>
              <a:rPr b="0" i="0" lang="en-US" sz="3200" u="none">
                <a:solidFill>
                  <a:schemeClr val="dk1"/>
                </a:solidFill>
                <a:latin typeface="Helvetica Neue"/>
                <a:ea typeface="Helvetica Neue"/>
                <a:cs typeface="Helvetica Neue"/>
                <a:sym typeface="Helvetica Neue"/>
              </a:rPr>
              <a:t>: </a:t>
            </a:r>
            <a:r>
              <a:rPr lang="en-US">
                <a:latin typeface="Helvetica Neue"/>
                <a:ea typeface="Helvetica Neue"/>
                <a:cs typeface="Helvetica Neue"/>
                <a:sym typeface="Helvetica Neue"/>
              </a:rPr>
              <a:t>‘</a:t>
            </a:r>
            <a:endParaRPr/>
          </a:p>
        </p:txBody>
      </p:sp>
      <p:graphicFrame>
        <p:nvGraphicFramePr>
          <p:cNvPr id="252" name="Google Shape;252;p11"/>
          <p:cNvGraphicFramePr/>
          <p:nvPr/>
        </p:nvGraphicFramePr>
        <p:xfrm>
          <a:off x="1136650" y="2754312"/>
          <a:ext cx="8343900" cy="3330575"/>
        </p:xfrm>
        <a:graphic>
          <a:graphicData uri="http://schemas.openxmlformats.org/presentationml/2006/ole">
            <mc:AlternateContent>
              <mc:Choice Requires="v">
                <p:oleObj r:id="rId4" imgH="3330575" imgW="8343900" progId="Paint.Picture" spid="_x0000_s1">
                  <p:embed/>
                </p:oleObj>
              </mc:Choice>
              <mc:Fallback>
                <p:oleObj r:id="rId5" imgH="3330575" imgW="8343900" progId="Paint.Picture">
                  <p:embed/>
                  <p:pic>
                    <p:nvPicPr>
                      <p:cNvPr id="252" name="Google Shape;252;p11"/>
                      <p:cNvPicPr preferRelativeResize="0"/>
                      <p:nvPr/>
                    </p:nvPicPr>
                    <p:blipFill rotWithShape="1">
                      <a:blip r:embed="rId6">
                        <a:alphaModFix/>
                      </a:blip>
                      <a:srcRect b="0" l="0" r="0" t="0"/>
                      <a:stretch/>
                    </p:blipFill>
                    <p:spPr>
                      <a:xfrm>
                        <a:off x="1136650" y="2754312"/>
                        <a:ext cx="8343900" cy="3330575"/>
                      </a:xfrm>
                      <a:prstGeom prst="rect">
                        <a:avLst/>
                      </a:prstGeom>
                      <a:noFill/>
                      <a:ln>
                        <a:noFill/>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Duyệt Giữa</a:t>
            </a:r>
            <a:endParaRPr/>
          </a:p>
        </p:txBody>
      </p:sp>
      <p:sp>
        <p:nvSpPr>
          <p:cNvPr id="258" name="Google Shape;258;p13"/>
          <p:cNvSpPr txBox="1"/>
          <p:nvPr>
            <p:ph idx="1" type="body"/>
          </p:nvPr>
        </p:nvSpPr>
        <p:spPr>
          <a:xfrm>
            <a:off x="704862" y="765175"/>
            <a:ext cx="9129600" cy="5759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080808"/>
              </a:buClr>
              <a:buSzPts val="2800"/>
              <a:buFont typeface="Arial"/>
              <a:buNone/>
            </a:pPr>
            <a:r>
              <a:rPr b="0" i="0" lang="en-US" sz="2800" u="none">
                <a:solidFill>
                  <a:srgbClr val="080808"/>
                </a:solidFill>
                <a:highlight>
                  <a:srgbClr val="FFFF99"/>
                </a:highlight>
                <a:latin typeface="Arial"/>
                <a:ea typeface="Arial"/>
                <a:cs typeface="Arial"/>
                <a:sym typeface="Arial"/>
              </a:rPr>
              <a:t>void LNR(TREE Root)</a:t>
            </a:r>
            <a:endParaRPr>
              <a:highlight>
                <a:srgbClr val="FFFF99"/>
              </a:highlight>
            </a:endParaRPr>
          </a:p>
          <a:p>
            <a:pPr indent="-342900" lvl="0" marL="342900" rtl="0" algn="l">
              <a:lnSpc>
                <a:spcPct val="90000"/>
              </a:lnSpc>
              <a:spcBef>
                <a:spcPts val="560"/>
              </a:spcBef>
              <a:spcAft>
                <a:spcPts val="0"/>
              </a:spcAft>
              <a:buClr>
                <a:srgbClr val="080808"/>
              </a:buClr>
              <a:buSzPts val="2800"/>
              <a:buFont typeface="Arial"/>
              <a:buNone/>
            </a:pPr>
            <a:r>
              <a:rPr b="0" i="0" lang="en-US" sz="2800" u="none">
                <a:solidFill>
                  <a:srgbClr val="080808"/>
                </a:solidFill>
                <a:highlight>
                  <a:srgbClr val="FFFF99"/>
                </a:highlight>
                <a:latin typeface="Arial"/>
                <a:ea typeface="Arial"/>
                <a:cs typeface="Arial"/>
                <a:sym typeface="Arial"/>
              </a:rPr>
              <a:t>{</a:t>
            </a:r>
            <a:endParaRPr>
              <a:highlight>
                <a:srgbClr val="FFFF99"/>
              </a:highlight>
            </a:endParaRPr>
          </a:p>
          <a:p>
            <a:pPr indent="-342900" lvl="0" marL="342900" rtl="0" algn="l">
              <a:lnSpc>
                <a:spcPct val="90000"/>
              </a:lnSpc>
              <a:spcBef>
                <a:spcPts val="560"/>
              </a:spcBef>
              <a:spcAft>
                <a:spcPts val="0"/>
              </a:spcAft>
              <a:buClr>
                <a:srgbClr val="080808"/>
              </a:buClr>
              <a:buSzPts val="2800"/>
              <a:buFont typeface="Arial"/>
              <a:buNone/>
            </a:pPr>
            <a:r>
              <a:rPr b="0" i="0" lang="en-US" sz="2800" u="none">
                <a:solidFill>
                  <a:srgbClr val="080808"/>
                </a:solidFill>
                <a:highlight>
                  <a:srgbClr val="FFFF99"/>
                </a:highlight>
                <a:latin typeface="Arial"/>
                <a:ea typeface="Arial"/>
                <a:cs typeface="Arial"/>
                <a:sym typeface="Arial"/>
              </a:rPr>
              <a:t>	if (Root != NULL)</a:t>
            </a:r>
            <a:endParaRPr>
              <a:highlight>
                <a:srgbClr val="FFFF99"/>
              </a:highlight>
            </a:endParaRPr>
          </a:p>
          <a:p>
            <a:pPr indent="-342900" lvl="0" marL="342900" rtl="0" algn="l">
              <a:lnSpc>
                <a:spcPct val="90000"/>
              </a:lnSpc>
              <a:spcBef>
                <a:spcPts val="560"/>
              </a:spcBef>
              <a:spcAft>
                <a:spcPts val="0"/>
              </a:spcAft>
              <a:buClr>
                <a:srgbClr val="080808"/>
              </a:buClr>
              <a:buSzPts val="2800"/>
              <a:buFont typeface="Arial"/>
              <a:buNone/>
            </a:pPr>
            <a:r>
              <a:rPr b="0" i="0" lang="en-US" sz="2800" u="none">
                <a:solidFill>
                  <a:srgbClr val="080808"/>
                </a:solidFill>
                <a:highlight>
                  <a:srgbClr val="FFFF99"/>
                </a:highlight>
                <a:latin typeface="Arial"/>
                <a:ea typeface="Arial"/>
                <a:cs typeface="Arial"/>
                <a:sym typeface="Arial"/>
              </a:rPr>
              <a:t>	{</a:t>
            </a:r>
            <a:endParaRPr>
              <a:highlight>
                <a:srgbClr val="FFFF99"/>
              </a:highlight>
            </a:endParaRPr>
          </a:p>
          <a:p>
            <a:pPr indent="-342900" lvl="0" marL="342900" rtl="0" algn="l">
              <a:lnSpc>
                <a:spcPct val="90000"/>
              </a:lnSpc>
              <a:spcBef>
                <a:spcPts val="560"/>
              </a:spcBef>
              <a:spcAft>
                <a:spcPts val="0"/>
              </a:spcAft>
              <a:buClr>
                <a:srgbClr val="080808"/>
              </a:buClr>
              <a:buSzPts val="2800"/>
              <a:buFont typeface="Arial"/>
              <a:buNone/>
            </a:pPr>
            <a:r>
              <a:rPr b="0" i="0" lang="en-US" sz="2800" u="none">
                <a:solidFill>
                  <a:srgbClr val="080808"/>
                </a:solidFill>
                <a:highlight>
                  <a:srgbClr val="FFFF99"/>
                </a:highlight>
                <a:latin typeface="Arial"/>
                <a:ea typeface="Arial"/>
                <a:cs typeface="Arial"/>
                <a:sym typeface="Arial"/>
              </a:rPr>
              <a:t>		LNR(Root-&gt;pLeft);</a:t>
            </a:r>
            <a:endParaRPr>
              <a:highlight>
                <a:srgbClr val="FFFF99"/>
              </a:highlight>
            </a:endParaRPr>
          </a:p>
          <a:p>
            <a:pPr indent="-342900" lvl="0" marL="342900" rtl="0" algn="l">
              <a:lnSpc>
                <a:spcPct val="90000"/>
              </a:lnSpc>
              <a:spcBef>
                <a:spcPts val="560"/>
              </a:spcBef>
              <a:spcAft>
                <a:spcPts val="0"/>
              </a:spcAft>
              <a:buClr>
                <a:srgbClr val="080808"/>
              </a:buClr>
              <a:buSzPts val="2800"/>
              <a:buFont typeface="Arial"/>
              <a:buNone/>
            </a:pPr>
            <a:r>
              <a:rPr b="0" i="0" lang="en-US" sz="2800" u="none">
                <a:solidFill>
                  <a:srgbClr val="080808"/>
                </a:solidFill>
                <a:highlight>
                  <a:srgbClr val="FFFF99"/>
                </a:highlight>
                <a:latin typeface="Arial"/>
                <a:ea typeface="Arial"/>
                <a:cs typeface="Arial"/>
                <a:sym typeface="Arial"/>
              </a:rPr>
              <a:t>		&lt;X</a:t>
            </a:r>
            <a:r>
              <a:rPr b="0" i="0" lang="en-US" sz="2800" u="none">
                <a:solidFill>
                  <a:schemeClr val="dk1"/>
                </a:solidFill>
                <a:highlight>
                  <a:srgbClr val="FFFF99"/>
                </a:highlight>
                <a:latin typeface="Arial"/>
                <a:ea typeface="Arial"/>
                <a:cs typeface="Arial"/>
                <a:sym typeface="Arial"/>
              </a:rPr>
              <a:t>ử lý</a:t>
            </a:r>
            <a:r>
              <a:rPr b="0" i="0" lang="en-US" sz="2800" u="none">
                <a:solidFill>
                  <a:srgbClr val="080808"/>
                </a:solidFill>
                <a:highlight>
                  <a:srgbClr val="FFFF99"/>
                </a:highlight>
                <a:latin typeface="Arial"/>
                <a:ea typeface="Arial"/>
                <a:cs typeface="Arial"/>
                <a:sym typeface="Arial"/>
              </a:rPr>
              <a:t> Root&gt;; // </a:t>
            </a:r>
            <a:r>
              <a:rPr b="0" i="0" lang="en-US" sz="2400" u="none">
                <a:solidFill>
                  <a:srgbClr val="080808"/>
                </a:solidFill>
                <a:highlight>
                  <a:srgbClr val="FFFF99"/>
                </a:highlight>
                <a:latin typeface="Arial"/>
                <a:ea typeface="Arial"/>
                <a:cs typeface="Arial"/>
                <a:sym typeface="Arial"/>
              </a:rPr>
              <a:t>X</a:t>
            </a:r>
            <a:r>
              <a:rPr b="0" i="0" lang="en-US" sz="2800" u="none">
                <a:solidFill>
                  <a:schemeClr val="dk1"/>
                </a:solidFill>
                <a:highlight>
                  <a:srgbClr val="FFFF99"/>
                </a:highlight>
                <a:latin typeface="Arial"/>
                <a:ea typeface="Arial"/>
                <a:cs typeface="Arial"/>
                <a:sym typeface="Arial"/>
              </a:rPr>
              <a:t>ử lý tương ứng theo nhu 				cầu</a:t>
            </a:r>
            <a:r>
              <a:rPr b="0" i="0" lang="en-US" sz="2800" u="none">
                <a:solidFill>
                  <a:srgbClr val="080808"/>
                </a:solidFill>
                <a:highlight>
                  <a:srgbClr val="FFFF99"/>
                </a:highlight>
                <a:latin typeface="Arial"/>
                <a:ea typeface="Arial"/>
                <a:cs typeface="Arial"/>
                <a:sym typeface="Arial"/>
              </a:rPr>
              <a:t> </a:t>
            </a:r>
            <a:endParaRPr>
              <a:highlight>
                <a:srgbClr val="FFFF99"/>
              </a:highlight>
            </a:endParaRPr>
          </a:p>
          <a:p>
            <a:pPr indent="-342900" lvl="0" marL="342900" rtl="0" algn="l">
              <a:lnSpc>
                <a:spcPct val="90000"/>
              </a:lnSpc>
              <a:spcBef>
                <a:spcPts val="560"/>
              </a:spcBef>
              <a:spcAft>
                <a:spcPts val="0"/>
              </a:spcAft>
              <a:buClr>
                <a:srgbClr val="080808"/>
              </a:buClr>
              <a:buSzPts val="2800"/>
              <a:buFont typeface="Arial"/>
              <a:buNone/>
            </a:pPr>
            <a:r>
              <a:rPr b="0" i="0" lang="en-US" sz="2800" u="none">
                <a:solidFill>
                  <a:srgbClr val="080808"/>
                </a:solidFill>
                <a:highlight>
                  <a:srgbClr val="FFFF99"/>
                </a:highlight>
                <a:latin typeface="Arial"/>
                <a:ea typeface="Arial"/>
                <a:cs typeface="Arial"/>
                <a:sym typeface="Arial"/>
              </a:rPr>
              <a:t>		LNR(Root-&gt;pRight);</a:t>
            </a:r>
            <a:endParaRPr>
              <a:highlight>
                <a:srgbClr val="FFFF99"/>
              </a:highlight>
            </a:endParaRPr>
          </a:p>
          <a:p>
            <a:pPr indent="-342900" lvl="0" marL="342900" rtl="0" algn="l">
              <a:lnSpc>
                <a:spcPct val="90000"/>
              </a:lnSpc>
              <a:spcBef>
                <a:spcPts val="560"/>
              </a:spcBef>
              <a:spcAft>
                <a:spcPts val="0"/>
              </a:spcAft>
              <a:buClr>
                <a:srgbClr val="080808"/>
              </a:buClr>
              <a:buSzPts val="2800"/>
              <a:buFont typeface="Arial"/>
              <a:buNone/>
            </a:pPr>
            <a:r>
              <a:rPr b="0" i="0" lang="en-US" sz="2800" u="none">
                <a:solidFill>
                  <a:srgbClr val="080808"/>
                </a:solidFill>
                <a:highlight>
                  <a:srgbClr val="FFFF99"/>
                </a:highlight>
                <a:latin typeface="Arial"/>
                <a:ea typeface="Arial"/>
                <a:cs typeface="Arial"/>
                <a:sym typeface="Arial"/>
              </a:rPr>
              <a:t>	}</a:t>
            </a:r>
            <a:endParaRPr>
              <a:highlight>
                <a:srgbClr val="FFFF99"/>
              </a:highlight>
            </a:endParaRPr>
          </a:p>
          <a:p>
            <a:pPr indent="-342900" lvl="0" marL="342900" rtl="0" algn="l">
              <a:lnSpc>
                <a:spcPct val="90000"/>
              </a:lnSpc>
              <a:spcBef>
                <a:spcPts val="560"/>
              </a:spcBef>
              <a:spcAft>
                <a:spcPts val="0"/>
              </a:spcAft>
              <a:buClr>
                <a:srgbClr val="080808"/>
              </a:buClr>
              <a:buSzPts val="2800"/>
              <a:buFont typeface="Arial"/>
              <a:buNone/>
            </a:pPr>
            <a:r>
              <a:rPr b="0" i="0" lang="en-US" sz="2800" u="none">
                <a:solidFill>
                  <a:srgbClr val="080808"/>
                </a:solidFill>
                <a:highlight>
                  <a:srgbClr val="FFFF99"/>
                </a:highlight>
                <a:latin typeface="Arial"/>
                <a:ea typeface="Arial"/>
                <a:cs typeface="Arial"/>
                <a:sym typeface="Arial"/>
              </a:rPr>
              <a:t>}</a:t>
            </a:r>
            <a:endParaRPr>
              <a:highlight>
                <a:srgbClr val="FFFF99"/>
              </a:highlight>
            </a:endParaRPr>
          </a:p>
          <a:p>
            <a:pPr indent="-342900" lvl="0" marL="342900" rtl="0" algn="l">
              <a:lnSpc>
                <a:spcPct val="9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Kiểu duyệt này thăm các nút của cây con trái </a:t>
            </a:r>
            <a:r>
              <a:rPr lang="en-US" sz="2800"/>
              <a:t>trước </a:t>
            </a:r>
            <a:r>
              <a:rPr b="0" i="0" lang="en-US" sz="2800" u="none">
                <a:solidFill>
                  <a:schemeClr val="dk1"/>
                </a:solidFill>
                <a:latin typeface="Arial"/>
                <a:ea typeface="Arial"/>
                <a:cs typeface="Arial"/>
                <a:sym typeface="Arial"/>
              </a:rPr>
              <a:t> sau đó thăm nút gốc rồi đến cây con phải.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4"/>
          <p:cNvSpPr txBox="1"/>
          <p:nvPr>
            <p:ph type="title"/>
          </p:nvPr>
        </p:nvSpPr>
        <p:spPr>
          <a:xfrm>
            <a:off x="722300" y="-79375"/>
            <a:ext cx="92457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600"/>
              <a:buFont typeface="Arial"/>
              <a:buNone/>
            </a:pPr>
            <a:r>
              <a:rPr b="1" i="0" lang="en-US" sz="3600" u="none">
                <a:solidFill>
                  <a:srgbClr val="FF6600"/>
                </a:solidFill>
                <a:latin typeface="Arial"/>
                <a:ea typeface="Arial"/>
                <a:cs typeface="Arial"/>
                <a:sym typeface="Arial"/>
              </a:rPr>
              <a:t>Duyệt theo thứ tự giữa (Left- Node-Right)</a:t>
            </a:r>
            <a:endParaRPr/>
          </a:p>
        </p:txBody>
      </p:sp>
      <p:sp>
        <p:nvSpPr>
          <p:cNvPr id="264" name="Google Shape;264;p14"/>
          <p:cNvSpPr/>
          <p:nvPr/>
        </p:nvSpPr>
        <p:spPr>
          <a:xfrm>
            <a:off x="4705350" y="1143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A</a:t>
            </a:r>
            <a:endParaRPr/>
          </a:p>
        </p:txBody>
      </p:sp>
      <p:sp>
        <p:nvSpPr>
          <p:cNvPr id="265" name="Google Shape;265;p14"/>
          <p:cNvSpPr/>
          <p:nvPr/>
        </p:nvSpPr>
        <p:spPr>
          <a:xfrm>
            <a:off x="3054350" y="1828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B</a:t>
            </a:r>
            <a:endParaRPr/>
          </a:p>
        </p:txBody>
      </p:sp>
      <p:sp>
        <p:nvSpPr>
          <p:cNvPr id="266" name="Google Shape;266;p14"/>
          <p:cNvSpPr/>
          <p:nvPr/>
        </p:nvSpPr>
        <p:spPr>
          <a:xfrm>
            <a:off x="214630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D</a:t>
            </a:r>
            <a:endParaRPr/>
          </a:p>
        </p:txBody>
      </p:sp>
      <p:sp>
        <p:nvSpPr>
          <p:cNvPr id="267" name="Google Shape;267;p14"/>
          <p:cNvSpPr/>
          <p:nvPr/>
        </p:nvSpPr>
        <p:spPr>
          <a:xfrm>
            <a:off x="165100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H</a:t>
            </a:r>
            <a:endParaRPr/>
          </a:p>
        </p:txBody>
      </p:sp>
      <p:sp>
        <p:nvSpPr>
          <p:cNvPr id="268" name="Google Shape;268;p14"/>
          <p:cNvSpPr/>
          <p:nvPr/>
        </p:nvSpPr>
        <p:spPr>
          <a:xfrm>
            <a:off x="264160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I</a:t>
            </a:r>
            <a:endParaRPr/>
          </a:p>
        </p:txBody>
      </p:sp>
      <p:sp>
        <p:nvSpPr>
          <p:cNvPr id="269" name="Google Shape;269;p14"/>
          <p:cNvSpPr/>
          <p:nvPr/>
        </p:nvSpPr>
        <p:spPr>
          <a:xfrm>
            <a:off x="2393950" y="4191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N</a:t>
            </a:r>
            <a:endParaRPr/>
          </a:p>
        </p:txBody>
      </p:sp>
      <p:cxnSp>
        <p:nvCxnSpPr>
          <p:cNvPr id="270" name="Google Shape;270;p14"/>
          <p:cNvCxnSpPr/>
          <p:nvPr/>
        </p:nvCxnSpPr>
        <p:spPr>
          <a:xfrm flipH="1">
            <a:off x="198120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71" name="Google Shape;271;p14"/>
          <p:cNvCxnSpPr/>
          <p:nvPr/>
        </p:nvCxnSpPr>
        <p:spPr>
          <a:xfrm>
            <a:off x="247650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72" name="Google Shape;272;p14"/>
          <p:cNvCxnSpPr/>
          <p:nvPr/>
        </p:nvCxnSpPr>
        <p:spPr>
          <a:xfrm flipH="1">
            <a:off x="2641600" y="3886200"/>
            <a:ext cx="165100" cy="304800"/>
          </a:xfrm>
          <a:prstGeom prst="straightConnector1">
            <a:avLst/>
          </a:prstGeom>
          <a:noFill/>
          <a:ln cap="flat" cmpd="sng" w="28575">
            <a:solidFill>
              <a:schemeClr val="dk1"/>
            </a:solidFill>
            <a:prstDash val="solid"/>
            <a:miter lim="800000"/>
            <a:headEnd len="med" w="med" type="none"/>
            <a:tailEnd len="med" w="med" type="none"/>
          </a:ln>
        </p:spPr>
      </p:cxnSp>
      <p:cxnSp>
        <p:nvCxnSpPr>
          <p:cNvPr id="273" name="Google Shape;273;p14"/>
          <p:cNvCxnSpPr/>
          <p:nvPr/>
        </p:nvCxnSpPr>
        <p:spPr>
          <a:xfrm flipH="1">
            <a:off x="24765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sp>
        <p:nvSpPr>
          <p:cNvPr id="274" name="Google Shape;274;p14"/>
          <p:cNvSpPr/>
          <p:nvPr/>
        </p:nvSpPr>
        <p:spPr>
          <a:xfrm>
            <a:off x="387985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E</a:t>
            </a:r>
            <a:endParaRPr/>
          </a:p>
        </p:txBody>
      </p:sp>
      <p:sp>
        <p:nvSpPr>
          <p:cNvPr id="275" name="Google Shape;275;p14"/>
          <p:cNvSpPr/>
          <p:nvPr/>
        </p:nvSpPr>
        <p:spPr>
          <a:xfrm>
            <a:off x="338455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J</a:t>
            </a:r>
            <a:endParaRPr/>
          </a:p>
        </p:txBody>
      </p:sp>
      <p:sp>
        <p:nvSpPr>
          <p:cNvPr id="276" name="Google Shape;276;p14"/>
          <p:cNvSpPr/>
          <p:nvPr/>
        </p:nvSpPr>
        <p:spPr>
          <a:xfrm>
            <a:off x="437515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K</a:t>
            </a:r>
            <a:endParaRPr/>
          </a:p>
        </p:txBody>
      </p:sp>
      <p:sp>
        <p:nvSpPr>
          <p:cNvPr id="277" name="Google Shape;277;p14"/>
          <p:cNvSpPr/>
          <p:nvPr/>
        </p:nvSpPr>
        <p:spPr>
          <a:xfrm flipH="1">
            <a:off x="3714750" y="4191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O</a:t>
            </a:r>
            <a:endParaRPr/>
          </a:p>
        </p:txBody>
      </p:sp>
      <p:cxnSp>
        <p:nvCxnSpPr>
          <p:cNvPr id="278" name="Google Shape;278;p14"/>
          <p:cNvCxnSpPr/>
          <p:nvPr/>
        </p:nvCxnSpPr>
        <p:spPr>
          <a:xfrm flipH="1">
            <a:off x="371475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79" name="Google Shape;279;p14"/>
          <p:cNvCxnSpPr/>
          <p:nvPr/>
        </p:nvCxnSpPr>
        <p:spPr>
          <a:xfrm>
            <a:off x="421005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80" name="Google Shape;280;p14"/>
          <p:cNvCxnSpPr/>
          <p:nvPr/>
        </p:nvCxnSpPr>
        <p:spPr>
          <a:xfrm>
            <a:off x="3714750" y="3886200"/>
            <a:ext cx="165100" cy="304800"/>
          </a:xfrm>
          <a:prstGeom prst="straightConnector1">
            <a:avLst/>
          </a:prstGeom>
          <a:noFill/>
          <a:ln cap="flat" cmpd="sng" w="28575">
            <a:solidFill>
              <a:schemeClr val="dk1"/>
            </a:solidFill>
            <a:prstDash val="solid"/>
            <a:miter lim="800000"/>
            <a:headEnd len="med" w="med" type="none"/>
            <a:tailEnd len="med" w="med" type="none"/>
          </a:ln>
        </p:spPr>
      </p:cxnSp>
      <p:cxnSp>
        <p:nvCxnSpPr>
          <p:cNvPr id="281" name="Google Shape;281;p14"/>
          <p:cNvCxnSpPr/>
          <p:nvPr/>
        </p:nvCxnSpPr>
        <p:spPr>
          <a:xfrm>
            <a:off x="34671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82" name="Google Shape;282;p14"/>
          <p:cNvCxnSpPr/>
          <p:nvPr/>
        </p:nvCxnSpPr>
        <p:spPr>
          <a:xfrm flipH="1">
            <a:off x="3384550" y="1524000"/>
            <a:ext cx="1403350" cy="304800"/>
          </a:xfrm>
          <a:prstGeom prst="straightConnector1">
            <a:avLst/>
          </a:prstGeom>
          <a:noFill/>
          <a:ln cap="flat" cmpd="sng" w="28575">
            <a:solidFill>
              <a:schemeClr val="dk1"/>
            </a:solidFill>
            <a:prstDash val="solid"/>
            <a:miter lim="800000"/>
            <a:headEnd len="med" w="med" type="none"/>
            <a:tailEnd len="med" w="med" type="none"/>
          </a:ln>
        </p:spPr>
      </p:cxnSp>
      <p:sp>
        <p:nvSpPr>
          <p:cNvPr id="283" name="Google Shape;283;p14"/>
          <p:cNvSpPr/>
          <p:nvPr/>
        </p:nvSpPr>
        <p:spPr>
          <a:xfrm>
            <a:off x="6356350" y="1828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C</a:t>
            </a:r>
            <a:endParaRPr/>
          </a:p>
        </p:txBody>
      </p:sp>
      <p:sp>
        <p:nvSpPr>
          <p:cNvPr id="284" name="Google Shape;284;p14"/>
          <p:cNvSpPr/>
          <p:nvPr/>
        </p:nvSpPr>
        <p:spPr>
          <a:xfrm>
            <a:off x="544830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F</a:t>
            </a:r>
            <a:endParaRPr/>
          </a:p>
        </p:txBody>
      </p:sp>
      <p:sp>
        <p:nvSpPr>
          <p:cNvPr id="285" name="Google Shape;285;p14"/>
          <p:cNvSpPr/>
          <p:nvPr/>
        </p:nvSpPr>
        <p:spPr>
          <a:xfrm>
            <a:off x="594360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L</a:t>
            </a:r>
            <a:endParaRPr/>
          </a:p>
        </p:txBody>
      </p:sp>
      <p:sp>
        <p:nvSpPr>
          <p:cNvPr id="286" name="Google Shape;286;p14"/>
          <p:cNvSpPr/>
          <p:nvPr/>
        </p:nvSpPr>
        <p:spPr>
          <a:xfrm>
            <a:off x="5695950" y="4191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a:t>
            </a:r>
            <a:endParaRPr/>
          </a:p>
        </p:txBody>
      </p:sp>
      <p:cxnSp>
        <p:nvCxnSpPr>
          <p:cNvPr id="287" name="Google Shape;287;p14"/>
          <p:cNvCxnSpPr/>
          <p:nvPr/>
        </p:nvCxnSpPr>
        <p:spPr>
          <a:xfrm>
            <a:off x="577850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88" name="Google Shape;288;p14"/>
          <p:cNvCxnSpPr/>
          <p:nvPr/>
        </p:nvCxnSpPr>
        <p:spPr>
          <a:xfrm flipH="1">
            <a:off x="5943600" y="3886200"/>
            <a:ext cx="165100" cy="304800"/>
          </a:xfrm>
          <a:prstGeom prst="straightConnector1">
            <a:avLst/>
          </a:prstGeom>
          <a:noFill/>
          <a:ln cap="flat" cmpd="sng" w="28575">
            <a:solidFill>
              <a:schemeClr val="dk1"/>
            </a:solidFill>
            <a:prstDash val="solid"/>
            <a:miter lim="800000"/>
            <a:headEnd len="med" w="med" type="none"/>
            <a:tailEnd len="med" w="med" type="none"/>
          </a:ln>
        </p:spPr>
      </p:cxnSp>
      <p:cxnSp>
        <p:nvCxnSpPr>
          <p:cNvPr id="289" name="Google Shape;289;p14"/>
          <p:cNvCxnSpPr/>
          <p:nvPr/>
        </p:nvCxnSpPr>
        <p:spPr>
          <a:xfrm flipH="1">
            <a:off x="57785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sp>
        <p:nvSpPr>
          <p:cNvPr id="290" name="Google Shape;290;p14"/>
          <p:cNvSpPr/>
          <p:nvPr/>
        </p:nvSpPr>
        <p:spPr>
          <a:xfrm>
            <a:off x="718185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G</a:t>
            </a:r>
            <a:endParaRPr/>
          </a:p>
        </p:txBody>
      </p:sp>
      <p:sp>
        <p:nvSpPr>
          <p:cNvPr id="291" name="Google Shape;291;p14"/>
          <p:cNvSpPr/>
          <p:nvPr/>
        </p:nvSpPr>
        <p:spPr>
          <a:xfrm>
            <a:off x="668655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M</a:t>
            </a:r>
            <a:endParaRPr/>
          </a:p>
        </p:txBody>
      </p:sp>
      <p:cxnSp>
        <p:nvCxnSpPr>
          <p:cNvPr id="292" name="Google Shape;292;p14"/>
          <p:cNvCxnSpPr/>
          <p:nvPr/>
        </p:nvCxnSpPr>
        <p:spPr>
          <a:xfrm flipH="1">
            <a:off x="701675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93" name="Google Shape;293;p14"/>
          <p:cNvCxnSpPr/>
          <p:nvPr/>
        </p:nvCxnSpPr>
        <p:spPr>
          <a:xfrm>
            <a:off x="67691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294" name="Google Shape;294;p14"/>
          <p:cNvCxnSpPr/>
          <p:nvPr/>
        </p:nvCxnSpPr>
        <p:spPr>
          <a:xfrm>
            <a:off x="5118100" y="1524000"/>
            <a:ext cx="1403350" cy="304800"/>
          </a:xfrm>
          <a:prstGeom prst="straightConnector1">
            <a:avLst/>
          </a:prstGeom>
          <a:noFill/>
          <a:ln cap="flat" cmpd="sng" w="28575">
            <a:solidFill>
              <a:schemeClr val="dk1"/>
            </a:solidFill>
            <a:prstDash val="solid"/>
            <a:miter lim="800000"/>
            <a:headEnd len="med" w="med" type="none"/>
            <a:tailEnd len="med" w="med" type="none"/>
          </a:ln>
        </p:spPr>
      </p:cxnSp>
      <p:sp>
        <p:nvSpPr>
          <p:cNvPr id="295" name="Google Shape;295;p14"/>
          <p:cNvSpPr txBox="1"/>
          <p:nvPr/>
        </p:nvSpPr>
        <p:spPr>
          <a:xfrm>
            <a:off x="2268537"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H</a:t>
            </a:r>
            <a:endParaRPr/>
          </a:p>
        </p:txBody>
      </p:sp>
      <p:sp>
        <p:nvSpPr>
          <p:cNvPr id="296" name="Google Shape;296;p14"/>
          <p:cNvSpPr txBox="1"/>
          <p:nvPr/>
        </p:nvSpPr>
        <p:spPr>
          <a:xfrm>
            <a:off x="908050" y="5754687"/>
            <a:ext cx="14287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Kết quả:</a:t>
            </a:r>
            <a:endParaRPr/>
          </a:p>
        </p:txBody>
      </p:sp>
      <p:sp>
        <p:nvSpPr>
          <p:cNvPr id="297" name="Google Shape;297;p14"/>
          <p:cNvSpPr/>
          <p:nvPr/>
        </p:nvSpPr>
        <p:spPr>
          <a:xfrm>
            <a:off x="1073150" y="1295400"/>
            <a:ext cx="4210050" cy="4191000"/>
          </a:xfrm>
          <a:prstGeom prst="ellipse">
            <a:avLst/>
          </a:prstGeom>
          <a:noFill/>
          <a:ln cap="flat" cmpd="sng" w="28575">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8" name="Google Shape;298;p14"/>
          <p:cNvSpPr txBox="1"/>
          <p:nvPr/>
        </p:nvSpPr>
        <p:spPr>
          <a:xfrm>
            <a:off x="2652712"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D</a:t>
            </a:r>
            <a:endParaRPr/>
          </a:p>
        </p:txBody>
      </p:sp>
      <p:sp>
        <p:nvSpPr>
          <p:cNvPr id="299" name="Google Shape;299;p14"/>
          <p:cNvSpPr/>
          <p:nvPr/>
        </p:nvSpPr>
        <p:spPr>
          <a:xfrm>
            <a:off x="1320800" y="2353500"/>
            <a:ext cx="206370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0" name="Google Shape;300;p14"/>
          <p:cNvSpPr txBox="1"/>
          <p:nvPr/>
        </p:nvSpPr>
        <p:spPr>
          <a:xfrm>
            <a:off x="3065462"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N</a:t>
            </a:r>
            <a:endParaRPr/>
          </a:p>
        </p:txBody>
      </p:sp>
      <p:sp>
        <p:nvSpPr>
          <p:cNvPr id="301" name="Google Shape;301;p14"/>
          <p:cNvSpPr/>
          <p:nvPr/>
        </p:nvSpPr>
        <p:spPr>
          <a:xfrm>
            <a:off x="1403350" y="3276600"/>
            <a:ext cx="1073150" cy="7620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2" name="Google Shape;302;p14"/>
          <p:cNvSpPr txBox="1"/>
          <p:nvPr/>
        </p:nvSpPr>
        <p:spPr>
          <a:xfrm>
            <a:off x="3557587" y="5754687"/>
            <a:ext cx="292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I</a:t>
            </a:r>
            <a:endParaRPr/>
          </a:p>
        </p:txBody>
      </p:sp>
      <p:sp>
        <p:nvSpPr>
          <p:cNvPr id="303" name="Google Shape;303;p14"/>
          <p:cNvSpPr/>
          <p:nvPr/>
        </p:nvSpPr>
        <p:spPr>
          <a:xfrm>
            <a:off x="1981200" y="3200400"/>
            <a:ext cx="1320800" cy="16764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4" name="Google Shape;304;p14"/>
          <p:cNvSpPr txBox="1"/>
          <p:nvPr/>
        </p:nvSpPr>
        <p:spPr>
          <a:xfrm>
            <a:off x="3900487" y="5754687"/>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B</a:t>
            </a:r>
            <a:endParaRPr/>
          </a:p>
        </p:txBody>
      </p:sp>
      <p:sp>
        <p:nvSpPr>
          <p:cNvPr id="305" name="Google Shape;305;p14"/>
          <p:cNvSpPr/>
          <p:nvPr/>
        </p:nvSpPr>
        <p:spPr>
          <a:xfrm>
            <a:off x="2228850" y="4038600"/>
            <a:ext cx="825500" cy="762000"/>
          </a:xfrm>
          <a:prstGeom prst="ellipse">
            <a:avLst/>
          </a:prstGeom>
          <a:noFill/>
          <a:ln cap="flat" cmpd="sng" w="28575">
            <a:solidFill>
              <a:srgbClr val="66FF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6" name="Google Shape;306;p14"/>
          <p:cNvSpPr txBox="1"/>
          <p:nvPr/>
        </p:nvSpPr>
        <p:spPr>
          <a:xfrm>
            <a:off x="4359275" y="5754687"/>
            <a:ext cx="3651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J</a:t>
            </a:r>
            <a:endParaRPr/>
          </a:p>
        </p:txBody>
      </p:sp>
      <p:sp>
        <p:nvSpPr>
          <p:cNvPr id="307" name="Google Shape;307;p14"/>
          <p:cNvSpPr/>
          <p:nvPr/>
        </p:nvSpPr>
        <p:spPr>
          <a:xfrm>
            <a:off x="3136900" y="2286000"/>
            <a:ext cx="20637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8" name="Google Shape;308;p14"/>
          <p:cNvSpPr txBox="1"/>
          <p:nvPr/>
        </p:nvSpPr>
        <p:spPr>
          <a:xfrm>
            <a:off x="4713287" y="5754687"/>
            <a:ext cx="4572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O</a:t>
            </a:r>
            <a:endParaRPr/>
          </a:p>
        </p:txBody>
      </p:sp>
      <p:sp>
        <p:nvSpPr>
          <p:cNvPr id="309" name="Google Shape;309;p14"/>
          <p:cNvSpPr/>
          <p:nvPr/>
        </p:nvSpPr>
        <p:spPr>
          <a:xfrm>
            <a:off x="3219450" y="3200400"/>
            <a:ext cx="1320800" cy="16764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0" name="Google Shape;310;p14"/>
          <p:cNvSpPr txBox="1"/>
          <p:nvPr/>
        </p:nvSpPr>
        <p:spPr>
          <a:xfrm>
            <a:off x="5135562" y="5754687"/>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E</a:t>
            </a:r>
            <a:endParaRPr/>
          </a:p>
        </p:txBody>
      </p:sp>
      <p:sp>
        <p:nvSpPr>
          <p:cNvPr id="311" name="Google Shape;311;p14"/>
          <p:cNvSpPr/>
          <p:nvPr/>
        </p:nvSpPr>
        <p:spPr>
          <a:xfrm>
            <a:off x="3549650" y="4114800"/>
            <a:ext cx="825600" cy="762000"/>
          </a:xfrm>
          <a:prstGeom prst="ellipse">
            <a:avLst/>
          </a:prstGeom>
          <a:noFill/>
          <a:ln cap="flat" cmpd="sng" w="28575">
            <a:solidFill>
              <a:srgbClr val="66FF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2" name="Google Shape;312;p14"/>
          <p:cNvSpPr txBox="1"/>
          <p:nvPr/>
        </p:nvSpPr>
        <p:spPr>
          <a:xfrm>
            <a:off x="5526087" y="5754687"/>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K</a:t>
            </a:r>
            <a:endParaRPr/>
          </a:p>
        </p:txBody>
      </p:sp>
      <p:sp>
        <p:nvSpPr>
          <p:cNvPr id="313" name="Google Shape;313;p14"/>
          <p:cNvSpPr/>
          <p:nvPr/>
        </p:nvSpPr>
        <p:spPr>
          <a:xfrm>
            <a:off x="4210050" y="3200400"/>
            <a:ext cx="908050" cy="8382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4" name="Google Shape;314;p14"/>
          <p:cNvSpPr txBox="1"/>
          <p:nvPr/>
        </p:nvSpPr>
        <p:spPr>
          <a:xfrm>
            <a:off x="5976937" y="5754687"/>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A</a:t>
            </a:r>
            <a:endParaRPr/>
          </a:p>
        </p:txBody>
      </p:sp>
      <p:sp>
        <p:nvSpPr>
          <p:cNvPr id="315" name="Google Shape;315;p14"/>
          <p:cNvSpPr/>
          <p:nvPr/>
        </p:nvSpPr>
        <p:spPr>
          <a:xfrm>
            <a:off x="4953000" y="1295400"/>
            <a:ext cx="4210050" cy="4191000"/>
          </a:xfrm>
          <a:prstGeom prst="ellipse">
            <a:avLst/>
          </a:prstGeom>
          <a:noFill/>
          <a:ln cap="flat" cmpd="sng" w="28575">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6" name="Google Shape;316;p14"/>
          <p:cNvSpPr txBox="1"/>
          <p:nvPr/>
        </p:nvSpPr>
        <p:spPr>
          <a:xfrm>
            <a:off x="6384925" y="5754687"/>
            <a:ext cx="40163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F</a:t>
            </a:r>
            <a:endParaRPr/>
          </a:p>
        </p:txBody>
      </p:sp>
      <p:sp>
        <p:nvSpPr>
          <p:cNvPr id="317" name="Google Shape;317;p14"/>
          <p:cNvSpPr/>
          <p:nvPr/>
        </p:nvSpPr>
        <p:spPr>
          <a:xfrm>
            <a:off x="5200650" y="2286000"/>
            <a:ext cx="15684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8" name="Google Shape;318;p14"/>
          <p:cNvSpPr txBox="1"/>
          <p:nvPr/>
        </p:nvSpPr>
        <p:spPr>
          <a:xfrm>
            <a:off x="6796087" y="5754687"/>
            <a:ext cx="42068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P</a:t>
            </a:r>
            <a:endParaRPr/>
          </a:p>
        </p:txBody>
      </p:sp>
      <p:sp>
        <p:nvSpPr>
          <p:cNvPr id="319" name="Google Shape;319;p14"/>
          <p:cNvSpPr/>
          <p:nvPr/>
        </p:nvSpPr>
        <p:spPr>
          <a:xfrm>
            <a:off x="5365750" y="3200400"/>
            <a:ext cx="1320800" cy="16764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0" name="Google Shape;320;p14"/>
          <p:cNvSpPr txBox="1"/>
          <p:nvPr/>
        </p:nvSpPr>
        <p:spPr>
          <a:xfrm>
            <a:off x="7291387" y="5754687"/>
            <a:ext cx="3841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L</a:t>
            </a:r>
            <a:endParaRPr/>
          </a:p>
        </p:txBody>
      </p:sp>
      <p:sp>
        <p:nvSpPr>
          <p:cNvPr id="321" name="Google Shape;321;p14"/>
          <p:cNvSpPr/>
          <p:nvPr/>
        </p:nvSpPr>
        <p:spPr>
          <a:xfrm>
            <a:off x="5530850" y="4038600"/>
            <a:ext cx="825500" cy="762000"/>
          </a:xfrm>
          <a:prstGeom prst="ellipse">
            <a:avLst/>
          </a:prstGeom>
          <a:noFill/>
          <a:ln cap="flat" cmpd="sng" w="28575">
            <a:solidFill>
              <a:srgbClr val="66FF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2" name="Google Shape;322;p14"/>
          <p:cNvSpPr txBox="1"/>
          <p:nvPr/>
        </p:nvSpPr>
        <p:spPr>
          <a:xfrm>
            <a:off x="7672387"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C</a:t>
            </a:r>
            <a:endParaRPr/>
          </a:p>
        </p:txBody>
      </p:sp>
      <p:sp>
        <p:nvSpPr>
          <p:cNvPr id="323" name="Google Shape;323;p14"/>
          <p:cNvSpPr/>
          <p:nvPr/>
        </p:nvSpPr>
        <p:spPr>
          <a:xfrm>
            <a:off x="6604000" y="2286000"/>
            <a:ext cx="15684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4" name="Google Shape;324;p14"/>
          <p:cNvSpPr txBox="1"/>
          <p:nvPr/>
        </p:nvSpPr>
        <p:spPr>
          <a:xfrm>
            <a:off x="8083550" y="5754687"/>
            <a:ext cx="47466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M</a:t>
            </a:r>
            <a:endParaRPr/>
          </a:p>
        </p:txBody>
      </p:sp>
      <p:sp>
        <p:nvSpPr>
          <p:cNvPr id="325" name="Google Shape;325;p14"/>
          <p:cNvSpPr/>
          <p:nvPr/>
        </p:nvSpPr>
        <p:spPr>
          <a:xfrm>
            <a:off x="6604000" y="3200400"/>
            <a:ext cx="908050" cy="8382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6" name="Google Shape;326;p14"/>
          <p:cNvSpPr txBox="1"/>
          <p:nvPr/>
        </p:nvSpPr>
        <p:spPr>
          <a:xfrm>
            <a:off x="8518525" y="5743575"/>
            <a:ext cx="45561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01"/>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05"/>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99"/>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1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09"/>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1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97"/>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21"/>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17"/>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25"/>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3b129c0046_0_0"/>
          <p:cNvSpPr txBox="1"/>
          <p:nvPr>
            <p:ph type="title"/>
          </p:nvPr>
        </p:nvSpPr>
        <p:spPr>
          <a:xfrm>
            <a:off x="0" y="0"/>
            <a:ext cx="9906000" cy="7653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Duyệt Sau</a:t>
            </a:r>
            <a:endParaRPr/>
          </a:p>
        </p:txBody>
      </p:sp>
      <p:sp>
        <p:nvSpPr>
          <p:cNvPr id="338" name="Google Shape;338;p15"/>
          <p:cNvSpPr txBox="1"/>
          <p:nvPr>
            <p:ph idx="1" type="body"/>
          </p:nvPr>
        </p:nvSpPr>
        <p:spPr>
          <a:xfrm>
            <a:off x="704850" y="900112"/>
            <a:ext cx="9201150" cy="562451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080808"/>
              </a:buClr>
              <a:buSzPts val="2800"/>
              <a:buFont typeface="Courier New"/>
              <a:buNone/>
            </a:pPr>
            <a:r>
              <a:rPr b="1" i="0" lang="en-US" sz="2800" u="none">
                <a:solidFill>
                  <a:srgbClr val="080808"/>
                </a:solidFill>
                <a:latin typeface="Courier New"/>
                <a:ea typeface="Courier New"/>
                <a:cs typeface="Courier New"/>
                <a:sym typeface="Courier New"/>
              </a:rPr>
              <a:t>void	LRN(TREE Root)</a:t>
            </a:r>
            <a:endParaRPr/>
          </a:p>
          <a:p>
            <a:pPr indent="-342900" lvl="0" marL="342900" rtl="0" algn="l">
              <a:lnSpc>
                <a:spcPct val="90000"/>
              </a:lnSpc>
              <a:spcBef>
                <a:spcPts val="560"/>
              </a:spcBef>
              <a:spcAft>
                <a:spcPts val="0"/>
              </a:spcAft>
              <a:buClr>
                <a:srgbClr val="080808"/>
              </a:buClr>
              <a:buSzPts val="2800"/>
              <a:buFont typeface="Courier New"/>
              <a:buNone/>
            </a:pPr>
            <a:r>
              <a:rPr b="1" i="0" lang="en-US" sz="2800" u="none">
                <a:solidFill>
                  <a:srgbClr val="080808"/>
                </a:solidFill>
                <a:latin typeface="Courier New"/>
                <a:ea typeface="Courier New"/>
                <a:cs typeface="Courier New"/>
                <a:sym typeface="Courier New"/>
              </a:rPr>
              <a:t>{</a:t>
            </a:r>
            <a:endParaRPr/>
          </a:p>
          <a:p>
            <a:pPr indent="-342900" lvl="0" marL="342900" rtl="0" algn="l">
              <a:lnSpc>
                <a:spcPct val="90000"/>
              </a:lnSpc>
              <a:spcBef>
                <a:spcPts val="560"/>
              </a:spcBef>
              <a:spcAft>
                <a:spcPts val="0"/>
              </a:spcAft>
              <a:buClr>
                <a:srgbClr val="080808"/>
              </a:buClr>
              <a:buSzPts val="2800"/>
              <a:buFont typeface="Courier New"/>
              <a:buNone/>
            </a:pPr>
            <a:r>
              <a:rPr b="1" i="0" lang="en-US" sz="2800" u="none">
                <a:solidFill>
                  <a:srgbClr val="080808"/>
                </a:solidFill>
                <a:latin typeface="Courier New"/>
                <a:ea typeface="Courier New"/>
                <a:cs typeface="Courier New"/>
                <a:sym typeface="Courier New"/>
              </a:rPr>
              <a:t>	if (Root != NULL)</a:t>
            </a:r>
            <a:endParaRPr/>
          </a:p>
          <a:p>
            <a:pPr indent="-342900" lvl="0" marL="342900" rtl="0" algn="l">
              <a:lnSpc>
                <a:spcPct val="90000"/>
              </a:lnSpc>
              <a:spcBef>
                <a:spcPts val="560"/>
              </a:spcBef>
              <a:spcAft>
                <a:spcPts val="0"/>
              </a:spcAft>
              <a:buClr>
                <a:srgbClr val="080808"/>
              </a:buClr>
              <a:buSzPts val="2800"/>
              <a:buFont typeface="Courier New"/>
              <a:buNone/>
            </a:pPr>
            <a:r>
              <a:rPr b="1" i="0" lang="en-US" sz="2800" u="none">
                <a:solidFill>
                  <a:srgbClr val="080808"/>
                </a:solidFill>
                <a:latin typeface="Courier New"/>
                <a:ea typeface="Courier New"/>
                <a:cs typeface="Courier New"/>
                <a:sym typeface="Courier New"/>
              </a:rPr>
              <a:t>	{</a:t>
            </a:r>
            <a:endParaRPr/>
          </a:p>
          <a:p>
            <a:pPr indent="-342900" lvl="0" marL="342900" rtl="0" algn="l">
              <a:lnSpc>
                <a:spcPct val="90000"/>
              </a:lnSpc>
              <a:spcBef>
                <a:spcPts val="560"/>
              </a:spcBef>
              <a:spcAft>
                <a:spcPts val="0"/>
              </a:spcAft>
              <a:buClr>
                <a:srgbClr val="080808"/>
              </a:buClr>
              <a:buSzPts val="2800"/>
              <a:buFont typeface="Times New Roman"/>
              <a:buNone/>
            </a:pPr>
            <a:r>
              <a:rPr b="1" i="0" lang="en-US" sz="2800" u="none">
                <a:solidFill>
                  <a:srgbClr val="080808"/>
                </a:solidFill>
                <a:latin typeface="Times New Roman"/>
                <a:ea typeface="Times New Roman"/>
                <a:cs typeface="Times New Roman"/>
                <a:sym typeface="Times New Roman"/>
              </a:rPr>
              <a:t>	</a:t>
            </a:r>
            <a:r>
              <a:rPr b="1" i="0" lang="en-US" sz="2800" u="none">
                <a:solidFill>
                  <a:srgbClr val="080808"/>
                </a:solidFill>
                <a:latin typeface="Courier New"/>
                <a:ea typeface="Courier New"/>
                <a:cs typeface="Courier New"/>
                <a:sym typeface="Courier New"/>
              </a:rPr>
              <a:t>	LRN(Root-&gt;pLeft);</a:t>
            </a:r>
            <a:endParaRPr/>
          </a:p>
          <a:p>
            <a:pPr indent="-342900" lvl="0" marL="342900" rtl="0" algn="l">
              <a:lnSpc>
                <a:spcPct val="90000"/>
              </a:lnSpc>
              <a:spcBef>
                <a:spcPts val="560"/>
              </a:spcBef>
              <a:spcAft>
                <a:spcPts val="0"/>
              </a:spcAft>
              <a:buClr>
                <a:srgbClr val="080808"/>
              </a:buClr>
              <a:buSzPts val="2800"/>
              <a:buFont typeface="Courier New"/>
              <a:buNone/>
            </a:pPr>
            <a:r>
              <a:rPr b="1" i="0" lang="en-US" sz="2800" u="none">
                <a:solidFill>
                  <a:srgbClr val="080808"/>
                </a:solidFill>
                <a:latin typeface="Courier New"/>
                <a:ea typeface="Courier New"/>
                <a:cs typeface="Courier New"/>
                <a:sym typeface="Courier New"/>
              </a:rPr>
              <a:t>		LRN(Root-&gt;pRight);</a:t>
            </a:r>
            <a:endParaRPr/>
          </a:p>
          <a:p>
            <a:pPr indent="-342900" lvl="0" marL="342900" rtl="0" algn="l">
              <a:lnSpc>
                <a:spcPct val="90000"/>
              </a:lnSpc>
              <a:spcBef>
                <a:spcPts val="560"/>
              </a:spcBef>
              <a:spcAft>
                <a:spcPts val="0"/>
              </a:spcAft>
              <a:buClr>
                <a:srgbClr val="080808"/>
              </a:buClr>
              <a:buSzPts val="2800"/>
              <a:buFont typeface="Times New Roman"/>
              <a:buNone/>
            </a:pPr>
            <a:r>
              <a:rPr b="1" i="0" lang="en-US" sz="2800" u="none">
                <a:solidFill>
                  <a:srgbClr val="080808"/>
                </a:solidFill>
                <a:latin typeface="Times New Roman"/>
                <a:ea typeface="Times New Roman"/>
                <a:cs typeface="Times New Roman"/>
                <a:sym typeface="Times New Roman"/>
              </a:rPr>
              <a:t>		</a:t>
            </a:r>
            <a:r>
              <a:rPr b="0" i="0" lang="en-US" sz="2800" u="none">
                <a:solidFill>
                  <a:srgbClr val="080808"/>
                </a:solidFill>
                <a:latin typeface="Arial"/>
                <a:ea typeface="Arial"/>
                <a:cs typeface="Arial"/>
                <a:sym typeface="Arial"/>
              </a:rPr>
              <a:t>&lt;X</a:t>
            </a:r>
            <a:r>
              <a:rPr b="0" i="0" lang="en-US" sz="2800" u="none">
                <a:solidFill>
                  <a:schemeClr val="dk1"/>
                </a:solidFill>
                <a:latin typeface="Arial"/>
                <a:ea typeface="Arial"/>
                <a:cs typeface="Arial"/>
                <a:sym typeface="Arial"/>
              </a:rPr>
              <a:t>ử lý</a:t>
            </a:r>
            <a:r>
              <a:rPr b="0" i="0" lang="en-US" sz="2800" u="none">
                <a:solidFill>
                  <a:srgbClr val="080808"/>
                </a:solidFill>
                <a:latin typeface="Arial"/>
                <a:ea typeface="Arial"/>
                <a:cs typeface="Arial"/>
                <a:sym typeface="Arial"/>
              </a:rPr>
              <a:t> Root&gt;; // </a:t>
            </a:r>
            <a:r>
              <a:rPr b="0" i="0" lang="en-US" sz="2400" u="none">
                <a:solidFill>
                  <a:srgbClr val="080808"/>
                </a:solidFill>
                <a:latin typeface="Arial"/>
                <a:ea typeface="Arial"/>
                <a:cs typeface="Arial"/>
                <a:sym typeface="Arial"/>
              </a:rPr>
              <a:t>X</a:t>
            </a:r>
            <a:r>
              <a:rPr b="0" i="0" lang="en-US" sz="2800" u="none">
                <a:solidFill>
                  <a:schemeClr val="dk1"/>
                </a:solidFill>
                <a:latin typeface="Arial"/>
                <a:ea typeface="Arial"/>
                <a:cs typeface="Arial"/>
                <a:sym typeface="Arial"/>
              </a:rPr>
              <a:t>ử lý tương ứng theo nhu cầu</a:t>
            </a:r>
            <a:r>
              <a:rPr b="0" i="0" lang="en-US" sz="2800" u="none">
                <a:solidFill>
                  <a:srgbClr val="080808"/>
                </a:solidFill>
                <a:latin typeface="Arial"/>
                <a:ea typeface="Arial"/>
                <a:cs typeface="Arial"/>
                <a:sym typeface="Arial"/>
              </a:rPr>
              <a:t> </a:t>
            </a:r>
            <a:endParaRPr/>
          </a:p>
          <a:p>
            <a:pPr indent="-342900" lvl="0" marL="342900" rtl="0" algn="l">
              <a:lnSpc>
                <a:spcPct val="90000"/>
              </a:lnSpc>
              <a:spcBef>
                <a:spcPts val="56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	</a:t>
            </a:r>
            <a:r>
              <a:rPr b="1" i="0" lang="en-US" sz="2800" u="none">
                <a:solidFill>
                  <a:srgbClr val="080808"/>
                </a:solidFill>
                <a:latin typeface="Courier New"/>
                <a:ea typeface="Courier New"/>
                <a:cs typeface="Courier New"/>
                <a:sym typeface="Courier New"/>
              </a:rPr>
              <a:t>}</a:t>
            </a:r>
            <a:endParaRPr/>
          </a:p>
          <a:p>
            <a:pPr indent="-342900" lvl="0" marL="342900" rtl="0" algn="l">
              <a:lnSpc>
                <a:spcPct val="90000"/>
              </a:lnSpc>
              <a:spcBef>
                <a:spcPts val="560"/>
              </a:spcBef>
              <a:spcAft>
                <a:spcPts val="0"/>
              </a:spcAft>
              <a:buClr>
                <a:srgbClr val="080808"/>
              </a:buClr>
              <a:buSzPts val="2800"/>
              <a:buFont typeface="Courier New"/>
              <a:buNone/>
            </a:pPr>
            <a:r>
              <a:rPr b="1" i="0" lang="en-US" sz="2800" u="none">
                <a:solidFill>
                  <a:srgbClr val="080808"/>
                </a:solidFill>
                <a:latin typeface="Courier New"/>
                <a:ea typeface="Courier New"/>
                <a:cs typeface="Courier New"/>
                <a:sym typeface="Courier New"/>
              </a:rPr>
              <a:t>}</a:t>
            </a:r>
            <a:endParaRPr/>
          </a:p>
          <a:p>
            <a:pPr indent="-342900" lvl="0" marL="342900" rtl="0" algn="l">
              <a:lnSpc>
                <a:spcPct val="90000"/>
              </a:lnSpc>
              <a:spcBef>
                <a:spcPts val="560"/>
              </a:spcBef>
              <a:spcAft>
                <a:spcPts val="0"/>
              </a:spcAft>
              <a:buClr>
                <a:srgbClr val="080808"/>
              </a:buClr>
              <a:buSzPts val="2800"/>
              <a:buFont typeface="Courier New"/>
              <a:buNone/>
            </a:pPr>
            <a:r>
              <a:rPr b="1" i="0" lang="en-US" sz="2800" u="none">
                <a:solidFill>
                  <a:srgbClr val="080808"/>
                </a:solidFill>
                <a:latin typeface="Courier New"/>
                <a:ea typeface="Courier New"/>
                <a:cs typeface="Courier New"/>
                <a:sym typeface="Courier New"/>
              </a:rPr>
              <a:t>Kiểu duyệt này trước tiên thăm các nút của cây con trái sau đó thăm đến cây con phải rồi cuối cùng mới thăm nút gốc.</a:t>
            </a:r>
            <a:r>
              <a:rPr b="1" i="0" lang="en-US" sz="2400" u="none">
                <a:solidFill>
                  <a:srgbClr val="080808"/>
                </a:solidFill>
                <a:latin typeface="Courier New"/>
                <a:ea typeface="Courier New"/>
                <a:cs typeface="Courier New"/>
                <a:sym typeface="Courier New"/>
              </a:rPr>
              <a:t> </a:t>
            </a:r>
            <a:endParaRPr/>
          </a:p>
          <a:p>
            <a:pPr indent="-190500" lvl="0" marL="342900" rtl="0" algn="l">
              <a:spcBef>
                <a:spcPts val="480"/>
              </a:spcBef>
              <a:spcAft>
                <a:spcPts val="0"/>
              </a:spcAft>
              <a:buClr>
                <a:schemeClr val="dk1"/>
              </a:buClr>
              <a:buSzPts val="2400"/>
              <a:buFont typeface="Arial"/>
              <a:buNone/>
            </a:pPr>
            <a:r>
              <a:t/>
            </a:r>
            <a:endParaRPr b="1" i="0" sz="2400" u="none">
              <a:solidFill>
                <a:srgbClr val="080808"/>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0" st="0"/>
                                            </p:txEl>
                                          </p:spTgt>
                                        </p:tgtEl>
                                        <p:attrNameLst>
                                          <p:attrName>style.visibility</p:attrName>
                                        </p:attrNameLst>
                                      </p:cBhvr>
                                      <p:to>
                                        <p:strVal val="visible"/>
                                      </p:to>
                                    </p:set>
                                    <p:animEffect filter="fade" transition="in">
                                      <p:cBhvr>
                                        <p:cTn dur="500"/>
                                        <p:tgtEl>
                                          <p:spTgt spid="3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1" st="1"/>
                                            </p:txEl>
                                          </p:spTgt>
                                        </p:tgtEl>
                                        <p:attrNameLst>
                                          <p:attrName>style.visibility</p:attrName>
                                        </p:attrNameLst>
                                      </p:cBhvr>
                                      <p:to>
                                        <p:strVal val="visible"/>
                                      </p:to>
                                    </p:set>
                                    <p:animEffect filter="fade" transition="in">
                                      <p:cBhvr>
                                        <p:cTn dur="500"/>
                                        <p:tgtEl>
                                          <p:spTgt spid="3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2" st="2"/>
                                            </p:txEl>
                                          </p:spTgt>
                                        </p:tgtEl>
                                        <p:attrNameLst>
                                          <p:attrName>style.visibility</p:attrName>
                                        </p:attrNameLst>
                                      </p:cBhvr>
                                      <p:to>
                                        <p:strVal val="visible"/>
                                      </p:to>
                                    </p:set>
                                    <p:animEffect filter="fade" transition="in">
                                      <p:cBhvr>
                                        <p:cTn dur="500"/>
                                        <p:tgtEl>
                                          <p:spTgt spid="3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3" st="3"/>
                                            </p:txEl>
                                          </p:spTgt>
                                        </p:tgtEl>
                                        <p:attrNameLst>
                                          <p:attrName>style.visibility</p:attrName>
                                        </p:attrNameLst>
                                      </p:cBhvr>
                                      <p:to>
                                        <p:strVal val="visible"/>
                                      </p:to>
                                    </p:set>
                                    <p:animEffect filter="fade" transition="in">
                                      <p:cBhvr>
                                        <p:cTn dur="500"/>
                                        <p:tgtEl>
                                          <p:spTgt spid="3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4" st="4"/>
                                            </p:txEl>
                                          </p:spTgt>
                                        </p:tgtEl>
                                        <p:attrNameLst>
                                          <p:attrName>style.visibility</p:attrName>
                                        </p:attrNameLst>
                                      </p:cBhvr>
                                      <p:to>
                                        <p:strVal val="visible"/>
                                      </p:to>
                                    </p:set>
                                    <p:animEffect filter="fade" transition="in">
                                      <p:cBhvr>
                                        <p:cTn dur="500"/>
                                        <p:tgtEl>
                                          <p:spTgt spid="3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5" st="5"/>
                                            </p:txEl>
                                          </p:spTgt>
                                        </p:tgtEl>
                                        <p:attrNameLst>
                                          <p:attrName>style.visibility</p:attrName>
                                        </p:attrNameLst>
                                      </p:cBhvr>
                                      <p:to>
                                        <p:strVal val="visible"/>
                                      </p:to>
                                    </p:set>
                                    <p:animEffect filter="fade" transition="in">
                                      <p:cBhvr>
                                        <p:cTn dur="500"/>
                                        <p:tgtEl>
                                          <p:spTgt spid="3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6" st="6"/>
                                            </p:txEl>
                                          </p:spTgt>
                                        </p:tgtEl>
                                        <p:attrNameLst>
                                          <p:attrName>style.visibility</p:attrName>
                                        </p:attrNameLst>
                                      </p:cBhvr>
                                      <p:to>
                                        <p:strVal val="visible"/>
                                      </p:to>
                                    </p:set>
                                    <p:animEffect filter="fade" transition="in">
                                      <p:cBhvr>
                                        <p:cTn dur="500"/>
                                        <p:tgtEl>
                                          <p:spTgt spid="3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7" st="7"/>
                                            </p:txEl>
                                          </p:spTgt>
                                        </p:tgtEl>
                                        <p:attrNameLst>
                                          <p:attrName>style.visibility</p:attrName>
                                        </p:attrNameLst>
                                      </p:cBhvr>
                                      <p:to>
                                        <p:strVal val="visible"/>
                                      </p:to>
                                    </p:set>
                                    <p:animEffect filter="fade" transition="in">
                                      <p:cBhvr>
                                        <p:cTn dur="500"/>
                                        <p:tgtEl>
                                          <p:spTgt spid="3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8" st="8"/>
                                            </p:txEl>
                                          </p:spTgt>
                                        </p:tgtEl>
                                        <p:attrNameLst>
                                          <p:attrName>style.visibility</p:attrName>
                                        </p:attrNameLst>
                                      </p:cBhvr>
                                      <p:to>
                                        <p:strVal val="visible"/>
                                      </p:to>
                                    </p:set>
                                    <p:animEffect filter="fade" transition="in">
                                      <p:cBhvr>
                                        <p:cTn dur="500"/>
                                        <p:tgtEl>
                                          <p:spTgt spid="3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9" st="9"/>
                                            </p:txEl>
                                          </p:spTgt>
                                        </p:tgtEl>
                                        <p:attrNameLst>
                                          <p:attrName>style.visibility</p:attrName>
                                        </p:attrNameLst>
                                      </p:cBhvr>
                                      <p:to>
                                        <p:strVal val="visible"/>
                                      </p:to>
                                    </p:set>
                                    <p:animEffect filter="fade" transition="in">
                                      <p:cBhvr>
                                        <p:cTn dur="500"/>
                                        <p:tgtEl>
                                          <p:spTgt spid="3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10" st="10"/>
                                            </p:txEl>
                                          </p:spTgt>
                                        </p:tgtEl>
                                        <p:attrNameLst>
                                          <p:attrName>style.visibility</p:attrName>
                                        </p:attrNameLst>
                                      </p:cBhvr>
                                      <p:to>
                                        <p:strVal val="visible"/>
                                      </p:to>
                                    </p:set>
                                    <p:animEffect filter="fade" transition="in">
                                      <p:cBhvr>
                                        <p:cTn dur="500"/>
                                        <p:tgtEl>
                                          <p:spTgt spid="33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0" i="0" lang="en-US" sz="3200" u="none">
                <a:solidFill>
                  <a:srgbClr val="FFF3F3"/>
                </a:solidFill>
                <a:latin typeface="Arial"/>
                <a:ea typeface="Arial"/>
                <a:cs typeface="Arial"/>
                <a:sym typeface="Arial"/>
              </a:rPr>
              <a:t>Biểu Diễn Cây Tổng Quát Bằng Cây Nhị Phân</a:t>
            </a:r>
            <a:endParaRPr/>
          </a:p>
        </p:txBody>
      </p:sp>
      <p:grpSp>
        <p:nvGrpSpPr>
          <p:cNvPr id="344" name="Google Shape;344;p18"/>
          <p:cNvGrpSpPr/>
          <p:nvPr/>
        </p:nvGrpSpPr>
        <p:grpSpPr>
          <a:xfrm>
            <a:off x="776287" y="2847975"/>
            <a:ext cx="5616575" cy="3028950"/>
            <a:chOff x="1537" y="5806"/>
            <a:chExt cx="5394" cy="2597"/>
          </a:xfrm>
        </p:grpSpPr>
        <p:sp>
          <p:nvSpPr>
            <p:cNvPr id="345" name="Google Shape;345;p18"/>
            <p:cNvSpPr/>
            <p:nvPr/>
          </p:nvSpPr>
          <p:spPr>
            <a:xfrm>
              <a:off x="4110" y="5806"/>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A</a:t>
              </a:r>
              <a:endParaRPr/>
            </a:p>
          </p:txBody>
        </p:sp>
        <p:sp>
          <p:nvSpPr>
            <p:cNvPr id="346" name="Google Shape;346;p18"/>
            <p:cNvSpPr/>
            <p:nvPr/>
          </p:nvSpPr>
          <p:spPr>
            <a:xfrm>
              <a:off x="2409" y="6932"/>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B</a:t>
              </a:r>
              <a:endParaRPr/>
            </a:p>
          </p:txBody>
        </p:sp>
        <p:sp>
          <p:nvSpPr>
            <p:cNvPr id="347" name="Google Shape;347;p18"/>
            <p:cNvSpPr/>
            <p:nvPr/>
          </p:nvSpPr>
          <p:spPr>
            <a:xfrm>
              <a:off x="4110" y="6932"/>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C</a:t>
              </a:r>
              <a:endParaRPr/>
            </a:p>
          </p:txBody>
        </p:sp>
        <p:sp>
          <p:nvSpPr>
            <p:cNvPr id="348" name="Google Shape;348;p18"/>
            <p:cNvSpPr/>
            <p:nvPr/>
          </p:nvSpPr>
          <p:spPr>
            <a:xfrm>
              <a:off x="6006" y="6932"/>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D</a:t>
              </a:r>
              <a:endParaRPr/>
            </a:p>
          </p:txBody>
        </p:sp>
        <p:sp>
          <p:nvSpPr>
            <p:cNvPr id="349" name="Google Shape;349;p18"/>
            <p:cNvSpPr/>
            <p:nvPr/>
          </p:nvSpPr>
          <p:spPr>
            <a:xfrm>
              <a:off x="1537" y="8034"/>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E</a:t>
              </a:r>
              <a:endParaRPr/>
            </a:p>
          </p:txBody>
        </p:sp>
        <p:sp>
          <p:nvSpPr>
            <p:cNvPr id="350" name="Google Shape;350;p18"/>
            <p:cNvSpPr/>
            <p:nvPr/>
          </p:nvSpPr>
          <p:spPr>
            <a:xfrm>
              <a:off x="2387" y="8034"/>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F</a:t>
              </a:r>
              <a:endParaRPr/>
            </a:p>
          </p:txBody>
        </p:sp>
        <p:sp>
          <p:nvSpPr>
            <p:cNvPr id="351" name="Google Shape;351;p18"/>
            <p:cNvSpPr/>
            <p:nvPr/>
          </p:nvSpPr>
          <p:spPr>
            <a:xfrm>
              <a:off x="3183" y="8034"/>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G</a:t>
              </a:r>
              <a:endParaRPr/>
            </a:p>
          </p:txBody>
        </p:sp>
        <p:sp>
          <p:nvSpPr>
            <p:cNvPr id="352" name="Google Shape;352;p18"/>
            <p:cNvSpPr/>
            <p:nvPr/>
          </p:nvSpPr>
          <p:spPr>
            <a:xfrm>
              <a:off x="4099" y="8034"/>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H</a:t>
              </a:r>
              <a:endParaRPr/>
            </a:p>
          </p:txBody>
        </p:sp>
        <p:sp>
          <p:nvSpPr>
            <p:cNvPr id="353" name="Google Shape;353;p18"/>
            <p:cNvSpPr/>
            <p:nvPr/>
          </p:nvSpPr>
          <p:spPr>
            <a:xfrm>
              <a:off x="5396" y="8034"/>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I</a:t>
              </a:r>
              <a:endParaRPr/>
            </a:p>
          </p:txBody>
        </p:sp>
        <p:sp>
          <p:nvSpPr>
            <p:cNvPr id="354" name="Google Shape;354;p18"/>
            <p:cNvSpPr/>
            <p:nvPr/>
          </p:nvSpPr>
          <p:spPr>
            <a:xfrm>
              <a:off x="6562" y="8034"/>
              <a:ext cx="369" cy="369"/>
            </a:xfrm>
            <a:prstGeom prst="ellipse">
              <a:avLst/>
            </a:prstGeom>
            <a:solidFill>
              <a:srgbClr val="CCCCFF"/>
            </a:solidFill>
            <a:ln cap="flat" cmpd="sng" w="38100">
              <a:solidFill>
                <a:schemeClr val="hlink"/>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3399"/>
                </a:buClr>
                <a:buSzPts val="2000"/>
                <a:buFont typeface="Teko"/>
                <a:buNone/>
              </a:pPr>
              <a:r>
                <a:rPr b="1" i="0" lang="en-US" sz="2000" u="none">
                  <a:solidFill>
                    <a:srgbClr val="FF3399"/>
                  </a:solidFill>
                  <a:latin typeface="Teko"/>
                  <a:ea typeface="Teko"/>
                  <a:cs typeface="Teko"/>
                  <a:sym typeface="Teko"/>
                </a:rPr>
                <a:t>J</a:t>
              </a:r>
              <a:endParaRPr/>
            </a:p>
          </p:txBody>
        </p:sp>
        <p:cxnSp>
          <p:nvCxnSpPr>
            <p:cNvPr id="355" name="Google Shape;355;p18"/>
            <p:cNvCxnSpPr/>
            <p:nvPr/>
          </p:nvCxnSpPr>
          <p:spPr>
            <a:xfrm flipH="1">
              <a:off x="2583" y="6185"/>
              <a:ext cx="1690" cy="758"/>
            </a:xfrm>
            <a:prstGeom prst="straightConnector1">
              <a:avLst/>
            </a:prstGeom>
            <a:noFill/>
            <a:ln cap="flat" cmpd="sng" w="38100">
              <a:solidFill>
                <a:schemeClr val="hlink"/>
              </a:solidFill>
              <a:prstDash val="solid"/>
              <a:miter lim="800000"/>
              <a:headEnd len="med" w="med" type="none"/>
              <a:tailEnd len="med" w="med" type="triangle"/>
            </a:ln>
          </p:spPr>
        </p:cxnSp>
        <p:cxnSp>
          <p:nvCxnSpPr>
            <p:cNvPr id="356" name="Google Shape;356;p18"/>
            <p:cNvCxnSpPr/>
            <p:nvPr/>
          </p:nvCxnSpPr>
          <p:spPr>
            <a:xfrm>
              <a:off x="4284" y="7299"/>
              <a:ext cx="0" cy="758"/>
            </a:xfrm>
            <a:prstGeom prst="straightConnector1">
              <a:avLst/>
            </a:prstGeom>
            <a:noFill/>
            <a:ln cap="flat" cmpd="sng" w="38100">
              <a:solidFill>
                <a:schemeClr val="hlink"/>
              </a:solidFill>
              <a:prstDash val="solid"/>
              <a:miter lim="800000"/>
              <a:headEnd len="med" w="med" type="none"/>
              <a:tailEnd len="med" w="med" type="triangle"/>
            </a:ln>
          </p:spPr>
        </p:cxnSp>
        <p:cxnSp>
          <p:nvCxnSpPr>
            <p:cNvPr id="357" name="Google Shape;357;p18"/>
            <p:cNvCxnSpPr/>
            <p:nvPr/>
          </p:nvCxnSpPr>
          <p:spPr>
            <a:xfrm>
              <a:off x="2594" y="7299"/>
              <a:ext cx="774" cy="747"/>
            </a:xfrm>
            <a:prstGeom prst="straightConnector1">
              <a:avLst/>
            </a:prstGeom>
            <a:noFill/>
            <a:ln cap="flat" cmpd="sng" w="38100">
              <a:solidFill>
                <a:schemeClr val="hlink"/>
              </a:solidFill>
              <a:prstDash val="solid"/>
              <a:miter lim="800000"/>
              <a:headEnd len="med" w="med" type="none"/>
              <a:tailEnd len="med" w="med" type="triangle"/>
            </a:ln>
          </p:spPr>
        </p:cxnSp>
        <p:cxnSp>
          <p:nvCxnSpPr>
            <p:cNvPr id="358" name="Google Shape;358;p18"/>
            <p:cNvCxnSpPr/>
            <p:nvPr/>
          </p:nvCxnSpPr>
          <p:spPr>
            <a:xfrm>
              <a:off x="2583" y="7299"/>
              <a:ext cx="0" cy="758"/>
            </a:xfrm>
            <a:prstGeom prst="straightConnector1">
              <a:avLst/>
            </a:prstGeom>
            <a:noFill/>
            <a:ln cap="flat" cmpd="sng" w="38100">
              <a:solidFill>
                <a:schemeClr val="hlink"/>
              </a:solidFill>
              <a:prstDash val="solid"/>
              <a:miter lim="800000"/>
              <a:headEnd len="med" w="med" type="none"/>
              <a:tailEnd len="med" w="med" type="triangle"/>
            </a:ln>
          </p:spPr>
        </p:cxnSp>
        <p:cxnSp>
          <p:nvCxnSpPr>
            <p:cNvPr id="359" name="Google Shape;359;p18"/>
            <p:cNvCxnSpPr/>
            <p:nvPr/>
          </p:nvCxnSpPr>
          <p:spPr>
            <a:xfrm flipH="1">
              <a:off x="1722" y="7299"/>
              <a:ext cx="861" cy="735"/>
            </a:xfrm>
            <a:prstGeom prst="straightConnector1">
              <a:avLst/>
            </a:prstGeom>
            <a:noFill/>
            <a:ln cap="flat" cmpd="sng" w="38100">
              <a:solidFill>
                <a:schemeClr val="hlink"/>
              </a:solidFill>
              <a:prstDash val="solid"/>
              <a:miter lim="800000"/>
              <a:headEnd len="med" w="med" type="none"/>
              <a:tailEnd len="med" w="med" type="triangle"/>
            </a:ln>
          </p:spPr>
        </p:cxnSp>
        <p:cxnSp>
          <p:nvCxnSpPr>
            <p:cNvPr id="360" name="Google Shape;360;p18"/>
            <p:cNvCxnSpPr/>
            <p:nvPr/>
          </p:nvCxnSpPr>
          <p:spPr>
            <a:xfrm>
              <a:off x="4284" y="6185"/>
              <a:ext cx="0" cy="758"/>
            </a:xfrm>
            <a:prstGeom prst="straightConnector1">
              <a:avLst/>
            </a:prstGeom>
            <a:noFill/>
            <a:ln cap="flat" cmpd="sng" w="38100">
              <a:solidFill>
                <a:schemeClr val="hlink"/>
              </a:solidFill>
              <a:prstDash val="solid"/>
              <a:miter lim="800000"/>
              <a:headEnd len="med" w="med" type="none"/>
              <a:tailEnd len="med" w="med" type="triangle"/>
            </a:ln>
          </p:spPr>
        </p:cxnSp>
        <p:cxnSp>
          <p:nvCxnSpPr>
            <p:cNvPr id="361" name="Google Shape;361;p18"/>
            <p:cNvCxnSpPr/>
            <p:nvPr/>
          </p:nvCxnSpPr>
          <p:spPr>
            <a:xfrm>
              <a:off x="4284" y="6185"/>
              <a:ext cx="1897" cy="758"/>
            </a:xfrm>
            <a:prstGeom prst="straightConnector1">
              <a:avLst/>
            </a:prstGeom>
            <a:noFill/>
            <a:ln cap="flat" cmpd="sng" w="38100">
              <a:solidFill>
                <a:schemeClr val="hlink"/>
              </a:solidFill>
              <a:prstDash val="solid"/>
              <a:miter lim="800000"/>
              <a:headEnd len="med" w="med" type="none"/>
              <a:tailEnd len="med" w="med" type="triangle"/>
            </a:ln>
          </p:spPr>
        </p:cxnSp>
        <p:cxnSp>
          <p:nvCxnSpPr>
            <p:cNvPr id="362" name="Google Shape;362;p18"/>
            <p:cNvCxnSpPr/>
            <p:nvPr/>
          </p:nvCxnSpPr>
          <p:spPr>
            <a:xfrm flipH="1">
              <a:off x="5559" y="7299"/>
              <a:ext cx="633" cy="735"/>
            </a:xfrm>
            <a:prstGeom prst="straightConnector1">
              <a:avLst/>
            </a:prstGeom>
            <a:noFill/>
            <a:ln cap="flat" cmpd="sng" w="38100">
              <a:solidFill>
                <a:schemeClr val="hlink"/>
              </a:solidFill>
              <a:prstDash val="solid"/>
              <a:miter lim="800000"/>
              <a:headEnd len="med" w="med" type="none"/>
              <a:tailEnd len="med" w="med" type="triangle"/>
            </a:ln>
          </p:spPr>
        </p:cxnSp>
        <p:cxnSp>
          <p:nvCxnSpPr>
            <p:cNvPr id="363" name="Google Shape;363;p18"/>
            <p:cNvCxnSpPr/>
            <p:nvPr/>
          </p:nvCxnSpPr>
          <p:spPr>
            <a:xfrm>
              <a:off x="6192" y="7299"/>
              <a:ext cx="545" cy="735"/>
            </a:xfrm>
            <a:prstGeom prst="straightConnector1">
              <a:avLst/>
            </a:prstGeom>
            <a:noFill/>
            <a:ln cap="flat" cmpd="sng" w="38100">
              <a:solidFill>
                <a:schemeClr val="hlink"/>
              </a:solidFill>
              <a:prstDash val="solid"/>
              <a:miter lim="800000"/>
              <a:headEnd len="med" w="med" type="none"/>
              <a:tailEnd len="med" w="med" type="triangle"/>
            </a:ln>
          </p:spPr>
        </p:cxnSp>
      </p:grpSp>
      <p:grpSp>
        <p:nvGrpSpPr>
          <p:cNvPr id="364" name="Google Shape;364;p18"/>
          <p:cNvGrpSpPr/>
          <p:nvPr/>
        </p:nvGrpSpPr>
        <p:grpSpPr>
          <a:xfrm>
            <a:off x="5484812" y="1019175"/>
            <a:ext cx="4148137" cy="4572000"/>
            <a:chOff x="2082" y="1610"/>
            <a:chExt cx="3485" cy="3708"/>
          </a:xfrm>
        </p:grpSpPr>
        <p:sp>
          <p:nvSpPr>
            <p:cNvPr id="365" name="Google Shape;365;p18"/>
            <p:cNvSpPr/>
            <p:nvPr/>
          </p:nvSpPr>
          <p:spPr>
            <a:xfrm>
              <a:off x="4048" y="1610"/>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A</a:t>
              </a:r>
              <a:endParaRPr/>
            </a:p>
          </p:txBody>
        </p:sp>
        <p:sp>
          <p:nvSpPr>
            <p:cNvPr id="366" name="Google Shape;366;p18"/>
            <p:cNvSpPr/>
            <p:nvPr/>
          </p:nvSpPr>
          <p:spPr>
            <a:xfrm>
              <a:off x="3094" y="2272"/>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B</a:t>
              </a:r>
              <a:endParaRPr/>
            </a:p>
          </p:txBody>
        </p:sp>
        <p:cxnSp>
          <p:nvCxnSpPr>
            <p:cNvPr id="367" name="Google Shape;367;p18"/>
            <p:cNvCxnSpPr/>
            <p:nvPr/>
          </p:nvCxnSpPr>
          <p:spPr>
            <a:xfrm flipH="1">
              <a:off x="3404" y="1877"/>
              <a:ext cx="678" cy="459"/>
            </a:xfrm>
            <a:prstGeom prst="straightConnector1">
              <a:avLst/>
            </a:prstGeom>
            <a:noFill/>
            <a:ln cap="flat" cmpd="sng" w="38100">
              <a:solidFill>
                <a:srgbClr val="FF3399"/>
              </a:solidFill>
              <a:prstDash val="solid"/>
              <a:miter lim="800000"/>
              <a:headEnd len="med" w="med" type="none"/>
              <a:tailEnd len="med" w="med" type="triangle"/>
            </a:ln>
          </p:spPr>
        </p:cxnSp>
        <p:sp>
          <p:nvSpPr>
            <p:cNvPr id="368" name="Google Shape;368;p18"/>
            <p:cNvSpPr/>
            <p:nvPr/>
          </p:nvSpPr>
          <p:spPr>
            <a:xfrm>
              <a:off x="4094" y="2891"/>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C</a:t>
              </a:r>
              <a:endParaRPr/>
            </a:p>
          </p:txBody>
        </p:sp>
        <p:sp>
          <p:nvSpPr>
            <p:cNvPr id="369" name="Google Shape;369;p18"/>
            <p:cNvSpPr/>
            <p:nvPr/>
          </p:nvSpPr>
          <p:spPr>
            <a:xfrm>
              <a:off x="4830" y="3567"/>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D</a:t>
              </a:r>
              <a:endParaRPr/>
            </a:p>
          </p:txBody>
        </p:sp>
        <p:cxnSp>
          <p:nvCxnSpPr>
            <p:cNvPr id="370" name="Google Shape;370;p18"/>
            <p:cNvCxnSpPr/>
            <p:nvPr/>
          </p:nvCxnSpPr>
          <p:spPr>
            <a:xfrm>
              <a:off x="3462" y="2560"/>
              <a:ext cx="678" cy="416"/>
            </a:xfrm>
            <a:prstGeom prst="straightConnector1">
              <a:avLst/>
            </a:prstGeom>
            <a:noFill/>
            <a:ln cap="flat" cmpd="sng" w="38100">
              <a:solidFill>
                <a:srgbClr val="FF3399"/>
              </a:solidFill>
              <a:prstDash val="solid"/>
              <a:miter lim="800000"/>
              <a:headEnd len="med" w="med" type="none"/>
              <a:tailEnd len="med" w="med" type="triangle"/>
            </a:ln>
          </p:spPr>
        </p:cxnSp>
        <p:cxnSp>
          <p:nvCxnSpPr>
            <p:cNvPr id="371" name="Google Shape;371;p18"/>
            <p:cNvCxnSpPr/>
            <p:nvPr/>
          </p:nvCxnSpPr>
          <p:spPr>
            <a:xfrm>
              <a:off x="4381" y="3221"/>
              <a:ext cx="564" cy="363"/>
            </a:xfrm>
            <a:prstGeom prst="straightConnector1">
              <a:avLst/>
            </a:prstGeom>
            <a:noFill/>
            <a:ln cap="flat" cmpd="sng" w="38100">
              <a:solidFill>
                <a:srgbClr val="FF3399"/>
              </a:solidFill>
              <a:prstDash val="solid"/>
              <a:miter lim="800000"/>
              <a:headEnd len="med" w="med" type="none"/>
              <a:tailEnd len="med" w="med" type="triangle"/>
            </a:ln>
          </p:spPr>
        </p:cxnSp>
        <p:cxnSp>
          <p:nvCxnSpPr>
            <p:cNvPr id="372" name="Google Shape;372;p18"/>
            <p:cNvCxnSpPr/>
            <p:nvPr/>
          </p:nvCxnSpPr>
          <p:spPr>
            <a:xfrm flipH="1">
              <a:off x="2404" y="2549"/>
              <a:ext cx="713" cy="416"/>
            </a:xfrm>
            <a:prstGeom prst="straightConnector1">
              <a:avLst/>
            </a:prstGeom>
            <a:noFill/>
            <a:ln cap="flat" cmpd="sng" w="38100">
              <a:solidFill>
                <a:srgbClr val="FF3399"/>
              </a:solidFill>
              <a:prstDash val="solid"/>
              <a:miter lim="800000"/>
              <a:headEnd len="med" w="med" type="none"/>
              <a:tailEnd len="med" w="med" type="triangle"/>
            </a:ln>
          </p:spPr>
        </p:cxnSp>
        <p:sp>
          <p:nvSpPr>
            <p:cNvPr id="373" name="Google Shape;373;p18"/>
            <p:cNvSpPr/>
            <p:nvPr/>
          </p:nvSpPr>
          <p:spPr>
            <a:xfrm>
              <a:off x="2082" y="2891"/>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E</a:t>
              </a:r>
              <a:endParaRPr/>
            </a:p>
          </p:txBody>
        </p:sp>
        <p:sp>
          <p:nvSpPr>
            <p:cNvPr id="374" name="Google Shape;374;p18"/>
            <p:cNvSpPr/>
            <p:nvPr/>
          </p:nvSpPr>
          <p:spPr>
            <a:xfrm>
              <a:off x="2783" y="3568"/>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F</a:t>
              </a:r>
              <a:endParaRPr/>
            </a:p>
          </p:txBody>
        </p:sp>
        <p:cxnSp>
          <p:nvCxnSpPr>
            <p:cNvPr id="375" name="Google Shape;375;p18"/>
            <p:cNvCxnSpPr/>
            <p:nvPr/>
          </p:nvCxnSpPr>
          <p:spPr>
            <a:xfrm>
              <a:off x="2392" y="3221"/>
              <a:ext cx="460" cy="427"/>
            </a:xfrm>
            <a:prstGeom prst="straightConnector1">
              <a:avLst/>
            </a:prstGeom>
            <a:noFill/>
            <a:ln cap="flat" cmpd="sng" w="38100">
              <a:solidFill>
                <a:srgbClr val="FF3399"/>
              </a:solidFill>
              <a:prstDash val="solid"/>
              <a:miter lim="800000"/>
              <a:headEnd len="med" w="med" type="none"/>
              <a:tailEnd len="med" w="med" type="triangle"/>
            </a:ln>
          </p:spPr>
        </p:cxnSp>
        <p:sp>
          <p:nvSpPr>
            <p:cNvPr id="376" name="Google Shape;376;p18"/>
            <p:cNvSpPr/>
            <p:nvPr/>
          </p:nvSpPr>
          <p:spPr>
            <a:xfrm>
              <a:off x="3163" y="4400"/>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G</a:t>
              </a:r>
              <a:endParaRPr/>
            </a:p>
          </p:txBody>
        </p:sp>
        <p:cxnSp>
          <p:nvCxnSpPr>
            <p:cNvPr id="377" name="Google Shape;377;p18"/>
            <p:cNvCxnSpPr/>
            <p:nvPr/>
          </p:nvCxnSpPr>
          <p:spPr>
            <a:xfrm>
              <a:off x="3013" y="3914"/>
              <a:ext cx="322" cy="512"/>
            </a:xfrm>
            <a:prstGeom prst="straightConnector1">
              <a:avLst/>
            </a:prstGeom>
            <a:noFill/>
            <a:ln cap="flat" cmpd="sng" w="38100">
              <a:solidFill>
                <a:srgbClr val="FF3399"/>
              </a:solidFill>
              <a:prstDash val="solid"/>
              <a:miter lim="800000"/>
              <a:headEnd len="med" w="med" type="none"/>
              <a:tailEnd len="med" w="med" type="triangle"/>
            </a:ln>
          </p:spPr>
        </p:cxnSp>
        <p:cxnSp>
          <p:nvCxnSpPr>
            <p:cNvPr id="378" name="Google Shape;378;p18"/>
            <p:cNvCxnSpPr/>
            <p:nvPr/>
          </p:nvCxnSpPr>
          <p:spPr>
            <a:xfrm flipH="1">
              <a:off x="3715" y="3221"/>
              <a:ext cx="505" cy="406"/>
            </a:xfrm>
            <a:prstGeom prst="straightConnector1">
              <a:avLst/>
            </a:prstGeom>
            <a:noFill/>
            <a:ln cap="flat" cmpd="sng" w="38100">
              <a:solidFill>
                <a:srgbClr val="FF3399"/>
              </a:solidFill>
              <a:prstDash val="solid"/>
              <a:miter lim="800000"/>
              <a:headEnd len="med" w="med" type="none"/>
              <a:tailEnd len="med" w="med" type="triangle"/>
            </a:ln>
          </p:spPr>
        </p:cxnSp>
        <p:sp>
          <p:nvSpPr>
            <p:cNvPr id="379" name="Google Shape;379;p18"/>
            <p:cNvSpPr/>
            <p:nvPr/>
          </p:nvSpPr>
          <p:spPr>
            <a:xfrm>
              <a:off x="3427" y="3567"/>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H</a:t>
              </a:r>
              <a:endParaRPr/>
            </a:p>
          </p:txBody>
        </p:sp>
        <p:cxnSp>
          <p:nvCxnSpPr>
            <p:cNvPr id="380" name="Google Shape;380;p18"/>
            <p:cNvCxnSpPr/>
            <p:nvPr/>
          </p:nvCxnSpPr>
          <p:spPr>
            <a:xfrm flipH="1">
              <a:off x="4611" y="3914"/>
              <a:ext cx="391" cy="534"/>
            </a:xfrm>
            <a:prstGeom prst="straightConnector1">
              <a:avLst/>
            </a:prstGeom>
            <a:noFill/>
            <a:ln cap="flat" cmpd="sng" w="38100">
              <a:solidFill>
                <a:srgbClr val="FF3399"/>
              </a:solidFill>
              <a:prstDash val="solid"/>
              <a:miter lim="800000"/>
              <a:headEnd len="med" w="med" type="none"/>
              <a:tailEnd len="med" w="med" type="triangle"/>
            </a:ln>
          </p:spPr>
        </p:cxnSp>
        <p:sp>
          <p:nvSpPr>
            <p:cNvPr id="381" name="Google Shape;381;p18"/>
            <p:cNvSpPr/>
            <p:nvPr/>
          </p:nvSpPr>
          <p:spPr>
            <a:xfrm>
              <a:off x="4301" y="4399"/>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I</a:t>
              </a:r>
              <a:endParaRPr/>
            </a:p>
          </p:txBody>
        </p:sp>
        <p:cxnSp>
          <p:nvCxnSpPr>
            <p:cNvPr id="382" name="Google Shape;382;p18"/>
            <p:cNvCxnSpPr/>
            <p:nvPr/>
          </p:nvCxnSpPr>
          <p:spPr>
            <a:xfrm>
              <a:off x="4646" y="4629"/>
              <a:ext cx="586" cy="427"/>
            </a:xfrm>
            <a:prstGeom prst="straightConnector1">
              <a:avLst/>
            </a:prstGeom>
            <a:noFill/>
            <a:ln cap="flat" cmpd="sng" w="38100">
              <a:solidFill>
                <a:srgbClr val="FF3399"/>
              </a:solidFill>
              <a:prstDash val="solid"/>
              <a:miter lim="800000"/>
              <a:headEnd len="med" w="med" type="none"/>
              <a:tailEnd len="med" w="med" type="triangle"/>
            </a:ln>
          </p:spPr>
        </p:cxnSp>
        <p:sp>
          <p:nvSpPr>
            <p:cNvPr id="383" name="Google Shape;383;p18"/>
            <p:cNvSpPr/>
            <p:nvPr/>
          </p:nvSpPr>
          <p:spPr>
            <a:xfrm>
              <a:off x="5198" y="4949"/>
              <a:ext cx="369" cy="369"/>
            </a:xfrm>
            <a:prstGeom prst="ellipse">
              <a:avLst/>
            </a:prstGeom>
            <a:solidFill>
              <a:srgbClr val="006600"/>
            </a:solidFill>
            <a:ln cap="flat" cmpd="sng" w="38100">
              <a:solidFill>
                <a:srgbClr val="FF3399"/>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99"/>
                </a:buClr>
                <a:buSzPts val="2400"/>
                <a:buFont typeface="Teko"/>
                <a:buNone/>
              </a:pPr>
              <a:r>
                <a:rPr b="1" i="0" lang="en-US" sz="2400" u="none">
                  <a:solidFill>
                    <a:srgbClr val="FFFF99"/>
                  </a:solidFill>
                  <a:latin typeface="Teko"/>
                  <a:ea typeface="Teko"/>
                  <a:cs typeface="Teko"/>
                  <a:sym typeface="Teko"/>
                </a:rPr>
                <a:t>J</a:t>
              </a:r>
              <a:endParaRPr/>
            </a:p>
          </p:txBody>
        </p:sp>
      </p:grpSp>
      <p:sp>
        <p:nvSpPr>
          <p:cNvPr id="384" name="Google Shape;384;p18"/>
          <p:cNvSpPr/>
          <p:nvPr/>
        </p:nvSpPr>
        <p:spPr>
          <a:xfrm>
            <a:off x="4037012" y="1628775"/>
            <a:ext cx="1371600" cy="1143000"/>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dk1"/>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16"/>
          <p:cNvSpPr txBox="1"/>
          <p:nvPr>
            <p:ph type="title"/>
          </p:nvPr>
        </p:nvSpPr>
        <p:spPr>
          <a:xfrm>
            <a:off x="704850" y="0"/>
            <a:ext cx="920115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600"/>
              <a:buFont typeface="Arial"/>
              <a:buNone/>
            </a:pPr>
            <a:r>
              <a:rPr b="0" i="0" lang="en-US" sz="3600" u="none">
                <a:solidFill>
                  <a:srgbClr val="FF6600"/>
                </a:solidFill>
                <a:latin typeface="Arial"/>
                <a:ea typeface="Arial"/>
                <a:cs typeface="Arial"/>
                <a:sym typeface="Arial"/>
              </a:rPr>
              <a:t>Duyệt theo thứ tự sau (Left-Right-Node)</a:t>
            </a:r>
            <a:endParaRPr/>
          </a:p>
        </p:txBody>
      </p:sp>
      <p:sp>
        <p:nvSpPr>
          <p:cNvPr id="390" name="Google Shape;390;p16"/>
          <p:cNvSpPr txBox="1"/>
          <p:nvPr>
            <p:ph idx="1" type="body"/>
          </p:nvPr>
        </p:nvSpPr>
        <p:spPr>
          <a:xfrm>
            <a:off x="776287" y="765175"/>
            <a:ext cx="9129712" cy="5759450"/>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sz="3200">
              <a:solidFill>
                <a:schemeClr val="dk1"/>
              </a:solidFill>
              <a:latin typeface="Arial"/>
              <a:ea typeface="Arial"/>
              <a:cs typeface="Arial"/>
              <a:sym typeface="Arial"/>
            </a:endParaRPr>
          </a:p>
        </p:txBody>
      </p:sp>
      <p:sp>
        <p:nvSpPr>
          <p:cNvPr id="391" name="Google Shape;391;p16"/>
          <p:cNvSpPr/>
          <p:nvPr/>
        </p:nvSpPr>
        <p:spPr>
          <a:xfrm>
            <a:off x="4705350" y="1143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A</a:t>
            </a:r>
            <a:endParaRPr/>
          </a:p>
        </p:txBody>
      </p:sp>
      <p:sp>
        <p:nvSpPr>
          <p:cNvPr id="392" name="Google Shape;392;p16"/>
          <p:cNvSpPr/>
          <p:nvPr/>
        </p:nvSpPr>
        <p:spPr>
          <a:xfrm>
            <a:off x="3054350" y="1828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B</a:t>
            </a:r>
            <a:endParaRPr/>
          </a:p>
        </p:txBody>
      </p:sp>
      <p:sp>
        <p:nvSpPr>
          <p:cNvPr id="393" name="Google Shape;393;p16"/>
          <p:cNvSpPr/>
          <p:nvPr/>
        </p:nvSpPr>
        <p:spPr>
          <a:xfrm>
            <a:off x="214630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D</a:t>
            </a:r>
            <a:endParaRPr/>
          </a:p>
        </p:txBody>
      </p:sp>
      <p:sp>
        <p:nvSpPr>
          <p:cNvPr id="394" name="Google Shape;394;p16"/>
          <p:cNvSpPr/>
          <p:nvPr/>
        </p:nvSpPr>
        <p:spPr>
          <a:xfrm>
            <a:off x="165100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H</a:t>
            </a:r>
            <a:endParaRPr/>
          </a:p>
        </p:txBody>
      </p:sp>
      <p:sp>
        <p:nvSpPr>
          <p:cNvPr id="395" name="Google Shape;395;p16"/>
          <p:cNvSpPr/>
          <p:nvPr/>
        </p:nvSpPr>
        <p:spPr>
          <a:xfrm>
            <a:off x="264160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I</a:t>
            </a:r>
            <a:endParaRPr/>
          </a:p>
        </p:txBody>
      </p:sp>
      <p:sp>
        <p:nvSpPr>
          <p:cNvPr id="396" name="Google Shape;396;p16"/>
          <p:cNvSpPr/>
          <p:nvPr/>
        </p:nvSpPr>
        <p:spPr>
          <a:xfrm>
            <a:off x="2393950" y="4191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N</a:t>
            </a:r>
            <a:endParaRPr/>
          </a:p>
        </p:txBody>
      </p:sp>
      <p:cxnSp>
        <p:nvCxnSpPr>
          <p:cNvPr id="397" name="Google Shape;397;p16"/>
          <p:cNvCxnSpPr/>
          <p:nvPr/>
        </p:nvCxnSpPr>
        <p:spPr>
          <a:xfrm flipH="1">
            <a:off x="198120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398" name="Google Shape;398;p16"/>
          <p:cNvCxnSpPr/>
          <p:nvPr/>
        </p:nvCxnSpPr>
        <p:spPr>
          <a:xfrm>
            <a:off x="247650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399" name="Google Shape;399;p16"/>
          <p:cNvCxnSpPr/>
          <p:nvPr/>
        </p:nvCxnSpPr>
        <p:spPr>
          <a:xfrm flipH="1">
            <a:off x="2641600" y="3886200"/>
            <a:ext cx="165100" cy="304800"/>
          </a:xfrm>
          <a:prstGeom prst="straightConnector1">
            <a:avLst/>
          </a:prstGeom>
          <a:noFill/>
          <a:ln cap="flat" cmpd="sng" w="28575">
            <a:solidFill>
              <a:schemeClr val="dk1"/>
            </a:solidFill>
            <a:prstDash val="solid"/>
            <a:miter lim="800000"/>
            <a:headEnd len="med" w="med" type="none"/>
            <a:tailEnd len="med" w="med" type="none"/>
          </a:ln>
        </p:spPr>
      </p:cxnSp>
      <p:cxnSp>
        <p:nvCxnSpPr>
          <p:cNvPr id="400" name="Google Shape;400;p16"/>
          <p:cNvCxnSpPr/>
          <p:nvPr/>
        </p:nvCxnSpPr>
        <p:spPr>
          <a:xfrm flipH="1">
            <a:off x="24765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sp>
        <p:nvSpPr>
          <p:cNvPr id="401" name="Google Shape;401;p16"/>
          <p:cNvSpPr/>
          <p:nvPr/>
        </p:nvSpPr>
        <p:spPr>
          <a:xfrm>
            <a:off x="387985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E</a:t>
            </a:r>
            <a:endParaRPr/>
          </a:p>
        </p:txBody>
      </p:sp>
      <p:sp>
        <p:nvSpPr>
          <p:cNvPr id="402" name="Google Shape;402;p16"/>
          <p:cNvSpPr/>
          <p:nvPr/>
        </p:nvSpPr>
        <p:spPr>
          <a:xfrm>
            <a:off x="338455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J</a:t>
            </a:r>
            <a:endParaRPr/>
          </a:p>
        </p:txBody>
      </p:sp>
      <p:sp>
        <p:nvSpPr>
          <p:cNvPr id="403" name="Google Shape;403;p16"/>
          <p:cNvSpPr/>
          <p:nvPr/>
        </p:nvSpPr>
        <p:spPr>
          <a:xfrm>
            <a:off x="437515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K</a:t>
            </a:r>
            <a:endParaRPr/>
          </a:p>
        </p:txBody>
      </p:sp>
      <p:sp>
        <p:nvSpPr>
          <p:cNvPr id="404" name="Google Shape;404;p16"/>
          <p:cNvSpPr/>
          <p:nvPr/>
        </p:nvSpPr>
        <p:spPr>
          <a:xfrm flipH="1">
            <a:off x="3714750" y="4191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O</a:t>
            </a:r>
            <a:endParaRPr/>
          </a:p>
        </p:txBody>
      </p:sp>
      <p:cxnSp>
        <p:nvCxnSpPr>
          <p:cNvPr id="405" name="Google Shape;405;p16"/>
          <p:cNvCxnSpPr/>
          <p:nvPr/>
        </p:nvCxnSpPr>
        <p:spPr>
          <a:xfrm flipH="1">
            <a:off x="371475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406" name="Google Shape;406;p16"/>
          <p:cNvCxnSpPr/>
          <p:nvPr/>
        </p:nvCxnSpPr>
        <p:spPr>
          <a:xfrm>
            <a:off x="421005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407" name="Google Shape;407;p16"/>
          <p:cNvCxnSpPr/>
          <p:nvPr/>
        </p:nvCxnSpPr>
        <p:spPr>
          <a:xfrm>
            <a:off x="3714750" y="3886200"/>
            <a:ext cx="165100" cy="304800"/>
          </a:xfrm>
          <a:prstGeom prst="straightConnector1">
            <a:avLst/>
          </a:prstGeom>
          <a:noFill/>
          <a:ln cap="flat" cmpd="sng" w="28575">
            <a:solidFill>
              <a:schemeClr val="dk1"/>
            </a:solidFill>
            <a:prstDash val="solid"/>
            <a:miter lim="800000"/>
            <a:headEnd len="med" w="med" type="none"/>
            <a:tailEnd len="med" w="med" type="none"/>
          </a:ln>
        </p:spPr>
      </p:cxnSp>
      <p:cxnSp>
        <p:nvCxnSpPr>
          <p:cNvPr id="408" name="Google Shape;408;p16"/>
          <p:cNvCxnSpPr/>
          <p:nvPr/>
        </p:nvCxnSpPr>
        <p:spPr>
          <a:xfrm>
            <a:off x="34671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409" name="Google Shape;409;p16"/>
          <p:cNvCxnSpPr/>
          <p:nvPr/>
        </p:nvCxnSpPr>
        <p:spPr>
          <a:xfrm flipH="1">
            <a:off x="3384550" y="1524000"/>
            <a:ext cx="1403350" cy="304800"/>
          </a:xfrm>
          <a:prstGeom prst="straightConnector1">
            <a:avLst/>
          </a:prstGeom>
          <a:noFill/>
          <a:ln cap="flat" cmpd="sng" w="28575">
            <a:solidFill>
              <a:schemeClr val="dk1"/>
            </a:solidFill>
            <a:prstDash val="solid"/>
            <a:miter lim="800000"/>
            <a:headEnd len="med" w="med" type="none"/>
            <a:tailEnd len="med" w="med" type="none"/>
          </a:ln>
        </p:spPr>
      </p:cxnSp>
      <p:sp>
        <p:nvSpPr>
          <p:cNvPr id="410" name="Google Shape;410;p16"/>
          <p:cNvSpPr/>
          <p:nvPr/>
        </p:nvSpPr>
        <p:spPr>
          <a:xfrm>
            <a:off x="6356350" y="1828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C</a:t>
            </a:r>
            <a:endParaRPr/>
          </a:p>
        </p:txBody>
      </p:sp>
      <p:sp>
        <p:nvSpPr>
          <p:cNvPr id="411" name="Google Shape;411;p16"/>
          <p:cNvSpPr/>
          <p:nvPr/>
        </p:nvSpPr>
        <p:spPr>
          <a:xfrm>
            <a:off x="544830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F</a:t>
            </a:r>
            <a:endParaRPr/>
          </a:p>
        </p:txBody>
      </p:sp>
      <p:sp>
        <p:nvSpPr>
          <p:cNvPr id="412" name="Google Shape;412;p16"/>
          <p:cNvSpPr/>
          <p:nvPr/>
        </p:nvSpPr>
        <p:spPr>
          <a:xfrm>
            <a:off x="594360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L</a:t>
            </a:r>
            <a:endParaRPr/>
          </a:p>
        </p:txBody>
      </p:sp>
      <p:sp>
        <p:nvSpPr>
          <p:cNvPr id="413" name="Google Shape;413;p16"/>
          <p:cNvSpPr/>
          <p:nvPr/>
        </p:nvSpPr>
        <p:spPr>
          <a:xfrm>
            <a:off x="5695950" y="4191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P</a:t>
            </a:r>
            <a:endParaRPr/>
          </a:p>
        </p:txBody>
      </p:sp>
      <p:cxnSp>
        <p:nvCxnSpPr>
          <p:cNvPr id="414" name="Google Shape;414;p16"/>
          <p:cNvCxnSpPr/>
          <p:nvPr/>
        </p:nvCxnSpPr>
        <p:spPr>
          <a:xfrm>
            <a:off x="577850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415" name="Google Shape;415;p16"/>
          <p:cNvCxnSpPr/>
          <p:nvPr/>
        </p:nvCxnSpPr>
        <p:spPr>
          <a:xfrm flipH="1">
            <a:off x="5943600" y="3886200"/>
            <a:ext cx="165100" cy="304800"/>
          </a:xfrm>
          <a:prstGeom prst="straightConnector1">
            <a:avLst/>
          </a:prstGeom>
          <a:noFill/>
          <a:ln cap="flat" cmpd="sng" w="28575">
            <a:solidFill>
              <a:schemeClr val="dk1"/>
            </a:solidFill>
            <a:prstDash val="solid"/>
            <a:miter lim="800000"/>
            <a:headEnd len="med" w="med" type="none"/>
            <a:tailEnd len="med" w="med" type="none"/>
          </a:ln>
        </p:spPr>
      </p:cxnSp>
      <p:cxnSp>
        <p:nvCxnSpPr>
          <p:cNvPr id="416" name="Google Shape;416;p16"/>
          <p:cNvCxnSpPr/>
          <p:nvPr/>
        </p:nvCxnSpPr>
        <p:spPr>
          <a:xfrm flipH="1">
            <a:off x="57785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sp>
        <p:nvSpPr>
          <p:cNvPr id="417" name="Google Shape;417;p16"/>
          <p:cNvSpPr/>
          <p:nvPr/>
        </p:nvSpPr>
        <p:spPr>
          <a:xfrm>
            <a:off x="7181850" y="25908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G</a:t>
            </a:r>
            <a:endParaRPr/>
          </a:p>
        </p:txBody>
      </p:sp>
      <p:sp>
        <p:nvSpPr>
          <p:cNvPr id="418" name="Google Shape;418;p16"/>
          <p:cNvSpPr/>
          <p:nvPr/>
        </p:nvSpPr>
        <p:spPr>
          <a:xfrm>
            <a:off x="6686550" y="3429000"/>
            <a:ext cx="495300" cy="4572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M</a:t>
            </a:r>
            <a:endParaRPr/>
          </a:p>
        </p:txBody>
      </p:sp>
      <p:cxnSp>
        <p:nvCxnSpPr>
          <p:cNvPr id="419" name="Google Shape;419;p16"/>
          <p:cNvCxnSpPr/>
          <p:nvPr/>
        </p:nvCxnSpPr>
        <p:spPr>
          <a:xfrm flipH="1">
            <a:off x="7016750" y="3048000"/>
            <a:ext cx="3302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420" name="Google Shape;420;p16"/>
          <p:cNvCxnSpPr/>
          <p:nvPr/>
        </p:nvCxnSpPr>
        <p:spPr>
          <a:xfrm>
            <a:off x="6769100" y="2209800"/>
            <a:ext cx="660400" cy="381000"/>
          </a:xfrm>
          <a:prstGeom prst="straightConnector1">
            <a:avLst/>
          </a:prstGeom>
          <a:noFill/>
          <a:ln cap="flat" cmpd="sng" w="28575">
            <a:solidFill>
              <a:schemeClr val="dk1"/>
            </a:solidFill>
            <a:prstDash val="solid"/>
            <a:miter lim="800000"/>
            <a:headEnd len="med" w="med" type="none"/>
            <a:tailEnd len="med" w="med" type="none"/>
          </a:ln>
        </p:spPr>
      </p:cxnSp>
      <p:cxnSp>
        <p:nvCxnSpPr>
          <p:cNvPr id="421" name="Google Shape;421;p16"/>
          <p:cNvCxnSpPr/>
          <p:nvPr/>
        </p:nvCxnSpPr>
        <p:spPr>
          <a:xfrm>
            <a:off x="5118100" y="1524000"/>
            <a:ext cx="1403350" cy="304800"/>
          </a:xfrm>
          <a:prstGeom prst="straightConnector1">
            <a:avLst/>
          </a:prstGeom>
          <a:noFill/>
          <a:ln cap="flat" cmpd="sng" w="28575">
            <a:solidFill>
              <a:schemeClr val="dk1"/>
            </a:solidFill>
            <a:prstDash val="solid"/>
            <a:miter lim="800000"/>
            <a:headEnd len="med" w="med" type="none"/>
            <a:tailEnd len="med" w="med" type="none"/>
          </a:ln>
        </p:spPr>
      </p:cxnSp>
      <p:sp>
        <p:nvSpPr>
          <p:cNvPr id="422" name="Google Shape;422;p16"/>
          <p:cNvSpPr txBox="1"/>
          <p:nvPr/>
        </p:nvSpPr>
        <p:spPr>
          <a:xfrm>
            <a:off x="2268537"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H</a:t>
            </a:r>
            <a:endParaRPr/>
          </a:p>
        </p:txBody>
      </p:sp>
      <p:sp>
        <p:nvSpPr>
          <p:cNvPr id="423" name="Google Shape;423;p16"/>
          <p:cNvSpPr txBox="1"/>
          <p:nvPr/>
        </p:nvSpPr>
        <p:spPr>
          <a:xfrm>
            <a:off x="908050" y="5754687"/>
            <a:ext cx="14287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Kết quả:</a:t>
            </a:r>
            <a:endParaRPr/>
          </a:p>
        </p:txBody>
      </p:sp>
      <p:sp>
        <p:nvSpPr>
          <p:cNvPr id="424" name="Google Shape;424;p16"/>
          <p:cNvSpPr/>
          <p:nvPr/>
        </p:nvSpPr>
        <p:spPr>
          <a:xfrm>
            <a:off x="1073150" y="1295400"/>
            <a:ext cx="4210050" cy="4191000"/>
          </a:xfrm>
          <a:prstGeom prst="ellipse">
            <a:avLst/>
          </a:prstGeom>
          <a:noFill/>
          <a:ln cap="flat" cmpd="sng" w="28575">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5" name="Google Shape;425;p16"/>
          <p:cNvSpPr txBox="1"/>
          <p:nvPr/>
        </p:nvSpPr>
        <p:spPr>
          <a:xfrm>
            <a:off x="2652712"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N</a:t>
            </a:r>
            <a:endParaRPr/>
          </a:p>
        </p:txBody>
      </p:sp>
      <p:sp>
        <p:nvSpPr>
          <p:cNvPr id="426" name="Google Shape;426;p16"/>
          <p:cNvSpPr/>
          <p:nvPr/>
        </p:nvSpPr>
        <p:spPr>
          <a:xfrm>
            <a:off x="1320800" y="2286000"/>
            <a:ext cx="20637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7" name="Google Shape;427;p16"/>
          <p:cNvSpPr txBox="1"/>
          <p:nvPr/>
        </p:nvSpPr>
        <p:spPr>
          <a:xfrm>
            <a:off x="3138487" y="5754687"/>
            <a:ext cx="29051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I</a:t>
            </a:r>
            <a:endParaRPr/>
          </a:p>
        </p:txBody>
      </p:sp>
      <p:sp>
        <p:nvSpPr>
          <p:cNvPr id="428" name="Google Shape;428;p16"/>
          <p:cNvSpPr/>
          <p:nvPr/>
        </p:nvSpPr>
        <p:spPr>
          <a:xfrm>
            <a:off x="1403350" y="3276600"/>
            <a:ext cx="1073150" cy="7620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9" name="Google Shape;429;p16"/>
          <p:cNvSpPr txBox="1"/>
          <p:nvPr/>
        </p:nvSpPr>
        <p:spPr>
          <a:xfrm>
            <a:off x="3484562"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D</a:t>
            </a:r>
            <a:endParaRPr/>
          </a:p>
        </p:txBody>
      </p:sp>
      <p:sp>
        <p:nvSpPr>
          <p:cNvPr id="430" name="Google Shape;430;p16"/>
          <p:cNvSpPr/>
          <p:nvPr/>
        </p:nvSpPr>
        <p:spPr>
          <a:xfrm>
            <a:off x="1981200" y="3200400"/>
            <a:ext cx="1320800" cy="16764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1" name="Google Shape;431;p16"/>
          <p:cNvSpPr txBox="1"/>
          <p:nvPr/>
        </p:nvSpPr>
        <p:spPr>
          <a:xfrm>
            <a:off x="3883025" y="5754687"/>
            <a:ext cx="45561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O</a:t>
            </a:r>
            <a:endParaRPr/>
          </a:p>
        </p:txBody>
      </p:sp>
      <p:sp>
        <p:nvSpPr>
          <p:cNvPr id="432" name="Google Shape;432;p16"/>
          <p:cNvSpPr/>
          <p:nvPr/>
        </p:nvSpPr>
        <p:spPr>
          <a:xfrm>
            <a:off x="2228850" y="4038600"/>
            <a:ext cx="825500" cy="762000"/>
          </a:xfrm>
          <a:prstGeom prst="ellipse">
            <a:avLst/>
          </a:prstGeom>
          <a:noFill/>
          <a:ln cap="flat" cmpd="sng" w="28575">
            <a:solidFill>
              <a:srgbClr val="66FF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3" name="Google Shape;433;p16"/>
          <p:cNvSpPr txBox="1"/>
          <p:nvPr/>
        </p:nvSpPr>
        <p:spPr>
          <a:xfrm>
            <a:off x="4359275" y="5754687"/>
            <a:ext cx="3651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J</a:t>
            </a:r>
            <a:endParaRPr/>
          </a:p>
        </p:txBody>
      </p:sp>
      <p:sp>
        <p:nvSpPr>
          <p:cNvPr id="434" name="Google Shape;434;p16"/>
          <p:cNvSpPr/>
          <p:nvPr/>
        </p:nvSpPr>
        <p:spPr>
          <a:xfrm>
            <a:off x="3136900" y="2286000"/>
            <a:ext cx="20637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5" name="Google Shape;435;p16"/>
          <p:cNvSpPr txBox="1"/>
          <p:nvPr/>
        </p:nvSpPr>
        <p:spPr>
          <a:xfrm>
            <a:off x="4730750" y="5754687"/>
            <a:ext cx="42068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K</a:t>
            </a:r>
            <a:endParaRPr/>
          </a:p>
        </p:txBody>
      </p:sp>
      <p:sp>
        <p:nvSpPr>
          <p:cNvPr id="436" name="Google Shape;436;p16"/>
          <p:cNvSpPr/>
          <p:nvPr/>
        </p:nvSpPr>
        <p:spPr>
          <a:xfrm>
            <a:off x="3219450" y="3200400"/>
            <a:ext cx="1320800" cy="16764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7" name="Google Shape;437;p16"/>
          <p:cNvSpPr txBox="1"/>
          <p:nvPr/>
        </p:nvSpPr>
        <p:spPr>
          <a:xfrm>
            <a:off x="5135562" y="5754687"/>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E</a:t>
            </a:r>
            <a:endParaRPr/>
          </a:p>
        </p:txBody>
      </p:sp>
      <p:sp>
        <p:nvSpPr>
          <p:cNvPr id="438" name="Google Shape;438;p16"/>
          <p:cNvSpPr/>
          <p:nvPr/>
        </p:nvSpPr>
        <p:spPr>
          <a:xfrm>
            <a:off x="3549650" y="4038600"/>
            <a:ext cx="825500" cy="762000"/>
          </a:xfrm>
          <a:prstGeom prst="ellipse">
            <a:avLst/>
          </a:prstGeom>
          <a:noFill/>
          <a:ln cap="flat" cmpd="sng" w="28575">
            <a:solidFill>
              <a:srgbClr val="66FF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9" name="Google Shape;439;p16"/>
          <p:cNvSpPr txBox="1"/>
          <p:nvPr/>
        </p:nvSpPr>
        <p:spPr>
          <a:xfrm>
            <a:off x="5526087" y="5754687"/>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B</a:t>
            </a:r>
            <a:endParaRPr/>
          </a:p>
        </p:txBody>
      </p:sp>
      <p:sp>
        <p:nvSpPr>
          <p:cNvPr id="440" name="Google Shape;440;p16"/>
          <p:cNvSpPr/>
          <p:nvPr/>
        </p:nvSpPr>
        <p:spPr>
          <a:xfrm>
            <a:off x="4210050" y="3200400"/>
            <a:ext cx="908050" cy="8382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1" name="Google Shape;441;p16"/>
          <p:cNvSpPr txBox="1"/>
          <p:nvPr/>
        </p:nvSpPr>
        <p:spPr>
          <a:xfrm>
            <a:off x="5976937" y="5754687"/>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P</a:t>
            </a:r>
            <a:endParaRPr/>
          </a:p>
        </p:txBody>
      </p:sp>
      <p:sp>
        <p:nvSpPr>
          <p:cNvPr id="442" name="Google Shape;442;p16"/>
          <p:cNvSpPr/>
          <p:nvPr/>
        </p:nvSpPr>
        <p:spPr>
          <a:xfrm>
            <a:off x="4953000" y="1295400"/>
            <a:ext cx="4210050" cy="4191000"/>
          </a:xfrm>
          <a:prstGeom prst="ellipse">
            <a:avLst/>
          </a:prstGeom>
          <a:noFill/>
          <a:ln cap="flat" cmpd="sng" w="28575">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3" name="Google Shape;443;p16"/>
          <p:cNvSpPr txBox="1"/>
          <p:nvPr/>
        </p:nvSpPr>
        <p:spPr>
          <a:xfrm>
            <a:off x="6394450" y="5754687"/>
            <a:ext cx="38258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L</a:t>
            </a:r>
            <a:endParaRPr/>
          </a:p>
        </p:txBody>
      </p:sp>
      <p:sp>
        <p:nvSpPr>
          <p:cNvPr id="444" name="Google Shape;444;p16"/>
          <p:cNvSpPr/>
          <p:nvPr/>
        </p:nvSpPr>
        <p:spPr>
          <a:xfrm>
            <a:off x="5200650" y="2286000"/>
            <a:ext cx="15684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5" name="Google Shape;445;p16"/>
          <p:cNvSpPr txBox="1"/>
          <p:nvPr/>
        </p:nvSpPr>
        <p:spPr>
          <a:xfrm>
            <a:off x="6805612" y="5754687"/>
            <a:ext cx="4000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F</a:t>
            </a:r>
            <a:endParaRPr/>
          </a:p>
        </p:txBody>
      </p:sp>
      <p:sp>
        <p:nvSpPr>
          <p:cNvPr id="446" name="Google Shape;446;p16"/>
          <p:cNvSpPr/>
          <p:nvPr/>
        </p:nvSpPr>
        <p:spPr>
          <a:xfrm>
            <a:off x="5365750" y="3200400"/>
            <a:ext cx="1320800" cy="16764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7" name="Google Shape;447;p16"/>
          <p:cNvSpPr txBox="1"/>
          <p:nvPr/>
        </p:nvSpPr>
        <p:spPr>
          <a:xfrm>
            <a:off x="7246937" y="5754687"/>
            <a:ext cx="47466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M</a:t>
            </a:r>
            <a:endParaRPr/>
          </a:p>
        </p:txBody>
      </p:sp>
      <p:sp>
        <p:nvSpPr>
          <p:cNvPr id="448" name="Google Shape;448;p16"/>
          <p:cNvSpPr/>
          <p:nvPr/>
        </p:nvSpPr>
        <p:spPr>
          <a:xfrm>
            <a:off x="5530850" y="4038600"/>
            <a:ext cx="825500" cy="762000"/>
          </a:xfrm>
          <a:prstGeom prst="ellipse">
            <a:avLst/>
          </a:prstGeom>
          <a:noFill/>
          <a:ln cap="flat" cmpd="sng" w="28575">
            <a:solidFill>
              <a:srgbClr val="66FF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9" name="Google Shape;449;p16"/>
          <p:cNvSpPr txBox="1"/>
          <p:nvPr/>
        </p:nvSpPr>
        <p:spPr>
          <a:xfrm>
            <a:off x="7662862" y="5754687"/>
            <a:ext cx="45561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G</a:t>
            </a:r>
            <a:endParaRPr/>
          </a:p>
        </p:txBody>
      </p:sp>
      <p:sp>
        <p:nvSpPr>
          <p:cNvPr id="450" name="Google Shape;450;p16"/>
          <p:cNvSpPr/>
          <p:nvPr/>
        </p:nvSpPr>
        <p:spPr>
          <a:xfrm>
            <a:off x="6604000" y="2286000"/>
            <a:ext cx="1568450" cy="2743200"/>
          </a:xfrm>
          <a:prstGeom prst="ellipse">
            <a:avLst/>
          </a:prstGeom>
          <a:noFill/>
          <a:ln cap="flat" cmpd="sng" w="28575">
            <a:solidFill>
              <a:srgbClr val="3366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1" name="Google Shape;451;p16"/>
          <p:cNvSpPr txBox="1"/>
          <p:nvPr/>
        </p:nvSpPr>
        <p:spPr>
          <a:xfrm>
            <a:off x="8101012" y="5754687"/>
            <a:ext cx="4381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C</a:t>
            </a:r>
            <a:endParaRPr/>
          </a:p>
        </p:txBody>
      </p:sp>
      <p:sp>
        <p:nvSpPr>
          <p:cNvPr id="452" name="Google Shape;452;p16"/>
          <p:cNvSpPr/>
          <p:nvPr/>
        </p:nvSpPr>
        <p:spPr>
          <a:xfrm>
            <a:off x="6604000" y="3200400"/>
            <a:ext cx="908050" cy="838200"/>
          </a:xfrm>
          <a:prstGeom prst="ellipse">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3" name="Google Shape;453;p16"/>
          <p:cNvSpPr txBox="1"/>
          <p:nvPr/>
        </p:nvSpPr>
        <p:spPr>
          <a:xfrm>
            <a:off x="8535987" y="5743575"/>
            <a:ext cx="4191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32"/>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30"/>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38"/>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40"/>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34"/>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48"/>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46"/>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52"/>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50"/>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42"/>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7"/>
          <p:cNvSpPr txBox="1"/>
          <p:nvPr>
            <p:ph type="title"/>
          </p:nvPr>
        </p:nvSpPr>
        <p:spPr>
          <a:xfrm>
            <a:off x="704850" y="0"/>
            <a:ext cx="920115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Duyệt theo thứ tự sau (Left-Right-Node)</a:t>
            </a:r>
            <a:r>
              <a:rPr b="0" i="0" lang="en-US" sz="4400" u="none">
                <a:solidFill>
                  <a:srgbClr val="FF6600"/>
                </a:solidFill>
                <a:latin typeface="Arial"/>
                <a:ea typeface="Arial"/>
                <a:cs typeface="Arial"/>
                <a:sym typeface="Arial"/>
              </a:rPr>
              <a:t> </a:t>
            </a:r>
            <a:endParaRPr/>
          </a:p>
        </p:txBody>
      </p:sp>
      <p:sp>
        <p:nvSpPr>
          <p:cNvPr id="459" name="Google Shape;459;p17"/>
          <p:cNvSpPr txBox="1"/>
          <p:nvPr>
            <p:ph idx="1" type="body"/>
          </p:nvPr>
        </p:nvSpPr>
        <p:spPr>
          <a:xfrm>
            <a:off x="776287" y="765175"/>
            <a:ext cx="9129712" cy="57594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Tính toán giá trị của biểu thức dựa trên cây biểu thức</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grpSp>
        <p:nvGrpSpPr>
          <p:cNvPr id="460" name="Google Shape;460;p17"/>
          <p:cNvGrpSpPr/>
          <p:nvPr/>
        </p:nvGrpSpPr>
        <p:grpSpPr>
          <a:xfrm>
            <a:off x="1641475" y="1489075"/>
            <a:ext cx="7488237" cy="4819650"/>
            <a:chOff x="1857" y="7152"/>
            <a:chExt cx="4593" cy="2958"/>
          </a:xfrm>
        </p:grpSpPr>
        <p:graphicFrame>
          <p:nvGraphicFramePr>
            <p:cNvPr id="461" name="Google Shape;461;p17"/>
            <p:cNvGraphicFramePr/>
            <p:nvPr/>
          </p:nvGraphicFramePr>
          <p:xfrm>
            <a:off x="1857" y="7152"/>
            <a:ext cx="4593" cy="2683"/>
          </p:xfrm>
          <a:graphic>
            <a:graphicData uri="http://schemas.openxmlformats.org/presentationml/2006/ole">
              <mc:AlternateContent>
                <mc:Choice Requires="v">
                  <p:oleObj r:id="rId4" imgH="2683" imgW="4593" progId="Paint.Picture" spid="_x0000_s1">
                    <p:embed/>
                  </p:oleObj>
                </mc:Choice>
                <mc:Fallback>
                  <p:oleObj r:id="rId5" imgH="2683" imgW="4593" progId="Paint.Picture">
                    <p:embed/>
                    <p:pic>
                      <p:nvPicPr>
                        <p:cNvPr id="461" name="Google Shape;461;p17"/>
                        <p:cNvPicPr preferRelativeResize="0"/>
                        <p:nvPr/>
                      </p:nvPicPr>
                      <p:blipFill rotWithShape="1">
                        <a:blip r:embed="rId6">
                          <a:alphaModFix/>
                        </a:blip>
                        <a:srcRect b="0" l="0" r="0" t="0"/>
                        <a:stretch/>
                      </p:blipFill>
                      <p:spPr>
                        <a:xfrm>
                          <a:off x="1857" y="7152"/>
                          <a:ext cx="4593" cy="2683"/>
                        </a:xfrm>
                        <a:prstGeom prst="rect">
                          <a:avLst/>
                        </a:prstGeom>
                        <a:noFill/>
                        <a:ln>
                          <a:noFill/>
                        </a:ln>
                      </p:spPr>
                    </p:pic>
                  </p:oleObj>
                </mc:Fallback>
              </mc:AlternateContent>
            </a:graphicData>
          </a:graphic>
        </p:graphicFrame>
        <p:sp>
          <p:nvSpPr>
            <p:cNvPr id="462" name="Google Shape;462;p17"/>
            <p:cNvSpPr txBox="1"/>
            <p:nvPr/>
          </p:nvSpPr>
          <p:spPr>
            <a:xfrm>
              <a:off x="1920" y="9840"/>
              <a:ext cx="4470" cy="270"/>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 + 1)×3/(9 – 5 + 2) – (3×(7 – 4) + 6) = –13</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9"/>
          <p:cNvSpPr txBox="1"/>
          <p:nvPr>
            <p:ph type="title"/>
          </p:nvPr>
        </p:nvSpPr>
        <p:spPr>
          <a:xfrm>
            <a:off x="704850" y="0"/>
            <a:ext cx="920115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000"/>
              <a:buFont typeface="Arial"/>
              <a:buNone/>
            </a:pPr>
            <a:r>
              <a:rPr b="0" i="0" lang="en-US" sz="3000" u="none">
                <a:solidFill>
                  <a:srgbClr val="FF6600"/>
                </a:solidFill>
                <a:latin typeface="Arial"/>
                <a:ea typeface="Arial"/>
                <a:cs typeface="Arial"/>
                <a:sym typeface="Arial"/>
              </a:rPr>
              <a:t>Nhược điểm của các cấu trúc cây tổng quát</a:t>
            </a:r>
            <a:endParaRPr/>
          </a:p>
        </p:txBody>
      </p:sp>
      <p:sp>
        <p:nvSpPr>
          <p:cNvPr id="468" name="Google Shape;468;p19"/>
          <p:cNvSpPr txBox="1"/>
          <p:nvPr>
            <p:ph idx="1" type="body"/>
          </p:nvPr>
        </p:nvSpPr>
        <p:spPr>
          <a:xfrm>
            <a:off x="776287" y="765175"/>
            <a:ext cx="9129712" cy="57594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Bậc của các nút trên cây có thể dao động trong một biên độ lớn =&gt; việc biểu diễn gặp nhiều khó khăn và lãng phí</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Việc xây dựng các thao tác trên cây tổng quát phức tạp hơn trên cây nhị phân nhiều</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Vì vậy, thường nếu không quá cần thiết phải sử dụng cây tổng quát, người ta chuyển cây tổng quát thành cây nhị phân.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20"/>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600"/>
              <a:buFont typeface="Arial"/>
              <a:buNone/>
            </a:pPr>
            <a:r>
              <a:rPr b="0" i="0" lang="en-US" sz="3600" u="none">
                <a:solidFill>
                  <a:srgbClr val="FF6600"/>
                </a:solidFill>
                <a:latin typeface="Arial"/>
                <a:ea typeface="Arial"/>
                <a:cs typeface="Arial"/>
                <a:sym typeface="Arial"/>
              </a:rPr>
              <a:t>Qui tắc</a:t>
            </a:r>
            <a:r>
              <a:rPr b="0" i="0" lang="en-US" sz="3000" u="none">
                <a:solidFill>
                  <a:srgbClr val="FF6600"/>
                </a:solidFill>
                <a:latin typeface="Arial"/>
                <a:ea typeface="Arial"/>
                <a:cs typeface="Arial"/>
                <a:sym typeface="Arial"/>
              </a:rPr>
              <a:t> </a:t>
            </a:r>
            <a:endParaRPr/>
          </a:p>
        </p:txBody>
      </p:sp>
      <p:sp>
        <p:nvSpPr>
          <p:cNvPr id="474" name="Google Shape;474;p20"/>
          <p:cNvSpPr txBox="1"/>
          <p:nvPr>
            <p:ph idx="1" type="body"/>
          </p:nvPr>
        </p:nvSpPr>
        <p:spPr>
          <a:xfrm>
            <a:off x="776287" y="765175"/>
            <a:ext cx="9129712" cy="57594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600"/>
              <a:buFont typeface="Arial"/>
              <a:buChar char="•"/>
            </a:pPr>
            <a:r>
              <a:rPr b="0" i="0" lang="en-US" sz="3600" u="none">
                <a:solidFill>
                  <a:schemeClr val="dk1"/>
                </a:solidFill>
                <a:latin typeface="Arial"/>
                <a:ea typeface="Arial"/>
                <a:cs typeface="Arial"/>
                <a:sym typeface="Arial"/>
              </a:rPr>
              <a:t>Ta có thể biến đổi một cây bất kỳ thành cây nhị phân theo nguyên tắc sau:</a:t>
            </a:r>
            <a:endParaRPr/>
          </a:p>
          <a:p>
            <a:pPr indent="-285750" lvl="1" marL="74295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Giữ lại nút con trái nhất làm nút con trái</a:t>
            </a:r>
            <a:endParaRPr/>
          </a:p>
          <a:p>
            <a:pPr indent="-285750" lvl="1" marL="74295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Các nút con còn lại chuyển thành nút con phải</a:t>
            </a:r>
            <a:endParaRPr/>
          </a:p>
          <a:p>
            <a:pPr indent="-285750" lvl="1" marL="74295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Như vậy trong cây nhị phân mới thì con trái thể hiện quan hệ cha con và con phải thể hiện quan hệ anh em trong cây tổng quát ban đầu</a:t>
            </a:r>
            <a:endParaRPr b="0" i="0" sz="3200" u="none">
              <a:solidFill>
                <a:schemeClr val="dk1"/>
              </a:solidFill>
              <a:latin typeface="Helvetica Neue"/>
              <a:ea typeface="Helvetica Neue"/>
              <a:cs typeface="Helvetica Neue"/>
              <a:sym typeface="Helvetica Neue"/>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1"/>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Một cách biểu diễn cây nhị phân khác </a:t>
            </a:r>
            <a:endParaRPr/>
          </a:p>
        </p:txBody>
      </p:sp>
      <p:sp>
        <p:nvSpPr>
          <p:cNvPr id="480" name="Google Shape;480;p21"/>
          <p:cNvSpPr txBox="1"/>
          <p:nvPr>
            <p:ph idx="1" type="body"/>
          </p:nvPr>
        </p:nvSpPr>
        <p:spPr>
          <a:xfrm>
            <a:off x="776287" y="765175"/>
            <a:ext cx="9129712" cy="57594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Đôi khi, khi định nghĩa cây nhị phân, người ta quan tâm đến cả quan hệ 2 chiều cha con chứ không chỉ một chiều như định nghĩa ở phần trên. </a:t>
            </a:r>
            <a:endParaRPr/>
          </a:p>
          <a:p>
            <a:pPr indent="-342900" lvl="0" marL="342900" rtl="0" algn="l">
              <a:lnSpc>
                <a:spcPct val="90000"/>
              </a:lnSpc>
              <a:spcBef>
                <a:spcPts val="560"/>
              </a:spcBef>
              <a:spcAft>
                <a:spcPts val="0"/>
              </a:spcAft>
              <a:buClr>
                <a:srgbClr val="0000FF"/>
              </a:buClr>
              <a:buSzPts val="2800"/>
              <a:buFont typeface="Courier New"/>
              <a:buChar char="•"/>
            </a:pPr>
            <a:r>
              <a:rPr b="1" i="0" lang="en-US" sz="2800" u="none">
                <a:solidFill>
                  <a:srgbClr val="0000FF"/>
                </a:solidFill>
                <a:latin typeface="Courier New"/>
                <a:ea typeface="Courier New"/>
                <a:cs typeface="Courier New"/>
                <a:sym typeface="Courier New"/>
              </a:rPr>
              <a:t>typedef</a:t>
            </a:r>
            <a:r>
              <a:rPr b="1" i="0" lang="en-US" sz="2800" u="none">
                <a:solidFill>
                  <a:srgbClr val="000000"/>
                </a:solidFill>
                <a:latin typeface="Courier New"/>
                <a:ea typeface="Courier New"/>
                <a:cs typeface="Courier New"/>
                <a:sym typeface="Courier New"/>
              </a:rPr>
              <a:t> </a:t>
            </a:r>
            <a:r>
              <a:rPr b="1" i="0" lang="en-US" sz="2800" u="none">
                <a:solidFill>
                  <a:srgbClr val="0000FF"/>
                </a:solidFill>
                <a:latin typeface="Courier New"/>
                <a:ea typeface="Courier New"/>
                <a:cs typeface="Courier New"/>
                <a:sym typeface="Courier New"/>
              </a:rPr>
              <a:t>struct</a:t>
            </a:r>
            <a:r>
              <a:rPr b="1" i="0" lang="en-US" sz="2800" u="none">
                <a:solidFill>
                  <a:srgbClr val="000000"/>
                </a:solidFill>
                <a:latin typeface="Courier New"/>
                <a:ea typeface="Courier New"/>
                <a:cs typeface="Courier New"/>
                <a:sym typeface="Courier New"/>
              </a:rPr>
              <a:t> </a:t>
            </a:r>
            <a:r>
              <a:rPr b="1" i="0" lang="en-US" sz="2800" u="none">
                <a:solidFill>
                  <a:srgbClr val="0000FF"/>
                </a:solidFill>
                <a:latin typeface="Courier New"/>
                <a:ea typeface="Courier New"/>
                <a:cs typeface="Courier New"/>
                <a:sym typeface="Courier New"/>
              </a:rPr>
              <a:t>tagTNode</a:t>
            </a:r>
            <a:r>
              <a:rPr b="1" i="0" lang="en-US" sz="2800" u="none">
                <a:solidFill>
                  <a:srgbClr val="000000"/>
                </a:solidFill>
                <a:latin typeface="Courier New"/>
                <a:ea typeface="Courier New"/>
                <a:cs typeface="Courier New"/>
                <a:sym typeface="Courier New"/>
              </a:rPr>
              <a:t>	</a:t>
            </a:r>
            <a:endParaRPr/>
          </a:p>
          <a:p>
            <a:pPr indent="-285750" lvl="1" marL="742950" rtl="0" algn="l">
              <a:lnSpc>
                <a:spcPct val="90000"/>
              </a:lnSpc>
              <a:spcBef>
                <a:spcPts val="480"/>
              </a:spcBef>
              <a:spcAft>
                <a:spcPts val="0"/>
              </a:spcAft>
              <a:buClr>
                <a:srgbClr val="000000"/>
              </a:buClr>
              <a:buSzPts val="2400"/>
              <a:buFont typeface="Courier New"/>
              <a:buNone/>
            </a:pPr>
            <a:r>
              <a:rPr b="1" i="0" lang="en-US" sz="2400" u="none">
                <a:solidFill>
                  <a:srgbClr val="000000"/>
                </a:solidFill>
                <a:latin typeface="Courier New"/>
                <a:ea typeface="Courier New"/>
                <a:cs typeface="Courier New"/>
                <a:sym typeface="Courier New"/>
              </a:rPr>
              <a:t>{</a:t>
            </a:r>
            <a:endParaRPr/>
          </a:p>
          <a:p>
            <a:pPr indent="-285750" lvl="1" marL="742950" rtl="0" algn="l">
              <a:lnSpc>
                <a:spcPct val="90000"/>
              </a:lnSpc>
              <a:spcBef>
                <a:spcPts val="480"/>
              </a:spcBef>
              <a:spcAft>
                <a:spcPts val="0"/>
              </a:spcAft>
              <a:buClr>
                <a:srgbClr val="000000"/>
              </a:buClr>
              <a:buSzPts val="2400"/>
              <a:buFont typeface="Courier New"/>
              <a:buNone/>
            </a:pPr>
            <a:r>
              <a:rPr b="1" i="0" lang="en-US" sz="2400" u="none">
                <a:solidFill>
                  <a:srgbClr val="000000"/>
                </a:solidFill>
                <a:latin typeface="Courier New"/>
                <a:ea typeface="Courier New"/>
                <a:cs typeface="Courier New"/>
                <a:sym typeface="Courier New"/>
              </a:rPr>
              <a:t>	</a:t>
            </a:r>
            <a:r>
              <a:rPr b="1" i="0" lang="en-US" sz="2400" u="none">
                <a:solidFill>
                  <a:srgbClr val="0000FF"/>
                </a:solidFill>
                <a:latin typeface="Courier New"/>
                <a:ea typeface="Courier New"/>
                <a:cs typeface="Courier New"/>
                <a:sym typeface="Courier New"/>
              </a:rPr>
              <a:t>DataType</a:t>
            </a:r>
            <a:r>
              <a:rPr b="1" i="0" lang="en-US" sz="2400" u="none">
                <a:solidFill>
                  <a:srgbClr val="000000"/>
                </a:solidFill>
                <a:latin typeface="Courier New"/>
                <a:ea typeface="Courier New"/>
                <a:cs typeface="Courier New"/>
                <a:sym typeface="Courier New"/>
              </a:rPr>
              <a:t>		Key;</a:t>
            </a:r>
            <a:endParaRPr/>
          </a:p>
          <a:p>
            <a:pPr indent="-285750" lvl="1" marL="742950" rtl="0" algn="l">
              <a:lnSpc>
                <a:spcPct val="90000"/>
              </a:lnSpc>
              <a:spcBef>
                <a:spcPts val="480"/>
              </a:spcBef>
              <a:spcAft>
                <a:spcPts val="0"/>
              </a:spcAft>
              <a:buClr>
                <a:srgbClr val="000000"/>
              </a:buClr>
              <a:buSzPts val="2400"/>
              <a:buFont typeface="Courier New"/>
              <a:buNone/>
            </a:pPr>
            <a:r>
              <a:rPr b="1" i="0" lang="en-US" sz="2400" u="none">
                <a:solidFill>
                  <a:srgbClr val="000000"/>
                </a:solidFill>
                <a:latin typeface="Courier New"/>
                <a:ea typeface="Courier New"/>
                <a:cs typeface="Courier New"/>
                <a:sym typeface="Courier New"/>
              </a:rPr>
              <a:t>	</a:t>
            </a:r>
            <a:r>
              <a:rPr b="1" i="0" lang="en-US" sz="2400" u="none">
                <a:solidFill>
                  <a:srgbClr val="0000FF"/>
                </a:solidFill>
                <a:latin typeface="Courier New"/>
                <a:ea typeface="Courier New"/>
                <a:cs typeface="Courier New"/>
                <a:sym typeface="Courier New"/>
              </a:rPr>
              <a:t>struct</a:t>
            </a:r>
            <a:r>
              <a:rPr b="1" i="0" lang="en-US" sz="2400" u="none">
                <a:solidFill>
                  <a:srgbClr val="000000"/>
                </a:solidFill>
                <a:latin typeface="Courier New"/>
                <a:ea typeface="Courier New"/>
                <a:cs typeface="Courier New"/>
                <a:sym typeface="Courier New"/>
              </a:rPr>
              <a:t> </a:t>
            </a:r>
            <a:r>
              <a:rPr b="1" i="0" lang="en-US" sz="2400" u="none">
                <a:solidFill>
                  <a:srgbClr val="0000FF"/>
                </a:solidFill>
                <a:latin typeface="Courier New"/>
                <a:ea typeface="Courier New"/>
                <a:cs typeface="Courier New"/>
                <a:sym typeface="Courier New"/>
              </a:rPr>
              <a:t>tagTNode</a:t>
            </a:r>
            <a:r>
              <a:rPr b="1" i="0" lang="en-US" sz="2400" u="none">
                <a:solidFill>
                  <a:srgbClr val="000000"/>
                </a:solidFill>
                <a:latin typeface="Courier New"/>
                <a:ea typeface="Courier New"/>
                <a:cs typeface="Courier New"/>
                <a:sym typeface="Courier New"/>
              </a:rPr>
              <a:t>*	pParent;</a:t>
            </a:r>
            <a:endParaRPr/>
          </a:p>
          <a:p>
            <a:pPr indent="-285750" lvl="1" marL="742950" rtl="0" algn="l">
              <a:lnSpc>
                <a:spcPct val="90000"/>
              </a:lnSpc>
              <a:spcBef>
                <a:spcPts val="480"/>
              </a:spcBef>
              <a:spcAft>
                <a:spcPts val="0"/>
              </a:spcAft>
              <a:buClr>
                <a:srgbClr val="000000"/>
              </a:buClr>
              <a:buSzPts val="2400"/>
              <a:buFont typeface="Courier New"/>
              <a:buNone/>
            </a:pPr>
            <a:r>
              <a:rPr b="1" i="0" lang="en-US" sz="2400" u="none">
                <a:solidFill>
                  <a:srgbClr val="000000"/>
                </a:solidFill>
                <a:latin typeface="Courier New"/>
                <a:ea typeface="Courier New"/>
                <a:cs typeface="Courier New"/>
                <a:sym typeface="Courier New"/>
              </a:rPr>
              <a:t>	</a:t>
            </a:r>
            <a:r>
              <a:rPr b="1" i="0" lang="en-US" sz="2400" u="none">
                <a:solidFill>
                  <a:srgbClr val="0000FF"/>
                </a:solidFill>
                <a:latin typeface="Courier New"/>
                <a:ea typeface="Courier New"/>
                <a:cs typeface="Courier New"/>
                <a:sym typeface="Courier New"/>
              </a:rPr>
              <a:t>struct</a:t>
            </a:r>
            <a:r>
              <a:rPr b="1" i="0" lang="en-US" sz="2400" u="none">
                <a:solidFill>
                  <a:srgbClr val="000000"/>
                </a:solidFill>
                <a:latin typeface="Courier New"/>
                <a:ea typeface="Courier New"/>
                <a:cs typeface="Courier New"/>
                <a:sym typeface="Courier New"/>
              </a:rPr>
              <a:t> </a:t>
            </a:r>
            <a:r>
              <a:rPr b="1" i="0" lang="en-US" sz="2400" u="none">
                <a:solidFill>
                  <a:srgbClr val="0000FF"/>
                </a:solidFill>
                <a:latin typeface="Courier New"/>
                <a:ea typeface="Courier New"/>
                <a:cs typeface="Courier New"/>
                <a:sym typeface="Courier New"/>
              </a:rPr>
              <a:t>tagTNode</a:t>
            </a:r>
            <a:r>
              <a:rPr b="1" i="0" lang="en-US" sz="2400" u="none">
                <a:solidFill>
                  <a:srgbClr val="000000"/>
                </a:solidFill>
                <a:latin typeface="Courier New"/>
                <a:ea typeface="Courier New"/>
                <a:cs typeface="Courier New"/>
                <a:sym typeface="Courier New"/>
              </a:rPr>
              <a:t>*	pLeft;</a:t>
            </a:r>
            <a:endParaRPr/>
          </a:p>
          <a:p>
            <a:pPr indent="-285750" lvl="1" marL="742950" rtl="0" algn="l">
              <a:lnSpc>
                <a:spcPct val="90000"/>
              </a:lnSpc>
              <a:spcBef>
                <a:spcPts val="480"/>
              </a:spcBef>
              <a:spcAft>
                <a:spcPts val="0"/>
              </a:spcAft>
              <a:buClr>
                <a:srgbClr val="000000"/>
              </a:buClr>
              <a:buSzPts val="2400"/>
              <a:buFont typeface="Courier New"/>
              <a:buNone/>
            </a:pPr>
            <a:r>
              <a:rPr b="1" i="0" lang="en-US" sz="2400" u="none">
                <a:solidFill>
                  <a:srgbClr val="000000"/>
                </a:solidFill>
                <a:latin typeface="Courier New"/>
                <a:ea typeface="Courier New"/>
                <a:cs typeface="Courier New"/>
                <a:sym typeface="Courier New"/>
              </a:rPr>
              <a:t>	</a:t>
            </a:r>
            <a:r>
              <a:rPr b="1" i="0" lang="en-US" sz="2400" u="none">
                <a:solidFill>
                  <a:srgbClr val="0000FF"/>
                </a:solidFill>
                <a:latin typeface="Courier New"/>
                <a:ea typeface="Courier New"/>
                <a:cs typeface="Courier New"/>
                <a:sym typeface="Courier New"/>
              </a:rPr>
              <a:t>struct</a:t>
            </a:r>
            <a:r>
              <a:rPr b="1" i="0" lang="en-US" sz="2400" u="none">
                <a:solidFill>
                  <a:srgbClr val="000000"/>
                </a:solidFill>
                <a:latin typeface="Courier New"/>
                <a:ea typeface="Courier New"/>
                <a:cs typeface="Courier New"/>
                <a:sym typeface="Courier New"/>
              </a:rPr>
              <a:t> </a:t>
            </a:r>
            <a:r>
              <a:rPr b="1" i="0" lang="en-US" sz="2400" u="none">
                <a:solidFill>
                  <a:srgbClr val="0000FF"/>
                </a:solidFill>
                <a:latin typeface="Courier New"/>
                <a:ea typeface="Courier New"/>
                <a:cs typeface="Courier New"/>
                <a:sym typeface="Courier New"/>
              </a:rPr>
              <a:t>tagTNode</a:t>
            </a:r>
            <a:r>
              <a:rPr b="1" i="0" lang="en-US" sz="2400" u="none">
                <a:solidFill>
                  <a:srgbClr val="000000"/>
                </a:solidFill>
                <a:latin typeface="Courier New"/>
                <a:ea typeface="Courier New"/>
                <a:cs typeface="Courier New"/>
                <a:sym typeface="Courier New"/>
              </a:rPr>
              <a:t>*	pRight;</a:t>
            </a:r>
            <a:endParaRPr/>
          </a:p>
          <a:p>
            <a:pPr indent="-285750" lvl="1" marL="742950" rtl="0" algn="l">
              <a:lnSpc>
                <a:spcPct val="90000"/>
              </a:lnSpc>
              <a:spcBef>
                <a:spcPts val="480"/>
              </a:spcBef>
              <a:spcAft>
                <a:spcPts val="0"/>
              </a:spcAft>
              <a:buClr>
                <a:srgbClr val="000000"/>
              </a:buClr>
              <a:buSzPts val="2400"/>
              <a:buFont typeface="Courier New"/>
              <a:buNone/>
            </a:pPr>
            <a:r>
              <a:rPr b="1" i="0" lang="en-US" sz="2400" u="none">
                <a:solidFill>
                  <a:srgbClr val="000000"/>
                </a:solidFill>
                <a:latin typeface="Courier New"/>
                <a:ea typeface="Courier New"/>
                <a:cs typeface="Courier New"/>
                <a:sym typeface="Courier New"/>
              </a:rPr>
              <a:t>}</a:t>
            </a:r>
            <a:r>
              <a:rPr b="1" i="0" lang="en-US" sz="2400" u="none">
                <a:solidFill>
                  <a:srgbClr val="0000FF"/>
                </a:solidFill>
                <a:latin typeface="Courier New"/>
                <a:ea typeface="Courier New"/>
                <a:cs typeface="Courier New"/>
                <a:sym typeface="Courier New"/>
              </a:rPr>
              <a:t>TNODE</a:t>
            </a:r>
            <a:r>
              <a:rPr b="1" i="0" lang="en-US" sz="2400" u="none">
                <a:solidFill>
                  <a:srgbClr val="000000"/>
                </a:solidFill>
                <a:latin typeface="Courier New"/>
                <a:ea typeface="Courier New"/>
                <a:cs typeface="Courier New"/>
                <a:sym typeface="Courier New"/>
              </a:rPr>
              <a:t>;</a:t>
            </a:r>
            <a:endParaRPr/>
          </a:p>
          <a:p>
            <a:pPr indent="-285750" lvl="1" marL="742950" rtl="0" algn="l">
              <a:lnSpc>
                <a:spcPct val="90000"/>
              </a:lnSpc>
              <a:spcBef>
                <a:spcPts val="480"/>
              </a:spcBef>
              <a:spcAft>
                <a:spcPts val="0"/>
              </a:spcAft>
              <a:buClr>
                <a:srgbClr val="0000FF"/>
              </a:buClr>
              <a:buSzPts val="2400"/>
              <a:buFont typeface="Courier New"/>
              <a:buNone/>
            </a:pPr>
            <a:r>
              <a:rPr b="1" i="0" lang="en-US" sz="2400" u="none">
                <a:solidFill>
                  <a:srgbClr val="0000FF"/>
                </a:solidFill>
                <a:latin typeface="Courier New"/>
                <a:ea typeface="Courier New"/>
                <a:cs typeface="Courier New"/>
                <a:sym typeface="Courier New"/>
              </a:rPr>
              <a:t>typedef</a:t>
            </a:r>
            <a:r>
              <a:rPr b="1" i="0" lang="en-US" sz="2400" u="none">
                <a:solidFill>
                  <a:srgbClr val="000000"/>
                </a:solidFill>
                <a:latin typeface="Courier New"/>
                <a:ea typeface="Courier New"/>
                <a:cs typeface="Courier New"/>
                <a:sym typeface="Courier New"/>
              </a:rPr>
              <a:t> </a:t>
            </a:r>
            <a:r>
              <a:rPr b="1" i="0" lang="en-US" sz="2400" u="none">
                <a:solidFill>
                  <a:srgbClr val="0000FF"/>
                </a:solidFill>
                <a:latin typeface="Courier New"/>
                <a:ea typeface="Courier New"/>
                <a:cs typeface="Courier New"/>
                <a:sym typeface="Courier New"/>
              </a:rPr>
              <a:t>TNODE</a:t>
            </a:r>
            <a:r>
              <a:rPr b="1" i="0" lang="en-US" sz="2400" u="none">
                <a:solidFill>
                  <a:srgbClr val="000000"/>
                </a:solidFill>
                <a:latin typeface="Courier New"/>
                <a:ea typeface="Courier New"/>
                <a:cs typeface="Courier New"/>
                <a:sym typeface="Courier New"/>
              </a:rPr>
              <a:t>	*</a:t>
            </a:r>
            <a:r>
              <a:rPr b="1" i="0" lang="en-US" sz="2400" u="none">
                <a:solidFill>
                  <a:srgbClr val="0000FF"/>
                </a:solidFill>
                <a:latin typeface="Courier New"/>
                <a:ea typeface="Courier New"/>
                <a:cs typeface="Courier New"/>
                <a:sym typeface="Courier New"/>
              </a:rPr>
              <a:t>TREE</a:t>
            </a:r>
            <a:r>
              <a:rPr b="1" i="0" lang="en-US" sz="2400" u="none">
                <a:solidFill>
                  <a:srgbClr val="000000"/>
                </a:solidFill>
                <a:latin typeface="Courier New"/>
                <a:ea typeface="Courier New"/>
                <a:cs typeface="Courier New"/>
                <a:sym typeface="Courier New"/>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2"/>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Một cách biểu diễn cây nhị phân khác </a:t>
            </a:r>
            <a:endParaRPr/>
          </a:p>
        </p:txBody>
      </p:sp>
      <p:pic>
        <p:nvPicPr>
          <p:cNvPr id="486" name="Google Shape;486;p22"/>
          <p:cNvPicPr preferRelativeResize="0"/>
          <p:nvPr/>
        </p:nvPicPr>
        <p:blipFill rotWithShape="1">
          <a:blip r:embed="rId3">
            <a:alphaModFix/>
          </a:blip>
          <a:srcRect b="0" l="0" r="0" t="0"/>
          <a:stretch/>
        </p:blipFill>
        <p:spPr>
          <a:xfrm>
            <a:off x="1928812" y="1202425"/>
            <a:ext cx="6619875" cy="5038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2">
  <a:themeElements>
    <a:clrScheme name="t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2006-03-07T22:30:17Z</dcterms:created>
  <dc:creator>User</dc:creator>
</cp:coreProperties>
</file>