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9906000"/>
  <p:notesSz cx="9601200" cy="7313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  <p:ext uri="{2D200454-40CA-4A62-9FC3-DE9A4176ACB9}">
      <p15:notesGuideLst>
        <p15:guide id="1" orient="horz" pos="2303">
          <p15:clr>
            <a:srgbClr val="000000"/>
          </p15:clr>
        </p15:guide>
        <p15:guide id="2" pos="3024">
          <p15:clr>
            <a:srgbClr val="000000"/>
          </p15:clr>
        </p15:guide>
      </p15:notesGuideLst>
    </p:ext>
    <p:ext uri="GoogleSlidesCustomDataVersion2">
      <go:slidesCustomData xmlns:go="http://customooxmlschemas.google.com/" r:id="rId47" roundtripDataSignature="AMtx7mgwgEZa1pg/aDT8oxEuf+my+VcV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303" orient="horz"/>
        <p:guide pos="302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/>
          <p:nvPr>
            <p:ph idx="3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" name="Google Shape;5;n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1" type="ftr"/>
          </p:nvPr>
        </p:nvSpPr>
        <p:spPr>
          <a:xfrm>
            <a:off x="0" y="6945312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2" type="sldNum"/>
          </p:nvPr>
        </p:nvSpPr>
        <p:spPr>
          <a:xfrm>
            <a:off x="5438775" y="6945312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1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2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5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7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8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0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:notes"/>
          <p:cNvSpPr txBox="1"/>
          <p:nvPr>
            <p:ph idx="1" type="body"/>
          </p:nvPr>
        </p:nvSpPr>
        <p:spPr>
          <a:xfrm>
            <a:off x="960437" y="3475037"/>
            <a:ext cx="7680300" cy="32910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1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:notes"/>
          <p:cNvSpPr txBox="1"/>
          <p:nvPr>
            <p:ph idx="1" type="body"/>
          </p:nvPr>
        </p:nvSpPr>
        <p:spPr>
          <a:xfrm>
            <a:off x="960437" y="3475037"/>
            <a:ext cx="7680300" cy="32910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2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:notes"/>
          <p:cNvSpPr txBox="1"/>
          <p:nvPr>
            <p:ph idx="1" type="body"/>
          </p:nvPr>
        </p:nvSpPr>
        <p:spPr>
          <a:xfrm>
            <a:off x="960437" y="3475037"/>
            <a:ext cx="7680300" cy="32910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3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:notes"/>
          <p:cNvSpPr txBox="1"/>
          <p:nvPr>
            <p:ph idx="1" type="body"/>
          </p:nvPr>
        </p:nvSpPr>
        <p:spPr>
          <a:xfrm>
            <a:off x="960437" y="3475037"/>
            <a:ext cx="7680300" cy="32910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4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:notes"/>
          <p:cNvSpPr txBox="1"/>
          <p:nvPr>
            <p:ph idx="1" type="body"/>
          </p:nvPr>
        </p:nvSpPr>
        <p:spPr>
          <a:xfrm>
            <a:off x="960437" y="3475037"/>
            <a:ext cx="7680300" cy="32910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5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:notes"/>
          <p:cNvSpPr txBox="1"/>
          <p:nvPr>
            <p:ph idx="1" type="body"/>
          </p:nvPr>
        </p:nvSpPr>
        <p:spPr>
          <a:xfrm>
            <a:off x="960437" y="3475037"/>
            <a:ext cx="7680300" cy="32910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6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:notes"/>
          <p:cNvSpPr txBox="1"/>
          <p:nvPr>
            <p:ph idx="1" type="body"/>
          </p:nvPr>
        </p:nvSpPr>
        <p:spPr>
          <a:xfrm>
            <a:off x="960437" y="3475037"/>
            <a:ext cx="7680300" cy="32910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7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:notes"/>
          <p:cNvSpPr txBox="1"/>
          <p:nvPr>
            <p:ph idx="1" type="body"/>
          </p:nvPr>
        </p:nvSpPr>
        <p:spPr>
          <a:xfrm>
            <a:off x="960437" y="3475037"/>
            <a:ext cx="7680300" cy="32910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8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9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0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1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1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2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3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3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5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6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6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8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8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9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9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0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0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1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1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4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5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5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⮲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7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8"/>
          <p:cNvSpPr txBox="1"/>
          <p:nvPr>
            <p:ph type="title"/>
          </p:nvPr>
        </p:nvSpPr>
        <p:spPr>
          <a:xfrm rot="5400000">
            <a:off x="5403056" y="2150269"/>
            <a:ext cx="6373813" cy="223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8"/>
          <p:cNvSpPr txBox="1"/>
          <p:nvPr>
            <p:ph idx="1" type="body"/>
          </p:nvPr>
        </p:nvSpPr>
        <p:spPr>
          <a:xfrm rot="5400000">
            <a:off x="862013" y="-6350"/>
            <a:ext cx="6373813" cy="6545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⮲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9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9"/>
          <p:cNvSpPr txBox="1"/>
          <p:nvPr>
            <p:ph idx="1" type="body"/>
          </p:nvPr>
        </p:nvSpPr>
        <p:spPr>
          <a:xfrm rot="5400000">
            <a:off x="2576512" y="-531813"/>
            <a:ext cx="5400675" cy="856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⮲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0"/>
          <p:cNvSpPr txBox="1"/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0"/>
          <p:cNvSpPr/>
          <p:nvPr>
            <p:ph idx="2" type="pic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60"/>
          <p:cNvSpPr txBox="1"/>
          <p:nvPr>
            <p:ph idx="1" type="body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1"/>
          <p:cNvSpPr txBox="1"/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1"/>
          <p:cNvSpPr txBox="1"/>
          <p:nvPr>
            <p:ph idx="1" type="body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⮚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⮲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38" name="Google Shape;38;p61"/>
          <p:cNvSpPr txBox="1"/>
          <p:nvPr>
            <p:ph idx="2" type="body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2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3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3"/>
          <p:cNvSpPr txBox="1"/>
          <p:nvPr>
            <p:ph idx="1" type="body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4" name="Google Shape;44;p63"/>
          <p:cNvSpPr txBox="1"/>
          <p:nvPr>
            <p:ph idx="2" type="body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⮲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5" name="Google Shape;45;p63"/>
          <p:cNvSpPr txBox="1"/>
          <p:nvPr>
            <p:ph idx="3" type="body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6" name="Google Shape;46;p63"/>
          <p:cNvSpPr txBox="1"/>
          <p:nvPr>
            <p:ph idx="4" type="body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⮲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4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4"/>
          <p:cNvSpPr txBox="1"/>
          <p:nvPr>
            <p:ph idx="1" type="body"/>
          </p:nvPr>
        </p:nvSpPr>
        <p:spPr>
          <a:xfrm>
            <a:off x="992188" y="1052513"/>
            <a:ext cx="4208462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⮚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⮲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50" name="Google Shape;50;p64"/>
          <p:cNvSpPr txBox="1"/>
          <p:nvPr>
            <p:ph idx="2" type="body"/>
          </p:nvPr>
        </p:nvSpPr>
        <p:spPr>
          <a:xfrm>
            <a:off x="5353050" y="1052513"/>
            <a:ext cx="4208463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⮚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⮲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5"/>
          <p:cNvSpPr txBox="1"/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5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6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6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3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3"/>
          <p:cNvSpPr txBox="1"/>
          <p:nvPr/>
        </p:nvSpPr>
        <p:spPr>
          <a:xfrm>
            <a:off x="0" y="908050"/>
            <a:ext cx="4159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3"/>
          <p:cNvSpPr txBox="1"/>
          <p:nvPr/>
        </p:nvSpPr>
        <p:spPr>
          <a:xfrm>
            <a:off x="0" y="762000"/>
            <a:ext cx="704850" cy="6096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53"/>
          <p:cNvSpPr txBox="1"/>
          <p:nvPr/>
        </p:nvSpPr>
        <p:spPr>
          <a:xfrm rot="-5400000">
            <a:off x="-1174750" y="4962525"/>
            <a:ext cx="325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CẤU TRÚC DỮ LIỆU VÀ GIẢI THUẬT</a:t>
            </a:r>
            <a:endParaRPr/>
          </a:p>
        </p:txBody>
      </p:sp>
      <p:pic>
        <p:nvPicPr>
          <p:cNvPr id="13" name="Google Shape;13;p5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7048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3"/>
          <p:cNvSpPr txBox="1"/>
          <p:nvPr/>
        </p:nvSpPr>
        <p:spPr>
          <a:xfrm>
            <a:off x="704850" y="3175"/>
            <a:ext cx="9217025" cy="762000"/>
          </a:xfrm>
          <a:prstGeom prst="rect">
            <a:avLst/>
          </a:prstGeom>
          <a:gradFill>
            <a:gsLst>
              <a:gs pos="0">
                <a:srgbClr val="002F00"/>
              </a:gs>
              <a:gs pos="100000">
                <a:srgbClr val="0066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53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53"/>
          <p:cNvSpPr txBox="1"/>
          <p:nvPr/>
        </p:nvSpPr>
        <p:spPr>
          <a:xfrm>
            <a:off x="9231312" y="6430962"/>
            <a:ext cx="7620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1.1. Các khái niệm</a:t>
            </a:r>
            <a:endParaRPr/>
          </a:p>
        </p:txBody>
      </p:sp>
      <p:sp>
        <p:nvSpPr>
          <p:cNvPr id="62" name="Google Shape;62;p8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Môn học giới thiệu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⮲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cấu trúc dữ liệu cơ bản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⮲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giải thuật điển hình trên các cấu trúc dữ liệu đó</a:t>
            </a:r>
            <a:endParaRPr/>
          </a:p>
          <a:p>
            <a:pPr indent="-2682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i="0" lang="en-US" sz="32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Cấu trúc dữ liệu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là một kết hợp </a:t>
            </a:r>
            <a:r>
              <a:rPr b="0" i="0" lang="en-US" sz="32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nhiều thành phần dữ liệu khác nhau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thành một </a:t>
            </a:r>
            <a:r>
              <a:rPr b="0" i="0" lang="en-US" sz="32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thực thể thống nhất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để thể hiện </a:t>
            </a:r>
            <a:r>
              <a:rPr b="0" i="0" lang="en-US" sz="32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một kiểu dữ liệu</a:t>
            </a:r>
            <a:r>
              <a:rPr b="0" i="0" lang="en-US" sz="24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Cấu Trúc Dữ Liệu</a:t>
            </a:r>
            <a:endParaRPr/>
          </a:p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Cách tổ chức lưu trữ dữ liệu.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tiêu chuẩn của CTDL: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Phải </a:t>
            </a: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biểu diễn đầy đủ thông tin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Phải </a:t>
            </a: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phù hợp với các thao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tác trên đó.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Phù </a:t>
            </a: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hợp với điều kiện cho phép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của </a:t>
            </a:r>
            <a:r>
              <a:rPr lang="en-US"/>
              <a:t>ngôn ngữ lập trình.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Tiết kiệm tài nguyên hệ thống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Vai Trò Của Cấu Trúc Dữ Liệu</a:t>
            </a:r>
            <a:endParaRPr/>
          </a:p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Cấu trúc dữ liệu đóng vai trò </a:t>
            </a: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quan trọng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trong việc kết hợp và đưa ra cách giải quyết bài toán.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CTDL </a:t>
            </a: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hỗ trợ cho các thuật toán thao tác trên đối tượng được hiệu quả hơn</a:t>
            </a:r>
            <a:endParaRPr b="0" i="0" sz="2800" u="none">
              <a:solidFill>
                <a:srgbClr val="000066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85750" lvl="0" marL="463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Các kiểu cấu trúc dữ liệu cơ bản</a:t>
            </a:r>
            <a:endParaRPr/>
          </a:p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>
            <a:off x="956537" y="1233912"/>
            <a:ext cx="85692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Bản ghi (</a:t>
            </a: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struct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Danh sách (</a:t>
            </a: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array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Danh sách liên kết (</a:t>
            </a: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Cây (</a:t>
            </a: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tree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Bảng băm (</a:t>
            </a: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hash table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Thuật toán</a:t>
            </a:r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992187" y="1052512"/>
            <a:ext cx="8785225" cy="561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Thuật toán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Một dãy hữu hạn các chỉ thị có thể thi hành để đạt mục tiêu đề ra nào đó.</a:t>
            </a:r>
            <a:endParaRPr/>
          </a:p>
          <a:p>
            <a:pPr indent="-463550" lvl="0" marL="463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Thuật toán tính tổng tất cả các số nguyên dương nhỏ hơn n gồm các bước sau:</a:t>
            </a:r>
            <a:endParaRPr/>
          </a:p>
          <a:p>
            <a:pPr indent="-446087" lvl="1" marL="1023937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Bước 1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 S=0, i=1; </a:t>
            </a:r>
            <a:endParaRPr/>
          </a:p>
          <a:p>
            <a:pPr indent="-446087" lvl="1" marL="1023937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Bước 2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 nếu i&lt;n thì s=s+i;</a:t>
            </a:r>
            <a:endParaRPr/>
          </a:p>
          <a:p>
            <a:pPr indent="-336548" lvl="3" marL="1938336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	  Ngược lại: qua bước 4;</a:t>
            </a:r>
            <a:endParaRPr/>
          </a:p>
          <a:p>
            <a:pPr indent="-446087" lvl="1" marL="1023937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Bước 3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-446087" lvl="1" marL="1023937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i=i+1;</a:t>
            </a:r>
            <a:endParaRPr/>
          </a:p>
          <a:p>
            <a:pPr indent="-446087" lvl="1" marL="1023937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Quay lại bước 2;</a:t>
            </a:r>
            <a:endParaRPr/>
          </a:p>
          <a:p>
            <a:pPr indent="-446087" lvl="1" marL="1023937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Bước 4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 Tổng cần tìm là 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Các Tiêu Chuẩn Của Thuật Toán</a:t>
            </a:r>
            <a:endParaRPr/>
          </a:p>
        </p:txBody>
      </p:sp>
      <p:sp>
        <p:nvSpPr>
          <p:cNvPr id="92" name="Google Shape;92;p13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Xác định rõ d</a:t>
            </a: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ữ liệu đầu vào </a:t>
            </a:r>
            <a:endParaRPr>
              <a:highlight>
                <a:srgbClr val="FFFF00"/>
              </a:highlight>
            </a:endParaRPr>
          </a:p>
          <a:p>
            <a:pPr indent="-463550" lvl="0" marL="4635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Xác định rõ k</a:t>
            </a: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ết quả đầu ra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Tính xác định: </a:t>
            </a: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cùng một dữ liệu đầu vào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thì 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22923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None/>
            </a:pPr>
            <a:r>
              <a:rPr b="0" i="0" lang="en-US" sz="28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cùng một kết quả đầu ra </a:t>
            </a:r>
            <a:endParaRPr>
              <a:highlight>
                <a:srgbClr val="FFFF00"/>
              </a:highlight>
            </a:endParaRPr>
          </a:p>
          <a:p>
            <a:pPr indent="-463550" lvl="0" marL="4635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Tính khả thi: đơn giản, làm được, thời gian hữu hạn 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Tính dừng: sau một số bước hữu hạn thực hiện sẽ phải kết thúc </a:t>
            </a:r>
            <a:endParaRPr/>
          </a:p>
          <a:p>
            <a:pPr indent="-285750" lvl="0" marL="463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Sự Cần Thiết Của Thuật Toán</a:t>
            </a:r>
            <a:endParaRPr/>
          </a:p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/>
              <a:t>ù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 máy tính để xử lý dữ liệu</a:t>
            </a:r>
            <a:r>
              <a:rPr lang="en-US"/>
              <a:t> giúp:</a:t>
            </a:r>
            <a:endParaRPr/>
          </a:p>
          <a:p>
            <a:pPr indent="-446087" lvl="1" marL="1023937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Nhanh hơn.</a:t>
            </a:r>
            <a:endParaRPr/>
          </a:p>
          <a:p>
            <a:pPr indent="-446087" lvl="1" marL="1023937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Nhiều hơn.</a:t>
            </a:r>
            <a:endParaRPr/>
          </a:p>
          <a:p>
            <a:pPr indent="-446087" lvl="1" marL="1023937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quyết những bài toán mà con người không thể hoàn thành được.</a:t>
            </a:r>
            <a:endParaRPr/>
          </a:p>
          <a:p>
            <a:pPr indent="-463550" lvl="0" marL="4635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Để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đạt được những mục tiêu đó</a:t>
            </a:r>
            <a:r>
              <a:rPr lang="en-US"/>
              <a:t>:</a:t>
            </a:r>
            <a:endParaRPr/>
          </a:p>
          <a:p>
            <a:pPr indent="-446087" lvl="1" marL="1023937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tiến bộ kỹ thuật: tăng cấu hình máy ⇨ chi phí cao ☹</a:t>
            </a:r>
            <a:endParaRPr/>
          </a:p>
          <a:p>
            <a:pPr indent="-446087" lvl="1" marL="1023937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thuật toán hiệu quả: thông minh và chi phí thấp ☺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i="1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“</a:t>
            </a:r>
            <a:r>
              <a:rPr b="1" i="1" lang="en-US" sz="3000" u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Một máy tính siêu hạng vẫn không thể </a:t>
            </a:r>
            <a:endParaRPr b="1" i="1" sz="3000" u="none">
              <a:solidFill>
                <a:srgbClr val="FF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i="1" lang="en-US" sz="3000" u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cứu vãn một thuật toán tồi!”</a:t>
            </a:r>
            <a:endParaRPr sz="34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Biễu Diễn Thuật Toán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956475" y="1052512"/>
            <a:ext cx="85692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Dạng ngôn ngữ tự nhiên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Dạng lưu đồ (sơ đồ khối)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Dạng mã giả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Ngôn ngữ lập trình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Biểu Diễn Bằng Ngôn Ngữ Tự Nhiên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NN tự nhiên thông qua các bước được tuần tự liệt kê để biễu diễn thuật toán.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Ưu điểm: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Đơn giản, không cần kiến thức về về cách biểu diễn (mã giả, lưu đồ,...)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Nhược điểm: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Dài dòng, không cấu trúc.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Đôi lúc khó hiểu, không diễn đạt được thuật toán.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Lưu Đồ 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Là hệ thống các nút, cung hình dạng khác nhau thể hiện các chức năng khác nhau.</a:t>
            </a:r>
            <a:endParaRPr/>
          </a:p>
        </p:txBody>
      </p:sp>
      <p:grpSp>
        <p:nvGrpSpPr>
          <p:cNvPr id="117" name="Google Shape;117;p17"/>
          <p:cNvGrpSpPr/>
          <p:nvPr/>
        </p:nvGrpSpPr>
        <p:grpSpPr>
          <a:xfrm>
            <a:off x="1620837" y="2349500"/>
            <a:ext cx="6788150" cy="3627437"/>
            <a:chOff x="1021" y="1480"/>
            <a:chExt cx="4276" cy="2285"/>
          </a:xfrm>
        </p:grpSpPr>
        <p:sp>
          <p:nvSpPr>
            <p:cNvPr id="118" name="Google Shape;118;p17"/>
            <p:cNvSpPr txBox="1"/>
            <p:nvPr/>
          </p:nvSpPr>
          <p:spPr>
            <a:xfrm>
              <a:off x="1117" y="1624"/>
              <a:ext cx="1008" cy="304"/>
            </a:xfrm>
            <a:prstGeom prst="rect">
              <a:avLst/>
            </a:prstGeom>
            <a:solidFill>
              <a:srgbClr val="97FF97"/>
            </a:solidFill>
            <a:ln cap="flat" cmpd="sng" w="25400">
              <a:solidFill>
                <a:srgbClr val="00006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1" i="0" lang="en-US" sz="24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1069" y="2707"/>
              <a:ext cx="1200" cy="420"/>
            </a:xfrm>
            <a:prstGeom prst="flowChartDecision">
              <a:avLst/>
            </a:prstGeom>
            <a:solidFill>
              <a:srgbClr val="97FF97"/>
            </a:solidFill>
            <a:ln cap="flat" cmpd="sng" w="25400">
              <a:solidFill>
                <a:srgbClr val="00006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2653" y="1624"/>
              <a:ext cx="1056" cy="304"/>
            </a:xfrm>
            <a:prstGeom prst="flowChartPredefinedProcess">
              <a:avLst/>
            </a:prstGeom>
            <a:solidFill>
              <a:srgbClr val="97FF97"/>
            </a:solidFill>
            <a:ln cap="flat" cmpd="sng" w="25400">
              <a:solidFill>
                <a:srgbClr val="00006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1" i="0" lang="en-US" sz="24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4189" y="1624"/>
              <a:ext cx="1104" cy="304"/>
            </a:xfrm>
            <a:prstGeom prst="flowChartInputOutput">
              <a:avLst/>
            </a:prstGeom>
            <a:solidFill>
              <a:srgbClr val="97FF97"/>
            </a:solidFill>
            <a:ln cap="flat" cmpd="sng" w="25400">
              <a:solidFill>
                <a:srgbClr val="00006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3479" y="2750"/>
              <a:ext cx="672" cy="346"/>
            </a:xfrm>
            <a:prstGeom prst="flowChartTerminator">
              <a:avLst/>
            </a:prstGeom>
            <a:solidFill>
              <a:srgbClr val="97FF97"/>
            </a:solidFill>
            <a:ln cap="flat" cmpd="sng" w="25400">
              <a:solidFill>
                <a:srgbClr val="00006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Begin</a:t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4381" y="2916"/>
              <a:ext cx="720" cy="319"/>
            </a:xfrm>
            <a:prstGeom prst="flowChartTerminator">
              <a:avLst/>
            </a:prstGeom>
            <a:solidFill>
              <a:srgbClr val="97FF97"/>
            </a:solidFill>
            <a:ln cap="flat" cmpd="sng" w="25400">
              <a:solidFill>
                <a:srgbClr val="00006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End</a:t>
              </a:r>
              <a:endParaRPr/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1121" y="2152"/>
              <a:ext cx="95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Thực hiện A</a:t>
              </a:r>
              <a:endParaRPr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2729" y="2152"/>
              <a:ext cx="8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Gọi hàm A</a:t>
              </a:r>
              <a:endParaRPr/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4093" y="2152"/>
              <a:ext cx="1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Vào / Ra dữ liệu</a:t>
              </a:r>
              <a:endParaRPr/>
            </a:p>
          </p:txBody>
        </p:sp>
        <p:grpSp>
          <p:nvGrpSpPr>
            <p:cNvPr id="127" name="Google Shape;127;p17"/>
            <p:cNvGrpSpPr/>
            <p:nvPr/>
          </p:nvGrpSpPr>
          <p:grpSpPr>
            <a:xfrm>
              <a:off x="1597" y="1480"/>
              <a:ext cx="0" cy="624"/>
              <a:chOff x="1680" y="1488"/>
              <a:chExt cx="0" cy="624"/>
            </a:xfrm>
          </p:grpSpPr>
          <p:cxnSp>
            <p:nvCxnSpPr>
              <p:cNvPr id="128" name="Google Shape;128;p17"/>
              <p:cNvCxnSpPr/>
              <p:nvPr/>
            </p:nvCxnSpPr>
            <p:spPr>
              <a:xfrm>
                <a:off x="1680" y="1488"/>
                <a:ext cx="0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129" name="Google Shape;129;p17"/>
              <p:cNvCxnSpPr/>
              <p:nvPr/>
            </p:nvCxnSpPr>
            <p:spPr>
              <a:xfrm>
                <a:off x="1680" y="1968"/>
                <a:ext cx="0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</p:grpSp>
        <p:grpSp>
          <p:nvGrpSpPr>
            <p:cNvPr id="130" name="Google Shape;130;p17"/>
            <p:cNvGrpSpPr/>
            <p:nvPr/>
          </p:nvGrpSpPr>
          <p:grpSpPr>
            <a:xfrm>
              <a:off x="3181" y="1480"/>
              <a:ext cx="0" cy="624"/>
              <a:chOff x="1680" y="1488"/>
              <a:chExt cx="0" cy="624"/>
            </a:xfrm>
          </p:grpSpPr>
          <p:cxnSp>
            <p:nvCxnSpPr>
              <p:cNvPr id="131" name="Google Shape;131;p17"/>
              <p:cNvCxnSpPr/>
              <p:nvPr/>
            </p:nvCxnSpPr>
            <p:spPr>
              <a:xfrm>
                <a:off x="1680" y="1488"/>
                <a:ext cx="0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132" name="Google Shape;132;p17"/>
              <p:cNvCxnSpPr/>
              <p:nvPr/>
            </p:nvCxnSpPr>
            <p:spPr>
              <a:xfrm>
                <a:off x="1680" y="1968"/>
                <a:ext cx="0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</p:grpSp>
        <p:grpSp>
          <p:nvGrpSpPr>
            <p:cNvPr id="133" name="Google Shape;133;p17"/>
            <p:cNvGrpSpPr/>
            <p:nvPr/>
          </p:nvGrpSpPr>
          <p:grpSpPr>
            <a:xfrm>
              <a:off x="4717" y="1480"/>
              <a:ext cx="0" cy="624"/>
              <a:chOff x="1680" y="1488"/>
              <a:chExt cx="0" cy="624"/>
            </a:xfrm>
          </p:grpSpPr>
          <p:cxnSp>
            <p:nvCxnSpPr>
              <p:cNvPr id="134" name="Google Shape;134;p17"/>
              <p:cNvCxnSpPr/>
              <p:nvPr/>
            </p:nvCxnSpPr>
            <p:spPr>
              <a:xfrm>
                <a:off x="1680" y="1488"/>
                <a:ext cx="0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135" name="Google Shape;135;p17"/>
              <p:cNvCxnSpPr/>
              <p:nvPr/>
            </p:nvCxnSpPr>
            <p:spPr>
              <a:xfrm>
                <a:off x="1680" y="1968"/>
                <a:ext cx="0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</p:grpSp>
        <p:cxnSp>
          <p:nvCxnSpPr>
            <p:cNvPr id="136" name="Google Shape;136;p17"/>
            <p:cNvCxnSpPr/>
            <p:nvPr/>
          </p:nvCxnSpPr>
          <p:spPr>
            <a:xfrm>
              <a:off x="1645" y="2488"/>
              <a:ext cx="0" cy="24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37" name="Google Shape;137;p17"/>
            <p:cNvCxnSpPr/>
            <p:nvPr/>
          </p:nvCxnSpPr>
          <p:spPr>
            <a:xfrm>
              <a:off x="1657" y="3124"/>
              <a:ext cx="0" cy="2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38" name="Google Shape;138;p17"/>
            <p:cNvCxnSpPr/>
            <p:nvPr/>
          </p:nvCxnSpPr>
          <p:spPr>
            <a:xfrm>
              <a:off x="3815" y="3046"/>
              <a:ext cx="0" cy="24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39" name="Google Shape;139;p17"/>
            <p:cNvCxnSpPr/>
            <p:nvPr/>
          </p:nvCxnSpPr>
          <p:spPr>
            <a:xfrm>
              <a:off x="4765" y="2680"/>
              <a:ext cx="0" cy="24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40" name="Google Shape;140;p17"/>
            <p:cNvSpPr/>
            <p:nvPr/>
          </p:nvSpPr>
          <p:spPr>
            <a:xfrm>
              <a:off x="2253" y="2924"/>
              <a:ext cx="372" cy="460"/>
            </a:xfrm>
            <a:custGeom>
              <a:rect b="b" l="l" r="r" t="t"/>
              <a:pathLst>
                <a:path extrusionOk="0" h="460" w="372">
                  <a:moveTo>
                    <a:pt x="0" y="0"/>
                  </a:moveTo>
                  <a:lnTo>
                    <a:pt x="372" y="0"/>
                  </a:lnTo>
                  <a:lnTo>
                    <a:pt x="372" y="46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1021" y="3457"/>
              <a:ext cx="156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Điều kiện rẽ nhánh B</a:t>
              </a:r>
              <a:endParaRPr/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2217" y="2632"/>
              <a:ext cx="4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Đúng</a:t>
              </a:r>
              <a:endParaRPr/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1697" y="3073"/>
              <a:ext cx="33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Sai</a:t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3425" y="3361"/>
              <a:ext cx="1820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Nút giới hạn bắt đầu / kết thúc chương trình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Biểu Diễn Bằng Lưu Đồ</a:t>
            </a:r>
            <a:endParaRPr/>
          </a:p>
        </p:txBody>
      </p:sp>
      <p:grpSp>
        <p:nvGrpSpPr>
          <p:cNvPr id="150" name="Google Shape;150;p18"/>
          <p:cNvGrpSpPr/>
          <p:nvPr/>
        </p:nvGrpSpPr>
        <p:grpSpPr>
          <a:xfrm>
            <a:off x="1423987" y="1125537"/>
            <a:ext cx="7273925" cy="5111750"/>
            <a:chOff x="1578" y="482"/>
            <a:chExt cx="4173" cy="3674"/>
          </a:xfrm>
        </p:grpSpPr>
        <p:sp>
          <p:nvSpPr>
            <p:cNvPr id="151" name="Google Shape;151;p18"/>
            <p:cNvSpPr/>
            <p:nvPr/>
          </p:nvSpPr>
          <p:spPr>
            <a:xfrm>
              <a:off x="1624" y="482"/>
              <a:ext cx="681" cy="363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Bắt đầu</a:t>
              </a:r>
              <a:endParaRPr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3075" y="527"/>
              <a:ext cx="952" cy="272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0" baseline="-2500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a</a:t>
              </a:r>
              <a:r>
                <a:rPr b="0" baseline="-2500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1624" y="1843"/>
              <a:ext cx="862" cy="772"/>
            </a:xfrm>
            <a:prstGeom prst="diamond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i&lt;n</a:t>
              </a:r>
              <a:endParaRPr/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1578" y="1344"/>
              <a:ext cx="952" cy="272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="0" baseline="-2500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1</a:t>
              </a:r>
              <a:endParaRPr/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3212" y="2069"/>
              <a:ext cx="1133" cy="272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0" baseline="-2500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 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là lớn nhất</a:t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5070" y="2024"/>
              <a:ext cx="681" cy="363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Kết thúc</a:t>
              </a: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1624" y="2841"/>
              <a:ext cx="862" cy="772"/>
            </a:xfrm>
            <a:prstGeom prst="diamond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0" baseline="-2500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&lt; a</a:t>
              </a:r>
              <a:r>
                <a:rPr b="0" baseline="-2500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1578" y="3884"/>
              <a:ext cx="952" cy="272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="0" baseline="-2500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i+1</a:t>
              </a:r>
              <a:endParaRPr/>
            </a:p>
          </p:txBody>
        </p:sp>
        <p:sp>
          <p:nvSpPr>
            <p:cNvPr id="159" name="Google Shape;159;p18"/>
            <p:cNvSpPr txBox="1"/>
            <p:nvPr/>
          </p:nvSpPr>
          <p:spPr>
            <a:xfrm>
              <a:off x="3256" y="3113"/>
              <a:ext cx="1133" cy="272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0" baseline="-2500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=a</a:t>
              </a:r>
              <a:r>
                <a:rPr b="0" baseline="-2500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  <p:cxnSp>
          <p:nvCxnSpPr>
            <p:cNvPr id="160" name="Google Shape;160;p18"/>
            <p:cNvCxnSpPr/>
            <p:nvPr/>
          </p:nvCxnSpPr>
          <p:spPr>
            <a:xfrm flipH="1" rot="10800000">
              <a:off x="2305" y="663"/>
              <a:ext cx="770" cy="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1" name="Google Shape;161;p18"/>
            <p:cNvCxnSpPr/>
            <p:nvPr/>
          </p:nvCxnSpPr>
          <p:spPr>
            <a:xfrm flipH="1">
              <a:off x="2051" y="799"/>
              <a:ext cx="1500" cy="600"/>
            </a:xfrm>
            <a:prstGeom prst="bentConnector3">
              <a:avLst>
                <a:gd fmla="val -206486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2" name="Google Shape;162;p18"/>
            <p:cNvCxnSpPr/>
            <p:nvPr/>
          </p:nvCxnSpPr>
          <p:spPr>
            <a:xfrm>
              <a:off x="2054" y="1616"/>
              <a:ext cx="1" cy="22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3" name="Google Shape;163;p18"/>
            <p:cNvCxnSpPr/>
            <p:nvPr/>
          </p:nvCxnSpPr>
          <p:spPr>
            <a:xfrm>
              <a:off x="2055" y="2615"/>
              <a:ext cx="0" cy="2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4" name="Google Shape;164;p18"/>
            <p:cNvCxnSpPr/>
            <p:nvPr/>
          </p:nvCxnSpPr>
          <p:spPr>
            <a:xfrm flipH="1">
              <a:off x="2054" y="3613"/>
              <a:ext cx="1" cy="2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5" name="Google Shape;165;p18"/>
            <p:cNvCxnSpPr/>
            <p:nvPr/>
          </p:nvCxnSpPr>
          <p:spPr>
            <a:xfrm flipH="1" rot="5400000">
              <a:off x="1004" y="3106"/>
              <a:ext cx="1800" cy="300"/>
            </a:xfrm>
            <a:prstGeom prst="bentConnector4">
              <a:avLst>
                <a:gd fmla="val 232457" name="adj1"/>
                <a:gd fmla="val 300309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6" name="Google Shape;166;p18"/>
            <p:cNvCxnSpPr/>
            <p:nvPr/>
          </p:nvCxnSpPr>
          <p:spPr>
            <a:xfrm flipH="1" rot="10800000">
              <a:off x="2486" y="2205"/>
              <a:ext cx="726" cy="2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7" name="Google Shape;167;p18"/>
            <p:cNvCxnSpPr/>
            <p:nvPr/>
          </p:nvCxnSpPr>
          <p:spPr>
            <a:xfrm>
              <a:off x="4345" y="2205"/>
              <a:ext cx="725" cy="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8" name="Google Shape;168;p18"/>
            <p:cNvCxnSpPr/>
            <p:nvPr/>
          </p:nvCxnSpPr>
          <p:spPr>
            <a:xfrm>
              <a:off x="2486" y="3227"/>
              <a:ext cx="770" cy="2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9" name="Google Shape;169;p18"/>
            <p:cNvCxnSpPr/>
            <p:nvPr/>
          </p:nvCxnSpPr>
          <p:spPr>
            <a:xfrm flipH="1">
              <a:off x="2623" y="3385"/>
              <a:ext cx="1200" cy="600"/>
            </a:xfrm>
            <a:prstGeom prst="bent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70" name="Google Shape;170;p18"/>
            <p:cNvSpPr txBox="1"/>
            <p:nvPr/>
          </p:nvSpPr>
          <p:spPr>
            <a:xfrm>
              <a:off x="2726" y="202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2032" y="360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2046" y="261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Đ</a:t>
              </a:r>
              <a:endParaRPr/>
            </a:p>
          </p:txBody>
        </p:sp>
        <p:sp>
          <p:nvSpPr>
            <p:cNvPr id="173" name="Google Shape;173;p18"/>
            <p:cNvSpPr txBox="1"/>
            <p:nvPr/>
          </p:nvSpPr>
          <p:spPr>
            <a:xfrm>
              <a:off x="2763" y="302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Đ</a:t>
              </a:r>
              <a:endParaRPr/>
            </a:p>
          </p:txBody>
        </p:sp>
      </p:grpSp>
      <p:sp>
        <p:nvSpPr>
          <p:cNvPr id="174" name="Google Shape;174;p18"/>
          <p:cNvSpPr txBox="1"/>
          <p:nvPr/>
        </p:nvSpPr>
        <p:spPr>
          <a:xfrm>
            <a:off x="6537325" y="1557337"/>
            <a:ext cx="273685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Tìm phần tử mang giá trị lớn nhất trong mảng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Biểu Diễn Bằng Mã Giả</a:t>
            </a:r>
            <a:endParaRPr/>
          </a:p>
        </p:txBody>
      </p:sp>
      <p:sp>
        <p:nvSpPr>
          <p:cNvPr id="180" name="Google Shape;180;p19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Ngôn ngữ tựa ngôn ngữ lập trình: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Dùng cấu trúc chuẩn hóa, chẳng hạn tựa Pascal, C.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Dùng các ký hiệu toán học, biến, hàm.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Ưu điểm:</a:t>
            </a:r>
            <a:r>
              <a:rPr lang="en-US"/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Đỡ cồng kềnh hơn lưu đồ khối.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Nhược điểm:</a:t>
            </a:r>
            <a:r>
              <a:rPr lang="en-US"/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trực quan bằng lưu đồ khối.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Biểu Diễn Bằng Mã Giả</a:t>
            </a:r>
            <a:endParaRPr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6087" lvl="1" marL="10239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Các cấu trúc: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Cấu trúc chọn: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…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then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 [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else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…] </a:t>
            </a:r>
            <a:endParaRPr b="1" i="0" sz="28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Vòng lặp: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while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do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while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(…)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do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 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Một số câu lệnh khác: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Trả giá trị về: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return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[giá trị]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Lời gọi hàm: &lt;Tên&gt;(tham số)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Biểu Diễn Bằng Mã Giả</a:t>
            </a:r>
            <a:endParaRPr/>
          </a:p>
        </p:txBody>
      </p:sp>
      <p:sp>
        <p:nvSpPr>
          <p:cNvPr id="192" name="Google Shape;192;p20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Một số quy ước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1. Các biểu thức toán học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2. Lệnh gán: “=” (A🡨B)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3. So sánh: “==”, “!=”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4. Khai báo hàm (thuật toán)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</a:t>
            </a:r>
            <a:r>
              <a:rPr b="1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Thuật toán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&lt;tên TT&gt; (&lt;tham số&gt;)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</a:t>
            </a:r>
            <a:r>
              <a:rPr b="1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&lt;dữ liệu vào&gt;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</a:t>
            </a:r>
            <a:r>
              <a:rPr b="1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&lt;dữ liệu ra&gt;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&lt;Các câu lệnh&gt;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1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Biểu Diễn Bằng Mã Giả</a:t>
            </a:r>
            <a:endParaRPr/>
          </a:p>
        </p:txBody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Tìm phần tử lớn nhất trong mảng một chiều.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i=1;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None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while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(i&lt;n)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i++;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None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end while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baseline="-25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82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63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Biểu Diễn Bằng Ngôn Ngữ Lập Trình</a:t>
            </a:r>
            <a:endParaRPr/>
          </a:p>
        </p:txBody>
      </p:sp>
      <p:sp>
        <p:nvSpPr>
          <p:cNvPr id="204" name="Google Shape;204;p23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Dùng ngôn ngữ máy tính (C, Pascal,...) để diễn tả thuật toán, CTDL thành câu lệnh.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Kỹ năng lập trình đòi hỏi cần học tập và thực hành (nhiều).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Dùng phương pháp tinh chế từng bước để chuyển hoá bài toán sang mã chương trình cụ thể.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Độ Phức Tạp Của Thuật Toán</a:t>
            </a:r>
            <a:endParaRPr/>
          </a:p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Một thuật toán hiệu quả: 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 phí cần sử dụng tài nguyên thấp: Bộ nhớ, thời gian sử dụng CPU, …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Phân tích độ phức tạp thuật toán: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là khối lượng dữ liệu cần xử lý.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Mô tả độ phức tạp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thuật toán qua một hàm </a:t>
            </a: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f(N)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Hai phương pháp đánh giá độ phức tạp của thuật toán:</a:t>
            </a:r>
            <a:endParaRPr/>
          </a:p>
          <a:p>
            <a:pPr indent="-349249" lvl="2" marL="148748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Phương pháp thực nghiệm.</a:t>
            </a:r>
            <a:endParaRPr/>
          </a:p>
          <a:p>
            <a:pPr indent="-349249" lvl="2" marL="148748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Phương pháp xấp xỉ toán học.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Phương Pháp Thực Nghiệm</a:t>
            </a:r>
            <a:endParaRPr/>
          </a:p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Cài thuật toán rồi chọn các bộ dữ liệu thử nghiệm. 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Thống kê các thông số nhận được khi chạy các bộ dữ liệu đó.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1" lang="en-US" sz="2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Ưu điểm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Dễ thực hiện.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1" lang="en-US" sz="2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Nhược điểm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Chịu sự hạn chế của ngôn ngữ lập trình.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Ảnh hưởng bởi trình độ của người lập trình.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Chọn được các bộ dữ liệu thử đặc trưng cho tất cả tập các dữ liệu vào của thuật toán: khó khăn và tốn nhiều chi phí. 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Phụ thuộc vào phần cứng.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Phương Pháp Xấp Xỉ</a:t>
            </a:r>
            <a:endParaRPr/>
          </a:p>
        </p:txBody>
      </p:sp>
      <p:sp>
        <p:nvSpPr>
          <p:cNvPr id="222" name="Google Shape;222;p27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Đánh giá giá thuật toán theo hướng tiệm xấp xỉ tiệm cận qua các khái niệm O().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1" lang="en-US" sz="2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Ưu điểm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Ít phụ thuộc môi trường cũng như phần cứng hơn.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1" lang="en-US" sz="2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Nhược điểm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Phức tạp.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trường hợp độ phức tạp quan tâm: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Trường hợp tốt nhất (phân tích chính xác)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Trường hợp xấu nhất (phân tích chính xác)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Trường hợp trung bình (mang tích dự đoán)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idx="4294967295"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Phương Pháp Xấp Xỉ</a:t>
            </a:r>
            <a:endParaRPr/>
          </a:p>
        </p:txBody>
      </p:sp>
      <p:sp>
        <p:nvSpPr>
          <p:cNvPr id="228" name="Google Shape;228;p29"/>
          <p:cNvSpPr txBox="1"/>
          <p:nvPr>
            <p:ph idx="4294967295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marR="0" rtl="0" algn="just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Noto Sans Symbols"/>
              <a:buChar char="⮚"/>
            </a:pPr>
            <a:r>
              <a:rPr b="0" i="0" lang="en-US" sz="3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Hàm Omega lớn:</a:t>
            </a:r>
            <a:r>
              <a:rPr b="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463550" lvl="0" marL="463550" marR="0" rtl="0" algn="just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T(n) hàm Omega lớn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của</a:t>
            </a:r>
            <a:r>
              <a:rPr b="0" i="0" lang="en-US" sz="3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g(n): </a:t>
            </a:r>
            <a:r>
              <a:rPr b="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>
                <a:solidFill>
                  <a:srgbClr val="0000FF"/>
                </a:solidFill>
              </a:rPr>
              <a:t>T(n)=</a:t>
            </a:r>
            <a:r>
              <a:rPr lang="en-US" sz="3600">
                <a:solidFill>
                  <a:schemeClr val="dk2"/>
                </a:solidFill>
              </a:rPr>
              <a:t>Ω(g(n))</a:t>
            </a:r>
            <a:r>
              <a:rPr b="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nếu ∃ c và n</a:t>
            </a:r>
            <a:r>
              <a:rPr b="0" baseline="-2500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sao cho với mọi n&gt;= n</a:t>
            </a:r>
            <a:r>
              <a:rPr b="0" baseline="-2500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463550" lvl="0" marL="463550" marR="0" rtl="0" algn="just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     </a:t>
            </a: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T(n) &gt;= c.g(n)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>
            <p:ph idx="4294967295"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Phương Pháp Xấp Xỉ</a:t>
            </a:r>
            <a:endParaRPr/>
          </a:p>
        </p:txBody>
      </p:sp>
      <p:sp>
        <p:nvSpPr>
          <p:cNvPr id="234" name="Google Shape;234;p28"/>
          <p:cNvSpPr txBox="1"/>
          <p:nvPr>
            <p:ph idx="4294967295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None/>
            </a:pPr>
            <a: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Ký pháp</a:t>
            </a:r>
            <a:endParaRPr/>
          </a:p>
          <a:p>
            <a:pPr indent="-463550" lvl="0" marL="4635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Giả sử T(n) là thời gian thực hiện TT và f(n), g(n), h(n) là các hàm xác định dương. </a:t>
            </a:r>
            <a:endParaRPr/>
          </a:p>
          <a:p>
            <a:pPr indent="-463550" lvl="0" marL="46355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Hàm Theta lớn:</a:t>
            </a:r>
            <a:endParaRPr/>
          </a:p>
          <a:p>
            <a:pPr indent="-463550" lvl="0" marL="463550" marR="0" rtl="0" algn="just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T(n) là hàm Theta lớn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của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g(n): </a:t>
            </a: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T(n) =Θ(g(n))</a:t>
            </a:r>
            <a:endParaRPr b="0" i="0" sz="2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nếu ∃ các hằng số dương c</a:t>
            </a:r>
            <a:r>
              <a:rPr b="0" baseline="-2500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,c</a:t>
            </a:r>
            <a:r>
              <a:rPr b="0" baseline="-2500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,n</a:t>
            </a:r>
            <a:r>
              <a:rPr b="0" baseline="-2500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sao cho với mọi n&gt;= n</a:t>
            </a:r>
            <a:r>
              <a:rPr b="0" baseline="-2500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indent="-463550" lvl="0" marL="46355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          </a:t>
            </a: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g(n) &lt;= T(n) &lt;= c</a:t>
            </a:r>
            <a:r>
              <a:rPr b="1" baseline="-2500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g(n)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idx="4294967295"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Phương Pháp Xấp Xỉ</a:t>
            </a:r>
            <a:endParaRPr/>
          </a:p>
        </p:txBody>
      </p:sp>
      <p:sp>
        <p:nvSpPr>
          <p:cNvPr id="240" name="Google Shape;240;p30"/>
          <p:cNvSpPr txBox="1"/>
          <p:nvPr>
            <p:ph idx="4294967295" type="body"/>
          </p:nvPr>
        </p:nvSpPr>
        <p:spPr>
          <a:xfrm>
            <a:off x="273050" y="1341437"/>
            <a:ext cx="9632950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Noto Sans Symbols"/>
              <a:buChar char="⮚"/>
            </a:pPr>
            <a:r>
              <a:rPr b="0" i="0" lang="en-US" sz="32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Hàm O lớn: </a:t>
            </a:r>
            <a:endParaRPr/>
          </a:p>
          <a:p>
            <a:pPr indent="-446087" lvl="1" marL="1023937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Noto Sans Symbols"/>
              <a:buChar char="⮲"/>
            </a:pPr>
            <a:r>
              <a:rPr b="0" i="0" lang="en-US" sz="32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T(n) hàm Omega lớn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của</a:t>
            </a:r>
            <a:r>
              <a:rPr b="0" i="0" lang="en-US" sz="32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g(n),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T(n) =O (g(n)) nếu ∃  c và n</a:t>
            </a:r>
            <a:r>
              <a:rPr b="0" baseline="-2500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sao cho   với mọi n&gt;= n</a:t>
            </a:r>
            <a:r>
              <a:rPr b="0" baseline="-2500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indent="-446087" lvl="1" marL="1023937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T(n)  &lt;=c g(n)</a:t>
            </a:r>
            <a:endParaRPr/>
          </a:p>
          <a:p>
            <a:pPr indent="-446087" lvl="1" marL="1023937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⮲"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g(n)    giới hạn trên của T(n).</a:t>
            </a:r>
            <a:endParaRPr/>
          </a:p>
          <a:p>
            <a:pPr indent="-463550" lvl="0" marL="4635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635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idx="4294967295" type="body"/>
          </p:nvPr>
        </p:nvSpPr>
        <p:spPr>
          <a:xfrm>
            <a:off x="992187" y="1052512"/>
            <a:ext cx="85692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Ví dụ, nếu T(n) = n</a:t>
            </a:r>
            <a:r>
              <a:rPr b="0" baseline="3000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+ 1 thì T(n) = O(n</a:t>
            </a:r>
            <a:r>
              <a:rPr b="0" baseline="3000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463550" lvl="0" marL="46355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Chọn c=2 và n</a:t>
            </a:r>
            <a:r>
              <a:rPr b="0" baseline="-2500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=1, khi đó với mọi n&gt;=1, ta có T(n)= n</a:t>
            </a:r>
            <a:r>
              <a:rPr b="0" baseline="3000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+1 &lt;= 2n</a:t>
            </a:r>
            <a:r>
              <a:rPr b="0" baseline="3000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=2g(n). 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350" lvl="0" marL="46355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920750" y="188912"/>
            <a:ext cx="3735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Phương Pháp Xấp Xỉ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idx="4294967295" type="title"/>
          </p:nvPr>
        </p:nvSpPr>
        <p:spPr>
          <a:xfrm>
            <a:off x="776287" y="79375"/>
            <a:ext cx="8929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Các tính chất</a:t>
            </a:r>
            <a:endParaRPr/>
          </a:p>
        </p:txBody>
      </p:sp>
      <p:sp>
        <p:nvSpPr>
          <p:cNvPr id="252" name="Google Shape;252;p32"/>
          <p:cNvSpPr txBox="1"/>
          <p:nvPr>
            <p:ph idx="4294967295" type="body"/>
          </p:nvPr>
        </p:nvSpPr>
        <p:spPr>
          <a:xfrm>
            <a:off x="992187" y="1052512"/>
            <a:ext cx="85692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1" i="0" sz="32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(i) Tính bắc cầu: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nếu f(n)= O(g(n)) và g(n)= O(h(n)) thì f(n)= O(h(n))</a:t>
            </a:r>
            <a:endParaRPr/>
          </a:p>
          <a:p>
            <a:pPr indent="-463550" lvl="0" marL="46355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(ii) Tính phản xạ: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f(n)=O(f(n)) 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350" lvl="0" marL="46355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idx="4294967295" type="title"/>
          </p:nvPr>
        </p:nvSpPr>
        <p:spPr>
          <a:xfrm>
            <a:off x="776287" y="79375"/>
            <a:ext cx="8929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Xác định độ phức tạp</a:t>
            </a:r>
            <a:endParaRPr/>
          </a:p>
        </p:txBody>
      </p:sp>
      <p:sp>
        <p:nvSpPr>
          <p:cNvPr id="258" name="Google Shape;258;p33"/>
          <p:cNvSpPr txBox="1"/>
          <p:nvPr>
            <p:ph idx="4294967295" type="body"/>
          </p:nvPr>
        </p:nvSpPr>
        <p:spPr>
          <a:xfrm>
            <a:off x="908050" y="1268412"/>
            <a:ext cx="88329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0" i="0" lang="en-US" sz="28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Quy tắc hằng số</a:t>
            </a:r>
            <a:endParaRPr/>
          </a:p>
          <a:p>
            <a:pPr indent="-446087" lvl="1" marL="1023937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Nếu P có T(n)= O(c</a:t>
            </a:r>
            <a:r>
              <a:rPr b="0" baseline="-2500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f(n))           P có độ phức tạp   </a:t>
            </a:r>
            <a: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O(f(n))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446087" lvl="1" marL="1023937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i="0" sz="2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6087" lvl="1" marL="1023937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T(n)= O(c</a:t>
            </a:r>
            <a:r>
              <a:rPr b="0" baseline="-2500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f(n)) nên tồn tại c</a:t>
            </a:r>
            <a:r>
              <a:rPr b="0" baseline="-2500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&gt;0 và n</a:t>
            </a:r>
            <a:r>
              <a:rPr b="0" baseline="-2500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&gt;0  để T(n) &lt;= c</a:t>
            </a:r>
            <a:r>
              <a:rPr b="0" baseline="-2500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.c</a:t>
            </a:r>
            <a:r>
              <a:rPr b="0" baseline="-2500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f(n) với mọi n&gt;= n</a:t>
            </a:r>
            <a:r>
              <a:rPr b="0" baseline="-2500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446087" lvl="1" marL="1023937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Đặt c=c</a:t>
            </a:r>
            <a:r>
              <a:rPr b="0" baseline="-2500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.c</a:t>
            </a:r>
            <a:r>
              <a:rPr b="0" baseline="-2500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ta có điều cần CM</a:t>
            </a:r>
            <a:endParaRPr/>
          </a:p>
        </p:txBody>
      </p:sp>
      <p:sp>
        <p:nvSpPr>
          <p:cNvPr id="259" name="Google Shape;259;p33"/>
          <p:cNvSpPr/>
          <p:nvPr/>
        </p:nvSpPr>
        <p:spPr>
          <a:xfrm>
            <a:off x="6559550" y="1773237"/>
            <a:ext cx="1057200" cy="48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>
            <p:ph idx="4294967295" type="title"/>
          </p:nvPr>
        </p:nvSpPr>
        <p:spPr>
          <a:xfrm>
            <a:off x="776287" y="79375"/>
            <a:ext cx="8929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Xác định độ phức tạp</a:t>
            </a:r>
            <a:endParaRPr/>
          </a:p>
        </p:txBody>
      </p:sp>
      <p:sp>
        <p:nvSpPr>
          <p:cNvPr id="265" name="Google Shape;265;p34"/>
          <p:cNvSpPr txBox="1"/>
          <p:nvPr>
            <p:ph idx="4294967295" type="body"/>
          </p:nvPr>
        </p:nvSpPr>
        <p:spPr>
          <a:xfrm>
            <a:off x="992187" y="1052512"/>
            <a:ext cx="85692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⮚"/>
            </a:pPr>
            <a:r>
              <a:rPr b="1" i="0" lang="en-US" sz="32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Quy tắc lấy Max</a:t>
            </a:r>
            <a:endParaRPr/>
          </a:p>
          <a:p>
            <a:pPr indent="-463550" lvl="0" marL="4635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Nếu P có T(n)= O( f(n)+g(n)) thì P có độ phức tạp  là </a:t>
            </a:r>
            <a:r>
              <a:rPr b="1" i="1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O( max ( f(n), g(n)))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463550" lvl="0" marL="4635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1" i="0" sz="32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0" lang="en-US" sz="2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T(n) = O( f(n)+g(n)) nên tồn tại n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&gt;0  và c&gt;0 để </a:t>
            </a:r>
            <a:endParaRPr/>
          </a:p>
          <a:p>
            <a:pPr indent="-463550" lvl="0" marL="4635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T(n) &lt;= cf(n) + cg(n), với mọi n&gt;= n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-463550" lvl="0" marL="4635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vậy T(n) &lt;= cf(n) +cg(n) &lt;= 2c max (f(n),g(n)) với mọi n&gt;=n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463550" lvl="0" marL="4635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Từ đó suy điều cần CM.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11150" lvl="0" marL="4635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idx="4294967295" type="title"/>
          </p:nvPr>
        </p:nvSpPr>
        <p:spPr>
          <a:xfrm>
            <a:off x="776287" y="79375"/>
            <a:ext cx="8929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Xác định độ phức tạp</a:t>
            </a:r>
            <a:endParaRPr/>
          </a:p>
        </p:txBody>
      </p:sp>
      <p:sp>
        <p:nvSpPr>
          <p:cNvPr id="271" name="Google Shape;271;p35"/>
          <p:cNvSpPr txBox="1"/>
          <p:nvPr>
            <p:ph idx="4294967295" type="body"/>
          </p:nvPr>
        </p:nvSpPr>
        <p:spPr>
          <a:xfrm>
            <a:off x="992187" y="1052512"/>
            <a:ext cx="85692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⮚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Quy tắc cộng</a:t>
            </a:r>
            <a:endParaRPr/>
          </a:p>
          <a:p>
            <a:pPr indent="-463550" lvl="0" marL="463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Nếu P1 có T1 (n) = O( f(n) và P2  có T2(n)= O(g(n)), khi đó: </a:t>
            </a: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T1(n) +T2(n) = O(f(n) +g(n))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463550" lvl="0" marL="4635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1" i="0"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Vì T1(n)= O(f(n)) nên ∃ các hàng số c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và n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sao cho T(n) &lt;= c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.f(n)  ∀n: n&gt;= n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463550" lvl="0" marL="463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Vì  T2(n) =O(g(n)) nên ∃ các hàng số c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và n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sao cho T(n) &lt;= c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.g(n) ∀n: n&gt;= n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463550" lvl="0" marL="463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Chọn c= max (c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,c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  và n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max(n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,n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ta có ∀n: n&gt;= n</a:t>
            </a:r>
            <a:r>
              <a:rPr b="0" baseline="-25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463550" lvl="0" marL="463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T(n) = T1(n) + T2(n) &lt;= c</a:t>
            </a:r>
            <a:r>
              <a:rPr b="0" baseline="-2500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f(n) + c</a:t>
            </a:r>
            <a:r>
              <a:rPr b="0" baseline="-2500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g(n) </a:t>
            </a:r>
            <a:endParaRPr/>
          </a:p>
          <a:p>
            <a:pPr indent="-463550" lvl="0" marL="463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			&lt;= cf(n) +cg(n) = c(f(n)+g(n)).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/>
          <p:nvPr>
            <p:ph idx="4294967295" type="title"/>
          </p:nvPr>
        </p:nvSpPr>
        <p:spPr>
          <a:xfrm>
            <a:off x="776287" y="79375"/>
            <a:ext cx="8929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Xác định độ phức tạp</a:t>
            </a:r>
            <a:endParaRPr/>
          </a:p>
        </p:txBody>
      </p:sp>
      <p:sp>
        <p:nvSpPr>
          <p:cNvPr id="277" name="Google Shape;277;p36"/>
          <p:cNvSpPr txBox="1"/>
          <p:nvPr>
            <p:ph idx="4294967295" type="body"/>
          </p:nvPr>
        </p:nvSpPr>
        <p:spPr>
          <a:xfrm>
            <a:off x="992187" y="1052512"/>
            <a:ext cx="85692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⮚"/>
            </a:pPr>
            <a:r>
              <a:rPr b="1" i="0" lang="en-US" sz="28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Quy tắc nhân</a:t>
            </a:r>
            <a:endParaRPr/>
          </a:p>
          <a:p>
            <a:pPr indent="-463550" lvl="0" marL="463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Nếu  P có  T(n)= O(f(n)). Khi đó nếu thực hiện k(n) lần P với k(n)=O(g(n)) thì độ phức tạp là </a:t>
            </a: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O(f(n) g(n))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463550" lvl="0" marL="4635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1" i="0" sz="18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b="1" i="0" lang="en-US" sz="18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Thời gian thực hiện k(n) lần đoạn chương trình P sẽ là k(n)   T(n), theo định nghĩa:</a:t>
            </a:r>
            <a:endParaRPr/>
          </a:p>
          <a:p>
            <a:pPr indent="-446087" lvl="1" marL="1023937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⮲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∃c</a:t>
            </a:r>
            <a:r>
              <a:rPr b="0" baseline="-2500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&gt;=0 và n</a:t>
            </a:r>
            <a:r>
              <a:rPr b="0" baseline="-2500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&gt;0 để k(n) &lt;= c</a:t>
            </a:r>
            <a:r>
              <a:rPr b="0" baseline="-2500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(g(n)) với mọi n&gt;= n</a:t>
            </a:r>
            <a:r>
              <a:rPr b="0" baseline="-2500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/>
          </a:p>
          <a:p>
            <a:pPr indent="-446087" lvl="1" marL="1023937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⮲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∃c</a:t>
            </a:r>
            <a:r>
              <a:rPr b="0" baseline="-2500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&gt;=0 và n</a:t>
            </a:r>
            <a:r>
              <a:rPr b="0" baseline="-2500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&gt;0 để T(n) &lt;= c</a:t>
            </a:r>
            <a:r>
              <a:rPr b="0" baseline="-2500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f(n) với mọi n&gt;= n</a:t>
            </a:r>
            <a:r>
              <a:rPr b="0" baseline="-2500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  <a:p>
            <a:pPr indent="-463550" lvl="0" marL="4635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Vậy với mọi  n &gt;= max(n</a:t>
            </a:r>
            <a:r>
              <a:rPr b="0" baseline="-2500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,n</a:t>
            </a:r>
            <a:r>
              <a:rPr b="0" baseline="-2500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ta có k(n)T(n) &lt;= c</a:t>
            </a:r>
            <a:r>
              <a:rPr b="0" baseline="-2500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(f(n)g(n)).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/>
          <p:nvPr>
            <p:ph idx="4294967295" type="title"/>
          </p:nvPr>
        </p:nvSpPr>
        <p:spPr>
          <a:xfrm>
            <a:off x="776287" y="79375"/>
            <a:ext cx="8929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 Bài toán và thuật toán</a:t>
            </a:r>
            <a:endParaRPr/>
          </a:p>
        </p:txBody>
      </p:sp>
      <p:sp>
        <p:nvSpPr>
          <p:cNvPr id="283" name="Google Shape;283;p37"/>
          <p:cNvSpPr txBox="1"/>
          <p:nvPr>
            <p:ph idx="4294967295" type="body"/>
          </p:nvPr>
        </p:nvSpPr>
        <p:spPr>
          <a:xfrm>
            <a:off x="992187" y="1052512"/>
            <a:ext cx="85692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rPr b="1" i="1" lang="en-US" sz="18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e)</a:t>
            </a:r>
            <a:r>
              <a:rPr b="1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Áp dụng đánh giá chương trình</a:t>
            </a:r>
            <a:endParaRPr/>
          </a:p>
          <a:p>
            <a:pPr indent="-463550" lvl="0" marL="463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Câu lệnh đơn thực hiện một thao tác: </a:t>
            </a:r>
            <a:r>
              <a:rPr b="1" lang="en-US" sz="2400">
                <a:solidFill>
                  <a:schemeClr val="dk2"/>
                </a:solidFill>
              </a:rPr>
              <a:t>Quy tắc hằng số</a:t>
            </a:r>
            <a:endParaRPr/>
          </a:p>
          <a:p>
            <a:pPr indent="-463550" lvl="0" marL="463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Câu lệnh hợp thành là dãy các câu lệnh: </a:t>
            </a:r>
            <a:r>
              <a:rPr b="1" lang="en-US" sz="2400"/>
              <a:t>Quy tắc tổng</a:t>
            </a:r>
            <a:endParaRPr b="1" sz="2400"/>
          </a:p>
          <a:p>
            <a:pPr indent="-463550" lvl="0" marL="463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Câu lệnh rẽ nhánh dạng If ..then..else</a:t>
            </a:r>
            <a:r>
              <a:rPr lang="en-US" sz="2400">
                <a:solidFill>
                  <a:schemeClr val="dk2"/>
                </a:solidFill>
              </a:rPr>
              <a:t>: </a:t>
            </a:r>
            <a:r>
              <a:rPr b="1" i="0" lang="en-US" sz="2400" u="none">
                <a:solidFill>
                  <a:schemeClr val="dk2"/>
                </a:solidFill>
              </a:rPr>
              <a:t>QT Max</a:t>
            </a:r>
            <a:endParaRPr b="1"/>
          </a:p>
          <a:p>
            <a:pPr indent="-463550" lvl="0" marL="463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Các câu lệnh lặp</a:t>
            </a:r>
            <a:r>
              <a:rPr lang="en-US" sz="2400">
                <a:solidFill>
                  <a:schemeClr val="dk2"/>
                </a:solidFill>
              </a:rPr>
              <a:t>: </a:t>
            </a:r>
            <a:r>
              <a:rPr b="1" i="0" lang="en-US" sz="2400" u="none">
                <a:solidFill>
                  <a:schemeClr val="dk2"/>
                </a:solidFill>
              </a:rPr>
              <a:t>QT Nhân</a:t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/>
          <p:nvPr>
            <p:ph idx="4294967295" type="title"/>
          </p:nvPr>
        </p:nvSpPr>
        <p:spPr>
          <a:xfrm>
            <a:off x="776287" y="79375"/>
            <a:ext cx="8929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Ví dụ 1</a:t>
            </a:r>
            <a:endParaRPr/>
          </a:p>
        </p:txBody>
      </p:sp>
      <p:sp>
        <p:nvSpPr>
          <p:cNvPr id="289" name="Google Shape;289;p38"/>
          <p:cNvSpPr txBox="1"/>
          <p:nvPr>
            <p:ph idx="4294967295" type="body"/>
          </p:nvPr>
        </p:nvSpPr>
        <p:spPr>
          <a:xfrm>
            <a:off x="992187" y="1052512"/>
            <a:ext cx="42006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pic>
        <p:nvPicPr>
          <p:cNvPr id="290" name="Google Shape;290;p38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7012" y="949325"/>
            <a:ext cx="7704000" cy="60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9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7125" y="762000"/>
            <a:ext cx="6769200" cy="59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9"/>
          <p:cNvSpPr txBox="1"/>
          <p:nvPr/>
        </p:nvSpPr>
        <p:spPr>
          <a:xfrm>
            <a:off x="776287" y="182562"/>
            <a:ext cx="1728787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Ví dụ 2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/>
          <p:nvPr>
            <p:ph idx="4294967295"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Ví dụ 3</a:t>
            </a:r>
            <a:endParaRPr/>
          </a:p>
        </p:txBody>
      </p:sp>
      <p:pic>
        <p:nvPicPr>
          <p:cNvPr id="302" name="Google Shape;302;p40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6412" y="785600"/>
            <a:ext cx="7489800" cy="59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 txBox="1"/>
          <p:nvPr>
            <p:ph idx="4294967295"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Một số dạng hàm</a:t>
            </a:r>
            <a:endParaRPr/>
          </a:p>
        </p:txBody>
      </p:sp>
      <p:sp>
        <p:nvSpPr>
          <p:cNvPr id="308" name="Google Shape;308;p41"/>
          <p:cNvSpPr txBox="1"/>
          <p:nvPr>
            <p:ph idx="4294967295" type="body"/>
          </p:nvPr>
        </p:nvSpPr>
        <p:spPr>
          <a:xfrm>
            <a:off x="825500" y="1412875"/>
            <a:ext cx="8915400" cy="468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⮚"/>
            </a:pP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Đa thức bậc k: P(n), O</a:t>
            </a:r>
            <a:r>
              <a:rPr b="1" i="1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(n</a:t>
            </a:r>
            <a:r>
              <a:rPr b="1" baseline="30000" i="1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1" i="1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463550" lvl="0" marL="46355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⮚"/>
            </a:pP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b="0" baseline="-2500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f(n),  O</a:t>
            </a:r>
            <a:r>
              <a:rPr b="1" i="1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(log f(n))</a:t>
            </a: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463550" lvl="0" marL="46355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⮚"/>
            </a:pP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Hằng số, O</a:t>
            </a:r>
            <a:r>
              <a:rPr b="1" i="1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/>
          </a:p>
          <a:p>
            <a:pPr indent="-463550" lvl="0" marL="46355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⮚"/>
            </a:pP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Hàm mũ O(2</a:t>
            </a:r>
            <a:r>
              <a:rPr b="0" baseline="3000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idx="4294967295" type="title"/>
          </p:nvPr>
        </p:nvSpPr>
        <p:spPr>
          <a:xfrm>
            <a:off x="825500" y="838200"/>
            <a:ext cx="858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b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 Bài toán và thuật toán</a:t>
            </a:r>
            <a:endParaRPr/>
          </a:p>
        </p:txBody>
      </p:sp>
      <p:grpSp>
        <p:nvGrpSpPr>
          <p:cNvPr id="314" name="Google Shape;314;p42"/>
          <p:cNvGrpSpPr/>
          <p:nvPr/>
        </p:nvGrpSpPr>
        <p:grpSpPr>
          <a:xfrm>
            <a:off x="633112" y="2094125"/>
            <a:ext cx="9361487" cy="3057525"/>
            <a:chOff x="-3" y="-3"/>
            <a:chExt cx="3570" cy="3094"/>
          </a:xfrm>
        </p:grpSpPr>
        <p:grpSp>
          <p:nvGrpSpPr>
            <p:cNvPr id="315" name="Google Shape;315;p42"/>
            <p:cNvGrpSpPr/>
            <p:nvPr/>
          </p:nvGrpSpPr>
          <p:grpSpPr>
            <a:xfrm>
              <a:off x="0" y="0"/>
              <a:ext cx="3564" cy="3088"/>
              <a:chOff x="0" y="0"/>
              <a:chExt cx="3564" cy="3088"/>
            </a:xfrm>
          </p:grpSpPr>
          <p:grpSp>
            <p:nvGrpSpPr>
              <p:cNvPr id="316" name="Google Shape;316;p42"/>
              <p:cNvGrpSpPr/>
              <p:nvPr/>
            </p:nvGrpSpPr>
            <p:grpSpPr>
              <a:xfrm>
                <a:off x="0" y="0"/>
                <a:ext cx="604" cy="422"/>
                <a:chOff x="0" y="0"/>
                <a:chExt cx="604" cy="422"/>
              </a:xfrm>
            </p:grpSpPr>
            <p:sp>
              <p:nvSpPr>
                <p:cNvPr id="317" name="Google Shape;317;p42"/>
                <p:cNvSpPr txBox="1"/>
                <p:nvPr/>
              </p:nvSpPr>
              <p:spPr>
                <a:xfrm>
                  <a:off x="43" y="0"/>
                  <a:ext cx="518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Lgn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" name="Google Shape;318;p42"/>
                <p:cNvSpPr txBox="1"/>
                <p:nvPr/>
              </p:nvSpPr>
              <p:spPr>
                <a:xfrm>
                  <a:off x="0" y="0"/>
                  <a:ext cx="604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9" name="Google Shape;319;p42"/>
              <p:cNvGrpSpPr/>
              <p:nvPr/>
            </p:nvGrpSpPr>
            <p:grpSpPr>
              <a:xfrm>
                <a:off x="604" y="0"/>
                <a:ext cx="590" cy="422"/>
                <a:chOff x="604" y="0"/>
                <a:chExt cx="590" cy="422"/>
              </a:xfrm>
            </p:grpSpPr>
            <p:sp>
              <p:nvSpPr>
                <p:cNvPr id="320" name="Google Shape;320;p42"/>
                <p:cNvSpPr txBox="1"/>
                <p:nvPr/>
              </p:nvSpPr>
              <p:spPr>
                <a:xfrm>
                  <a:off x="647" y="0"/>
                  <a:ext cx="504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 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" name="Google Shape;321;p42"/>
                <p:cNvSpPr txBox="1"/>
                <p:nvPr/>
              </p:nvSpPr>
              <p:spPr>
                <a:xfrm>
                  <a:off x="604" y="0"/>
                  <a:ext cx="590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2" name="Google Shape;322;p42"/>
              <p:cNvGrpSpPr/>
              <p:nvPr/>
            </p:nvGrpSpPr>
            <p:grpSpPr>
              <a:xfrm>
                <a:off x="1194" y="0"/>
                <a:ext cx="582" cy="422"/>
                <a:chOff x="1194" y="0"/>
                <a:chExt cx="582" cy="422"/>
              </a:xfrm>
            </p:grpSpPr>
            <p:sp>
              <p:nvSpPr>
                <p:cNvPr id="323" name="Google Shape;323;p42"/>
                <p:cNvSpPr txBox="1"/>
                <p:nvPr/>
              </p:nvSpPr>
              <p:spPr>
                <a:xfrm>
                  <a:off x="1237" y="0"/>
                  <a:ext cx="496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nlgn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" name="Google Shape;324;p42"/>
                <p:cNvSpPr txBox="1"/>
                <p:nvPr/>
              </p:nvSpPr>
              <p:spPr>
                <a:xfrm>
                  <a:off x="1194" y="0"/>
                  <a:ext cx="582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5" name="Google Shape;325;p42"/>
              <p:cNvGrpSpPr/>
              <p:nvPr/>
            </p:nvGrpSpPr>
            <p:grpSpPr>
              <a:xfrm>
                <a:off x="1776" y="0"/>
                <a:ext cx="596" cy="422"/>
                <a:chOff x="1776" y="0"/>
                <a:chExt cx="596" cy="422"/>
              </a:xfrm>
            </p:grpSpPr>
            <p:sp>
              <p:nvSpPr>
                <p:cNvPr id="326" name="Google Shape;326;p42"/>
                <p:cNvSpPr txBox="1"/>
                <p:nvPr/>
              </p:nvSpPr>
              <p:spPr>
                <a:xfrm>
                  <a:off x="1819" y="0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</a:t>
                  </a:r>
                  <a:r>
                    <a:rPr b="0" baseline="3000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42"/>
                <p:cNvSpPr txBox="1"/>
                <p:nvPr/>
              </p:nvSpPr>
              <p:spPr>
                <a:xfrm>
                  <a:off x="1776" y="0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8" name="Google Shape;328;p42"/>
              <p:cNvGrpSpPr/>
              <p:nvPr/>
            </p:nvGrpSpPr>
            <p:grpSpPr>
              <a:xfrm>
                <a:off x="2372" y="0"/>
                <a:ext cx="596" cy="422"/>
                <a:chOff x="2372" y="0"/>
                <a:chExt cx="596" cy="422"/>
              </a:xfrm>
            </p:grpSpPr>
            <p:sp>
              <p:nvSpPr>
                <p:cNvPr id="329" name="Google Shape;329;p42"/>
                <p:cNvSpPr txBox="1"/>
                <p:nvPr/>
              </p:nvSpPr>
              <p:spPr>
                <a:xfrm>
                  <a:off x="2415" y="0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</a:t>
                  </a:r>
                  <a:r>
                    <a:rPr b="0" baseline="3000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42"/>
                <p:cNvSpPr txBox="1"/>
                <p:nvPr/>
              </p:nvSpPr>
              <p:spPr>
                <a:xfrm>
                  <a:off x="2372" y="0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1" name="Google Shape;331;p42"/>
              <p:cNvGrpSpPr/>
              <p:nvPr/>
            </p:nvGrpSpPr>
            <p:grpSpPr>
              <a:xfrm>
                <a:off x="2968" y="0"/>
                <a:ext cx="596" cy="422"/>
                <a:chOff x="2968" y="0"/>
                <a:chExt cx="596" cy="422"/>
              </a:xfrm>
            </p:grpSpPr>
            <p:sp>
              <p:nvSpPr>
                <p:cNvPr id="332" name="Google Shape;332;p42"/>
                <p:cNvSpPr txBox="1"/>
                <p:nvPr/>
              </p:nvSpPr>
              <p:spPr>
                <a:xfrm>
                  <a:off x="3011" y="0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900"/>
                    <a:buFont typeface="Arial"/>
                    <a:buNone/>
                  </a:pPr>
                  <a:r>
                    <a:rPr b="0" i="0" lang="en-US" sz="19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r>
                    <a:rPr b="0" baseline="30000" i="0" lang="en-US" sz="19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</a:t>
                  </a:r>
                  <a:endParaRPr b="0" i="0" sz="19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9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" name="Google Shape;333;p42"/>
                <p:cNvSpPr txBox="1"/>
                <p:nvPr/>
              </p:nvSpPr>
              <p:spPr>
                <a:xfrm>
                  <a:off x="2968" y="0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4" name="Google Shape;334;p42"/>
              <p:cNvGrpSpPr/>
              <p:nvPr/>
            </p:nvGrpSpPr>
            <p:grpSpPr>
              <a:xfrm>
                <a:off x="0" y="422"/>
                <a:ext cx="604" cy="422"/>
                <a:chOff x="0" y="422"/>
                <a:chExt cx="604" cy="422"/>
              </a:xfrm>
            </p:grpSpPr>
            <p:sp>
              <p:nvSpPr>
                <p:cNvPr id="335" name="Google Shape;335;p42"/>
                <p:cNvSpPr txBox="1"/>
                <p:nvPr/>
              </p:nvSpPr>
              <p:spPr>
                <a:xfrm>
                  <a:off x="43" y="422"/>
                  <a:ext cx="518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" name="Google Shape;336;p42"/>
                <p:cNvSpPr txBox="1"/>
                <p:nvPr/>
              </p:nvSpPr>
              <p:spPr>
                <a:xfrm>
                  <a:off x="0" y="422"/>
                  <a:ext cx="604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7" name="Google Shape;337;p42"/>
              <p:cNvGrpSpPr/>
              <p:nvPr/>
            </p:nvGrpSpPr>
            <p:grpSpPr>
              <a:xfrm>
                <a:off x="604" y="422"/>
                <a:ext cx="590" cy="422"/>
                <a:chOff x="604" y="422"/>
                <a:chExt cx="590" cy="422"/>
              </a:xfrm>
            </p:grpSpPr>
            <p:sp>
              <p:nvSpPr>
                <p:cNvPr id="338" name="Google Shape;338;p42"/>
                <p:cNvSpPr txBox="1"/>
                <p:nvPr/>
              </p:nvSpPr>
              <p:spPr>
                <a:xfrm>
                  <a:off x="647" y="422"/>
                  <a:ext cx="504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" name="Google Shape;339;p42"/>
                <p:cNvSpPr txBox="1"/>
                <p:nvPr/>
              </p:nvSpPr>
              <p:spPr>
                <a:xfrm>
                  <a:off x="604" y="422"/>
                  <a:ext cx="590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0" name="Google Shape;340;p42"/>
              <p:cNvGrpSpPr/>
              <p:nvPr/>
            </p:nvGrpSpPr>
            <p:grpSpPr>
              <a:xfrm>
                <a:off x="1194" y="422"/>
                <a:ext cx="582" cy="422"/>
                <a:chOff x="1194" y="422"/>
                <a:chExt cx="582" cy="422"/>
              </a:xfrm>
            </p:grpSpPr>
            <p:sp>
              <p:nvSpPr>
                <p:cNvPr id="341" name="Google Shape;341;p42"/>
                <p:cNvSpPr txBox="1"/>
                <p:nvPr/>
              </p:nvSpPr>
              <p:spPr>
                <a:xfrm>
                  <a:off x="1237" y="422"/>
                  <a:ext cx="496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p42"/>
                <p:cNvSpPr txBox="1"/>
                <p:nvPr/>
              </p:nvSpPr>
              <p:spPr>
                <a:xfrm>
                  <a:off x="1194" y="422"/>
                  <a:ext cx="582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3" name="Google Shape;343;p42"/>
              <p:cNvGrpSpPr/>
              <p:nvPr/>
            </p:nvGrpSpPr>
            <p:grpSpPr>
              <a:xfrm>
                <a:off x="1776" y="422"/>
                <a:ext cx="596" cy="422"/>
                <a:chOff x="1776" y="422"/>
                <a:chExt cx="596" cy="422"/>
              </a:xfrm>
            </p:grpSpPr>
            <p:sp>
              <p:nvSpPr>
                <p:cNvPr id="344" name="Google Shape;344;p42"/>
                <p:cNvSpPr txBox="1"/>
                <p:nvPr/>
              </p:nvSpPr>
              <p:spPr>
                <a:xfrm>
                  <a:off x="1819" y="422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" name="Google Shape;345;p42"/>
                <p:cNvSpPr txBox="1"/>
                <p:nvPr/>
              </p:nvSpPr>
              <p:spPr>
                <a:xfrm>
                  <a:off x="1776" y="422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6" name="Google Shape;346;p42"/>
              <p:cNvGrpSpPr/>
              <p:nvPr/>
            </p:nvGrpSpPr>
            <p:grpSpPr>
              <a:xfrm>
                <a:off x="2372" y="422"/>
                <a:ext cx="596" cy="422"/>
                <a:chOff x="2372" y="422"/>
                <a:chExt cx="596" cy="422"/>
              </a:xfrm>
            </p:grpSpPr>
            <p:sp>
              <p:nvSpPr>
                <p:cNvPr id="347" name="Google Shape;347;p42"/>
                <p:cNvSpPr txBox="1"/>
                <p:nvPr/>
              </p:nvSpPr>
              <p:spPr>
                <a:xfrm>
                  <a:off x="2415" y="422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" name="Google Shape;348;p42"/>
                <p:cNvSpPr txBox="1"/>
                <p:nvPr/>
              </p:nvSpPr>
              <p:spPr>
                <a:xfrm>
                  <a:off x="2372" y="422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9" name="Google Shape;349;p42"/>
              <p:cNvGrpSpPr/>
              <p:nvPr/>
            </p:nvGrpSpPr>
            <p:grpSpPr>
              <a:xfrm>
                <a:off x="2968" y="422"/>
                <a:ext cx="596" cy="422"/>
                <a:chOff x="2968" y="422"/>
                <a:chExt cx="596" cy="422"/>
              </a:xfrm>
            </p:grpSpPr>
            <p:sp>
              <p:nvSpPr>
                <p:cNvPr id="350" name="Google Shape;350;p42"/>
                <p:cNvSpPr txBox="1"/>
                <p:nvPr/>
              </p:nvSpPr>
              <p:spPr>
                <a:xfrm>
                  <a:off x="3011" y="422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" name="Google Shape;351;p42"/>
                <p:cNvSpPr txBox="1"/>
                <p:nvPr/>
              </p:nvSpPr>
              <p:spPr>
                <a:xfrm>
                  <a:off x="2968" y="422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2" name="Google Shape;352;p42"/>
              <p:cNvGrpSpPr/>
              <p:nvPr/>
            </p:nvGrpSpPr>
            <p:grpSpPr>
              <a:xfrm>
                <a:off x="0" y="844"/>
                <a:ext cx="604" cy="422"/>
                <a:chOff x="0" y="844"/>
                <a:chExt cx="604" cy="422"/>
              </a:xfrm>
            </p:grpSpPr>
            <p:sp>
              <p:nvSpPr>
                <p:cNvPr id="353" name="Google Shape;353;p42"/>
                <p:cNvSpPr txBox="1"/>
                <p:nvPr/>
              </p:nvSpPr>
              <p:spPr>
                <a:xfrm>
                  <a:off x="43" y="844"/>
                  <a:ext cx="518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" name="Google Shape;354;p42"/>
                <p:cNvSpPr txBox="1"/>
                <p:nvPr/>
              </p:nvSpPr>
              <p:spPr>
                <a:xfrm>
                  <a:off x="0" y="844"/>
                  <a:ext cx="604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5" name="Google Shape;355;p42"/>
              <p:cNvGrpSpPr/>
              <p:nvPr/>
            </p:nvGrpSpPr>
            <p:grpSpPr>
              <a:xfrm>
                <a:off x="604" y="844"/>
                <a:ext cx="590" cy="422"/>
                <a:chOff x="604" y="844"/>
                <a:chExt cx="590" cy="422"/>
              </a:xfrm>
            </p:grpSpPr>
            <p:sp>
              <p:nvSpPr>
                <p:cNvPr id="356" name="Google Shape;356;p42"/>
                <p:cNvSpPr txBox="1"/>
                <p:nvPr/>
              </p:nvSpPr>
              <p:spPr>
                <a:xfrm>
                  <a:off x="647" y="844"/>
                  <a:ext cx="504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357;p42"/>
                <p:cNvSpPr txBox="1"/>
                <p:nvPr/>
              </p:nvSpPr>
              <p:spPr>
                <a:xfrm>
                  <a:off x="604" y="844"/>
                  <a:ext cx="590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8" name="Google Shape;358;p42"/>
              <p:cNvGrpSpPr/>
              <p:nvPr/>
            </p:nvGrpSpPr>
            <p:grpSpPr>
              <a:xfrm>
                <a:off x="1194" y="844"/>
                <a:ext cx="582" cy="422"/>
                <a:chOff x="1194" y="844"/>
                <a:chExt cx="582" cy="422"/>
              </a:xfrm>
            </p:grpSpPr>
            <p:sp>
              <p:nvSpPr>
                <p:cNvPr id="359" name="Google Shape;359;p42"/>
                <p:cNvSpPr txBox="1"/>
                <p:nvPr/>
              </p:nvSpPr>
              <p:spPr>
                <a:xfrm>
                  <a:off x="1237" y="844"/>
                  <a:ext cx="496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" name="Google Shape;360;p42"/>
                <p:cNvSpPr txBox="1"/>
                <p:nvPr/>
              </p:nvSpPr>
              <p:spPr>
                <a:xfrm>
                  <a:off x="1194" y="844"/>
                  <a:ext cx="582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1" name="Google Shape;361;p42"/>
              <p:cNvGrpSpPr/>
              <p:nvPr/>
            </p:nvGrpSpPr>
            <p:grpSpPr>
              <a:xfrm>
                <a:off x="1776" y="844"/>
                <a:ext cx="596" cy="422"/>
                <a:chOff x="1776" y="844"/>
                <a:chExt cx="596" cy="422"/>
              </a:xfrm>
            </p:grpSpPr>
            <p:sp>
              <p:nvSpPr>
                <p:cNvPr id="362" name="Google Shape;362;p42"/>
                <p:cNvSpPr txBox="1"/>
                <p:nvPr/>
              </p:nvSpPr>
              <p:spPr>
                <a:xfrm>
                  <a:off x="1819" y="844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42"/>
                <p:cNvSpPr txBox="1"/>
                <p:nvPr/>
              </p:nvSpPr>
              <p:spPr>
                <a:xfrm>
                  <a:off x="1776" y="844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4" name="Google Shape;364;p42"/>
              <p:cNvGrpSpPr/>
              <p:nvPr/>
            </p:nvGrpSpPr>
            <p:grpSpPr>
              <a:xfrm>
                <a:off x="2372" y="844"/>
                <a:ext cx="596" cy="422"/>
                <a:chOff x="2372" y="844"/>
                <a:chExt cx="596" cy="422"/>
              </a:xfrm>
            </p:grpSpPr>
            <p:sp>
              <p:nvSpPr>
                <p:cNvPr id="365" name="Google Shape;365;p42"/>
                <p:cNvSpPr txBox="1"/>
                <p:nvPr/>
              </p:nvSpPr>
              <p:spPr>
                <a:xfrm>
                  <a:off x="2415" y="844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" name="Google Shape;366;p42"/>
                <p:cNvSpPr txBox="1"/>
                <p:nvPr/>
              </p:nvSpPr>
              <p:spPr>
                <a:xfrm>
                  <a:off x="2372" y="844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7" name="Google Shape;367;p42"/>
              <p:cNvGrpSpPr/>
              <p:nvPr/>
            </p:nvGrpSpPr>
            <p:grpSpPr>
              <a:xfrm>
                <a:off x="2968" y="844"/>
                <a:ext cx="596" cy="422"/>
                <a:chOff x="2968" y="844"/>
                <a:chExt cx="596" cy="422"/>
              </a:xfrm>
            </p:grpSpPr>
            <p:sp>
              <p:nvSpPr>
                <p:cNvPr id="368" name="Google Shape;368;p42"/>
                <p:cNvSpPr txBox="1"/>
                <p:nvPr/>
              </p:nvSpPr>
              <p:spPr>
                <a:xfrm>
                  <a:off x="3011" y="844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" name="Google Shape;369;p42"/>
                <p:cNvSpPr txBox="1"/>
                <p:nvPr/>
              </p:nvSpPr>
              <p:spPr>
                <a:xfrm>
                  <a:off x="2968" y="844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0" name="Google Shape;370;p42"/>
              <p:cNvGrpSpPr/>
              <p:nvPr/>
            </p:nvGrpSpPr>
            <p:grpSpPr>
              <a:xfrm>
                <a:off x="0" y="1266"/>
                <a:ext cx="604" cy="422"/>
                <a:chOff x="0" y="1266"/>
                <a:chExt cx="604" cy="422"/>
              </a:xfrm>
            </p:grpSpPr>
            <p:sp>
              <p:nvSpPr>
                <p:cNvPr id="371" name="Google Shape;371;p42"/>
                <p:cNvSpPr txBox="1"/>
                <p:nvPr/>
              </p:nvSpPr>
              <p:spPr>
                <a:xfrm>
                  <a:off x="43" y="1266"/>
                  <a:ext cx="518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" name="Google Shape;372;p42"/>
                <p:cNvSpPr txBox="1"/>
                <p:nvPr/>
              </p:nvSpPr>
              <p:spPr>
                <a:xfrm>
                  <a:off x="0" y="1266"/>
                  <a:ext cx="604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3" name="Google Shape;373;p42"/>
              <p:cNvGrpSpPr/>
              <p:nvPr/>
            </p:nvGrpSpPr>
            <p:grpSpPr>
              <a:xfrm>
                <a:off x="604" y="1266"/>
                <a:ext cx="590" cy="422"/>
                <a:chOff x="604" y="1266"/>
                <a:chExt cx="590" cy="422"/>
              </a:xfrm>
            </p:grpSpPr>
            <p:sp>
              <p:nvSpPr>
                <p:cNvPr id="374" name="Google Shape;374;p42"/>
                <p:cNvSpPr txBox="1"/>
                <p:nvPr/>
              </p:nvSpPr>
              <p:spPr>
                <a:xfrm>
                  <a:off x="647" y="1266"/>
                  <a:ext cx="504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" name="Google Shape;375;p42"/>
                <p:cNvSpPr txBox="1"/>
                <p:nvPr/>
              </p:nvSpPr>
              <p:spPr>
                <a:xfrm>
                  <a:off x="604" y="1266"/>
                  <a:ext cx="590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6" name="Google Shape;376;p42"/>
              <p:cNvGrpSpPr/>
              <p:nvPr/>
            </p:nvGrpSpPr>
            <p:grpSpPr>
              <a:xfrm>
                <a:off x="1194" y="1266"/>
                <a:ext cx="582" cy="422"/>
                <a:chOff x="1194" y="1266"/>
                <a:chExt cx="582" cy="422"/>
              </a:xfrm>
            </p:grpSpPr>
            <p:sp>
              <p:nvSpPr>
                <p:cNvPr id="377" name="Google Shape;377;p42"/>
                <p:cNvSpPr txBox="1"/>
                <p:nvPr/>
              </p:nvSpPr>
              <p:spPr>
                <a:xfrm>
                  <a:off x="1237" y="1266"/>
                  <a:ext cx="496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" name="Google Shape;378;p42"/>
                <p:cNvSpPr txBox="1"/>
                <p:nvPr/>
              </p:nvSpPr>
              <p:spPr>
                <a:xfrm>
                  <a:off x="1194" y="1266"/>
                  <a:ext cx="582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9" name="Google Shape;379;p42"/>
              <p:cNvGrpSpPr/>
              <p:nvPr/>
            </p:nvGrpSpPr>
            <p:grpSpPr>
              <a:xfrm>
                <a:off x="1776" y="1266"/>
                <a:ext cx="596" cy="422"/>
                <a:chOff x="1776" y="1266"/>
                <a:chExt cx="596" cy="422"/>
              </a:xfrm>
            </p:grpSpPr>
            <p:sp>
              <p:nvSpPr>
                <p:cNvPr id="380" name="Google Shape;380;p42"/>
                <p:cNvSpPr txBox="1"/>
                <p:nvPr/>
              </p:nvSpPr>
              <p:spPr>
                <a:xfrm>
                  <a:off x="1819" y="1266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" name="Google Shape;381;p42"/>
                <p:cNvSpPr txBox="1"/>
                <p:nvPr/>
              </p:nvSpPr>
              <p:spPr>
                <a:xfrm>
                  <a:off x="1776" y="1266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2" name="Google Shape;382;p42"/>
              <p:cNvGrpSpPr/>
              <p:nvPr/>
            </p:nvGrpSpPr>
            <p:grpSpPr>
              <a:xfrm>
                <a:off x="2372" y="1266"/>
                <a:ext cx="596" cy="422"/>
                <a:chOff x="2372" y="1266"/>
                <a:chExt cx="596" cy="422"/>
              </a:xfrm>
            </p:grpSpPr>
            <p:sp>
              <p:nvSpPr>
                <p:cNvPr id="383" name="Google Shape;383;p42"/>
                <p:cNvSpPr txBox="1"/>
                <p:nvPr/>
              </p:nvSpPr>
              <p:spPr>
                <a:xfrm>
                  <a:off x="2415" y="1266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" name="Google Shape;384;p42"/>
                <p:cNvSpPr txBox="1"/>
                <p:nvPr/>
              </p:nvSpPr>
              <p:spPr>
                <a:xfrm>
                  <a:off x="2372" y="1266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5" name="Google Shape;385;p42"/>
              <p:cNvGrpSpPr/>
              <p:nvPr/>
            </p:nvGrpSpPr>
            <p:grpSpPr>
              <a:xfrm>
                <a:off x="2968" y="1266"/>
                <a:ext cx="596" cy="422"/>
                <a:chOff x="2968" y="1266"/>
                <a:chExt cx="596" cy="422"/>
              </a:xfrm>
            </p:grpSpPr>
            <p:sp>
              <p:nvSpPr>
                <p:cNvPr id="386" name="Google Shape;386;p42"/>
                <p:cNvSpPr txBox="1"/>
                <p:nvPr/>
              </p:nvSpPr>
              <p:spPr>
                <a:xfrm>
                  <a:off x="3011" y="1266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" name="Google Shape;387;p42"/>
                <p:cNvSpPr txBox="1"/>
                <p:nvPr/>
              </p:nvSpPr>
              <p:spPr>
                <a:xfrm>
                  <a:off x="2968" y="1266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8" name="Google Shape;388;p42"/>
              <p:cNvGrpSpPr/>
              <p:nvPr/>
            </p:nvGrpSpPr>
            <p:grpSpPr>
              <a:xfrm>
                <a:off x="0" y="1688"/>
                <a:ext cx="604" cy="422"/>
                <a:chOff x="0" y="1688"/>
                <a:chExt cx="604" cy="422"/>
              </a:xfrm>
            </p:grpSpPr>
            <p:sp>
              <p:nvSpPr>
                <p:cNvPr id="389" name="Google Shape;389;p42"/>
                <p:cNvSpPr txBox="1"/>
                <p:nvPr/>
              </p:nvSpPr>
              <p:spPr>
                <a:xfrm>
                  <a:off x="43" y="1688"/>
                  <a:ext cx="518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" name="Google Shape;390;p42"/>
                <p:cNvSpPr txBox="1"/>
                <p:nvPr/>
              </p:nvSpPr>
              <p:spPr>
                <a:xfrm>
                  <a:off x="0" y="1688"/>
                  <a:ext cx="604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1" name="Google Shape;391;p42"/>
              <p:cNvGrpSpPr/>
              <p:nvPr/>
            </p:nvGrpSpPr>
            <p:grpSpPr>
              <a:xfrm>
                <a:off x="604" y="1688"/>
                <a:ext cx="590" cy="422"/>
                <a:chOff x="604" y="1688"/>
                <a:chExt cx="590" cy="422"/>
              </a:xfrm>
            </p:grpSpPr>
            <p:sp>
              <p:nvSpPr>
                <p:cNvPr id="392" name="Google Shape;392;p42"/>
                <p:cNvSpPr txBox="1"/>
                <p:nvPr/>
              </p:nvSpPr>
              <p:spPr>
                <a:xfrm>
                  <a:off x="647" y="1688"/>
                  <a:ext cx="504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42"/>
                <p:cNvSpPr txBox="1"/>
                <p:nvPr/>
              </p:nvSpPr>
              <p:spPr>
                <a:xfrm>
                  <a:off x="604" y="1688"/>
                  <a:ext cx="590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4" name="Google Shape;394;p42"/>
              <p:cNvGrpSpPr/>
              <p:nvPr/>
            </p:nvGrpSpPr>
            <p:grpSpPr>
              <a:xfrm>
                <a:off x="1194" y="1688"/>
                <a:ext cx="582" cy="422"/>
                <a:chOff x="1194" y="1688"/>
                <a:chExt cx="582" cy="422"/>
              </a:xfrm>
            </p:grpSpPr>
            <p:sp>
              <p:nvSpPr>
                <p:cNvPr id="395" name="Google Shape;395;p42"/>
                <p:cNvSpPr txBox="1"/>
                <p:nvPr/>
              </p:nvSpPr>
              <p:spPr>
                <a:xfrm>
                  <a:off x="1237" y="1688"/>
                  <a:ext cx="496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42"/>
                <p:cNvSpPr txBox="1"/>
                <p:nvPr/>
              </p:nvSpPr>
              <p:spPr>
                <a:xfrm>
                  <a:off x="1194" y="1688"/>
                  <a:ext cx="582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7" name="Google Shape;397;p42"/>
              <p:cNvGrpSpPr/>
              <p:nvPr/>
            </p:nvGrpSpPr>
            <p:grpSpPr>
              <a:xfrm>
                <a:off x="1776" y="1688"/>
                <a:ext cx="596" cy="422"/>
                <a:chOff x="1776" y="1688"/>
                <a:chExt cx="596" cy="422"/>
              </a:xfrm>
            </p:grpSpPr>
            <p:sp>
              <p:nvSpPr>
                <p:cNvPr id="398" name="Google Shape;398;p42"/>
                <p:cNvSpPr txBox="1"/>
                <p:nvPr/>
              </p:nvSpPr>
              <p:spPr>
                <a:xfrm>
                  <a:off x="1819" y="1688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" name="Google Shape;399;p42"/>
                <p:cNvSpPr txBox="1"/>
                <p:nvPr/>
              </p:nvSpPr>
              <p:spPr>
                <a:xfrm>
                  <a:off x="1776" y="1688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0" name="Google Shape;400;p42"/>
              <p:cNvGrpSpPr/>
              <p:nvPr/>
            </p:nvGrpSpPr>
            <p:grpSpPr>
              <a:xfrm>
                <a:off x="2372" y="1688"/>
                <a:ext cx="596" cy="422"/>
                <a:chOff x="2372" y="1688"/>
                <a:chExt cx="596" cy="422"/>
              </a:xfrm>
            </p:grpSpPr>
            <p:sp>
              <p:nvSpPr>
                <p:cNvPr id="401" name="Google Shape;401;p42"/>
                <p:cNvSpPr txBox="1"/>
                <p:nvPr/>
              </p:nvSpPr>
              <p:spPr>
                <a:xfrm>
                  <a:off x="2415" y="1688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512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42"/>
                <p:cNvSpPr txBox="1"/>
                <p:nvPr/>
              </p:nvSpPr>
              <p:spPr>
                <a:xfrm>
                  <a:off x="2372" y="1688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3" name="Google Shape;403;p42"/>
              <p:cNvGrpSpPr/>
              <p:nvPr/>
            </p:nvGrpSpPr>
            <p:grpSpPr>
              <a:xfrm>
                <a:off x="2968" y="1688"/>
                <a:ext cx="596" cy="422"/>
                <a:chOff x="2968" y="1688"/>
                <a:chExt cx="596" cy="422"/>
              </a:xfrm>
            </p:grpSpPr>
            <p:sp>
              <p:nvSpPr>
                <p:cNvPr id="404" name="Google Shape;404;p42"/>
                <p:cNvSpPr txBox="1"/>
                <p:nvPr/>
              </p:nvSpPr>
              <p:spPr>
                <a:xfrm>
                  <a:off x="3011" y="1688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256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42"/>
                <p:cNvSpPr txBox="1"/>
                <p:nvPr/>
              </p:nvSpPr>
              <p:spPr>
                <a:xfrm>
                  <a:off x="2968" y="1688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6" name="Google Shape;406;p42"/>
              <p:cNvGrpSpPr/>
              <p:nvPr/>
            </p:nvGrpSpPr>
            <p:grpSpPr>
              <a:xfrm>
                <a:off x="0" y="2110"/>
                <a:ext cx="604" cy="422"/>
                <a:chOff x="0" y="2110"/>
                <a:chExt cx="604" cy="422"/>
              </a:xfrm>
            </p:grpSpPr>
            <p:sp>
              <p:nvSpPr>
                <p:cNvPr id="407" name="Google Shape;407;p42"/>
                <p:cNvSpPr txBox="1"/>
                <p:nvPr/>
              </p:nvSpPr>
              <p:spPr>
                <a:xfrm>
                  <a:off x="43" y="2110"/>
                  <a:ext cx="518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" name="Google Shape;408;p42"/>
                <p:cNvSpPr txBox="1"/>
                <p:nvPr/>
              </p:nvSpPr>
              <p:spPr>
                <a:xfrm>
                  <a:off x="0" y="2110"/>
                  <a:ext cx="604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9" name="Google Shape;409;p42"/>
              <p:cNvGrpSpPr/>
              <p:nvPr/>
            </p:nvGrpSpPr>
            <p:grpSpPr>
              <a:xfrm>
                <a:off x="604" y="2110"/>
                <a:ext cx="590" cy="422"/>
                <a:chOff x="604" y="2110"/>
                <a:chExt cx="590" cy="422"/>
              </a:xfrm>
            </p:grpSpPr>
            <p:sp>
              <p:nvSpPr>
                <p:cNvPr id="410" name="Google Shape;410;p42"/>
                <p:cNvSpPr txBox="1"/>
                <p:nvPr/>
              </p:nvSpPr>
              <p:spPr>
                <a:xfrm>
                  <a:off x="647" y="2110"/>
                  <a:ext cx="504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" name="Google Shape;411;p42"/>
                <p:cNvSpPr txBox="1"/>
                <p:nvPr/>
              </p:nvSpPr>
              <p:spPr>
                <a:xfrm>
                  <a:off x="604" y="2110"/>
                  <a:ext cx="590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2" name="Google Shape;412;p42"/>
              <p:cNvGrpSpPr/>
              <p:nvPr/>
            </p:nvGrpSpPr>
            <p:grpSpPr>
              <a:xfrm>
                <a:off x="1194" y="2110"/>
                <a:ext cx="582" cy="422"/>
                <a:chOff x="1194" y="2110"/>
                <a:chExt cx="582" cy="422"/>
              </a:xfrm>
            </p:grpSpPr>
            <p:sp>
              <p:nvSpPr>
                <p:cNvPr id="413" name="Google Shape;413;p42"/>
                <p:cNvSpPr txBox="1"/>
                <p:nvPr/>
              </p:nvSpPr>
              <p:spPr>
                <a:xfrm>
                  <a:off x="1237" y="2110"/>
                  <a:ext cx="496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4" name="Google Shape;414;p42"/>
                <p:cNvSpPr txBox="1"/>
                <p:nvPr/>
              </p:nvSpPr>
              <p:spPr>
                <a:xfrm>
                  <a:off x="1194" y="2110"/>
                  <a:ext cx="582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5" name="Google Shape;415;p42"/>
              <p:cNvGrpSpPr/>
              <p:nvPr/>
            </p:nvGrpSpPr>
            <p:grpSpPr>
              <a:xfrm>
                <a:off x="1776" y="2110"/>
                <a:ext cx="596" cy="422"/>
                <a:chOff x="1776" y="2110"/>
                <a:chExt cx="596" cy="422"/>
              </a:xfrm>
            </p:grpSpPr>
            <p:sp>
              <p:nvSpPr>
                <p:cNvPr id="416" name="Google Shape;416;p42"/>
                <p:cNvSpPr txBox="1"/>
                <p:nvPr/>
              </p:nvSpPr>
              <p:spPr>
                <a:xfrm>
                  <a:off x="1819" y="2110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256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7" name="Google Shape;417;p42"/>
                <p:cNvSpPr txBox="1"/>
                <p:nvPr/>
              </p:nvSpPr>
              <p:spPr>
                <a:xfrm>
                  <a:off x="1776" y="2110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8" name="Google Shape;418;p42"/>
              <p:cNvGrpSpPr/>
              <p:nvPr/>
            </p:nvGrpSpPr>
            <p:grpSpPr>
              <a:xfrm>
                <a:off x="2372" y="2110"/>
                <a:ext cx="596" cy="422"/>
                <a:chOff x="2372" y="2110"/>
                <a:chExt cx="596" cy="422"/>
              </a:xfrm>
            </p:grpSpPr>
            <p:sp>
              <p:nvSpPr>
                <p:cNvPr id="419" name="Google Shape;419;p42"/>
                <p:cNvSpPr txBox="1"/>
                <p:nvPr/>
              </p:nvSpPr>
              <p:spPr>
                <a:xfrm>
                  <a:off x="2415" y="2110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4096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0" name="Google Shape;420;p42"/>
                <p:cNvSpPr txBox="1"/>
                <p:nvPr/>
              </p:nvSpPr>
              <p:spPr>
                <a:xfrm>
                  <a:off x="2372" y="2110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1" name="Google Shape;421;p42"/>
              <p:cNvGrpSpPr/>
              <p:nvPr/>
            </p:nvGrpSpPr>
            <p:grpSpPr>
              <a:xfrm>
                <a:off x="2968" y="2110"/>
                <a:ext cx="596" cy="422"/>
                <a:chOff x="2968" y="2110"/>
                <a:chExt cx="596" cy="422"/>
              </a:xfrm>
            </p:grpSpPr>
            <p:sp>
              <p:nvSpPr>
                <p:cNvPr id="422" name="Google Shape;422;p42"/>
                <p:cNvSpPr txBox="1"/>
                <p:nvPr/>
              </p:nvSpPr>
              <p:spPr>
                <a:xfrm>
                  <a:off x="3011" y="2110"/>
                  <a:ext cx="510" cy="4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65536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" name="Google Shape;423;p42"/>
                <p:cNvSpPr txBox="1"/>
                <p:nvPr/>
              </p:nvSpPr>
              <p:spPr>
                <a:xfrm>
                  <a:off x="2968" y="2110"/>
                  <a:ext cx="596" cy="42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4" name="Google Shape;424;p42"/>
              <p:cNvGrpSpPr/>
              <p:nvPr/>
            </p:nvGrpSpPr>
            <p:grpSpPr>
              <a:xfrm>
                <a:off x="0" y="2532"/>
                <a:ext cx="604" cy="556"/>
                <a:chOff x="0" y="2532"/>
                <a:chExt cx="604" cy="556"/>
              </a:xfrm>
            </p:grpSpPr>
            <p:sp>
              <p:nvSpPr>
                <p:cNvPr id="425" name="Google Shape;425;p42"/>
                <p:cNvSpPr txBox="1"/>
                <p:nvPr/>
              </p:nvSpPr>
              <p:spPr>
                <a:xfrm>
                  <a:off x="43" y="2532"/>
                  <a:ext cx="518" cy="5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6" name="Google Shape;426;p42"/>
                <p:cNvSpPr txBox="1"/>
                <p:nvPr/>
              </p:nvSpPr>
              <p:spPr>
                <a:xfrm>
                  <a:off x="0" y="2532"/>
                  <a:ext cx="604" cy="556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7" name="Google Shape;427;p42"/>
              <p:cNvGrpSpPr/>
              <p:nvPr/>
            </p:nvGrpSpPr>
            <p:grpSpPr>
              <a:xfrm>
                <a:off x="604" y="2532"/>
                <a:ext cx="590" cy="556"/>
                <a:chOff x="604" y="2532"/>
                <a:chExt cx="590" cy="556"/>
              </a:xfrm>
            </p:grpSpPr>
            <p:sp>
              <p:nvSpPr>
                <p:cNvPr id="428" name="Google Shape;428;p42"/>
                <p:cNvSpPr txBox="1"/>
                <p:nvPr/>
              </p:nvSpPr>
              <p:spPr>
                <a:xfrm>
                  <a:off x="647" y="2532"/>
                  <a:ext cx="504" cy="5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" name="Google Shape;429;p42"/>
                <p:cNvSpPr txBox="1"/>
                <p:nvPr/>
              </p:nvSpPr>
              <p:spPr>
                <a:xfrm>
                  <a:off x="604" y="2532"/>
                  <a:ext cx="590" cy="556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0" name="Google Shape;430;p42"/>
              <p:cNvGrpSpPr/>
              <p:nvPr/>
            </p:nvGrpSpPr>
            <p:grpSpPr>
              <a:xfrm>
                <a:off x="1194" y="2532"/>
                <a:ext cx="582" cy="556"/>
                <a:chOff x="1194" y="2532"/>
                <a:chExt cx="582" cy="556"/>
              </a:xfrm>
            </p:grpSpPr>
            <p:sp>
              <p:nvSpPr>
                <p:cNvPr id="431" name="Google Shape;431;p42"/>
                <p:cNvSpPr txBox="1"/>
                <p:nvPr/>
              </p:nvSpPr>
              <p:spPr>
                <a:xfrm>
                  <a:off x="1237" y="2532"/>
                  <a:ext cx="496" cy="5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160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" name="Google Shape;432;p42"/>
                <p:cNvSpPr txBox="1"/>
                <p:nvPr/>
              </p:nvSpPr>
              <p:spPr>
                <a:xfrm>
                  <a:off x="1194" y="2532"/>
                  <a:ext cx="582" cy="556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3" name="Google Shape;433;p42"/>
              <p:cNvGrpSpPr/>
              <p:nvPr/>
            </p:nvGrpSpPr>
            <p:grpSpPr>
              <a:xfrm>
                <a:off x="1776" y="2532"/>
                <a:ext cx="596" cy="556"/>
                <a:chOff x="1776" y="2532"/>
                <a:chExt cx="596" cy="556"/>
              </a:xfrm>
            </p:grpSpPr>
            <p:sp>
              <p:nvSpPr>
                <p:cNvPr id="434" name="Google Shape;434;p42"/>
                <p:cNvSpPr txBox="1"/>
                <p:nvPr/>
              </p:nvSpPr>
              <p:spPr>
                <a:xfrm>
                  <a:off x="1819" y="2532"/>
                  <a:ext cx="510" cy="5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1024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5" name="Google Shape;435;p42"/>
                <p:cNvSpPr txBox="1"/>
                <p:nvPr/>
              </p:nvSpPr>
              <p:spPr>
                <a:xfrm>
                  <a:off x="1776" y="2532"/>
                  <a:ext cx="596" cy="556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6" name="Google Shape;436;p42"/>
              <p:cNvGrpSpPr/>
              <p:nvPr/>
            </p:nvGrpSpPr>
            <p:grpSpPr>
              <a:xfrm>
                <a:off x="2372" y="2532"/>
                <a:ext cx="596" cy="556"/>
                <a:chOff x="2372" y="2532"/>
                <a:chExt cx="596" cy="556"/>
              </a:xfrm>
            </p:grpSpPr>
            <p:sp>
              <p:nvSpPr>
                <p:cNvPr id="437" name="Google Shape;437;p42"/>
                <p:cNvSpPr txBox="1"/>
                <p:nvPr/>
              </p:nvSpPr>
              <p:spPr>
                <a:xfrm>
                  <a:off x="2415" y="2532"/>
                  <a:ext cx="510" cy="5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32768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8" name="Google Shape;438;p42"/>
                <p:cNvSpPr txBox="1"/>
                <p:nvPr/>
              </p:nvSpPr>
              <p:spPr>
                <a:xfrm>
                  <a:off x="2372" y="2532"/>
                  <a:ext cx="596" cy="556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9" name="Google Shape;439;p42"/>
              <p:cNvGrpSpPr/>
              <p:nvPr/>
            </p:nvGrpSpPr>
            <p:grpSpPr>
              <a:xfrm>
                <a:off x="2968" y="2532"/>
                <a:ext cx="596" cy="556"/>
                <a:chOff x="2968" y="2532"/>
                <a:chExt cx="596" cy="556"/>
              </a:xfrm>
            </p:grpSpPr>
            <p:sp>
              <p:nvSpPr>
                <p:cNvPr id="440" name="Google Shape;440;p42"/>
                <p:cNvSpPr txBox="1"/>
                <p:nvPr/>
              </p:nvSpPr>
              <p:spPr>
                <a:xfrm>
                  <a:off x="3011" y="2532"/>
                  <a:ext cx="510" cy="5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just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700"/>
                    <a:buFont typeface="Arial"/>
                    <a:buNone/>
                  </a:pPr>
                  <a:r>
                    <a:rPr b="0" i="0" lang="en-US" sz="17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2147483648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7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1" name="Google Shape;441;p42"/>
                <p:cNvSpPr txBox="1"/>
                <p:nvPr/>
              </p:nvSpPr>
              <p:spPr>
                <a:xfrm>
                  <a:off x="2968" y="2532"/>
                  <a:ext cx="596" cy="556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42" name="Google Shape;442;p42"/>
            <p:cNvSpPr txBox="1"/>
            <p:nvPr/>
          </p:nvSpPr>
          <p:spPr>
            <a:xfrm>
              <a:off x="-3" y="-3"/>
              <a:ext cx="3570" cy="3094"/>
            </a:xfrm>
            <a:prstGeom prst="rect">
              <a:avLst/>
            </a:prstGeom>
            <a:noFill/>
            <a:ln cap="flat" cmpd="sng" w="9525">
              <a:solidFill>
                <a:srgbClr val="A0A0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3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Sự Phân Lớp Theo Độ Phức Tạp Của Thuật Toán</a:t>
            </a:r>
            <a:endParaRPr/>
          </a:p>
        </p:txBody>
      </p:sp>
      <p:sp>
        <p:nvSpPr>
          <p:cNvPr id="448" name="Google Shape;448;p43"/>
          <p:cNvSpPr txBox="1"/>
          <p:nvPr>
            <p:ph idx="1" type="body"/>
          </p:nvPr>
        </p:nvSpPr>
        <p:spPr>
          <a:xfrm>
            <a:off x="992187" y="1128712"/>
            <a:ext cx="85692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Sử dụng ký hiệu BigO 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Hằng số	: O(c)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logN		: O(logN)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		: O(N)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NlogN	: O(NlogN)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		: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baseline="30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		: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baseline="30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		: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N)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N!		:O(N!)	</a:t>
            </a:r>
            <a:endParaRPr/>
          </a:p>
          <a:p>
            <a:pPr indent="-285750" lvl="0" marL="463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43"/>
          <p:cNvCxnSpPr/>
          <p:nvPr/>
        </p:nvCxnSpPr>
        <p:spPr>
          <a:xfrm>
            <a:off x="5745162" y="1916112"/>
            <a:ext cx="0" cy="3313112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50" name="Google Shape;450;p43"/>
          <p:cNvSpPr txBox="1"/>
          <p:nvPr/>
        </p:nvSpPr>
        <p:spPr>
          <a:xfrm>
            <a:off x="6089650" y="3141662"/>
            <a:ext cx="332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Độ phức tạp tăng dần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1.2. Quan hệ giữa giải thuật và cấu trúc DL</a:t>
            </a:r>
            <a:endParaRPr/>
          </a:p>
        </p:txBody>
      </p:sp>
      <p:sp>
        <p:nvSpPr>
          <p:cNvPr id="456" name="Google Shape;456;p45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Niklaus Wirth: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CTDL + Thuật toán = Chương trình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+ Algorithms =Program 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Cần nghiên cứu về thuật toán và CTDL!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Cấu trúc dữ liệu cụ thể: chọn giải thuật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thuật cụ thể: chọn cấu trúc dữ liệu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6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1.3. Vị trí CTDL trong tin học</a:t>
            </a:r>
            <a:endParaRPr/>
          </a:p>
        </p:txBody>
      </p:sp>
      <p:sp>
        <p:nvSpPr>
          <p:cNvPr id="462" name="Google Shape;462;p46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Thiết kế chương trình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Đặc tả vấn đề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Thiết kế cấu trúc dữ liệu và giải thuật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Cài đặt (C++, Java…)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Thử nghiệm và sửa lỗi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8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Dữ liệu kiểu đơn giản chuẩn</a:t>
            </a:r>
            <a:endParaRPr/>
          </a:p>
        </p:txBody>
      </p:sp>
      <p:sp>
        <p:nvSpPr>
          <p:cNvPr id="468" name="Google Shape;468;p48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Dữ liệu kiểu nguyên</a:t>
            </a:r>
            <a:endParaRPr/>
          </a:p>
          <a:p>
            <a:pPr indent="-463550" lvl="0" marL="46355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Dữ liệu kiểu thực</a:t>
            </a:r>
            <a:endParaRPr/>
          </a:p>
          <a:p>
            <a:pPr indent="-463550" lvl="0" marL="46355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Dữ liệu kiểu logic</a:t>
            </a:r>
            <a:endParaRPr/>
          </a:p>
          <a:p>
            <a:pPr indent="-463550" lvl="0" marL="46355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Dữ liệu kiểu kí tự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9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Dữ liệu kiểu có cấu trúc</a:t>
            </a:r>
            <a:endParaRPr/>
          </a:p>
        </p:txBody>
      </p:sp>
      <p:sp>
        <p:nvSpPr>
          <p:cNvPr id="474" name="Google Shape;474;p49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Dữ liệu kiểu mảng</a:t>
            </a:r>
            <a:endParaRPr/>
          </a:p>
          <a:p>
            <a:pPr indent="-463550" lvl="0" marL="46355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Dữ liệu kiểu xâu</a:t>
            </a:r>
            <a:endParaRPr/>
          </a:p>
          <a:p>
            <a:pPr indent="-463550" lvl="0" marL="46355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Dữ liệu kiểu bản ghi</a:t>
            </a:r>
            <a:endParaRPr/>
          </a:p>
          <a:p>
            <a:pPr indent="-463550" lvl="0" marL="46355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Dữ liệu kiểu tập hợp</a:t>
            </a:r>
            <a:endParaRPr/>
          </a:p>
          <a:p>
            <a:pPr indent="-463550" lvl="0" marL="46355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Dữ liệu kiểu tệp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0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Dữ liệu kiểu con trỏ</a:t>
            </a:r>
            <a:endParaRPr/>
          </a:p>
        </p:txBody>
      </p:sp>
      <p:sp>
        <p:nvSpPr>
          <p:cNvPr id="480" name="Google Shape;480;p50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 trỏ là biến được sử dụng để lưu địa chỉ của một biến khác.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Con trỏ được khai báo theo mẫu: 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&lt;kiểu dữ liệu&gt; *&lt;tên con trỏ&gt; ;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1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Ví dụ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: </a:t>
            </a:r>
            <a:r>
              <a:rPr b="1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*P, x ;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P=&amp;x;  //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chứa địa chỉ của biến x, hay P trỏ vào x</a:t>
            </a:r>
            <a:endParaRPr/>
          </a:p>
        </p:txBody>
      </p:sp>
      <p:grpSp>
        <p:nvGrpSpPr>
          <p:cNvPr id="481" name="Google Shape;481;p50"/>
          <p:cNvGrpSpPr/>
          <p:nvPr/>
        </p:nvGrpSpPr>
        <p:grpSpPr>
          <a:xfrm>
            <a:off x="3297237" y="4652962"/>
            <a:ext cx="3771900" cy="1265237"/>
            <a:chOff x="3296816" y="4653136"/>
            <a:chExt cx="3772322" cy="1265064"/>
          </a:xfrm>
        </p:grpSpPr>
        <p:grpSp>
          <p:nvGrpSpPr>
            <p:cNvPr id="482" name="Google Shape;482;p50"/>
            <p:cNvGrpSpPr/>
            <p:nvPr/>
          </p:nvGrpSpPr>
          <p:grpSpPr>
            <a:xfrm>
              <a:off x="3296816" y="4865340"/>
              <a:ext cx="3772322" cy="1052860"/>
              <a:chOff x="3296816" y="4865340"/>
              <a:chExt cx="3772322" cy="1052860"/>
            </a:xfrm>
          </p:grpSpPr>
          <p:grpSp>
            <p:nvGrpSpPr>
              <p:cNvPr id="483" name="Google Shape;483;p50"/>
              <p:cNvGrpSpPr/>
              <p:nvPr/>
            </p:nvGrpSpPr>
            <p:grpSpPr>
              <a:xfrm>
                <a:off x="3352800" y="4953000"/>
                <a:ext cx="3716338" cy="965200"/>
                <a:chOff x="3352800" y="4953000"/>
                <a:chExt cx="3716338" cy="965200"/>
              </a:xfrm>
            </p:grpSpPr>
            <p:sp>
              <p:nvSpPr>
                <p:cNvPr id="484" name="Google Shape;484;p50"/>
                <p:cNvSpPr txBox="1"/>
                <p:nvPr/>
              </p:nvSpPr>
              <p:spPr>
                <a:xfrm>
                  <a:off x="3352800" y="5257800"/>
                  <a:ext cx="798513" cy="361950"/>
                </a:xfrm>
                <a:prstGeom prst="rect">
                  <a:avLst/>
                </a:prstGeom>
                <a:solidFill>
                  <a:srgbClr val="FF7C8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5" name="Google Shape;485;p50"/>
                <p:cNvSpPr txBox="1"/>
                <p:nvPr/>
              </p:nvSpPr>
              <p:spPr>
                <a:xfrm>
                  <a:off x="5562600" y="4953000"/>
                  <a:ext cx="1506538" cy="965200"/>
                </a:xfrm>
                <a:prstGeom prst="rect">
                  <a:avLst/>
                </a:prstGeom>
                <a:solidFill>
                  <a:srgbClr val="C0C0C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137150">
                  <a:noAutofit/>
                </a:bodyPr>
                <a:lstStyle/>
                <a:p>
                  <a:pPr indent="-325437" lvl="0" marL="669925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600"/>
                    <a:buFont typeface="Arial"/>
                    <a:buNone/>
                  </a:pPr>
                  <a:r>
                    <a:rPr b="0" baseline="-25000" i="0" lang="en-US" sz="26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baseline="-25000" i="0" sz="26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6" name="Google Shape;486;p50"/>
                <p:cNvCxnSpPr/>
                <p:nvPr/>
              </p:nvCxnSpPr>
              <p:spPr>
                <a:xfrm>
                  <a:off x="4183063" y="5419725"/>
                  <a:ext cx="1397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487" name="Google Shape;487;p50"/>
              <p:cNvSpPr txBox="1"/>
              <p:nvPr/>
            </p:nvSpPr>
            <p:spPr>
              <a:xfrm>
                <a:off x="3296816" y="4865340"/>
                <a:ext cx="649287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25437" lvl="0" marL="6699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b="0" i="0" lang="en-US" sz="20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8" name="Google Shape;488;p50"/>
            <p:cNvSpPr txBox="1"/>
            <p:nvPr/>
          </p:nvSpPr>
          <p:spPr>
            <a:xfrm>
              <a:off x="5457056" y="4653136"/>
              <a:ext cx="1506538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9125">
              <a:noAutofit/>
            </a:bodyPr>
            <a:lstStyle/>
            <a:p>
              <a:pPr indent="-325437" lvl="0" marL="669925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1"/>
          <p:cNvSpPr txBox="1"/>
          <p:nvPr>
            <p:ph type="title"/>
          </p:nvPr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Các thuộc tính của dữ liệu</a:t>
            </a:r>
            <a:endParaRPr/>
          </a:p>
        </p:txBody>
      </p:sp>
      <p:sp>
        <p:nvSpPr>
          <p:cNvPr id="494" name="Google Shape;494;p51"/>
          <p:cNvSpPr txBox="1"/>
          <p:nvPr>
            <p:ph idx="1" type="body"/>
          </p:nvPr>
        </p:nvSpPr>
        <p:spPr>
          <a:xfrm>
            <a:off x="992187" y="1052512"/>
            <a:ext cx="85693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Tên kiểu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Miền giá trị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Kích thước lưu trữ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Tập các toán tử tác động lên kiểu dữ liệu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⮲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Truy nhập dữ liệu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⮲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Kết hợp dữ liệu</a:t>
            </a:r>
            <a:endParaRPr/>
          </a:p>
          <a:p>
            <a:pPr indent="-349249" lvl="2" marL="148748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phép toán số học : +, -, *, /, %, ^,…</a:t>
            </a:r>
            <a:endParaRPr/>
          </a:p>
          <a:p>
            <a:pPr indent="-349249" lvl="2" marL="148748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phép toán logic : &amp;&amp;, ||, !</a:t>
            </a:r>
            <a:endParaRPr/>
          </a:p>
          <a:p>
            <a:pPr indent="-349249" lvl="2" marL="148748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phép toán quan hệ : &gt;, &lt;, &gt;=, &lt;=, =, &lt;&gt;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2">
  <a:themeElements>
    <a:clrScheme name="t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2006-03-07T22:30:17Z</dcterms:created>
  <dc:creator>User</dc:creator>
</cp:coreProperties>
</file>