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6858000" cx="9906000"/>
  <p:notesSz cx="9601200" cy="7313600"/>
  <p:embeddedFontLst>
    <p:embeddedFont>
      <p:font typeface="Teko"/>
      <p:regular r:id="rId85"/>
      <p:bold r:id="rId86"/>
    </p:embeddedFont>
    <p:embeddedFont>
      <p:font typeface="Tahoma"/>
      <p:regular r:id="rId87"/>
      <p:bold r:id="rId88"/>
    </p:embeddedFont>
    <p:embeddedFont>
      <p:font typeface="Helvetica Neue"/>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120">
          <p15:clr>
            <a:srgbClr val="000000"/>
          </p15:clr>
        </p15:guide>
      </p15:sldGuideLst>
    </p:ext>
    <p:ext uri="GoogleSlidesCustomDataVersion2">
      <go:slidesCustomData xmlns:go="http://customooxmlschemas.google.com/" r:id="rId93" roundtripDataSignature="AMtx7miQNbw13UihrUIN93CSXHhInjqb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Teko-bold.fntdata"/><Relationship Id="rId41" Type="http://schemas.openxmlformats.org/officeDocument/2006/relationships/slide" Target="slides/slide36.xml"/><Relationship Id="rId85" Type="http://schemas.openxmlformats.org/officeDocument/2006/relationships/font" Target="fonts/Teko-regular.fntdata"/><Relationship Id="rId44" Type="http://schemas.openxmlformats.org/officeDocument/2006/relationships/slide" Target="slides/slide39.xml"/><Relationship Id="rId88" Type="http://schemas.openxmlformats.org/officeDocument/2006/relationships/font" Target="fonts/Tahoma-bold.fntdata"/><Relationship Id="rId43" Type="http://schemas.openxmlformats.org/officeDocument/2006/relationships/slide" Target="slides/slide38.xml"/><Relationship Id="rId87" Type="http://schemas.openxmlformats.org/officeDocument/2006/relationships/font" Target="fonts/Tahoma-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HelveticaNeue-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HelveticaNeue-italic.fntdata"/><Relationship Id="rId90" Type="http://schemas.openxmlformats.org/officeDocument/2006/relationships/font" Target="fonts/HelveticaNeue-bold.fntdata"/><Relationship Id="rId93" Type="http://customschemas.google.com/relationships/presentationmetadata" Target="metadata"/><Relationship Id="rId92" Type="http://schemas.openxmlformats.org/officeDocument/2006/relationships/font" Target="fonts/HelveticaNeue-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837" cy="366712"/>
          </a:xfrm>
          <a:prstGeom prst="rect">
            <a:avLst/>
          </a:prstGeom>
          <a:noFill/>
          <a:ln>
            <a:noFill/>
          </a:ln>
        </p:spPr>
        <p:txBody>
          <a:bodyPr anchorCtr="0" anchor="t"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438775" y="0"/>
            <a:ext cx="4160837" cy="366712"/>
          </a:xfrm>
          <a:prstGeom prst="rect">
            <a:avLst/>
          </a:prstGeom>
          <a:noFill/>
          <a:ln>
            <a:noFill/>
          </a:ln>
        </p:spPr>
        <p:txBody>
          <a:bodyPr anchorCtr="0" anchor="t" bIns="48300" lIns="96625" spcFirstLastPara="1" rIns="96625" wrap="square" tIns="483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60437" y="3475037"/>
            <a:ext cx="7680325" cy="3290887"/>
          </a:xfrm>
          <a:prstGeom prst="rect">
            <a:avLst/>
          </a:prstGeom>
          <a:noFill/>
          <a:ln>
            <a:noFill/>
          </a:ln>
        </p:spPr>
        <p:txBody>
          <a:bodyPr anchorCtr="0" anchor="t" bIns="48300" lIns="96625" spcFirstLastPara="1" rIns="96625" wrap="square" tIns="483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6945312"/>
            <a:ext cx="4160837" cy="366712"/>
          </a:xfrm>
          <a:prstGeom prst="rect">
            <a:avLst/>
          </a:prstGeom>
          <a:noFill/>
          <a:ln>
            <a:noFill/>
          </a:ln>
        </p:spPr>
        <p:txBody>
          <a:bodyPr anchorCtr="0" anchor="b"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438775" y="6945312"/>
            <a:ext cx="4160837" cy="366712"/>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9" name="Google Shape;59;p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9" name="Google Shape;69;p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fb4a19114_0_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fb4a19114_0_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2" name="Google Shape;162;g30fb4a19114_0_0:notes"/>
          <p:cNvSpPr txBox="1"/>
          <p:nvPr>
            <p:ph idx="12" type="sldNum"/>
          </p:nvPr>
        </p:nvSpPr>
        <p:spPr>
          <a:xfrm>
            <a:off x="5438775" y="6945312"/>
            <a:ext cx="4160700" cy="3666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fb4a19114_0_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fb4a19114_0_6: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9" name="Google Shape;169;g30fb4a19114_0_6:notes"/>
          <p:cNvSpPr txBox="1"/>
          <p:nvPr>
            <p:ph idx="12" type="sldNum"/>
          </p:nvPr>
        </p:nvSpPr>
        <p:spPr>
          <a:xfrm>
            <a:off x="5438775" y="6945312"/>
            <a:ext cx="4160700" cy="3666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99" name="Google Shape;199;p1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6" name="Google Shape;236;p1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8" name="Google Shape;248;p1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6" name="Google Shape;286;p1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2" name="Google Shape;292;p1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30" name="Google Shape;330;p1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42" name="Google Shape;342;p2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48" name="Google Shape;348;p2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06" name="Google Shape;406;p2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12" name="Google Shape;412;p2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18" name="Google Shape;418;p2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80" name="Google Shape;480;p2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86" name="Google Shape;486;p2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92" name="Google Shape;492;p2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98" name="Google Shape;498;p2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04" name="Google Shape;504;p2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29" name="Google Shape;529;p3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35" name="Google Shape;535;p3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41" name="Google Shape;541;p3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47" name="Google Shape;547;p3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53" name="Google Shape;553;p3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59" name="Google Shape;559;p3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41" name="Google Shape;641;p3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3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07" name="Google Shape;707;p3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3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73" name="Google Shape;773;p3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79" name="Google Shape;779;p3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4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87" name="Google Shape;787;p4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93" name="Google Shape;793;p4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4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99" name="Google Shape;799;p4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4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77" name="Google Shape;877;p4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14" name="Google Shape;914;p4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69" name="Google Shape;969;p4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4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75" name="Google Shape;975;p4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4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81" name="Google Shape;981;p4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4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87" name="Google Shape;987;p4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4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53" name="Google Shape;1053;p4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5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08" name="Google Shape;1108;p5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5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51" name="Google Shape;1151;p5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5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82" name="Google Shape;1182;p5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5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88" name="Google Shape;1188;p5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5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94" name="Google Shape;1194;p5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5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00" name="Google Shape;1200;p5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5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06" name="Google Shape;1206;p5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5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12" name="Google Shape;1212;p5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5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18" name="Google Shape;1218;p5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5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24" name="Google Shape;1224;p5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cce094d8f7_0_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30" name="Google Shape;1230;g2cce094d8f7_0_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6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36" name="Google Shape;1236;p6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6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42" name="Google Shape;1242;p6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6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48" name="Google Shape;1248;p6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6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87" name="Google Shape;1287;p6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6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93" name="Google Shape;1293;p6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6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99" name="Google Shape;1299;p6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6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05" name="Google Shape;1305;p6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6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11" name="Google Shape;1311;p6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6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17" name="Google Shape;1317;p6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7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23" name="Google Shape;1323;p7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7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29" name="Google Shape;1329;p7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7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35" name="Google Shape;1335;p7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7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73" name="Google Shape;1373;p7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7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79" name="Google Shape;1379;p7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p7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85" name="Google Shape;1385;p7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7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91" name="Google Shape;1391;p7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7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97" name="Google Shape;1397;p7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7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03" name="Google Shape;1403;p7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80"/>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80"/>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2" name="Shape 22"/>
        <p:cNvGrpSpPr/>
        <p:nvPr/>
      </p:nvGrpSpPr>
      <p:grpSpPr>
        <a:xfrm>
          <a:off x="0" y="0"/>
          <a:ext cx="0" cy="0"/>
          <a:chOff x="0" y="0"/>
          <a:chExt cx="0" cy="0"/>
        </a:xfrm>
      </p:grpSpPr>
      <p:sp>
        <p:nvSpPr>
          <p:cNvPr id="23" name="Google Shape;23;p81"/>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 name="Shape 24"/>
        <p:cNvGrpSpPr/>
        <p:nvPr/>
      </p:nvGrpSpPr>
      <p:grpSpPr>
        <a:xfrm>
          <a:off x="0" y="0"/>
          <a:ext cx="0" cy="0"/>
          <a:chOff x="0" y="0"/>
          <a:chExt cx="0" cy="0"/>
        </a:xfrm>
      </p:grpSpPr>
      <p:sp>
        <p:nvSpPr>
          <p:cNvPr id="25" name="Google Shape;25;p82"/>
          <p:cNvSpPr txBox="1"/>
          <p:nvPr>
            <p:ph type="title"/>
          </p:nvPr>
        </p:nvSpPr>
        <p:spPr>
          <a:xfrm rot="5400000">
            <a:off x="5238750" y="2190750"/>
            <a:ext cx="6858000" cy="24765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82"/>
          <p:cNvSpPr txBox="1"/>
          <p:nvPr>
            <p:ph idx="1" type="body"/>
          </p:nvPr>
        </p:nvSpPr>
        <p:spPr>
          <a:xfrm rot="5400000">
            <a:off x="209550" y="-209550"/>
            <a:ext cx="6858000" cy="7277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 name="Shape 27"/>
        <p:cNvGrpSpPr/>
        <p:nvPr/>
      </p:nvGrpSpPr>
      <p:grpSpPr>
        <a:xfrm>
          <a:off x="0" y="0"/>
          <a:ext cx="0" cy="0"/>
          <a:chOff x="0" y="0"/>
          <a:chExt cx="0" cy="0"/>
        </a:xfrm>
      </p:grpSpPr>
      <p:sp>
        <p:nvSpPr>
          <p:cNvPr id="28" name="Google Shape;28;p83"/>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83"/>
          <p:cNvSpPr txBox="1"/>
          <p:nvPr>
            <p:ph idx="1" type="body"/>
          </p:nvPr>
        </p:nvSpPr>
        <p:spPr>
          <a:xfrm rot="5400000">
            <a:off x="2294730" y="-753268"/>
            <a:ext cx="6092825" cy="91297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0" name="Shape 30"/>
        <p:cNvGrpSpPr/>
        <p:nvPr/>
      </p:nvGrpSpPr>
      <p:grpSpPr>
        <a:xfrm>
          <a:off x="0" y="0"/>
          <a:ext cx="0" cy="0"/>
          <a:chOff x="0" y="0"/>
          <a:chExt cx="0" cy="0"/>
        </a:xfrm>
      </p:grpSpPr>
      <p:sp>
        <p:nvSpPr>
          <p:cNvPr id="31" name="Google Shape;31;p84"/>
          <p:cNvSpPr txBox="1"/>
          <p:nvPr>
            <p:ph type="title"/>
          </p:nvPr>
        </p:nvSpPr>
        <p:spPr>
          <a:xfrm>
            <a:off x="1941513" y="4800600"/>
            <a:ext cx="5943600" cy="566738"/>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84"/>
          <p:cNvSpPr/>
          <p:nvPr>
            <p:ph idx="2" type="pic"/>
          </p:nvPr>
        </p:nvSpPr>
        <p:spPr>
          <a:xfrm>
            <a:off x="1941513" y="612775"/>
            <a:ext cx="5943600" cy="4114800"/>
          </a:xfrm>
          <a:prstGeom prst="rect">
            <a:avLst/>
          </a:prstGeom>
          <a:noFill/>
          <a:ln>
            <a:noFill/>
          </a:ln>
        </p:spPr>
      </p:sp>
      <p:sp>
        <p:nvSpPr>
          <p:cNvPr id="33" name="Google Shape;33;p84"/>
          <p:cNvSpPr txBox="1"/>
          <p:nvPr>
            <p:ph idx="1" type="body"/>
          </p:nvPr>
        </p:nvSpPr>
        <p:spPr>
          <a:xfrm>
            <a:off x="1941513" y="5367338"/>
            <a:ext cx="59436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85"/>
          <p:cNvSpPr txBox="1"/>
          <p:nvPr>
            <p:ph type="title"/>
          </p:nvPr>
        </p:nvSpPr>
        <p:spPr>
          <a:xfrm>
            <a:off x="495300" y="273050"/>
            <a:ext cx="3259138" cy="1162050"/>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85"/>
          <p:cNvSpPr txBox="1"/>
          <p:nvPr>
            <p:ph idx="1" type="body"/>
          </p:nvPr>
        </p:nvSpPr>
        <p:spPr>
          <a:xfrm>
            <a:off x="3873500" y="273050"/>
            <a:ext cx="553720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37" name="Google Shape;37;p85"/>
          <p:cNvSpPr txBox="1"/>
          <p:nvPr>
            <p:ph idx="2" type="body"/>
          </p:nvPr>
        </p:nvSpPr>
        <p:spPr>
          <a:xfrm>
            <a:off x="495300" y="1435100"/>
            <a:ext cx="3259138"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7"/>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88"/>
          <p:cNvSpPr txBox="1"/>
          <p:nvPr>
            <p:ph type="title"/>
          </p:nvPr>
        </p:nvSpPr>
        <p:spPr>
          <a:xfrm>
            <a:off x="495300" y="274638"/>
            <a:ext cx="8915400" cy="11430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8"/>
          <p:cNvSpPr txBox="1"/>
          <p:nvPr>
            <p:ph idx="1" type="body"/>
          </p:nvPr>
        </p:nvSpPr>
        <p:spPr>
          <a:xfrm>
            <a:off x="495300" y="1535113"/>
            <a:ext cx="437673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4" name="Google Shape;44;p88"/>
          <p:cNvSpPr txBox="1"/>
          <p:nvPr>
            <p:ph idx="2" type="body"/>
          </p:nvPr>
        </p:nvSpPr>
        <p:spPr>
          <a:xfrm>
            <a:off x="495300" y="2174875"/>
            <a:ext cx="437673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5" name="Google Shape;45;p88"/>
          <p:cNvSpPr txBox="1"/>
          <p:nvPr>
            <p:ph idx="3" type="body"/>
          </p:nvPr>
        </p:nvSpPr>
        <p:spPr>
          <a:xfrm>
            <a:off x="5032375" y="1535113"/>
            <a:ext cx="437832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6" name="Google Shape;46;p88"/>
          <p:cNvSpPr txBox="1"/>
          <p:nvPr>
            <p:ph idx="4" type="body"/>
          </p:nvPr>
        </p:nvSpPr>
        <p:spPr>
          <a:xfrm>
            <a:off x="5032375" y="2174875"/>
            <a:ext cx="437832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89"/>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89"/>
          <p:cNvSpPr txBox="1"/>
          <p:nvPr>
            <p:ph idx="1" type="body"/>
          </p:nvPr>
        </p:nvSpPr>
        <p:spPr>
          <a:xfrm>
            <a:off x="776288" y="765175"/>
            <a:ext cx="4487862" cy="6092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50" name="Google Shape;50;p89"/>
          <p:cNvSpPr txBox="1"/>
          <p:nvPr>
            <p:ph idx="2" type="body"/>
          </p:nvPr>
        </p:nvSpPr>
        <p:spPr>
          <a:xfrm>
            <a:off x="5416550" y="765175"/>
            <a:ext cx="4489450" cy="6092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90"/>
          <p:cNvSpPr txBox="1"/>
          <p:nvPr>
            <p:ph type="title"/>
          </p:nvPr>
        </p:nvSpPr>
        <p:spPr>
          <a:xfrm>
            <a:off x="782638" y="4406900"/>
            <a:ext cx="8420100" cy="1362075"/>
          </a:xfrm>
          <a:prstGeom prst="rect">
            <a:avLst/>
          </a:prstGeom>
          <a:solidFill>
            <a:srgbClr val="008000"/>
          </a:solid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90"/>
          <p:cNvSpPr txBox="1"/>
          <p:nvPr>
            <p:ph idx="1" type="body"/>
          </p:nvPr>
        </p:nvSpPr>
        <p:spPr>
          <a:xfrm>
            <a:off x="782638" y="2906713"/>
            <a:ext cx="84201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91"/>
          <p:cNvSpPr txBox="1"/>
          <p:nvPr>
            <p:ph type="ctrTitle"/>
          </p:nvPr>
        </p:nvSpPr>
        <p:spPr>
          <a:xfrm>
            <a:off x="742950" y="2130425"/>
            <a:ext cx="8420100" cy="147002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91"/>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9"/>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9pPr>
          </a:lstStyle>
          <a:p/>
        </p:txBody>
      </p:sp>
      <p:sp>
        <p:nvSpPr>
          <p:cNvPr id="11" name="Google Shape;11;p79"/>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79"/>
          <p:cNvSpPr txBox="1"/>
          <p:nvPr/>
        </p:nvSpPr>
        <p:spPr>
          <a:xfrm>
            <a:off x="0" y="908050"/>
            <a:ext cx="4159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79"/>
          <p:cNvSpPr txBox="1"/>
          <p:nvPr/>
        </p:nvSpPr>
        <p:spPr>
          <a:xfrm>
            <a:off x="0" y="762000"/>
            <a:ext cx="704850" cy="60960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79"/>
          <p:cNvSpPr txBox="1"/>
          <p:nvPr/>
        </p:nvSpPr>
        <p:spPr>
          <a:xfrm rot="-5400000">
            <a:off x="-1167606" y="4823618"/>
            <a:ext cx="33972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3F3"/>
              </a:buClr>
              <a:buSzPts val="1800"/>
              <a:buFont typeface="Arial"/>
              <a:buNone/>
            </a:pPr>
            <a:r>
              <a:rPr b="1" i="0" lang="en-US" sz="1800" u="none">
                <a:solidFill>
                  <a:srgbClr val="FFF3F3"/>
                </a:solidFill>
                <a:latin typeface="Arial"/>
                <a:ea typeface="Arial"/>
                <a:cs typeface="Arial"/>
                <a:sym typeface="Arial"/>
              </a:rPr>
              <a:t>Cấu  trúc dữ liệu và thuật giải</a:t>
            </a:r>
            <a:endParaRPr/>
          </a:p>
        </p:txBody>
      </p:sp>
      <p:sp>
        <p:nvSpPr>
          <p:cNvPr id="15" name="Google Shape;15;p79"/>
          <p:cNvSpPr txBox="1"/>
          <p:nvPr/>
        </p:nvSpPr>
        <p:spPr>
          <a:xfrm>
            <a:off x="0" y="762000"/>
            <a:ext cx="704850" cy="6096000"/>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79"/>
          <p:cNvSpPr txBox="1"/>
          <p:nvPr/>
        </p:nvSpPr>
        <p:spPr>
          <a:xfrm rot="-5400000">
            <a:off x="-1199356" y="4937918"/>
            <a:ext cx="3303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400"/>
              <a:buFont typeface="Arial"/>
              <a:buNone/>
            </a:pPr>
            <a:r>
              <a:rPr b="1" i="0" lang="en-US" sz="1400" u="none">
                <a:solidFill>
                  <a:srgbClr val="003366"/>
                </a:solidFill>
                <a:latin typeface="Arial"/>
                <a:ea typeface="Arial"/>
                <a:cs typeface="Arial"/>
                <a:sym typeface="Arial"/>
              </a:rPr>
              <a:t>CẤU TRÚC DỮ LIỆU VÀ GIẢI THUẬT </a:t>
            </a:r>
            <a:endParaRPr/>
          </a:p>
        </p:txBody>
      </p:sp>
      <p:pic>
        <p:nvPicPr>
          <p:cNvPr id="17" name="Google Shape;17;p79"/>
          <p:cNvPicPr preferRelativeResize="0"/>
          <p:nvPr/>
        </p:nvPicPr>
        <p:blipFill rotWithShape="1">
          <a:blip r:embed="rId1">
            <a:alphaModFix/>
          </a:blip>
          <a:srcRect b="0" l="0" r="0" t="0"/>
          <a:stretch/>
        </p:blipFill>
        <p:spPr>
          <a:xfrm>
            <a:off x="0" y="0"/>
            <a:ext cx="704850" cy="762000"/>
          </a:xfrm>
          <a:prstGeom prst="rect">
            <a:avLst/>
          </a:prstGeom>
          <a:noFill/>
          <a:ln>
            <a:noFill/>
          </a:ln>
        </p:spPr>
      </p:pic>
      <p:sp>
        <p:nvSpPr>
          <p:cNvPr id="18" name="Google Shape;18;p79"/>
          <p:cNvSpPr txBox="1"/>
          <p:nvPr/>
        </p:nvSpPr>
        <p:spPr>
          <a:xfrm>
            <a:off x="776287" y="79375"/>
            <a:ext cx="8929687"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Click To Edit Master Title Style</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400"/>
              <a:buFont typeface="Arial"/>
              <a:buNone/>
            </a:pPr>
            <a:r>
              <a:rPr b="0" i="0" lang="en-US" sz="4400" u="none">
                <a:solidFill>
                  <a:srgbClr val="FFF3F3"/>
                </a:solidFill>
                <a:latin typeface="Arial"/>
                <a:ea typeface="Arial"/>
                <a:cs typeface="Arial"/>
                <a:sym typeface="Arial"/>
              </a:rPr>
              <a:t>NỘI DUNG</a:t>
            </a:r>
            <a:endParaRPr/>
          </a:p>
        </p:txBody>
      </p:sp>
      <p:grpSp>
        <p:nvGrpSpPr>
          <p:cNvPr id="62" name="Google Shape;62;p1"/>
          <p:cNvGrpSpPr/>
          <p:nvPr/>
        </p:nvGrpSpPr>
        <p:grpSpPr>
          <a:xfrm>
            <a:off x="1065212" y="2708275"/>
            <a:ext cx="8496300" cy="1482725"/>
            <a:chOff x="960" y="2256"/>
            <a:chExt cx="4320" cy="624"/>
          </a:xfrm>
        </p:grpSpPr>
        <p:sp>
          <p:nvSpPr>
            <p:cNvPr id="63" name="Google Shape;63;p1"/>
            <p:cNvSpPr/>
            <p:nvPr/>
          </p:nvSpPr>
          <p:spPr>
            <a:xfrm>
              <a:off x="1320" y="2364"/>
              <a:ext cx="3960" cy="416"/>
            </a:xfrm>
            <a:prstGeom prst="roundRect">
              <a:avLst>
                <a:gd fmla="val 16667" name="adj"/>
              </a:avLst>
            </a:prstGeom>
            <a:solidFill>
              <a:schemeClr val="hlink"/>
            </a:solidFill>
            <a:ln cap="flat" cmpd="sng" w="12700">
              <a:solidFill>
                <a:schemeClr val="lt1"/>
              </a:solidFill>
              <a:prstDash val="solid"/>
              <a:miter lim="800000"/>
              <a:headEnd len="sm" w="sm" type="none"/>
              <a:tailEnd len="sm" w="sm" type="none"/>
            </a:ln>
            <a:effectLst>
              <a:outerShdw blurRad="63500" dir="2388334" dist="9919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 name="Google Shape;64;p1"/>
            <p:cNvSpPr/>
            <p:nvPr/>
          </p:nvSpPr>
          <p:spPr>
            <a:xfrm>
              <a:off x="960" y="2256"/>
              <a:ext cx="648" cy="624"/>
            </a:xfrm>
            <a:prstGeom prst="diamond">
              <a:avLst/>
            </a:prstGeom>
            <a:solidFill>
              <a:schemeClr val="hlink"/>
            </a:solidFill>
            <a:ln cap="flat" cmpd="sng" w="25400">
              <a:solidFill>
                <a:schemeClr val="lt1"/>
              </a:solidFill>
              <a:prstDash val="solid"/>
              <a:miter lim="800000"/>
              <a:headEnd len="sm" w="sm" type="none"/>
              <a:tailEnd len="sm" w="sm" type="none"/>
            </a:ln>
            <a:effectLst>
              <a:outerShdw blurRad="63500" dir="2212194" dist="6350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 name="Google Shape;65;p1"/>
            <p:cNvSpPr txBox="1"/>
            <p:nvPr/>
          </p:nvSpPr>
          <p:spPr>
            <a:xfrm>
              <a:off x="1560" y="2457"/>
              <a:ext cx="3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DANH SÁCH LIÊN KẾT </a:t>
              </a:r>
              <a:r>
                <a:rPr b="1" lang="en-US" sz="2800">
                  <a:solidFill>
                    <a:srgbClr val="FFF3F3"/>
                  </a:solidFill>
                </a:rPr>
                <a:t>Đơn</a:t>
              </a:r>
              <a:r>
                <a:rPr b="1" i="0" lang="en-US" sz="2800" u="none">
                  <a:solidFill>
                    <a:srgbClr val="FFF3F3"/>
                  </a:solidFill>
                  <a:latin typeface="Arial"/>
                  <a:ea typeface="Arial"/>
                  <a:cs typeface="Arial"/>
                  <a:sym typeface="Arial"/>
                </a:rPr>
                <a:t> (LIST)</a:t>
              </a:r>
              <a:endParaRPr/>
            </a:p>
          </p:txBody>
        </p:sp>
        <p:sp>
          <p:nvSpPr>
            <p:cNvPr id="66" name="Google Shape;66;p1"/>
            <p:cNvSpPr txBox="1"/>
            <p:nvPr/>
          </p:nvSpPr>
          <p:spPr>
            <a:xfrm>
              <a:off x="1226" y="2400"/>
              <a:ext cx="93" cy="1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28320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Tổ Chức Của DSLK Đơn</a:t>
            </a:r>
            <a:endParaRPr/>
          </a:p>
        </p:txBody>
      </p:sp>
      <p:sp>
        <p:nvSpPr>
          <p:cNvPr id="72" name="Google Shape;72;p2"/>
          <p:cNvSpPr txBox="1"/>
          <p:nvPr>
            <p:ph idx="1" type="body"/>
          </p:nvPr>
        </p:nvSpPr>
        <p:spPr>
          <a:xfrm>
            <a:off x="920750" y="2708275"/>
            <a:ext cx="8985250" cy="41497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M</a:t>
            </a:r>
            <a:r>
              <a:rPr b="0" i="0" lang="en-US" sz="2800" u="none">
                <a:solidFill>
                  <a:schemeClr val="dk1"/>
                </a:solidFill>
                <a:latin typeface="Arial"/>
                <a:ea typeface="Arial"/>
                <a:cs typeface="Arial"/>
                <a:sym typeface="Arial"/>
              </a:rPr>
              <a:t>ỗi phần tử liên kết với phần tử đứng liền sau trong danh sách</a:t>
            </a:r>
            <a:endParaRPr/>
          </a:p>
          <a:p>
            <a:pPr indent="-342900" lvl="0" marL="342900" rtl="0" algn="l">
              <a:lnSpc>
                <a:spcPct val="90000"/>
              </a:lnSpc>
              <a:spcBef>
                <a:spcPts val="112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Mỗi phần tử trong danh sách liên kết đơn là một cấu trúc có hai thành phần</a:t>
            </a:r>
            <a:endParaRPr/>
          </a:p>
          <a:p>
            <a:pPr indent="-285750" lvl="1" marL="742950" rtl="0" algn="l">
              <a:lnSpc>
                <a:spcPct val="90000"/>
              </a:lnSpc>
              <a:spcBef>
                <a:spcPts val="1120"/>
              </a:spcBef>
              <a:spcAft>
                <a:spcPts val="0"/>
              </a:spcAft>
              <a:buClr>
                <a:schemeClr val="dk1"/>
              </a:buClr>
              <a:buSzPts val="2800"/>
              <a:buFont typeface="Noto Sans Symbols"/>
              <a:buChar char="▪"/>
            </a:pPr>
            <a:r>
              <a:rPr b="1" i="1" lang="en-US" sz="2800" u="none">
                <a:solidFill>
                  <a:schemeClr val="dk1"/>
                </a:solidFill>
                <a:latin typeface="Arial"/>
                <a:ea typeface="Arial"/>
                <a:cs typeface="Arial"/>
                <a:sym typeface="Arial"/>
              </a:rPr>
              <a:t>Thành phần dữ liệu</a:t>
            </a:r>
            <a:r>
              <a:rPr b="0" i="0" lang="en-US" sz="2800" u="none">
                <a:solidFill>
                  <a:schemeClr val="dk1"/>
                </a:solidFill>
                <a:latin typeface="Arial"/>
                <a:ea typeface="Arial"/>
                <a:cs typeface="Arial"/>
                <a:sym typeface="Arial"/>
              </a:rPr>
              <a:t>: Lưu trữ thông tin về bản thân phần tử</a:t>
            </a:r>
            <a:endParaRPr/>
          </a:p>
          <a:p>
            <a:pPr indent="-285750" lvl="1" marL="742950" rtl="0" algn="l">
              <a:lnSpc>
                <a:spcPct val="90000"/>
              </a:lnSpc>
              <a:spcBef>
                <a:spcPts val="1120"/>
              </a:spcBef>
              <a:spcAft>
                <a:spcPts val="0"/>
              </a:spcAft>
              <a:buClr>
                <a:schemeClr val="dk1"/>
              </a:buClr>
              <a:buSzPts val="2800"/>
              <a:buFont typeface="Noto Sans Symbols"/>
              <a:buChar char="▪"/>
            </a:pPr>
            <a:r>
              <a:rPr b="1" i="1" lang="en-US" sz="2800" u="none">
                <a:solidFill>
                  <a:schemeClr val="dk1"/>
                </a:solidFill>
                <a:latin typeface="Arial"/>
                <a:ea typeface="Arial"/>
                <a:cs typeface="Arial"/>
                <a:sym typeface="Arial"/>
              </a:rPr>
              <a:t>Thành phần liên kết</a:t>
            </a:r>
            <a:r>
              <a:rPr b="0" i="0" lang="en-US" sz="2800" u="none">
                <a:solidFill>
                  <a:schemeClr val="dk1"/>
                </a:solidFill>
                <a:latin typeface="Arial"/>
                <a:ea typeface="Arial"/>
                <a:cs typeface="Arial"/>
                <a:sym typeface="Arial"/>
              </a:rPr>
              <a:t>: Lưu địa chỉ phần tử đứng sau trong danh sách hoặc bằng NULL nếu là phần tử cuối danh sách.</a:t>
            </a:r>
            <a:endParaRPr/>
          </a:p>
        </p:txBody>
      </p:sp>
      <p:grpSp>
        <p:nvGrpSpPr>
          <p:cNvPr id="73" name="Google Shape;73;p2"/>
          <p:cNvGrpSpPr/>
          <p:nvPr/>
        </p:nvGrpSpPr>
        <p:grpSpPr>
          <a:xfrm>
            <a:off x="1568450" y="1268412"/>
            <a:ext cx="6781800" cy="900112"/>
            <a:chOff x="972" y="1802"/>
            <a:chExt cx="4272" cy="567"/>
          </a:xfrm>
        </p:grpSpPr>
        <p:sp>
          <p:nvSpPr>
            <p:cNvPr id="74" name="Google Shape;74;p2"/>
            <p:cNvSpPr txBox="1"/>
            <p:nvPr/>
          </p:nvSpPr>
          <p:spPr>
            <a:xfrm>
              <a:off x="1596" y="1946"/>
              <a:ext cx="3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x0</a:t>
              </a:r>
              <a:endParaRPr/>
            </a:p>
          </p:txBody>
        </p:sp>
        <p:sp>
          <p:nvSpPr>
            <p:cNvPr id="75" name="Google Shape;75;p2"/>
            <p:cNvSpPr txBox="1"/>
            <p:nvPr/>
          </p:nvSpPr>
          <p:spPr>
            <a:xfrm>
              <a:off x="2652" y="2069"/>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x1</a:t>
              </a:r>
              <a:endParaRPr/>
            </a:p>
          </p:txBody>
        </p:sp>
        <p:sp>
          <p:nvSpPr>
            <p:cNvPr id="76" name="Google Shape;76;p2"/>
            <p:cNvSpPr txBox="1"/>
            <p:nvPr/>
          </p:nvSpPr>
          <p:spPr>
            <a:xfrm>
              <a:off x="3804" y="1802"/>
              <a:ext cx="3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x2</a:t>
              </a:r>
              <a:endParaRPr/>
            </a:p>
          </p:txBody>
        </p:sp>
        <p:sp>
          <p:nvSpPr>
            <p:cNvPr id="77" name="Google Shape;77;p2"/>
            <p:cNvSpPr txBox="1"/>
            <p:nvPr/>
          </p:nvSpPr>
          <p:spPr>
            <a:xfrm>
              <a:off x="4944" y="2006"/>
              <a:ext cx="3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x3</a:t>
              </a:r>
              <a:endParaRPr/>
            </a:p>
          </p:txBody>
        </p:sp>
        <p:cxnSp>
          <p:nvCxnSpPr>
            <p:cNvPr id="78" name="Google Shape;78;p2"/>
            <p:cNvCxnSpPr/>
            <p:nvPr/>
          </p:nvCxnSpPr>
          <p:spPr>
            <a:xfrm>
              <a:off x="2028" y="2093"/>
              <a:ext cx="600" cy="0"/>
            </a:xfrm>
            <a:prstGeom prst="curvedConnector3">
              <a:avLst>
                <a:gd fmla="val -327353" name="adj1"/>
              </a:avLst>
            </a:prstGeom>
            <a:noFill/>
            <a:ln cap="flat" cmpd="sng" w="9525">
              <a:solidFill>
                <a:schemeClr val="dk1"/>
              </a:solidFill>
              <a:prstDash val="solid"/>
              <a:miter lim="800000"/>
              <a:headEnd len="med" w="med" type="none"/>
              <a:tailEnd len="med" w="med" type="triangle"/>
            </a:ln>
          </p:spPr>
        </p:cxnSp>
        <p:cxnSp>
          <p:nvCxnSpPr>
            <p:cNvPr id="79" name="Google Shape;79;p2"/>
            <p:cNvCxnSpPr/>
            <p:nvPr/>
          </p:nvCxnSpPr>
          <p:spPr>
            <a:xfrm flipH="1" rot="10800000">
              <a:off x="3165" y="1916"/>
              <a:ext cx="600" cy="300"/>
            </a:xfrm>
            <a:prstGeom prst="curvedConnector3">
              <a:avLst>
                <a:gd fmla="val -497490" name="adj1"/>
              </a:avLst>
            </a:prstGeom>
            <a:noFill/>
            <a:ln cap="flat" cmpd="sng" w="9525">
              <a:solidFill>
                <a:schemeClr val="dk1"/>
              </a:solidFill>
              <a:prstDash val="solid"/>
              <a:miter lim="800000"/>
              <a:headEnd len="med" w="med" type="none"/>
              <a:tailEnd len="med" w="med" type="triangle"/>
            </a:ln>
          </p:spPr>
        </p:cxnSp>
        <p:cxnSp>
          <p:nvCxnSpPr>
            <p:cNvPr id="80" name="Google Shape;80;p2"/>
            <p:cNvCxnSpPr/>
            <p:nvPr/>
          </p:nvCxnSpPr>
          <p:spPr>
            <a:xfrm>
              <a:off x="4236" y="1949"/>
              <a:ext cx="600" cy="300"/>
            </a:xfrm>
            <a:prstGeom prst="curvedConnector3">
              <a:avLst>
                <a:gd fmla="val -600181" name="adj1"/>
              </a:avLst>
            </a:prstGeom>
            <a:noFill/>
            <a:ln cap="flat" cmpd="sng" w="9525">
              <a:solidFill>
                <a:schemeClr val="dk1"/>
              </a:solidFill>
              <a:prstDash val="solid"/>
              <a:miter lim="800000"/>
              <a:headEnd len="med" w="med" type="none"/>
              <a:tailEnd len="med" w="med" type="triangle"/>
            </a:ln>
          </p:spPr>
        </p:cxnSp>
        <p:cxnSp>
          <p:nvCxnSpPr>
            <p:cNvPr id="81" name="Google Shape;81;p2"/>
            <p:cNvCxnSpPr/>
            <p:nvPr/>
          </p:nvCxnSpPr>
          <p:spPr>
            <a:xfrm>
              <a:off x="972" y="2042"/>
              <a:ext cx="624" cy="48"/>
            </a:xfrm>
            <a:prstGeom prst="straightConnector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400"/>
              <a:buFont typeface="Arial"/>
              <a:buNone/>
            </a:pPr>
            <a:r>
              <a:rPr b="0" i="0" lang="en-US" sz="4400" u="none">
                <a:solidFill>
                  <a:srgbClr val="FFF3F3"/>
                </a:solidFill>
                <a:latin typeface="Arial"/>
                <a:ea typeface="Arial"/>
                <a:cs typeface="Arial"/>
                <a:sym typeface="Arial"/>
              </a:rPr>
              <a:t>CTDL của DSLK đơn</a:t>
            </a:r>
            <a:endParaRPr/>
          </a:p>
        </p:txBody>
      </p:sp>
      <p:sp>
        <p:nvSpPr>
          <p:cNvPr id="87" name="Google Shape;87;p3"/>
          <p:cNvSpPr txBox="1"/>
          <p:nvPr>
            <p:ph idx="1" type="body"/>
          </p:nvPr>
        </p:nvSpPr>
        <p:spPr>
          <a:xfrm>
            <a:off x="776287" y="692150"/>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C</a:t>
            </a:r>
            <a:r>
              <a:rPr b="0" i="0" lang="en-US" sz="2800" u="none">
                <a:solidFill>
                  <a:schemeClr val="dk1"/>
                </a:solidFill>
                <a:latin typeface="Arial"/>
                <a:ea typeface="Arial"/>
                <a:cs typeface="Arial"/>
                <a:sym typeface="Arial"/>
              </a:rPr>
              <a:t>ấu trúc dữ liệu của 1 nút trong List đơn</a:t>
            </a:r>
            <a:endParaRPr b="0" i="0" sz="2800" u="none">
              <a:solidFill>
                <a:srgbClr val="080808"/>
              </a:solidFill>
              <a:latin typeface="Arial"/>
              <a:ea typeface="Arial"/>
              <a:cs typeface="Arial"/>
              <a:sym typeface="Arial"/>
            </a:endParaRPr>
          </a:p>
          <a:p>
            <a:pPr indent="-285750" lvl="1" marL="742950" rtl="0" algn="l">
              <a:lnSpc>
                <a:spcPct val="100000"/>
              </a:lnSpc>
              <a:spcBef>
                <a:spcPts val="56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typedef</a:t>
            </a:r>
            <a:r>
              <a:rPr b="0" i="0" lang="en-US" sz="2800" u="none">
                <a:solidFill>
                  <a:srgbClr val="080808"/>
                </a:solidFill>
                <a:latin typeface="Arial"/>
                <a:ea typeface="Arial"/>
                <a:cs typeface="Arial"/>
                <a:sym typeface="Arial"/>
              </a:rPr>
              <a:t> 	struct  tagNode </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Data   	Info;  	</a:t>
            </a:r>
            <a:r>
              <a:rPr b="0" i="0" lang="en-US" sz="2400" u="none">
                <a:solidFill>
                  <a:srgbClr val="080808"/>
                </a:solidFill>
                <a:latin typeface="Arial"/>
                <a:ea typeface="Arial"/>
                <a:cs typeface="Arial"/>
                <a:sym typeface="Arial"/>
              </a:rPr>
              <a:t>// Lưu thông tin bản thân</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struct  tagNode  *pNext; </a:t>
            </a:r>
            <a:r>
              <a:rPr b="0" i="0" lang="en-US" sz="2400" u="none">
                <a:solidFill>
                  <a:srgbClr val="080808"/>
                </a:solidFill>
                <a:latin typeface="Arial"/>
                <a:ea typeface="Arial"/>
                <a:cs typeface="Arial"/>
                <a:sym typeface="Arial"/>
              </a:rPr>
              <a:t>//Lưu địa chỉ của Node đứng sau</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a:t>
            </a:r>
            <a:endParaRPr/>
          </a:p>
          <a:p>
            <a:pPr indent="-342900" lvl="0" marL="342900" rtl="0" algn="l">
              <a:lnSpc>
                <a:spcPct val="10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C</a:t>
            </a:r>
            <a:r>
              <a:rPr b="0" i="0" lang="en-US" sz="2800" u="none">
                <a:solidFill>
                  <a:schemeClr val="dk1"/>
                </a:solidFill>
                <a:latin typeface="Arial"/>
                <a:ea typeface="Arial"/>
                <a:cs typeface="Arial"/>
                <a:sym typeface="Arial"/>
              </a:rPr>
              <a:t>ấu trúc dữ liệu của DSLK đơn</a:t>
            </a:r>
            <a:endParaRPr b="0" i="0" sz="2800" u="none">
              <a:solidFill>
                <a:srgbClr val="080808"/>
              </a:solidFill>
              <a:latin typeface="Arial"/>
              <a:ea typeface="Arial"/>
              <a:cs typeface="Arial"/>
              <a:sym typeface="Arial"/>
            </a:endParaRPr>
          </a:p>
          <a:p>
            <a:pPr indent="-285750" lvl="1" marL="742950" rtl="0" algn="l">
              <a:lnSpc>
                <a:spcPct val="100000"/>
              </a:lnSpc>
              <a:spcBef>
                <a:spcPts val="56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typedef</a:t>
            </a:r>
            <a:r>
              <a:rPr b="0" i="0" lang="en-US" sz="2800" u="none">
                <a:solidFill>
                  <a:srgbClr val="080808"/>
                </a:solidFill>
                <a:latin typeface="Arial"/>
                <a:ea typeface="Arial"/>
                <a:cs typeface="Arial"/>
                <a:sym typeface="Arial"/>
              </a:rPr>
              <a:t> 	struct  tagList </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*pHead;</a:t>
            </a:r>
            <a:r>
              <a:rPr b="0" i="0" lang="en-US" sz="2400" u="none">
                <a:solidFill>
                  <a:srgbClr val="080808"/>
                </a:solidFill>
                <a:latin typeface="Arial"/>
                <a:ea typeface="Arial"/>
                <a:cs typeface="Arial"/>
                <a:sym typeface="Arial"/>
              </a:rPr>
              <a:t>//Lưu đị</a:t>
            </a:r>
            <a:r>
              <a:rPr lang="en-US" sz="2400">
                <a:solidFill>
                  <a:srgbClr val="080808"/>
                </a:solidFill>
              </a:rPr>
              <a:t>a</a:t>
            </a:r>
            <a:r>
              <a:rPr b="0" i="0" lang="en-US" sz="2400" u="none">
                <a:solidFill>
                  <a:srgbClr val="080808"/>
                </a:solidFill>
                <a:latin typeface="Arial"/>
                <a:ea typeface="Arial"/>
                <a:cs typeface="Arial"/>
                <a:sym typeface="Arial"/>
              </a:rPr>
              <a:t> chỉ Node đầu tiên trong List</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*pTail; </a:t>
            </a:r>
            <a:r>
              <a:rPr b="0" i="0" lang="en-US" sz="2400" u="none">
                <a:solidFill>
                  <a:srgbClr val="080808"/>
                </a:solidFill>
                <a:latin typeface="Arial"/>
                <a:ea typeface="Arial"/>
                <a:cs typeface="Arial"/>
                <a:sym typeface="Arial"/>
              </a:rPr>
              <a:t>//Lưu địa chỉ của Node cuối cùng trong List</a:t>
            </a:r>
            <a:endParaRPr/>
          </a:p>
          <a:p>
            <a:pPr indent="-285750" lvl="1" marL="74295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r>
              <a:rPr b="0" i="0" lang="en-US" sz="2800" u="none">
                <a:solidFill>
                  <a:srgbClr val="0000FF"/>
                </a:solidFill>
                <a:latin typeface="Arial"/>
                <a:ea typeface="Arial"/>
                <a:cs typeface="Arial"/>
                <a:sym typeface="Arial"/>
              </a:rPr>
              <a:t>LIST</a:t>
            </a:r>
            <a:r>
              <a:rPr b="0" i="0" lang="en-US" sz="2800" u="none">
                <a:solidFill>
                  <a:srgbClr val="080808"/>
                </a:solidFill>
                <a:latin typeface="Arial"/>
                <a:ea typeface="Arial"/>
                <a:cs typeface="Arial"/>
                <a:sym typeface="Arial"/>
              </a:rPr>
              <a:t>;		</a:t>
            </a:r>
            <a:r>
              <a:rPr b="0" i="0" lang="en-US" sz="2400" u="none">
                <a:solidFill>
                  <a:srgbClr val="080808"/>
                </a:solidFill>
                <a:latin typeface="Arial"/>
                <a:ea typeface="Arial"/>
                <a:cs typeface="Arial"/>
                <a:sym typeface="Arial"/>
              </a:rPr>
              <a:t>// kiểu danh sách liên kết đơn</a:t>
            </a:r>
            <a:endParaRPr/>
          </a:p>
        </p:txBody>
      </p:sp>
      <p:grpSp>
        <p:nvGrpSpPr>
          <p:cNvPr id="88" name="Google Shape;88;p3"/>
          <p:cNvGrpSpPr/>
          <p:nvPr/>
        </p:nvGrpSpPr>
        <p:grpSpPr>
          <a:xfrm>
            <a:off x="6348412" y="3068637"/>
            <a:ext cx="3429000" cy="1187450"/>
            <a:chOff x="3954" y="2251"/>
            <a:chExt cx="2160" cy="748"/>
          </a:xfrm>
        </p:grpSpPr>
        <p:sp>
          <p:nvSpPr>
            <p:cNvPr id="89" name="Google Shape;89;p3"/>
            <p:cNvSpPr txBox="1"/>
            <p:nvPr/>
          </p:nvSpPr>
          <p:spPr>
            <a:xfrm>
              <a:off x="4798" y="2568"/>
              <a:ext cx="319" cy="428"/>
            </a:xfrm>
            <a:prstGeom prst="rect">
              <a:avLst/>
            </a:prstGeom>
            <a:gradFill>
              <a:gsLst>
                <a:gs pos="0">
                  <a:srgbClr val="FFFFFF"/>
                </a:gs>
                <a:gs pos="100000">
                  <a:srgbClr val="69FF69">
                    <a:alpha val="60000"/>
                  </a:srgbClr>
                </a:gs>
              </a:gsLst>
              <a:path path="circle">
                <a:fillToRect b="50%" l="50%" r="50%" t="50%"/>
              </a:path>
              <a:tileRect/>
            </a:grad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90" name="Google Shape;90;p3"/>
            <p:cNvGrpSpPr/>
            <p:nvPr/>
          </p:nvGrpSpPr>
          <p:grpSpPr>
            <a:xfrm>
              <a:off x="3954" y="2251"/>
              <a:ext cx="2160" cy="748"/>
              <a:chOff x="3954" y="2251"/>
              <a:chExt cx="2160" cy="748"/>
            </a:xfrm>
          </p:grpSpPr>
          <p:sp>
            <p:nvSpPr>
              <p:cNvPr id="91" name="Google Shape;91;p3"/>
              <p:cNvSpPr txBox="1"/>
              <p:nvPr/>
            </p:nvSpPr>
            <p:spPr>
              <a:xfrm>
                <a:off x="3954" y="2571"/>
                <a:ext cx="850" cy="428"/>
              </a:xfrm>
              <a:prstGeom prst="rect">
                <a:avLst/>
              </a:prstGeom>
              <a:gradFill>
                <a:gsLst>
                  <a:gs pos="0">
                    <a:srgbClr val="FFFFFF"/>
                  </a:gs>
                  <a:gs pos="100000">
                    <a:srgbClr val="69FF69">
                      <a:alpha val="60000"/>
                    </a:srgbClr>
                  </a:gs>
                </a:gsLst>
                <a:path path="circle">
                  <a:fillToRect b="50%" l="50%" r="50%" t="50%"/>
                </a:path>
                <a:tileRect/>
              </a:grad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Helvetica Neue"/>
                  <a:buNone/>
                </a:pPr>
                <a:r>
                  <a:rPr b="1" i="0" lang="en-US" sz="3600" u="none">
                    <a:solidFill>
                      <a:schemeClr val="dk1"/>
                    </a:solidFill>
                    <a:latin typeface="Helvetica Neue"/>
                    <a:ea typeface="Helvetica Neue"/>
                    <a:cs typeface="Helvetica Neue"/>
                    <a:sym typeface="Helvetica Neue"/>
                  </a:rPr>
                  <a:t>Info</a:t>
                </a:r>
                <a:endParaRPr/>
              </a:p>
            </p:txBody>
          </p:sp>
          <p:cxnSp>
            <p:nvCxnSpPr>
              <p:cNvPr id="92" name="Google Shape;92;p3"/>
              <p:cNvCxnSpPr/>
              <p:nvPr/>
            </p:nvCxnSpPr>
            <p:spPr>
              <a:xfrm>
                <a:off x="4945" y="2795"/>
                <a:ext cx="1169" cy="0"/>
              </a:xfrm>
              <a:prstGeom prst="straightConnector1">
                <a:avLst/>
              </a:prstGeom>
              <a:noFill/>
              <a:ln cap="flat" cmpd="sng" w="76200">
                <a:solidFill>
                  <a:schemeClr val="dk1"/>
                </a:solidFill>
                <a:prstDash val="solid"/>
                <a:miter lim="800000"/>
                <a:headEnd len="med" w="med" type="none"/>
                <a:tailEnd len="med" w="med" type="triangle"/>
              </a:ln>
            </p:spPr>
          </p:cxnSp>
          <p:sp>
            <p:nvSpPr>
              <p:cNvPr id="93" name="Google Shape;93;p3"/>
              <p:cNvSpPr txBox="1"/>
              <p:nvPr/>
            </p:nvSpPr>
            <p:spPr>
              <a:xfrm>
                <a:off x="5158" y="2251"/>
                <a:ext cx="850" cy="3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pNext</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Ví dụ tổ chức DSLK đơn trong bộ nhớ</a:t>
            </a:r>
            <a:endParaRPr/>
          </a:p>
        </p:txBody>
      </p:sp>
      <p:grpSp>
        <p:nvGrpSpPr>
          <p:cNvPr id="99" name="Google Shape;99;p4"/>
          <p:cNvGrpSpPr/>
          <p:nvPr/>
        </p:nvGrpSpPr>
        <p:grpSpPr>
          <a:xfrm>
            <a:off x="1136650" y="836612"/>
            <a:ext cx="7488237" cy="1831975"/>
            <a:chOff x="716" y="663"/>
            <a:chExt cx="4717" cy="1154"/>
          </a:xfrm>
        </p:grpSpPr>
        <p:grpSp>
          <p:nvGrpSpPr>
            <p:cNvPr id="100" name="Google Shape;100;p4"/>
            <p:cNvGrpSpPr/>
            <p:nvPr/>
          </p:nvGrpSpPr>
          <p:grpSpPr>
            <a:xfrm>
              <a:off x="1017" y="1231"/>
              <a:ext cx="4416" cy="586"/>
              <a:chOff x="864" y="2054"/>
              <a:chExt cx="4416" cy="586"/>
            </a:xfrm>
          </p:grpSpPr>
          <p:sp>
            <p:nvSpPr>
              <p:cNvPr id="101" name="Google Shape;101;p4"/>
              <p:cNvSpPr txBox="1"/>
              <p:nvPr/>
            </p:nvSpPr>
            <p:spPr>
              <a:xfrm>
                <a:off x="1344" y="2304"/>
                <a:ext cx="480"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4f</a:t>
                </a:r>
                <a:endParaRPr/>
              </a:p>
            </p:txBody>
          </p:sp>
          <p:sp>
            <p:nvSpPr>
              <p:cNvPr id="102" name="Google Shape;102;p4"/>
              <p:cNvSpPr txBox="1"/>
              <p:nvPr/>
            </p:nvSpPr>
            <p:spPr>
              <a:xfrm>
                <a:off x="864" y="2304"/>
                <a:ext cx="480"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4</a:t>
                </a:r>
                <a:endParaRPr/>
              </a:p>
            </p:txBody>
          </p:sp>
          <p:cxnSp>
            <p:nvCxnSpPr>
              <p:cNvPr id="103" name="Google Shape;103;p4"/>
              <p:cNvCxnSpPr/>
              <p:nvPr/>
            </p:nvCxnSpPr>
            <p:spPr>
              <a:xfrm>
                <a:off x="864" y="2304"/>
                <a:ext cx="960" cy="0"/>
              </a:xfrm>
              <a:prstGeom prst="straightConnector1">
                <a:avLst/>
              </a:prstGeom>
              <a:noFill/>
              <a:ln cap="sq" cmpd="sng" w="28575">
                <a:solidFill>
                  <a:schemeClr val="dk1"/>
                </a:solidFill>
                <a:prstDash val="solid"/>
                <a:miter lim="800000"/>
                <a:headEnd len="med" w="med" type="none"/>
                <a:tailEnd len="med" w="med" type="none"/>
              </a:ln>
            </p:spPr>
          </p:cxnSp>
          <p:cxnSp>
            <p:nvCxnSpPr>
              <p:cNvPr id="104" name="Google Shape;104;p4"/>
              <p:cNvCxnSpPr/>
              <p:nvPr/>
            </p:nvCxnSpPr>
            <p:spPr>
              <a:xfrm>
                <a:off x="864" y="2640"/>
                <a:ext cx="960" cy="0"/>
              </a:xfrm>
              <a:prstGeom prst="straightConnector1">
                <a:avLst/>
              </a:prstGeom>
              <a:noFill/>
              <a:ln cap="sq" cmpd="sng" w="28575">
                <a:solidFill>
                  <a:schemeClr val="dk1"/>
                </a:solidFill>
                <a:prstDash val="solid"/>
                <a:miter lim="800000"/>
                <a:headEnd len="med" w="med" type="none"/>
                <a:tailEnd len="med" w="med" type="none"/>
              </a:ln>
            </p:spPr>
          </p:cxnSp>
          <p:cxnSp>
            <p:nvCxnSpPr>
              <p:cNvPr id="105" name="Google Shape;105;p4"/>
              <p:cNvCxnSpPr/>
              <p:nvPr/>
            </p:nvCxnSpPr>
            <p:spPr>
              <a:xfrm>
                <a:off x="864" y="2304"/>
                <a:ext cx="0" cy="336"/>
              </a:xfrm>
              <a:prstGeom prst="straightConnector1">
                <a:avLst/>
              </a:prstGeom>
              <a:noFill/>
              <a:ln cap="sq" cmpd="sng" w="28575">
                <a:solidFill>
                  <a:schemeClr val="dk1"/>
                </a:solidFill>
                <a:prstDash val="solid"/>
                <a:miter lim="800000"/>
                <a:headEnd len="med" w="med" type="none"/>
                <a:tailEnd len="med" w="med" type="none"/>
              </a:ln>
            </p:spPr>
          </p:cxnSp>
          <p:cxnSp>
            <p:nvCxnSpPr>
              <p:cNvPr id="106" name="Google Shape;106;p4"/>
              <p:cNvCxnSpPr/>
              <p:nvPr/>
            </p:nvCxnSpPr>
            <p:spPr>
              <a:xfrm>
                <a:off x="1344" y="2304"/>
                <a:ext cx="0" cy="336"/>
              </a:xfrm>
              <a:prstGeom prst="straightConnector1">
                <a:avLst/>
              </a:prstGeom>
              <a:noFill/>
              <a:ln cap="flat" cmpd="sng" w="12700">
                <a:solidFill>
                  <a:schemeClr val="dk1"/>
                </a:solidFill>
                <a:prstDash val="solid"/>
                <a:miter lim="800000"/>
                <a:headEnd len="med" w="med" type="none"/>
                <a:tailEnd len="med" w="med" type="none"/>
              </a:ln>
            </p:spPr>
          </p:cxnSp>
          <p:cxnSp>
            <p:nvCxnSpPr>
              <p:cNvPr id="107" name="Google Shape;107;p4"/>
              <p:cNvCxnSpPr/>
              <p:nvPr/>
            </p:nvCxnSpPr>
            <p:spPr>
              <a:xfrm>
                <a:off x="1824" y="2304"/>
                <a:ext cx="0" cy="336"/>
              </a:xfrm>
              <a:prstGeom prst="straightConnector1">
                <a:avLst/>
              </a:prstGeom>
              <a:noFill/>
              <a:ln cap="sq" cmpd="sng" w="28575">
                <a:solidFill>
                  <a:schemeClr val="dk1"/>
                </a:solidFill>
                <a:prstDash val="solid"/>
                <a:miter lim="800000"/>
                <a:headEnd len="med" w="med" type="none"/>
                <a:tailEnd len="med" w="med" type="none"/>
              </a:ln>
            </p:spPr>
          </p:cxnSp>
          <p:sp>
            <p:nvSpPr>
              <p:cNvPr id="108" name="Google Shape;108;p4"/>
              <p:cNvSpPr txBox="1"/>
              <p:nvPr/>
            </p:nvSpPr>
            <p:spPr>
              <a:xfrm>
                <a:off x="912" y="206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3f</a:t>
                </a:r>
                <a:endParaRPr/>
              </a:p>
            </p:txBody>
          </p:sp>
          <p:sp>
            <p:nvSpPr>
              <p:cNvPr id="109" name="Google Shape;109;p4"/>
              <p:cNvSpPr txBox="1"/>
              <p:nvPr/>
            </p:nvSpPr>
            <p:spPr>
              <a:xfrm>
                <a:off x="4560" y="2304"/>
                <a:ext cx="720"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NULL</a:t>
                </a:r>
                <a:endParaRPr/>
              </a:p>
            </p:txBody>
          </p:sp>
          <p:sp>
            <p:nvSpPr>
              <p:cNvPr id="110" name="Google Shape;110;p4"/>
              <p:cNvSpPr txBox="1"/>
              <p:nvPr/>
            </p:nvSpPr>
            <p:spPr>
              <a:xfrm>
                <a:off x="4128" y="2304"/>
                <a:ext cx="432"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6</a:t>
                </a:r>
                <a:endParaRPr/>
              </a:p>
            </p:txBody>
          </p:sp>
          <p:cxnSp>
            <p:nvCxnSpPr>
              <p:cNvPr id="111" name="Google Shape;111;p4"/>
              <p:cNvCxnSpPr/>
              <p:nvPr/>
            </p:nvCxnSpPr>
            <p:spPr>
              <a:xfrm>
                <a:off x="4128" y="2304"/>
                <a:ext cx="1152" cy="0"/>
              </a:xfrm>
              <a:prstGeom prst="straightConnector1">
                <a:avLst/>
              </a:prstGeom>
              <a:noFill/>
              <a:ln cap="sq" cmpd="sng" w="28575">
                <a:solidFill>
                  <a:schemeClr val="dk1"/>
                </a:solidFill>
                <a:prstDash val="solid"/>
                <a:miter lim="800000"/>
                <a:headEnd len="med" w="med" type="none"/>
                <a:tailEnd len="med" w="med" type="none"/>
              </a:ln>
            </p:spPr>
          </p:cxnSp>
          <p:cxnSp>
            <p:nvCxnSpPr>
              <p:cNvPr id="112" name="Google Shape;112;p4"/>
              <p:cNvCxnSpPr/>
              <p:nvPr/>
            </p:nvCxnSpPr>
            <p:spPr>
              <a:xfrm>
                <a:off x="4128" y="2640"/>
                <a:ext cx="1152" cy="0"/>
              </a:xfrm>
              <a:prstGeom prst="straightConnector1">
                <a:avLst/>
              </a:prstGeom>
              <a:noFill/>
              <a:ln cap="sq" cmpd="sng" w="28575">
                <a:solidFill>
                  <a:schemeClr val="dk1"/>
                </a:solidFill>
                <a:prstDash val="solid"/>
                <a:miter lim="800000"/>
                <a:headEnd len="med" w="med" type="none"/>
                <a:tailEnd len="med" w="med" type="none"/>
              </a:ln>
            </p:spPr>
          </p:cxnSp>
          <p:cxnSp>
            <p:nvCxnSpPr>
              <p:cNvPr id="113" name="Google Shape;113;p4"/>
              <p:cNvCxnSpPr/>
              <p:nvPr/>
            </p:nvCxnSpPr>
            <p:spPr>
              <a:xfrm>
                <a:off x="4128" y="2304"/>
                <a:ext cx="0" cy="336"/>
              </a:xfrm>
              <a:prstGeom prst="straightConnector1">
                <a:avLst/>
              </a:prstGeom>
              <a:noFill/>
              <a:ln cap="sq" cmpd="sng" w="28575">
                <a:solidFill>
                  <a:schemeClr val="dk1"/>
                </a:solidFill>
                <a:prstDash val="solid"/>
                <a:miter lim="800000"/>
                <a:headEnd len="med" w="med" type="none"/>
                <a:tailEnd len="med" w="med" type="none"/>
              </a:ln>
            </p:spPr>
          </p:cxnSp>
          <p:cxnSp>
            <p:nvCxnSpPr>
              <p:cNvPr id="114" name="Google Shape;114;p4"/>
              <p:cNvCxnSpPr/>
              <p:nvPr/>
            </p:nvCxnSpPr>
            <p:spPr>
              <a:xfrm>
                <a:off x="4560" y="2304"/>
                <a:ext cx="0" cy="336"/>
              </a:xfrm>
              <a:prstGeom prst="straightConnector1">
                <a:avLst/>
              </a:prstGeom>
              <a:noFill/>
              <a:ln cap="flat" cmpd="sng" w="12700">
                <a:solidFill>
                  <a:schemeClr val="dk1"/>
                </a:solidFill>
                <a:prstDash val="solid"/>
                <a:miter lim="800000"/>
                <a:headEnd len="med" w="med" type="none"/>
                <a:tailEnd len="med" w="med" type="none"/>
              </a:ln>
            </p:spPr>
          </p:cxnSp>
          <p:cxnSp>
            <p:nvCxnSpPr>
              <p:cNvPr id="115" name="Google Shape;115;p4"/>
              <p:cNvCxnSpPr/>
              <p:nvPr/>
            </p:nvCxnSpPr>
            <p:spPr>
              <a:xfrm>
                <a:off x="5280" y="2304"/>
                <a:ext cx="0" cy="336"/>
              </a:xfrm>
              <a:prstGeom prst="straightConnector1">
                <a:avLst/>
              </a:prstGeom>
              <a:noFill/>
              <a:ln cap="sq" cmpd="sng" w="28575">
                <a:solidFill>
                  <a:schemeClr val="dk1"/>
                </a:solidFill>
                <a:prstDash val="solid"/>
                <a:miter lim="800000"/>
                <a:headEnd len="med" w="med" type="none"/>
                <a:tailEnd len="med" w="med" type="none"/>
              </a:ln>
            </p:spPr>
          </p:cxnSp>
          <p:sp>
            <p:nvSpPr>
              <p:cNvPr id="116" name="Google Shape;116;p4"/>
              <p:cNvSpPr txBox="1"/>
              <p:nvPr/>
            </p:nvSpPr>
            <p:spPr>
              <a:xfrm>
                <a:off x="2976" y="2304"/>
                <a:ext cx="480"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5f</a:t>
                </a:r>
                <a:endParaRPr/>
              </a:p>
            </p:txBody>
          </p:sp>
          <p:sp>
            <p:nvSpPr>
              <p:cNvPr id="117" name="Google Shape;117;p4"/>
              <p:cNvSpPr txBox="1"/>
              <p:nvPr/>
            </p:nvSpPr>
            <p:spPr>
              <a:xfrm>
                <a:off x="2496" y="2304"/>
                <a:ext cx="480" cy="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7</a:t>
                </a:r>
                <a:endParaRPr/>
              </a:p>
            </p:txBody>
          </p:sp>
          <p:cxnSp>
            <p:nvCxnSpPr>
              <p:cNvPr id="118" name="Google Shape;118;p4"/>
              <p:cNvCxnSpPr/>
              <p:nvPr/>
            </p:nvCxnSpPr>
            <p:spPr>
              <a:xfrm>
                <a:off x="2496" y="2304"/>
                <a:ext cx="960" cy="0"/>
              </a:xfrm>
              <a:prstGeom prst="straightConnector1">
                <a:avLst/>
              </a:prstGeom>
              <a:noFill/>
              <a:ln cap="sq" cmpd="sng" w="28575">
                <a:solidFill>
                  <a:schemeClr val="dk1"/>
                </a:solidFill>
                <a:prstDash val="solid"/>
                <a:miter lim="800000"/>
                <a:headEnd len="med" w="med" type="none"/>
                <a:tailEnd len="med" w="med" type="none"/>
              </a:ln>
            </p:spPr>
          </p:cxnSp>
          <p:cxnSp>
            <p:nvCxnSpPr>
              <p:cNvPr id="119" name="Google Shape;119;p4"/>
              <p:cNvCxnSpPr/>
              <p:nvPr/>
            </p:nvCxnSpPr>
            <p:spPr>
              <a:xfrm>
                <a:off x="2496" y="2640"/>
                <a:ext cx="960" cy="0"/>
              </a:xfrm>
              <a:prstGeom prst="straightConnector1">
                <a:avLst/>
              </a:prstGeom>
              <a:noFill/>
              <a:ln cap="sq" cmpd="sng" w="28575">
                <a:solidFill>
                  <a:schemeClr val="dk1"/>
                </a:solidFill>
                <a:prstDash val="solid"/>
                <a:miter lim="800000"/>
                <a:headEnd len="med" w="med" type="none"/>
                <a:tailEnd len="med" w="med" type="none"/>
              </a:ln>
            </p:spPr>
          </p:cxnSp>
          <p:cxnSp>
            <p:nvCxnSpPr>
              <p:cNvPr id="120" name="Google Shape;120;p4"/>
              <p:cNvCxnSpPr/>
              <p:nvPr/>
            </p:nvCxnSpPr>
            <p:spPr>
              <a:xfrm>
                <a:off x="2496" y="2304"/>
                <a:ext cx="0" cy="336"/>
              </a:xfrm>
              <a:prstGeom prst="straightConnector1">
                <a:avLst/>
              </a:prstGeom>
              <a:noFill/>
              <a:ln cap="sq" cmpd="sng" w="28575">
                <a:solidFill>
                  <a:schemeClr val="dk1"/>
                </a:solidFill>
                <a:prstDash val="solid"/>
                <a:miter lim="800000"/>
                <a:headEnd len="med" w="med" type="none"/>
                <a:tailEnd len="med" w="med" type="none"/>
              </a:ln>
            </p:spPr>
          </p:cxnSp>
          <p:cxnSp>
            <p:nvCxnSpPr>
              <p:cNvPr id="121" name="Google Shape;121;p4"/>
              <p:cNvCxnSpPr/>
              <p:nvPr/>
            </p:nvCxnSpPr>
            <p:spPr>
              <a:xfrm>
                <a:off x="2976" y="2304"/>
                <a:ext cx="0" cy="336"/>
              </a:xfrm>
              <a:prstGeom prst="straightConnector1">
                <a:avLst/>
              </a:prstGeom>
              <a:noFill/>
              <a:ln cap="flat" cmpd="sng" w="12700">
                <a:solidFill>
                  <a:schemeClr val="dk1"/>
                </a:solidFill>
                <a:prstDash val="solid"/>
                <a:miter lim="800000"/>
                <a:headEnd len="med" w="med" type="none"/>
                <a:tailEnd len="med" w="med" type="none"/>
              </a:ln>
            </p:spPr>
          </p:cxnSp>
          <p:cxnSp>
            <p:nvCxnSpPr>
              <p:cNvPr id="122" name="Google Shape;122;p4"/>
              <p:cNvCxnSpPr/>
              <p:nvPr/>
            </p:nvCxnSpPr>
            <p:spPr>
              <a:xfrm>
                <a:off x="3456" y="2304"/>
                <a:ext cx="0" cy="336"/>
              </a:xfrm>
              <a:prstGeom prst="straightConnector1">
                <a:avLst/>
              </a:prstGeom>
              <a:noFill/>
              <a:ln cap="sq" cmpd="sng" w="28575">
                <a:solidFill>
                  <a:schemeClr val="dk1"/>
                </a:solidFill>
                <a:prstDash val="solid"/>
                <a:miter lim="800000"/>
                <a:headEnd len="med" w="med" type="none"/>
                <a:tailEnd len="med" w="med" type="none"/>
              </a:ln>
            </p:spPr>
          </p:cxnSp>
          <p:sp>
            <p:nvSpPr>
              <p:cNvPr id="123" name="Google Shape;123;p4"/>
              <p:cNvSpPr txBox="1"/>
              <p:nvPr/>
            </p:nvSpPr>
            <p:spPr>
              <a:xfrm>
                <a:off x="2496" y="205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4f</a:t>
                </a:r>
                <a:endParaRPr/>
              </a:p>
            </p:txBody>
          </p:sp>
          <p:sp>
            <p:nvSpPr>
              <p:cNvPr id="124" name="Google Shape;124;p4"/>
              <p:cNvSpPr txBox="1"/>
              <p:nvPr/>
            </p:nvSpPr>
            <p:spPr>
              <a:xfrm>
                <a:off x="4128" y="206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5f</a:t>
                </a:r>
                <a:endParaRPr/>
              </a:p>
            </p:txBody>
          </p:sp>
          <p:cxnSp>
            <p:nvCxnSpPr>
              <p:cNvPr id="125" name="Google Shape;125;p4"/>
              <p:cNvCxnSpPr/>
              <p:nvPr/>
            </p:nvCxnSpPr>
            <p:spPr>
              <a:xfrm>
                <a:off x="1824" y="2496"/>
                <a:ext cx="672"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26" name="Google Shape;126;p4"/>
              <p:cNvCxnSpPr/>
              <p:nvPr/>
            </p:nvCxnSpPr>
            <p:spPr>
              <a:xfrm>
                <a:off x="3456" y="2487"/>
                <a:ext cx="672" cy="0"/>
              </a:xfrm>
              <a:prstGeom prst="straightConnector1">
                <a:avLst/>
              </a:prstGeom>
              <a:noFill/>
              <a:ln cap="flat" cmpd="sng" w="9525">
                <a:solidFill>
                  <a:schemeClr val="dk1"/>
                </a:solidFill>
                <a:prstDash val="solid"/>
                <a:miter lim="800000"/>
                <a:headEnd len="med" w="med" type="none"/>
                <a:tailEnd len="med" w="med" type="triangle"/>
              </a:ln>
            </p:spPr>
          </p:cxnSp>
        </p:grpSp>
        <p:sp>
          <p:nvSpPr>
            <p:cNvPr id="127" name="Google Shape;127;p4"/>
            <p:cNvSpPr txBox="1"/>
            <p:nvPr/>
          </p:nvSpPr>
          <p:spPr>
            <a:xfrm>
              <a:off x="716" y="663"/>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pHead</a:t>
              </a:r>
              <a:endParaRPr/>
            </a:p>
          </p:txBody>
        </p:sp>
        <p:sp>
          <p:nvSpPr>
            <p:cNvPr id="128" name="Google Shape;128;p4"/>
            <p:cNvSpPr txBox="1"/>
            <p:nvPr/>
          </p:nvSpPr>
          <p:spPr>
            <a:xfrm>
              <a:off x="4163" y="75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pTail</a:t>
              </a:r>
              <a:endParaRPr/>
            </a:p>
          </p:txBody>
        </p:sp>
        <p:cxnSp>
          <p:nvCxnSpPr>
            <p:cNvPr id="129" name="Google Shape;129;p4"/>
            <p:cNvCxnSpPr/>
            <p:nvPr/>
          </p:nvCxnSpPr>
          <p:spPr>
            <a:xfrm>
              <a:off x="1033" y="1002"/>
              <a:ext cx="0" cy="432"/>
            </a:xfrm>
            <a:prstGeom prst="straightConnector1">
              <a:avLst/>
            </a:prstGeom>
            <a:noFill/>
            <a:ln cap="flat" cmpd="sng" w="57150">
              <a:solidFill>
                <a:schemeClr val="hlink"/>
              </a:solidFill>
              <a:prstDash val="solid"/>
              <a:miter lim="800000"/>
              <a:headEnd len="med" w="med" type="none"/>
              <a:tailEnd len="med" w="med" type="triangle"/>
            </a:ln>
          </p:spPr>
        </p:cxnSp>
        <p:cxnSp>
          <p:nvCxnSpPr>
            <p:cNvPr id="130" name="Google Shape;130;p4"/>
            <p:cNvCxnSpPr/>
            <p:nvPr/>
          </p:nvCxnSpPr>
          <p:spPr>
            <a:xfrm>
              <a:off x="4526" y="1071"/>
              <a:ext cx="0" cy="384"/>
            </a:xfrm>
            <a:prstGeom prst="straightConnector1">
              <a:avLst/>
            </a:prstGeom>
            <a:noFill/>
            <a:ln cap="flat" cmpd="sng" w="57150">
              <a:solidFill>
                <a:schemeClr val="hlink"/>
              </a:solidFill>
              <a:prstDash val="solid"/>
              <a:miter lim="800000"/>
              <a:headEnd len="med" w="med" type="none"/>
              <a:tailEnd len="med" w="med" type="triangle"/>
            </a:ln>
          </p:spPr>
        </p:cxnSp>
      </p:grpSp>
      <p:sp>
        <p:nvSpPr>
          <p:cNvPr id="131" name="Google Shape;131;p4"/>
          <p:cNvSpPr txBox="1"/>
          <p:nvPr/>
        </p:nvSpPr>
        <p:spPr>
          <a:xfrm>
            <a:off x="920750" y="2924175"/>
            <a:ext cx="83534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Trong ví dụ trên thành phần dữ liệu là 1 số nguyên</a:t>
            </a:r>
            <a:r>
              <a:rPr b="0" i="0" lang="en-US" sz="1800" u="none">
                <a:solidFill>
                  <a:schemeClr val="dk1"/>
                </a:solidFill>
                <a:latin typeface="Arial"/>
                <a:ea typeface="Arial"/>
                <a:cs typeface="Arial"/>
                <a:sym typeface="Arial"/>
              </a:rPr>
              <a:t> </a:t>
            </a:r>
            <a:endParaRPr/>
          </a:p>
        </p:txBody>
      </p:sp>
      <p:sp>
        <p:nvSpPr>
          <p:cNvPr id="132" name="Google Shape;132;p4"/>
          <p:cNvSpPr txBox="1"/>
          <p:nvPr/>
        </p:nvSpPr>
        <p:spPr>
          <a:xfrm>
            <a:off x="933450" y="4419600"/>
            <a:ext cx="2857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f</a:t>
            </a:r>
            <a:endParaRPr/>
          </a:p>
        </p:txBody>
      </p:sp>
      <p:cxnSp>
        <p:nvCxnSpPr>
          <p:cNvPr id="133" name="Google Shape;133;p4"/>
          <p:cNvCxnSpPr/>
          <p:nvPr/>
        </p:nvCxnSpPr>
        <p:spPr>
          <a:xfrm rot="10800000">
            <a:off x="1524000" y="4391025"/>
            <a:ext cx="0" cy="609600"/>
          </a:xfrm>
          <a:prstGeom prst="straightConnector1">
            <a:avLst/>
          </a:prstGeom>
          <a:noFill/>
          <a:ln cap="flat" cmpd="sng" w="28575">
            <a:solidFill>
              <a:schemeClr val="dk1"/>
            </a:solidFill>
            <a:prstDash val="solid"/>
            <a:miter lim="800000"/>
            <a:headEnd len="med" w="med" type="none"/>
            <a:tailEnd len="med" w="med" type="triangle"/>
          </a:ln>
        </p:spPr>
      </p:cxnSp>
      <p:sp>
        <p:nvSpPr>
          <p:cNvPr id="134" name="Google Shape;134;p4"/>
          <p:cNvSpPr txBox="1"/>
          <p:nvPr/>
        </p:nvSpPr>
        <p:spPr>
          <a:xfrm>
            <a:off x="1828800"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 name="Google Shape;135;p4"/>
          <p:cNvSpPr txBox="1"/>
          <p:nvPr/>
        </p:nvSpPr>
        <p:spPr>
          <a:xfrm>
            <a:off x="2365375" y="4425950"/>
            <a:ext cx="538162"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36" name="Google Shape;136;p4"/>
          <p:cNvCxnSpPr/>
          <p:nvPr/>
        </p:nvCxnSpPr>
        <p:spPr>
          <a:xfrm>
            <a:off x="2097087" y="4694237"/>
            <a:ext cx="1587" cy="806450"/>
          </a:xfrm>
          <a:prstGeom prst="straightConnector1">
            <a:avLst/>
          </a:prstGeom>
          <a:noFill/>
          <a:ln cap="flat" cmpd="sng" w="28575">
            <a:solidFill>
              <a:schemeClr val="dk2"/>
            </a:solidFill>
            <a:prstDash val="solid"/>
            <a:miter lim="800000"/>
            <a:headEnd len="med" w="med" type="oval"/>
            <a:tailEnd len="med" w="med" type="triangle"/>
          </a:ln>
        </p:spPr>
      </p:cxnSp>
      <p:cxnSp>
        <p:nvCxnSpPr>
          <p:cNvPr id="137" name="Google Shape;137;p4"/>
          <p:cNvCxnSpPr/>
          <p:nvPr/>
        </p:nvCxnSpPr>
        <p:spPr>
          <a:xfrm flipH="1" rot="10800000">
            <a:off x="2633662" y="4694237"/>
            <a:ext cx="806450" cy="1587"/>
          </a:xfrm>
          <a:prstGeom prst="straightConnector1">
            <a:avLst/>
          </a:prstGeom>
          <a:noFill/>
          <a:ln cap="flat" cmpd="sng" w="28575">
            <a:solidFill>
              <a:schemeClr val="dk1"/>
            </a:solidFill>
            <a:prstDash val="solid"/>
            <a:miter lim="800000"/>
            <a:headEnd len="med" w="med" type="oval"/>
            <a:tailEnd len="med" w="med" type="triangle"/>
          </a:ln>
        </p:spPr>
      </p:cxnSp>
      <p:sp>
        <p:nvSpPr>
          <p:cNvPr id="138" name="Google Shape;138;p4"/>
          <p:cNvSpPr txBox="1"/>
          <p:nvPr/>
        </p:nvSpPr>
        <p:spPr>
          <a:xfrm>
            <a:off x="3440112"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4"/>
          <p:cNvSpPr txBox="1"/>
          <p:nvPr/>
        </p:nvSpPr>
        <p:spPr>
          <a:xfrm>
            <a:off x="3976687"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40" name="Google Shape;140;p4"/>
          <p:cNvCxnSpPr/>
          <p:nvPr/>
        </p:nvCxnSpPr>
        <p:spPr>
          <a:xfrm flipH="1" rot="10800000">
            <a:off x="4244975" y="4694237"/>
            <a:ext cx="806450" cy="1587"/>
          </a:xfrm>
          <a:prstGeom prst="straightConnector1">
            <a:avLst/>
          </a:prstGeom>
          <a:noFill/>
          <a:ln cap="flat" cmpd="sng" w="28575">
            <a:solidFill>
              <a:schemeClr val="dk1"/>
            </a:solidFill>
            <a:prstDash val="solid"/>
            <a:miter lim="800000"/>
            <a:headEnd len="med" w="med" type="oval"/>
            <a:tailEnd len="med" w="med" type="triangle"/>
          </a:ln>
        </p:spPr>
      </p:cxnSp>
      <p:sp>
        <p:nvSpPr>
          <p:cNvPr id="141" name="Google Shape;141;p4"/>
          <p:cNvSpPr txBox="1"/>
          <p:nvPr/>
        </p:nvSpPr>
        <p:spPr>
          <a:xfrm>
            <a:off x="5051425"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 name="Google Shape;142;p4"/>
          <p:cNvSpPr txBox="1"/>
          <p:nvPr/>
        </p:nvSpPr>
        <p:spPr>
          <a:xfrm>
            <a:off x="5588000"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43" name="Google Shape;143;p4"/>
          <p:cNvCxnSpPr/>
          <p:nvPr/>
        </p:nvCxnSpPr>
        <p:spPr>
          <a:xfrm flipH="1" rot="10800000">
            <a:off x="5856287" y="4694237"/>
            <a:ext cx="806450" cy="1587"/>
          </a:xfrm>
          <a:prstGeom prst="straightConnector1">
            <a:avLst/>
          </a:prstGeom>
          <a:noFill/>
          <a:ln cap="flat" cmpd="sng" w="28575">
            <a:solidFill>
              <a:schemeClr val="dk1"/>
            </a:solidFill>
            <a:prstDash val="solid"/>
            <a:miter lim="800000"/>
            <a:headEnd len="med" w="med" type="oval"/>
            <a:tailEnd len="med" w="med" type="triangle"/>
          </a:ln>
        </p:spPr>
      </p:cxnSp>
      <p:sp>
        <p:nvSpPr>
          <p:cNvPr id="144" name="Google Shape;144;p4"/>
          <p:cNvSpPr txBox="1"/>
          <p:nvPr/>
        </p:nvSpPr>
        <p:spPr>
          <a:xfrm>
            <a:off x="6662737"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5" name="Google Shape;145;p4"/>
          <p:cNvSpPr txBox="1"/>
          <p:nvPr/>
        </p:nvSpPr>
        <p:spPr>
          <a:xfrm>
            <a:off x="7199312" y="4425950"/>
            <a:ext cx="536575" cy="536575"/>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46" name="Google Shape;146;p4"/>
          <p:cNvCxnSpPr/>
          <p:nvPr/>
        </p:nvCxnSpPr>
        <p:spPr>
          <a:xfrm flipH="1" rot="10800000">
            <a:off x="7467600" y="4694237"/>
            <a:ext cx="806450" cy="1587"/>
          </a:xfrm>
          <a:prstGeom prst="straightConnector1">
            <a:avLst/>
          </a:prstGeom>
          <a:noFill/>
          <a:ln cap="flat" cmpd="sng" w="28575">
            <a:solidFill>
              <a:schemeClr val="dk1"/>
            </a:solidFill>
            <a:prstDash val="solid"/>
            <a:miter lim="800000"/>
            <a:headEnd len="med" w="med" type="oval"/>
            <a:tailEnd len="med" w="med" type="triangle"/>
          </a:ln>
        </p:spPr>
      </p:cxnSp>
      <p:cxnSp>
        <p:nvCxnSpPr>
          <p:cNvPr id="147" name="Google Shape;147;p4"/>
          <p:cNvCxnSpPr/>
          <p:nvPr/>
        </p:nvCxnSpPr>
        <p:spPr>
          <a:xfrm>
            <a:off x="3708400" y="4694237"/>
            <a:ext cx="1587" cy="806450"/>
          </a:xfrm>
          <a:prstGeom prst="straightConnector1">
            <a:avLst/>
          </a:prstGeom>
          <a:noFill/>
          <a:ln cap="flat" cmpd="sng" w="28575">
            <a:solidFill>
              <a:schemeClr val="dk2"/>
            </a:solidFill>
            <a:prstDash val="solid"/>
            <a:miter lim="800000"/>
            <a:headEnd len="med" w="med" type="oval"/>
            <a:tailEnd len="med" w="med" type="triangle"/>
          </a:ln>
        </p:spPr>
      </p:cxnSp>
      <p:cxnSp>
        <p:nvCxnSpPr>
          <p:cNvPr id="148" name="Google Shape;148;p4"/>
          <p:cNvCxnSpPr/>
          <p:nvPr/>
        </p:nvCxnSpPr>
        <p:spPr>
          <a:xfrm>
            <a:off x="5319712" y="4694237"/>
            <a:ext cx="1587" cy="806450"/>
          </a:xfrm>
          <a:prstGeom prst="straightConnector1">
            <a:avLst/>
          </a:prstGeom>
          <a:noFill/>
          <a:ln cap="flat" cmpd="sng" w="28575">
            <a:solidFill>
              <a:schemeClr val="dk2"/>
            </a:solidFill>
            <a:prstDash val="solid"/>
            <a:miter lim="800000"/>
            <a:headEnd len="med" w="med" type="oval"/>
            <a:tailEnd len="med" w="med" type="triangle"/>
          </a:ln>
        </p:spPr>
      </p:cxnSp>
      <p:cxnSp>
        <p:nvCxnSpPr>
          <p:cNvPr id="149" name="Google Shape;149;p4"/>
          <p:cNvCxnSpPr/>
          <p:nvPr/>
        </p:nvCxnSpPr>
        <p:spPr>
          <a:xfrm>
            <a:off x="6931025" y="4694237"/>
            <a:ext cx="1587" cy="806450"/>
          </a:xfrm>
          <a:prstGeom prst="straightConnector1">
            <a:avLst/>
          </a:prstGeom>
          <a:noFill/>
          <a:ln cap="flat" cmpd="sng" w="28575">
            <a:solidFill>
              <a:schemeClr val="dk2"/>
            </a:solidFill>
            <a:prstDash val="solid"/>
            <a:miter lim="800000"/>
            <a:headEnd len="med" w="med" type="oval"/>
            <a:tailEnd len="med" w="med" type="triangle"/>
          </a:ln>
        </p:spPr>
      </p:cxnSp>
      <p:sp>
        <p:nvSpPr>
          <p:cNvPr id="150" name="Google Shape;150;p4"/>
          <p:cNvSpPr txBox="1"/>
          <p:nvPr/>
        </p:nvSpPr>
        <p:spPr>
          <a:xfrm>
            <a:off x="8226425" y="4519612"/>
            <a:ext cx="39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t>
            </a:r>
            <a:endParaRPr/>
          </a:p>
        </p:txBody>
      </p:sp>
      <p:pic>
        <p:nvPicPr>
          <p:cNvPr id="151" name="Google Shape;151;p4"/>
          <p:cNvPicPr preferRelativeResize="0"/>
          <p:nvPr/>
        </p:nvPicPr>
        <p:blipFill rotWithShape="1">
          <a:blip r:embed="rId3">
            <a:alphaModFix/>
          </a:blip>
          <a:srcRect b="0" l="0" r="0" t="0"/>
          <a:stretch/>
        </p:blipFill>
        <p:spPr>
          <a:xfrm>
            <a:off x="1752600" y="5537200"/>
            <a:ext cx="685800" cy="835025"/>
          </a:xfrm>
          <a:prstGeom prst="rect">
            <a:avLst/>
          </a:prstGeom>
          <a:noFill/>
          <a:ln cap="flat" cmpd="sng" w="19050">
            <a:solidFill>
              <a:schemeClr val="dk2"/>
            </a:solidFill>
            <a:prstDash val="solid"/>
            <a:miter lim="800000"/>
            <a:headEnd len="sm" w="sm" type="none"/>
            <a:tailEnd len="sm" w="sm" type="none"/>
          </a:ln>
        </p:spPr>
      </p:pic>
      <p:pic>
        <p:nvPicPr>
          <p:cNvPr id="152" name="Google Shape;152;p4"/>
          <p:cNvPicPr preferRelativeResize="0"/>
          <p:nvPr/>
        </p:nvPicPr>
        <p:blipFill rotWithShape="1">
          <a:blip r:embed="rId4">
            <a:alphaModFix/>
          </a:blip>
          <a:srcRect b="0" l="0" r="0" t="0"/>
          <a:stretch/>
        </p:blipFill>
        <p:spPr>
          <a:xfrm>
            <a:off x="3371850" y="5537200"/>
            <a:ext cx="685800" cy="803275"/>
          </a:xfrm>
          <a:prstGeom prst="rect">
            <a:avLst/>
          </a:prstGeom>
          <a:noFill/>
          <a:ln cap="flat" cmpd="sng" w="19050">
            <a:solidFill>
              <a:schemeClr val="dk2"/>
            </a:solidFill>
            <a:prstDash val="solid"/>
            <a:miter lim="800000"/>
            <a:headEnd len="sm" w="sm" type="none"/>
            <a:tailEnd len="sm" w="sm" type="none"/>
          </a:ln>
        </p:spPr>
      </p:pic>
      <p:pic>
        <p:nvPicPr>
          <p:cNvPr id="153" name="Google Shape;153;p4"/>
          <p:cNvPicPr preferRelativeResize="0"/>
          <p:nvPr/>
        </p:nvPicPr>
        <p:blipFill rotWithShape="1">
          <a:blip r:embed="rId5">
            <a:alphaModFix/>
          </a:blip>
          <a:srcRect b="0" l="0" r="0" t="0"/>
          <a:stretch/>
        </p:blipFill>
        <p:spPr>
          <a:xfrm>
            <a:off x="6600825" y="5537200"/>
            <a:ext cx="685800" cy="612775"/>
          </a:xfrm>
          <a:prstGeom prst="rect">
            <a:avLst/>
          </a:prstGeom>
          <a:noFill/>
          <a:ln cap="flat" cmpd="sng" w="19050">
            <a:solidFill>
              <a:schemeClr val="dk2"/>
            </a:solidFill>
            <a:prstDash val="solid"/>
            <a:miter lim="800000"/>
            <a:headEnd len="sm" w="sm" type="none"/>
            <a:tailEnd len="sm" w="sm" type="none"/>
          </a:ln>
        </p:spPr>
      </p:pic>
      <p:pic>
        <p:nvPicPr>
          <p:cNvPr id="154" name="Google Shape;154;p4"/>
          <p:cNvPicPr preferRelativeResize="0"/>
          <p:nvPr/>
        </p:nvPicPr>
        <p:blipFill rotWithShape="1">
          <a:blip r:embed="rId6">
            <a:alphaModFix/>
          </a:blip>
          <a:srcRect b="0" l="0" r="0" t="0"/>
          <a:stretch/>
        </p:blipFill>
        <p:spPr>
          <a:xfrm>
            <a:off x="4991100" y="5537200"/>
            <a:ext cx="685800" cy="663575"/>
          </a:xfrm>
          <a:prstGeom prst="rect">
            <a:avLst/>
          </a:prstGeom>
          <a:noFill/>
          <a:ln cap="flat" cmpd="sng" w="19050">
            <a:solidFill>
              <a:schemeClr val="dk2"/>
            </a:solidFill>
            <a:prstDash val="solid"/>
            <a:miter lim="800000"/>
            <a:headEnd len="sm" w="sm" type="none"/>
            <a:tailEnd len="sm" w="sm" type="none"/>
          </a:ln>
        </p:spPr>
      </p:pic>
      <p:sp>
        <p:nvSpPr>
          <p:cNvPr id="155" name="Google Shape;155;p4"/>
          <p:cNvSpPr/>
          <p:nvPr/>
        </p:nvSpPr>
        <p:spPr>
          <a:xfrm>
            <a:off x="1524000" y="3892550"/>
            <a:ext cx="6477000" cy="12192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6" name="Google Shape;156;p4"/>
          <p:cNvSpPr txBox="1"/>
          <p:nvPr/>
        </p:nvSpPr>
        <p:spPr>
          <a:xfrm>
            <a:off x="1676400" y="3854450"/>
            <a:ext cx="849312" cy="3984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nodes</a:t>
            </a:r>
            <a:endParaRPr/>
          </a:p>
        </p:txBody>
      </p:sp>
      <p:sp>
        <p:nvSpPr>
          <p:cNvPr id="157" name="Google Shape;157;p4"/>
          <p:cNvSpPr/>
          <p:nvPr/>
        </p:nvSpPr>
        <p:spPr>
          <a:xfrm>
            <a:off x="1524000" y="5264150"/>
            <a:ext cx="5943600" cy="1219200"/>
          </a:xfrm>
          <a:prstGeom prst="roundRect">
            <a:avLst>
              <a:gd fmla="val 16667" name="adj"/>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8" name="Google Shape;158;p4"/>
          <p:cNvSpPr txBox="1"/>
          <p:nvPr/>
        </p:nvSpPr>
        <p:spPr>
          <a:xfrm>
            <a:off x="6053137" y="6127750"/>
            <a:ext cx="1195387" cy="3984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a:solidFill>
                  <a:schemeClr val="dk2"/>
                </a:solidFill>
                <a:latin typeface="Tahoma"/>
                <a:ea typeface="Tahoma"/>
                <a:cs typeface="Tahoma"/>
                <a:sym typeface="Tahoma"/>
              </a:rPr>
              <a:t>elements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0fb4a19114_0_0"/>
          <p:cNvSpPr txBox="1"/>
          <p:nvPr>
            <p:ph type="title"/>
          </p:nvPr>
        </p:nvSpPr>
        <p:spPr>
          <a:xfrm>
            <a:off x="0" y="0"/>
            <a:ext cx="9906000" cy="765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65" name="Google Shape;165;g30fb4a19114_0_0"/>
          <p:cNvSpPr txBox="1"/>
          <p:nvPr>
            <p:ph idx="1" type="body"/>
          </p:nvPr>
        </p:nvSpPr>
        <p:spPr>
          <a:xfrm>
            <a:off x="776287" y="765175"/>
            <a:ext cx="9129600" cy="6092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0fb4a19114_0_6"/>
          <p:cNvSpPr txBox="1"/>
          <p:nvPr>
            <p:ph type="title"/>
          </p:nvPr>
        </p:nvSpPr>
        <p:spPr>
          <a:xfrm>
            <a:off x="0" y="0"/>
            <a:ext cx="9906000" cy="765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72" name="Google Shape;172;g30fb4a19114_0_6"/>
          <p:cNvSpPr txBox="1"/>
          <p:nvPr>
            <p:ph idx="1" type="body"/>
          </p:nvPr>
        </p:nvSpPr>
        <p:spPr>
          <a:xfrm>
            <a:off x="776287" y="765175"/>
            <a:ext cx="9129600" cy="6092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5"/>
          <p:cNvSpPr txBox="1"/>
          <p:nvPr>
            <p:ph type="title"/>
          </p:nvPr>
        </p:nvSpPr>
        <p:spPr>
          <a:xfrm>
            <a:off x="704850" y="-7620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thao tác cơ bản trên DSLK đơn</a:t>
            </a:r>
            <a:endParaRPr/>
          </a:p>
        </p:txBody>
      </p:sp>
      <p:sp>
        <p:nvSpPr>
          <p:cNvPr id="178" name="Google Shape;178;p5"/>
          <p:cNvSpPr txBox="1"/>
          <p:nvPr>
            <p:ph idx="1" type="body"/>
          </p:nvPr>
        </p:nvSpPr>
        <p:spPr>
          <a:xfrm>
            <a:off x="1284287" y="981075"/>
            <a:ext cx="8066100" cy="54006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Tạo 1 danh sách liên kết đơn rỗng</a:t>
            </a:r>
            <a:endParaRPr/>
          </a:p>
          <a:p>
            <a:pPr indent="-342900" lvl="0" marL="342900" rtl="0" algn="l">
              <a:lnSpc>
                <a:spcPct val="12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Tạo 1 nút có trường Infor bằng x</a:t>
            </a:r>
            <a:endParaRPr/>
          </a:p>
          <a:p>
            <a:pPr indent="-342900" lvl="0" marL="342900" rtl="0" algn="l">
              <a:lnSpc>
                <a:spcPct val="12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Tìm một phần tử có Info bằng x</a:t>
            </a:r>
            <a:endParaRPr/>
          </a:p>
          <a:p>
            <a:pPr indent="-342900" lvl="0" marL="342900" rtl="0" algn="l">
              <a:lnSpc>
                <a:spcPct val="12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Thêm một phần tử có khóa x vào danh sách</a:t>
            </a:r>
            <a:endParaRPr/>
          </a:p>
          <a:p>
            <a:pPr indent="-342900" lvl="0" marL="342900" rtl="0" algn="l">
              <a:lnSpc>
                <a:spcPct val="12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Hủy một phần tử trong danh sách</a:t>
            </a:r>
            <a:endParaRPr/>
          </a:p>
          <a:p>
            <a:pPr indent="-342900" lvl="0" marL="342900" rtl="0" algn="l">
              <a:lnSpc>
                <a:spcPct val="12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Duy</a:t>
            </a:r>
            <a:r>
              <a:rPr b="0" i="0" lang="en-US" sz="2800" u="none">
                <a:solidFill>
                  <a:schemeClr val="dk1"/>
                </a:solidFill>
                <a:latin typeface="Arial"/>
                <a:ea typeface="Arial"/>
                <a:cs typeface="Arial"/>
                <a:sym typeface="Arial"/>
              </a:rPr>
              <a:t>ệt danh sách</a:t>
            </a:r>
            <a:endParaRPr/>
          </a:p>
          <a:p>
            <a:pPr indent="-342900" lvl="0" marL="34290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danh sách liên kết đơn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543625"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Tạo 1 phần tử mới</a:t>
            </a:r>
            <a:endParaRPr/>
          </a:p>
        </p:txBody>
      </p:sp>
      <p:sp>
        <p:nvSpPr>
          <p:cNvPr id="184" name="Google Shape;184;p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H</a:t>
            </a:r>
            <a:r>
              <a:rPr b="0" i="0" lang="en-US" sz="2800" u="none">
                <a:solidFill>
                  <a:schemeClr val="dk1"/>
                </a:solidFill>
                <a:latin typeface="Arial"/>
                <a:ea typeface="Arial"/>
                <a:cs typeface="Arial"/>
                <a:sym typeface="Arial"/>
              </a:rPr>
              <a:t>àm trả về địa chỉ phần tử mới tạo</a:t>
            </a:r>
            <a:endParaRPr b="0" i="0" sz="2800" u="none">
              <a:solidFill>
                <a:schemeClr val="dk1"/>
              </a:solidFill>
              <a:latin typeface="Arial"/>
              <a:ea typeface="Arial"/>
              <a:cs typeface="Arial"/>
              <a:sym typeface="Arial"/>
            </a:endParaRPr>
          </a:p>
          <a:p>
            <a:pPr indent="-342900" lvl="0" marL="342900" rtl="0" algn="l">
              <a:lnSpc>
                <a:spcPct val="120000"/>
              </a:lnSpc>
              <a:spcBef>
                <a:spcPts val="0"/>
              </a:spcBef>
              <a:spcAft>
                <a:spcPts val="0"/>
              </a:spcAft>
              <a:buSzPts val="2800"/>
              <a:buChar char="⮚"/>
            </a:pPr>
            <a:r>
              <a:rPr lang="en-US" sz="2800"/>
              <a:t>- cấp </a:t>
            </a:r>
            <a:endParaRPr sz="2800"/>
          </a:p>
          <a:p>
            <a:pPr indent="-285750" lvl="1" marL="742950" rtl="0" algn="l">
              <a:lnSpc>
                <a:spcPct val="120000"/>
              </a:lnSpc>
              <a:spcBef>
                <a:spcPts val="56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CreateNode(Data x) </a:t>
            </a:r>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*p;</a:t>
            </a:r>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 = </a:t>
            </a:r>
            <a:r>
              <a:rPr b="0" i="0" lang="en-US" sz="2800" u="none">
                <a:solidFill>
                  <a:srgbClr val="0000FF"/>
                </a:solidFill>
                <a:latin typeface="Arial"/>
                <a:ea typeface="Arial"/>
                <a:cs typeface="Arial"/>
                <a:sym typeface="Arial"/>
              </a:rPr>
              <a:t>new</a:t>
            </a:r>
            <a:r>
              <a:rPr b="0" i="0" lang="en-US" sz="2800" u="none">
                <a:solidFill>
                  <a:srgbClr val="080808"/>
                </a:solidFill>
                <a:latin typeface="Arial"/>
                <a:ea typeface="Arial"/>
                <a:cs typeface="Arial"/>
                <a:sym typeface="Arial"/>
              </a:rPr>
              <a:t> Node;</a:t>
            </a:r>
            <a:r>
              <a:rPr b="0" i="0" lang="en-US" sz="2400" u="none">
                <a:solidFill>
                  <a:srgbClr val="080808"/>
                </a:solidFill>
                <a:latin typeface="Arial"/>
                <a:ea typeface="Arial"/>
                <a:cs typeface="Arial"/>
                <a:sym typeface="Arial"/>
              </a:rPr>
              <a:t>//C</a:t>
            </a:r>
            <a:r>
              <a:rPr b="0" i="0" lang="en-US" sz="2400" u="none">
                <a:solidFill>
                  <a:schemeClr val="dk1"/>
                </a:solidFill>
                <a:latin typeface="Arial"/>
                <a:ea typeface="Arial"/>
                <a:cs typeface="Arial"/>
                <a:sym typeface="Arial"/>
              </a:rPr>
              <a:t>ấp phát vùng nhớ cho phần tử</a:t>
            </a:r>
            <a:endParaRPr b="0" i="0" sz="2400" u="none">
              <a:solidFill>
                <a:srgbClr val="080808"/>
              </a:solidFill>
              <a:latin typeface="Arial"/>
              <a:ea typeface="Arial"/>
              <a:cs typeface="Arial"/>
              <a:sym typeface="Arial"/>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if ( p==NULL)  exit(1); </a:t>
            </a:r>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 -&gt;Info = x; 	</a:t>
            </a:r>
            <a:r>
              <a:rPr b="0" i="0" lang="en-US" sz="2400" u="none">
                <a:solidFill>
                  <a:srgbClr val="080808"/>
                </a:solidFill>
                <a:latin typeface="Arial"/>
                <a:ea typeface="Arial"/>
                <a:cs typeface="Arial"/>
                <a:sym typeface="Arial"/>
              </a:rPr>
              <a:t>//g</a:t>
            </a:r>
            <a:r>
              <a:rPr b="0" i="0" lang="en-US" sz="2400" u="none">
                <a:solidFill>
                  <a:schemeClr val="dk1"/>
                </a:solidFill>
                <a:latin typeface="Arial"/>
                <a:ea typeface="Arial"/>
                <a:cs typeface="Arial"/>
                <a:sym typeface="Arial"/>
              </a:rPr>
              <a:t>án dữa liệu cho nút</a:t>
            </a:r>
            <a:endParaRPr b="0" i="0" sz="2400" u="none">
              <a:solidFill>
                <a:srgbClr val="080808"/>
              </a:solidFill>
              <a:latin typeface="Arial"/>
              <a:ea typeface="Arial"/>
              <a:cs typeface="Arial"/>
              <a:sym typeface="Arial"/>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p-&gt;pNext = NULL;</a:t>
            </a:r>
            <a:endParaRPr/>
          </a:p>
          <a:p>
            <a:pPr indent="-285750" lvl="1" marL="74295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return </a:t>
            </a:r>
            <a:r>
              <a:rPr b="0" i="0" lang="en-US" sz="2800" u="none">
                <a:solidFill>
                  <a:srgbClr val="080808"/>
                </a:solidFill>
                <a:latin typeface="Arial"/>
                <a:ea typeface="Arial"/>
                <a:cs typeface="Arial"/>
                <a:sym typeface="Arial"/>
              </a:rPr>
              <a:t>p;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DSLK</a:t>
            </a:r>
            <a:endParaRPr/>
          </a:p>
        </p:txBody>
      </p:sp>
      <p:sp>
        <p:nvSpPr>
          <p:cNvPr id="190" name="Google Shape;190;p8"/>
          <p:cNvSpPr txBox="1"/>
          <p:nvPr>
            <p:ph idx="1" type="body"/>
          </p:nvPr>
        </p:nvSpPr>
        <p:spPr>
          <a:xfrm>
            <a:off x="920750" y="1125537"/>
            <a:ext cx="8712200" cy="424815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42900" lvl="0" marL="342900" rtl="0" algn="l">
              <a:lnSpc>
                <a:spcPct val="120000"/>
              </a:lnSpc>
              <a:spcBef>
                <a:spcPts val="56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Các vị trí cần thêm 1 phần tử vào List:</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Thêm vào đầu List đơn</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Thêm vào cuối List</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Thêm vào sau 1 phần tử q trong list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thêm 1 phần tử vào đầu DSLK</a:t>
            </a:r>
            <a:endParaRPr/>
          </a:p>
        </p:txBody>
      </p:sp>
      <p:sp>
        <p:nvSpPr>
          <p:cNvPr id="196" name="Google Shape;196;p9"/>
          <p:cNvSpPr txBox="1"/>
          <p:nvPr>
            <p:ph idx="1" type="body"/>
          </p:nvPr>
        </p:nvSpPr>
        <p:spPr>
          <a:xfrm>
            <a:off x="776287" y="908050"/>
            <a:ext cx="8713787" cy="5545137"/>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Thêm nút p vào đầu danh sách liên kết đơn</a:t>
            </a:r>
            <a:endParaRPr/>
          </a:p>
          <a:p>
            <a:pPr indent="-342900" lvl="0" marL="342900" rtl="0" algn="l">
              <a:lnSpc>
                <a:spcPct val="12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a:t>
            </a:r>
            <a:r>
              <a:rPr b="1" i="0" lang="en-US" sz="2800" u="sng">
                <a:solidFill>
                  <a:schemeClr val="dk1"/>
                </a:solidFill>
                <a:latin typeface="Arial"/>
                <a:ea typeface="Arial"/>
                <a:cs typeface="Arial"/>
                <a:sym typeface="Arial"/>
              </a:rPr>
              <a:t>Bắt đầu</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Nếu List rỗng thì</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pHead = 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pTail = pHead;</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Ngược lại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p-&gt;pNext = pHead;</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pHead = 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Hàm thêm 1 phần tử vào đầu List</a:t>
            </a:r>
            <a:endParaRPr/>
          </a:p>
        </p:txBody>
      </p:sp>
      <p:sp>
        <p:nvSpPr>
          <p:cNvPr id="202" name="Google Shape;202;p10"/>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void</a:t>
            </a:r>
            <a:r>
              <a:rPr b="0" i="0" lang="en-US" sz="2800" u="none">
                <a:solidFill>
                  <a:srgbClr val="080808"/>
                </a:solidFill>
                <a:latin typeface="Arial"/>
                <a:ea typeface="Arial"/>
                <a:cs typeface="Arial"/>
                <a:sym typeface="Arial"/>
              </a:rPr>
              <a:t> AddHead(</a:t>
            </a:r>
            <a:r>
              <a:rPr b="0" i="0" lang="en-US" sz="2800" u="none">
                <a:solidFill>
                  <a:srgbClr val="0000FF"/>
                </a:solidFill>
                <a:latin typeface="Arial"/>
                <a:ea typeface="Arial"/>
                <a:cs typeface="Arial"/>
                <a:sym typeface="Arial"/>
              </a:rPr>
              <a:t>LIST</a:t>
            </a:r>
            <a:r>
              <a:rPr b="0" i="0" lang="en-US" sz="2800" u="none">
                <a:solidFill>
                  <a:srgbClr val="080808"/>
                </a:solidFill>
                <a:latin typeface="Arial"/>
                <a:ea typeface="Arial"/>
                <a:cs typeface="Arial"/>
                <a:sym typeface="Arial"/>
              </a:rPr>
              <a:t> &amp;l, </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p)</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rgbClr val="080808"/>
                </a:solidFill>
                <a:latin typeface="Arial"/>
                <a:ea typeface="Arial"/>
                <a:cs typeface="Arial"/>
                <a:sym typeface="Arial"/>
              </a:rPr>
              <a:t> (l.pHead==NULL)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l.pHead = p;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l.pTail = l.pHead;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else</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p-&gt;pNext = l.pHead;</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l.pHead = p;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thêm vào đầu</a:t>
            </a:r>
            <a:endParaRPr/>
          </a:p>
        </p:txBody>
      </p:sp>
      <p:sp>
        <p:nvSpPr>
          <p:cNvPr id="208" name="Google Shape;208;p11"/>
          <p:cNvSpPr txBox="1"/>
          <p:nvPr/>
        </p:nvSpPr>
        <p:spPr>
          <a:xfrm>
            <a:off x="3979862" y="2335212"/>
            <a:ext cx="9731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0"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  </a:t>
            </a:r>
            <a:r>
              <a:rPr b="1" i="0" lang="en-US" sz="2800" u="none">
                <a:solidFill>
                  <a:schemeClr val="dk1"/>
                </a:solidFill>
                <a:latin typeface="Helvetica Neue"/>
                <a:ea typeface="Helvetica Neue"/>
                <a:cs typeface="Helvetica Neue"/>
                <a:sym typeface="Helvetica Neue"/>
              </a:rPr>
              <a:t>3f</a:t>
            </a:r>
            <a:endParaRPr/>
          </a:p>
        </p:txBody>
      </p:sp>
      <p:sp>
        <p:nvSpPr>
          <p:cNvPr id="209" name="Google Shape;209;p11"/>
          <p:cNvSpPr txBox="1"/>
          <p:nvPr/>
        </p:nvSpPr>
        <p:spPr>
          <a:xfrm>
            <a:off x="5408612" y="2335212"/>
            <a:ext cx="1057275"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0"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  </a:t>
            </a:r>
            <a:r>
              <a:rPr b="1" i="0" lang="en-US" sz="2800" u="none">
                <a:solidFill>
                  <a:schemeClr val="dk1"/>
                </a:solidFill>
                <a:latin typeface="Helvetica Neue"/>
                <a:ea typeface="Helvetica Neue"/>
                <a:cs typeface="Helvetica Neue"/>
                <a:sym typeface="Helvetica Neue"/>
              </a:rPr>
              <a:t>4f</a:t>
            </a:r>
            <a:endParaRPr/>
          </a:p>
        </p:txBody>
      </p:sp>
      <p:sp>
        <p:nvSpPr>
          <p:cNvPr id="210" name="Google Shape;210;p11"/>
          <p:cNvSpPr txBox="1"/>
          <p:nvPr/>
        </p:nvSpPr>
        <p:spPr>
          <a:xfrm>
            <a:off x="6969125" y="2349500"/>
            <a:ext cx="10620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 …</a:t>
            </a:r>
            <a:endParaRPr/>
          </a:p>
        </p:txBody>
      </p:sp>
      <p:cxnSp>
        <p:nvCxnSpPr>
          <p:cNvPr id="211" name="Google Shape;211;p11"/>
          <p:cNvCxnSpPr/>
          <p:nvPr/>
        </p:nvCxnSpPr>
        <p:spPr>
          <a:xfrm>
            <a:off x="2433637" y="2047875"/>
            <a:ext cx="1546200" cy="582600"/>
          </a:xfrm>
          <a:prstGeom prst="bentConnector3">
            <a:avLst>
              <a:gd fmla="val 10778" name="adj1"/>
            </a:avLst>
          </a:prstGeom>
          <a:noFill/>
          <a:ln cap="flat" cmpd="sng" w="76200">
            <a:solidFill>
              <a:srgbClr val="FF0000"/>
            </a:solidFill>
            <a:prstDash val="solid"/>
            <a:miter lim="800000"/>
            <a:headEnd len="med" w="med" type="none"/>
            <a:tailEnd len="med" w="med" type="triangle"/>
          </a:ln>
        </p:spPr>
      </p:cxnSp>
      <p:cxnSp>
        <p:nvCxnSpPr>
          <p:cNvPr id="212" name="Google Shape;212;p11"/>
          <p:cNvCxnSpPr/>
          <p:nvPr/>
        </p:nvCxnSpPr>
        <p:spPr>
          <a:xfrm flipH="1" rot="10800000">
            <a:off x="4972050" y="2620962"/>
            <a:ext cx="455612" cy="1587"/>
          </a:xfrm>
          <a:prstGeom prst="straightConnector1">
            <a:avLst/>
          </a:prstGeom>
          <a:noFill/>
          <a:ln cap="flat" cmpd="sng" w="76200">
            <a:solidFill>
              <a:srgbClr val="FF0000"/>
            </a:solidFill>
            <a:prstDash val="solid"/>
            <a:miter lim="800000"/>
            <a:headEnd len="med" w="med" type="none"/>
            <a:tailEnd len="med" w="med" type="triangle"/>
          </a:ln>
        </p:spPr>
      </p:cxnSp>
      <p:cxnSp>
        <p:nvCxnSpPr>
          <p:cNvPr id="213" name="Google Shape;213;p11"/>
          <p:cNvCxnSpPr/>
          <p:nvPr/>
        </p:nvCxnSpPr>
        <p:spPr>
          <a:xfrm>
            <a:off x="6465887" y="2636837"/>
            <a:ext cx="533400" cy="0"/>
          </a:xfrm>
          <a:prstGeom prst="straightConnector1">
            <a:avLst/>
          </a:prstGeom>
          <a:noFill/>
          <a:ln cap="flat" cmpd="sng" w="76200">
            <a:solidFill>
              <a:srgbClr val="FF0000"/>
            </a:solidFill>
            <a:prstDash val="solid"/>
            <a:miter lim="800000"/>
            <a:headEnd len="med" w="med" type="none"/>
            <a:tailEnd len="med" w="med" type="triangle"/>
          </a:ln>
        </p:spPr>
      </p:cxnSp>
      <p:cxnSp>
        <p:nvCxnSpPr>
          <p:cNvPr id="214" name="Google Shape;214;p11"/>
          <p:cNvCxnSpPr/>
          <p:nvPr/>
        </p:nvCxnSpPr>
        <p:spPr>
          <a:xfrm>
            <a:off x="8048625" y="2636837"/>
            <a:ext cx="576262" cy="0"/>
          </a:xfrm>
          <a:prstGeom prst="straightConnector1">
            <a:avLst/>
          </a:prstGeom>
          <a:noFill/>
          <a:ln cap="flat" cmpd="sng" w="76200">
            <a:solidFill>
              <a:srgbClr val="FF0000"/>
            </a:solidFill>
            <a:prstDash val="solid"/>
            <a:miter lim="800000"/>
            <a:headEnd len="med" w="med" type="none"/>
            <a:tailEnd len="med" w="med" type="triangle"/>
          </a:ln>
        </p:spPr>
      </p:cxnSp>
      <p:sp>
        <p:nvSpPr>
          <p:cNvPr id="215" name="Google Shape;215;p11"/>
          <p:cNvSpPr txBox="1"/>
          <p:nvPr/>
        </p:nvSpPr>
        <p:spPr>
          <a:xfrm>
            <a:off x="1136650" y="1814512"/>
            <a:ext cx="1296987" cy="4667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pHead</a:t>
            </a:r>
            <a:endParaRPr/>
          </a:p>
        </p:txBody>
      </p:sp>
      <p:sp>
        <p:nvSpPr>
          <p:cNvPr id="216" name="Google Shape;216;p11"/>
          <p:cNvSpPr txBox="1"/>
          <p:nvPr/>
        </p:nvSpPr>
        <p:spPr>
          <a:xfrm>
            <a:off x="3873500"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2f</a:t>
            </a:r>
            <a:endParaRPr/>
          </a:p>
        </p:txBody>
      </p:sp>
      <p:sp>
        <p:nvSpPr>
          <p:cNvPr id="217" name="Google Shape;217;p11"/>
          <p:cNvSpPr txBox="1"/>
          <p:nvPr/>
        </p:nvSpPr>
        <p:spPr>
          <a:xfrm>
            <a:off x="5240337"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sp>
        <p:nvSpPr>
          <p:cNvPr id="218" name="Google Shape;218;p11"/>
          <p:cNvSpPr txBox="1"/>
          <p:nvPr/>
        </p:nvSpPr>
        <p:spPr>
          <a:xfrm>
            <a:off x="6896100"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4f</a:t>
            </a:r>
            <a:endParaRPr/>
          </a:p>
        </p:txBody>
      </p:sp>
      <p:cxnSp>
        <p:nvCxnSpPr>
          <p:cNvPr id="219" name="Google Shape;219;p11"/>
          <p:cNvCxnSpPr/>
          <p:nvPr/>
        </p:nvCxnSpPr>
        <p:spPr>
          <a:xfrm flipH="1" rot="10800000">
            <a:off x="3152775" y="2852737"/>
            <a:ext cx="846000" cy="647700"/>
          </a:xfrm>
          <a:prstGeom prst="bentConnector3">
            <a:avLst>
              <a:gd fmla="val 9768" name="adj1"/>
            </a:avLst>
          </a:prstGeom>
          <a:noFill/>
          <a:ln cap="flat" cmpd="sng" w="76200">
            <a:solidFill>
              <a:srgbClr val="FF0000"/>
            </a:solidFill>
            <a:prstDash val="solid"/>
            <a:miter lim="800000"/>
            <a:headEnd len="med" w="med" type="none"/>
            <a:tailEnd len="med" w="med" type="triangle"/>
          </a:ln>
        </p:spPr>
      </p:cxnSp>
      <p:cxnSp>
        <p:nvCxnSpPr>
          <p:cNvPr id="220" name="Google Shape;220;p11"/>
          <p:cNvCxnSpPr/>
          <p:nvPr/>
        </p:nvCxnSpPr>
        <p:spPr>
          <a:xfrm flipH="1" rot="-5400000">
            <a:off x="999350" y="2712225"/>
            <a:ext cx="1376400" cy="504900"/>
          </a:xfrm>
          <a:prstGeom prst="bentConnector2">
            <a:avLst/>
          </a:prstGeom>
          <a:noFill/>
          <a:ln cap="flat" cmpd="sng" w="76200">
            <a:solidFill>
              <a:srgbClr val="FF0000"/>
            </a:solidFill>
            <a:prstDash val="solid"/>
            <a:miter lim="800000"/>
            <a:headEnd len="med" w="med" type="none"/>
            <a:tailEnd len="med" w="med" type="triangle"/>
          </a:ln>
        </p:spPr>
      </p:cxnSp>
      <p:grpSp>
        <p:nvGrpSpPr>
          <p:cNvPr id="221" name="Google Shape;221;p11"/>
          <p:cNvGrpSpPr/>
          <p:nvPr/>
        </p:nvGrpSpPr>
        <p:grpSpPr>
          <a:xfrm>
            <a:off x="1852612" y="2781300"/>
            <a:ext cx="1300162" cy="1673225"/>
            <a:chOff x="1167" y="1752"/>
            <a:chExt cx="717" cy="1054"/>
          </a:xfrm>
        </p:grpSpPr>
        <p:sp>
          <p:nvSpPr>
            <p:cNvPr id="222" name="Google Shape;222;p11"/>
            <p:cNvSpPr txBox="1"/>
            <p:nvPr/>
          </p:nvSpPr>
          <p:spPr>
            <a:xfrm>
              <a:off x="1215" y="2115"/>
              <a:ext cx="669"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0"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10        </a:t>
              </a:r>
              <a:endParaRPr/>
            </a:p>
          </p:txBody>
        </p:sp>
        <p:sp>
          <p:nvSpPr>
            <p:cNvPr id="223" name="Google Shape;223;p11"/>
            <p:cNvSpPr txBox="1"/>
            <p:nvPr/>
          </p:nvSpPr>
          <p:spPr>
            <a:xfrm>
              <a:off x="1170" y="1752"/>
              <a:ext cx="318" cy="327"/>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9f</a:t>
              </a:r>
              <a:endParaRPr/>
            </a:p>
          </p:txBody>
        </p:sp>
        <p:sp>
          <p:nvSpPr>
            <p:cNvPr id="224" name="Google Shape;224;p11"/>
            <p:cNvSpPr txBox="1"/>
            <p:nvPr/>
          </p:nvSpPr>
          <p:spPr>
            <a:xfrm>
              <a:off x="1167" y="2518"/>
              <a:ext cx="499" cy="288"/>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P</a:t>
              </a:r>
              <a:endParaRPr/>
            </a:p>
          </p:txBody>
        </p:sp>
      </p:grpSp>
      <p:cxnSp>
        <p:nvCxnSpPr>
          <p:cNvPr id="225" name="Google Shape;225;p11"/>
          <p:cNvCxnSpPr/>
          <p:nvPr/>
        </p:nvCxnSpPr>
        <p:spPr>
          <a:xfrm>
            <a:off x="2428875" y="2054225"/>
            <a:ext cx="1546200" cy="582600"/>
          </a:xfrm>
          <a:prstGeom prst="bentConnector3">
            <a:avLst>
              <a:gd fmla="val 10778" name="adj1"/>
            </a:avLst>
          </a:prstGeom>
          <a:noFill/>
          <a:ln cap="rnd" cmpd="sng" w="76200">
            <a:solidFill>
              <a:srgbClr val="FF0000"/>
            </a:solidFill>
            <a:prstDash val="solid"/>
            <a:miter lim="800000"/>
            <a:headEnd len="med" w="med" type="none"/>
            <a:tailEnd len="med" w="med" type="triangle"/>
          </a:ln>
        </p:spPr>
      </p:cxnSp>
      <p:sp>
        <p:nvSpPr>
          <p:cNvPr id="226" name="Google Shape;226;p11"/>
          <p:cNvSpPr txBox="1"/>
          <p:nvPr/>
        </p:nvSpPr>
        <p:spPr>
          <a:xfrm>
            <a:off x="3368675" y="3789362"/>
            <a:ext cx="24479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P-&gt;pNext=pHead</a:t>
            </a:r>
            <a:endParaRPr/>
          </a:p>
        </p:txBody>
      </p:sp>
      <p:cxnSp>
        <p:nvCxnSpPr>
          <p:cNvPr id="227" name="Google Shape;227;p11"/>
          <p:cNvCxnSpPr/>
          <p:nvPr/>
        </p:nvCxnSpPr>
        <p:spPr>
          <a:xfrm>
            <a:off x="4592650" y="2435225"/>
            <a:ext cx="0" cy="574800"/>
          </a:xfrm>
          <a:prstGeom prst="straightConnector1">
            <a:avLst/>
          </a:prstGeom>
          <a:noFill/>
          <a:ln cap="flat" cmpd="sng" w="9525">
            <a:solidFill>
              <a:schemeClr val="dk1"/>
            </a:solidFill>
            <a:prstDash val="solid"/>
            <a:miter lim="800000"/>
            <a:headEnd len="med" w="med" type="none"/>
            <a:tailEnd len="med" w="med" type="none"/>
          </a:ln>
        </p:spPr>
      </p:cxnSp>
      <p:cxnSp>
        <p:nvCxnSpPr>
          <p:cNvPr id="228" name="Google Shape;228;p11"/>
          <p:cNvCxnSpPr/>
          <p:nvPr/>
        </p:nvCxnSpPr>
        <p:spPr>
          <a:xfrm>
            <a:off x="5911850"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229" name="Google Shape;229;p11"/>
          <p:cNvCxnSpPr/>
          <p:nvPr/>
        </p:nvCxnSpPr>
        <p:spPr>
          <a:xfrm>
            <a:off x="7493000" y="2347912"/>
            <a:ext cx="0" cy="576262"/>
          </a:xfrm>
          <a:prstGeom prst="straightConnector1">
            <a:avLst/>
          </a:prstGeom>
          <a:noFill/>
          <a:ln cap="flat" cmpd="sng" w="9525">
            <a:solidFill>
              <a:schemeClr val="dk1"/>
            </a:solidFill>
            <a:prstDash val="solid"/>
            <a:miter lim="800000"/>
            <a:headEnd len="med" w="med" type="none"/>
            <a:tailEnd len="med" w="med" type="none"/>
          </a:ln>
        </p:spPr>
      </p:cxnSp>
      <p:cxnSp>
        <p:nvCxnSpPr>
          <p:cNvPr id="230" name="Google Shape;230;p11"/>
          <p:cNvCxnSpPr/>
          <p:nvPr/>
        </p:nvCxnSpPr>
        <p:spPr>
          <a:xfrm>
            <a:off x="2706687" y="3357562"/>
            <a:ext cx="0" cy="576262"/>
          </a:xfrm>
          <a:prstGeom prst="straightConnector1">
            <a:avLst/>
          </a:prstGeom>
          <a:noFill/>
          <a:ln cap="flat" cmpd="sng" w="9525">
            <a:solidFill>
              <a:schemeClr val="dk1"/>
            </a:solidFill>
            <a:prstDash val="solid"/>
            <a:miter lim="800000"/>
            <a:headEnd len="med" w="med" type="none"/>
            <a:tailEnd len="med" w="med" type="none"/>
          </a:ln>
        </p:spPr>
      </p:cxnSp>
      <p:sp>
        <p:nvSpPr>
          <p:cNvPr id="231" name="Google Shape;231;p11"/>
          <p:cNvSpPr txBox="1"/>
          <p:nvPr/>
        </p:nvSpPr>
        <p:spPr>
          <a:xfrm>
            <a:off x="2668587" y="3425825"/>
            <a:ext cx="503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2f</a:t>
            </a:r>
            <a:endParaRPr/>
          </a:p>
        </p:txBody>
      </p:sp>
      <p:sp>
        <p:nvSpPr>
          <p:cNvPr id="232" name="Google Shape;232;p11"/>
          <p:cNvSpPr txBox="1"/>
          <p:nvPr/>
        </p:nvSpPr>
        <p:spPr>
          <a:xfrm>
            <a:off x="2687637" y="3429000"/>
            <a:ext cx="503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N</a:t>
            </a:r>
            <a:endParaRPr/>
          </a:p>
        </p:txBody>
      </p:sp>
      <p:sp>
        <p:nvSpPr>
          <p:cNvPr id="233" name="Google Shape;233;p11"/>
          <p:cNvSpPr txBox="1"/>
          <p:nvPr/>
        </p:nvSpPr>
        <p:spPr>
          <a:xfrm>
            <a:off x="669925" y="3746500"/>
            <a:ext cx="12969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pHead=P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2000"/>
                                        <p:tgtEl>
                                          <p:spTgt spid="219"/>
                                        </p:tgtEl>
                                      </p:cBhvr>
                                    </p:animEffect>
                                  </p:childTnLst>
                                </p:cTn>
                              </p:par>
                              <p:par>
                                <p:cTn fill="hold" nodeType="withEffect" presetClass="exit" presetID="10" presetSubtype="0">
                                  <p:stCondLst>
                                    <p:cond delay="0"/>
                                  </p:stCondLst>
                                  <p:childTnLst>
                                    <p:animEffect filter="fade" transition="out">
                                      <p:cBhvr>
                                        <p:cTn dur="500"/>
                                        <p:tgtEl>
                                          <p:spTgt spid="232"/>
                                        </p:tgtEl>
                                      </p:cBhvr>
                                    </p:animEffect>
                                    <p:set>
                                      <p:cBhvr>
                                        <p:cTn dur="1" fill="hold">
                                          <p:stCondLst>
                                            <p:cond delay="500"/>
                                          </p:stCondLst>
                                        </p:cTn>
                                        <p:tgtEl>
                                          <p:spTgt spid="2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2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xit" presetID="10" presetSubtype="0">
                                  <p:stCondLst>
                                    <p:cond delay="0"/>
                                  </p:stCondLst>
                                  <p:childTnLst>
                                    <p:animEffect filter="fade" transition="out">
                                      <p:cBhvr>
                                        <p:cTn dur="500"/>
                                        <p:tgtEl>
                                          <p:spTgt spid="211"/>
                                        </p:tgtEl>
                                      </p:cBhvr>
                                    </p:animEffect>
                                    <p:set>
                                      <p:cBhvr>
                                        <p:cTn dur="1" fill="hold">
                                          <p:stCondLst>
                                            <p:cond delay="500"/>
                                          </p:stCondLst>
                                        </p:cTn>
                                        <p:tgtEl>
                                          <p:spTgt spid="21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400"/>
              <a:buFont typeface="Arial"/>
              <a:buNone/>
            </a:pPr>
            <a:r>
              <a:rPr b="0" i="0" lang="en-US" sz="4400" u="none">
                <a:solidFill>
                  <a:srgbClr val="FFF3F3"/>
                </a:solidFill>
                <a:latin typeface="Arial"/>
                <a:ea typeface="Arial"/>
                <a:cs typeface="Arial"/>
                <a:sym typeface="Arial"/>
              </a:rPr>
              <a:t>Thuật toán thêm vào cuối DSLK</a:t>
            </a:r>
            <a:endParaRPr/>
          </a:p>
        </p:txBody>
      </p:sp>
      <p:sp>
        <p:nvSpPr>
          <p:cNvPr id="239" name="Google Shape;239;p12"/>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Ta cần thêm nút p vào cuối list đơn</a:t>
            </a:r>
            <a:endParaRPr/>
          </a:p>
          <a:p>
            <a:pPr indent="-342900" lvl="0" marL="342900" rtl="0" algn="l">
              <a:lnSpc>
                <a:spcPct val="12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a:t>
            </a:r>
            <a:r>
              <a:rPr b="1" i="0" lang="en-US" sz="2800" u="sng">
                <a:solidFill>
                  <a:schemeClr val="dk1"/>
                </a:solidFill>
                <a:latin typeface="Arial"/>
                <a:ea typeface="Arial"/>
                <a:cs typeface="Arial"/>
                <a:sym typeface="Arial"/>
              </a:rPr>
              <a:t>Bắt đầu</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Nếu List rỗng thì</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pHead = 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pTail = pHead;</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Ngược lại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pTail-&gt;pNext=p;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pTail=p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Hàm thêm 1 phần tử vào cuối DSLKD</a:t>
            </a:r>
            <a:endParaRPr/>
          </a:p>
        </p:txBody>
      </p:sp>
      <p:sp>
        <p:nvSpPr>
          <p:cNvPr id="245" name="Google Shape;245;p13"/>
          <p:cNvSpPr txBox="1"/>
          <p:nvPr>
            <p:ph idx="1" type="body"/>
          </p:nvPr>
        </p:nvSpPr>
        <p:spPr>
          <a:xfrm>
            <a:off x="992187" y="908050"/>
            <a:ext cx="8640762" cy="59499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	void</a:t>
            </a:r>
            <a:r>
              <a:rPr b="0" i="0" lang="en-US" sz="2800" u="none">
                <a:solidFill>
                  <a:srgbClr val="080808"/>
                </a:solidFill>
                <a:latin typeface="Arial"/>
                <a:ea typeface="Arial"/>
                <a:cs typeface="Arial"/>
                <a:sym typeface="Arial"/>
              </a:rPr>
              <a:t> AddTail(</a:t>
            </a:r>
            <a:r>
              <a:rPr b="0" i="0" lang="en-US" sz="2800" u="none">
                <a:solidFill>
                  <a:srgbClr val="0000FF"/>
                </a:solidFill>
                <a:latin typeface="Arial"/>
                <a:ea typeface="Arial"/>
                <a:cs typeface="Arial"/>
                <a:sym typeface="Arial"/>
              </a:rPr>
              <a:t>LIST</a:t>
            </a:r>
            <a:r>
              <a:rPr b="0" i="0" lang="en-US" sz="2800" u="none">
                <a:solidFill>
                  <a:srgbClr val="080808"/>
                </a:solidFill>
                <a:latin typeface="Arial"/>
                <a:ea typeface="Arial"/>
                <a:cs typeface="Arial"/>
                <a:sym typeface="Arial"/>
              </a:rPr>
              <a:t> &amp;l, </a:t>
            </a: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*p)</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if </a:t>
            </a:r>
            <a:r>
              <a:rPr b="0" i="0" lang="en-US" sz="2800" u="none">
                <a:solidFill>
                  <a:srgbClr val="080808"/>
                </a:solidFill>
                <a:latin typeface="Arial"/>
                <a:ea typeface="Arial"/>
                <a:cs typeface="Arial"/>
                <a:sym typeface="Arial"/>
              </a:rPr>
              <a:t>(l.pHead==NULL)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l.pHead = p;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l.pTail = l.pHead;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else</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l.pTail-&gt;Next = p;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l.pTail = p;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85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thêm vào cuối</a:t>
            </a:r>
            <a:endParaRPr/>
          </a:p>
        </p:txBody>
      </p:sp>
      <p:sp>
        <p:nvSpPr>
          <p:cNvPr id="251" name="Google Shape;251;p14"/>
          <p:cNvSpPr txBox="1"/>
          <p:nvPr/>
        </p:nvSpPr>
        <p:spPr>
          <a:xfrm>
            <a:off x="4414837" y="2330450"/>
            <a:ext cx="1130300"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      </a:t>
            </a:r>
            <a:endParaRPr/>
          </a:p>
        </p:txBody>
      </p:sp>
      <p:sp>
        <p:nvSpPr>
          <p:cNvPr id="252" name="Google Shape;252;p14"/>
          <p:cNvSpPr txBox="1"/>
          <p:nvPr/>
        </p:nvSpPr>
        <p:spPr>
          <a:xfrm>
            <a:off x="1212850" y="2335212"/>
            <a:ext cx="1057275"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  </a:t>
            </a:r>
            <a:r>
              <a:rPr b="1" i="0" lang="en-US" sz="2800" u="none">
                <a:solidFill>
                  <a:schemeClr val="dk1"/>
                </a:solidFill>
                <a:latin typeface="Helvetica Neue"/>
                <a:ea typeface="Helvetica Neue"/>
                <a:cs typeface="Helvetica Neue"/>
                <a:sym typeface="Helvetica Neue"/>
              </a:rPr>
              <a:t>4f</a:t>
            </a:r>
            <a:endParaRPr/>
          </a:p>
        </p:txBody>
      </p:sp>
      <p:sp>
        <p:nvSpPr>
          <p:cNvPr id="253" name="Google Shape;253;p14"/>
          <p:cNvSpPr txBox="1"/>
          <p:nvPr/>
        </p:nvSpPr>
        <p:spPr>
          <a:xfrm>
            <a:off x="2773362" y="2349500"/>
            <a:ext cx="10620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 </a:t>
            </a:r>
            <a:r>
              <a:rPr b="1" i="0" lang="en-US" sz="2800" u="none">
                <a:solidFill>
                  <a:schemeClr val="dk1"/>
                </a:solidFill>
                <a:latin typeface="Helvetica Neue"/>
                <a:ea typeface="Helvetica Neue"/>
                <a:cs typeface="Helvetica Neue"/>
                <a:sym typeface="Helvetica Neue"/>
              </a:rPr>
              <a:t>5f</a:t>
            </a:r>
            <a:endParaRPr/>
          </a:p>
        </p:txBody>
      </p:sp>
      <p:cxnSp>
        <p:nvCxnSpPr>
          <p:cNvPr id="254" name="Google Shape;254;p14"/>
          <p:cNvCxnSpPr/>
          <p:nvPr/>
        </p:nvCxnSpPr>
        <p:spPr>
          <a:xfrm flipH="1">
            <a:off x="5545087" y="2033587"/>
            <a:ext cx="1441500" cy="603300"/>
          </a:xfrm>
          <a:prstGeom prst="bentConnector2">
            <a:avLst/>
          </a:prstGeom>
          <a:noFill/>
          <a:ln cap="flat" cmpd="sng" w="76200">
            <a:solidFill>
              <a:srgbClr val="FF0000"/>
            </a:solidFill>
            <a:prstDash val="solid"/>
            <a:miter lim="800000"/>
            <a:headEnd len="med" w="med" type="none"/>
            <a:tailEnd len="med" w="med" type="triangle"/>
          </a:ln>
        </p:spPr>
      </p:cxnSp>
      <p:cxnSp>
        <p:nvCxnSpPr>
          <p:cNvPr id="255" name="Google Shape;255;p14"/>
          <p:cNvCxnSpPr/>
          <p:nvPr/>
        </p:nvCxnSpPr>
        <p:spPr>
          <a:xfrm flipH="1" rot="10800000">
            <a:off x="776287" y="2620962"/>
            <a:ext cx="455612" cy="1587"/>
          </a:xfrm>
          <a:prstGeom prst="straightConnector1">
            <a:avLst/>
          </a:prstGeom>
          <a:noFill/>
          <a:ln cap="flat" cmpd="sng" w="76200">
            <a:solidFill>
              <a:srgbClr val="FF0000"/>
            </a:solidFill>
            <a:prstDash val="solid"/>
            <a:miter lim="800000"/>
            <a:headEnd len="med" w="med" type="none"/>
            <a:tailEnd len="med" w="med" type="triangle"/>
          </a:ln>
        </p:spPr>
      </p:cxnSp>
      <p:cxnSp>
        <p:nvCxnSpPr>
          <p:cNvPr id="256" name="Google Shape;256;p14"/>
          <p:cNvCxnSpPr/>
          <p:nvPr/>
        </p:nvCxnSpPr>
        <p:spPr>
          <a:xfrm>
            <a:off x="2270125" y="2636837"/>
            <a:ext cx="533400" cy="0"/>
          </a:xfrm>
          <a:prstGeom prst="straightConnector1">
            <a:avLst/>
          </a:prstGeom>
          <a:noFill/>
          <a:ln cap="flat" cmpd="sng" w="76200">
            <a:solidFill>
              <a:srgbClr val="FF0000"/>
            </a:solidFill>
            <a:prstDash val="solid"/>
            <a:miter lim="800000"/>
            <a:headEnd len="med" w="med" type="none"/>
            <a:tailEnd len="med" w="med" type="triangle"/>
          </a:ln>
        </p:spPr>
      </p:cxnSp>
      <p:cxnSp>
        <p:nvCxnSpPr>
          <p:cNvPr id="257" name="Google Shape;257;p14"/>
          <p:cNvCxnSpPr/>
          <p:nvPr/>
        </p:nvCxnSpPr>
        <p:spPr>
          <a:xfrm>
            <a:off x="3852862" y="2636837"/>
            <a:ext cx="576262" cy="0"/>
          </a:xfrm>
          <a:prstGeom prst="straightConnector1">
            <a:avLst/>
          </a:prstGeom>
          <a:noFill/>
          <a:ln cap="flat" cmpd="sng" w="76200">
            <a:solidFill>
              <a:srgbClr val="FF0000"/>
            </a:solidFill>
            <a:prstDash val="solid"/>
            <a:miter lim="800000"/>
            <a:headEnd len="med" w="med" type="none"/>
            <a:tailEnd len="med" w="med" type="triangle"/>
          </a:ln>
        </p:spPr>
      </p:cxnSp>
      <p:sp>
        <p:nvSpPr>
          <p:cNvPr id="258" name="Google Shape;258;p14"/>
          <p:cNvSpPr txBox="1"/>
          <p:nvPr/>
        </p:nvSpPr>
        <p:spPr>
          <a:xfrm>
            <a:off x="6480175" y="1531937"/>
            <a:ext cx="1296987"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pTail</a:t>
            </a:r>
            <a:endParaRPr/>
          </a:p>
        </p:txBody>
      </p:sp>
      <p:sp>
        <p:nvSpPr>
          <p:cNvPr id="259" name="Google Shape;259;p14"/>
          <p:cNvSpPr txBox="1"/>
          <p:nvPr/>
        </p:nvSpPr>
        <p:spPr>
          <a:xfrm>
            <a:off x="1044575"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sp>
        <p:nvSpPr>
          <p:cNvPr id="260" name="Google Shape;260;p14"/>
          <p:cNvSpPr txBox="1"/>
          <p:nvPr/>
        </p:nvSpPr>
        <p:spPr>
          <a:xfrm>
            <a:off x="2700337"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4f</a:t>
            </a:r>
            <a:endParaRPr/>
          </a:p>
        </p:txBody>
      </p:sp>
      <p:sp>
        <p:nvSpPr>
          <p:cNvPr id="261" name="Google Shape;261;p14"/>
          <p:cNvSpPr txBox="1"/>
          <p:nvPr/>
        </p:nvSpPr>
        <p:spPr>
          <a:xfrm>
            <a:off x="4356100"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5f</a:t>
            </a:r>
            <a:endParaRPr/>
          </a:p>
        </p:txBody>
      </p:sp>
      <p:cxnSp>
        <p:nvCxnSpPr>
          <p:cNvPr id="262" name="Google Shape;262;p14"/>
          <p:cNvCxnSpPr/>
          <p:nvPr/>
        </p:nvCxnSpPr>
        <p:spPr>
          <a:xfrm rot="5400000">
            <a:off x="6404000" y="2987575"/>
            <a:ext cx="2168400" cy="314400"/>
          </a:xfrm>
          <a:prstGeom prst="bentConnector2">
            <a:avLst/>
          </a:prstGeom>
          <a:noFill/>
          <a:ln cap="flat" cmpd="sng" w="76200">
            <a:solidFill>
              <a:srgbClr val="FF0000"/>
            </a:solidFill>
            <a:prstDash val="solid"/>
            <a:miter lim="800000"/>
            <a:headEnd len="med" w="med" type="none"/>
            <a:tailEnd len="med" w="med" type="triangle"/>
          </a:ln>
        </p:spPr>
      </p:cxnSp>
      <p:cxnSp>
        <p:nvCxnSpPr>
          <p:cNvPr id="263" name="Google Shape;263;p14"/>
          <p:cNvCxnSpPr/>
          <p:nvPr/>
        </p:nvCxnSpPr>
        <p:spPr>
          <a:xfrm flipH="1" rot="-5400000">
            <a:off x="5177637" y="3148800"/>
            <a:ext cx="1458900" cy="723900"/>
          </a:xfrm>
          <a:prstGeom prst="bentConnector3">
            <a:avLst>
              <a:gd fmla="val 50000" name="adj1"/>
            </a:avLst>
          </a:prstGeom>
          <a:noFill/>
          <a:ln cap="flat" cmpd="sng" w="76200">
            <a:solidFill>
              <a:srgbClr val="FF0000"/>
            </a:solidFill>
            <a:prstDash val="solid"/>
            <a:miter lim="800000"/>
            <a:headEnd len="med" w="med" type="none"/>
            <a:tailEnd len="med" w="med" type="triangle"/>
          </a:ln>
        </p:spPr>
      </p:cxnSp>
      <p:cxnSp>
        <p:nvCxnSpPr>
          <p:cNvPr id="264" name="Google Shape;264;p14"/>
          <p:cNvCxnSpPr/>
          <p:nvPr/>
        </p:nvCxnSpPr>
        <p:spPr>
          <a:xfrm flipH="1">
            <a:off x="5538737" y="2033587"/>
            <a:ext cx="1441500" cy="603300"/>
          </a:xfrm>
          <a:prstGeom prst="bentConnector2">
            <a:avLst/>
          </a:prstGeom>
          <a:noFill/>
          <a:ln cap="rnd" cmpd="sng" w="76200">
            <a:solidFill>
              <a:srgbClr val="FF0000"/>
            </a:solidFill>
            <a:prstDash val="solid"/>
            <a:miter lim="800000"/>
            <a:headEnd len="med" w="med" type="none"/>
            <a:tailEnd len="med" w="med" type="triangle"/>
          </a:ln>
        </p:spPr>
      </p:cxnSp>
      <p:cxnSp>
        <p:nvCxnSpPr>
          <p:cNvPr id="265" name="Google Shape;265;p14"/>
          <p:cNvCxnSpPr/>
          <p:nvPr/>
        </p:nvCxnSpPr>
        <p:spPr>
          <a:xfrm>
            <a:off x="1712912"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266" name="Google Shape;266;p14"/>
          <p:cNvCxnSpPr/>
          <p:nvPr/>
        </p:nvCxnSpPr>
        <p:spPr>
          <a:xfrm>
            <a:off x="3240087"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267" name="Google Shape;267;p14"/>
          <p:cNvCxnSpPr/>
          <p:nvPr/>
        </p:nvCxnSpPr>
        <p:spPr>
          <a:xfrm>
            <a:off x="5086350" y="2349500"/>
            <a:ext cx="0" cy="574675"/>
          </a:xfrm>
          <a:prstGeom prst="straightConnector1">
            <a:avLst/>
          </a:prstGeom>
          <a:noFill/>
          <a:ln cap="flat" cmpd="sng" w="9525">
            <a:solidFill>
              <a:schemeClr val="dk1"/>
            </a:solidFill>
            <a:prstDash val="solid"/>
            <a:miter lim="800000"/>
            <a:headEnd len="med" w="med" type="none"/>
            <a:tailEnd len="med" w="med" type="none"/>
          </a:ln>
        </p:spPr>
      </p:cxnSp>
      <p:grpSp>
        <p:nvGrpSpPr>
          <p:cNvPr id="268" name="Google Shape;268;p14"/>
          <p:cNvGrpSpPr/>
          <p:nvPr/>
        </p:nvGrpSpPr>
        <p:grpSpPr>
          <a:xfrm>
            <a:off x="6192837" y="3357562"/>
            <a:ext cx="1138237" cy="1673225"/>
            <a:chOff x="3901" y="2115"/>
            <a:chExt cx="717" cy="1054"/>
          </a:xfrm>
        </p:grpSpPr>
        <p:grpSp>
          <p:nvGrpSpPr>
            <p:cNvPr id="269" name="Google Shape;269;p14"/>
            <p:cNvGrpSpPr/>
            <p:nvPr/>
          </p:nvGrpSpPr>
          <p:grpSpPr>
            <a:xfrm>
              <a:off x="3901" y="2115"/>
              <a:ext cx="717" cy="1054"/>
              <a:chOff x="1167" y="1752"/>
              <a:chExt cx="717" cy="1054"/>
            </a:xfrm>
          </p:grpSpPr>
          <p:sp>
            <p:nvSpPr>
              <p:cNvPr id="270" name="Google Shape;270;p14"/>
              <p:cNvSpPr txBox="1"/>
              <p:nvPr/>
            </p:nvSpPr>
            <p:spPr>
              <a:xfrm>
                <a:off x="1215" y="2115"/>
                <a:ext cx="669"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 </a:t>
                </a:r>
                <a:r>
                  <a:rPr b="1" i="0" lang="en-US" sz="2800" u="none">
                    <a:solidFill>
                      <a:schemeClr val="dk1"/>
                    </a:solidFill>
                    <a:latin typeface="Helvetica Neue"/>
                    <a:ea typeface="Helvetica Neue"/>
                    <a:cs typeface="Helvetica Neue"/>
                    <a:sym typeface="Helvetica Neue"/>
                  </a:rPr>
                  <a:t>N</a:t>
                </a:r>
                <a:r>
                  <a:rPr b="1" i="0" lang="en-US" sz="3200" u="none">
                    <a:solidFill>
                      <a:schemeClr val="dk1"/>
                    </a:solidFill>
                    <a:latin typeface="Helvetica Neue"/>
                    <a:ea typeface="Helvetica Neue"/>
                    <a:cs typeface="Helvetica Neue"/>
                    <a:sym typeface="Helvetica Neue"/>
                  </a:rPr>
                  <a:t>           </a:t>
                </a:r>
                <a:endParaRPr/>
              </a:p>
            </p:txBody>
          </p:sp>
          <p:sp>
            <p:nvSpPr>
              <p:cNvPr id="271" name="Google Shape;271;p14"/>
              <p:cNvSpPr txBox="1"/>
              <p:nvPr/>
            </p:nvSpPr>
            <p:spPr>
              <a:xfrm>
                <a:off x="1170" y="1752"/>
                <a:ext cx="318"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9f</a:t>
                </a:r>
                <a:endParaRPr/>
              </a:p>
            </p:txBody>
          </p:sp>
          <p:sp>
            <p:nvSpPr>
              <p:cNvPr id="272" name="Google Shape;272;p14"/>
              <p:cNvSpPr txBox="1"/>
              <p:nvPr/>
            </p:nvSpPr>
            <p:spPr>
              <a:xfrm>
                <a:off x="1167" y="2518"/>
                <a:ext cx="499"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P</a:t>
                </a:r>
                <a:endParaRPr/>
              </a:p>
            </p:txBody>
          </p:sp>
        </p:grpSp>
        <p:cxnSp>
          <p:nvCxnSpPr>
            <p:cNvPr id="273" name="Google Shape;273;p14"/>
            <p:cNvCxnSpPr/>
            <p:nvPr/>
          </p:nvCxnSpPr>
          <p:spPr>
            <a:xfrm>
              <a:off x="4285" y="2478"/>
              <a:ext cx="0" cy="362"/>
            </a:xfrm>
            <a:prstGeom prst="straightConnector1">
              <a:avLst/>
            </a:prstGeom>
            <a:noFill/>
            <a:ln cap="flat" cmpd="sng" w="9525">
              <a:solidFill>
                <a:schemeClr val="dk1"/>
              </a:solidFill>
              <a:prstDash val="solid"/>
              <a:miter lim="800000"/>
              <a:headEnd len="med" w="med" type="none"/>
              <a:tailEnd len="med" w="med" type="none"/>
            </a:ln>
          </p:spPr>
        </p:cxnSp>
      </p:grpSp>
      <p:sp>
        <p:nvSpPr>
          <p:cNvPr id="274" name="Google Shape;274;p14"/>
          <p:cNvSpPr txBox="1"/>
          <p:nvPr/>
        </p:nvSpPr>
        <p:spPr>
          <a:xfrm>
            <a:off x="5097462" y="2420937"/>
            <a:ext cx="503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N</a:t>
            </a:r>
            <a:endParaRPr/>
          </a:p>
        </p:txBody>
      </p:sp>
      <p:sp>
        <p:nvSpPr>
          <p:cNvPr id="275" name="Google Shape;275;p14"/>
          <p:cNvSpPr txBox="1"/>
          <p:nvPr/>
        </p:nvSpPr>
        <p:spPr>
          <a:xfrm>
            <a:off x="5097462" y="2420937"/>
            <a:ext cx="5032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9f</a:t>
            </a:r>
            <a:endParaRPr/>
          </a:p>
        </p:txBody>
      </p:sp>
      <p:sp>
        <p:nvSpPr>
          <p:cNvPr id="276" name="Google Shape;276;p14"/>
          <p:cNvSpPr txBox="1"/>
          <p:nvPr/>
        </p:nvSpPr>
        <p:spPr>
          <a:xfrm>
            <a:off x="4232275" y="3500437"/>
            <a:ext cx="16557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pTail-&gt;pNext</a:t>
            </a:r>
            <a:endParaRPr/>
          </a:p>
        </p:txBody>
      </p:sp>
      <p:sp>
        <p:nvSpPr>
          <p:cNvPr id="277" name="Google Shape;277;p14"/>
          <p:cNvSpPr txBox="1"/>
          <p:nvPr/>
        </p:nvSpPr>
        <p:spPr>
          <a:xfrm>
            <a:off x="8048625" y="2924175"/>
            <a:ext cx="1225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pTail=P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20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xit" presetID="10" presetSubtype="0">
                                  <p:stCondLst>
                                    <p:cond delay="0"/>
                                  </p:stCondLst>
                                  <p:childTnLst>
                                    <p:animEffect filter="fade" transition="out">
                                      <p:cBhvr>
                                        <p:cTn dur="500"/>
                                        <p:tgtEl>
                                          <p:spTgt spid="274"/>
                                        </p:tgtEl>
                                      </p:cBhvr>
                                    </p:animEffect>
                                    <p:set>
                                      <p:cBhvr>
                                        <p:cTn dur="1" fill="hold">
                                          <p:stCondLst>
                                            <p:cond delay="500"/>
                                          </p:stCondLst>
                                        </p:cTn>
                                        <p:tgtEl>
                                          <p:spTgt spid="27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20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xit" presetID="10" presetSubtype="0">
                                  <p:stCondLst>
                                    <p:cond delay="0"/>
                                  </p:stCondLst>
                                  <p:childTnLst>
                                    <p:animEffect filter="fade" transition="out">
                                      <p:cBhvr>
                                        <p:cTn dur="500"/>
                                        <p:tgtEl>
                                          <p:spTgt spid="254"/>
                                        </p:tgtEl>
                                      </p:cBhvr>
                                    </p:animEffect>
                                    <p:set>
                                      <p:cBhvr>
                                        <p:cTn dur="1" fill="hold">
                                          <p:stCondLst>
                                            <p:cond delay="500"/>
                                          </p:stCondLst>
                                        </p:cTn>
                                        <p:tgtEl>
                                          <p:spTgt spid="2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5"/>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000"/>
              <a:buFont typeface="Arial"/>
              <a:buNone/>
            </a:pPr>
            <a:r>
              <a:rPr b="0" i="0" lang="en-US" sz="4000" u="none">
                <a:solidFill>
                  <a:srgbClr val="FFF3F3"/>
                </a:solidFill>
                <a:latin typeface="Arial"/>
                <a:ea typeface="Arial"/>
                <a:cs typeface="Arial"/>
                <a:sym typeface="Arial"/>
              </a:rPr>
              <a:t>Thuật toán phần tử p vào sau phần tử q</a:t>
            </a:r>
            <a:endParaRPr/>
          </a:p>
        </p:txBody>
      </p:sp>
      <p:sp>
        <p:nvSpPr>
          <p:cNvPr id="283" name="Google Shape;283;p15"/>
          <p:cNvSpPr txBox="1"/>
          <p:nvPr>
            <p:ph idx="1" type="body"/>
          </p:nvPr>
        </p:nvSpPr>
        <p:spPr>
          <a:xfrm>
            <a:off x="776287" y="1196975"/>
            <a:ext cx="8569200" cy="52563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Ta cần thêm nút p vào sau nút q trong list đơn</a:t>
            </a:r>
            <a:endParaRPr/>
          </a:p>
          <a:p>
            <a:pPr indent="-342900" lvl="0" marL="342900" rtl="0" algn="l">
              <a:lnSpc>
                <a:spcPct val="12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a:t>
            </a:r>
            <a:r>
              <a:rPr b="1" i="0" lang="en-US" sz="2800" u="sng">
                <a:solidFill>
                  <a:schemeClr val="dk1"/>
                </a:solidFill>
                <a:latin typeface="Arial"/>
                <a:ea typeface="Arial"/>
                <a:cs typeface="Arial"/>
                <a:sym typeface="Arial"/>
              </a:rPr>
              <a:t>Bắt đầu</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Nếu (q!=NULL) thì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B1</a:t>
            </a:r>
            <a:r>
              <a:rPr b="0" i="0" lang="en-US" sz="2800" u="none">
                <a:solidFill>
                  <a:schemeClr val="dk1"/>
                </a:solidFill>
                <a:latin typeface="Arial"/>
                <a:ea typeface="Arial"/>
                <a:cs typeface="Arial"/>
                <a:sym typeface="Arial"/>
              </a:rPr>
              <a:t>: p-&gt;pNext = q-&gt;pNext</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B2</a:t>
            </a:r>
            <a:r>
              <a:rPr b="0" i="0" lang="en-US" sz="2800" u="none">
                <a:solidFill>
                  <a:schemeClr val="dk1"/>
                </a:solidFill>
                <a:latin typeface="Arial"/>
                <a:ea typeface="Arial"/>
                <a:cs typeface="Arial"/>
                <a:sym typeface="Arial"/>
              </a:rPr>
              <a:t>: </a:t>
            </a:r>
            <a:endParaRPr/>
          </a:p>
          <a:p>
            <a:pPr indent="-228600" lvl="4" marL="20574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q-&gt;pNext = p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nếu q = pTail thì</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pTail=p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a:t>
            </a:r>
            <a:endParaRPr/>
          </a:p>
        </p:txBody>
      </p:sp>
      <p:sp>
        <p:nvSpPr>
          <p:cNvPr id="289" name="Google Shape;289;p1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InsertAfterQ(</a:t>
            </a:r>
            <a:r>
              <a:rPr b="0" i="0" lang="en-US" sz="2800" u="none">
                <a:solidFill>
                  <a:srgbClr val="0000FF"/>
                </a:solidFill>
                <a:latin typeface="Arial"/>
                <a:ea typeface="Arial"/>
                <a:cs typeface="Arial"/>
                <a:sym typeface="Arial"/>
              </a:rPr>
              <a:t>List</a:t>
            </a:r>
            <a:r>
              <a:rPr b="0" i="0" lang="en-US" sz="2800" u="none">
                <a:solidFill>
                  <a:schemeClr val="dk1"/>
                </a:solidFill>
                <a:latin typeface="Arial"/>
                <a:ea typeface="Arial"/>
                <a:cs typeface="Arial"/>
                <a:sym typeface="Arial"/>
              </a:rPr>
              <a:t> &amp;l,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*p,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*q)</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(q!=NULL)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p-&gt;pNext=Q-&gt;Next;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q-&gt;pNext=p;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(l.pTail==q)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l.Tail=q;</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AddHead(l,q);</a:t>
            </a:r>
            <a:r>
              <a:rPr b="0" i="0" lang="en-US" sz="2400" u="none">
                <a:solidFill>
                  <a:schemeClr val="dk1"/>
                </a:solidFill>
                <a:latin typeface="Arial"/>
                <a:ea typeface="Arial"/>
                <a:cs typeface="Arial"/>
                <a:sym typeface="Arial"/>
              </a:rPr>
              <a:t>// thêm q vào đầu list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400"/>
              <a:buFont typeface="Arial"/>
              <a:buNone/>
            </a:pPr>
            <a:r>
              <a:rPr b="0" i="0" lang="en-US" sz="4400" u="none">
                <a:solidFill>
                  <a:srgbClr val="FFF3F3"/>
                </a:solidFill>
                <a:latin typeface="Arial"/>
                <a:ea typeface="Arial"/>
                <a:cs typeface="Arial"/>
                <a:sym typeface="Arial"/>
              </a:rPr>
              <a:t>Minh họa thuật toán</a:t>
            </a:r>
            <a:endParaRPr/>
          </a:p>
        </p:txBody>
      </p:sp>
      <p:sp>
        <p:nvSpPr>
          <p:cNvPr id="295" name="Google Shape;295;p17"/>
          <p:cNvSpPr txBox="1"/>
          <p:nvPr/>
        </p:nvSpPr>
        <p:spPr>
          <a:xfrm>
            <a:off x="7443787" y="2330450"/>
            <a:ext cx="1130300"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5  ..    </a:t>
            </a:r>
            <a:endParaRPr/>
          </a:p>
        </p:txBody>
      </p:sp>
      <p:sp>
        <p:nvSpPr>
          <p:cNvPr id="296" name="Google Shape;296;p17"/>
          <p:cNvSpPr txBox="1"/>
          <p:nvPr/>
        </p:nvSpPr>
        <p:spPr>
          <a:xfrm>
            <a:off x="1952625" y="2335212"/>
            <a:ext cx="1057275"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  </a:t>
            </a:r>
            <a:r>
              <a:rPr b="1" i="0" lang="en-US" sz="2800" u="none">
                <a:solidFill>
                  <a:schemeClr val="dk1"/>
                </a:solidFill>
                <a:latin typeface="Helvetica Neue"/>
                <a:ea typeface="Helvetica Neue"/>
                <a:cs typeface="Helvetica Neue"/>
                <a:sym typeface="Helvetica Neue"/>
              </a:rPr>
              <a:t>4f</a:t>
            </a:r>
            <a:endParaRPr/>
          </a:p>
        </p:txBody>
      </p:sp>
      <p:sp>
        <p:nvSpPr>
          <p:cNvPr id="297" name="Google Shape;297;p17"/>
          <p:cNvSpPr txBox="1"/>
          <p:nvPr/>
        </p:nvSpPr>
        <p:spPr>
          <a:xfrm>
            <a:off x="3513137" y="2349500"/>
            <a:ext cx="10620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0"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   </a:t>
            </a:r>
            <a:r>
              <a:rPr b="1" i="0" lang="en-US" sz="2800" u="none">
                <a:solidFill>
                  <a:schemeClr val="dk1"/>
                </a:solidFill>
                <a:latin typeface="Helvetica Neue"/>
                <a:ea typeface="Helvetica Neue"/>
                <a:cs typeface="Helvetica Neue"/>
                <a:sym typeface="Helvetica Neue"/>
              </a:rPr>
              <a:t> </a:t>
            </a:r>
            <a:endParaRPr/>
          </a:p>
        </p:txBody>
      </p:sp>
      <p:cxnSp>
        <p:nvCxnSpPr>
          <p:cNvPr id="298" name="Google Shape;298;p17"/>
          <p:cNvCxnSpPr/>
          <p:nvPr/>
        </p:nvCxnSpPr>
        <p:spPr>
          <a:xfrm>
            <a:off x="3009900" y="2636837"/>
            <a:ext cx="533400" cy="0"/>
          </a:xfrm>
          <a:prstGeom prst="straightConnector1">
            <a:avLst/>
          </a:prstGeom>
          <a:noFill/>
          <a:ln cap="flat" cmpd="sng" w="76200">
            <a:solidFill>
              <a:srgbClr val="FF0000"/>
            </a:solidFill>
            <a:prstDash val="solid"/>
            <a:miter lim="800000"/>
            <a:headEnd len="med" w="med" type="none"/>
            <a:tailEnd len="med" w="med" type="triangle"/>
          </a:ln>
        </p:spPr>
      </p:cxnSp>
      <p:cxnSp>
        <p:nvCxnSpPr>
          <p:cNvPr id="299" name="Google Shape;299;p17"/>
          <p:cNvCxnSpPr/>
          <p:nvPr/>
        </p:nvCxnSpPr>
        <p:spPr>
          <a:xfrm>
            <a:off x="4592637" y="2636837"/>
            <a:ext cx="2808287" cy="0"/>
          </a:xfrm>
          <a:prstGeom prst="straightConnector1">
            <a:avLst/>
          </a:prstGeom>
          <a:noFill/>
          <a:ln cap="flat" cmpd="sng" w="76200">
            <a:solidFill>
              <a:srgbClr val="FF0000"/>
            </a:solidFill>
            <a:prstDash val="solid"/>
            <a:miter lim="800000"/>
            <a:headEnd len="med" w="med" type="none"/>
            <a:tailEnd len="med" w="med" type="triangle"/>
          </a:ln>
        </p:spPr>
      </p:cxnSp>
      <p:sp>
        <p:nvSpPr>
          <p:cNvPr id="300" name="Google Shape;300;p17"/>
          <p:cNvSpPr txBox="1"/>
          <p:nvPr/>
        </p:nvSpPr>
        <p:spPr>
          <a:xfrm>
            <a:off x="1784350"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sp>
        <p:nvSpPr>
          <p:cNvPr id="301" name="Google Shape;301;p17"/>
          <p:cNvSpPr txBox="1"/>
          <p:nvPr/>
        </p:nvSpPr>
        <p:spPr>
          <a:xfrm>
            <a:off x="3440112"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4f</a:t>
            </a:r>
            <a:endParaRPr/>
          </a:p>
        </p:txBody>
      </p:sp>
      <p:sp>
        <p:nvSpPr>
          <p:cNvPr id="302" name="Google Shape;302;p17"/>
          <p:cNvSpPr txBox="1"/>
          <p:nvPr/>
        </p:nvSpPr>
        <p:spPr>
          <a:xfrm>
            <a:off x="7385050"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5f</a:t>
            </a:r>
            <a:endParaRPr/>
          </a:p>
        </p:txBody>
      </p:sp>
      <p:cxnSp>
        <p:nvCxnSpPr>
          <p:cNvPr id="303" name="Google Shape;303;p17"/>
          <p:cNvCxnSpPr/>
          <p:nvPr/>
        </p:nvCxnSpPr>
        <p:spPr>
          <a:xfrm>
            <a:off x="2452687"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304" name="Google Shape;304;p17"/>
          <p:cNvCxnSpPr/>
          <p:nvPr/>
        </p:nvCxnSpPr>
        <p:spPr>
          <a:xfrm>
            <a:off x="4160837"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305" name="Google Shape;305;p17"/>
          <p:cNvCxnSpPr/>
          <p:nvPr/>
        </p:nvCxnSpPr>
        <p:spPr>
          <a:xfrm>
            <a:off x="7997825" y="2349500"/>
            <a:ext cx="0" cy="574675"/>
          </a:xfrm>
          <a:prstGeom prst="straightConnector1">
            <a:avLst/>
          </a:prstGeom>
          <a:noFill/>
          <a:ln cap="flat" cmpd="sng" w="9525">
            <a:solidFill>
              <a:schemeClr val="dk1"/>
            </a:solidFill>
            <a:prstDash val="solid"/>
            <a:miter lim="800000"/>
            <a:headEnd len="med" w="med" type="none"/>
            <a:tailEnd len="med" w="med" type="none"/>
          </a:ln>
        </p:spPr>
      </p:cxnSp>
      <p:cxnSp>
        <p:nvCxnSpPr>
          <p:cNvPr id="306" name="Google Shape;306;p17"/>
          <p:cNvCxnSpPr/>
          <p:nvPr/>
        </p:nvCxnSpPr>
        <p:spPr>
          <a:xfrm>
            <a:off x="8593137" y="2655887"/>
            <a:ext cx="576262" cy="0"/>
          </a:xfrm>
          <a:prstGeom prst="straightConnector1">
            <a:avLst/>
          </a:prstGeom>
          <a:noFill/>
          <a:ln cap="flat" cmpd="sng" w="76200">
            <a:solidFill>
              <a:srgbClr val="FF0000"/>
            </a:solidFill>
            <a:prstDash val="solid"/>
            <a:miter lim="800000"/>
            <a:headEnd len="med" w="med" type="none"/>
            <a:tailEnd len="med" w="med" type="triangle"/>
          </a:ln>
        </p:spPr>
      </p:cxnSp>
      <p:cxnSp>
        <p:nvCxnSpPr>
          <p:cNvPr id="307" name="Google Shape;307;p17"/>
          <p:cNvCxnSpPr/>
          <p:nvPr/>
        </p:nvCxnSpPr>
        <p:spPr>
          <a:xfrm>
            <a:off x="1404937" y="2636837"/>
            <a:ext cx="576262" cy="0"/>
          </a:xfrm>
          <a:prstGeom prst="straightConnector1">
            <a:avLst/>
          </a:prstGeom>
          <a:noFill/>
          <a:ln cap="flat" cmpd="sng" w="76200">
            <a:solidFill>
              <a:srgbClr val="FF0000"/>
            </a:solidFill>
            <a:prstDash val="solid"/>
            <a:miter lim="800000"/>
            <a:headEnd len="med" w="med" type="none"/>
            <a:tailEnd len="med" w="med" type="triangle"/>
          </a:ln>
        </p:spPr>
      </p:cxnSp>
      <p:grpSp>
        <p:nvGrpSpPr>
          <p:cNvPr id="308" name="Google Shape;308;p17"/>
          <p:cNvGrpSpPr/>
          <p:nvPr/>
        </p:nvGrpSpPr>
        <p:grpSpPr>
          <a:xfrm>
            <a:off x="5335587" y="3221037"/>
            <a:ext cx="1225550" cy="588962"/>
            <a:chOff x="3301" y="2341"/>
            <a:chExt cx="772" cy="371"/>
          </a:xfrm>
        </p:grpSpPr>
        <p:sp>
          <p:nvSpPr>
            <p:cNvPr id="309" name="Google Shape;309;p17"/>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0" name="Google Shape;310;p17"/>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7</a:t>
              </a:r>
              <a:endParaRPr/>
            </a:p>
          </p:txBody>
        </p:sp>
        <p:cxnSp>
          <p:nvCxnSpPr>
            <p:cNvPr id="311" name="Google Shape;311;p17"/>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12" name="Google Shape;312;p17"/>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13" name="Google Shape;313;p17"/>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14" name="Google Shape;314;p17"/>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15" name="Google Shape;315;p17"/>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sp>
        <p:nvSpPr>
          <p:cNvPr id="316" name="Google Shape;316;p17"/>
          <p:cNvSpPr txBox="1"/>
          <p:nvPr/>
        </p:nvSpPr>
        <p:spPr>
          <a:xfrm>
            <a:off x="5313362" y="3941762"/>
            <a:ext cx="647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P</a:t>
            </a:r>
            <a:endParaRPr/>
          </a:p>
        </p:txBody>
      </p:sp>
      <p:sp>
        <p:nvSpPr>
          <p:cNvPr id="317" name="Google Shape;317;p17"/>
          <p:cNvSpPr txBox="1"/>
          <p:nvPr/>
        </p:nvSpPr>
        <p:spPr>
          <a:xfrm>
            <a:off x="5173662" y="2717800"/>
            <a:ext cx="5032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9f</a:t>
            </a:r>
            <a:endParaRPr/>
          </a:p>
        </p:txBody>
      </p:sp>
      <p:sp>
        <p:nvSpPr>
          <p:cNvPr id="318" name="Google Shape;318;p17"/>
          <p:cNvSpPr txBox="1"/>
          <p:nvPr/>
        </p:nvSpPr>
        <p:spPr>
          <a:xfrm>
            <a:off x="4016375" y="1844675"/>
            <a:ext cx="431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q</a:t>
            </a:r>
            <a:endParaRPr/>
          </a:p>
        </p:txBody>
      </p:sp>
      <p:cxnSp>
        <p:nvCxnSpPr>
          <p:cNvPr id="319" name="Google Shape;319;p17"/>
          <p:cNvCxnSpPr/>
          <p:nvPr/>
        </p:nvCxnSpPr>
        <p:spPr>
          <a:xfrm flipH="1" rot="10800000">
            <a:off x="6556375" y="2781425"/>
            <a:ext cx="863700" cy="720600"/>
          </a:xfrm>
          <a:prstGeom prst="bentConnector3">
            <a:avLst>
              <a:gd fmla="val 50000" name="adj1"/>
            </a:avLst>
          </a:prstGeom>
          <a:noFill/>
          <a:ln cap="flat" cmpd="sng" w="76200">
            <a:solidFill>
              <a:srgbClr val="FF0000"/>
            </a:solidFill>
            <a:prstDash val="solid"/>
            <a:miter lim="800000"/>
            <a:headEnd len="med" w="med" type="none"/>
            <a:tailEnd len="med" w="med" type="triangle"/>
          </a:ln>
        </p:spPr>
      </p:cxnSp>
      <p:cxnSp>
        <p:nvCxnSpPr>
          <p:cNvPr id="320" name="Google Shape;320;p17"/>
          <p:cNvCxnSpPr/>
          <p:nvPr/>
        </p:nvCxnSpPr>
        <p:spPr>
          <a:xfrm>
            <a:off x="4578350" y="2762250"/>
            <a:ext cx="792300" cy="720600"/>
          </a:xfrm>
          <a:prstGeom prst="bentConnector3">
            <a:avLst>
              <a:gd fmla="val 10776" name="adj1"/>
            </a:avLst>
          </a:prstGeom>
          <a:noFill/>
          <a:ln cap="flat" cmpd="sng" w="76200">
            <a:solidFill>
              <a:srgbClr val="FF0000"/>
            </a:solidFill>
            <a:prstDash val="solid"/>
            <a:miter lim="800000"/>
            <a:headEnd len="med" w="med" type="none"/>
            <a:tailEnd len="med" w="med" type="triangle"/>
          </a:ln>
        </p:spPr>
      </p:cxnSp>
      <p:sp>
        <p:nvSpPr>
          <p:cNvPr id="321" name="Google Shape;321;p17"/>
          <p:cNvSpPr txBox="1"/>
          <p:nvPr/>
        </p:nvSpPr>
        <p:spPr>
          <a:xfrm>
            <a:off x="4089400" y="2406650"/>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5f</a:t>
            </a:r>
            <a:endParaRPr/>
          </a:p>
        </p:txBody>
      </p:sp>
      <p:sp>
        <p:nvSpPr>
          <p:cNvPr id="322" name="Google Shape;322;p17"/>
          <p:cNvSpPr txBox="1"/>
          <p:nvPr/>
        </p:nvSpPr>
        <p:spPr>
          <a:xfrm>
            <a:off x="4122737" y="2420937"/>
            <a:ext cx="504900" cy="51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9f</a:t>
            </a:r>
            <a:endParaRPr/>
          </a:p>
        </p:txBody>
      </p:sp>
      <p:sp>
        <p:nvSpPr>
          <p:cNvPr id="323" name="Google Shape;323;p17"/>
          <p:cNvSpPr txBox="1"/>
          <p:nvPr/>
        </p:nvSpPr>
        <p:spPr>
          <a:xfrm>
            <a:off x="6032500" y="3284537"/>
            <a:ext cx="5032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5f</a:t>
            </a:r>
            <a:endParaRPr/>
          </a:p>
        </p:txBody>
      </p:sp>
      <p:sp>
        <p:nvSpPr>
          <p:cNvPr id="324" name="Google Shape;324;p17"/>
          <p:cNvSpPr txBox="1"/>
          <p:nvPr/>
        </p:nvSpPr>
        <p:spPr>
          <a:xfrm>
            <a:off x="5980112" y="3213100"/>
            <a:ext cx="5032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N</a:t>
            </a:r>
            <a:endParaRPr/>
          </a:p>
        </p:txBody>
      </p:sp>
      <p:cxnSp>
        <p:nvCxnSpPr>
          <p:cNvPr id="325" name="Google Shape;325;p17"/>
          <p:cNvCxnSpPr/>
          <p:nvPr/>
        </p:nvCxnSpPr>
        <p:spPr>
          <a:xfrm>
            <a:off x="4592637" y="2636837"/>
            <a:ext cx="2808287" cy="0"/>
          </a:xfrm>
          <a:prstGeom prst="straightConnector1">
            <a:avLst/>
          </a:prstGeom>
          <a:noFill/>
          <a:ln cap="rnd" cmpd="sng" w="76200">
            <a:solidFill>
              <a:srgbClr val="FF0000"/>
            </a:solidFill>
            <a:prstDash val="solid"/>
            <a:miter lim="800000"/>
            <a:headEnd len="med" w="med" type="none"/>
            <a:tailEnd len="med" w="med" type="triangle"/>
          </a:ln>
        </p:spPr>
      </p:cxnSp>
      <p:sp>
        <p:nvSpPr>
          <p:cNvPr id="326" name="Google Shape;326;p17"/>
          <p:cNvSpPr txBox="1"/>
          <p:nvPr/>
        </p:nvSpPr>
        <p:spPr>
          <a:xfrm>
            <a:off x="6608762" y="3573462"/>
            <a:ext cx="25209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P-&gt;pNext=q-&gt;pNext</a:t>
            </a:r>
            <a:endParaRPr/>
          </a:p>
        </p:txBody>
      </p:sp>
      <p:sp>
        <p:nvSpPr>
          <p:cNvPr id="327" name="Google Shape;327;p17"/>
          <p:cNvSpPr txBox="1"/>
          <p:nvPr/>
        </p:nvSpPr>
        <p:spPr>
          <a:xfrm>
            <a:off x="3224212" y="3141662"/>
            <a:ext cx="16557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q-&gt;pNext=P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2000"/>
                                        <p:tgtEl>
                                          <p:spTgt spid="319"/>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324"/>
                                        </p:tgtEl>
                                      </p:cBhvr>
                                    </p:animEffect>
                                    <p:set>
                                      <p:cBhvr>
                                        <p:cTn dur="1" fill="hold">
                                          <p:stCondLst>
                                            <p:cond delay="500"/>
                                          </p:stCondLst>
                                        </p:cTn>
                                        <p:tgtEl>
                                          <p:spTgt spid="32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2000"/>
                                        <p:tgtEl>
                                          <p:spTgt spid="320"/>
                                        </p:tgtEl>
                                      </p:cBhvr>
                                    </p:animEffec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321"/>
                                        </p:tgtEl>
                                      </p:cBhvr>
                                    </p:animEffect>
                                    <p:set>
                                      <p:cBhvr>
                                        <p:cTn dur="1" fill="hold">
                                          <p:stCondLst>
                                            <p:cond delay="500"/>
                                          </p:stCondLst>
                                        </p:cTn>
                                        <p:tgtEl>
                                          <p:spTgt spid="32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par>
                                <p:cTn fill="hold" nodeType="withEffect" presetClass="exit" presetID="10" presetSubtype="0">
                                  <p:stCondLst>
                                    <p:cond delay="0"/>
                                  </p:stCondLst>
                                  <p:childTnLst>
                                    <p:animEffect filter="fade" transition="out">
                                      <p:cBhvr>
                                        <p:cTn dur="500"/>
                                        <p:tgtEl>
                                          <p:spTgt spid="299"/>
                                        </p:tgtEl>
                                      </p:cBhvr>
                                    </p:animEffect>
                                    <p:set>
                                      <p:cBhvr>
                                        <p:cTn dur="1" fill="hold">
                                          <p:stCondLst>
                                            <p:cond delay="500"/>
                                          </p:stCondLst>
                                        </p:cTn>
                                        <p:tgtEl>
                                          <p:spTgt spid="29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Hủy phần tử trong DSLK đơn</a:t>
            </a:r>
            <a:endParaRPr/>
          </a:p>
        </p:txBody>
      </p:sp>
      <p:sp>
        <p:nvSpPr>
          <p:cNvPr id="333" name="Google Shape;333;p18"/>
          <p:cNvSpPr txBox="1"/>
          <p:nvPr>
            <p:ph idx="1" type="body"/>
          </p:nvPr>
        </p:nvSpPr>
        <p:spPr>
          <a:xfrm>
            <a:off x="920750" y="836612"/>
            <a:ext cx="8985250" cy="6021387"/>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Nguyên tắc</a:t>
            </a:r>
            <a:r>
              <a:rPr b="0" i="0" lang="en-US" sz="2800" u="none">
                <a:solidFill>
                  <a:schemeClr val="dk1"/>
                </a:solidFill>
                <a:latin typeface="Arial"/>
                <a:ea typeface="Arial"/>
                <a:cs typeface="Arial"/>
                <a:sym typeface="Arial"/>
              </a:rPr>
              <a:t>: Phải cô lập phần tử cần hủy trước hủy.</a:t>
            </a:r>
            <a:endParaRPr/>
          </a:p>
          <a:p>
            <a:pPr indent="-342900" lvl="0" marL="34290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Các vị trị cần hủy</a:t>
            </a:r>
            <a:endParaRPr/>
          </a:p>
          <a:p>
            <a:pPr indent="-285750" lvl="1" marL="7429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Hủy phần tử đứng đầu List</a:t>
            </a:r>
            <a:endParaRPr/>
          </a:p>
          <a:p>
            <a:pPr indent="-285750" lvl="1" marL="7429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Hủy phần tử có khoá bằng x</a:t>
            </a:r>
            <a:endParaRPr/>
          </a:p>
          <a:p>
            <a:pPr indent="-285750" lvl="1" marL="7429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Huỷ phần tử đứng sau q trong danh sách liên kết đơn</a:t>
            </a:r>
            <a:endParaRPr/>
          </a:p>
          <a:p>
            <a:pPr indent="-342900" lvl="0" marL="34290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Ở phần trên, các phần tử trong DSLK đơn được cấp phát vùng nhớ động bằng hàm new, thì sẽ được giải phóng vùng nhớ bằng hàm delete.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hủy phần tử trong DSLK</a:t>
            </a:r>
            <a:endParaRPr/>
          </a:p>
        </p:txBody>
      </p:sp>
      <p:sp>
        <p:nvSpPr>
          <p:cNvPr id="339" name="Google Shape;339;p19"/>
          <p:cNvSpPr txBox="1"/>
          <p:nvPr>
            <p:ph idx="1" type="body"/>
          </p:nvPr>
        </p:nvSpPr>
        <p:spPr>
          <a:xfrm>
            <a:off x="776287" y="981075"/>
            <a:ext cx="9129712" cy="58769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Bắt đầu:</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Nếu (pHead!=NULL) thì</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B1</a:t>
            </a:r>
            <a:r>
              <a:rPr b="0" i="0" lang="en-US" sz="2800" u="none">
                <a:solidFill>
                  <a:schemeClr val="dk1"/>
                </a:solidFill>
                <a:latin typeface="Arial"/>
                <a:ea typeface="Arial"/>
                <a:cs typeface="Arial"/>
                <a:sym typeface="Arial"/>
              </a:rPr>
              <a:t>: p=pHead</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B2</a:t>
            </a:r>
            <a:r>
              <a:rPr b="0" i="0" lang="en-US" sz="2800" u="none">
                <a:solidFill>
                  <a:schemeClr val="dk1"/>
                </a:solidFill>
                <a:latin typeface="Arial"/>
                <a:ea typeface="Arial"/>
                <a:cs typeface="Arial"/>
                <a:sym typeface="Arial"/>
              </a:rPr>
              <a:t>:</a:t>
            </a:r>
            <a:endParaRPr/>
          </a:p>
          <a:p>
            <a:pPr indent="-228600" lvl="2" marL="11430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pHead = pHead-&gt;pNext </a:t>
            </a:r>
            <a:endParaRPr/>
          </a:p>
          <a:p>
            <a:pPr indent="-228600" lvl="2" marL="11430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delete (p)</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B3</a:t>
            </a:r>
            <a:r>
              <a:rPr b="0" i="0" lang="en-US" sz="2800" u="none">
                <a:solidFill>
                  <a:schemeClr val="dk1"/>
                </a:solidFill>
                <a:latin typeface="Arial"/>
                <a:ea typeface="Arial"/>
                <a:cs typeface="Arial"/>
                <a:sym typeface="Arial"/>
              </a:rPr>
              <a:t>: </a:t>
            </a:r>
            <a:endParaRPr/>
          </a:p>
          <a:p>
            <a:pPr indent="-228600" lvl="2" marL="11430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Nếu pHead==NULL thì pTail=NULL</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a:t>
            </a:r>
            <a:endParaRPr/>
          </a:p>
        </p:txBody>
      </p:sp>
      <p:sp>
        <p:nvSpPr>
          <p:cNvPr id="345" name="Google Shape;345;p20"/>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Hủy được hàm trả về 1, ngược lại hàm trả về 0</a:t>
            </a:r>
            <a:endParaRPr/>
          </a:p>
          <a:p>
            <a:pPr indent="-342900" lvl="0" marL="342900" rtl="0" algn="l">
              <a:lnSpc>
                <a:spcPct val="80000"/>
              </a:lnSpc>
              <a:spcBef>
                <a:spcPts val="56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	int </a:t>
            </a:r>
            <a:r>
              <a:rPr b="0" i="0" lang="en-US" sz="2800" u="none">
                <a:solidFill>
                  <a:schemeClr val="dk1"/>
                </a:solidFill>
                <a:latin typeface="Arial"/>
                <a:ea typeface="Arial"/>
                <a:cs typeface="Arial"/>
                <a:sym typeface="Arial"/>
              </a:rPr>
              <a:t>  RemoveHead(</a:t>
            </a:r>
            <a:r>
              <a:rPr b="0" i="0" lang="en-US" sz="2800" u="none">
                <a:solidFill>
                  <a:srgbClr val="0000FF"/>
                </a:solidFill>
                <a:latin typeface="Arial"/>
                <a:ea typeface="Arial"/>
                <a:cs typeface="Arial"/>
                <a:sym typeface="Arial"/>
              </a:rPr>
              <a:t>List</a:t>
            </a:r>
            <a:r>
              <a:rPr b="0" i="0" lang="en-US" sz="2800" u="none">
                <a:solidFill>
                  <a:schemeClr val="dk1"/>
                </a:solidFill>
                <a:latin typeface="Arial"/>
                <a:ea typeface="Arial"/>
                <a:cs typeface="Arial"/>
                <a:sym typeface="Arial"/>
              </a:rPr>
              <a:t> &amp;l,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&amp;x)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(l.pHead!=NULL)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p=l.pHead;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x=p-&gt;Info; </a:t>
            </a:r>
            <a:r>
              <a:rPr b="0" i="0" lang="en-US" sz="2400" u="none">
                <a:solidFill>
                  <a:schemeClr val="dk1"/>
                </a:solidFill>
                <a:latin typeface="Arial"/>
                <a:ea typeface="Arial"/>
                <a:cs typeface="Arial"/>
                <a:sym typeface="Arial"/>
              </a:rPr>
              <a:t>//lưu Data của nút cần hủy</a:t>
            </a: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l.pHead=l.pHead-&gt;pNext;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delete</a:t>
            </a:r>
            <a:r>
              <a:rPr b="0" i="0" lang="en-US" sz="2800" u="none">
                <a:solidFill>
                  <a:schemeClr val="dk1"/>
                </a:solidFill>
                <a:latin typeface="Arial"/>
                <a:ea typeface="Arial"/>
                <a:cs typeface="Arial"/>
                <a:sym typeface="Arial"/>
              </a:rPr>
              <a:t> 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(l.pHead==NULL)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l.pTail=NULL;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hoạ thuật toán</a:t>
            </a:r>
            <a:endParaRPr/>
          </a:p>
        </p:txBody>
      </p:sp>
      <p:grpSp>
        <p:nvGrpSpPr>
          <p:cNvPr id="351" name="Google Shape;351;p21"/>
          <p:cNvGrpSpPr/>
          <p:nvPr/>
        </p:nvGrpSpPr>
        <p:grpSpPr>
          <a:xfrm>
            <a:off x="2360612" y="3468687"/>
            <a:ext cx="1225550" cy="588962"/>
            <a:chOff x="3301" y="2341"/>
            <a:chExt cx="772" cy="371"/>
          </a:xfrm>
        </p:grpSpPr>
        <p:sp>
          <p:nvSpPr>
            <p:cNvPr id="352" name="Google Shape;352;p21"/>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2f</a:t>
              </a:r>
              <a:endParaRPr/>
            </a:p>
          </p:txBody>
        </p:sp>
        <p:sp>
          <p:nvSpPr>
            <p:cNvPr id="353" name="Google Shape;353;p21"/>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7</a:t>
              </a:r>
              <a:endParaRPr/>
            </a:p>
          </p:txBody>
        </p:sp>
        <p:cxnSp>
          <p:nvCxnSpPr>
            <p:cNvPr id="354" name="Google Shape;354;p21"/>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55" name="Google Shape;355;p21"/>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56" name="Google Shape;356;p21"/>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57" name="Google Shape;357;p21"/>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58" name="Google Shape;358;p21"/>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359" name="Google Shape;359;p21"/>
          <p:cNvGrpSpPr/>
          <p:nvPr/>
        </p:nvGrpSpPr>
        <p:grpSpPr>
          <a:xfrm>
            <a:off x="4159250" y="3468687"/>
            <a:ext cx="1225550" cy="588962"/>
            <a:chOff x="3301" y="2341"/>
            <a:chExt cx="772" cy="371"/>
          </a:xfrm>
        </p:grpSpPr>
        <p:sp>
          <p:nvSpPr>
            <p:cNvPr id="360" name="Google Shape;360;p21"/>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3f</a:t>
              </a:r>
              <a:endParaRPr/>
            </a:p>
          </p:txBody>
        </p:sp>
        <p:sp>
          <p:nvSpPr>
            <p:cNvPr id="361" name="Google Shape;361;p21"/>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cxnSp>
          <p:nvCxnSpPr>
            <p:cNvPr id="362" name="Google Shape;362;p21"/>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63" name="Google Shape;363;p21"/>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64" name="Google Shape;364;p21"/>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65" name="Google Shape;365;p21"/>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66" name="Google Shape;366;p21"/>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367" name="Google Shape;367;p21"/>
          <p:cNvGrpSpPr/>
          <p:nvPr/>
        </p:nvGrpSpPr>
        <p:grpSpPr>
          <a:xfrm>
            <a:off x="5959475" y="3468687"/>
            <a:ext cx="1225550" cy="588962"/>
            <a:chOff x="3301" y="2341"/>
            <a:chExt cx="772" cy="371"/>
          </a:xfrm>
        </p:grpSpPr>
        <p:sp>
          <p:nvSpPr>
            <p:cNvPr id="368" name="Google Shape;368;p21"/>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4f</a:t>
              </a:r>
              <a:endParaRPr/>
            </a:p>
          </p:txBody>
        </p:sp>
        <p:sp>
          <p:nvSpPr>
            <p:cNvPr id="369" name="Google Shape;369;p21"/>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a:t>
              </a:r>
              <a:endParaRPr/>
            </a:p>
          </p:txBody>
        </p:sp>
        <p:cxnSp>
          <p:nvCxnSpPr>
            <p:cNvPr id="370" name="Google Shape;370;p21"/>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71" name="Google Shape;371;p21"/>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72" name="Google Shape;372;p21"/>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73" name="Google Shape;373;p21"/>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74" name="Google Shape;374;p21"/>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375" name="Google Shape;375;p21"/>
          <p:cNvGrpSpPr/>
          <p:nvPr/>
        </p:nvGrpSpPr>
        <p:grpSpPr>
          <a:xfrm>
            <a:off x="7689850" y="3481387"/>
            <a:ext cx="1225550" cy="588962"/>
            <a:chOff x="3301" y="2341"/>
            <a:chExt cx="772" cy="371"/>
          </a:xfrm>
        </p:grpSpPr>
        <p:sp>
          <p:nvSpPr>
            <p:cNvPr id="376" name="Google Shape;376;p21"/>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a:t>
              </a:r>
              <a:endParaRPr/>
            </a:p>
          </p:txBody>
        </p:sp>
        <p:sp>
          <p:nvSpPr>
            <p:cNvPr id="377" name="Google Shape;377;p21"/>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cxnSp>
          <p:nvCxnSpPr>
            <p:cNvPr id="378" name="Google Shape;378;p21"/>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79" name="Google Shape;379;p21"/>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380" name="Google Shape;380;p21"/>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81" name="Google Shape;381;p21"/>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382" name="Google Shape;382;p21"/>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cxnSp>
        <p:nvCxnSpPr>
          <p:cNvPr id="383" name="Google Shape;383;p21"/>
          <p:cNvCxnSpPr/>
          <p:nvPr/>
        </p:nvCxnSpPr>
        <p:spPr>
          <a:xfrm>
            <a:off x="3584575" y="37703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384" name="Google Shape;384;p21"/>
          <p:cNvCxnSpPr/>
          <p:nvPr/>
        </p:nvCxnSpPr>
        <p:spPr>
          <a:xfrm>
            <a:off x="5384800" y="37703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385" name="Google Shape;385;p21"/>
          <p:cNvCxnSpPr/>
          <p:nvPr/>
        </p:nvCxnSpPr>
        <p:spPr>
          <a:xfrm>
            <a:off x="7185025" y="37703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386" name="Google Shape;386;p21"/>
          <p:cNvCxnSpPr/>
          <p:nvPr/>
        </p:nvCxnSpPr>
        <p:spPr>
          <a:xfrm>
            <a:off x="8913812" y="3770312"/>
            <a:ext cx="533400" cy="0"/>
          </a:xfrm>
          <a:prstGeom prst="straightConnector1">
            <a:avLst/>
          </a:prstGeom>
          <a:noFill/>
          <a:ln cap="flat" cmpd="sng" w="76200">
            <a:solidFill>
              <a:srgbClr val="FF0000"/>
            </a:solidFill>
            <a:prstDash val="solid"/>
            <a:miter lim="800000"/>
            <a:headEnd len="med" w="med" type="none"/>
            <a:tailEnd len="med" w="med" type="stealth"/>
          </a:ln>
        </p:spPr>
      </p:cxnSp>
      <p:grpSp>
        <p:nvGrpSpPr>
          <p:cNvPr id="387" name="Google Shape;387;p21"/>
          <p:cNvGrpSpPr/>
          <p:nvPr/>
        </p:nvGrpSpPr>
        <p:grpSpPr>
          <a:xfrm>
            <a:off x="2284412" y="4057650"/>
            <a:ext cx="387350" cy="1100137"/>
            <a:chOff x="1439" y="1570"/>
            <a:chExt cx="244" cy="693"/>
          </a:xfrm>
        </p:grpSpPr>
        <p:cxnSp>
          <p:nvCxnSpPr>
            <p:cNvPr id="388" name="Google Shape;388;p21"/>
            <p:cNvCxnSpPr/>
            <p:nvPr/>
          </p:nvCxnSpPr>
          <p:spPr>
            <a:xfrm rot="10800000">
              <a:off x="1532" y="1570"/>
              <a:ext cx="0" cy="408"/>
            </a:xfrm>
            <a:prstGeom prst="straightConnector1">
              <a:avLst/>
            </a:prstGeom>
            <a:noFill/>
            <a:ln cap="flat" cmpd="sng" w="76200">
              <a:solidFill>
                <a:srgbClr val="FF0000"/>
              </a:solidFill>
              <a:prstDash val="solid"/>
              <a:miter lim="800000"/>
              <a:headEnd len="med" w="med" type="none"/>
              <a:tailEnd len="med" w="med" type="triangle"/>
            </a:ln>
          </p:spPr>
        </p:cxnSp>
        <p:sp>
          <p:nvSpPr>
            <p:cNvPr id="389" name="Google Shape;389;p21"/>
            <p:cNvSpPr txBox="1"/>
            <p:nvPr/>
          </p:nvSpPr>
          <p:spPr>
            <a:xfrm>
              <a:off x="1439" y="1975"/>
              <a:ext cx="24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P</a:t>
              </a:r>
              <a:endParaRPr/>
            </a:p>
          </p:txBody>
        </p:sp>
      </p:grpSp>
      <p:cxnSp>
        <p:nvCxnSpPr>
          <p:cNvPr id="390" name="Google Shape;390;p21"/>
          <p:cNvCxnSpPr/>
          <p:nvPr/>
        </p:nvCxnSpPr>
        <p:spPr>
          <a:xfrm flipH="1" rot="10800000">
            <a:off x="1352550" y="3768725"/>
            <a:ext cx="1008062" cy="1587"/>
          </a:xfrm>
          <a:prstGeom prst="straightConnector1">
            <a:avLst/>
          </a:prstGeom>
          <a:noFill/>
          <a:ln cap="flat" cmpd="sng" w="76200">
            <a:solidFill>
              <a:srgbClr val="FF0000"/>
            </a:solidFill>
            <a:prstDash val="solid"/>
            <a:miter lim="800000"/>
            <a:headEnd len="med" w="med" type="none"/>
            <a:tailEnd len="med" w="med" type="triangle"/>
          </a:ln>
        </p:spPr>
      </p:cxnSp>
      <p:sp>
        <p:nvSpPr>
          <p:cNvPr id="391" name="Google Shape;391;p21"/>
          <p:cNvSpPr txBox="1"/>
          <p:nvPr/>
        </p:nvSpPr>
        <p:spPr>
          <a:xfrm>
            <a:off x="631825" y="2827337"/>
            <a:ext cx="11509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pHead</a:t>
            </a:r>
            <a:endParaRPr/>
          </a:p>
        </p:txBody>
      </p:sp>
      <p:sp>
        <p:nvSpPr>
          <p:cNvPr id="392" name="Google Shape;392;p21"/>
          <p:cNvSpPr/>
          <p:nvPr/>
        </p:nvSpPr>
        <p:spPr>
          <a:xfrm>
            <a:off x="1136650" y="3625850"/>
            <a:ext cx="215900" cy="287337"/>
          </a:xfrm>
          <a:prstGeom prst="ellipse">
            <a:avLst/>
          </a:prstGeom>
          <a:solidFill>
            <a:srgbClr val="FF0000"/>
          </a:solidFill>
          <a:ln cap="flat" cmpd="sng" w="571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393" name="Google Shape;393;p21"/>
          <p:cNvGrpSpPr/>
          <p:nvPr/>
        </p:nvGrpSpPr>
        <p:grpSpPr>
          <a:xfrm>
            <a:off x="2576512" y="3338512"/>
            <a:ext cx="863600" cy="1008062"/>
            <a:chOff x="2122" y="2568"/>
            <a:chExt cx="453" cy="408"/>
          </a:xfrm>
        </p:grpSpPr>
        <p:cxnSp>
          <p:nvCxnSpPr>
            <p:cNvPr id="394" name="Google Shape;394;p21"/>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395" name="Google Shape;395;p21"/>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sp>
        <p:nvSpPr>
          <p:cNvPr id="396" name="Google Shape;396;p21"/>
          <p:cNvSpPr txBox="1"/>
          <p:nvPr/>
        </p:nvSpPr>
        <p:spPr>
          <a:xfrm>
            <a:off x="2289175" y="3068637"/>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1f</a:t>
            </a:r>
            <a:endParaRPr/>
          </a:p>
        </p:txBody>
      </p:sp>
      <p:sp>
        <p:nvSpPr>
          <p:cNvPr id="397" name="Google Shape;397;p21"/>
          <p:cNvSpPr txBox="1"/>
          <p:nvPr/>
        </p:nvSpPr>
        <p:spPr>
          <a:xfrm>
            <a:off x="4017962" y="2906712"/>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2f</a:t>
            </a:r>
            <a:endParaRPr/>
          </a:p>
        </p:txBody>
      </p:sp>
      <p:sp>
        <p:nvSpPr>
          <p:cNvPr id="398" name="Google Shape;398;p21"/>
          <p:cNvSpPr txBox="1"/>
          <p:nvPr/>
        </p:nvSpPr>
        <p:spPr>
          <a:xfrm>
            <a:off x="5816600" y="2978150"/>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3f</a:t>
            </a:r>
            <a:endParaRPr/>
          </a:p>
        </p:txBody>
      </p:sp>
      <p:sp>
        <p:nvSpPr>
          <p:cNvPr id="399" name="Google Shape;399;p21"/>
          <p:cNvSpPr txBox="1"/>
          <p:nvPr/>
        </p:nvSpPr>
        <p:spPr>
          <a:xfrm>
            <a:off x="7545387" y="3049587"/>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4f</a:t>
            </a:r>
            <a:endParaRPr/>
          </a:p>
        </p:txBody>
      </p:sp>
      <p:sp>
        <p:nvSpPr>
          <p:cNvPr id="400" name="Google Shape;400;p21"/>
          <p:cNvSpPr/>
          <p:nvPr/>
        </p:nvSpPr>
        <p:spPr>
          <a:xfrm>
            <a:off x="1281112" y="3013075"/>
            <a:ext cx="3167062" cy="612775"/>
          </a:xfrm>
          <a:custGeom>
            <a:rect b="b" l="l" r="r" t="t"/>
            <a:pathLst>
              <a:path extrusionOk="0" h="386" w="1995">
                <a:moveTo>
                  <a:pt x="0" y="386"/>
                </a:moveTo>
                <a:cubicBezTo>
                  <a:pt x="45" y="322"/>
                  <a:pt x="90" y="258"/>
                  <a:pt x="181" y="205"/>
                </a:cubicBezTo>
                <a:cubicBezTo>
                  <a:pt x="272" y="152"/>
                  <a:pt x="415" y="99"/>
                  <a:pt x="544" y="69"/>
                </a:cubicBezTo>
                <a:cubicBezTo>
                  <a:pt x="673" y="39"/>
                  <a:pt x="808" y="31"/>
                  <a:pt x="952" y="23"/>
                </a:cubicBezTo>
                <a:cubicBezTo>
                  <a:pt x="1096" y="15"/>
                  <a:pt x="1270" y="0"/>
                  <a:pt x="1406" y="23"/>
                </a:cubicBezTo>
                <a:cubicBezTo>
                  <a:pt x="1542" y="46"/>
                  <a:pt x="1671" y="114"/>
                  <a:pt x="1769" y="159"/>
                </a:cubicBezTo>
                <a:cubicBezTo>
                  <a:pt x="1867" y="204"/>
                  <a:pt x="1931" y="249"/>
                  <a:pt x="1995" y="295"/>
                </a:cubicBezTo>
              </a:path>
            </a:pathLst>
          </a:custGeom>
          <a:noFill/>
          <a:ln cap="flat" cmpd="sng" w="762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01" name="Google Shape;401;p21"/>
          <p:cNvCxnSpPr/>
          <p:nvPr/>
        </p:nvCxnSpPr>
        <p:spPr>
          <a:xfrm flipH="1" rot="10800000">
            <a:off x="1352550" y="3775075"/>
            <a:ext cx="1008062" cy="1587"/>
          </a:xfrm>
          <a:prstGeom prst="straightConnector1">
            <a:avLst/>
          </a:prstGeom>
          <a:noFill/>
          <a:ln cap="rnd" cmpd="sng" w="76200">
            <a:solidFill>
              <a:srgbClr val="FF0000"/>
            </a:solidFill>
            <a:prstDash val="solid"/>
            <a:miter lim="800000"/>
            <a:headEnd len="med" w="med" type="none"/>
            <a:tailEnd len="med" w="med" type="triangle"/>
          </a:ln>
        </p:spPr>
      </p:cxnSp>
      <p:sp>
        <p:nvSpPr>
          <p:cNvPr id="402" name="Google Shape;402;p21"/>
          <p:cNvSpPr txBox="1"/>
          <p:nvPr/>
        </p:nvSpPr>
        <p:spPr>
          <a:xfrm>
            <a:off x="2936875" y="4418012"/>
            <a:ext cx="14398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P=pHead</a:t>
            </a:r>
            <a:endParaRPr/>
          </a:p>
        </p:txBody>
      </p:sp>
      <p:sp>
        <p:nvSpPr>
          <p:cNvPr id="403" name="Google Shape;403;p21"/>
          <p:cNvSpPr txBox="1"/>
          <p:nvPr/>
        </p:nvSpPr>
        <p:spPr>
          <a:xfrm>
            <a:off x="1855787" y="2509837"/>
            <a:ext cx="28813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pHead=pHead-&gt;pNext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2000"/>
                                        <p:tgtEl>
                                          <p:spTgt spid="40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20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2000"/>
                                        <p:tgtEl>
                                          <p:spTgt spid="403"/>
                                        </p:tgtEl>
                                      </p:cBhvr>
                                    </p:animEffect>
                                  </p:childTnLst>
                                </p:cTn>
                              </p:par>
                              <p:par>
                                <p:cTn fill="hold" nodeType="withEffect" presetClass="exit" presetID="10" presetSubtype="0">
                                  <p:stCondLst>
                                    <p:cond delay="0"/>
                                  </p:stCondLst>
                                  <p:childTnLst>
                                    <p:animEffect filter="fade" transition="out">
                                      <p:cBhvr>
                                        <p:cTn dur="500"/>
                                        <p:tgtEl>
                                          <p:spTgt spid="390"/>
                                        </p:tgtEl>
                                      </p:cBhvr>
                                    </p:animEffect>
                                    <p:set>
                                      <p:cBhvr>
                                        <p:cTn dur="1" fill="hold">
                                          <p:stCondLst>
                                            <p:cond delay="500"/>
                                          </p:stCondLst>
                                        </p:cTn>
                                        <p:tgtEl>
                                          <p:spTgt spid="39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Hủy phần tử sau phần tử q trong List</a:t>
            </a:r>
            <a:endParaRPr/>
          </a:p>
        </p:txBody>
      </p:sp>
      <p:sp>
        <p:nvSpPr>
          <p:cNvPr id="409" name="Google Shape;409;p22"/>
          <p:cNvSpPr txBox="1"/>
          <p:nvPr>
            <p:ph idx="1" type="body"/>
          </p:nvPr>
        </p:nvSpPr>
        <p:spPr>
          <a:xfrm>
            <a:off x="1065212" y="1196975"/>
            <a:ext cx="8840700" cy="51117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Bắt đầu</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Nếu (q!=NULL) thì </a:t>
            </a:r>
            <a:r>
              <a:rPr b="0" i="0" lang="en-US" sz="2000" u="none">
                <a:solidFill>
                  <a:schemeClr val="dk1"/>
                </a:solidFill>
                <a:latin typeface="Arial"/>
                <a:ea typeface="Arial"/>
                <a:cs typeface="Arial"/>
                <a:sym typeface="Arial"/>
              </a:rPr>
              <a:t>//q tồn tại trong List</a:t>
            </a:r>
            <a:endParaRPr/>
          </a:p>
          <a:p>
            <a:pPr indent="-285750" lvl="1" marL="742950" rtl="0" algn="l">
              <a:lnSpc>
                <a:spcPct val="12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B1</a:t>
            </a:r>
            <a:r>
              <a:rPr b="0" i="0" lang="en-US" sz="2400" u="none">
                <a:solidFill>
                  <a:schemeClr val="dk1"/>
                </a:solidFill>
                <a:latin typeface="Arial"/>
                <a:ea typeface="Arial"/>
                <a:cs typeface="Arial"/>
                <a:sym typeface="Arial"/>
              </a:rPr>
              <a:t>: p=q-&gt;pNext;</a:t>
            </a:r>
            <a:r>
              <a:rPr b="0" i="0" lang="en-US" sz="2000" u="none">
                <a:solidFill>
                  <a:schemeClr val="dk1"/>
                </a:solidFill>
                <a:latin typeface="Arial"/>
                <a:ea typeface="Arial"/>
                <a:cs typeface="Arial"/>
                <a:sym typeface="Arial"/>
              </a:rPr>
              <a:t>// p là phần tử cần hủy</a:t>
            </a:r>
            <a:endParaRPr/>
          </a:p>
          <a:p>
            <a:pPr indent="-285750" lvl="1" marL="742950" rtl="0" algn="l">
              <a:lnSpc>
                <a:spcPct val="12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B2</a:t>
            </a:r>
            <a:r>
              <a:rPr b="0" i="0" lang="en-US" sz="2400" u="none">
                <a:solidFill>
                  <a:schemeClr val="dk1"/>
                </a:solidFill>
                <a:latin typeface="Arial"/>
                <a:ea typeface="Arial"/>
                <a:cs typeface="Arial"/>
                <a:sym typeface="Arial"/>
              </a:rPr>
              <a:t>: Nếu (p!=NULL) thì </a:t>
            </a:r>
            <a:r>
              <a:rPr b="0" i="0" lang="en-US" sz="2000" u="none">
                <a:solidFill>
                  <a:schemeClr val="dk1"/>
                </a:solidFill>
                <a:latin typeface="Arial"/>
                <a:ea typeface="Arial"/>
                <a:cs typeface="Arial"/>
                <a:sym typeface="Arial"/>
              </a:rPr>
              <a:t>// q không phải là phần tử cuối</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q-&gt;pNext=p-&gt;pNext;</a:t>
            </a:r>
            <a:r>
              <a:rPr b="0" i="0" lang="en-US" sz="2000" u="none">
                <a:solidFill>
                  <a:schemeClr val="dk1"/>
                </a:solidFill>
                <a:latin typeface="Arial"/>
                <a:ea typeface="Arial"/>
                <a:cs typeface="Arial"/>
                <a:sym typeface="Arial"/>
              </a:rPr>
              <a:t>// tách p ra khỏi xâu</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nếu (p== pTail) </a:t>
            </a:r>
            <a:r>
              <a:rPr b="0" i="0" lang="en-US" sz="2000" u="none">
                <a:solidFill>
                  <a:schemeClr val="dk1"/>
                </a:solidFill>
                <a:latin typeface="Arial"/>
                <a:ea typeface="Arial"/>
                <a:cs typeface="Arial"/>
                <a:sym typeface="Arial"/>
              </a:rPr>
              <a:t>// nút cần hủy là nút cuối</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pTail=q;</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delete p;// hủy p</a:t>
            </a:r>
            <a:endParaRPr/>
          </a:p>
          <a:p>
            <a:pPr indent="-285750" lvl="1" marL="742950" rtl="0" algn="l">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3"/>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 </a:t>
            </a:r>
            <a:endParaRPr/>
          </a:p>
        </p:txBody>
      </p:sp>
      <p:sp>
        <p:nvSpPr>
          <p:cNvPr id="415" name="Google Shape;415;p23"/>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RemoveAfterQ(</a:t>
            </a:r>
            <a:r>
              <a:rPr b="0" i="0" lang="en-US" sz="2800" u="none">
                <a:solidFill>
                  <a:srgbClr val="0000FF"/>
                </a:solidFill>
                <a:latin typeface="Arial"/>
                <a:ea typeface="Arial"/>
                <a:cs typeface="Arial"/>
                <a:sym typeface="Arial"/>
              </a:rPr>
              <a:t>List </a:t>
            </a:r>
            <a:r>
              <a:rPr b="0" i="0" lang="en-US" sz="2800" u="none">
                <a:solidFill>
                  <a:schemeClr val="dk1"/>
                </a:solidFill>
                <a:latin typeface="Arial"/>
                <a:ea typeface="Arial"/>
                <a:cs typeface="Arial"/>
                <a:sym typeface="Arial"/>
              </a:rPr>
              <a:t>&amp;l,</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*q,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&amp;x)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Node *p;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(q!=NULL)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p=q-&gt;pNext; </a:t>
            </a:r>
            <a:r>
              <a:rPr b="0" i="0" lang="en-US" sz="2400" u="none">
                <a:solidFill>
                  <a:schemeClr val="dk1"/>
                </a:solidFill>
                <a:latin typeface="Arial"/>
                <a:ea typeface="Arial"/>
                <a:cs typeface="Arial"/>
                <a:sym typeface="Arial"/>
              </a:rPr>
              <a:t>//p l</a:t>
            </a:r>
            <a:r>
              <a:rPr b="0" i="0" lang="en-US" sz="2000" u="none">
                <a:solidFill>
                  <a:schemeClr val="dk1"/>
                </a:solidFill>
                <a:latin typeface="Arial"/>
                <a:ea typeface="Arial"/>
                <a:cs typeface="Arial"/>
                <a:sym typeface="Arial"/>
              </a:rPr>
              <a:t>à nút cần xoá</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(p!=NULL) </a:t>
            </a:r>
            <a:r>
              <a:rPr b="0" i="0" lang="en-US" sz="2400" u="none">
                <a:solidFill>
                  <a:schemeClr val="dk1"/>
                </a:solidFill>
                <a:latin typeface="Arial"/>
                <a:ea typeface="Arial"/>
                <a:cs typeface="Arial"/>
                <a:sym typeface="Arial"/>
              </a:rPr>
              <a:t>// q kh</a:t>
            </a:r>
            <a:r>
              <a:rPr b="0" i="0" lang="en-US" sz="2000" u="none">
                <a:solidFill>
                  <a:schemeClr val="dk1"/>
                </a:solidFill>
                <a:latin typeface="Arial"/>
                <a:ea typeface="Arial"/>
                <a:cs typeface="Arial"/>
                <a:sym typeface="Arial"/>
              </a:rPr>
              <a:t>ông phài là nút cuối</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(p==l.pTail) </a:t>
            </a:r>
            <a:r>
              <a:rPr b="0" i="0" lang="en-US" sz="2400" u="none">
                <a:solidFill>
                  <a:schemeClr val="dk1"/>
                </a:solidFill>
                <a:latin typeface="Arial"/>
                <a:ea typeface="Arial"/>
                <a:cs typeface="Arial"/>
                <a:sym typeface="Arial"/>
              </a:rPr>
              <a:t>//n</a:t>
            </a:r>
            <a:r>
              <a:rPr b="0" i="0" lang="en-US" sz="2000" u="none">
                <a:solidFill>
                  <a:schemeClr val="dk1"/>
                </a:solidFill>
                <a:latin typeface="Arial"/>
                <a:ea typeface="Arial"/>
                <a:cs typeface="Arial"/>
                <a:sym typeface="Arial"/>
              </a:rPr>
              <a:t>út cần xoá là nút cuối cùng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l.pTail=q;</a:t>
            </a:r>
            <a:r>
              <a:rPr b="0" i="0" lang="en-US" sz="2400" u="none">
                <a:solidFill>
                  <a:schemeClr val="dk1"/>
                </a:solidFill>
                <a:latin typeface="Arial"/>
                <a:ea typeface="Arial"/>
                <a:cs typeface="Arial"/>
                <a:sym typeface="Arial"/>
              </a:rPr>
              <a:t>// c</a:t>
            </a:r>
            <a:r>
              <a:rPr b="0" i="0" lang="en-US" sz="2000" u="none">
                <a:solidFill>
                  <a:schemeClr val="dk1"/>
                </a:solidFill>
                <a:latin typeface="Arial"/>
                <a:ea typeface="Arial"/>
                <a:cs typeface="Arial"/>
                <a:sym typeface="Arial"/>
              </a:rPr>
              <a:t>ập nhật lạ pTail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q-&gt;pNext=p-&gt;pNext; x=p-&gt;Info;</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delete</a:t>
            </a:r>
            <a:r>
              <a:rPr b="0" i="0" lang="en-US" sz="2800" u="none">
                <a:solidFill>
                  <a:schemeClr val="dk1"/>
                </a:solidFill>
                <a:latin typeface="Arial"/>
                <a:ea typeface="Arial"/>
                <a:cs typeface="Arial"/>
                <a:sym typeface="Arial"/>
              </a:rPr>
              <a:t> 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else</a:t>
            </a: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0;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a:t>
            </a:r>
            <a:endParaRPr/>
          </a:p>
        </p:txBody>
      </p:sp>
      <p:grpSp>
        <p:nvGrpSpPr>
          <p:cNvPr id="421" name="Google Shape;421;p24"/>
          <p:cNvGrpSpPr/>
          <p:nvPr/>
        </p:nvGrpSpPr>
        <p:grpSpPr>
          <a:xfrm>
            <a:off x="2576512" y="3125787"/>
            <a:ext cx="1225550" cy="588962"/>
            <a:chOff x="3301" y="2341"/>
            <a:chExt cx="772" cy="371"/>
          </a:xfrm>
        </p:grpSpPr>
        <p:sp>
          <p:nvSpPr>
            <p:cNvPr id="422" name="Google Shape;422;p24"/>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2f</a:t>
              </a:r>
              <a:endParaRPr/>
            </a:p>
          </p:txBody>
        </p:sp>
        <p:sp>
          <p:nvSpPr>
            <p:cNvPr id="423" name="Google Shape;423;p24"/>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7</a:t>
              </a:r>
              <a:endParaRPr/>
            </a:p>
          </p:txBody>
        </p:sp>
        <p:cxnSp>
          <p:nvCxnSpPr>
            <p:cNvPr id="424" name="Google Shape;424;p24"/>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25" name="Google Shape;425;p24"/>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26" name="Google Shape;426;p24"/>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27" name="Google Shape;427;p24"/>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28" name="Google Shape;428;p24"/>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429" name="Google Shape;429;p24"/>
          <p:cNvGrpSpPr/>
          <p:nvPr/>
        </p:nvGrpSpPr>
        <p:grpSpPr>
          <a:xfrm>
            <a:off x="4305300" y="3125787"/>
            <a:ext cx="1225550" cy="588962"/>
            <a:chOff x="3301" y="2341"/>
            <a:chExt cx="772" cy="371"/>
          </a:xfrm>
        </p:grpSpPr>
        <p:sp>
          <p:nvSpPr>
            <p:cNvPr id="430" name="Google Shape;430;p24"/>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1" name="Google Shape;431;p24"/>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cxnSp>
          <p:nvCxnSpPr>
            <p:cNvPr id="432" name="Google Shape;432;p24"/>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33" name="Google Shape;433;p24"/>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34" name="Google Shape;434;p24"/>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35" name="Google Shape;435;p24"/>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36" name="Google Shape;436;p24"/>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437" name="Google Shape;437;p24"/>
          <p:cNvGrpSpPr/>
          <p:nvPr/>
        </p:nvGrpSpPr>
        <p:grpSpPr>
          <a:xfrm>
            <a:off x="6175375" y="3125787"/>
            <a:ext cx="1225550" cy="588962"/>
            <a:chOff x="3301" y="2341"/>
            <a:chExt cx="772" cy="371"/>
          </a:xfrm>
        </p:grpSpPr>
        <p:sp>
          <p:nvSpPr>
            <p:cNvPr id="438" name="Google Shape;438;p24"/>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4f</a:t>
              </a:r>
              <a:endParaRPr/>
            </a:p>
          </p:txBody>
        </p:sp>
        <p:sp>
          <p:nvSpPr>
            <p:cNvPr id="439" name="Google Shape;439;p24"/>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a:t>
              </a:r>
              <a:endParaRPr/>
            </a:p>
          </p:txBody>
        </p:sp>
        <p:cxnSp>
          <p:nvCxnSpPr>
            <p:cNvPr id="440" name="Google Shape;440;p24"/>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41" name="Google Shape;441;p24"/>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42" name="Google Shape;442;p24"/>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43" name="Google Shape;443;p24"/>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44" name="Google Shape;444;p24"/>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445" name="Google Shape;445;p24"/>
          <p:cNvGrpSpPr/>
          <p:nvPr/>
        </p:nvGrpSpPr>
        <p:grpSpPr>
          <a:xfrm>
            <a:off x="7905750" y="3138487"/>
            <a:ext cx="1225550" cy="588962"/>
            <a:chOff x="3301" y="2341"/>
            <a:chExt cx="772" cy="371"/>
          </a:xfrm>
        </p:grpSpPr>
        <p:sp>
          <p:nvSpPr>
            <p:cNvPr id="446" name="Google Shape;446;p24"/>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a:t>
              </a:r>
              <a:endParaRPr/>
            </a:p>
          </p:txBody>
        </p:sp>
        <p:sp>
          <p:nvSpPr>
            <p:cNvPr id="447" name="Google Shape;447;p24"/>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cxnSp>
          <p:nvCxnSpPr>
            <p:cNvPr id="448" name="Google Shape;448;p24"/>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49" name="Google Shape;449;p24"/>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450" name="Google Shape;450;p24"/>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51" name="Google Shape;451;p24"/>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452" name="Google Shape;452;p24"/>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cxnSp>
        <p:nvCxnSpPr>
          <p:cNvPr id="453" name="Google Shape;453;p24"/>
          <p:cNvCxnSpPr/>
          <p:nvPr/>
        </p:nvCxnSpPr>
        <p:spPr>
          <a:xfrm>
            <a:off x="3800475" y="34274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454" name="Google Shape;454;p24"/>
          <p:cNvCxnSpPr/>
          <p:nvPr/>
        </p:nvCxnSpPr>
        <p:spPr>
          <a:xfrm>
            <a:off x="5529262" y="3390900"/>
            <a:ext cx="6477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455" name="Google Shape;455;p24"/>
          <p:cNvCxnSpPr/>
          <p:nvPr/>
        </p:nvCxnSpPr>
        <p:spPr>
          <a:xfrm>
            <a:off x="7400925" y="34274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456" name="Google Shape;456;p24"/>
          <p:cNvCxnSpPr/>
          <p:nvPr/>
        </p:nvCxnSpPr>
        <p:spPr>
          <a:xfrm>
            <a:off x="9129712" y="3427412"/>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457" name="Google Shape;457;p24"/>
          <p:cNvCxnSpPr/>
          <p:nvPr/>
        </p:nvCxnSpPr>
        <p:spPr>
          <a:xfrm flipH="1" rot="10800000">
            <a:off x="1568450" y="3425825"/>
            <a:ext cx="1008062" cy="1587"/>
          </a:xfrm>
          <a:prstGeom prst="straightConnector1">
            <a:avLst/>
          </a:prstGeom>
          <a:noFill/>
          <a:ln cap="flat" cmpd="sng" w="76200">
            <a:solidFill>
              <a:srgbClr val="FF0000"/>
            </a:solidFill>
            <a:prstDash val="solid"/>
            <a:miter lim="800000"/>
            <a:headEnd len="med" w="med" type="none"/>
            <a:tailEnd len="med" w="med" type="triangle"/>
          </a:ln>
        </p:spPr>
      </p:cxnSp>
      <p:sp>
        <p:nvSpPr>
          <p:cNvPr id="458" name="Google Shape;458;p24"/>
          <p:cNvSpPr/>
          <p:nvPr/>
        </p:nvSpPr>
        <p:spPr>
          <a:xfrm>
            <a:off x="1352550" y="3282950"/>
            <a:ext cx="215900" cy="287337"/>
          </a:xfrm>
          <a:prstGeom prst="ellipse">
            <a:avLst/>
          </a:prstGeom>
          <a:solidFill>
            <a:srgbClr val="FF0000"/>
          </a:solidFill>
          <a:ln cap="flat" cmpd="sng" w="571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59" name="Google Shape;459;p24"/>
          <p:cNvGrpSpPr/>
          <p:nvPr/>
        </p:nvGrpSpPr>
        <p:grpSpPr>
          <a:xfrm>
            <a:off x="6392862" y="2936875"/>
            <a:ext cx="863600" cy="1008062"/>
            <a:chOff x="2122" y="2568"/>
            <a:chExt cx="453" cy="408"/>
          </a:xfrm>
        </p:grpSpPr>
        <p:cxnSp>
          <p:nvCxnSpPr>
            <p:cNvPr id="460" name="Google Shape;460;p24"/>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461" name="Google Shape;461;p24"/>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sp>
        <p:nvSpPr>
          <p:cNvPr id="462" name="Google Shape;462;p24"/>
          <p:cNvSpPr txBox="1"/>
          <p:nvPr/>
        </p:nvSpPr>
        <p:spPr>
          <a:xfrm>
            <a:off x="2505075" y="2725737"/>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1f</a:t>
            </a:r>
            <a:endParaRPr/>
          </a:p>
        </p:txBody>
      </p:sp>
      <p:sp>
        <p:nvSpPr>
          <p:cNvPr id="463" name="Google Shape;463;p24"/>
          <p:cNvSpPr txBox="1"/>
          <p:nvPr/>
        </p:nvSpPr>
        <p:spPr>
          <a:xfrm>
            <a:off x="4233862" y="2563812"/>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2f</a:t>
            </a:r>
            <a:endParaRPr/>
          </a:p>
        </p:txBody>
      </p:sp>
      <p:sp>
        <p:nvSpPr>
          <p:cNvPr id="464" name="Google Shape;464;p24"/>
          <p:cNvSpPr txBox="1"/>
          <p:nvPr/>
        </p:nvSpPr>
        <p:spPr>
          <a:xfrm>
            <a:off x="6032500" y="2635250"/>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3f</a:t>
            </a:r>
            <a:endParaRPr/>
          </a:p>
        </p:txBody>
      </p:sp>
      <p:sp>
        <p:nvSpPr>
          <p:cNvPr id="465" name="Google Shape;465;p24"/>
          <p:cNvSpPr txBox="1"/>
          <p:nvPr/>
        </p:nvSpPr>
        <p:spPr>
          <a:xfrm>
            <a:off x="7761287" y="2706687"/>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4f</a:t>
            </a:r>
            <a:endParaRPr/>
          </a:p>
        </p:txBody>
      </p:sp>
      <p:sp>
        <p:nvSpPr>
          <p:cNvPr id="466" name="Google Shape;466;p24"/>
          <p:cNvSpPr txBox="1"/>
          <p:nvPr/>
        </p:nvSpPr>
        <p:spPr>
          <a:xfrm>
            <a:off x="4376737" y="2214562"/>
            <a:ext cx="504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q</a:t>
            </a:r>
            <a:endParaRPr/>
          </a:p>
        </p:txBody>
      </p:sp>
      <p:sp>
        <p:nvSpPr>
          <p:cNvPr id="467" name="Google Shape;467;p24"/>
          <p:cNvSpPr txBox="1"/>
          <p:nvPr/>
        </p:nvSpPr>
        <p:spPr>
          <a:xfrm>
            <a:off x="5024437" y="3175000"/>
            <a:ext cx="57626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sp>
        <p:nvSpPr>
          <p:cNvPr id="468" name="Google Shape;468;p24"/>
          <p:cNvSpPr txBox="1"/>
          <p:nvPr/>
        </p:nvSpPr>
        <p:spPr>
          <a:xfrm>
            <a:off x="5024437" y="3175000"/>
            <a:ext cx="455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04A0E"/>
              </a:buClr>
              <a:buSzPts val="2400"/>
              <a:buFont typeface="Arial"/>
              <a:buNone/>
            </a:pPr>
            <a:r>
              <a:rPr b="1" i="0" lang="en-US" sz="2400" u="none">
                <a:solidFill>
                  <a:srgbClr val="E04A0E"/>
                </a:solidFill>
                <a:latin typeface="Arial"/>
                <a:ea typeface="Arial"/>
                <a:cs typeface="Arial"/>
                <a:sym typeface="Arial"/>
              </a:rPr>
              <a:t>4f</a:t>
            </a:r>
            <a:endParaRPr/>
          </a:p>
        </p:txBody>
      </p:sp>
      <p:sp>
        <p:nvSpPr>
          <p:cNvPr id="469" name="Google Shape;469;p24"/>
          <p:cNvSpPr/>
          <p:nvPr/>
        </p:nvSpPr>
        <p:spPr>
          <a:xfrm>
            <a:off x="5524500" y="3390900"/>
            <a:ext cx="2808287" cy="889000"/>
          </a:xfrm>
          <a:custGeom>
            <a:rect b="b" l="l" r="r" t="t"/>
            <a:pathLst>
              <a:path extrusionOk="0" h="560" w="1769">
                <a:moveTo>
                  <a:pt x="0" y="0"/>
                </a:moveTo>
                <a:cubicBezTo>
                  <a:pt x="102" y="95"/>
                  <a:pt x="205" y="190"/>
                  <a:pt x="318" y="273"/>
                </a:cubicBezTo>
                <a:cubicBezTo>
                  <a:pt x="431" y="356"/>
                  <a:pt x="530" y="454"/>
                  <a:pt x="681" y="499"/>
                </a:cubicBezTo>
                <a:cubicBezTo>
                  <a:pt x="832" y="544"/>
                  <a:pt x="1074" y="560"/>
                  <a:pt x="1225" y="545"/>
                </a:cubicBezTo>
                <a:cubicBezTo>
                  <a:pt x="1376" y="530"/>
                  <a:pt x="1497" y="462"/>
                  <a:pt x="1588" y="409"/>
                </a:cubicBezTo>
                <a:cubicBezTo>
                  <a:pt x="1679" y="356"/>
                  <a:pt x="1724" y="291"/>
                  <a:pt x="1769" y="227"/>
                </a:cubicBezTo>
              </a:path>
            </a:pathLst>
          </a:custGeom>
          <a:noFill/>
          <a:ln cap="flat" cmpd="sng" w="762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70" name="Google Shape;470;p24"/>
          <p:cNvCxnSpPr/>
          <p:nvPr/>
        </p:nvCxnSpPr>
        <p:spPr>
          <a:xfrm>
            <a:off x="5529262" y="3390900"/>
            <a:ext cx="647700" cy="0"/>
          </a:xfrm>
          <a:prstGeom prst="straightConnector1">
            <a:avLst/>
          </a:prstGeom>
          <a:noFill/>
          <a:ln cap="rnd" cmpd="sng" w="76200">
            <a:solidFill>
              <a:srgbClr val="FF0000"/>
            </a:solidFill>
            <a:prstDash val="solid"/>
            <a:miter lim="800000"/>
            <a:headEnd len="med" w="med" type="none"/>
            <a:tailEnd len="med" w="med" type="stealth"/>
          </a:ln>
        </p:spPr>
      </p:cxnSp>
      <p:sp>
        <p:nvSpPr>
          <p:cNvPr id="471" name="Google Shape;471;p24"/>
          <p:cNvSpPr/>
          <p:nvPr/>
        </p:nvSpPr>
        <p:spPr>
          <a:xfrm>
            <a:off x="4737100" y="2541587"/>
            <a:ext cx="287337" cy="576262"/>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72" name="Google Shape;472;p24"/>
          <p:cNvGrpSpPr/>
          <p:nvPr/>
        </p:nvGrpSpPr>
        <p:grpSpPr>
          <a:xfrm>
            <a:off x="6392862" y="2166937"/>
            <a:ext cx="576262" cy="936625"/>
            <a:chOff x="4027" y="1071"/>
            <a:chExt cx="363" cy="590"/>
          </a:xfrm>
        </p:grpSpPr>
        <p:sp>
          <p:nvSpPr>
            <p:cNvPr id="473" name="Google Shape;473;p24"/>
            <p:cNvSpPr txBox="1"/>
            <p:nvPr/>
          </p:nvSpPr>
          <p:spPr>
            <a:xfrm>
              <a:off x="4027" y="1071"/>
              <a:ext cx="363"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a:t>
              </a:r>
              <a:endParaRPr/>
            </a:p>
          </p:txBody>
        </p:sp>
        <p:sp>
          <p:nvSpPr>
            <p:cNvPr id="474" name="Google Shape;474;p24"/>
            <p:cNvSpPr/>
            <p:nvPr/>
          </p:nvSpPr>
          <p:spPr>
            <a:xfrm>
              <a:off x="4209" y="1298"/>
              <a:ext cx="181" cy="363"/>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75" name="Google Shape;475;p24"/>
          <p:cNvSpPr txBox="1"/>
          <p:nvPr/>
        </p:nvSpPr>
        <p:spPr>
          <a:xfrm>
            <a:off x="4972050" y="2024062"/>
            <a:ext cx="17287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p=q-&gt;pNext</a:t>
            </a:r>
            <a:endParaRPr/>
          </a:p>
        </p:txBody>
      </p:sp>
      <p:sp>
        <p:nvSpPr>
          <p:cNvPr id="476" name="Google Shape;476;p24"/>
          <p:cNvSpPr txBox="1"/>
          <p:nvPr/>
        </p:nvSpPr>
        <p:spPr>
          <a:xfrm>
            <a:off x="5673725" y="4400550"/>
            <a:ext cx="25923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q-&gt;pNext=p-&gt;pNext</a:t>
            </a:r>
            <a:endParaRPr/>
          </a:p>
        </p:txBody>
      </p:sp>
      <p:sp>
        <p:nvSpPr>
          <p:cNvPr id="477" name="Google Shape;477;p24"/>
          <p:cNvSpPr txBox="1"/>
          <p:nvPr/>
        </p:nvSpPr>
        <p:spPr>
          <a:xfrm>
            <a:off x="920750" y="2706687"/>
            <a:ext cx="11525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pHead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2000"/>
                                        <p:tgtEl>
                                          <p:spTgt spid="47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2000"/>
                                        <p:tgtEl>
                                          <p:spTgt spid="47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2000"/>
                                        <p:tgtEl>
                                          <p:spTgt spid="469"/>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2000"/>
                                        <p:tgtEl>
                                          <p:spTgt spid="468"/>
                                        </p:tgtEl>
                                      </p:cBhvr>
                                    </p:animEffect>
                                  </p:childTnLst>
                                </p:cTn>
                              </p:par>
                            </p:childTnLst>
                          </p:cTn>
                        </p:par>
                        <p:par>
                          <p:cTn fill="hold">
                            <p:stCondLst>
                              <p:cond delay="8000"/>
                            </p:stCondLst>
                            <p:childTnLst>
                              <p:par>
                                <p:cTn fill="hold" nodeType="afterEffect" presetClass="exit" presetID="10" presetSubtype="0">
                                  <p:stCondLst>
                                    <p:cond delay="0"/>
                                  </p:stCondLst>
                                  <p:childTnLst>
                                    <p:animEffect filter="fade" transition="out">
                                      <p:cBhvr>
                                        <p:cTn dur="500"/>
                                        <p:tgtEl>
                                          <p:spTgt spid="467"/>
                                        </p:tgtEl>
                                      </p:cBhvr>
                                    </p:animEffect>
                                    <p:set>
                                      <p:cBhvr>
                                        <p:cTn dur="1" fill="hold">
                                          <p:stCondLst>
                                            <p:cond delay="500"/>
                                          </p:stCondLst>
                                        </p:cTn>
                                        <p:tgtEl>
                                          <p:spTgt spid="467"/>
                                        </p:tgtEl>
                                        <p:attrNameLst>
                                          <p:attrName>style.visibility</p:attrName>
                                        </p:attrNameLst>
                                      </p:cBhvr>
                                      <p:to>
                                        <p:strVal val="hidden"/>
                                      </p:to>
                                    </p:set>
                                  </p:childTnLst>
                                </p:cTn>
                              </p:par>
                            </p:childTnLst>
                          </p:cTn>
                        </p:par>
                        <p:par>
                          <p:cTn fill="hold">
                            <p:stCondLst>
                              <p:cond delay="8500"/>
                            </p:stCondLst>
                            <p:childTnLst>
                              <p:par>
                                <p:cTn fill="hold" nodeType="afterEffect" presetClass="exit" presetID="10" presetSubtype="0">
                                  <p:stCondLst>
                                    <p:cond delay="0"/>
                                  </p:stCondLst>
                                  <p:childTnLst>
                                    <p:animEffect filter="fade" transition="out">
                                      <p:cBhvr>
                                        <p:cTn dur="500"/>
                                        <p:tgtEl>
                                          <p:spTgt spid="454"/>
                                        </p:tgtEl>
                                      </p:cBhvr>
                                    </p:animEffect>
                                    <p:set>
                                      <p:cBhvr>
                                        <p:cTn dur="1" fill="hold">
                                          <p:stCondLst>
                                            <p:cond delay="500"/>
                                          </p:stCondLst>
                                        </p:cTn>
                                        <p:tgtEl>
                                          <p:spTgt spid="4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hủy phần tử có khoá x</a:t>
            </a:r>
            <a:endParaRPr/>
          </a:p>
        </p:txBody>
      </p:sp>
      <p:sp>
        <p:nvSpPr>
          <p:cNvPr id="483" name="Google Shape;483;p25"/>
          <p:cNvSpPr txBox="1"/>
          <p:nvPr>
            <p:ph idx="1" type="body"/>
          </p:nvPr>
        </p:nvSpPr>
        <p:spPr>
          <a:xfrm>
            <a:off x="704862" y="765175"/>
            <a:ext cx="9129600" cy="62373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None/>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Tìm phần tử p có khoá bằng x, và q đứng trước p</a:t>
            </a:r>
            <a:endParaRPr/>
          </a:p>
          <a:p>
            <a:pPr indent="-342900" lvl="0" marL="342900" rtl="0" algn="l">
              <a:lnSpc>
                <a:spcPct val="120000"/>
              </a:lnSpc>
              <a:spcBef>
                <a:spcPts val="560"/>
              </a:spcBef>
              <a:spcAft>
                <a:spcPts val="0"/>
              </a:spcAft>
              <a:buClr>
                <a:schemeClr val="dk1"/>
              </a:buClr>
              <a:buSzPts val="2800"/>
              <a:buFont typeface="Arial"/>
              <a:buNone/>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Nếu (p!=NULL) thì </a:t>
            </a:r>
            <a:r>
              <a:rPr b="0" i="0" lang="en-US" sz="2400" u="none">
                <a:solidFill>
                  <a:schemeClr val="dk1"/>
                </a:solidFill>
                <a:latin typeface="Arial"/>
                <a:ea typeface="Arial"/>
                <a:cs typeface="Arial"/>
                <a:sym typeface="Arial"/>
              </a:rPr>
              <a:t>//tìm thấy phần tử có khoá bằng x</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Hủy p ra khỏi List bằng cách hủy phần tử 		đứng sau q</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Ngược lại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Báo không tìm thấy phần tử có khoá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a:t>
            </a:r>
            <a:endParaRPr/>
          </a:p>
        </p:txBody>
      </p:sp>
      <p:sp>
        <p:nvSpPr>
          <p:cNvPr id="489" name="Google Shape;489;p26"/>
          <p:cNvSpPr txBox="1"/>
          <p:nvPr>
            <p:ph idx="1" type="body"/>
          </p:nvPr>
        </p:nvSpPr>
        <p:spPr>
          <a:xfrm>
            <a:off x="1208087" y="765175"/>
            <a:ext cx="86979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int </a:t>
            </a:r>
            <a:r>
              <a:rPr b="0" i="0" lang="en-US" sz="2800" u="none">
                <a:solidFill>
                  <a:schemeClr val="dk1"/>
                </a:solidFill>
                <a:latin typeface="Arial"/>
                <a:ea typeface="Arial"/>
                <a:cs typeface="Arial"/>
                <a:sym typeface="Arial"/>
              </a:rPr>
              <a:t>RemoveX(</a:t>
            </a:r>
            <a:r>
              <a:rPr b="0" i="0" lang="en-US" sz="2800" u="none">
                <a:solidFill>
                  <a:srgbClr val="0000FF"/>
                </a:solidFill>
                <a:latin typeface="Arial"/>
                <a:ea typeface="Arial"/>
                <a:cs typeface="Arial"/>
                <a:sym typeface="Arial"/>
              </a:rPr>
              <a:t>List</a:t>
            </a:r>
            <a:r>
              <a:rPr b="0" i="0" lang="en-US" sz="2800" u="none">
                <a:solidFill>
                  <a:schemeClr val="dk1"/>
                </a:solidFill>
                <a:latin typeface="Arial"/>
                <a:ea typeface="Arial"/>
                <a:cs typeface="Arial"/>
                <a:sym typeface="Arial"/>
              </a:rPr>
              <a:t> &amp;l,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*p,*q = NULL; p=l.Head;</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((p!=NULL)&amp;&amp;(p-&gt;Info!=x)) </a:t>
            </a:r>
            <a:r>
              <a:rPr b="0" i="0" lang="en-US" sz="2400" u="none">
                <a:solidFill>
                  <a:schemeClr val="dk1"/>
                </a:solidFill>
                <a:latin typeface="Arial"/>
                <a:ea typeface="Arial"/>
                <a:cs typeface="Arial"/>
                <a:sym typeface="Arial"/>
              </a:rPr>
              <a:t>//tìm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q=p;</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p=p-&gt;Next;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(p==NULL) </a:t>
            </a:r>
            <a:r>
              <a:rPr b="0" i="0" lang="en-US" sz="2400" u="none">
                <a:solidFill>
                  <a:schemeClr val="dk1"/>
                </a:solidFill>
                <a:latin typeface="Arial"/>
                <a:ea typeface="Arial"/>
                <a:cs typeface="Arial"/>
                <a:sym typeface="Arial"/>
              </a:rPr>
              <a:t>//không tìm thấy phần tử có khoá bằng 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(q!=NULL)</a:t>
            </a:r>
            <a:r>
              <a:rPr b="0" i="0" lang="en-US" sz="2400" u="none">
                <a:solidFill>
                  <a:schemeClr val="dk1"/>
                </a:solidFill>
                <a:latin typeface="Arial"/>
                <a:ea typeface="Arial"/>
                <a:cs typeface="Arial"/>
                <a:sym typeface="Arial"/>
              </a:rPr>
              <a:t>//tìm thấy phần tử có khoá bằng 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DeleteAfterQ(l,q,x);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else</a:t>
            </a:r>
            <a:r>
              <a:rPr b="0" i="0" lang="en-US" sz="28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//phần tử cần xoá nằm đầu List</a:t>
            </a: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RemoveHead(l,x);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Tìm 1 phần tử trong DSLK đơn</a:t>
            </a:r>
            <a:endParaRPr/>
          </a:p>
        </p:txBody>
      </p:sp>
      <p:sp>
        <p:nvSpPr>
          <p:cNvPr id="495" name="Google Shape;495;p2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T</a:t>
            </a:r>
            <a:r>
              <a:rPr b="0" i="0" lang="en-US" sz="2800" u="none">
                <a:solidFill>
                  <a:schemeClr val="dk1"/>
                </a:solidFill>
                <a:latin typeface="Arial"/>
                <a:ea typeface="Arial"/>
                <a:cs typeface="Arial"/>
                <a:sym typeface="Arial"/>
              </a:rPr>
              <a:t>ìm tuần tự (hàm trả về), các bước của thuật toán tìm nút có Info bằng x trong list đơn</a:t>
            </a:r>
            <a:endParaRPr/>
          </a:p>
          <a:p>
            <a:pPr indent="-342900" lvl="0" marL="342900" rtl="0" algn="l">
              <a:lnSpc>
                <a:spcPct val="12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p=pHead;</a:t>
            </a:r>
            <a:r>
              <a:rPr b="0" i="0" lang="en-US" sz="2400" u="none">
                <a:solidFill>
                  <a:schemeClr val="dk1"/>
                </a:solidFill>
                <a:latin typeface="Arial"/>
                <a:ea typeface="Arial"/>
                <a:cs typeface="Arial"/>
                <a:sym typeface="Arial"/>
              </a:rPr>
              <a:t>// địa chỉ của phần tử đầu trong list đơn</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Trong khi p!=NULL và  p-&gt;Info!=x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p=p-&gt;pNext;</a:t>
            </a:r>
            <a:r>
              <a:rPr b="0" i="0" lang="en-US" sz="2400" u="none">
                <a:solidFill>
                  <a:schemeClr val="dk1"/>
                </a:solidFill>
                <a:latin typeface="Arial"/>
                <a:ea typeface="Arial"/>
                <a:cs typeface="Arial"/>
                <a:sym typeface="Arial"/>
              </a:rPr>
              <a:t>// xét phần tử kế</a:t>
            </a:r>
            <a:endParaRPr/>
          </a:p>
          <a:p>
            <a:pPr indent="-342900" lvl="0" marL="342900" rtl="0" algn="l">
              <a:lnSpc>
                <a:spcPct val="120000"/>
              </a:lnSpc>
              <a:spcBef>
                <a:spcPts val="56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Nếu p!=NULL thì p lưu địa chỉ của nút có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Info = x</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Ngược lại : Không có phần tử cần tìm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Hàm tìm 1 phần tử trong DSLK đơn</a:t>
            </a:r>
            <a:endParaRPr/>
          </a:p>
        </p:txBody>
      </p:sp>
      <p:sp>
        <p:nvSpPr>
          <p:cNvPr id="501" name="Google Shape;501;p2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285750" lvl="1" marL="742950" rtl="0" algn="l">
              <a:lnSpc>
                <a:spcPct val="120000"/>
              </a:lnSpc>
              <a:spcBef>
                <a:spcPts val="0"/>
              </a:spcBef>
              <a:spcAft>
                <a:spcPts val="0"/>
              </a:spcAft>
              <a:buClr>
                <a:srgbClr val="080808"/>
              </a:buClr>
              <a:buSzPts val="2800"/>
              <a:buFont typeface="Noto Sans Symbols"/>
              <a:buChar char="⮚"/>
            </a:pPr>
            <a:r>
              <a:rPr b="0" i="0" lang="en-US" sz="2800" u="none">
                <a:solidFill>
                  <a:srgbClr val="080808"/>
                </a:solidFill>
                <a:latin typeface="Times New Roman"/>
                <a:ea typeface="Times New Roman"/>
                <a:cs typeface="Times New Roman"/>
                <a:sym typeface="Times New Roman"/>
              </a:rPr>
              <a:t>	</a:t>
            </a:r>
            <a:r>
              <a:rPr b="0" i="0" lang="en-US" sz="2800" u="none">
                <a:solidFill>
                  <a:srgbClr val="080808"/>
                </a:solidFill>
                <a:latin typeface="Arial"/>
                <a:ea typeface="Arial"/>
                <a:cs typeface="Arial"/>
                <a:sym typeface="Arial"/>
              </a:rPr>
              <a:t>H</a:t>
            </a:r>
            <a:r>
              <a:rPr b="0" i="0" lang="en-US" sz="2800" u="none">
                <a:solidFill>
                  <a:schemeClr val="dk1"/>
                </a:solidFill>
                <a:latin typeface="Arial"/>
                <a:ea typeface="Arial"/>
                <a:cs typeface="Arial"/>
                <a:sym typeface="Arial"/>
              </a:rPr>
              <a:t>àm tìm phần tử có Info = x, hàm trả về địa chỉ của nút có Info = x, ngược lại hàm trả về NULL</a:t>
            </a:r>
            <a:endParaRPr b="1" i="0" sz="2800" u="none">
              <a:solidFill>
                <a:srgbClr val="080808"/>
              </a:solidFill>
              <a:latin typeface="Arial"/>
              <a:ea typeface="Arial"/>
              <a:cs typeface="Arial"/>
              <a:sym typeface="Arial"/>
            </a:endParaRPr>
          </a:p>
          <a:p>
            <a:pPr indent="-228600" lvl="3" marL="1600200" rtl="0" algn="l">
              <a:lnSpc>
                <a:spcPct val="120000"/>
              </a:lnSpc>
              <a:spcBef>
                <a:spcPts val="56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Node</a:t>
            </a:r>
            <a:r>
              <a:rPr b="0" i="0" lang="en-US" sz="2800" u="none">
                <a:solidFill>
                  <a:srgbClr val="080808"/>
                </a:solidFill>
                <a:latin typeface="Arial"/>
                <a:ea typeface="Arial"/>
                <a:cs typeface="Arial"/>
                <a:sym typeface="Arial"/>
              </a:rPr>
              <a:t> *Search(LIST l, Data  x) </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Node	</a:t>
            </a:r>
            <a:r>
              <a:rPr b="0" i="0" lang="en-US" sz="2800" u="none">
                <a:solidFill>
                  <a:srgbClr val="080808"/>
                </a:solidFill>
                <a:latin typeface="Arial"/>
                <a:ea typeface="Arial"/>
                <a:cs typeface="Arial"/>
                <a:sym typeface="Arial"/>
              </a:rPr>
              <a:t>	*p;</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 = l.pHead;</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rgbClr val="080808"/>
                </a:solidFill>
                <a:latin typeface="Arial"/>
                <a:ea typeface="Arial"/>
                <a:cs typeface="Arial"/>
                <a:sym typeface="Arial"/>
              </a:rPr>
              <a:t>((p!= NULL)&amp;&amp;(p-&gt;Info != x)) </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p = p-&gt;pNext;</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rgbClr val="080808"/>
                </a:solidFill>
                <a:latin typeface="Arial"/>
                <a:ea typeface="Arial"/>
                <a:cs typeface="Arial"/>
                <a:sym typeface="Arial"/>
              </a:rPr>
              <a:t> p;</a:t>
            </a:r>
            <a:endParaRPr/>
          </a:p>
          <a:p>
            <a:pPr indent="-228600" lvl="3" marL="1600200" rtl="0" algn="l">
              <a:lnSpc>
                <a:spcPct val="12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tìm phần tử trong DSLK</a:t>
            </a:r>
            <a:endParaRPr/>
          </a:p>
        </p:txBody>
      </p:sp>
      <p:sp>
        <p:nvSpPr>
          <p:cNvPr id="507" name="Google Shape;507;p29"/>
          <p:cNvSpPr txBox="1"/>
          <p:nvPr/>
        </p:nvSpPr>
        <p:spPr>
          <a:xfrm>
            <a:off x="8610600" y="2330450"/>
            <a:ext cx="1130300"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56</a:t>
            </a:r>
            <a:endParaRPr/>
          </a:p>
        </p:txBody>
      </p:sp>
      <p:sp>
        <p:nvSpPr>
          <p:cNvPr id="508" name="Google Shape;508;p29"/>
          <p:cNvSpPr txBox="1"/>
          <p:nvPr/>
        </p:nvSpPr>
        <p:spPr>
          <a:xfrm>
            <a:off x="2570162" y="2335212"/>
            <a:ext cx="923925"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34</a:t>
            </a:r>
            <a:endParaRPr/>
          </a:p>
        </p:txBody>
      </p:sp>
      <p:sp>
        <p:nvSpPr>
          <p:cNvPr id="509" name="Google Shape;509;p29"/>
          <p:cNvSpPr txBox="1"/>
          <p:nvPr/>
        </p:nvSpPr>
        <p:spPr>
          <a:xfrm>
            <a:off x="3979862" y="2335212"/>
            <a:ext cx="9731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a:t>
            </a:r>
            <a:endParaRPr/>
          </a:p>
        </p:txBody>
      </p:sp>
      <p:sp>
        <p:nvSpPr>
          <p:cNvPr id="510" name="Google Shape;510;p29"/>
          <p:cNvSpPr txBox="1"/>
          <p:nvPr/>
        </p:nvSpPr>
        <p:spPr>
          <a:xfrm>
            <a:off x="5408612" y="2335212"/>
            <a:ext cx="1057275"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a:t>
            </a:r>
            <a:endParaRPr/>
          </a:p>
        </p:txBody>
      </p:sp>
      <p:sp>
        <p:nvSpPr>
          <p:cNvPr id="511" name="Google Shape;511;p29"/>
          <p:cNvSpPr txBox="1"/>
          <p:nvPr/>
        </p:nvSpPr>
        <p:spPr>
          <a:xfrm>
            <a:off x="6969125" y="2349500"/>
            <a:ext cx="1062037"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sp>
        <p:nvSpPr>
          <p:cNvPr id="512" name="Google Shape;512;p29"/>
          <p:cNvSpPr txBox="1"/>
          <p:nvPr/>
        </p:nvSpPr>
        <p:spPr>
          <a:xfrm>
            <a:off x="4808537" y="4221162"/>
            <a:ext cx="1219200" cy="495300"/>
          </a:xfrm>
          <a:prstGeom prst="rect">
            <a:avLst/>
          </a:prstGeom>
          <a:gradFill>
            <a:gsLst>
              <a:gs pos="0">
                <a:schemeClr val="lt1"/>
              </a:gs>
              <a:gs pos="100000">
                <a:srgbClr val="4949C3"/>
              </a:gs>
            </a:gsLst>
            <a:path path="circle">
              <a:fillToRect b="50%" l="50%" r="50%" t="50%"/>
            </a:path>
            <a:tileRect/>
          </a:gradFill>
          <a:ln cap="flat" cmpd="sng" w="38100">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1" i="0" lang="en-US" sz="2400" u="none">
                <a:solidFill>
                  <a:schemeClr val="dk1"/>
                </a:solidFill>
                <a:latin typeface="Comic Sans MS"/>
                <a:ea typeface="Comic Sans MS"/>
                <a:cs typeface="Comic Sans MS"/>
                <a:sym typeface="Comic Sans MS"/>
              </a:rPr>
              <a:t>X = 8</a:t>
            </a:r>
            <a:endParaRPr/>
          </a:p>
        </p:txBody>
      </p:sp>
      <p:cxnSp>
        <p:nvCxnSpPr>
          <p:cNvPr id="513" name="Google Shape;513;p29"/>
          <p:cNvCxnSpPr/>
          <p:nvPr/>
        </p:nvCxnSpPr>
        <p:spPr>
          <a:xfrm>
            <a:off x="3494087" y="2630487"/>
            <a:ext cx="485775" cy="0"/>
          </a:xfrm>
          <a:prstGeom prst="straightConnector1">
            <a:avLst/>
          </a:prstGeom>
          <a:noFill/>
          <a:ln cap="flat" cmpd="sng" w="76200">
            <a:solidFill>
              <a:schemeClr val="folHlink"/>
            </a:solidFill>
            <a:prstDash val="solid"/>
            <a:miter lim="800000"/>
            <a:headEnd len="med" w="med" type="none"/>
            <a:tailEnd len="med" w="med" type="triangle"/>
          </a:ln>
        </p:spPr>
      </p:cxnSp>
      <p:cxnSp>
        <p:nvCxnSpPr>
          <p:cNvPr id="514" name="Google Shape;514;p29"/>
          <p:cNvCxnSpPr/>
          <p:nvPr/>
        </p:nvCxnSpPr>
        <p:spPr>
          <a:xfrm flipH="1" rot="10800000">
            <a:off x="4972050" y="2620962"/>
            <a:ext cx="455612" cy="1587"/>
          </a:xfrm>
          <a:prstGeom prst="straightConnector1">
            <a:avLst/>
          </a:prstGeom>
          <a:noFill/>
          <a:ln cap="flat" cmpd="sng" w="76200">
            <a:solidFill>
              <a:schemeClr val="folHlink"/>
            </a:solidFill>
            <a:prstDash val="solid"/>
            <a:miter lim="800000"/>
            <a:headEnd len="med" w="med" type="none"/>
            <a:tailEnd len="med" w="med" type="triangle"/>
          </a:ln>
        </p:spPr>
      </p:cxnSp>
      <p:cxnSp>
        <p:nvCxnSpPr>
          <p:cNvPr id="515" name="Google Shape;515;p29"/>
          <p:cNvCxnSpPr/>
          <p:nvPr/>
        </p:nvCxnSpPr>
        <p:spPr>
          <a:xfrm>
            <a:off x="6465887" y="2636837"/>
            <a:ext cx="533400" cy="0"/>
          </a:xfrm>
          <a:prstGeom prst="straightConnector1">
            <a:avLst/>
          </a:prstGeom>
          <a:noFill/>
          <a:ln cap="flat" cmpd="sng" w="76200">
            <a:solidFill>
              <a:schemeClr val="folHlink"/>
            </a:solidFill>
            <a:prstDash val="solid"/>
            <a:miter lim="800000"/>
            <a:headEnd len="med" w="med" type="none"/>
            <a:tailEnd len="med" w="med" type="triangle"/>
          </a:ln>
        </p:spPr>
      </p:cxnSp>
      <p:cxnSp>
        <p:nvCxnSpPr>
          <p:cNvPr id="516" name="Google Shape;516;p29"/>
          <p:cNvCxnSpPr/>
          <p:nvPr/>
        </p:nvCxnSpPr>
        <p:spPr>
          <a:xfrm>
            <a:off x="8048625" y="2636837"/>
            <a:ext cx="576262" cy="0"/>
          </a:xfrm>
          <a:prstGeom prst="straightConnector1">
            <a:avLst/>
          </a:prstGeom>
          <a:noFill/>
          <a:ln cap="flat" cmpd="sng" w="76200">
            <a:solidFill>
              <a:schemeClr val="folHlink"/>
            </a:solidFill>
            <a:prstDash val="solid"/>
            <a:miter lim="800000"/>
            <a:headEnd len="med" w="med" type="none"/>
            <a:tailEnd len="med" w="med" type="triangle"/>
          </a:ln>
        </p:spPr>
      </p:cxnSp>
      <p:cxnSp>
        <p:nvCxnSpPr>
          <p:cNvPr id="517" name="Google Shape;517;p29"/>
          <p:cNvCxnSpPr/>
          <p:nvPr/>
        </p:nvCxnSpPr>
        <p:spPr>
          <a:xfrm>
            <a:off x="2055812" y="2278062"/>
            <a:ext cx="487362" cy="287337"/>
          </a:xfrm>
          <a:prstGeom prst="straightConnector1">
            <a:avLst/>
          </a:prstGeom>
          <a:noFill/>
          <a:ln cap="flat" cmpd="sng" w="76200">
            <a:solidFill>
              <a:schemeClr val="folHlink"/>
            </a:solidFill>
            <a:prstDash val="solid"/>
            <a:miter lim="800000"/>
            <a:headEnd len="med" w="med" type="none"/>
            <a:tailEnd len="med" w="med" type="triangle"/>
          </a:ln>
        </p:spPr>
      </p:cxnSp>
      <p:sp>
        <p:nvSpPr>
          <p:cNvPr id="518" name="Google Shape;518;p29"/>
          <p:cNvSpPr txBox="1"/>
          <p:nvPr/>
        </p:nvSpPr>
        <p:spPr>
          <a:xfrm>
            <a:off x="776287" y="1989137"/>
            <a:ext cx="1296987" cy="4667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pHead</a:t>
            </a:r>
            <a:endParaRPr/>
          </a:p>
        </p:txBody>
      </p:sp>
      <p:sp>
        <p:nvSpPr>
          <p:cNvPr id="519" name="Google Shape;519;p29"/>
          <p:cNvSpPr txBox="1"/>
          <p:nvPr/>
        </p:nvSpPr>
        <p:spPr>
          <a:xfrm>
            <a:off x="2503487"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1f</a:t>
            </a:r>
            <a:endParaRPr/>
          </a:p>
        </p:txBody>
      </p:sp>
      <p:sp>
        <p:nvSpPr>
          <p:cNvPr id="520" name="Google Shape;520;p29"/>
          <p:cNvSpPr txBox="1"/>
          <p:nvPr/>
        </p:nvSpPr>
        <p:spPr>
          <a:xfrm>
            <a:off x="3873500"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2f</a:t>
            </a:r>
            <a:endParaRPr/>
          </a:p>
        </p:txBody>
      </p:sp>
      <p:sp>
        <p:nvSpPr>
          <p:cNvPr id="521" name="Google Shape;521;p29"/>
          <p:cNvSpPr txBox="1"/>
          <p:nvPr/>
        </p:nvSpPr>
        <p:spPr>
          <a:xfrm>
            <a:off x="5240337" y="1916112"/>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sp>
        <p:nvSpPr>
          <p:cNvPr id="522" name="Google Shape;522;p29"/>
          <p:cNvSpPr txBox="1"/>
          <p:nvPr/>
        </p:nvSpPr>
        <p:spPr>
          <a:xfrm>
            <a:off x="6896100"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4f</a:t>
            </a:r>
            <a:endParaRPr/>
          </a:p>
        </p:txBody>
      </p:sp>
      <p:sp>
        <p:nvSpPr>
          <p:cNvPr id="523" name="Google Shape;523;p29"/>
          <p:cNvSpPr txBox="1"/>
          <p:nvPr/>
        </p:nvSpPr>
        <p:spPr>
          <a:xfrm>
            <a:off x="8551862" y="1844675"/>
            <a:ext cx="5048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5f</a:t>
            </a:r>
            <a:endParaRPr/>
          </a:p>
        </p:txBody>
      </p:sp>
      <p:sp>
        <p:nvSpPr>
          <p:cNvPr id="524" name="Google Shape;524;p29"/>
          <p:cNvSpPr/>
          <p:nvPr/>
        </p:nvSpPr>
        <p:spPr>
          <a:xfrm>
            <a:off x="2649537" y="2997200"/>
            <a:ext cx="574675" cy="719137"/>
          </a:xfrm>
          <a:prstGeom prst="upArrow">
            <a:avLst>
              <a:gd fmla="val 50000" name="adj1"/>
              <a:gd fmla="val 50000" name="adj2"/>
            </a:avLst>
          </a:prstGeom>
          <a:noFill/>
          <a:ln cap="flat" cmpd="sng" w="381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a:t>
            </a:r>
            <a:endParaRPr/>
          </a:p>
        </p:txBody>
      </p:sp>
      <p:sp>
        <p:nvSpPr>
          <p:cNvPr id="525" name="Google Shape;525;p29"/>
          <p:cNvSpPr txBox="1"/>
          <p:nvPr/>
        </p:nvSpPr>
        <p:spPr>
          <a:xfrm>
            <a:off x="6897687" y="4221162"/>
            <a:ext cx="2735262"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Tìm thấy, hàm trả về địa chỉ của nút tìm thấy là 4f</a:t>
            </a:r>
            <a:endParaRPr/>
          </a:p>
        </p:txBody>
      </p:sp>
      <p:sp>
        <p:nvSpPr>
          <p:cNvPr id="526" name="Google Shape;526;p29"/>
          <p:cNvSpPr txBox="1"/>
          <p:nvPr/>
        </p:nvSpPr>
        <p:spPr>
          <a:xfrm>
            <a:off x="6969125" y="2349500"/>
            <a:ext cx="1062037" cy="588962"/>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Duyệt danh sách</a:t>
            </a:r>
            <a:endParaRPr/>
          </a:p>
        </p:txBody>
      </p:sp>
      <p:sp>
        <p:nvSpPr>
          <p:cNvPr id="532" name="Google Shape;532;p30"/>
          <p:cNvSpPr txBox="1"/>
          <p:nvPr>
            <p:ph idx="1" type="body"/>
          </p:nvPr>
        </p:nvSpPr>
        <p:spPr>
          <a:xfrm>
            <a:off x="776287" y="1052512"/>
            <a:ext cx="9129712" cy="5805487"/>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Duyệt danh sách là thao tác thường được thực hiện khi có nhu cầu cần xử lý các phần tử trong danh sách như:</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Đếm các phần tử trong danh sách</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Tìm tất cả các phần tử trong danh sách thảo điều kiện</a:t>
            </a:r>
            <a:endParaRPr/>
          </a:p>
          <a:p>
            <a:pPr indent="-285750" lvl="1" marL="74295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Hủy toàn bộ danh sách</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duyệt danh sách</a:t>
            </a:r>
            <a:endParaRPr/>
          </a:p>
        </p:txBody>
      </p:sp>
      <p:sp>
        <p:nvSpPr>
          <p:cNvPr id="538" name="Google Shape;538;p31"/>
          <p:cNvSpPr txBox="1"/>
          <p:nvPr>
            <p:ph idx="1" type="body"/>
          </p:nvPr>
        </p:nvSpPr>
        <p:spPr>
          <a:xfrm>
            <a:off x="776287" y="1125537"/>
            <a:ext cx="9129712" cy="5732462"/>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Char char="•"/>
            </a:pPr>
            <a:r>
              <a:rPr b="0" i="0" lang="en-US" sz="3200" u="sng">
                <a:solidFill>
                  <a:schemeClr val="dk1"/>
                </a:solidFill>
                <a:latin typeface="Arial"/>
                <a:ea typeface="Arial"/>
                <a:cs typeface="Arial"/>
                <a:sym typeface="Arial"/>
              </a:rPr>
              <a:t>Bước 1</a:t>
            </a:r>
            <a:r>
              <a:rPr b="0" i="0" lang="en-US" sz="3200" u="none">
                <a:solidFill>
                  <a:schemeClr val="dk1"/>
                </a:solidFill>
                <a:latin typeface="Arial"/>
                <a:ea typeface="Arial"/>
                <a:cs typeface="Arial"/>
                <a:sym typeface="Arial"/>
              </a:rPr>
              <a:t>: </a:t>
            </a:r>
            <a:endParaRPr/>
          </a:p>
          <a:p>
            <a:pPr indent="-285750" lvl="1" marL="742950" rtl="0" algn="l">
              <a:lnSpc>
                <a:spcPct val="120000"/>
              </a:lnSpc>
              <a:spcBef>
                <a:spcPts val="14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 = pHead;</a:t>
            </a:r>
            <a:r>
              <a:rPr b="0" i="0" lang="en-US" sz="1800" u="none">
                <a:solidFill>
                  <a:schemeClr val="dk1"/>
                </a:solidFill>
                <a:latin typeface="Arial"/>
                <a:ea typeface="Arial"/>
                <a:cs typeface="Arial"/>
                <a:sym typeface="Arial"/>
              </a:rPr>
              <a:t>// p lưu địa chỉ của phần tử đầu trong List</a:t>
            </a:r>
            <a:endParaRPr/>
          </a:p>
          <a:p>
            <a:pPr indent="-342900" lvl="0" marL="342900" rtl="0" algn="l">
              <a:lnSpc>
                <a:spcPct val="120000"/>
              </a:lnSpc>
              <a:spcBef>
                <a:spcPts val="1600"/>
              </a:spcBef>
              <a:spcAft>
                <a:spcPts val="0"/>
              </a:spcAft>
              <a:buClr>
                <a:schemeClr val="dk1"/>
              </a:buClr>
              <a:buSzPts val="3200"/>
              <a:buFont typeface="Arial"/>
              <a:buChar char="•"/>
            </a:pPr>
            <a:r>
              <a:rPr b="0" i="0" lang="en-US" sz="3200" u="sng">
                <a:solidFill>
                  <a:schemeClr val="dk1"/>
                </a:solidFill>
                <a:latin typeface="Arial"/>
                <a:ea typeface="Arial"/>
                <a:cs typeface="Arial"/>
                <a:sym typeface="Arial"/>
              </a:rPr>
              <a:t>Bước 2</a:t>
            </a:r>
            <a:r>
              <a:rPr b="0" i="0" lang="en-US" sz="3200" u="none">
                <a:solidFill>
                  <a:schemeClr val="dk1"/>
                </a:solidFill>
                <a:latin typeface="Arial"/>
                <a:ea typeface="Arial"/>
                <a:cs typeface="Arial"/>
                <a:sym typeface="Arial"/>
              </a:rPr>
              <a:t>:</a:t>
            </a:r>
            <a:endParaRPr/>
          </a:p>
          <a:p>
            <a:pPr indent="-285750" lvl="1" marL="742950" rtl="0" algn="l">
              <a:lnSpc>
                <a:spcPct val="120000"/>
              </a:lnSpc>
              <a:spcBef>
                <a:spcPts val="14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Trong khi (danh sách chưa hết) thực hiện</a:t>
            </a:r>
            <a:endParaRPr/>
          </a:p>
          <a:p>
            <a:pPr indent="-285750" lvl="1" marL="742950" rtl="0" algn="l">
              <a:lnSpc>
                <a:spcPct val="120000"/>
              </a:lnSpc>
              <a:spcBef>
                <a:spcPts val="14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xử lý phần tử p</a:t>
            </a:r>
            <a:endParaRPr/>
          </a:p>
          <a:p>
            <a:pPr indent="-285750" lvl="1" marL="742950" rtl="0" algn="l">
              <a:lnSpc>
                <a:spcPct val="120000"/>
              </a:lnSpc>
              <a:spcBef>
                <a:spcPts val="140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p=p-&gt;pNext;// qua phần tử kế</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in các phần tử trong List</a:t>
            </a:r>
            <a:endParaRPr/>
          </a:p>
        </p:txBody>
      </p:sp>
      <p:sp>
        <p:nvSpPr>
          <p:cNvPr id="544" name="Google Shape;544;p32"/>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PrintList(List l)</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p=l.pHead;</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(p!=NULL)</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printf</a:t>
            </a:r>
            <a:r>
              <a:rPr b="0" i="0" lang="en-US" sz="2800" u="none">
                <a:solidFill>
                  <a:schemeClr val="dk1"/>
                </a:solidFill>
                <a:latin typeface="Arial"/>
                <a:ea typeface="Arial"/>
                <a:cs typeface="Arial"/>
                <a:sym typeface="Arial"/>
              </a:rPr>
              <a:t>(“%d     ”, p-&gt;Info);</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p=p-&gt;pNext;</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Hủy danh sách liên kết đơn</a:t>
            </a:r>
            <a:endParaRPr/>
          </a:p>
        </p:txBody>
      </p:sp>
      <p:sp>
        <p:nvSpPr>
          <p:cNvPr id="550" name="Google Shape;550;p33"/>
          <p:cNvSpPr txBox="1"/>
          <p:nvPr>
            <p:ph idx="1" type="body"/>
          </p:nvPr>
        </p:nvSpPr>
        <p:spPr>
          <a:xfrm>
            <a:off x="849312" y="765175"/>
            <a:ext cx="9056687"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Trong khi (danh sách chưa hết) thực hiện </a:t>
            </a:r>
            <a:endParaRPr/>
          </a:p>
          <a:p>
            <a:pPr indent="-285750" lvl="1" marL="74295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B11</a:t>
            </a:r>
            <a:r>
              <a:rPr b="0" i="0" lang="en-US" sz="2800" u="none">
                <a:solidFill>
                  <a:schemeClr val="dk1"/>
                </a:solidFill>
                <a:latin typeface="Arial"/>
                <a:ea typeface="Arial"/>
                <a:cs typeface="Arial"/>
                <a:sym typeface="Arial"/>
              </a:rPr>
              <a:t>: </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 = pHead;</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pHead = pHead-&gt;pNext;</a:t>
            </a:r>
            <a:r>
              <a:rPr b="0" i="0" lang="en-US" sz="2400" u="none">
                <a:solidFill>
                  <a:schemeClr val="dk1"/>
                </a:solidFill>
                <a:latin typeface="Arial"/>
                <a:ea typeface="Arial"/>
                <a:cs typeface="Arial"/>
                <a:sym typeface="Arial"/>
              </a:rPr>
              <a:t>// cập nhật pHead</a:t>
            </a:r>
            <a:endParaRPr/>
          </a:p>
          <a:p>
            <a:pPr indent="-285750" lvl="1" marL="74295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B12</a:t>
            </a:r>
            <a:r>
              <a:rPr b="0" i="0" lang="en-US" sz="2800" u="none">
                <a:solidFill>
                  <a:schemeClr val="dk1"/>
                </a:solidFill>
                <a:latin typeface="Arial"/>
                <a:ea typeface="Arial"/>
                <a:cs typeface="Arial"/>
                <a:sym typeface="Arial"/>
              </a:rPr>
              <a:t>:</a:t>
            </a:r>
            <a:endParaRPr/>
          </a:p>
          <a:p>
            <a:pPr indent="-228600" lvl="2" marL="11430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Hủy p</a:t>
            </a:r>
            <a:endParaRPr/>
          </a:p>
          <a:p>
            <a:pPr indent="-342900" lvl="0" marL="342900" rtl="0" algn="l">
              <a:lnSpc>
                <a:spcPct val="12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pTail = NULL;</a:t>
            </a:r>
            <a:r>
              <a:rPr b="0" i="0" lang="en-US" sz="2400" u="none">
                <a:solidFill>
                  <a:schemeClr val="dk1"/>
                </a:solidFill>
                <a:latin typeface="Arial"/>
                <a:ea typeface="Arial"/>
                <a:cs typeface="Arial"/>
                <a:sym typeface="Arial"/>
              </a:rPr>
              <a:t>// bảo toàn tính nhất quán khi xâu rỗng</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a:t>
            </a:r>
            <a:endParaRPr/>
          </a:p>
        </p:txBody>
      </p:sp>
      <p:sp>
        <p:nvSpPr>
          <p:cNvPr id="556" name="Google Shape;556;p34"/>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RemoveList(</a:t>
            </a:r>
            <a:r>
              <a:rPr b="0" i="0" lang="en-US" sz="2800" u="none">
                <a:solidFill>
                  <a:srgbClr val="0000FF"/>
                </a:solidFill>
                <a:latin typeface="Arial"/>
                <a:ea typeface="Arial"/>
                <a:cs typeface="Arial"/>
                <a:sym typeface="Arial"/>
              </a:rPr>
              <a:t>List</a:t>
            </a:r>
            <a:r>
              <a:rPr b="0" i="0" lang="en-US" sz="2800" u="none">
                <a:solidFill>
                  <a:schemeClr val="dk1"/>
                </a:solidFill>
                <a:latin typeface="Arial"/>
                <a:ea typeface="Arial"/>
                <a:cs typeface="Arial"/>
                <a:sym typeface="Arial"/>
              </a:rPr>
              <a:t> &amp;l)</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Node</a:t>
            </a:r>
            <a:r>
              <a:rPr b="0" i="0" lang="en-US" sz="2800" u="none">
                <a:solidFill>
                  <a:schemeClr val="dk1"/>
                </a:solidFill>
                <a:latin typeface="Arial"/>
                <a:ea typeface="Arial"/>
                <a:cs typeface="Arial"/>
                <a:sym typeface="Arial"/>
              </a:rPr>
              <a:t> *p;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(l.pHead!=NULL)</a:t>
            </a:r>
            <a:r>
              <a:rPr b="0" i="0" lang="en-US" sz="2000" u="none">
                <a:solidFill>
                  <a:schemeClr val="dk1"/>
                </a:solidFill>
                <a:latin typeface="Arial"/>
                <a:ea typeface="Arial"/>
                <a:cs typeface="Arial"/>
                <a:sym typeface="Arial"/>
              </a:rPr>
              <a:t>//</a:t>
            </a:r>
            <a:r>
              <a:rPr b="0" i="0" lang="en-US" sz="2400" u="none">
                <a:solidFill>
                  <a:schemeClr val="dk1"/>
                </a:solidFill>
                <a:latin typeface="Arial"/>
                <a:ea typeface="Arial"/>
                <a:cs typeface="Arial"/>
                <a:sym typeface="Arial"/>
              </a:rPr>
              <a:t>còn phần tử trong List</a:t>
            </a:r>
            <a:endParaRPr b="0" i="0" sz="2000" u="none">
              <a:solidFill>
                <a:schemeClr val="dk1"/>
              </a:solidFill>
              <a:latin typeface="Arial"/>
              <a:ea typeface="Arial"/>
              <a:cs typeface="Arial"/>
              <a:sym typeface="Arial"/>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 = l.pHead;</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l.pHead = p-&gt;pNext;</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delete</a:t>
            </a:r>
            <a:r>
              <a:rPr b="0" i="0" lang="en-US" sz="2800" u="none">
                <a:solidFill>
                  <a:schemeClr val="dk1"/>
                </a:solidFill>
                <a:latin typeface="Arial"/>
                <a:ea typeface="Arial"/>
                <a:cs typeface="Arial"/>
                <a:sym typeface="Arial"/>
              </a:rPr>
              <a:t> p;</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a:t>
            </a:r>
            <a:endParaRPr/>
          </a:p>
        </p:txBody>
      </p:sp>
      <p:grpSp>
        <p:nvGrpSpPr>
          <p:cNvPr id="562" name="Google Shape;562;p35"/>
          <p:cNvGrpSpPr/>
          <p:nvPr/>
        </p:nvGrpSpPr>
        <p:grpSpPr>
          <a:xfrm>
            <a:off x="1033462" y="2946400"/>
            <a:ext cx="1225550" cy="588962"/>
            <a:chOff x="3301" y="2341"/>
            <a:chExt cx="772" cy="371"/>
          </a:xfrm>
        </p:grpSpPr>
        <p:sp>
          <p:nvSpPr>
            <p:cNvPr id="563" name="Google Shape;563;p35"/>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2f</a:t>
              </a:r>
              <a:endParaRPr/>
            </a:p>
          </p:txBody>
        </p:sp>
        <p:sp>
          <p:nvSpPr>
            <p:cNvPr id="564" name="Google Shape;564;p35"/>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7</a:t>
              </a:r>
              <a:endParaRPr/>
            </a:p>
          </p:txBody>
        </p:sp>
        <p:cxnSp>
          <p:nvCxnSpPr>
            <p:cNvPr id="565" name="Google Shape;565;p35"/>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66" name="Google Shape;566;p35"/>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67" name="Google Shape;567;p35"/>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68" name="Google Shape;568;p35"/>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69" name="Google Shape;569;p35"/>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570" name="Google Shape;570;p35"/>
          <p:cNvGrpSpPr/>
          <p:nvPr/>
        </p:nvGrpSpPr>
        <p:grpSpPr>
          <a:xfrm>
            <a:off x="2762250" y="2946400"/>
            <a:ext cx="1225550" cy="588962"/>
            <a:chOff x="3301" y="2341"/>
            <a:chExt cx="772" cy="371"/>
          </a:xfrm>
        </p:grpSpPr>
        <p:sp>
          <p:nvSpPr>
            <p:cNvPr id="571" name="Google Shape;571;p35"/>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2" name="Google Shape;572;p35"/>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cxnSp>
          <p:nvCxnSpPr>
            <p:cNvPr id="573" name="Google Shape;573;p35"/>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74" name="Google Shape;574;p35"/>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75" name="Google Shape;575;p35"/>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76" name="Google Shape;576;p35"/>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77" name="Google Shape;577;p35"/>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578" name="Google Shape;578;p35"/>
          <p:cNvGrpSpPr/>
          <p:nvPr/>
        </p:nvGrpSpPr>
        <p:grpSpPr>
          <a:xfrm>
            <a:off x="4632325" y="2946400"/>
            <a:ext cx="1225550" cy="588962"/>
            <a:chOff x="3301" y="2341"/>
            <a:chExt cx="772" cy="371"/>
          </a:xfrm>
        </p:grpSpPr>
        <p:sp>
          <p:nvSpPr>
            <p:cNvPr id="579" name="Google Shape;579;p35"/>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4f</a:t>
              </a:r>
              <a:endParaRPr/>
            </a:p>
          </p:txBody>
        </p:sp>
        <p:sp>
          <p:nvSpPr>
            <p:cNvPr id="580" name="Google Shape;580;p35"/>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3</a:t>
              </a:r>
              <a:endParaRPr/>
            </a:p>
          </p:txBody>
        </p:sp>
        <p:cxnSp>
          <p:nvCxnSpPr>
            <p:cNvPr id="581" name="Google Shape;581;p35"/>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82" name="Google Shape;582;p35"/>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83" name="Google Shape;583;p35"/>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84" name="Google Shape;584;p35"/>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85" name="Google Shape;585;p35"/>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grpSp>
        <p:nvGrpSpPr>
          <p:cNvPr id="586" name="Google Shape;586;p35"/>
          <p:cNvGrpSpPr/>
          <p:nvPr/>
        </p:nvGrpSpPr>
        <p:grpSpPr>
          <a:xfrm>
            <a:off x="6362700" y="2959100"/>
            <a:ext cx="1225550" cy="588962"/>
            <a:chOff x="3301" y="2341"/>
            <a:chExt cx="772" cy="371"/>
          </a:xfrm>
        </p:grpSpPr>
        <p:sp>
          <p:nvSpPr>
            <p:cNvPr id="587" name="Google Shape;587;p35"/>
            <p:cNvSpPr txBox="1"/>
            <p:nvPr/>
          </p:nvSpPr>
          <p:spPr>
            <a:xfrm>
              <a:off x="3687" y="2341"/>
              <a:ext cx="386" cy="33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5f</a:t>
              </a:r>
              <a:endParaRPr/>
            </a:p>
          </p:txBody>
        </p:sp>
        <p:sp>
          <p:nvSpPr>
            <p:cNvPr id="588" name="Google Shape;588;p35"/>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cxnSp>
          <p:nvCxnSpPr>
            <p:cNvPr id="589" name="Google Shape;589;p35"/>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90" name="Google Shape;590;p35"/>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591" name="Google Shape;591;p35"/>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92" name="Google Shape;592;p35"/>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593" name="Google Shape;593;p35"/>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cxnSp>
        <p:nvCxnSpPr>
          <p:cNvPr id="594" name="Google Shape;594;p35"/>
          <p:cNvCxnSpPr/>
          <p:nvPr/>
        </p:nvCxnSpPr>
        <p:spPr>
          <a:xfrm>
            <a:off x="2257425" y="3248025"/>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595" name="Google Shape;595;p35"/>
          <p:cNvCxnSpPr/>
          <p:nvPr/>
        </p:nvCxnSpPr>
        <p:spPr>
          <a:xfrm>
            <a:off x="3986212" y="3211512"/>
            <a:ext cx="6477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596" name="Google Shape;596;p35"/>
          <p:cNvCxnSpPr/>
          <p:nvPr/>
        </p:nvCxnSpPr>
        <p:spPr>
          <a:xfrm>
            <a:off x="5857875" y="3248025"/>
            <a:ext cx="533400" cy="0"/>
          </a:xfrm>
          <a:prstGeom prst="straightConnector1">
            <a:avLst/>
          </a:prstGeom>
          <a:noFill/>
          <a:ln cap="flat" cmpd="sng" w="76200">
            <a:solidFill>
              <a:srgbClr val="FF0000"/>
            </a:solidFill>
            <a:prstDash val="solid"/>
            <a:miter lim="800000"/>
            <a:headEnd len="med" w="med" type="none"/>
            <a:tailEnd len="med" w="med" type="stealth"/>
          </a:ln>
        </p:spPr>
      </p:cxnSp>
      <p:cxnSp>
        <p:nvCxnSpPr>
          <p:cNvPr id="597" name="Google Shape;597;p35"/>
          <p:cNvCxnSpPr/>
          <p:nvPr/>
        </p:nvCxnSpPr>
        <p:spPr>
          <a:xfrm>
            <a:off x="7586662" y="3248025"/>
            <a:ext cx="533400" cy="0"/>
          </a:xfrm>
          <a:prstGeom prst="straightConnector1">
            <a:avLst/>
          </a:prstGeom>
          <a:noFill/>
          <a:ln cap="flat" cmpd="sng" w="76200">
            <a:solidFill>
              <a:srgbClr val="FF0000"/>
            </a:solidFill>
            <a:prstDash val="solid"/>
            <a:miter lim="800000"/>
            <a:headEnd len="med" w="med" type="none"/>
            <a:tailEnd len="med" w="med" type="stealth"/>
          </a:ln>
        </p:spPr>
      </p:cxnSp>
      <p:grpSp>
        <p:nvGrpSpPr>
          <p:cNvPr id="598" name="Google Shape;598;p35"/>
          <p:cNvGrpSpPr/>
          <p:nvPr/>
        </p:nvGrpSpPr>
        <p:grpSpPr>
          <a:xfrm>
            <a:off x="1136650" y="2781300"/>
            <a:ext cx="863600" cy="1008062"/>
            <a:chOff x="2122" y="2568"/>
            <a:chExt cx="453" cy="408"/>
          </a:xfrm>
        </p:grpSpPr>
        <p:cxnSp>
          <p:nvCxnSpPr>
            <p:cNvPr id="599" name="Google Shape;599;p35"/>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600" name="Google Shape;600;p35"/>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sp>
        <p:nvSpPr>
          <p:cNvPr id="601" name="Google Shape;601;p35"/>
          <p:cNvSpPr txBox="1"/>
          <p:nvPr/>
        </p:nvSpPr>
        <p:spPr>
          <a:xfrm>
            <a:off x="962025" y="2546350"/>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1f</a:t>
            </a:r>
            <a:endParaRPr/>
          </a:p>
        </p:txBody>
      </p:sp>
      <p:sp>
        <p:nvSpPr>
          <p:cNvPr id="602" name="Google Shape;602;p35"/>
          <p:cNvSpPr txBox="1"/>
          <p:nvPr/>
        </p:nvSpPr>
        <p:spPr>
          <a:xfrm>
            <a:off x="2690812" y="2384425"/>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2f</a:t>
            </a:r>
            <a:endParaRPr/>
          </a:p>
        </p:txBody>
      </p:sp>
      <p:sp>
        <p:nvSpPr>
          <p:cNvPr id="603" name="Google Shape;603;p35"/>
          <p:cNvSpPr txBox="1"/>
          <p:nvPr/>
        </p:nvSpPr>
        <p:spPr>
          <a:xfrm>
            <a:off x="4489450" y="2455862"/>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3f</a:t>
            </a:r>
            <a:endParaRPr/>
          </a:p>
        </p:txBody>
      </p:sp>
      <p:sp>
        <p:nvSpPr>
          <p:cNvPr id="604" name="Google Shape;604;p35"/>
          <p:cNvSpPr txBox="1"/>
          <p:nvPr/>
        </p:nvSpPr>
        <p:spPr>
          <a:xfrm>
            <a:off x="6218237" y="2527300"/>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4f</a:t>
            </a:r>
            <a:endParaRPr/>
          </a:p>
        </p:txBody>
      </p:sp>
      <p:sp>
        <p:nvSpPr>
          <p:cNvPr id="605" name="Google Shape;605;p35"/>
          <p:cNvSpPr txBox="1"/>
          <p:nvPr/>
        </p:nvSpPr>
        <p:spPr>
          <a:xfrm>
            <a:off x="3481387" y="2995612"/>
            <a:ext cx="57626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3f</a:t>
            </a:r>
            <a:endParaRPr/>
          </a:p>
        </p:txBody>
      </p:sp>
      <p:cxnSp>
        <p:nvCxnSpPr>
          <p:cNvPr id="606" name="Google Shape;606;p35"/>
          <p:cNvCxnSpPr/>
          <p:nvPr/>
        </p:nvCxnSpPr>
        <p:spPr>
          <a:xfrm>
            <a:off x="4016375" y="3211512"/>
            <a:ext cx="647700" cy="0"/>
          </a:xfrm>
          <a:prstGeom prst="straightConnector1">
            <a:avLst/>
          </a:prstGeom>
          <a:noFill/>
          <a:ln cap="rnd" cmpd="sng" w="76200">
            <a:solidFill>
              <a:srgbClr val="FF0000"/>
            </a:solidFill>
            <a:prstDash val="solid"/>
            <a:miter lim="800000"/>
            <a:headEnd len="med" w="med" type="none"/>
            <a:tailEnd len="med" w="med" type="stealth"/>
          </a:ln>
        </p:spPr>
      </p:cxnSp>
      <p:grpSp>
        <p:nvGrpSpPr>
          <p:cNvPr id="607" name="Google Shape;607;p35"/>
          <p:cNvGrpSpPr/>
          <p:nvPr/>
        </p:nvGrpSpPr>
        <p:grpSpPr>
          <a:xfrm>
            <a:off x="776287" y="1628775"/>
            <a:ext cx="1152525" cy="1295400"/>
            <a:chOff x="1079" y="1026"/>
            <a:chExt cx="726" cy="816"/>
          </a:xfrm>
        </p:grpSpPr>
        <p:cxnSp>
          <p:nvCxnSpPr>
            <p:cNvPr id="608" name="Google Shape;608;p35"/>
            <p:cNvCxnSpPr/>
            <p:nvPr/>
          </p:nvCxnSpPr>
          <p:spPr>
            <a:xfrm>
              <a:off x="1442" y="1434"/>
              <a:ext cx="0" cy="408"/>
            </a:xfrm>
            <a:prstGeom prst="straightConnector1">
              <a:avLst/>
            </a:prstGeom>
            <a:noFill/>
            <a:ln cap="flat" cmpd="sng" w="76200">
              <a:solidFill>
                <a:srgbClr val="FF0000"/>
              </a:solidFill>
              <a:prstDash val="solid"/>
              <a:miter lim="800000"/>
              <a:headEnd len="med" w="med" type="none"/>
              <a:tailEnd len="med" w="med" type="triangle"/>
            </a:ln>
          </p:spPr>
        </p:cxnSp>
        <p:sp>
          <p:nvSpPr>
            <p:cNvPr id="609" name="Google Shape;609;p35"/>
            <p:cNvSpPr/>
            <p:nvPr/>
          </p:nvSpPr>
          <p:spPr>
            <a:xfrm>
              <a:off x="1369" y="1262"/>
              <a:ext cx="136" cy="181"/>
            </a:xfrm>
            <a:prstGeom prst="ellipse">
              <a:avLst/>
            </a:prstGeom>
            <a:solidFill>
              <a:srgbClr val="FF0000"/>
            </a:solidFill>
            <a:ln cap="flat" cmpd="sng" w="571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0" name="Google Shape;610;p35"/>
            <p:cNvSpPr txBox="1"/>
            <p:nvPr/>
          </p:nvSpPr>
          <p:spPr>
            <a:xfrm>
              <a:off x="1079" y="1026"/>
              <a:ext cx="72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pHead</a:t>
              </a:r>
              <a:endParaRPr/>
            </a:p>
          </p:txBody>
        </p:sp>
      </p:grpSp>
      <p:grpSp>
        <p:nvGrpSpPr>
          <p:cNvPr id="611" name="Google Shape;611;p35"/>
          <p:cNvGrpSpPr/>
          <p:nvPr/>
        </p:nvGrpSpPr>
        <p:grpSpPr>
          <a:xfrm>
            <a:off x="992187" y="3500437"/>
            <a:ext cx="611187" cy="890587"/>
            <a:chOff x="1215" y="2205"/>
            <a:chExt cx="385" cy="561"/>
          </a:xfrm>
        </p:grpSpPr>
        <p:sp>
          <p:nvSpPr>
            <p:cNvPr id="612" name="Google Shape;612;p35"/>
            <p:cNvSpPr/>
            <p:nvPr/>
          </p:nvSpPr>
          <p:spPr>
            <a:xfrm flipH="1" rot="10800000">
              <a:off x="1306" y="2205"/>
              <a:ext cx="294" cy="328"/>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3" name="Google Shape;613;p35"/>
            <p:cNvSpPr txBox="1"/>
            <p:nvPr/>
          </p:nvSpPr>
          <p:spPr>
            <a:xfrm>
              <a:off x="1215" y="2478"/>
              <a:ext cx="22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a:t>
              </a:r>
              <a:endParaRPr/>
            </a:p>
          </p:txBody>
        </p:sp>
      </p:grpSp>
      <p:grpSp>
        <p:nvGrpSpPr>
          <p:cNvPr id="614" name="Google Shape;614;p35"/>
          <p:cNvGrpSpPr/>
          <p:nvPr/>
        </p:nvGrpSpPr>
        <p:grpSpPr>
          <a:xfrm>
            <a:off x="8120062" y="2924175"/>
            <a:ext cx="1225550" cy="588962"/>
            <a:chOff x="3301" y="2341"/>
            <a:chExt cx="772" cy="371"/>
          </a:xfrm>
        </p:grpSpPr>
        <p:sp>
          <p:nvSpPr>
            <p:cNvPr id="615" name="Google Shape;615;p35"/>
            <p:cNvSpPr txBox="1"/>
            <p:nvPr/>
          </p:nvSpPr>
          <p:spPr>
            <a:xfrm>
              <a:off x="3687"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N</a:t>
              </a:r>
              <a:endParaRPr/>
            </a:p>
          </p:txBody>
        </p:sp>
        <p:sp>
          <p:nvSpPr>
            <p:cNvPr id="616" name="Google Shape;616;p35"/>
            <p:cNvSpPr txBox="1"/>
            <p:nvPr/>
          </p:nvSpPr>
          <p:spPr>
            <a:xfrm>
              <a:off x="3301" y="2341"/>
              <a:ext cx="386" cy="37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9</a:t>
              </a:r>
              <a:endParaRPr/>
            </a:p>
          </p:txBody>
        </p:sp>
        <p:cxnSp>
          <p:nvCxnSpPr>
            <p:cNvPr id="617" name="Google Shape;617;p35"/>
            <p:cNvCxnSpPr/>
            <p:nvPr/>
          </p:nvCxnSpPr>
          <p:spPr>
            <a:xfrm>
              <a:off x="3301" y="2341"/>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618" name="Google Shape;618;p35"/>
            <p:cNvCxnSpPr/>
            <p:nvPr/>
          </p:nvCxnSpPr>
          <p:spPr>
            <a:xfrm>
              <a:off x="3301" y="2705"/>
              <a:ext cx="772" cy="0"/>
            </a:xfrm>
            <a:prstGeom prst="straightConnector1">
              <a:avLst/>
            </a:prstGeom>
            <a:noFill/>
            <a:ln cap="flat" cmpd="sng" w="9525">
              <a:solidFill>
                <a:schemeClr val="dk1"/>
              </a:solidFill>
              <a:prstDash val="solid"/>
              <a:miter lim="800000"/>
              <a:headEnd len="med" w="med" type="none"/>
              <a:tailEnd len="med" w="med" type="none"/>
            </a:ln>
          </p:spPr>
        </p:cxnSp>
        <p:cxnSp>
          <p:nvCxnSpPr>
            <p:cNvPr id="619" name="Google Shape;619;p35"/>
            <p:cNvCxnSpPr/>
            <p:nvPr/>
          </p:nvCxnSpPr>
          <p:spPr>
            <a:xfrm>
              <a:off x="3301"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620" name="Google Shape;620;p35"/>
            <p:cNvCxnSpPr/>
            <p:nvPr/>
          </p:nvCxnSpPr>
          <p:spPr>
            <a:xfrm>
              <a:off x="3687" y="2341"/>
              <a:ext cx="0" cy="364"/>
            </a:xfrm>
            <a:prstGeom prst="straightConnector1">
              <a:avLst/>
            </a:prstGeom>
            <a:noFill/>
            <a:ln cap="flat" cmpd="sng" w="9525">
              <a:solidFill>
                <a:schemeClr val="dk1"/>
              </a:solidFill>
              <a:prstDash val="solid"/>
              <a:miter lim="800000"/>
              <a:headEnd len="med" w="med" type="none"/>
              <a:tailEnd len="med" w="med" type="none"/>
            </a:ln>
          </p:spPr>
        </p:cxnSp>
        <p:cxnSp>
          <p:nvCxnSpPr>
            <p:cNvPr id="621" name="Google Shape;621;p35"/>
            <p:cNvCxnSpPr/>
            <p:nvPr/>
          </p:nvCxnSpPr>
          <p:spPr>
            <a:xfrm>
              <a:off x="4073" y="2341"/>
              <a:ext cx="0" cy="364"/>
            </a:xfrm>
            <a:prstGeom prst="straightConnector1">
              <a:avLst/>
            </a:prstGeom>
            <a:noFill/>
            <a:ln cap="flat" cmpd="sng" w="9525">
              <a:solidFill>
                <a:schemeClr val="dk1"/>
              </a:solidFill>
              <a:prstDash val="solid"/>
              <a:miter lim="800000"/>
              <a:headEnd len="med" w="med" type="none"/>
              <a:tailEnd len="med" w="med" type="none"/>
            </a:ln>
          </p:spPr>
        </p:cxnSp>
      </p:grpSp>
      <p:sp>
        <p:nvSpPr>
          <p:cNvPr id="622" name="Google Shape;622;p35"/>
          <p:cNvSpPr txBox="1"/>
          <p:nvPr/>
        </p:nvSpPr>
        <p:spPr>
          <a:xfrm>
            <a:off x="8048625" y="2527300"/>
            <a:ext cx="5032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5f</a:t>
            </a:r>
            <a:endParaRPr/>
          </a:p>
        </p:txBody>
      </p:sp>
      <p:grpSp>
        <p:nvGrpSpPr>
          <p:cNvPr id="623" name="Google Shape;623;p35"/>
          <p:cNvGrpSpPr/>
          <p:nvPr/>
        </p:nvGrpSpPr>
        <p:grpSpPr>
          <a:xfrm>
            <a:off x="7905750" y="1628775"/>
            <a:ext cx="1152525" cy="1295400"/>
            <a:chOff x="1079" y="1026"/>
            <a:chExt cx="726" cy="816"/>
          </a:xfrm>
        </p:grpSpPr>
        <p:cxnSp>
          <p:nvCxnSpPr>
            <p:cNvPr id="624" name="Google Shape;624;p35"/>
            <p:cNvCxnSpPr/>
            <p:nvPr/>
          </p:nvCxnSpPr>
          <p:spPr>
            <a:xfrm>
              <a:off x="1442" y="1434"/>
              <a:ext cx="0" cy="408"/>
            </a:xfrm>
            <a:prstGeom prst="straightConnector1">
              <a:avLst/>
            </a:prstGeom>
            <a:noFill/>
            <a:ln cap="flat" cmpd="sng" w="76200">
              <a:solidFill>
                <a:srgbClr val="FF0000"/>
              </a:solidFill>
              <a:prstDash val="solid"/>
              <a:miter lim="800000"/>
              <a:headEnd len="med" w="med" type="none"/>
              <a:tailEnd len="med" w="med" type="triangle"/>
            </a:ln>
          </p:spPr>
        </p:cxnSp>
        <p:sp>
          <p:nvSpPr>
            <p:cNvPr id="625" name="Google Shape;625;p35"/>
            <p:cNvSpPr/>
            <p:nvPr/>
          </p:nvSpPr>
          <p:spPr>
            <a:xfrm>
              <a:off x="1369" y="1262"/>
              <a:ext cx="136" cy="181"/>
            </a:xfrm>
            <a:prstGeom prst="ellipse">
              <a:avLst/>
            </a:prstGeom>
            <a:solidFill>
              <a:srgbClr val="FF0000"/>
            </a:solidFill>
            <a:ln cap="flat" cmpd="sng" w="571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6" name="Google Shape;626;p35"/>
            <p:cNvSpPr txBox="1"/>
            <p:nvPr/>
          </p:nvSpPr>
          <p:spPr>
            <a:xfrm>
              <a:off x="1079" y="1026"/>
              <a:ext cx="72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pTail</a:t>
              </a:r>
              <a:endParaRPr/>
            </a:p>
          </p:txBody>
        </p:sp>
      </p:grpSp>
      <p:grpSp>
        <p:nvGrpSpPr>
          <p:cNvPr id="627" name="Google Shape;627;p35"/>
          <p:cNvGrpSpPr/>
          <p:nvPr/>
        </p:nvGrpSpPr>
        <p:grpSpPr>
          <a:xfrm>
            <a:off x="2865437" y="2781300"/>
            <a:ext cx="863600" cy="1008062"/>
            <a:chOff x="2122" y="2568"/>
            <a:chExt cx="453" cy="408"/>
          </a:xfrm>
        </p:grpSpPr>
        <p:cxnSp>
          <p:nvCxnSpPr>
            <p:cNvPr id="628" name="Google Shape;628;p35"/>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629" name="Google Shape;629;p35"/>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grpSp>
        <p:nvGrpSpPr>
          <p:cNvPr id="630" name="Google Shape;630;p35"/>
          <p:cNvGrpSpPr/>
          <p:nvPr/>
        </p:nvGrpSpPr>
        <p:grpSpPr>
          <a:xfrm>
            <a:off x="4810125" y="2781300"/>
            <a:ext cx="863600" cy="1008062"/>
            <a:chOff x="2122" y="2568"/>
            <a:chExt cx="453" cy="408"/>
          </a:xfrm>
        </p:grpSpPr>
        <p:cxnSp>
          <p:nvCxnSpPr>
            <p:cNvPr id="631" name="Google Shape;631;p35"/>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632" name="Google Shape;632;p35"/>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grpSp>
        <p:nvGrpSpPr>
          <p:cNvPr id="633" name="Google Shape;633;p35"/>
          <p:cNvGrpSpPr/>
          <p:nvPr/>
        </p:nvGrpSpPr>
        <p:grpSpPr>
          <a:xfrm>
            <a:off x="6537325" y="2781300"/>
            <a:ext cx="863600" cy="1008062"/>
            <a:chOff x="2122" y="2568"/>
            <a:chExt cx="453" cy="408"/>
          </a:xfrm>
        </p:grpSpPr>
        <p:cxnSp>
          <p:nvCxnSpPr>
            <p:cNvPr id="634" name="Google Shape;634;p35"/>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635" name="Google Shape;635;p35"/>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grpSp>
        <p:nvGrpSpPr>
          <p:cNvPr id="636" name="Google Shape;636;p35"/>
          <p:cNvGrpSpPr/>
          <p:nvPr/>
        </p:nvGrpSpPr>
        <p:grpSpPr>
          <a:xfrm>
            <a:off x="8193087" y="2781300"/>
            <a:ext cx="863600" cy="1008062"/>
            <a:chOff x="2122" y="2568"/>
            <a:chExt cx="453" cy="408"/>
          </a:xfrm>
        </p:grpSpPr>
        <p:cxnSp>
          <p:nvCxnSpPr>
            <p:cNvPr id="637" name="Google Shape;637;p35"/>
            <p:cNvCxnSpPr/>
            <p:nvPr/>
          </p:nvCxnSpPr>
          <p:spPr>
            <a:xfrm>
              <a:off x="2122" y="2568"/>
              <a:ext cx="408" cy="363"/>
            </a:xfrm>
            <a:prstGeom prst="straightConnector1">
              <a:avLst/>
            </a:prstGeom>
            <a:noFill/>
            <a:ln cap="flat" cmpd="sng" w="57150">
              <a:solidFill>
                <a:srgbClr val="000080"/>
              </a:solidFill>
              <a:prstDash val="solid"/>
              <a:miter lim="800000"/>
              <a:headEnd len="med" w="med" type="none"/>
              <a:tailEnd len="med" w="med" type="none"/>
            </a:ln>
          </p:spPr>
        </p:cxnSp>
        <p:cxnSp>
          <p:nvCxnSpPr>
            <p:cNvPr id="638" name="Google Shape;638;p35"/>
            <p:cNvCxnSpPr/>
            <p:nvPr/>
          </p:nvCxnSpPr>
          <p:spPr>
            <a:xfrm flipH="1">
              <a:off x="2122" y="2568"/>
              <a:ext cx="453" cy="408"/>
            </a:xfrm>
            <a:prstGeom prst="straightConnector1">
              <a:avLst/>
            </a:prstGeom>
            <a:noFill/>
            <a:ln cap="flat" cmpd="sng" w="57150">
              <a:solidFill>
                <a:srgbClr val="000080"/>
              </a:solidFill>
              <a:prstDash val="solid"/>
              <a:miter lim="800000"/>
              <a:headEnd len="med" w="med" type="none"/>
              <a:tailEnd len="med" w="med" type="none"/>
            </a:ln>
          </p:spPr>
        </p:cxn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3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Sắp xếp danh sách</a:t>
            </a:r>
            <a:endParaRPr/>
          </a:p>
        </p:txBody>
      </p:sp>
      <p:sp>
        <p:nvSpPr>
          <p:cNvPr id="644" name="Google Shape;644;p36"/>
          <p:cNvSpPr txBox="1"/>
          <p:nvPr>
            <p:ph idx="1" type="body"/>
          </p:nvPr>
        </p:nvSpPr>
        <p:spPr>
          <a:xfrm>
            <a:off x="700087" y="765175"/>
            <a:ext cx="9129600" cy="1295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Có hai cách tiếp cận</a:t>
            </a:r>
            <a:endParaRPr/>
          </a:p>
          <a:p>
            <a:pPr indent="-342900" lvl="0" marL="342900" rtl="0" algn="l">
              <a:lnSpc>
                <a:spcPct val="100000"/>
              </a:lnSpc>
              <a:spcBef>
                <a:spcPts val="56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Cách 1</a:t>
            </a:r>
            <a:r>
              <a:rPr b="0" i="0" lang="en-US" sz="2800" u="none">
                <a:solidFill>
                  <a:schemeClr val="dk1"/>
                </a:solidFill>
                <a:latin typeface="Arial"/>
                <a:ea typeface="Arial"/>
                <a:cs typeface="Arial"/>
                <a:sym typeface="Arial"/>
              </a:rPr>
              <a:t>: Thay đổi thành phần Info</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
        <p:nvSpPr>
          <p:cNvPr id="645" name="Google Shape;645;p36"/>
          <p:cNvSpPr txBox="1"/>
          <p:nvPr/>
        </p:nvSpPr>
        <p:spPr>
          <a:xfrm>
            <a:off x="2362200" y="2911475"/>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4f</a:t>
            </a:r>
            <a:endParaRPr/>
          </a:p>
        </p:txBody>
      </p:sp>
      <p:sp>
        <p:nvSpPr>
          <p:cNvPr id="646" name="Google Shape;646;p36"/>
          <p:cNvSpPr txBox="1"/>
          <p:nvPr/>
        </p:nvSpPr>
        <p:spPr>
          <a:xfrm>
            <a:off x="1600200" y="2911475"/>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a:t>
            </a:r>
            <a:endParaRPr/>
          </a:p>
        </p:txBody>
      </p:sp>
      <p:cxnSp>
        <p:nvCxnSpPr>
          <p:cNvPr id="647" name="Google Shape;647;p36"/>
          <p:cNvCxnSpPr/>
          <p:nvPr/>
        </p:nvCxnSpPr>
        <p:spPr>
          <a:xfrm>
            <a:off x="1600200" y="2911475"/>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48" name="Google Shape;648;p36"/>
          <p:cNvCxnSpPr/>
          <p:nvPr/>
        </p:nvCxnSpPr>
        <p:spPr>
          <a:xfrm>
            <a:off x="1600200" y="3444875"/>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49" name="Google Shape;649;p36"/>
          <p:cNvCxnSpPr/>
          <p:nvPr/>
        </p:nvCxnSpPr>
        <p:spPr>
          <a:xfrm>
            <a:off x="1600200" y="2911475"/>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50" name="Google Shape;650;p36"/>
          <p:cNvCxnSpPr/>
          <p:nvPr/>
        </p:nvCxnSpPr>
        <p:spPr>
          <a:xfrm>
            <a:off x="2362200" y="2911475"/>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51" name="Google Shape;651;p36"/>
          <p:cNvCxnSpPr/>
          <p:nvPr/>
        </p:nvCxnSpPr>
        <p:spPr>
          <a:xfrm>
            <a:off x="3124200" y="2911475"/>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52" name="Google Shape;652;p36"/>
          <p:cNvSpPr txBox="1"/>
          <p:nvPr/>
        </p:nvSpPr>
        <p:spPr>
          <a:xfrm>
            <a:off x="1676400" y="2492375"/>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3f</a:t>
            </a:r>
            <a:endParaRPr/>
          </a:p>
        </p:txBody>
      </p:sp>
      <p:sp>
        <p:nvSpPr>
          <p:cNvPr id="653" name="Google Shape;653;p36"/>
          <p:cNvSpPr txBox="1"/>
          <p:nvPr/>
        </p:nvSpPr>
        <p:spPr>
          <a:xfrm>
            <a:off x="7467600" y="2911475"/>
            <a:ext cx="1143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N</a:t>
            </a:r>
            <a:endParaRPr/>
          </a:p>
        </p:txBody>
      </p:sp>
      <p:sp>
        <p:nvSpPr>
          <p:cNvPr id="654" name="Google Shape;654;p36"/>
          <p:cNvSpPr txBox="1"/>
          <p:nvPr/>
        </p:nvSpPr>
        <p:spPr>
          <a:xfrm>
            <a:off x="6781800" y="2911475"/>
            <a:ext cx="6858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6</a:t>
            </a:r>
            <a:endParaRPr/>
          </a:p>
        </p:txBody>
      </p:sp>
      <p:cxnSp>
        <p:nvCxnSpPr>
          <p:cNvPr id="655" name="Google Shape;655;p36"/>
          <p:cNvCxnSpPr/>
          <p:nvPr/>
        </p:nvCxnSpPr>
        <p:spPr>
          <a:xfrm>
            <a:off x="6781800" y="2911475"/>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656" name="Google Shape;656;p36"/>
          <p:cNvCxnSpPr/>
          <p:nvPr/>
        </p:nvCxnSpPr>
        <p:spPr>
          <a:xfrm>
            <a:off x="6781800" y="3444875"/>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657" name="Google Shape;657;p36"/>
          <p:cNvCxnSpPr/>
          <p:nvPr/>
        </p:nvCxnSpPr>
        <p:spPr>
          <a:xfrm>
            <a:off x="6781800" y="2911475"/>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58" name="Google Shape;658;p36"/>
          <p:cNvCxnSpPr/>
          <p:nvPr/>
        </p:nvCxnSpPr>
        <p:spPr>
          <a:xfrm>
            <a:off x="7467600" y="2911475"/>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59" name="Google Shape;659;p36"/>
          <p:cNvCxnSpPr/>
          <p:nvPr/>
        </p:nvCxnSpPr>
        <p:spPr>
          <a:xfrm>
            <a:off x="8610600" y="2911475"/>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60" name="Google Shape;660;p36"/>
          <p:cNvSpPr txBox="1"/>
          <p:nvPr/>
        </p:nvSpPr>
        <p:spPr>
          <a:xfrm>
            <a:off x="4953000" y="2911475"/>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5f</a:t>
            </a:r>
            <a:endParaRPr/>
          </a:p>
        </p:txBody>
      </p:sp>
      <p:sp>
        <p:nvSpPr>
          <p:cNvPr id="661" name="Google Shape;661;p36"/>
          <p:cNvSpPr txBox="1"/>
          <p:nvPr/>
        </p:nvSpPr>
        <p:spPr>
          <a:xfrm>
            <a:off x="4191000" y="2911475"/>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7</a:t>
            </a:r>
            <a:endParaRPr/>
          </a:p>
        </p:txBody>
      </p:sp>
      <p:cxnSp>
        <p:nvCxnSpPr>
          <p:cNvPr id="662" name="Google Shape;662;p36"/>
          <p:cNvCxnSpPr/>
          <p:nvPr/>
        </p:nvCxnSpPr>
        <p:spPr>
          <a:xfrm>
            <a:off x="4191000" y="2911475"/>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63" name="Google Shape;663;p36"/>
          <p:cNvCxnSpPr/>
          <p:nvPr/>
        </p:nvCxnSpPr>
        <p:spPr>
          <a:xfrm>
            <a:off x="4191000" y="3444875"/>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64" name="Google Shape;664;p36"/>
          <p:cNvCxnSpPr/>
          <p:nvPr/>
        </p:nvCxnSpPr>
        <p:spPr>
          <a:xfrm>
            <a:off x="4191000" y="2911475"/>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65" name="Google Shape;665;p36"/>
          <p:cNvCxnSpPr/>
          <p:nvPr/>
        </p:nvCxnSpPr>
        <p:spPr>
          <a:xfrm>
            <a:off x="4953000" y="2911475"/>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66" name="Google Shape;666;p36"/>
          <p:cNvCxnSpPr/>
          <p:nvPr/>
        </p:nvCxnSpPr>
        <p:spPr>
          <a:xfrm>
            <a:off x="5715000" y="2911475"/>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67" name="Google Shape;667;p36"/>
          <p:cNvSpPr txBox="1"/>
          <p:nvPr/>
        </p:nvSpPr>
        <p:spPr>
          <a:xfrm>
            <a:off x="4191000" y="2492375"/>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4f</a:t>
            </a:r>
            <a:endParaRPr/>
          </a:p>
        </p:txBody>
      </p:sp>
      <p:sp>
        <p:nvSpPr>
          <p:cNvPr id="668" name="Google Shape;668;p36"/>
          <p:cNvSpPr txBox="1"/>
          <p:nvPr/>
        </p:nvSpPr>
        <p:spPr>
          <a:xfrm>
            <a:off x="6643687" y="2492375"/>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5f</a:t>
            </a:r>
            <a:endParaRPr/>
          </a:p>
        </p:txBody>
      </p:sp>
      <p:cxnSp>
        <p:nvCxnSpPr>
          <p:cNvPr id="669" name="Google Shape;669;p36"/>
          <p:cNvCxnSpPr/>
          <p:nvPr/>
        </p:nvCxnSpPr>
        <p:spPr>
          <a:xfrm>
            <a:off x="3124200" y="3216275"/>
            <a:ext cx="10668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670" name="Google Shape;670;p36"/>
          <p:cNvCxnSpPr/>
          <p:nvPr/>
        </p:nvCxnSpPr>
        <p:spPr>
          <a:xfrm>
            <a:off x="5715000" y="3201987"/>
            <a:ext cx="1066800" cy="0"/>
          </a:xfrm>
          <a:prstGeom prst="straightConnector1">
            <a:avLst/>
          </a:prstGeom>
          <a:noFill/>
          <a:ln cap="flat" cmpd="sng" w="50800">
            <a:solidFill>
              <a:schemeClr val="dk1"/>
            </a:solidFill>
            <a:prstDash val="solid"/>
            <a:miter lim="800000"/>
            <a:headEnd len="med" w="med" type="none"/>
            <a:tailEnd len="med" w="med" type="triangle"/>
          </a:ln>
        </p:spPr>
      </p:cxnSp>
      <p:sp>
        <p:nvSpPr>
          <p:cNvPr id="671" name="Google Shape;671;p36"/>
          <p:cNvSpPr txBox="1"/>
          <p:nvPr/>
        </p:nvSpPr>
        <p:spPr>
          <a:xfrm>
            <a:off x="990600" y="1828800"/>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pHead</a:t>
            </a:r>
            <a:endParaRPr/>
          </a:p>
        </p:txBody>
      </p:sp>
      <p:sp>
        <p:nvSpPr>
          <p:cNvPr id="672" name="Google Shape;672;p36"/>
          <p:cNvSpPr txBox="1"/>
          <p:nvPr/>
        </p:nvSpPr>
        <p:spPr>
          <a:xfrm>
            <a:off x="6934200" y="1828800"/>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pTail</a:t>
            </a:r>
            <a:endParaRPr/>
          </a:p>
        </p:txBody>
      </p:sp>
      <p:cxnSp>
        <p:nvCxnSpPr>
          <p:cNvPr id="673" name="Google Shape;673;p36"/>
          <p:cNvCxnSpPr/>
          <p:nvPr/>
        </p:nvCxnSpPr>
        <p:spPr>
          <a:xfrm>
            <a:off x="1676400" y="2438400"/>
            <a:ext cx="0" cy="457200"/>
          </a:xfrm>
          <a:prstGeom prst="straightConnector1">
            <a:avLst/>
          </a:prstGeom>
          <a:noFill/>
          <a:ln cap="flat" cmpd="sng" w="57150">
            <a:solidFill>
              <a:srgbClr val="FF0000"/>
            </a:solidFill>
            <a:prstDash val="solid"/>
            <a:miter lim="800000"/>
            <a:headEnd len="med" w="med" type="none"/>
            <a:tailEnd len="med" w="med" type="triangle"/>
          </a:ln>
        </p:spPr>
      </p:cxnSp>
      <p:cxnSp>
        <p:nvCxnSpPr>
          <p:cNvPr id="674" name="Google Shape;674;p36"/>
          <p:cNvCxnSpPr/>
          <p:nvPr/>
        </p:nvCxnSpPr>
        <p:spPr>
          <a:xfrm>
            <a:off x="7162800" y="2438400"/>
            <a:ext cx="0" cy="457200"/>
          </a:xfrm>
          <a:prstGeom prst="straightConnector1">
            <a:avLst/>
          </a:prstGeom>
          <a:noFill/>
          <a:ln cap="flat" cmpd="sng" w="57150">
            <a:solidFill>
              <a:srgbClr val="FF0000"/>
            </a:solidFill>
            <a:prstDash val="solid"/>
            <a:miter lim="800000"/>
            <a:headEnd len="med" w="med" type="none"/>
            <a:tailEnd len="med" w="med" type="triangle"/>
          </a:ln>
        </p:spPr>
      </p:cxnSp>
      <p:sp>
        <p:nvSpPr>
          <p:cNvPr id="675" name="Google Shape;675;p36"/>
          <p:cNvSpPr txBox="1"/>
          <p:nvPr/>
        </p:nvSpPr>
        <p:spPr>
          <a:xfrm>
            <a:off x="2436812" y="48641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4f</a:t>
            </a:r>
            <a:endParaRPr/>
          </a:p>
        </p:txBody>
      </p:sp>
      <p:sp>
        <p:nvSpPr>
          <p:cNvPr id="676" name="Google Shape;676;p36"/>
          <p:cNvSpPr txBox="1"/>
          <p:nvPr/>
        </p:nvSpPr>
        <p:spPr>
          <a:xfrm>
            <a:off x="1674812" y="48641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a:t>
            </a:r>
            <a:endParaRPr/>
          </a:p>
        </p:txBody>
      </p:sp>
      <p:cxnSp>
        <p:nvCxnSpPr>
          <p:cNvPr id="677" name="Google Shape;677;p36"/>
          <p:cNvCxnSpPr/>
          <p:nvPr/>
        </p:nvCxnSpPr>
        <p:spPr>
          <a:xfrm>
            <a:off x="1674812" y="48641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78" name="Google Shape;678;p36"/>
          <p:cNvCxnSpPr/>
          <p:nvPr/>
        </p:nvCxnSpPr>
        <p:spPr>
          <a:xfrm>
            <a:off x="1674812" y="53975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79" name="Google Shape;679;p36"/>
          <p:cNvCxnSpPr/>
          <p:nvPr/>
        </p:nvCxnSpPr>
        <p:spPr>
          <a:xfrm>
            <a:off x="1674812" y="48641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80" name="Google Shape;680;p36"/>
          <p:cNvCxnSpPr/>
          <p:nvPr/>
        </p:nvCxnSpPr>
        <p:spPr>
          <a:xfrm>
            <a:off x="2436812" y="48641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81" name="Google Shape;681;p36"/>
          <p:cNvCxnSpPr/>
          <p:nvPr/>
        </p:nvCxnSpPr>
        <p:spPr>
          <a:xfrm>
            <a:off x="3198812" y="486410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82" name="Google Shape;682;p36"/>
          <p:cNvSpPr txBox="1"/>
          <p:nvPr/>
        </p:nvSpPr>
        <p:spPr>
          <a:xfrm>
            <a:off x="1819275" y="443706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3f</a:t>
            </a:r>
            <a:endParaRPr/>
          </a:p>
        </p:txBody>
      </p:sp>
      <p:sp>
        <p:nvSpPr>
          <p:cNvPr id="683" name="Google Shape;683;p36"/>
          <p:cNvSpPr txBox="1"/>
          <p:nvPr/>
        </p:nvSpPr>
        <p:spPr>
          <a:xfrm>
            <a:off x="7542212" y="4864100"/>
            <a:ext cx="1143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N</a:t>
            </a:r>
            <a:endParaRPr/>
          </a:p>
        </p:txBody>
      </p:sp>
      <p:sp>
        <p:nvSpPr>
          <p:cNvPr id="684" name="Google Shape;684;p36"/>
          <p:cNvSpPr txBox="1"/>
          <p:nvPr/>
        </p:nvSpPr>
        <p:spPr>
          <a:xfrm>
            <a:off x="6856412" y="4864100"/>
            <a:ext cx="6858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E04A0E"/>
              </a:buClr>
              <a:buSzPts val="2800"/>
              <a:buFont typeface="Helvetica Neue"/>
              <a:buNone/>
            </a:pPr>
            <a:r>
              <a:rPr b="1" i="0" lang="en-US" sz="2800" u="none">
                <a:solidFill>
                  <a:srgbClr val="E04A0E"/>
                </a:solidFill>
                <a:latin typeface="Helvetica Neue"/>
                <a:ea typeface="Helvetica Neue"/>
                <a:cs typeface="Helvetica Neue"/>
                <a:sym typeface="Helvetica Neue"/>
              </a:rPr>
              <a:t>7</a:t>
            </a:r>
            <a:endParaRPr/>
          </a:p>
        </p:txBody>
      </p:sp>
      <p:cxnSp>
        <p:nvCxnSpPr>
          <p:cNvPr id="685" name="Google Shape;685;p36"/>
          <p:cNvCxnSpPr/>
          <p:nvPr/>
        </p:nvCxnSpPr>
        <p:spPr>
          <a:xfrm>
            <a:off x="6856412" y="4864100"/>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686" name="Google Shape;686;p36"/>
          <p:cNvCxnSpPr/>
          <p:nvPr/>
        </p:nvCxnSpPr>
        <p:spPr>
          <a:xfrm>
            <a:off x="6856412" y="5397500"/>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687" name="Google Shape;687;p36"/>
          <p:cNvCxnSpPr/>
          <p:nvPr/>
        </p:nvCxnSpPr>
        <p:spPr>
          <a:xfrm>
            <a:off x="6856412" y="48641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88" name="Google Shape;688;p36"/>
          <p:cNvCxnSpPr/>
          <p:nvPr/>
        </p:nvCxnSpPr>
        <p:spPr>
          <a:xfrm>
            <a:off x="7542212" y="48641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89" name="Google Shape;689;p36"/>
          <p:cNvCxnSpPr/>
          <p:nvPr/>
        </p:nvCxnSpPr>
        <p:spPr>
          <a:xfrm>
            <a:off x="8685212" y="486410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90" name="Google Shape;690;p36"/>
          <p:cNvSpPr txBox="1"/>
          <p:nvPr/>
        </p:nvSpPr>
        <p:spPr>
          <a:xfrm>
            <a:off x="5027612" y="48641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5f</a:t>
            </a:r>
            <a:endParaRPr/>
          </a:p>
        </p:txBody>
      </p:sp>
      <p:sp>
        <p:nvSpPr>
          <p:cNvPr id="691" name="Google Shape;691;p36"/>
          <p:cNvSpPr txBox="1"/>
          <p:nvPr/>
        </p:nvSpPr>
        <p:spPr>
          <a:xfrm>
            <a:off x="4265612" y="48641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E04A0E"/>
              </a:buClr>
              <a:buSzPts val="2800"/>
              <a:buFont typeface="Helvetica Neue"/>
              <a:buNone/>
            </a:pPr>
            <a:r>
              <a:rPr b="1" i="0" lang="en-US" sz="2800" u="none">
                <a:solidFill>
                  <a:srgbClr val="E04A0E"/>
                </a:solidFill>
                <a:latin typeface="Helvetica Neue"/>
                <a:ea typeface="Helvetica Neue"/>
                <a:cs typeface="Helvetica Neue"/>
                <a:sym typeface="Helvetica Neue"/>
              </a:rPr>
              <a:t>6</a:t>
            </a:r>
            <a:endParaRPr/>
          </a:p>
        </p:txBody>
      </p:sp>
      <p:cxnSp>
        <p:nvCxnSpPr>
          <p:cNvPr id="692" name="Google Shape;692;p36"/>
          <p:cNvCxnSpPr/>
          <p:nvPr/>
        </p:nvCxnSpPr>
        <p:spPr>
          <a:xfrm>
            <a:off x="4265612" y="48641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93" name="Google Shape;693;p36"/>
          <p:cNvCxnSpPr/>
          <p:nvPr/>
        </p:nvCxnSpPr>
        <p:spPr>
          <a:xfrm>
            <a:off x="4265612" y="53975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694" name="Google Shape;694;p36"/>
          <p:cNvCxnSpPr/>
          <p:nvPr/>
        </p:nvCxnSpPr>
        <p:spPr>
          <a:xfrm>
            <a:off x="4265612" y="48641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695" name="Google Shape;695;p36"/>
          <p:cNvCxnSpPr/>
          <p:nvPr/>
        </p:nvCxnSpPr>
        <p:spPr>
          <a:xfrm>
            <a:off x="5027612" y="48641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696" name="Google Shape;696;p36"/>
          <p:cNvCxnSpPr/>
          <p:nvPr/>
        </p:nvCxnSpPr>
        <p:spPr>
          <a:xfrm>
            <a:off x="5789612" y="486410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697" name="Google Shape;697;p36"/>
          <p:cNvSpPr txBox="1"/>
          <p:nvPr/>
        </p:nvSpPr>
        <p:spPr>
          <a:xfrm>
            <a:off x="4265612" y="443706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4f</a:t>
            </a:r>
            <a:endParaRPr/>
          </a:p>
        </p:txBody>
      </p:sp>
      <p:sp>
        <p:nvSpPr>
          <p:cNvPr id="698" name="Google Shape;698;p36"/>
          <p:cNvSpPr txBox="1"/>
          <p:nvPr/>
        </p:nvSpPr>
        <p:spPr>
          <a:xfrm>
            <a:off x="6715125" y="441166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5f</a:t>
            </a:r>
            <a:endParaRPr/>
          </a:p>
        </p:txBody>
      </p:sp>
      <p:cxnSp>
        <p:nvCxnSpPr>
          <p:cNvPr id="699" name="Google Shape;699;p36"/>
          <p:cNvCxnSpPr/>
          <p:nvPr/>
        </p:nvCxnSpPr>
        <p:spPr>
          <a:xfrm>
            <a:off x="3198812" y="5168900"/>
            <a:ext cx="10668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00" name="Google Shape;700;p36"/>
          <p:cNvCxnSpPr/>
          <p:nvPr/>
        </p:nvCxnSpPr>
        <p:spPr>
          <a:xfrm>
            <a:off x="5789612" y="5154612"/>
            <a:ext cx="1066800" cy="0"/>
          </a:xfrm>
          <a:prstGeom prst="straightConnector1">
            <a:avLst/>
          </a:prstGeom>
          <a:noFill/>
          <a:ln cap="flat" cmpd="sng" w="50800">
            <a:solidFill>
              <a:schemeClr val="dk1"/>
            </a:solidFill>
            <a:prstDash val="solid"/>
            <a:miter lim="800000"/>
            <a:headEnd len="med" w="med" type="none"/>
            <a:tailEnd len="med" w="med" type="triangle"/>
          </a:ln>
        </p:spPr>
      </p:cxnSp>
      <p:sp>
        <p:nvSpPr>
          <p:cNvPr id="701" name="Google Shape;701;p36"/>
          <p:cNvSpPr txBox="1"/>
          <p:nvPr/>
        </p:nvSpPr>
        <p:spPr>
          <a:xfrm>
            <a:off x="1065212" y="393382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pHead</a:t>
            </a:r>
            <a:endParaRPr/>
          </a:p>
        </p:txBody>
      </p:sp>
      <p:sp>
        <p:nvSpPr>
          <p:cNvPr id="702" name="Google Shape;702;p36"/>
          <p:cNvSpPr txBox="1"/>
          <p:nvPr/>
        </p:nvSpPr>
        <p:spPr>
          <a:xfrm>
            <a:off x="7008812" y="393382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pTail</a:t>
            </a:r>
            <a:endParaRPr/>
          </a:p>
        </p:txBody>
      </p:sp>
      <p:cxnSp>
        <p:nvCxnSpPr>
          <p:cNvPr id="703" name="Google Shape;703;p36"/>
          <p:cNvCxnSpPr/>
          <p:nvPr/>
        </p:nvCxnSpPr>
        <p:spPr>
          <a:xfrm>
            <a:off x="1751012" y="4391025"/>
            <a:ext cx="0" cy="457200"/>
          </a:xfrm>
          <a:prstGeom prst="straightConnector1">
            <a:avLst/>
          </a:prstGeom>
          <a:noFill/>
          <a:ln cap="flat" cmpd="sng" w="57150">
            <a:solidFill>
              <a:srgbClr val="FF0000"/>
            </a:solidFill>
            <a:prstDash val="solid"/>
            <a:miter lim="800000"/>
            <a:headEnd len="med" w="med" type="none"/>
            <a:tailEnd len="med" w="med" type="triangle"/>
          </a:ln>
        </p:spPr>
      </p:cxnSp>
      <p:cxnSp>
        <p:nvCxnSpPr>
          <p:cNvPr id="704" name="Google Shape;704;p36"/>
          <p:cNvCxnSpPr/>
          <p:nvPr/>
        </p:nvCxnSpPr>
        <p:spPr>
          <a:xfrm>
            <a:off x="7237412" y="4391025"/>
            <a:ext cx="0" cy="457200"/>
          </a:xfrm>
          <a:prstGeom prst="straightConnector1">
            <a:avLst/>
          </a:prstGeom>
          <a:noFill/>
          <a:ln cap="flat" cmpd="sng" w="57150">
            <a:solidFill>
              <a:srgbClr val="FF0000"/>
            </a:solidFill>
            <a:prstDash val="solid"/>
            <a:miter lim="800000"/>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Sắp xếp danh sách</a:t>
            </a:r>
            <a:endParaRPr/>
          </a:p>
        </p:txBody>
      </p:sp>
      <p:sp>
        <p:nvSpPr>
          <p:cNvPr id="710" name="Google Shape;710;p37"/>
          <p:cNvSpPr txBox="1"/>
          <p:nvPr>
            <p:ph idx="1" type="body"/>
          </p:nvPr>
        </p:nvSpPr>
        <p:spPr>
          <a:xfrm>
            <a:off x="776287" y="765175"/>
            <a:ext cx="9129712" cy="16557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Noto Sans Symbols"/>
              <a:buChar char="⮚"/>
            </a:pPr>
            <a:r>
              <a:rPr b="1" i="0" lang="en-US" sz="3200" u="none">
                <a:solidFill>
                  <a:schemeClr val="dk1"/>
                </a:solidFill>
                <a:latin typeface="Arial"/>
                <a:ea typeface="Arial"/>
                <a:cs typeface="Arial"/>
                <a:sym typeface="Arial"/>
              </a:rPr>
              <a:t>Cách 2</a:t>
            </a:r>
            <a:r>
              <a:rPr b="0" i="0" lang="en-US" sz="3200" u="none">
                <a:solidFill>
                  <a:schemeClr val="dk1"/>
                </a:solidFill>
                <a:latin typeface="Arial"/>
                <a:ea typeface="Arial"/>
                <a:cs typeface="Arial"/>
                <a:sym typeface="Arial"/>
              </a:rPr>
              <a:t>: Thay đổi thành phần pNext (thay đổi trình tự móc nối của các phần tử sao cho tạo lập nên được thứ tự mong muốn)</a:t>
            </a:r>
            <a:endParaRPr/>
          </a:p>
        </p:txBody>
      </p:sp>
      <p:sp>
        <p:nvSpPr>
          <p:cNvPr id="711" name="Google Shape;711;p37"/>
          <p:cNvSpPr txBox="1"/>
          <p:nvPr/>
        </p:nvSpPr>
        <p:spPr>
          <a:xfrm>
            <a:off x="1606550" y="4762500"/>
            <a:ext cx="685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3f</a:t>
            </a:r>
            <a:endParaRPr/>
          </a:p>
        </p:txBody>
      </p:sp>
      <p:sp>
        <p:nvSpPr>
          <p:cNvPr id="712" name="Google Shape;712;p37"/>
          <p:cNvSpPr txBox="1"/>
          <p:nvPr/>
        </p:nvSpPr>
        <p:spPr>
          <a:xfrm>
            <a:off x="4121150" y="4746625"/>
            <a:ext cx="685800" cy="434975"/>
          </a:xfrm>
          <a:prstGeom prst="rect">
            <a:avLst/>
          </a:prstGeom>
          <a:noFill/>
          <a:ln cap="flat" cmpd="sng" w="381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Tahoma"/>
              <a:buNone/>
            </a:pPr>
            <a:r>
              <a:rPr b="1" i="0" lang="en-US" sz="2000" u="none">
                <a:solidFill>
                  <a:schemeClr val="dk2"/>
                </a:solidFill>
                <a:latin typeface="Tahoma"/>
                <a:ea typeface="Tahoma"/>
                <a:cs typeface="Tahoma"/>
                <a:sym typeface="Tahoma"/>
              </a:rPr>
              <a:t>4f</a:t>
            </a:r>
            <a:endParaRPr/>
          </a:p>
        </p:txBody>
      </p:sp>
      <p:sp>
        <p:nvSpPr>
          <p:cNvPr id="713" name="Google Shape;713;p37"/>
          <p:cNvSpPr txBox="1"/>
          <p:nvPr/>
        </p:nvSpPr>
        <p:spPr>
          <a:xfrm>
            <a:off x="6753225" y="4724400"/>
            <a:ext cx="685800" cy="434975"/>
          </a:xfrm>
          <a:prstGeom prst="rect">
            <a:avLst/>
          </a:prstGeom>
          <a:noFill/>
          <a:ln cap="flat" cmpd="sng" w="381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Tahoma"/>
              <a:buNone/>
            </a:pPr>
            <a:r>
              <a:rPr b="1" i="0" lang="en-US" sz="2000" u="none">
                <a:solidFill>
                  <a:schemeClr val="dk2"/>
                </a:solidFill>
                <a:latin typeface="Tahoma"/>
                <a:ea typeface="Tahoma"/>
                <a:cs typeface="Tahoma"/>
                <a:sym typeface="Tahoma"/>
              </a:rPr>
              <a:t>5f</a:t>
            </a:r>
            <a:endParaRPr/>
          </a:p>
        </p:txBody>
      </p:sp>
      <p:sp>
        <p:nvSpPr>
          <p:cNvPr id="714" name="Google Shape;714;p37"/>
          <p:cNvSpPr txBox="1"/>
          <p:nvPr/>
        </p:nvSpPr>
        <p:spPr>
          <a:xfrm>
            <a:off x="6711950" y="5143500"/>
            <a:ext cx="6858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6</a:t>
            </a:r>
            <a:endParaRPr/>
          </a:p>
        </p:txBody>
      </p:sp>
      <p:sp>
        <p:nvSpPr>
          <p:cNvPr id="715" name="Google Shape;715;p37"/>
          <p:cNvSpPr txBox="1"/>
          <p:nvPr/>
        </p:nvSpPr>
        <p:spPr>
          <a:xfrm>
            <a:off x="920750" y="436562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pHead</a:t>
            </a:r>
            <a:endParaRPr/>
          </a:p>
        </p:txBody>
      </p:sp>
      <p:sp>
        <p:nvSpPr>
          <p:cNvPr id="716" name="Google Shape;716;p37"/>
          <p:cNvSpPr txBox="1"/>
          <p:nvPr/>
        </p:nvSpPr>
        <p:spPr>
          <a:xfrm>
            <a:off x="4808537" y="458152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pTail</a:t>
            </a:r>
            <a:endParaRPr/>
          </a:p>
        </p:txBody>
      </p:sp>
      <p:sp>
        <p:nvSpPr>
          <p:cNvPr id="717" name="Google Shape;717;p37"/>
          <p:cNvSpPr txBox="1"/>
          <p:nvPr/>
        </p:nvSpPr>
        <p:spPr>
          <a:xfrm>
            <a:off x="2292350" y="51435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5f</a:t>
            </a:r>
            <a:endParaRPr/>
          </a:p>
        </p:txBody>
      </p:sp>
      <p:sp>
        <p:nvSpPr>
          <p:cNvPr id="718" name="Google Shape;718;p37"/>
          <p:cNvSpPr txBox="1"/>
          <p:nvPr/>
        </p:nvSpPr>
        <p:spPr>
          <a:xfrm>
            <a:off x="1530350" y="51435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a:t>
            </a:r>
            <a:endParaRPr/>
          </a:p>
        </p:txBody>
      </p:sp>
      <p:cxnSp>
        <p:nvCxnSpPr>
          <p:cNvPr id="719" name="Google Shape;719;p37"/>
          <p:cNvCxnSpPr/>
          <p:nvPr/>
        </p:nvCxnSpPr>
        <p:spPr>
          <a:xfrm>
            <a:off x="1530350" y="51435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20" name="Google Shape;720;p37"/>
          <p:cNvCxnSpPr/>
          <p:nvPr/>
        </p:nvCxnSpPr>
        <p:spPr>
          <a:xfrm>
            <a:off x="1530350" y="56769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21" name="Google Shape;721;p37"/>
          <p:cNvCxnSpPr/>
          <p:nvPr/>
        </p:nvCxnSpPr>
        <p:spPr>
          <a:xfrm>
            <a:off x="1530350" y="51435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22" name="Google Shape;722;p37"/>
          <p:cNvCxnSpPr/>
          <p:nvPr/>
        </p:nvCxnSpPr>
        <p:spPr>
          <a:xfrm>
            <a:off x="2292350" y="51435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23" name="Google Shape;723;p37"/>
          <p:cNvCxnSpPr/>
          <p:nvPr/>
        </p:nvCxnSpPr>
        <p:spPr>
          <a:xfrm>
            <a:off x="3054350" y="514350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724" name="Google Shape;724;p37"/>
          <p:cNvSpPr txBox="1"/>
          <p:nvPr/>
        </p:nvSpPr>
        <p:spPr>
          <a:xfrm>
            <a:off x="7397750" y="5143500"/>
            <a:ext cx="1143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4f</a:t>
            </a:r>
            <a:endParaRPr/>
          </a:p>
        </p:txBody>
      </p:sp>
      <p:cxnSp>
        <p:nvCxnSpPr>
          <p:cNvPr id="725" name="Google Shape;725;p37"/>
          <p:cNvCxnSpPr/>
          <p:nvPr/>
        </p:nvCxnSpPr>
        <p:spPr>
          <a:xfrm>
            <a:off x="6711950" y="5143500"/>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726" name="Google Shape;726;p37"/>
          <p:cNvCxnSpPr/>
          <p:nvPr/>
        </p:nvCxnSpPr>
        <p:spPr>
          <a:xfrm>
            <a:off x="6711950" y="5676900"/>
            <a:ext cx="1828800" cy="0"/>
          </a:xfrm>
          <a:prstGeom prst="straightConnector1">
            <a:avLst/>
          </a:prstGeom>
          <a:noFill/>
          <a:ln cap="flat" cmpd="sng" w="9525">
            <a:solidFill>
              <a:schemeClr val="dk1"/>
            </a:solidFill>
            <a:prstDash val="solid"/>
            <a:miter lim="800000"/>
            <a:headEnd len="med" w="med" type="none"/>
            <a:tailEnd len="med" w="med" type="none"/>
          </a:ln>
        </p:spPr>
      </p:cxnSp>
      <p:cxnSp>
        <p:nvCxnSpPr>
          <p:cNvPr id="727" name="Google Shape;727;p37"/>
          <p:cNvCxnSpPr/>
          <p:nvPr/>
        </p:nvCxnSpPr>
        <p:spPr>
          <a:xfrm>
            <a:off x="6711950" y="51435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28" name="Google Shape;728;p37"/>
          <p:cNvCxnSpPr/>
          <p:nvPr/>
        </p:nvCxnSpPr>
        <p:spPr>
          <a:xfrm>
            <a:off x="7397750" y="51435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29" name="Google Shape;729;p37"/>
          <p:cNvCxnSpPr/>
          <p:nvPr/>
        </p:nvCxnSpPr>
        <p:spPr>
          <a:xfrm>
            <a:off x="8540750" y="514350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730" name="Google Shape;730;p37"/>
          <p:cNvSpPr txBox="1"/>
          <p:nvPr/>
        </p:nvSpPr>
        <p:spPr>
          <a:xfrm>
            <a:off x="4883150" y="51435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N</a:t>
            </a:r>
            <a:endParaRPr/>
          </a:p>
        </p:txBody>
      </p:sp>
      <p:sp>
        <p:nvSpPr>
          <p:cNvPr id="731" name="Google Shape;731;p37"/>
          <p:cNvSpPr txBox="1"/>
          <p:nvPr/>
        </p:nvSpPr>
        <p:spPr>
          <a:xfrm>
            <a:off x="4121150" y="514350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7</a:t>
            </a:r>
            <a:endParaRPr/>
          </a:p>
        </p:txBody>
      </p:sp>
      <p:cxnSp>
        <p:nvCxnSpPr>
          <p:cNvPr id="732" name="Google Shape;732;p37"/>
          <p:cNvCxnSpPr/>
          <p:nvPr/>
        </p:nvCxnSpPr>
        <p:spPr>
          <a:xfrm>
            <a:off x="4121150" y="51435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33" name="Google Shape;733;p37"/>
          <p:cNvCxnSpPr/>
          <p:nvPr/>
        </p:nvCxnSpPr>
        <p:spPr>
          <a:xfrm>
            <a:off x="4121150" y="567690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34" name="Google Shape;734;p37"/>
          <p:cNvCxnSpPr/>
          <p:nvPr/>
        </p:nvCxnSpPr>
        <p:spPr>
          <a:xfrm>
            <a:off x="4121150" y="51435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35" name="Google Shape;735;p37"/>
          <p:cNvCxnSpPr/>
          <p:nvPr/>
        </p:nvCxnSpPr>
        <p:spPr>
          <a:xfrm>
            <a:off x="4883150" y="514350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36" name="Google Shape;736;p37"/>
          <p:cNvCxnSpPr/>
          <p:nvPr/>
        </p:nvCxnSpPr>
        <p:spPr>
          <a:xfrm>
            <a:off x="5645150" y="514350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37" name="Google Shape;737;p37"/>
          <p:cNvCxnSpPr/>
          <p:nvPr/>
        </p:nvCxnSpPr>
        <p:spPr>
          <a:xfrm>
            <a:off x="1606550" y="4670425"/>
            <a:ext cx="0" cy="457200"/>
          </a:xfrm>
          <a:prstGeom prst="straightConnector1">
            <a:avLst/>
          </a:prstGeom>
          <a:noFill/>
          <a:ln cap="flat" cmpd="sng" w="57150">
            <a:solidFill>
              <a:srgbClr val="FF0000"/>
            </a:solidFill>
            <a:prstDash val="solid"/>
            <a:miter lim="800000"/>
            <a:headEnd len="med" w="med" type="none"/>
            <a:tailEnd len="med" w="med" type="triangle"/>
          </a:ln>
        </p:spPr>
      </p:cxnSp>
      <p:cxnSp>
        <p:nvCxnSpPr>
          <p:cNvPr id="738" name="Google Shape;738;p37"/>
          <p:cNvCxnSpPr/>
          <p:nvPr/>
        </p:nvCxnSpPr>
        <p:spPr>
          <a:xfrm>
            <a:off x="4665662" y="4652962"/>
            <a:ext cx="0" cy="515937"/>
          </a:xfrm>
          <a:prstGeom prst="straightConnector1">
            <a:avLst/>
          </a:prstGeom>
          <a:noFill/>
          <a:ln cap="flat" cmpd="sng" w="57150">
            <a:solidFill>
              <a:srgbClr val="FF0000"/>
            </a:solidFill>
            <a:prstDash val="solid"/>
            <a:miter lim="800000"/>
            <a:headEnd len="med" w="med" type="none"/>
            <a:tailEnd len="med" w="med" type="triangle"/>
          </a:ln>
        </p:spPr>
      </p:cxnSp>
      <p:sp>
        <p:nvSpPr>
          <p:cNvPr id="739" name="Google Shape;739;p37"/>
          <p:cNvSpPr txBox="1"/>
          <p:nvPr/>
        </p:nvSpPr>
        <p:spPr>
          <a:xfrm>
            <a:off x="2362200" y="357505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4f</a:t>
            </a:r>
            <a:endParaRPr/>
          </a:p>
        </p:txBody>
      </p:sp>
      <p:sp>
        <p:nvSpPr>
          <p:cNvPr id="740" name="Google Shape;740;p37"/>
          <p:cNvSpPr txBox="1"/>
          <p:nvPr/>
        </p:nvSpPr>
        <p:spPr>
          <a:xfrm>
            <a:off x="1600200" y="357505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4</a:t>
            </a:r>
            <a:endParaRPr/>
          </a:p>
        </p:txBody>
      </p:sp>
      <p:cxnSp>
        <p:nvCxnSpPr>
          <p:cNvPr id="741" name="Google Shape;741;p37"/>
          <p:cNvCxnSpPr/>
          <p:nvPr/>
        </p:nvCxnSpPr>
        <p:spPr>
          <a:xfrm>
            <a:off x="1600200" y="357505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42" name="Google Shape;742;p37"/>
          <p:cNvCxnSpPr/>
          <p:nvPr/>
        </p:nvCxnSpPr>
        <p:spPr>
          <a:xfrm>
            <a:off x="1600200" y="410845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43" name="Google Shape;743;p37"/>
          <p:cNvCxnSpPr/>
          <p:nvPr/>
        </p:nvCxnSpPr>
        <p:spPr>
          <a:xfrm>
            <a:off x="1600200" y="357505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44" name="Google Shape;744;p37"/>
          <p:cNvCxnSpPr/>
          <p:nvPr/>
        </p:nvCxnSpPr>
        <p:spPr>
          <a:xfrm>
            <a:off x="2362200" y="357505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45" name="Google Shape;745;p37"/>
          <p:cNvCxnSpPr/>
          <p:nvPr/>
        </p:nvCxnSpPr>
        <p:spPr>
          <a:xfrm>
            <a:off x="3124200" y="357505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746" name="Google Shape;746;p37"/>
          <p:cNvSpPr txBox="1"/>
          <p:nvPr/>
        </p:nvSpPr>
        <p:spPr>
          <a:xfrm>
            <a:off x="1676400" y="3155950"/>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3f</a:t>
            </a:r>
            <a:endParaRPr/>
          </a:p>
        </p:txBody>
      </p:sp>
      <p:sp>
        <p:nvSpPr>
          <p:cNvPr id="747" name="Google Shape;747;p37"/>
          <p:cNvSpPr txBox="1"/>
          <p:nvPr/>
        </p:nvSpPr>
        <p:spPr>
          <a:xfrm>
            <a:off x="7467600" y="3575050"/>
            <a:ext cx="1143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N</a:t>
            </a:r>
            <a:endParaRPr/>
          </a:p>
        </p:txBody>
      </p:sp>
      <p:sp>
        <p:nvSpPr>
          <p:cNvPr id="748" name="Google Shape;748;p37"/>
          <p:cNvSpPr txBox="1"/>
          <p:nvPr/>
        </p:nvSpPr>
        <p:spPr>
          <a:xfrm>
            <a:off x="6781800" y="3575050"/>
            <a:ext cx="6858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6</a:t>
            </a:r>
            <a:endParaRPr/>
          </a:p>
        </p:txBody>
      </p:sp>
      <p:cxnSp>
        <p:nvCxnSpPr>
          <p:cNvPr id="749" name="Google Shape;749;p37"/>
          <p:cNvCxnSpPr/>
          <p:nvPr/>
        </p:nvCxnSpPr>
        <p:spPr>
          <a:xfrm>
            <a:off x="6781800" y="3575050"/>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750" name="Google Shape;750;p37"/>
          <p:cNvCxnSpPr/>
          <p:nvPr/>
        </p:nvCxnSpPr>
        <p:spPr>
          <a:xfrm>
            <a:off x="6781800" y="4108450"/>
            <a:ext cx="1828800" cy="0"/>
          </a:xfrm>
          <a:prstGeom prst="straightConnector1">
            <a:avLst/>
          </a:prstGeom>
          <a:noFill/>
          <a:ln cap="sq" cmpd="sng" w="28575">
            <a:solidFill>
              <a:schemeClr val="dk1"/>
            </a:solidFill>
            <a:prstDash val="solid"/>
            <a:miter lim="800000"/>
            <a:headEnd len="med" w="med" type="none"/>
            <a:tailEnd len="med" w="med" type="none"/>
          </a:ln>
        </p:spPr>
      </p:cxnSp>
      <p:cxnSp>
        <p:nvCxnSpPr>
          <p:cNvPr id="751" name="Google Shape;751;p37"/>
          <p:cNvCxnSpPr/>
          <p:nvPr/>
        </p:nvCxnSpPr>
        <p:spPr>
          <a:xfrm>
            <a:off x="6781800" y="357505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52" name="Google Shape;752;p37"/>
          <p:cNvCxnSpPr/>
          <p:nvPr/>
        </p:nvCxnSpPr>
        <p:spPr>
          <a:xfrm>
            <a:off x="7467600" y="357505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53" name="Google Shape;753;p37"/>
          <p:cNvCxnSpPr/>
          <p:nvPr/>
        </p:nvCxnSpPr>
        <p:spPr>
          <a:xfrm>
            <a:off x="8610600" y="357505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754" name="Google Shape;754;p37"/>
          <p:cNvSpPr txBox="1"/>
          <p:nvPr/>
        </p:nvSpPr>
        <p:spPr>
          <a:xfrm>
            <a:off x="4953000" y="357505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5f</a:t>
            </a:r>
            <a:endParaRPr/>
          </a:p>
        </p:txBody>
      </p:sp>
      <p:sp>
        <p:nvSpPr>
          <p:cNvPr id="755" name="Google Shape;755;p37"/>
          <p:cNvSpPr txBox="1"/>
          <p:nvPr/>
        </p:nvSpPr>
        <p:spPr>
          <a:xfrm>
            <a:off x="4191000" y="3575050"/>
            <a:ext cx="762000" cy="5286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Helvetica Neue"/>
              <a:buNone/>
            </a:pPr>
            <a:r>
              <a:rPr b="1" i="0" lang="en-US" sz="2800" u="none">
                <a:solidFill>
                  <a:schemeClr val="dk1"/>
                </a:solidFill>
                <a:latin typeface="Helvetica Neue"/>
                <a:ea typeface="Helvetica Neue"/>
                <a:cs typeface="Helvetica Neue"/>
                <a:sym typeface="Helvetica Neue"/>
              </a:rPr>
              <a:t>7</a:t>
            </a:r>
            <a:endParaRPr/>
          </a:p>
        </p:txBody>
      </p:sp>
      <p:cxnSp>
        <p:nvCxnSpPr>
          <p:cNvPr id="756" name="Google Shape;756;p37"/>
          <p:cNvCxnSpPr/>
          <p:nvPr/>
        </p:nvCxnSpPr>
        <p:spPr>
          <a:xfrm>
            <a:off x="4191000" y="357505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57" name="Google Shape;757;p37"/>
          <p:cNvCxnSpPr/>
          <p:nvPr/>
        </p:nvCxnSpPr>
        <p:spPr>
          <a:xfrm>
            <a:off x="4191000" y="4108450"/>
            <a:ext cx="1524000" cy="0"/>
          </a:xfrm>
          <a:prstGeom prst="straightConnector1">
            <a:avLst/>
          </a:prstGeom>
          <a:noFill/>
          <a:ln cap="sq" cmpd="sng" w="28575">
            <a:solidFill>
              <a:schemeClr val="dk1"/>
            </a:solidFill>
            <a:prstDash val="solid"/>
            <a:miter lim="800000"/>
            <a:headEnd len="med" w="med" type="none"/>
            <a:tailEnd len="med" w="med" type="none"/>
          </a:ln>
        </p:spPr>
      </p:cxnSp>
      <p:cxnSp>
        <p:nvCxnSpPr>
          <p:cNvPr id="758" name="Google Shape;758;p37"/>
          <p:cNvCxnSpPr/>
          <p:nvPr/>
        </p:nvCxnSpPr>
        <p:spPr>
          <a:xfrm>
            <a:off x="4191000" y="3575050"/>
            <a:ext cx="0" cy="533400"/>
          </a:xfrm>
          <a:prstGeom prst="straightConnector1">
            <a:avLst/>
          </a:prstGeom>
          <a:noFill/>
          <a:ln cap="sq" cmpd="sng" w="28575">
            <a:solidFill>
              <a:schemeClr val="dk1"/>
            </a:solidFill>
            <a:prstDash val="solid"/>
            <a:miter lim="800000"/>
            <a:headEnd len="med" w="med" type="none"/>
            <a:tailEnd len="med" w="med" type="none"/>
          </a:ln>
        </p:spPr>
      </p:cxnSp>
      <p:cxnSp>
        <p:nvCxnSpPr>
          <p:cNvPr id="759" name="Google Shape;759;p37"/>
          <p:cNvCxnSpPr/>
          <p:nvPr/>
        </p:nvCxnSpPr>
        <p:spPr>
          <a:xfrm>
            <a:off x="4953000" y="3575050"/>
            <a:ext cx="0" cy="533400"/>
          </a:xfrm>
          <a:prstGeom prst="straightConnector1">
            <a:avLst/>
          </a:prstGeom>
          <a:noFill/>
          <a:ln cap="flat" cmpd="sng" w="12700">
            <a:solidFill>
              <a:schemeClr val="dk1"/>
            </a:solidFill>
            <a:prstDash val="solid"/>
            <a:miter lim="800000"/>
            <a:headEnd len="med" w="med" type="none"/>
            <a:tailEnd len="med" w="med" type="none"/>
          </a:ln>
        </p:spPr>
      </p:cxnSp>
      <p:cxnSp>
        <p:nvCxnSpPr>
          <p:cNvPr id="760" name="Google Shape;760;p37"/>
          <p:cNvCxnSpPr/>
          <p:nvPr/>
        </p:nvCxnSpPr>
        <p:spPr>
          <a:xfrm>
            <a:off x="5715000" y="3575050"/>
            <a:ext cx="0" cy="533400"/>
          </a:xfrm>
          <a:prstGeom prst="straightConnector1">
            <a:avLst/>
          </a:prstGeom>
          <a:noFill/>
          <a:ln cap="sq" cmpd="sng" w="28575">
            <a:solidFill>
              <a:schemeClr val="dk1"/>
            </a:solidFill>
            <a:prstDash val="solid"/>
            <a:miter lim="800000"/>
            <a:headEnd len="med" w="med" type="none"/>
            <a:tailEnd len="med" w="med" type="none"/>
          </a:ln>
        </p:spPr>
      </p:cxnSp>
      <p:sp>
        <p:nvSpPr>
          <p:cNvPr id="761" name="Google Shape;761;p37"/>
          <p:cNvSpPr txBox="1"/>
          <p:nvPr/>
        </p:nvSpPr>
        <p:spPr>
          <a:xfrm>
            <a:off x="4191000" y="3155950"/>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4f</a:t>
            </a:r>
            <a:endParaRPr/>
          </a:p>
        </p:txBody>
      </p:sp>
      <p:sp>
        <p:nvSpPr>
          <p:cNvPr id="762" name="Google Shape;762;p37"/>
          <p:cNvSpPr txBox="1"/>
          <p:nvPr/>
        </p:nvSpPr>
        <p:spPr>
          <a:xfrm>
            <a:off x="6643687" y="3155950"/>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5f</a:t>
            </a:r>
            <a:endParaRPr/>
          </a:p>
        </p:txBody>
      </p:sp>
      <p:cxnSp>
        <p:nvCxnSpPr>
          <p:cNvPr id="763" name="Google Shape;763;p37"/>
          <p:cNvCxnSpPr/>
          <p:nvPr/>
        </p:nvCxnSpPr>
        <p:spPr>
          <a:xfrm>
            <a:off x="3124200" y="3879850"/>
            <a:ext cx="10668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64" name="Google Shape;764;p37"/>
          <p:cNvCxnSpPr/>
          <p:nvPr/>
        </p:nvCxnSpPr>
        <p:spPr>
          <a:xfrm>
            <a:off x="5715000" y="3865562"/>
            <a:ext cx="1066800" cy="0"/>
          </a:xfrm>
          <a:prstGeom prst="straightConnector1">
            <a:avLst/>
          </a:prstGeom>
          <a:noFill/>
          <a:ln cap="flat" cmpd="sng" w="50800">
            <a:solidFill>
              <a:schemeClr val="dk1"/>
            </a:solidFill>
            <a:prstDash val="solid"/>
            <a:miter lim="800000"/>
            <a:headEnd len="med" w="med" type="none"/>
            <a:tailEnd len="med" w="med" type="triangle"/>
          </a:ln>
        </p:spPr>
      </p:cxnSp>
      <p:sp>
        <p:nvSpPr>
          <p:cNvPr id="765" name="Google Shape;765;p37"/>
          <p:cNvSpPr txBox="1"/>
          <p:nvPr/>
        </p:nvSpPr>
        <p:spPr>
          <a:xfrm>
            <a:off x="990600" y="249237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pHead</a:t>
            </a:r>
            <a:endParaRPr/>
          </a:p>
        </p:txBody>
      </p:sp>
      <p:sp>
        <p:nvSpPr>
          <p:cNvPr id="766" name="Google Shape;766;p37"/>
          <p:cNvSpPr txBox="1"/>
          <p:nvPr/>
        </p:nvSpPr>
        <p:spPr>
          <a:xfrm>
            <a:off x="6934200" y="2492375"/>
            <a:ext cx="1066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pTail</a:t>
            </a:r>
            <a:endParaRPr/>
          </a:p>
        </p:txBody>
      </p:sp>
      <p:cxnSp>
        <p:nvCxnSpPr>
          <p:cNvPr id="767" name="Google Shape;767;p37"/>
          <p:cNvCxnSpPr/>
          <p:nvPr/>
        </p:nvCxnSpPr>
        <p:spPr>
          <a:xfrm>
            <a:off x="1676400" y="3101975"/>
            <a:ext cx="0" cy="457200"/>
          </a:xfrm>
          <a:prstGeom prst="straightConnector1">
            <a:avLst/>
          </a:prstGeom>
          <a:noFill/>
          <a:ln cap="flat" cmpd="sng" w="57150">
            <a:solidFill>
              <a:srgbClr val="FF0000"/>
            </a:solidFill>
            <a:prstDash val="solid"/>
            <a:miter lim="800000"/>
            <a:headEnd len="med" w="med" type="none"/>
            <a:tailEnd len="med" w="med" type="triangle"/>
          </a:ln>
        </p:spPr>
      </p:cxnSp>
      <p:cxnSp>
        <p:nvCxnSpPr>
          <p:cNvPr id="768" name="Google Shape;768;p37"/>
          <p:cNvCxnSpPr/>
          <p:nvPr/>
        </p:nvCxnSpPr>
        <p:spPr>
          <a:xfrm>
            <a:off x="7162800" y="3101975"/>
            <a:ext cx="0" cy="457200"/>
          </a:xfrm>
          <a:prstGeom prst="straightConnector1">
            <a:avLst/>
          </a:prstGeom>
          <a:noFill/>
          <a:ln cap="flat" cmpd="sng" w="57150">
            <a:solidFill>
              <a:srgbClr val="FF0000"/>
            </a:solidFill>
            <a:prstDash val="solid"/>
            <a:miter lim="800000"/>
            <a:headEnd len="med" w="med" type="none"/>
            <a:tailEnd len="med" w="med" type="triangle"/>
          </a:ln>
        </p:spPr>
      </p:cxnSp>
      <p:sp>
        <p:nvSpPr>
          <p:cNvPr id="769" name="Google Shape;769;p37"/>
          <p:cNvSpPr/>
          <p:nvPr/>
        </p:nvSpPr>
        <p:spPr>
          <a:xfrm>
            <a:off x="3081337" y="5373687"/>
            <a:ext cx="3600450" cy="900112"/>
          </a:xfrm>
          <a:custGeom>
            <a:rect b="b" l="l" r="r" t="t"/>
            <a:pathLst>
              <a:path extrusionOk="0" h="567" w="2268">
                <a:moveTo>
                  <a:pt x="0" y="0"/>
                </a:moveTo>
                <a:cubicBezTo>
                  <a:pt x="83" y="158"/>
                  <a:pt x="167" y="317"/>
                  <a:pt x="363" y="408"/>
                </a:cubicBezTo>
                <a:cubicBezTo>
                  <a:pt x="559" y="499"/>
                  <a:pt x="915" y="567"/>
                  <a:pt x="1179" y="544"/>
                </a:cubicBezTo>
                <a:cubicBezTo>
                  <a:pt x="1443" y="521"/>
                  <a:pt x="1769" y="348"/>
                  <a:pt x="1950" y="272"/>
                </a:cubicBezTo>
                <a:cubicBezTo>
                  <a:pt x="2131" y="196"/>
                  <a:pt x="2199" y="143"/>
                  <a:pt x="2268" y="90"/>
                </a:cubicBezTo>
              </a:path>
            </a:pathLst>
          </a:custGeom>
          <a:noFill/>
          <a:ln cap="flat" cmpd="sng" w="508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0" name="Google Shape;770;p37"/>
          <p:cNvSpPr/>
          <p:nvPr/>
        </p:nvSpPr>
        <p:spPr>
          <a:xfrm>
            <a:off x="3705225" y="4389437"/>
            <a:ext cx="5219700" cy="1174750"/>
          </a:xfrm>
          <a:custGeom>
            <a:rect b="b" l="l" r="r" t="t"/>
            <a:pathLst>
              <a:path extrusionOk="0" h="740" w="3288">
                <a:moveTo>
                  <a:pt x="3054" y="620"/>
                </a:moveTo>
                <a:cubicBezTo>
                  <a:pt x="3171" y="552"/>
                  <a:pt x="3288" y="484"/>
                  <a:pt x="3235" y="393"/>
                </a:cubicBezTo>
                <a:cubicBezTo>
                  <a:pt x="3182" y="302"/>
                  <a:pt x="3159" y="135"/>
                  <a:pt x="2736" y="75"/>
                </a:cubicBezTo>
                <a:cubicBezTo>
                  <a:pt x="2313" y="15"/>
                  <a:pt x="1133" y="0"/>
                  <a:pt x="695" y="30"/>
                </a:cubicBezTo>
                <a:cubicBezTo>
                  <a:pt x="257" y="60"/>
                  <a:pt x="212" y="151"/>
                  <a:pt x="106" y="257"/>
                </a:cubicBezTo>
                <a:cubicBezTo>
                  <a:pt x="0" y="363"/>
                  <a:pt x="37" y="590"/>
                  <a:pt x="60" y="665"/>
                </a:cubicBezTo>
                <a:cubicBezTo>
                  <a:pt x="83" y="740"/>
                  <a:pt x="162" y="725"/>
                  <a:pt x="242" y="710"/>
                </a:cubicBezTo>
              </a:path>
            </a:pathLst>
          </a:custGeom>
          <a:noFill/>
          <a:ln cap="flat" cmpd="sng" w="508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Ưu, nhược điểm của 2 cách tiếp cận</a:t>
            </a:r>
            <a:endParaRPr/>
          </a:p>
        </p:txBody>
      </p:sp>
      <p:sp>
        <p:nvSpPr>
          <p:cNvPr id="776" name="Google Shape;776;p3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Thay đổi thành phần Info (dữ liệu)</a:t>
            </a:r>
            <a:endParaRPr/>
          </a:p>
          <a:p>
            <a:pPr indent="-285750" lvl="1" marL="74295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Ưu: Cài đặt đơn giản, tương tự như sắp xếp mảng</a:t>
            </a:r>
            <a:endParaRPr/>
          </a:p>
          <a:p>
            <a:pPr indent="-285750" lvl="1" marL="74295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Nhược: </a:t>
            </a:r>
            <a:endParaRPr/>
          </a:p>
          <a:p>
            <a:pPr indent="-228600" lvl="2" marL="11430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Đòi hỏi thêm vùng nhớ khi hoán vị nội dung của 2 phần tử -&gt; chỉ phù hợp với những xâu có kích thước Info nhỏ</a:t>
            </a:r>
            <a:endParaRPr/>
          </a:p>
          <a:p>
            <a:pPr indent="-228600" lvl="2" marL="11430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Khi kích thước Info (dữ liệu) lớn chi phí cho việc hoán vị thành phần Info lớn</a:t>
            </a:r>
            <a:endParaRPr/>
          </a:p>
          <a:p>
            <a:pPr indent="-228600" lvl="2" marL="1143000" rtl="0" algn="l">
              <a:lnSpc>
                <a:spcPct val="9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Làm cho thao tác sắp xếp chậm </a:t>
            </a:r>
            <a:endParaRPr/>
          </a:p>
          <a:p>
            <a:pPr indent="-342900" lvl="0" marL="34290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Thay đổi thành phần pNext</a:t>
            </a:r>
            <a:endParaRPr/>
          </a:p>
          <a:p>
            <a:pPr indent="-285750" lvl="1" marL="74295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Ưu: </a:t>
            </a:r>
            <a:endParaRPr/>
          </a:p>
          <a:p>
            <a:pPr indent="-228600" lvl="2" marL="11430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Kích thước của trường này không thay đổi, do đó không phụ thuộc vào kích thước bản chất dữ liệu lưu tại mỗi nút. </a:t>
            </a:r>
            <a:endParaRPr/>
          </a:p>
          <a:p>
            <a:pPr indent="-228600" lvl="2" marL="1143000" rtl="0" algn="l">
              <a:lnSpc>
                <a:spcPct val="9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Thao tác sắp xếp nhanh</a:t>
            </a:r>
            <a:endParaRPr/>
          </a:p>
          <a:p>
            <a:pPr indent="-285750" lvl="1" marL="74295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Nhược: Cài đặt phức tạp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3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0" i="0" lang="en-US" sz="3200" u="none">
                <a:solidFill>
                  <a:srgbClr val="FFF3F3"/>
                </a:solidFill>
                <a:latin typeface="Arial"/>
                <a:ea typeface="Arial"/>
                <a:cs typeface="Arial"/>
                <a:sym typeface="Arial"/>
              </a:rPr>
              <a:t>Dùng thuật toán SX SelectionSort để SX List</a:t>
            </a:r>
            <a:endParaRPr/>
          </a:p>
        </p:txBody>
      </p:sp>
      <p:sp>
        <p:nvSpPr>
          <p:cNvPr id="782" name="Google Shape;782;p39"/>
          <p:cNvSpPr txBox="1"/>
          <p:nvPr/>
        </p:nvSpPr>
        <p:spPr>
          <a:xfrm>
            <a:off x="920750" y="908050"/>
            <a:ext cx="4752975" cy="42354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void SelectionSort(LIST &amp;l)</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Node *p,*q,*min;</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p=l.pHead;</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while(p!=l.pTail)</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min=p;</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q=p-&gt;Next;</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a:t>
            </a:r>
            <a:endParaRPr/>
          </a:p>
        </p:txBody>
      </p:sp>
      <p:sp>
        <p:nvSpPr>
          <p:cNvPr id="783" name="Google Shape;783;p39"/>
          <p:cNvSpPr txBox="1"/>
          <p:nvPr/>
        </p:nvSpPr>
        <p:spPr>
          <a:xfrm>
            <a:off x="5168900" y="1052512"/>
            <a:ext cx="5105400" cy="47053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while(q!=NULL)</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	</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if(q-&gt;Info&lt;p-&gt;Info)</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min=q;</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q=q-&gt;Next;</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HV(min-&gt;Info,p-&gt;Info);</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p=p-&gt;Next;</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a:t>
            </a:r>
            <a:endParaRPr/>
          </a:p>
          <a:p>
            <a:pPr indent="0" lvl="0" marL="0" marR="0" rtl="0" algn="l">
              <a:lnSpc>
                <a:spcPct val="90000"/>
              </a:lnSpc>
              <a:spcBef>
                <a:spcPts val="56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a:t>
            </a:r>
            <a:endParaRPr/>
          </a:p>
        </p:txBody>
      </p:sp>
      <p:cxnSp>
        <p:nvCxnSpPr>
          <p:cNvPr id="784" name="Google Shape;784;p39"/>
          <p:cNvCxnSpPr/>
          <p:nvPr/>
        </p:nvCxnSpPr>
        <p:spPr>
          <a:xfrm>
            <a:off x="5384800" y="836612"/>
            <a:ext cx="0" cy="5761037"/>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4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thuật toán sắp xếp hiệu quả trên List</a:t>
            </a:r>
            <a:endParaRPr/>
          </a:p>
        </p:txBody>
      </p:sp>
      <p:sp>
        <p:nvSpPr>
          <p:cNvPr id="790" name="Google Shape;790;p40"/>
          <p:cNvSpPr txBox="1"/>
          <p:nvPr>
            <p:ph idx="1" type="body"/>
          </p:nvPr>
        </p:nvSpPr>
        <p:spPr>
          <a:xfrm>
            <a:off x="920750" y="1125537"/>
            <a:ext cx="8712200" cy="446405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Các thuật toán sắp xếp xâu (List) bằng các thay đổi thành phần pNext (thành phần liên kết) có hiệu quả cao như:</a:t>
            </a:r>
            <a:endParaRPr/>
          </a:p>
          <a:p>
            <a:pPr indent="-285750" lvl="1" marL="742950" rtl="0" algn="l">
              <a:lnSpc>
                <a:spcPct val="120000"/>
              </a:lnSpc>
              <a:spcBef>
                <a:spcPts val="112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Thuật toán sắp xếp Quick Sort</a:t>
            </a:r>
            <a:endParaRPr/>
          </a:p>
          <a:p>
            <a:pPr indent="-285750" lvl="1" marL="742950" rtl="0" algn="l">
              <a:lnSpc>
                <a:spcPct val="120000"/>
              </a:lnSpc>
              <a:spcBef>
                <a:spcPts val="112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Thuật toán sắp xếp Merge Sort</a:t>
            </a:r>
            <a:endParaRPr/>
          </a:p>
          <a:p>
            <a:pPr indent="-285750" lvl="1" marL="742950" rtl="0" algn="l">
              <a:lnSpc>
                <a:spcPct val="120000"/>
              </a:lnSpc>
              <a:spcBef>
                <a:spcPts val="112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Thuật toán sắp xếp Radix Sort</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sắp xếp Quick Sort</a:t>
            </a:r>
            <a:endParaRPr/>
          </a:p>
        </p:txBody>
      </p:sp>
      <p:sp>
        <p:nvSpPr>
          <p:cNvPr id="796" name="Google Shape;796;p41"/>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Chọn X là phần tử đầu xâu L làm phần tử cầm canh</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Loại X ra khỏi L</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a:t>
            </a:r>
            <a:endParaRPr/>
          </a:p>
          <a:p>
            <a:pPr indent="-285750" lvl="1" marL="74295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Tách xâu L ra làm 2 xâu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(gồm các phần tử nhỏ hơn hoặc bằng x) và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(gồm các phần tử lớn hơn X)</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Nếu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!=NULL) thì QuickSort(L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Nếu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!=NULL) thì QuickSort(L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sng">
                <a:solidFill>
                  <a:schemeClr val="dk1"/>
                </a:solidFill>
                <a:latin typeface="Arial"/>
                <a:ea typeface="Arial"/>
                <a:cs typeface="Arial"/>
                <a:sym typeface="Arial"/>
              </a:rPr>
              <a:t>Bước 5</a:t>
            </a:r>
            <a:r>
              <a:rPr b="0" i="0" lang="en-US" sz="2800" u="none">
                <a:solidFill>
                  <a:schemeClr val="dk1"/>
                </a:solidFill>
                <a:latin typeface="Arial"/>
                <a:ea typeface="Arial"/>
                <a:cs typeface="Arial"/>
                <a:sym typeface="Arial"/>
              </a:rPr>
              <a:t>: Nối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X,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lại theo thứ tự ta có xâu L đã được sắp xếp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4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a:t>
            </a:r>
            <a:endParaRPr/>
          </a:p>
        </p:txBody>
      </p:sp>
      <p:sp>
        <p:nvSpPr>
          <p:cNvPr id="802" name="Google Shape;802;p42"/>
          <p:cNvSpPr/>
          <p:nvPr/>
        </p:nvSpPr>
        <p:spPr>
          <a:xfrm>
            <a:off x="1352550" y="2317750"/>
            <a:ext cx="403225" cy="371475"/>
          </a:xfrm>
          <a:prstGeom prst="ellipse">
            <a:avLst/>
          </a:prstGeom>
          <a:gradFill>
            <a:gsLst>
              <a:gs pos="0">
                <a:srgbClr val="FFFFF7"/>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3" name="Google Shape;803;p42"/>
          <p:cNvSpPr txBox="1"/>
          <p:nvPr/>
        </p:nvSpPr>
        <p:spPr>
          <a:xfrm>
            <a:off x="8416925" y="2359025"/>
            <a:ext cx="268287" cy="288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04" name="Google Shape;804;p42"/>
          <p:cNvCxnSpPr/>
          <p:nvPr/>
        </p:nvCxnSpPr>
        <p:spPr>
          <a:xfrm>
            <a:off x="1565275" y="2503487"/>
            <a:ext cx="469900" cy="0"/>
          </a:xfrm>
          <a:prstGeom prst="straightConnector1">
            <a:avLst/>
          </a:prstGeom>
          <a:noFill/>
          <a:ln cap="flat" cmpd="sng" w="38100">
            <a:solidFill>
              <a:schemeClr val="dk1"/>
            </a:solidFill>
            <a:prstDash val="solid"/>
            <a:miter lim="800000"/>
            <a:headEnd len="med" w="med" type="none"/>
            <a:tailEnd len="med" w="med" type="stealth"/>
          </a:ln>
        </p:spPr>
      </p:cxnSp>
      <p:sp>
        <p:nvSpPr>
          <p:cNvPr id="805" name="Google Shape;805;p42"/>
          <p:cNvSpPr txBox="1"/>
          <p:nvPr/>
        </p:nvSpPr>
        <p:spPr>
          <a:xfrm>
            <a:off x="3708400" y="2235200"/>
            <a:ext cx="168275"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6" name="Google Shape;806;p42"/>
          <p:cNvSpPr txBox="1"/>
          <p:nvPr/>
        </p:nvSpPr>
        <p:spPr>
          <a:xfrm>
            <a:off x="3089275" y="2235200"/>
            <a:ext cx="615950"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807" name="Google Shape;807;p42"/>
          <p:cNvSpPr txBox="1"/>
          <p:nvPr/>
        </p:nvSpPr>
        <p:spPr>
          <a:xfrm>
            <a:off x="4773612" y="2235200"/>
            <a:ext cx="168275"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8" name="Google Shape;808;p42"/>
          <p:cNvSpPr txBox="1"/>
          <p:nvPr/>
        </p:nvSpPr>
        <p:spPr>
          <a:xfrm>
            <a:off x="4162425" y="2235200"/>
            <a:ext cx="615950"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sp>
        <p:nvSpPr>
          <p:cNvPr id="809" name="Google Shape;809;p42"/>
          <p:cNvSpPr txBox="1"/>
          <p:nvPr/>
        </p:nvSpPr>
        <p:spPr>
          <a:xfrm>
            <a:off x="5848350" y="2235200"/>
            <a:ext cx="166687"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0" name="Google Shape;810;p42"/>
          <p:cNvSpPr txBox="1"/>
          <p:nvPr/>
        </p:nvSpPr>
        <p:spPr>
          <a:xfrm>
            <a:off x="5238750" y="2235200"/>
            <a:ext cx="614362"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sp>
        <p:nvSpPr>
          <p:cNvPr id="811" name="Google Shape;811;p42"/>
          <p:cNvSpPr txBox="1"/>
          <p:nvPr/>
        </p:nvSpPr>
        <p:spPr>
          <a:xfrm>
            <a:off x="6911975" y="2235200"/>
            <a:ext cx="168275"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2" name="Google Shape;812;p42"/>
          <p:cNvSpPr txBox="1"/>
          <p:nvPr/>
        </p:nvSpPr>
        <p:spPr>
          <a:xfrm>
            <a:off x="6300787" y="2235200"/>
            <a:ext cx="617537"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sp>
        <p:nvSpPr>
          <p:cNvPr id="813" name="Google Shape;813;p42"/>
          <p:cNvSpPr txBox="1"/>
          <p:nvPr/>
        </p:nvSpPr>
        <p:spPr>
          <a:xfrm>
            <a:off x="7983537" y="2235200"/>
            <a:ext cx="168275"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4" name="Google Shape;814;p42"/>
          <p:cNvSpPr txBox="1"/>
          <p:nvPr/>
        </p:nvSpPr>
        <p:spPr>
          <a:xfrm>
            <a:off x="7373937" y="2235200"/>
            <a:ext cx="614362"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cxnSp>
        <p:nvCxnSpPr>
          <p:cNvPr id="815" name="Google Shape;815;p42"/>
          <p:cNvCxnSpPr/>
          <p:nvPr/>
        </p:nvCxnSpPr>
        <p:spPr>
          <a:xfrm>
            <a:off x="4857750" y="2503487"/>
            <a:ext cx="379412" cy="0"/>
          </a:xfrm>
          <a:prstGeom prst="straightConnector1">
            <a:avLst/>
          </a:prstGeom>
          <a:noFill/>
          <a:ln cap="flat" cmpd="sng" w="38100">
            <a:solidFill>
              <a:schemeClr val="dk1"/>
            </a:solidFill>
            <a:prstDash val="solid"/>
            <a:miter lim="800000"/>
            <a:headEnd len="med" w="med" type="oval"/>
            <a:tailEnd len="med" w="med" type="stealth"/>
          </a:ln>
        </p:spPr>
      </p:cxnSp>
      <p:cxnSp>
        <p:nvCxnSpPr>
          <p:cNvPr id="816" name="Google Shape;816;p42"/>
          <p:cNvCxnSpPr/>
          <p:nvPr/>
        </p:nvCxnSpPr>
        <p:spPr>
          <a:xfrm>
            <a:off x="5924550" y="2503487"/>
            <a:ext cx="379412" cy="0"/>
          </a:xfrm>
          <a:prstGeom prst="straightConnector1">
            <a:avLst/>
          </a:prstGeom>
          <a:noFill/>
          <a:ln cap="flat" cmpd="sng" w="38100">
            <a:solidFill>
              <a:schemeClr val="dk1"/>
            </a:solidFill>
            <a:prstDash val="solid"/>
            <a:miter lim="800000"/>
            <a:headEnd len="med" w="med" type="oval"/>
            <a:tailEnd len="med" w="med" type="stealth"/>
          </a:ln>
        </p:spPr>
      </p:cxnSp>
      <p:cxnSp>
        <p:nvCxnSpPr>
          <p:cNvPr id="817" name="Google Shape;817;p42"/>
          <p:cNvCxnSpPr/>
          <p:nvPr/>
        </p:nvCxnSpPr>
        <p:spPr>
          <a:xfrm>
            <a:off x="6999287" y="2503487"/>
            <a:ext cx="379412" cy="0"/>
          </a:xfrm>
          <a:prstGeom prst="straightConnector1">
            <a:avLst/>
          </a:prstGeom>
          <a:noFill/>
          <a:ln cap="flat" cmpd="sng" w="38100">
            <a:solidFill>
              <a:schemeClr val="dk1"/>
            </a:solidFill>
            <a:prstDash val="solid"/>
            <a:miter lim="800000"/>
            <a:headEnd len="med" w="med" type="oval"/>
            <a:tailEnd len="med" w="med" type="stealth"/>
          </a:ln>
        </p:spPr>
      </p:cxnSp>
      <p:cxnSp>
        <p:nvCxnSpPr>
          <p:cNvPr id="818" name="Google Shape;818;p42"/>
          <p:cNvCxnSpPr/>
          <p:nvPr/>
        </p:nvCxnSpPr>
        <p:spPr>
          <a:xfrm>
            <a:off x="8075612" y="2503487"/>
            <a:ext cx="379412" cy="0"/>
          </a:xfrm>
          <a:prstGeom prst="straightConnector1">
            <a:avLst/>
          </a:prstGeom>
          <a:noFill/>
          <a:ln cap="flat" cmpd="sng" w="38100">
            <a:solidFill>
              <a:schemeClr val="dk1"/>
            </a:solidFill>
            <a:prstDash val="solid"/>
            <a:miter lim="800000"/>
            <a:headEnd len="med" w="med" type="oval"/>
            <a:tailEnd len="med" w="med" type="stealth"/>
          </a:ln>
        </p:spPr>
      </p:cxnSp>
      <p:sp>
        <p:nvSpPr>
          <p:cNvPr id="819" name="Google Shape;819;p42"/>
          <p:cNvSpPr txBox="1"/>
          <p:nvPr/>
        </p:nvSpPr>
        <p:spPr>
          <a:xfrm>
            <a:off x="1208087" y="1773237"/>
            <a:ext cx="1081087" cy="419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820" name="Google Shape;820;p42"/>
          <p:cNvSpPr txBox="1"/>
          <p:nvPr/>
        </p:nvSpPr>
        <p:spPr>
          <a:xfrm>
            <a:off x="6681787" y="1484312"/>
            <a:ext cx="782637" cy="3905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821" name="Google Shape;821;p42"/>
          <p:cNvSpPr/>
          <p:nvPr/>
        </p:nvSpPr>
        <p:spPr>
          <a:xfrm>
            <a:off x="7516812" y="1804987"/>
            <a:ext cx="241300" cy="409575"/>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2" name="Google Shape;822;p42"/>
          <p:cNvSpPr txBox="1"/>
          <p:nvPr/>
        </p:nvSpPr>
        <p:spPr>
          <a:xfrm>
            <a:off x="2632075" y="2235200"/>
            <a:ext cx="168275" cy="5381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3" name="Google Shape;823;p42"/>
          <p:cNvSpPr txBox="1"/>
          <p:nvPr/>
        </p:nvSpPr>
        <p:spPr>
          <a:xfrm>
            <a:off x="2012950" y="2235200"/>
            <a:ext cx="615950" cy="54292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cxnSp>
        <p:nvCxnSpPr>
          <p:cNvPr id="824" name="Google Shape;824;p42"/>
          <p:cNvCxnSpPr/>
          <p:nvPr/>
        </p:nvCxnSpPr>
        <p:spPr>
          <a:xfrm>
            <a:off x="3783012" y="2503487"/>
            <a:ext cx="379412" cy="0"/>
          </a:xfrm>
          <a:prstGeom prst="straightConnector1">
            <a:avLst/>
          </a:prstGeom>
          <a:noFill/>
          <a:ln cap="flat" cmpd="sng" w="38100">
            <a:solidFill>
              <a:schemeClr val="dk1"/>
            </a:solidFill>
            <a:prstDash val="solid"/>
            <a:miter lim="800000"/>
            <a:headEnd len="med" w="med" type="oval"/>
            <a:tailEnd len="med" w="med" type="stealth"/>
          </a:ln>
        </p:spPr>
      </p:cxnSp>
      <p:cxnSp>
        <p:nvCxnSpPr>
          <p:cNvPr id="825" name="Google Shape;825;p42"/>
          <p:cNvCxnSpPr/>
          <p:nvPr/>
        </p:nvCxnSpPr>
        <p:spPr>
          <a:xfrm>
            <a:off x="2708275" y="2503487"/>
            <a:ext cx="379412" cy="0"/>
          </a:xfrm>
          <a:prstGeom prst="straightConnector1">
            <a:avLst/>
          </a:prstGeom>
          <a:noFill/>
          <a:ln cap="flat" cmpd="sng" w="9525">
            <a:solidFill>
              <a:schemeClr val="dk1"/>
            </a:solidFill>
            <a:prstDash val="solid"/>
            <a:miter lim="800000"/>
            <a:headEnd len="med" w="med" type="oval"/>
            <a:tailEnd len="med" w="med" type="stealth"/>
          </a:ln>
        </p:spPr>
      </p:cxnSp>
      <p:grpSp>
        <p:nvGrpSpPr>
          <p:cNvPr id="826" name="Google Shape;826;p42"/>
          <p:cNvGrpSpPr/>
          <p:nvPr/>
        </p:nvGrpSpPr>
        <p:grpSpPr>
          <a:xfrm>
            <a:off x="2532062" y="3429000"/>
            <a:ext cx="2276475" cy="538162"/>
            <a:chOff x="1595" y="2160"/>
            <a:chExt cx="1434" cy="339"/>
          </a:xfrm>
        </p:grpSpPr>
        <p:sp>
          <p:nvSpPr>
            <p:cNvPr id="827" name="Google Shape;827;p42"/>
            <p:cNvSpPr txBox="1"/>
            <p:nvPr/>
          </p:nvSpPr>
          <p:spPr>
            <a:xfrm>
              <a:off x="1595" y="2221"/>
              <a:ext cx="494" cy="24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X =</a:t>
              </a:r>
              <a:endParaRPr/>
            </a:p>
          </p:txBody>
        </p:sp>
        <p:grpSp>
          <p:nvGrpSpPr>
            <p:cNvPr id="828" name="Google Shape;828;p42"/>
            <p:cNvGrpSpPr/>
            <p:nvPr/>
          </p:nvGrpSpPr>
          <p:grpSpPr>
            <a:xfrm>
              <a:off x="2341" y="2160"/>
              <a:ext cx="688" cy="339"/>
              <a:chOff x="1755" y="3866"/>
              <a:chExt cx="899" cy="414"/>
            </a:xfrm>
          </p:grpSpPr>
          <p:grpSp>
            <p:nvGrpSpPr>
              <p:cNvPr id="829" name="Google Shape;829;p42"/>
              <p:cNvGrpSpPr/>
              <p:nvPr/>
            </p:nvGrpSpPr>
            <p:grpSpPr>
              <a:xfrm>
                <a:off x="1755" y="3866"/>
                <a:ext cx="648" cy="414"/>
                <a:chOff x="2640" y="2681"/>
                <a:chExt cx="648" cy="414"/>
              </a:xfrm>
            </p:grpSpPr>
            <p:sp>
              <p:nvSpPr>
                <p:cNvPr id="830" name="Google Shape;830;p42"/>
                <p:cNvSpPr txBox="1"/>
                <p:nvPr/>
              </p:nvSpPr>
              <p:spPr>
                <a:xfrm>
                  <a:off x="3150" y="2681"/>
                  <a:ext cx="138" cy="414"/>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t" bIns="0" lIns="0" spcFirstLastPara="1" rIns="0" wrap="square" tIns="252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1" name="Google Shape;831;p42"/>
                <p:cNvSpPr txBox="1"/>
                <p:nvPr/>
              </p:nvSpPr>
              <p:spPr>
                <a:xfrm>
                  <a:off x="2640" y="2681"/>
                  <a:ext cx="507" cy="414"/>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t" bIns="0" lIns="0" spcFirstLastPara="1" rIns="0" wrap="square" tIns="25200">
                  <a:noAutofit/>
                </a:bodyPr>
                <a:lstStyle/>
                <a:p>
                  <a:pPr indent="0" lvl="0" marL="0" marR="0" rtl="0" algn="ctr">
                    <a:lnSpc>
                      <a:spcPct val="100000"/>
                    </a:lnSpc>
                    <a:spcBef>
                      <a:spcPts val="0"/>
                    </a:spcBef>
                    <a:spcAft>
                      <a:spcPts val="0"/>
                    </a:spcAft>
                    <a:buClr>
                      <a:schemeClr val="dk1"/>
                    </a:buClr>
                    <a:buSzPts val="2400"/>
                    <a:buFont typeface="Teko"/>
                    <a:buNone/>
                  </a:pPr>
                  <a:r>
                    <a:rPr b="1" i="0" lang="en-US" sz="2400" u="none">
                      <a:solidFill>
                        <a:schemeClr val="dk1"/>
                      </a:solidFill>
                      <a:latin typeface="Teko"/>
                      <a:ea typeface="Teko"/>
                      <a:cs typeface="Teko"/>
                      <a:sym typeface="Teko"/>
                    </a:rPr>
                    <a:t>4</a:t>
                  </a:r>
                  <a:endParaRPr/>
                </a:p>
              </p:txBody>
            </p:sp>
          </p:grpSp>
          <p:cxnSp>
            <p:nvCxnSpPr>
              <p:cNvPr id="832" name="Google Shape;832;p42"/>
              <p:cNvCxnSpPr/>
              <p:nvPr/>
            </p:nvCxnSpPr>
            <p:spPr>
              <a:xfrm>
                <a:off x="2342" y="4073"/>
                <a:ext cx="312" cy="0"/>
              </a:xfrm>
              <a:prstGeom prst="straightConnector1">
                <a:avLst/>
              </a:prstGeom>
              <a:noFill/>
              <a:ln cap="flat" cmpd="sng" w="38100">
                <a:solidFill>
                  <a:schemeClr val="dk1"/>
                </a:solidFill>
                <a:prstDash val="solid"/>
                <a:miter lim="800000"/>
                <a:headEnd len="med" w="med" type="oval"/>
                <a:tailEnd len="med" w="med" type="stealth"/>
              </a:ln>
            </p:spPr>
          </p:cxnSp>
        </p:grpSp>
      </p:grpSp>
      <p:sp>
        <p:nvSpPr>
          <p:cNvPr id="833" name="Google Shape;833;p42"/>
          <p:cNvSpPr txBox="1"/>
          <p:nvPr/>
        </p:nvSpPr>
        <p:spPr>
          <a:xfrm>
            <a:off x="776287" y="908050"/>
            <a:ext cx="8840787"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danh sách liên kết gồm các phần tử sau:</a:t>
            </a:r>
            <a:endParaRPr/>
          </a:p>
        </p:txBody>
      </p:sp>
      <p:grpSp>
        <p:nvGrpSpPr>
          <p:cNvPr id="834" name="Google Shape;834;p42"/>
          <p:cNvGrpSpPr/>
          <p:nvPr/>
        </p:nvGrpSpPr>
        <p:grpSpPr>
          <a:xfrm>
            <a:off x="942975" y="3789362"/>
            <a:ext cx="5153025" cy="1185862"/>
            <a:chOff x="594" y="2387"/>
            <a:chExt cx="3246" cy="747"/>
          </a:xfrm>
        </p:grpSpPr>
        <p:grpSp>
          <p:nvGrpSpPr>
            <p:cNvPr id="835" name="Google Shape;835;p42"/>
            <p:cNvGrpSpPr/>
            <p:nvPr/>
          </p:nvGrpSpPr>
          <p:grpSpPr>
            <a:xfrm>
              <a:off x="2873" y="2795"/>
              <a:ext cx="672" cy="339"/>
              <a:chOff x="4409" y="4331"/>
              <a:chExt cx="877" cy="414"/>
            </a:xfrm>
          </p:grpSpPr>
          <p:grpSp>
            <p:nvGrpSpPr>
              <p:cNvPr id="836" name="Google Shape;836;p42"/>
              <p:cNvGrpSpPr/>
              <p:nvPr/>
            </p:nvGrpSpPr>
            <p:grpSpPr>
              <a:xfrm>
                <a:off x="4409" y="4331"/>
                <a:ext cx="640" cy="414"/>
                <a:chOff x="4409" y="2681"/>
                <a:chExt cx="640" cy="414"/>
              </a:xfrm>
            </p:grpSpPr>
            <p:sp>
              <p:nvSpPr>
                <p:cNvPr id="837" name="Google Shape;837;p42"/>
                <p:cNvSpPr txBox="1"/>
                <p:nvPr/>
              </p:nvSpPr>
              <p:spPr>
                <a:xfrm>
                  <a:off x="4911" y="2681"/>
                  <a:ext cx="138"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8" name="Google Shape;838;p42"/>
                <p:cNvSpPr txBox="1"/>
                <p:nvPr/>
              </p:nvSpPr>
              <p:spPr>
                <a:xfrm>
                  <a:off x="4409" y="2681"/>
                  <a:ext cx="506"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eko"/>
                    <a:buNone/>
                  </a:pPr>
                  <a:r>
                    <a:rPr b="1" i="0" lang="en-US" sz="2400" u="none">
                      <a:solidFill>
                        <a:schemeClr val="lt1"/>
                      </a:solidFill>
                      <a:latin typeface="Teko"/>
                      <a:ea typeface="Teko"/>
                      <a:cs typeface="Teko"/>
                      <a:sym typeface="Teko"/>
                    </a:rPr>
                    <a:t>2</a:t>
                  </a:r>
                  <a:endParaRPr/>
                </a:p>
              </p:txBody>
            </p:sp>
          </p:grpSp>
          <p:cxnSp>
            <p:nvCxnSpPr>
              <p:cNvPr id="839" name="Google Shape;839;p42"/>
              <p:cNvCxnSpPr/>
              <p:nvPr/>
            </p:nvCxnSpPr>
            <p:spPr>
              <a:xfrm>
                <a:off x="4974" y="4538"/>
                <a:ext cx="312" cy="0"/>
              </a:xfrm>
              <a:prstGeom prst="straightConnector1">
                <a:avLst/>
              </a:prstGeom>
              <a:noFill/>
              <a:ln cap="flat" cmpd="sng" w="38100">
                <a:solidFill>
                  <a:srgbClr val="FF0000"/>
                </a:solidFill>
                <a:prstDash val="solid"/>
                <a:miter lim="800000"/>
                <a:headEnd len="med" w="med" type="oval"/>
                <a:tailEnd len="med" w="med" type="stealth"/>
              </a:ln>
            </p:spPr>
          </p:cxnSp>
        </p:grpSp>
        <p:sp>
          <p:nvSpPr>
            <p:cNvPr id="840" name="Google Shape;840;p42"/>
            <p:cNvSpPr txBox="1"/>
            <p:nvPr/>
          </p:nvSpPr>
          <p:spPr>
            <a:xfrm>
              <a:off x="594" y="2840"/>
              <a:ext cx="848" cy="26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L</a:t>
              </a:r>
              <a:r>
                <a:rPr b="1" baseline="-25000" i="0" lang="en-US" sz="2400" u="none">
                  <a:solidFill>
                    <a:srgbClr val="080808"/>
                  </a:solidFill>
                  <a:latin typeface="Arial"/>
                  <a:ea typeface="Arial"/>
                  <a:cs typeface="Arial"/>
                  <a:sym typeface="Arial"/>
                </a:rPr>
                <a:t>1 </a:t>
              </a:r>
              <a:r>
                <a:rPr b="1" i="0" lang="en-US" sz="2400" u="none">
                  <a:solidFill>
                    <a:srgbClr val="080808"/>
                  </a:solidFill>
                  <a:latin typeface="Arial"/>
                  <a:ea typeface="Arial"/>
                  <a:cs typeface="Arial"/>
                  <a:sym typeface="Arial"/>
                </a:rPr>
                <a:t>(≤X)</a:t>
              </a:r>
              <a:endParaRPr/>
            </a:p>
          </p:txBody>
        </p:sp>
        <p:grpSp>
          <p:nvGrpSpPr>
            <p:cNvPr id="841" name="Google Shape;841;p42"/>
            <p:cNvGrpSpPr/>
            <p:nvPr/>
          </p:nvGrpSpPr>
          <p:grpSpPr>
            <a:xfrm>
              <a:off x="2208" y="2795"/>
              <a:ext cx="671" cy="339"/>
              <a:chOff x="4409" y="4331"/>
              <a:chExt cx="877" cy="414"/>
            </a:xfrm>
          </p:grpSpPr>
          <p:grpSp>
            <p:nvGrpSpPr>
              <p:cNvPr id="842" name="Google Shape;842;p42"/>
              <p:cNvGrpSpPr/>
              <p:nvPr/>
            </p:nvGrpSpPr>
            <p:grpSpPr>
              <a:xfrm>
                <a:off x="4409" y="4331"/>
                <a:ext cx="640" cy="414"/>
                <a:chOff x="4409" y="2681"/>
                <a:chExt cx="640" cy="414"/>
              </a:xfrm>
            </p:grpSpPr>
            <p:sp>
              <p:nvSpPr>
                <p:cNvPr id="843" name="Google Shape;843;p42"/>
                <p:cNvSpPr txBox="1"/>
                <p:nvPr/>
              </p:nvSpPr>
              <p:spPr>
                <a:xfrm>
                  <a:off x="4911" y="2681"/>
                  <a:ext cx="138"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4" name="Google Shape;844;p42"/>
                <p:cNvSpPr txBox="1"/>
                <p:nvPr/>
              </p:nvSpPr>
              <p:spPr>
                <a:xfrm>
                  <a:off x="4409" y="2681"/>
                  <a:ext cx="506"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eko"/>
                    <a:buNone/>
                  </a:pPr>
                  <a:r>
                    <a:rPr b="1" i="0" lang="en-US" sz="2400" u="none">
                      <a:solidFill>
                        <a:schemeClr val="lt1"/>
                      </a:solidFill>
                      <a:latin typeface="Teko"/>
                      <a:ea typeface="Teko"/>
                      <a:cs typeface="Teko"/>
                      <a:sym typeface="Teko"/>
                    </a:rPr>
                    <a:t>1</a:t>
                  </a:r>
                  <a:endParaRPr/>
                </a:p>
              </p:txBody>
            </p:sp>
          </p:grpSp>
          <p:cxnSp>
            <p:nvCxnSpPr>
              <p:cNvPr id="845" name="Google Shape;845;p42"/>
              <p:cNvCxnSpPr/>
              <p:nvPr/>
            </p:nvCxnSpPr>
            <p:spPr>
              <a:xfrm>
                <a:off x="4974" y="4538"/>
                <a:ext cx="312" cy="0"/>
              </a:xfrm>
              <a:prstGeom prst="straightConnector1">
                <a:avLst/>
              </a:prstGeom>
              <a:noFill/>
              <a:ln cap="flat" cmpd="sng" w="38100">
                <a:solidFill>
                  <a:srgbClr val="FF0000"/>
                </a:solidFill>
                <a:prstDash val="solid"/>
                <a:miter lim="800000"/>
                <a:headEnd len="med" w="med" type="oval"/>
                <a:tailEnd len="med" w="med" type="stealth"/>
              </a:ln>
            </p:spPr>
          </p:cxnSp>
        </p:grpSp>
        <p:sp>
          <p:nvSpPr>
            <p:cNvPr id="846" name="Google Shape;846;p42"/>
            <p:cNvSpPr/>
            <p:nvPr/>
          </p:nvSpPr>
          <p:spPr>
            <a:xfrm>
              <a:off x="1769" y="2848"/>
              <a:ext cx="254" cy="233"/>
            </a:xfrm>
            <a:prstGeom prst="ellipse">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47" name="Google Shape;847;p42"/>
            <p:cNvCxnSpPr/>
            <p:nvPr/>
          </p:nvCxnSpPr>
          <p:spPr>
            <a:xfrm>
              <a:off x="1903" y="2965"/>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848" name="Google Shape;848;p42"/>
            <p:cNvSpPr txBox="1"/>
            <p:nvPr/>
          </p:nvSpPr>
          <p:spPr>
            <a:xfrm>
              <a:off x="1487" y="2478"/>
              <a:ext cx="862" cy="4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Times New Roman"/>
                <a:buNone/>
              </a:pPr>
              <a:r>
                <a:rPr b="1" baseline="-25000" i="0" lang="en-US" sz="3600" u="none">
                  <a:solidFill>
                    <a:schemeClr val="dk1"/>
                  </a:solidFill>
                  <a:latin typeface="Times New Roman"/>
                  <a:ea typeface="Times New Roman"/>
                  <a:cs typeface="Times New Roman"/>
                  <a:sym typeface="Times New Roman"/>
                </a:rPr>
                <a:t>pHead</a:t>
              </a:r>
              <a:endParaRPr/>
            </a:p>
          </p:txBody>
        </p:sp>
        <p:sp>
          <p:nvSpPr>
            <p:cNvPr id="849" name="Google Shape;849;p42"/>
            <p:cNvSpPr txBox="1"/>
            <p:nvPr/>
          </p:nvSpPr>
          <p:spPr>
            <a:xfrm>
              <a:off x="3544" y="2874"/>
              <a:ext cx="169" cy="181"/>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0" name="Google Shape;850;p42"/>
            <p:cNvSpPr txBox="1"/>
            <p:nvPr/>
          </p:nvSpPr>
          <p:spPr>
            <a:xfrm>
              <a:off x="3347" y="238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851" name="Google Shape;851;p42"/>
            <p:cNvSpPr/>
            <p:nvPr/>
          </p:nvSpPr>
          <p:spPr>
            <a:xfrm flipH="1">
              <a:off x="3029" y="2478"/>
              <a:ext cx="318"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852" name="Google Shape;852;p42"/>
          <p:cNvGrpSpPr/>
          <p:nvPr/>
        </p:nvGrpSpPr>
        <p:grpSpPr>
          <a:xfrm>
            <a:off x="992187" y="4964112"/>
            <a:ext cx="6327775" cy="1201737"/>
            <a:chOff x="625" y="3127"/>
            <a:chExt cx="3986" cy="757"/>
          </a:xfrm>
        </p:grpSpPr>
        <p:sp>
          <p:nvSpPr>
            <p:cNvPr id="853" name="Google Shape;853;p42"/>
            <p:cNvSpPr txBox="1"/>
            <p:nvPr/>
          </p:nvSpPr>
          <p:spPr>
            <a:xfrm>
              <a:off x="4221" y="3621"/>
              <a:ext cx="169" cy="18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854" name="Google Shape;854;p42"/>
            <p:cNvGrpSpPr/>
            <p:nvPr/>
          </p:nvGrpSpPr>
          <p:grpSpPr>
            <a:xfrm>
              <a:off x="2873" y="3542"/>
              <a:ext cx="677" cy="342"/>
              <a:chOff x="3524" y="4331"/>
              <a:chExt cx="884" cy="418"/>
            </a:xfrm>
          </p:grpSpPr>
          <p:grpSp>
            <p:nvGrpSpPr>
              <p:cNvPr id="855" name="Google Shape;855;p42"/>
              <p:cNvGrpSpPr/>
              <p:nvPr/>
            </p:nvGrpSpPr>
            <p:grpSpPr>
              <a:xfrm>
                <a:off x="3524" y="4331"/>
                <a:ext cx="641" cy="418"/>
                <a:chOff x="3524" y="2681"/>
                <a:chExt cx="641" cy="418"/>
              </a:xfrm>
            </p:grpSpPr>
            <p:sp>
              <p:nvSpPr>
                <p:cNvPr id="856" name="Google Shape;856;p42"/>
                <p:cNvSpPr txBox="1"/>
                <p:nvPr/>
              </p:nvSpPr>
              <p:spPr>
                <a:xfrm>
                  <a:off x="402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7" name="Google Shape;857;p42"/>
                <p:cNvSpPr txBox="1"/>
                <p:nvPr/>
              </p:nvSpPr>
              <p:spPr>
                <a:xfrm>
                  <a:off x="3524" y="2681"/>
                  <a:ext cx="507"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grpSp>
          <p:cxnSp>
            <p:nvCxnSpPr>
              <p:cNvPr id="858" name="Google Shape;858;p42"/>
              <p:cNvCxnSpPr/>
              <p:nvPr/>
            </p:nvCxnSpPr>
            <p:spPr>
              <a:xfrm>
                <a:off x="4096" y="4538"/>
                <a:ext cx="312" cy="0"/>
              </a:xfrm>
              <a:prstGeom prst="straightConnector1">
                <a:avLst/>
              </a:prstGeom>
              <a:noFill/>
              <a:ln cap="flat" cmpd="sng" w="9525">
                <a:solidFill>
                  <a:schemeClr val="dk1"/>
                </a:solidFill>
                <a:prstDash val="solid"/>
                <a:miter lim="800000"/>
                <a:headEnd len="med" w="med" type="oval"/>
                <a:tailEnd len="med" w="med" type="stealth"/>
              </a:ln>
            </p:spPr>
          </p:cxnSp>
        </p:grpSp>
        <p:grpSp>
          <p:nvGrpSpPr>
            <p:cNvPr id="859" name="Google Shape;859;p42"/>
            <p:cNvGrpSpPr/>
            <p:nvPr/>
          </p:nvGrpSpPr>
          <p:grpSpPr>
            <a:xfrm>
              <a:off x="3542" y="3542"/>
              <a:ext cx="680" cy="342"/>
              <a:chOff x="5283" y="4331"/>
              <a:chExt cx="888" cy="418"/>
            </a:xfrm>
          </p:grpSpPr>
          <p:grpSp>
            <p:nvGrpSpPr>
              <p:cNvPr id="860" name="Google Shape;860;p42"/>
              <p:cNvGrpSpPr/>
              <p:nvPr/>
            </p:nvGrpSpPr>
            <p:grpSpPr>
              <a:xfrm>
                <a:off x="5283" y="4331"/>
                <a:ext cx="642" cy="418"/>
                <a:chOff x="5283" y="2681"/>
                <a:chExt cx="642" cy="418"/>
              </a:xfrm>
            </p:grpSpPr>
            <p:sp>
              <p:nvSpPr>
                <p:cNvPr id="861" name="Google Shape;861;p42"/>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2" name="Google Shape;862;p42"/>
                <p:cNvSpPr txBox="1"/>
                <p:nvPr/>
              </p:nvSpPr>
              <p:spPr>
                <a:xfrm>
                  <a:off x="5283" y="2681"/>
                  <a:ext cx="508"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grpSp>
          <p:cxnSp>
            <p:nvCxnSpPr>
              <p:cNvPr id="863" name="Google Shape;863;p42"/>
              <p:cNvCxnSpPr/>
              <p:nvPr/>
            </p:nvCxnSpPr>
            <p:spPr>
              <a:xfrm>
                <a:off x="5859" y="4538"/>
                <a:ext cx="312" cy="0"/>
              </a:xfrm>
              <a:prstGeom prst="straightConnector1">
                <a:avLst/>
              </a:prstGeom>
              <a:noFill/>
              <a:ln cap="flat" cmpd="sng" w="9525">
                <a:solidFill>
                  <a:schemeClr val="dk1"/>
                </a:solidFill>
                <a:prstDash val="solid"/>
                <a:miter lim="800000"/>
                <a:headEnd len="med" w="med" type="oval"/>
                <a:tailEnd len="med" w="med" type="stealth"/>
              </a:ln>
            </p:spPr>
          </p:cxnSp>
        </p:grpSp>
        <p:sp>
          <p:nvSpPr>
            <p:cNvPr id="864" name="Google Shape;864;p42"/>
            <p:cNvSpPr/>
            <p:nvPr/>
          </p:nvSpPr>
          <p:spPr>
            <a:xfrm>
              <a:off x="1769" y="3595"/>
              <a:ext cx="254" cy="233"/>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65" name="Google Shape;865;p42"/>
            <p:cNvCxnSpPr/>
            <p:nvPr/>
          </p:nvCxnSpPr>
          <p:spPr>
            <a:xfrm>
              <a:off x="1903" y="3712"/>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866" name="Google Shape;866;p42"/>
            <p:cNvSpPr txBox="1"/>
            <p:nvPr/>
          </p:nvSpPr>
          <p:spPr>
            <a:xfrm>
              <a:off x="1532" y="3294"/>
              <a:ext cx="681" cy="27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pHead</a:t>
              </a:r>
              <a:endParaRPr/>
            </a:p>
          </p:txBody>
        </p:sp>
        <p:grpSp>
          <p:nvGrpSpPr>
            <p:cNvPr id="867" name="Google Shape;867;p42"/>
            <p:cNvGrpSpPr/>
            <p:nvPr/>
          </p:nvGrpSpPr>
          <p:grpSpPr>
            <a:xfrm>
              <a:off x="2197" y="3542"/>
              <a:ext cx="676" cy="342"/>
              <a:chOff x="2640" y="4331"/>
              <a:chExt cx="884" cy="418"/>
            </a:xfrm>
          </p:grpSpPr>
          <p:grpSp>
            <p:nvGrpSpPr>
              <p:cNvPr id="868" name="Google Shape;868;p42"/>
              <p:cNvGrpSpPr/>
              <p:nvPr/>
            </p:nvGrpSpPr>
            <p:grpSpPr>
              <a:xfrm>
                <a:off x="2640" y="4331"/>
                <a:ext cx="648" cy="418"/>
                <a:chOff x="2640" y="2681"/>
                <a:chExt cx="648" cy="418"/>
              </a:xfrm>
            </p:grpSpPr>
            <p:sp>
              <p:nvSpPr>
                <p:cNvPr id="869" name="Google Shape;869;p42"/>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0" name="Google Shape;870;p42"/>
                <p:cNvSpPr txBox="1"/>
                <p:nvPr/>
              </p:nvSpPr>
              <p:spPr>
                <a:xfrm>
                  <a:off x="2640" y="2681"/>
                  <a:ext cx="507"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grpSp>
          <p:cxnSp>
            <p:nvCxnSpPr>
              <p:cNvPr id="871" name="Google Shape;871;p42"/>
              <p:cNvCxnSpPr/>
              <p:nvPr/>
            </p:nvCxnSpPr>
            <p:spPr>
              <a:xfrm>
                <a:off x="3212" y="4538"/>
                <a:ext cx="312" cy="0"/>
              </a:xfrm>
              <a:prstGeom prst="straightConnector1">
                <a:avLst/>
              </a:prstGeom>
              <a:noFill/>
              <a:ln cap="flat" cmpd="sng" w="9525">
                <a:solidFill>
                  <a:schemeClr val="dk1"/>
                </a:solidFill>
                <a:prstDash val="solid"/>
                <a:miter lim="800000"/>
                <a:headEnd len="med" w="med" type="oval"/>
                <a:tailEnd len="med" w="med" type="stealth"/>
              </a:ln>
            </p:spPr>
          </p:cxnSp>
        </p:grpSp>
        <p:sp>
          <p:nvSpPr>
            <p:cNvPr id="872" name="Google Shape;872;p42"/>
            <p:cNvSpPr txBox="1"/>
            <p:nvPr/>
          </p:nvSpPr>
          <p:spPr>
            <a:xfrm>
              <a:off x="625" y="3566"/>
              <a:ext cx="848" cy="23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L</a:t>
              </a:r>
              <a:r>
                <a:rPr b="1" baseline="-25000" i="0" lang="en-US" sz="2400" u="none">
                  <a:solidFill>
                    <a:srgbClr val="080808"/>
                  </a:solidFill>
                  <a:latin typeface="Arial"/>
                  <a:ea typeface="Arial"/>
                  <a:cs typeface="Arial"/>
                  <a:sym typeface="Arial"/>
                </a:rPr>
                <a:t>2</a:t>
              </a:r>
              <a:r>
                <a:rPr b="1" i="0" lang="en-US" sz="2400" u="none">
                  <a:solidFill>
                    <a:srgbClr val="080808"/>
                  </a:solidFill>
                  <a:latin typeface="Arial"/>
                  <a:ea typeface="Arial"/>
                  <a:cs typeface="Arial"/>
                  <a:sym typeface="Arial"/>
                </a:rPr>
                <a:t> (&gt;X)</a:t>
              </a:r>
              <a:endParaRPr/>
            </a:p>
          </p:txBody>
        </p:sp>
        <p:sp>
          <p:nvSpPr>
            <p:cNvPr id="873" name="Google Shape;873;p42"/>
            <p:cNvSpPr txBox="1"/>
            <p:nvPr/>
          </p:nvSpPr>
          <p:spPr>
            <a:xfrm>
              <a:off x="4118" y="312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874" name="Google Shape;874;p42"/>
            <p:cNvSpPr/>
            <p:nvPr/>
          </p:nvSpPr>
          <p:spPr>
            <a:xfrm flipH="1">
              <a:off x="3800" y="3218"/>
              <a:ext cx="318"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4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(tt)</a:t>
            </a:r>
            <a:endParaRPr/>
          </a:p>
        </p:txBody>
      </p:sp>
      <p:sp>
        <p:nvSpPr>
          <p:cNvPr id="880" name="Google Shape;880;p43"/>
          <p:cNvSpPr txBox="1"/>
          <p:nvPr>
            <p:ph idx="1" type="body"/>
          </p:nvPr>
        </p:nvSpPr>
        <p:spPr>
          <a:xfrm>
            <a:off x="776287" y="765175"/>
            <a:ext cx="9129712" cy="18002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Sắp xếp L</a:t>
            </a:r>
            <a:r>
              <a:rPr b="0" baseline="-25000" i="0" lang="en-US" sz="3200" u="none">
                <a:solidFill>
                  <a:schemeClr val="dk1"/>
                </a:solidFill>
                <a:latin typeface="Arial"/>
                <a:ea typeface="Arial"/>
                <a:cs typeface="Arial"/>
                <a:sym typeface="Arial"/>
              </a:rPr>
              <a:t>1</a:t>
            </a:r>
            <a:endParaRPr/>
          </a:p>
          <a:p>
            <a:pPr indent="-342900" lvl="0" marL="34290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Sắp xếp L</a:t>
            </a:r>
            <a:r>
              <a:rPr b="0" baseline="-25000" i="0" lang="en-US" sz="3200" u="none">
                <a:solidFill>
                  <a:schemeClr val="dk1"/>
                </a:solidFill>
                <a:latin typeface="Arial"/>
                <a:ea typeface="Arial"/>
                <a:cs typeface="Arial"/>
                <a:sym typeface="Arial"/>
              </a:rPr>
              <a:t>2</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Chọn x=6 cầm canh, và tách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thành L</a:t>
            </a:r>
            <a:r>
              <a:rPr b="0" baseline="-25000" i="0" lang="en-US" sz="2800" u="none">
                <a:solidFill>
                  <a:schemeClr val="dk1"/>
                </a:solidFill>
                <a:latin typeface="Arial"/>
                <a:ea typeface="Arial"/>
                <a:cs typeface="Arial"/>
                <a:sym typeface="Arial"/>
              </a:rPr>
              <a:t>21</a:t>
            </a:r>
            <a:r>
              <a:rPr b="0" i="0" lang="en-US" sz="2800" u="none">
                <a:solidFill>
                  <a:schemeClr val="dk1"/>
                </a:solidFill>
                <a:latin typeface="Arial"/>
                <a:ea typeface="Arial"/>
                <a:cs typeface="Arial"/>
                <a:sym typeface="Arial"/>
              </a:rPr>
              <a:t> và L</a:t>
            </a:r>
            <a:r>
              <a:rPr b="0" baseline="-25000" i="0" lang="en-US" sz="2800" u="none">
                <a:solidFill>
                  <a:schemeClr val="dk1"/>
                </a:solidFill>
                <a:latin typeface="Arial"/>
                <a:ea typeface="Arial"/>
                <a:cs typeface="Arial"/>
                <a:sym typeface="Arial"/>
              </a:rPr>
              <a:t>22</a:t>
            </a:r>
            <a:endParaRPr/>
          </a:p>
        </p:txBody>
      </p:sp>
      <p:grpSp>
        <p:nvGrpSpPr>
          <p:cNvPr id="881" name="Google Shape;881;p43"/>
          <p:cNvGrpSpPr/>
          <p:nvPr/>
        </p:nvGrpSpPr>
        <p:grpSpPr>
          <a:xfrm>
            <a:off x="2901950" y="2636837"/>
            <a:ext cx="2276475" cy="538162"/>
            <a:chOff x="1595" y="2160"/>
            <a:chExt cx="1434" cy="339"/>
          </a:xfrm>
        </p:grpSpPr>
        <p:sp>
          <p:nvSpPr>
            <p:cNvPr id="882" name="Google Shape;882;p43"/>
            <p:cNvSpPr txBox="1"/>
            <p:nvPr/>
          </p:nvSpPr>
          <p:spPr>
            <a:xfrm>
              <a:off x="1595" y="2221"/>
              <a:ext cx="494" cy="24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X</a:t>
              </a:r>
              <a:r>
                <a:rPr b="1" baseline="-25000" i="0" lang="en-US" sz="2400" u="none">
                  <a:solidFill>
                    <a:srgbClr val="080808"/>
                  </a:solidFill>
                  <a:latin typeface="Arial"/>
                  <a:ea typeface="Arial"/>
                  <a:cs typeface="Arial"/>
                  <a:sym typeface="Arial"/>
                </a:rPr>
                <a:t>2</a:t>
              </a:r>
              <a:r>
                <a:rPr b="1" i="0" lang="en-US" sz="2400" u="none">
                  <a:solidFill>
                    <a:srgbClr val="080808"/>
                  </a:solidFill>
                  <a:latin typeface="Arial"/>
                  <a:ea typeface="Arial"/>
                  <a:cs typeface="Arial"/>
                  <a:sym typeface="Arial"/>
                </a:rPr>
                <a:t> =</a:t>
              </a:r>
              <a:endParaRPr/>
            </a:p>
          </p:txBody>
        </p:sp>
        <p:grpSp>
          <p:nvGrpSpPr>
            <p:cNvPr id="883" name="Google Shape;883;p43"/>
            <p:cNvGrpSpPr/>
            <p:nvPr/>
          </p:nvGrpSpPr>
          <p:grpSpPr>
            <a:xfrm>
              <a:off x="2341" y="2160"/>
              <a:ext cx="688" cy="339"/>
              <a:chOff x="1755" y="3866"/>
              <a:chExt cx="899" cy="414"/>
            </a:xfrm>
          </p:grpSpPr>
          <p:grpSp>
            <p:nvGrpSpPr>
              <p:cNvPr id="884" name="Google Shape;884;p43"/>
              <p:cNvGrpSpPr/>
              <p:nvPr/>
            </p:nvGrpSpPr>
            <p:grpSpPr>
              <a:xfrm>
                <a:off x="1755" y="3866"/>
                <a:ext cx="648" cy="414"/>
                <a:chOff x="2640" y="2681"/>
                <a:chExt cx="648" cy="414"/>
              </a:xfrm>
            </p:grpSpPr>
            <p:sp>
              <p:nvSpPr>
                <p:cNvPr id="885" name="Google Shape;885;p43"/>
                <p:cNvSpPr txBox="1"/>
                <p:nvPr/>
              </p:nvSpPr>
              <p:spPr>
                <a:xfrm>
                  <a:off x="3150" y="2681"/>
                  <a:ext cx="138" cy="414"/>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t" bIns="0" lIns="0" spcFirstLastPara="1" rIns="0" wrap="square" tIns="252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6" name="Google Shape;886;p43"/>
                <p:cNvSpPr txBox="1"/>
                <p:nvPr/>
              </p:nvSpPr>
              <p:spPr>
                <a:xfrm>
                  <a:off x="2640" y="2681"/>
                  <a:ext cx="507" cy="414"/>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t" bIns="0" lIns="0" spcFirstLastPara="1" rIns="0" wrap="square" tIns="25200">
                  <a:noAutofit/>
                </a:bodyPr>
                <a:lstStyle/>
                <a:p>
                  <a:pPr indent="0" lvl="0" marL="0" marR="0" rtl="0" algn="ctr">
                    <a:lnSpc>
                      <a:spcPct val="100000"/>
                    </a:lnSpc>
                    <a:spcBef>
                      <a:spcPts val="0"/>
                    </a:spcBef>
                    <a:spcAft>
                      <a:spcPts val="0"/>
                    </a:spcAft>
                    <a:buClr>
                      <a:schemeClr val="dk1"/>
                    </a:buClr>
                    <a:buSzPts val="2400"/>
                    <a:buFont typeface="Teko"/>
                    <a:buNone/>
                  </a:pPr>
                  <a:r>
                    <a:rPr b="1" i="0" lang="en-US" sz="2400" u="none">
                      <a:solidFill>
                        <a:schemeClr val="dk1"/>
                      </a:solidFill>
                      <a:latin typeface="Teko"/>
                      <a:ea typeface="Teko"/>
                      <a:cs typeface="Teko"/>
                      <a:sym typeface="Teko"/>
                    </a:rPr>
                    <a:t>6</a:t>
                  </a:r>
                  <a:endParaRPr/>
                </a:p>
              </p:txBody>
            </p:sp>
          </p:grpSp>
          <p:cxnSp>
            <p:nvCxnSpPr>
              <p:cNvPr id="887" name="Google Shape;887;p43"/>
              <p:cNvCxnSpPr/>
              <p:nvPr/>
            </p:nvCxnSpPr>
            <p:spPr>
              <a:xfrm>
                <a:off x="2342" y="4073"/>
                <a:ext cx="312" cy="0"/>
              </a:xfrm>
              <a:prstGeom prst="straightConnector1">
                <a:avLst/>
              </a:prstGeom>
              <a:noFill/>
              <a:ln cap="flat" cmpd="sng" w="38100">
                <a:solidFill>
                  <a:schemeClr val="dk1"/>
                </a:solidFill>
                <a:prstDash val="solid"/>
                <a:miter lim="800000"/>
                <a:headEnd len="med" w="med" type="oval"/>
                <a:tailEnd len="med" w="med" type="stealth"/>
              </a:ln>
            </p:spPr>
          </p:cxnSp>
        </p:grpSp>
      </p:grpSp>
      <p:grpSp>
        <p:nvGrpSpPr>
          <p:cNvPr id="888" name="Google Shape;888;p43"/>
          <p:cNvGrpSpPr/>
          <p:nvPr/>
        </p:nvGrpSpPr>
        <p:grpSpPr>
          <a:xfrm>
            <a:off x="3862387" y="4005262"/>
            <a:ext cx="1066800" cy="538162"/>
            <a:chOff x="4409" y="4331"/>
            <a:chExt cx="877" cy="414"/>
          </a:xfrm>
        </p:grpSpPr>
        <p:grpSp>
          <p:nvGrpSpPr>
            <p:cNvPr id="889" name="Google Shape;889;p43"/>
            <p:cNvGrpSpPr/>
            <p:nvPr/>
          </p:nvGrpSpPr>
          <p:grpSpPr>
            <a:xfrm>
              <a:off x="4409" y="4331"/>
              <a:ext cx="640" cy="414"/>
              <a:chOff x="4409" y="2681"/>
              <a:chExt cx="640" cy="414"/>
            </a:xfrm>
          </p:grpSpPr>
          <p:sp>
            <p:nvSpPr>
              <p:cNvPr id="890" name="Google Shape;890;p43"/>
              <p:cNvSpPr txBox="1"/>
              <p:nvPr/>
            </p:nvSpPr>
            <p:spPr>
              <a:xfrm>
                <a:off x="4911" y="2681"/>
                <a:ext cx="138"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1" name="Google Shape;891;p43"/>
              <p:cNvSpPr txBox="1"/>
              <p:nvPr/>
            </p:nvSpPr>
            <p:spPr>
              <a:xfrm>
                <a:off x="4409" y="2681"/>
                <a:ext cx="506" cy="414"/>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eko"/>
                  <a:buNone/>
                </a:pPr>
                <a:r>
                  <a:rPr b="1" i="0" lang="en-US" sz="2400" u="none">
                    <a:solidFill>
                      <a:schemeClr val="lt1"/>
                    </a:solidFill>
                    <a:latin typeface="Teko"/>
                    <a:ea typeface="Teko"/>
                    <a:cs typeface="Teko"/>
                    <a:sym typeface="Teko"/>
                  </a:rPr>
                  <a:t>2</a:t>
                </a:r>
                <a:endParaRPr/>
              </a:p>
            </p:txBody>
          </p:sp>
        </p:grpSp>
        <p:cxnSp>
          <p:nvCxnSpPr>
            <p:cNvPr id="892" name="Google Shape;892;p43"/>
            <p:cNvCxnSpPr/>
            <p:nvPr/>
          </p:nvCxnSpPr>
          <p:spPr>
            <a:xfrm>
              <a:off x="4974" y="4538"/>
              <a:ext cx="312" cy="0"/>
            </a:xfrm>
            <a:prstGeom prst="straightConnector1">
              <a:avLst/>
            </a:prstGeom>
            <a:noFill/>
            <a:ln cap="flat" cmpd="sng" w="38100">
              <a:solidFill>
                <a:srgbClr val="FF0000"/>
              </a:solidFill>
              <a:prstDash val="solid"/>
              <a:miter lim="800000"/>
              <a:headEnd len="med" w="med" type="oval"/>
              <a:tailEnd len="med" w="med" type="stealth"/>
            </a:ln>
          </p:spPr>
        </p:cxnSp>
      </p:grpSp>
      <p:sp>
        <p:nvSpPr>
          <p:cNvPr id="893" name="Google Shape;893;p43"/>
          <p:cNvSpPr txBox="1"/>
          <p:nvPr/>
        </p:nvSpPr>
        <p:spPr>
          <a:xfrm>
            <a:off x="1312862" y="4076700"/>
            <a:ext cx="1346200" cy="41433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L</a:t>
            </a:r>
            <a:r>
              <a:rPr b="1" baseline="-25000" i="0" lang="en-US" sz="2400" u="none">
                <a:solidFill>
                  <a:srgbClr val="080808"/>
                </a:solidFill>
                <a:latin typeface="Arial"/>
                <a:ea typeface="Arial"/>
                <a:cs typeface="Arial"/>
                <a:sym typeface="Arial"/>
              </a:rPr>
              <a:t>21 </a:t>
            </a:r>
            <a:r>
              <a:rPr b="1" i="0" lang="en-US" sz="2400" u="none">
                <a:solidFill>
                  <a:srgbClr val="080808"/>
                </a:solidFill>
                <a:latin typeface="Arial"/>
                <a:ea typeface="Arial"/>
                <a:cs typeface="Arial"/>
                <a:sym typeface="Arial"/>
              </a:rPr>
              <a:t>(≤X)</a:t>
            </a:r>
            <a:endParaRPr/>
          </a:p>
        </p:txBody>
      </p:sp>
      <p:sp>
        <p:nvSpPr>
          <p:cNvPr id="894" name="Google Shape;894;p43"/>
          <p:cNvSpPr/>
          <p:nvPr/>
        </p:nvSpPr>
        <p:spPr>
          <a:xfrm>
            <a:off x="3178175" y="4089400"/>
            <a:ext cx="403225" cy="369887"/>
          </a:xfrm>
          <a:prstGeom prst="ellipse">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95" name="Google Shape;895;p43"/>
          <p:cNvCxnSpPr/>
          <p:nvPr/>
        </p:nvCxnSpPr>
        <p:spPr>
          <a:xfrm>
            <a:off x="3390900" y="4275137"/>
            <a:ext cx="469900" cy="0"/>
          </a:xfrm>
          <a:prstGeom prst="straightConnector1">
            <a:avLst/>
          </a:prstGeom>
          <a:noFill/>
          <a:ln cap="flat" cmpd="sng" w="38100">
            <a:solidFill>
              <a:schemeClr val="dk1"/>
            </a:solidFill>
            <a:prstDash val="solid"/>
            <a:miter lim="800000"/>
            <a:headEnd len="med" w="med" type="none"/>
            <a:tailEnd len="med" w="med" type="stealth"/>
          </a:ln>
        </p:spPr>
      </p:cxnSp>
      <p:sp>
        <p:nvSpPr>
          <p:cNvPr id="896" name="Google Shape;896;p43"/>
          <p:cNvSpPr txBox="1"/>
          <p:nvPr/>
        </p:nvSpPr>
        <p:spPr>
          <a:xfrm>
            <a:off x="2730500" y="3502025"/>
            <a:ext cx="1368425"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Times New Roman"/>
              <a:buNone/>
            </a:pPr>
            <a:r>
              <a:rPr b="1" baseline="-25000" i="0" lang="en-US" sz="3600" u="none">
                <a:solidFill>
                  <a:schemeClr val="dk1"/>
                </a:solidFill>
                <a:latin typeface="Times New Roman"/>
                <a:ea typeface="Times New Roman"/>
                <a:cs typeface="Times New Roman"/>
                <a:sym typeface="Times New Roman"/>
              </a:rPr>
              <a:t>pHead</a:t>
            </a:r>
            <a:endParaRPr/>
          </a:p>
        </p:txBody>
      </p:sp>
      <p:sp>
        <p:nvSpPr>
          <p:cNvPr id="897" name="Google Shape;897;p43"/>
          <p:cNvSpPr txBox="1"/>
          <p:nvPr/>
        </p:nvSpPr>
        <p:spPr>
          <a:xfrm>
            <a:off x="4927600" y="4130675"/>
            <a:ext cx="268287" cy="287337"/>
          </a:xfrm>
          <a:prstGeom prst="rect">
            <a:avLst/>
          </a:prstGeom>
          <a:solidFill>
            <a:srgbClr val="000099"/>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8" name="Google Shape;898;p43"/>
          <p:cNvSpPr txBox="1"/>
          <p:nvPr/>
        </p:nvSpPr>
        <p:spPr>
          <a:xfrm>
            <a:off x="4614862" y="3357562"/>
            <a:ext cx="782637" cy="3905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899" name="Google Shape;899;p43"/>
          <p:cNvSpPr/>
          <p:nvPr/>
        </p:nvSpPr>
        <p:spPr>
          <a:xfrm flipH="1">
            <a:off x="4110037" y="3502025"/>
            <a:ext cx="504825" cy="481012"/>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0" name="Google Shape;900;p43"/>
          <p:cNvSpPr txBox="1"/>
          <p:nvPr/>
        </p:nvSpPr>
        <p:spPr>
          <a:xfrm>
            <a:off x="4910137" y="5942012"/>
            <a:ext cx="268287" cy="287337"/>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901" name="Google Shape;901;p43"/>
          <p:cNvGrpSpPr/>
          <p:nvPr/>
        </p:nvGrpSpPr>
        <p:grpSpPr>
          <a:xfrm>
            <a:off x="3832225" y="5816600"/>
            <a:ext cx="1047750" cy="542925"/>
            <a:chOff x="5283" y="4331"/>
            <a:chExt cx="888" cy="414"/>
          </a:xfrm>
        </p:grpSpPr>
        <p:grpSp>
          <p:nvGrpSpPr>
            <p:cNvPr id="902" name="Google Shape;902;p43"/>
            <p:cNvGrpSpPr/>
            <p:nvPr/>
          </p:nvGrpSpPr>
          <p:grpSpPr>
            <a:xfrm>
              <a:off x="5283" y="4331"/>
              <a:ext cx="642" cy="414"/>
              <a:chOff x="5283" y="2681"/>
              <a:chExt cx="642" cy="414"/>
            </a:xfrm>
          </p:grpSpPr>
          <p:sp>
            <p:nvSpPr>
              <p:cNvPr id="903" name="Google Shape;903;p43"/>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4" name="Google Shape;904;p43"/>
              <p:cNvSpPr txBox="1"/>
              <p:nvPr/>
            </p:nvSpPr>
            <p:spPr>
              <a:xfrm>
                <a:off x="5283" y="2681"/>
                <a:ext cx="507"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grpSp>
        <p:cxnSp>
          <p:nvCxnSpPr>
            <p:cNvPr id="905" name="Google Shape;905;p43"/>
            <p:cNvCxnSpPr/>
            <p:nvPr/>
          </p:nvCxnSpPr>
          <p:spPr>
            <a:xfrm>
              <a:off x="5859" y="4538"/>
              <a:ext cx="312" cy="0"/>
            </a:xfrm>
            <a:prstGeom prst="straightConnector1">
              <a:avLst/>
            </a:prstGeom>
            <a:noFill/>
            <a:ln cap="flat" cmpd="sng" w="9525">
              <a:solidFill>
                <a:schemeClr val="dk1"/>
              </a:solidFill>
              <a:prstDash val="solid"/>
              <a:miter lim="800000"/>
              <a:headEnd len="med" w="med" type="oval"/>
              <a:tailEnd len="med" w="med" type="stealth"/>
            </a:ln>
          </p:spPr>
        </p:cxnSp>
      </p:grpSp>
      <p:sp>
        <p:nvSpPr>
          <p:cNvPr id="906" name="Google Shape;906;p43"/>
          <p:cNvSpPr/>
          <p:nvPr/>
        </p:nvSpPr>
        <p:spPr>
          <a:xfrm>
            <a:off x="3178175" y="5900737"/>
            <a:ext cx="403225" cy="369887"/>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907" name="Google Shape;907;p43"/>
          <p:cNvCxnSpPr/>
          <p:nvPr/>
        </p:nvCxnSpPr>
        <p:spPr>
          <a:xfrm>
            <a:off x="3390900" y="6086475"/>
            <a:ext cx="469900" cy="0"/>
          </a:xfrm>
          <a:prstGeom prst="straightConnector1">
            <a:avLst/>
          </a:prstGeom>
          <a:noFill/>
          <a:ln cap="flat" cmpd="sng" w="38100">
            <a:solidFill>
              <a:schemeClr val="dk1"/>
            </a:solidFill>
            <a:prstDash val="solid"/>
            <a:miter lim="800000"/>
            <a:headEnd len="med" w="med" type="none"/>
            <a:tailEnd len="med" w="med" type="stealth"/>
          </a:ln>
        </p:spPr>
      </p:cxnSp>
      <p:sp>
        <p:nvSpPr>
          <p:cNvPr id="908" name="Google Shape;908;p43"/>
          <p:cNvSpPr txBox="1"/>
          <p:nvPr/>
        </p:nvSpPr>
        <p:spPr>
          <a:xfrm>
            <a:off x="2801937" y="5422900"/>
            <a:ext cx="1081087" cy="431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pHead</a:t>
            </a:r>
            <a:endParaRPr/>
          </a:p>
        </p:txBody>
      </p:sp>
      <p:sp>
        <p:nvSpPr>
          <p:cNvPr id="909" name="Google Shape;909;p43"/>
          <p:cNvSpPr txBox="1"/>
          <p:nvPr/>
        </p:nvSpPr>
        <p:spPr>
          <a:xfrm>
            <a:off x="1362075" y="5854700"/>
            <a:ext cx="1346200" cy="37941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L</a:t>
            </a:r>
            <a:r>
              <a:rPr b="1" baseline="-25000" i="0" lang="en-US" sz="2400" u="none">
                <a:solidFill>
                  <a:srgbClr val="080808"/>
                </a:solidFill>
                <a:latin typeface="Arial"/>
                <a:ea typeface="Arial"/>
                <a:cs typeface="Arial"/>
                <a:sym typeface="Arial"/>
              </a:rPr>
              <a:t>22</a:t>
            </a:r>
            <a:r>
              <a:rPr b="1" i="0" lang="en-US" sz="2400" u="none">
                <a:solidFill>
                  <a:srgbClr val="080808"/>
                </a:solidFill>
                <a:latin typeface="Arial"/>
                <a:ea typeface="Arial"/>
                <a:cs typeface="Arial"/>
                <a:sym typeface="Arial"/>
              </a:rPr>
              <a:t> (&gt;X)</a:t>
            </a:r>
            <a:endParaRPr/>
          </a:p>
        </p:txBody>
      </p:sp>
      <p:sp>
        <p:nvSpPr>
          <p:cNvPr id="910" name="Google Shape;910;p43"/>
          <p:cNvSpPr txBox="1"/>
          <p:nvPr/>
        </p:nvSpPr>
        <p:spPr>
          <a:xfrm>
            <a:off x="4746625" y="5157787"/>
            <a:ext cx="782637" cy="3905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911" name="Google Shape;911;p43"/>
          <p:cNvSpPr/>
          <p:nvPr/>
        </p:nvSpPr>
        <p:spPr>
          <a:xfrm flipH="1">
            <a:off x="4241800" y="5302250"/>
            <a:ext cx="504825" cy="481012"/>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(tt)</a:t>
            </a:r>
            <a:endParaRPr/>
          </a:p>
        </p:txBody>
      </p:sp>
      <p:sp>
        <p:nvSpPr>
          <p:cNvPr id="917" name="Google Shape;917;p44"/>
          <p:cNvSpPr txBox="1"/>
          <p:nvPr>
            <p:ph idx="1" type="body"/>
          </p:nvPr>
        </p:nvSpPr>
        <p:spPr>
          <a:xfrm>
            <a:off x="776287" y="909637"/>
            <a:ext cx="9129712" cy="7191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Nối L</a:t>
            </a:r>
            <a:r>
              <a:rPr b="0" baseline="-25000" i="0" lang="en-US" sz="2800" u="none">
                <a:solidFill>
                  <a:schemeClr val="dk1"/>
                </a:solidFill>
                <a:latin typeface="Arial"/>
                <a:ea typeface="Arial"/>
                <a:cs typeface="Arial"/>
                <a:sym typeface="Arial"/>
              </a:rPr>
              <a:t>21</a:t>
            </a:r>
            <a:r>
              <a:rPr b="0" i="0" lang="en-US" sz="2800" u="none">
                <a:solidFill>
                  <a:schemeClr val="dk1"/>
                </a:solidFill>
                <a:latin typeface="Arial"/>
                <a:ea typeface="Arial"/>
                <a:cs typeface="Arial"/>
                <a:sym typeface="Arial"/>
              </a:rPr>
              <a:t>, X</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22</a:t>
            </a:r>
            <a:r>
              <a:rPr b="0" i="0" lang="en-US" sz="2800" u="none">
                <a:solidFill>
                  <a:schemeClr val="dk1"/>
                </a:solidFill>
                <a:latin typeface="Arial"/>
                <a:ea typeface="Arial"/>
                <a:cs typeface="Arial"/>
                <a:sym typeface="Arial"/>
              </a:rPr>
              <a:t> thành L</a:t>
            </a:r>
            <a:r>
              <a:rPr b="0" baseline="-25000" i="0" lang="en-US" sz="2800" u="none">
                <a:solidFill>
                  <a:schemeClr val="dk1"/>
                </a:solidFill>
                <a:latin typeface="Arial"/>
                <a:ea typeface="Arial"/>
                <a:cs typeface="Arial"/>
                <a:sym typeface="Arial"/>
              </a:rPr>
              <a:t>2</a:t>
            </a:r>
            <a:endParaRPr/>
          </a:p>
        </p:txBody>
      </p:sp>
      <p:grpSp>
        <p:nvGrpSpPr>
          <p:cNvPr id="918" name="Google Shape;918;p44"/>
          <p:cNvGrpSpPr/>
          <p:nvPr/>
        </p:nvGrpSpPr>
        <p:grpSpPr>
          <a:xfrm>
            <a:off x="1423987" y="1628775"/>
            <a:ext cx="6327775" cy="1201737"/>
            <a:chOff x="625" y="3127"/>
            <a:chExt cx="3986" cy="757"/>
          </a:xfrm>
        </p:grpSpPr>
        <p:sp>
          <p:nvSpPr>
            <p:cNvPr id="919" name="Google Shape;919;p44"/>
            <p:cNvSpPr txBox="1"/>
            <p:nvPr/>
          </p:nvSpPr>
          <p:spPr>
            <a:xfrm>
              <a:off x="4221" y="3621"/>
              <a:ext cx="169" cy="181"/>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920" name="Google Shape;920;p44"/>
            <p:cNvGrpSpPr/>
            <p:nvPr/>
          </p:nvGrpSpPr>
          <p:grpSpPr>
            <a:xfrm>
              <a:off x="2873" y="3542"/>
              <a:ext cx="677" cy="342"/>
              <a:chOff x="3524" y="4331"/>
              <a:chExt cx="884" cy="418"/>
            </a:xfrm>
          </p:grpSpPr>
          <p:grpSp>
            <p:nvGrpSpPr>
              <p:cNvPr id="921" name="Google Shape;921;p44"/>
              <p:cNvGrpSpPr/>
              <p:nvPr/>
            </p:nvGrpSpPr>
            <p:grpSpPr>
              <a:xfrm>
                <a:off x="3524" y="4331"/>
                <a:ext cx="641" cy="418"/>
                <a:chOff x="3524" y="2681"/>
                <a:chExt cx="641" cy="418"/>
              </a:xfrm>
            </p:grpSpPr>
            <p:sp>
              <p:nvSpPr>
                <p:cNvPr id="922" name="Google Shape;922;p44"/>
                <p:cNvSpPr txBox="1"/>
                <p:nvPr/>
              </p:nvSpPr>
              <p:spPr>
                <a:xfrm>
                  <a:off x="402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3" name="Google Shape;923;p44"/>
                <p:cNvSpPr txBox="1"/>
                <p:nvPr/>
              </p:nvSpPr>
              <p:spPr>
                <a:xfrm>
                  <a:off x="3524" y="2681"/>
                  <a:ext cx="507"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grpSp>
          <p:cxnSp>
            <p:nvCxnSpPr>
              <p:cNvPr id="924" name="Google Shape;924;p44"/>
              <p:cNvCxnSpPr/>
              <p:nvPr/>
            </p:nvCxnSpPr>
            <p:spPr>
              <a:xfrm>
                <a:off x="4096" y="4538"/>
                <a:ext cx="312" cy="0"/>
              </a:xfrm>
              <a:prstGeom prst="straightConnector1">
                <a:avLst/>
              </a:prstGeom>
              <a:noFill/>
              <a:ln cap="flat" cmpd="sng" w="9525">
                <a:solidFill>
                  <a:schemeClr val="dk1"/>
                </a:solidFill>
                <a:prstDash val="solid"/>
                <a:miter lim="800000"/>
                <a:headEnd len="med" w="med" type="oval"/>
                <a:tailEnd len="med" w="med" type="stealth"/>
              </a:ln>
            </p:spPr>
          </p:cxnSp>
        </p:grpSp>
        <p:grpSp>
          <p:nvGrpSpPr>
            <p:cNvPr id="925" name="Google Shape;925;p44"/>
            <p:cNvGrpSpPr/>
            <p:nvPr/>
          </p:nvGrpSpPr>
          <p:grpSpPr>
            <a:xfrm>
              <a:off x="3542" y="3542"/>
              <a:ext cx="680" cy="342"/>
              <a:chOff x="5283" y="4331"/>
              <a:chExt cx="888" cy="418"/>
            </a:xfrm>
          </p:grpSpPr>
          <p:grpSp>
            <p:nvGrpSpPr>
              <p:cNvPr id="926" name="Google Shape;926;p44"/>
              <p:cNvGrpSpPr/>
              <p:nvPr/>
            </p:nvGrpSpPr>
            <p:grpSpPr>
              <a:xfrm>
                <a:off x="5283" y="4331"/>
                <a:ext cx="642" cy="418"/>
                <a:chOff x="5283" y="2681"/>
                <a:chExt cx="642" cy="418"/>
              </a:xfrm>
            </p:grpSpPr>
            <p:sp>
              <p:nvSpPr>
                <p:cNvPr id="927" name="Google Shape;927;p44"/>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8" name="Google Shape;928;p44"/>
                <p:cNvSpPr txBox="1"/>
                <p:nvPr/>
              </p:nvSpPr>
              <p:spPr>
                <a:xfrm>
                  <a:off x="5283" y="2681"/>
                  <a:ext cx="508"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grpSp>
          <p:cxnSp>
            <p:nvCxnSpPr>
              <p:cNvPr id="929" name="Google Shape;929;p44"/>
              <p:cNvCxnSpPr/>
              <p:nvPr/>
            </p:nvCxnSpPr>
            <p:spPr>
              <a:xfrm>
                <a:off x="5859" y="4538"/>
                <a:ext cx="312" cy="0"/>
              </a:xfrm>
              <a:prstGeom prst="straightConnector1">
                <a:avLst/>
              </a:prstGeom>
              <a:noFill/>
              <a:ln cap="flat" cmpd="sng" w="9525">
                <a:solidFill>
                  <a:schemeClr val="dk1"/>
                </a:solidFill>
                <a:prstDash val="solid"/>
                <a:miter lim="800000"/>
                <a:headEnd len="med" w="med" type="oval"/>
                <a:tailEnd len="med" w="med" type="stealth"/>
              </a:ln>
            </p:spPr>
          </p:cxnSp>
        </p:grpSp>
        <p:sp>
          <p:nvSpPr>
            <p:cNvPr id="930" name="Google Shape;930;p44"/>
            <p:cNvSpPr/>
            <p:nvPr/>
          </p:nvSpPr>
          <p:spPr>
            <a:xfrm>
              <a:off x="1769" y="3595"/>
              <a:ext cx="254" cy="233"/>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931" name="Google Shape;931;p44"/>
            <p:cNvCxnSpPr/>
            <p:nvPr/>
          </p:nvCxnSpPr>
          <p:spPr>
            <a:xfrm>
              <a:off x="1903" y="3712"/>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932" name="Google Shape;932;p44"/>
            <p:cNvSpPr txBox="1"/>
            <p:nvPr/>
          </p:nvSpPr>
          <p:spPr>
            <a:xfrm>
              <a:off x="1532" y="3294"/>
              <a:ext cx="681" cy="27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pHead</a:t>
              </a:r>
              <a:endParaRPr/>
            </a:p>
          </p:txBody>
        </p:sp>
        <p:grpSp>
          <p:nvGrpSpPr>
            <p:cNvPr id="933" name="Google Shape;933;p44"/>
            <p:cNvGrpSpPr/>
            <p:nvPr/>
          </p:nvGrpSpPr>
          <p:grpSpPr>
            <a:xfrm>
              <a:off x="2197" y="3542"/>
              <a:ext cx="676" cy="342"/>
              <a:chOff x="2640" y="4331"/>
              <a:chExt cx="884" cy="418"/>
            </a:xfrm>
          </p:grpSpPr>
          <p:grpSp>
            <p:nvGrpSpPr>
              <p:cNvPr id="934" name="Google Shape;934;p44"/>
              <p:cNvGrpSpPr/>
              <p:nvPr/>
            </p:nvGrpSpPr>
            <p:grpSpPr>
              <a:xfrm>
                <a:off x="2640" y="4331"/>
                <a:ext cx="648" cy="418"/>
                <a:chOff x="2640" y="2681"/>
                <a:chExt cx="648" cy="418"/>
              </a:xfrm>
            </p:grpSpPr>
            <p:sp>
              <p:nvSpPr>
                <p:cNvPr id="935" name="Google Shape;935;p44"/>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6" name="Google Shape;936;p44"/>
                <p:cNvSpPr txBox="1"/>
                <p:nvPr/>
              </p:nvSpPr>
              <p:spPr>
                <a:xfrm>
                  <a:off x="2640" y="2681"/>
                  <a:ext cx="507" cy="418"/>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grpSp>
          <p:cxnSp>
            <p:nvCxnSpPr>
              <p:cNvPr id="937" name="Google Shape;937;p44"/>
              <p:cNvCxnSpPr/>
              <p:nvPr/>
            </p:nvCxnSpPr>
            <p:spPr>
              <a:xfrm>
                <a:off x="3212" y="4538"/>
                <a:ext cx="312" cy="0"/>
              </a:xfrm>
              <a:prstGeom prst="straightConnector1">
                <a:avLst/>
              </a:prstGeom>
              <a:noFill/>
              <a:ln cap="flat" cmpd="sng" w="9525">
                <a:solidFill>
                  <a:schemeClr val="dk1"/>
                </a:solidFill>
                <a:prstDash val="solid"/>
                <a:miter lim="800000"/>
                <a:headEnd len="med" w="med" type="oval"/>
                <a:tailEnd len="med" w="med" type="stealth"/>
              </a:ln>
            </p:spPr>
          </p:cxnSp>
        </p:grpSp>
        <p:sp>
          <p:nvSpPr>
            <p:cNvPr id="938" name="Google Shape;938;p44"/>
            <p:cNvSpPr txBox="1"/>
            <p:nvPr/>
          </p:nvSpPr>
          <p:spPr>
            <a:xfrm>
              <a:off x="625" y="3566"/>
              <a:ext cx="848" cy="23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L</a:t>
              </a:r>
              <a:r>
                <a:rPr b="1" baseline="-25000" i="0" lang="en-US" sz="2400" u="none">
                  <a:solidFill>
                    <a:srgbClr val="080808"/>
                  </a:solidFill>
                  <a:latin typeface="Arial"/>
                  <a:ea typeface="Arial"/>
                  <a:cs typeface="Arial"/>
                  <a:sym typeface="Arial"/>
                </a:rPr>
                <a:t>2</a:t>
              </a:r>
              <a:endParaRPr/>
            </a:p>
          </p:txBody>
        </p:sp>
        <p:sp>
          <p:nvSpPr>
            <p:cNvPr id="939" name="Google Shape;939;p44"/>
            <p:cNvSpPr txBox="1"/>
            <p:nvPr/>
          </p:nvSpPr>
          <p:spPr>
            <a:xfrm>
              <a:off x="4118" y="312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940" name="Google Shape;940;p44"/>
            <p:cNvSpPr/>
            <p:nvPr/>
          </p:nvSpPr>
          <p:spPr>
            <a:xfrm flipH="1">
              <a:off x="3800" y="3218"/>
              <a:ext cx="318"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941" name="Google Shape;941;p44"/>
          <p:cNvSpPr txBox="1"/>
          <p:nvPr/>
        </p:nvSpPr>
        <p:spPr>
          <a:xfrm>
            <a:off x="849312" y="3284537"/>
            <a:ext cx="82073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Nối L1, X, L2 thành L</a:t>
            </a:r>
            <a:endParaRPr/>
          </a:p>
        </p:txBody>
      </p:sp>
      <p:grpSp>
        <p:nvGrpSpPr>
          <p:cNvPr id="942" name="Google Shape;942;p44"/>
          <p:cNvGrpSpPr/>
          <p:nvPr/>
        </p:nvGrpSpPr>
        <p:grpSpPr>
          <a:xfrm>
            <a:off x="1220787" y="4295775"/>
            <a:ext cx="7477125" cy="1293812"/>
            <a:chOff x="769" y="2706"/>
            <a:chExt cx="4710" cy="815"/>
          </a:xfrm>
        </p:grpSpPr>
        <p:sp>
          <p:nvSpPr>
            <p:cNvPr id="943" name="Google Shape;943;p44"/>
            <p:cNvSpPr/>
            <p:nvPr/>
          </p:nvSpPr>
          <p:spPr>
            <a:xfrm>
              <a:off x="860" y="3231"/>
              <a:ext cx="254" cy="234"/>
            </a:xfrm>
            <a:prstGeom prst="ellipse">
              <a:avLst/>
            </a:prstGeom>
            <a:gradFill>
              <a:gsLst>
                <a:gs pos="0">
                  <a:srgbClr val="FFFFF7"/>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4" name="Google Shape;944;p44"/>
            <p:cNvSpPr txBox="1"/>
            <p:nvPr/>
          </p:nvSpPr>
          <p:spPr>
            <a:xfrm>
              <a:off x="5310" y="3257"/>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945" name="Google Shape;945;p44"/>
            <p:cNvCxnSpPr/>
            <p:nvPr/>
          </p:nvCxnSpPr>
          <p:spPr>
            <a:xfrm>
              <a:off x="994" y="3348"/>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946" name="Google Shape;946;p44"/>
            <p:cNvSpPr txBox="1"/>
            <p:nvPr/>
          </p:nvSpPr>
          <p:spPr>
            <a:xfrm>
              <a:off x="2344" y="317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7" name="Google Shape;947;p44"/>
            <p:cNvSpPr txBox="1"/>
            <p:nvPr/>
          </p:nvSpPr>
          <p:spPr>
            <a:xfrm>
              <a:off x="1954" y="317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sp>
          <p:nvSpPr>
            <p:cNvPr id="948" name="Google Shape;948;p44"/>
            <p:cNvSpPr txBox="1"/>
            <p:nvPr/>
          </p:nvSpPr>
          <p:spPr>
            <a:xfrm>
              <a:off x="3015" y="317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9" name="Google Shape;949;p44"/>
            <p:cNvSpPr txBox="1"/>
            <p:nvPr/>
          </p:nvSpPr>
          <p:spPr>
            <a:xfrm>
              <a:off x="2630" y="317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sp>
          <p:nvSpPr>
            <p:cNvPr id="950" name="Google Shape;950;p44"/>
            <p:cNvSpPr txBox="1"/>
            <p:nvPr/>
          </p:nvSpPr>
          <p:spPr>
            <a:xfrm>
              <a:off x="3692" y="3179"/>
              <a:ext cx="105"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1" name="Google Shape;951;p44"/>
            <p:cNvSpPr txBox="1"/>
            <p:nvPr/>
          </p:nvSpPr>
          <p:spPr>
            <a:xfrm>
              <a:off x="3308" y="3179"/>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sp>
          <p:nvSpPr>
            <p:cNvPr id="952" name="Google Shape;952;p44"/>
            <p:cNvSpPr txBox="1"/>
            <p:nvPr/>
          </p:nvSpPr>
          <p:spPr>
            <a:xfrm>
              <a:off x="4362" y="317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3" name="Google Shape;953;p44"/>
            <p:cNvSpPr txBox="1"/>
            <p:nvPr/>
          </p:nvSpPr>
          <p:spPr>
            <a:xfrm>
              <a:off x="3977" y="3179"/>
              <a:ext cx="389"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954" name="Google Shape;954;p44"/>
            <p:cNvSpPr txBox="1"/>
            <p:nvPr/>
          </p:nvSpPr>
          <p:spPr>
            <a:xfrm>
              <a:off x="5037" y="317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5" name="Google Shape;955;p44"/>
            <p:cNvSpPr txBox="1"/>
            <p:nvPr/>
          </p:nvSpPr>
          <p:spPr>
            <a:xfrm>
              <a:off x="4653" y="3179"/>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cxnSp>
          <p:nvCxnSpPr>
            <p:cNvPr id="956" name="Google Shape;956;p44"/>
            <p:cNvCxnSpPr/>
            <p:nvPr/>
          </p:nvCxnSpPr>
          <p:spPr>
            <a:xfrm>
              <a:off x="3068" y="334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957" name="Google Shape;957;p44"/>
            <p:cNvCxnSpPr/>
            <p:nvPr/>
          </p:nvCxnSpPr>
          <p:spPr>
            <a:xfrm>
              <a:off x="3740" y="334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958" name="Google Shape;958;p44"/>
            <p:cNvCxnSpPr/>
            <p:nvPr/>
          </p:nvCxnSpPr>
          <p:spPr>
            <a:xfrm>
              <a:off x="4417" y="334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959" name="Google Shape;959;p44"/>
            <p:cNvCxnSpPr/>
            <p:nvPr/>
          </p:nvCxnSpPr>
          <p:spPr>
            <a:xfrm>
              <a:off x="5095" y="3348"/>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960" name="Google Shape;960;p44"/>
            <p:cNvSpPr txBox="1"/>
            <p:nvPr/>
          </p:nvSpPr>
          <p:spPr>
            <a:xfrm>
              <a:off x="769" y="2888"/>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961" name="Google Shape;961;p44"/>
            <p:cNvSpPr txBox="1"/>
            <p:nvPr/>
          </p:nvSpPr>
          <p:spPr>
            <a:xfrm>
              <a:off x="4217" y="2706"/>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962" name="Google Shape;962;p44"/>
            <p:cNvSpPr/>
            <p:nvPr/>
          </p:nvSpPr>
          <p:spPr>
            <a:xfrm>
              <a:off x="4743" y="2908"/>
              <a:ext cx="152" cy="258"/>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3" name="Google Shape;963;p44"/>
            <p:cNvSpPr txBox="1"/>
            <p:nvPr/>
          </p:nvSpPr>
          <p:spPr>
            <a:xfrm>
              <a:off x="1666" y="317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4" name="Google Shape;964;p44"/>
            <p:cNvSpPr txBox="1"/>
            <p:nvPr/>
          </p:nvSpPr>
          <p:spPr>
            <a:xfrm>
              <a:off x="1276" y="317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cxnSp>
          <p:nvCxnSpPr>
            <p:cNvPr id="965" name="Google Shape;965;p44"/>
            <p:cNvCxnSpPr/>
            <p:nvPr/>
          </p:nvCxnSpPr>
          <p:spPr>
            <a:xfrm>
              <a:off x="2391" y="334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966" name="Google Shape;966;p44"/>
            <p:cNvCxnSpPr/>
            <p:nvPr/>
          </p:nvCxnSpPr>
          <p:spPr>
            <a:xfrm>
              <a:off x="1714" y="3348"/>
              <a:ext cx="239" cy="0"/>
            </a:xfrm>
            <a:prstGeom prst="straightConnector1">
              <a:avLst/>
            </a:prstGeom>
            <a:noFill/>
            <a:ln cap="flat" cmpd="sng" w="9525">
              <a:solidFill>
                <a:schemeClr val="dk1"/>
              </a:solidFill>
              <a:prstDash val="solid"/>
              <a:miter lim="800000"/>
              <a:headEnd len="med" w="med" type="oval"/>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xEl>
                                              <p:pRg end="0" st="0"/>
                                            </p:txEl>
                                          </p:spTgt>
                                        </p:tgtEl>
                                        <p:attrNameLst>
                                          <p:attrName>style.visibility</p:attrName>
                                        </p:attrNameLst>
                                      </p:cBhvr>
                                      <p:to>
                                        <p:strVal val="visible"/>
                                      </p:to>
                                    </p:set>
                                    <p:animEffect filter="fade" transition="in">
                                      <p:cBhvr>
                                        <p:cTn dur="500"/>
                                        <p:tgtEl>
                                          <p:spTgt spid="9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500"/>
                                        <p:tgtEl>
                                          <p:spTgt spid="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4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a:t>
            </a:r>
            <a:endParaRPr/>
          </a:p>
        </p:txBody>
      </p:sp>
      <p:sp>
        <p:nvSpPr>
          <p:cNvPr id="972" name="Google Shape;972;p4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void QuickSort(List &amp;l)</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Node *p,*X;</a:t>
            </a:r>
            <a:r>
              <a:rPr b="0" i="0" lang="en-US" sz="1900" u="none">
                <a:solidFill>
                  <a:schemeClr val="dk1"/>
                </a:solidFill>
                <a:latin typeface="Arial"/>
                <a:ea typeface="Arial"/>
                <a:cs typeface="Arial"/>
                <a:sym typeface="Arial"/>
              </a:rPr>
              <a:t>//X lưu địa chỉ của phần tử cầm canh</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List l1,l2;</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if(l.pHead==l.pTail) return;</a:t>
            </a:r>
            <a:r>
              <a:rPr b="0" i="0" lang="en-US" sz="1900" u="none">
                <a:solidFill>
                  <a:schemeClr val="dk1"/>
                </a:solidFill>
                <a:latin typeface="Arial"/>
                <a:ea typeface="Arial"/>
                <a:cs typeface="Arial"/>
                <a:sym typeface="Arial"/>
              </a:rPr>
              <a:t>//đã có thứ tự</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CreateList(l1);</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CreateList(l2);</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X=l.pHead;</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l.pHead=X-&gt;pNext;</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while(l.pHead!=NULL)</a:t>
            </a:r>
            <a:r>
              <a:rPr b="0" i="0" lang="en-US" sz="1900" u="none">
                <a:solidFill>
                  <a:schemeClr val="dk1"/>
                </a:solidFill>
                <a:latin typeface="Arial"/>
                <a:ea typeface="Arial"/>
                <a:cs typeface="Arial"/>
                <a:sym typeface="Arial"/>
              </a:rPr>
              <a:t>//tách L = L1 va L2</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	p=l.pHead;</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l.pHead=p-&gt;pNext;</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p-&gt;pNext=NULL;</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if(p-&gt;Info&lt;=X-&gt;Info)</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AddHead(l1,p);</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else</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AddHead(l2,p);</a:t>
            </a:r>
            <a:endParaRPr/>
          </a:p>
          <a:p>
            <a:pPr indent="-342900" lvl="0" marL="342900" rtl="0" algn="l">
              <a:lnSpc>
                <a:spcPct val="9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4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thuật toán (tt)</a:t>
            </a:r>
            <a:endParaRPr/>
          </a:p>
        </p:txBody>
      </p:sp>
      <p:sp>
        <p:nvSpPr>
          <p:cNvPr id="978" name="Google Shape;978;p4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QuickSort(l1);</a:t>
            </a:r>
            <a:r>
              <a:rPr b="0" i="0" lang="en-US" sz="2000" u="none">
                <a:solidFill>
                  <a:schemeClr val="dk1"/>
                </a:solidFill>
                <a:latin typeface="Arial"/>
                <a:ea typeface="Arial"/>
                <a:cs typeface="Arial"/>
                <a:sym typeface="Arial"/>
              </a:rPr>
              <a:t>//Gọi đệ quy sắp xếp L1</a:t>
            </a:r>
            <a:endParaRPr/>
          </a:p>
          <a:p>
            <a:pPr indent="-342900" lvl="0" marL="342900" rtl="0" algn="l">
              <a:lnSpc>
                <a:spcPct val="80000"/>
              </a:lnSpc>
              <a:spcBef>
                <a:spcPts val="52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r>
              <a:rPr b="0" i="0" lang="en-US" sz="2600" u="none">
                <a:solidFill>
                  <a:schemeClr val="dk1"/>
                </a:solidFill>
                <a:latin typeface="Arial"/>
                <a:ea typeface="Arial"/>
                <a:cs typeface="Arial"/>
                <a:sym typeface="Arial"/>
              </a:rPr>
              <a:t>QuickSort(l2);</a:t>
            </a:r>
            <a:r>
              <a:rPr b="0" i="0" lang="en-US" sz="2200" u="none">
                <a:solidFill>
                  <a:schemeClr val="dk1"/>
                </a:solidFill>
                <a:latin typeface="Arial"/>
                <a:ea typeface="Arial"/>
                <a:cs typeface="Arial"/>
                <a:sym typeface="Arial"/>
              </a:rPr>
              <a:t>//Gọi đệ quy sắp xếp L2</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if(l1.pHead!=NULL)</a:t>
            </a:r>
            <a:r>
              <a:rPr b="0" i="0" lang="en-US" sz="2000" u="none">
                <a:solidFill>
                  <a:schemeClr val="dk1"/>
                </a:solidFill>
                <a:latin typeface="Arial"/>
                <a:ea typeface="Arial"/>
                <a:cs typeface="Arial"/>
                <a:sym typeface="Arial"/>
              </a:rPr>
              <a:t>/</a:t>
            </a:r>
            <a:r>
              <a:rPr b="0" i="0" lang="en-US" sz="2200" u="none">
                <a:solidFill>
                  <a:schemeClr val="dk1"/>
                </a:solidFill>
                <a:latin typeface="Arial"/>
                <a:ea typeface="Arial"/>
                <a:cs typeface="Arial"/>
                <a:sym typeface="Arial"/>
              </a:rPr>
              <a:t>/</a:t>
            </a:r>
            <a:r>
              <a:rPr b="0" i="0" lang="en-US" sz="2000" u="none">
                <a:solidFill>
                  <a:schemeClr val="dk1"/>
                </a:solidFill>
                <a:latin typeface="Arial"/>
                <a:ea typeface="Arial"/>
                <a:cs typeface="Arial"/>
                <a:sym typeface="Arial"/>
              </a:rPr>
              <a:t>nối l1, l2 va X vao l</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l.pHead=l1.pHead;</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l1.pTail-&gt;pNext=X;</a:t>
            </a:r>
            <a:r>
              <a:rPr b="0" i="0" lang="en-US" sz="2000" u="none">
                <a:solidFill>
                  <a:schemeClr val="dk1"/>
                </a:solidFill>
                <a:latin typeface="Arial"/>
                <a:ea typeface="Arial"/>
                <a:cs typeface="Arial"/>
                <a:sym typeface="Arial"/>
              </a:rPr>
              <a:t>//nối X vào</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else</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a:t>
            </a:r>
            <a:r>
              <a:rPr lang="en-US" sz="2600"/>
              <a:t> </a:t>
            </a:r>
            <a:r>
              <a:rPr b="0" i="0" lang="en-US" sz="2600" u="none">
                <a:solidFill>
                  <a:schemeClr val="dk1"/>
                </a:solidFill>
                <a:latin typeface="Arial"/>
                <a:ea typeface="Arial"/>
                <a:cs typeface="Arial"/>
                <a:sym typeface="Arial"/>
              </a:rPr>
              <a:t>l.pHead=X;</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X-&gt;pNext=l2.pHead;</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if(l2.pHead!=NULL) </a:t>
            </a:r>
            <a:r>
              <a:rPr b="0" i="0" lang="en-US" sz="2000" u="none">
                <a:solidFill>
                  <a:schemeClr val="dk1"/>
                </a:solidFill>
                <a:latin typeface="Arial"/>
                <a:ea typeface="Arial"/>
                <a:cs typeface="Arial"/>
                <a:sym typeface="Arial"/>
              </a:rPr>
              <a:t>//l2 có trên một phần tử</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l.pTail=l2.pTail;</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else  </a:t>
            </a:r>
            <a:r>
              <a:rPr b="0" i="0" lang="en-US" sz="2000" u="none">
                <a:solidFill>
                  <a:schemeClr val="dk1"/>
                </a:solidFill>
                <a:latin typeface="Arial"/>
                <a:ea typeface="Arial"/>
                <a:cs typeface="Arial"/>
                <a:sym typeface="Arial"/>
              </a:rPr>
              <a:t>//l2 không có phần tử nào</a:t>
            </a:r>
            <a:r>
              <a:rPr b="0" i="0" lang="en-US" sz="2600" u="none">
                <a:solidFill>
                  <a:schemeClr val="dk1"/>
                </a:solidFill>
                <a:latin typeface="Arial"/>
                <a:ea typeface="Arial"/>
                <a:cs typeface="Arial"/>
                <a:sym typeface="Arial"/>
              </a:rPr>
              <a:t> </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			 l.pTail=X;</a:t>
            </a:r>
            <a:endParaRPr/>
          </a:p>
          <a:p>
            <a:pPr indent="-342900" lvl="0" marL="342900" rtl="0" algn="l">
              <a:lnSpc>
                <a:spcPct val="80000"/>
              </a:lnSpc>
              <a:spcBef>
                <a:spcPts val="520"/>
              </a:spcBef>
              <a:spcAft>
                <a:spcPts val="0"/>
              </a:spcAft>
              <a:buClr>
                <a:schemeClr val="dk1"/>
              </a:buClr>
              <a:buSzPts val="2600"/>
              <a:buFont typeface="Arial"/>
              <a:buNone/>
            </a:pPr>
            <a:r>
              <a:rPr b="0" i="0" lang="en-US" sz="2600" u="none">
                <a:solidFill>
                  <a:schemeClr val="dk1"/>
                </a:solidFill>
                <a:latin typeface="Arial"/>
                <a:ea typeface="Arial"/>
                <a:cs typeface="Arial"/>
                <a:sym typeface="Arial"/>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4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Thuật toán sắp xếp Merge Sort</a:t>
            </a:r>
            <a:endParaRPr/>
          </a:p>
        </p:txBody>
      </p:sp>
      <p:sp>
        <p:nvSpPr>
          <p:cNvPr id="984" name="Google Shape;984;p4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Clr>
                <a:srgbClr val="080808"/>
              </a:buClr>
              <a:buSzPts val="3200"/>
              <a:buFont typeface="Times New Roman"/>
              <a:buChar char="•"/>
            </a:pPr>
            <a:r>
              <a:rPr b="0" i="0" lang="en-US" sz="3200" u="sng">
                <a:solidFill>
                  <a:srgbClr val="080808"/>
                </a:solidFill>
                <a:latin typeface="Times New Roman"/>
                <a:ea typeface="Times New Roman"/>
                <a:cs typeface="Times New Roman"/>
                <a:sym typeface="Times New Roman"/>
              </a:rPr>
              <a:t>Bước 1</a:t>
            </a:r>
            <a:r>
              <a:rPr b="0" i="0" lang="en-US" sz="3200" u="none">
                <a:solidFill>
                  <a:srgbClr val="080808"/>
                </a:solidFill>
                <a:latin typeface="Times New Roman"/>
                <a:ea typeface="Times New Roman"/>
                <a:cs typeface="Times New Roman"/>
                <a:sym typeface="Times New Roman"/>
              </a:rPr>
              <a:t>:	Phân phối luân phiên từng đường chạy của xâu L vào 2 xâu con L</a:t>
            </a:r>
            <a:r>
              <a:rPr b="0" baseline="-25000" i="0" lang="en-US" sz="3200" u="none">
                <a:solidFill>
                  <a:srgbClr val="080808"/>
                </a:solidFill>
                <a:latin typeface="Times New Roman"/>
                <a:ea typeface="Times New Roman"/>
                <a:cs typeface="Times New Roman"/>
                <a:sym typeface="Times New Roman"/>
              </a:rPr>
              <a:t>1</a:t>
            </a:r>
            <a:r>
              <a:rPr b="0" i="0" lang="en-US" sz="3200" u="none">
                <a:solidFill>
                  <a:srgbClr val="080808"/>
                </a:solidFill>
                <a:latin typeface="Times New Roman"/>
                <a:ea typeface="Times New Roman"/>
                <a:cs typeface="Times New Roman"/>
                <a:sym typeface="Times New Roman"/>
              </a:rPr>
              <a:t> và L</a:t>
            </a:r>
            <a:r>
              <a:rPr b="0" baseline="-25000" i="0" lang="en-US" sz="3200" u="none">
                <a:solidFill>
                  <a:srgbClr val="080808"/>
                </a:solidFill>
                <a:latin typeface="Times New Roman"/>
                <a:ea typeface="Times New Roman"/>
                <a:cs typeface="Times New Roman"/>
                <a:sym typeface="Times New Roman"/>
              </a:rPr>
              <a:t>2</a:t>
            </a:r>
            <a:r>
              <a:rPr b="0" i="0" lang="en-US" sz="3200" u="none">
                <a:solidFill>
                  <a:srgbClr val="080808"/>
                </a:solidFill>
                <a:latin typeface="Times New Roman"/>
                <a:ea typeface="Times New Roman"/>
                <a:cs typeface="Times New Roman"/>
                <a:sym typeface="Times New Roman"/>
              </a:rPr>
              <a:t>.</a:t>
            </a:r>
            <a:endParaRPr/>
          </a:p>
          <a:p>
            <a:pPr indent="-342900" lvl="0" marL="342900" rtl="0" algn="just">
              <a:lnSpc>
                <a:spcPct val="120000"/>
              </a:lnSpc>
              <a:spcBef>
                <a:spcPts val="1600"/>
              </a:spcBef>
              <a:spcAft>
                <a:spcPts val="0"/>
              </a:spcAft>
              <a:buClr>
                <a:srgbClr val="080808"/>
              </a:buClr>
              <a:buSzPts val="3200"/>
              <a:buFont typeface="Times New Roman"/>
              <a:buChar char="•"/>
            </a:pPr>
            <a:r>
              <a:rPr b="0" i="0" lang="en-US" sz="3200" u="sng">
                <a:solidFill>
                  <a:srgbClr val="080808"/>
                </a:solidFill>
                <a:latin typeface="Times New Roman"/>
                <a:ea typeface="Times New Roman"/>
                <a:cs typeface="Times New Roman"/>
                <a:sym typeface="Times New Roman"/>
              </a:rPr>
              <a:t>Bước 2</a:t>
            </a:r>
            <a:r>
              <a:rPr b="0" i="0" lang="en-US" sz="3200" u="none">
                <a:solidFill>
                  <a:srgbClr val="080808"/>
                </a:solidFill>
                <a:latin typeface="Times New Roman"/>
                <a:ea typeface="Times New Roman"/>
                <a:cs typeface="Times New Roman"/>
                <a:sym typeface="Times New Roman"/>
              </a:rPr>
              <a:t>:	Nếu L</a:t>
            </a:r>
            <a:r>
              <a:rPr b="0" baseline="-25000" i="0" lang="en-US" sz="3200" u="none">
                <a:solidFill>
                  <a:srgbClr val="080808"/>
                </a:solidFill>
                <a:latin typeface="Times New Roman"/>
                <a:ea typeface="Times New Roman"/>
                <a:cs typeface="Times New Roman"/>
                <a:sym typeface="Times New Roman"/>
              </a:rPr>
              <a:t>1</a:t>
            </a:r>
            <a:r>
              <a:rPr b="0" i="0" lang="en-US" sz="3200" u="none">
                <a:solidFill>
                  <a:srgbClr val="080808"/>
                </a:solidFill>
                <a:latin typeface="Times New Roman"/>
                <a:ea typeface="Times New Roman"/>
                <a:cs typeface="Times New Roman"/>
                <a:sym typeface="Times New Roman"/>
              </a:rPr>
              <a:t> != NULL thì Merge Sort (L</a:t>
            </a:r>
            <a:r>
              <a:rPr b="0" baseline="-25000" i="0" lang="en-US" sz="3200" u="none">
                <a:solidFill>
                  <a:srgbClr val="080808"/>
                </a:solidFill>
                <a:latin typeface="Times New Roman"/>
                <a:ea typeface="Times New Roman"/>
                <a:cs typeface="Times New Roman"/>
                <a:sym typeface="Times New Roman"/>
              </a:rPr>
              <a:t>1</a:t>
            </a:r>
            <a:r>
              <a:rPr b="0" i="0" lang="en-US" sz="3200" u="none">
                <a:solidFill>
                  <a:srgbClr val="080808"/>
                </a:solidFill>
                <a:latin typeface="Times New Roman"/>
                <a:ea typeface="Times New Roman"/>
                <a:cs typeface="Times New Roman"/>
                <a:sym typeface="Times New Roman"/>
              </a:rPr>
              <a:t>).</a:t>
            </a:r>
            <a:endParaRPr/>
          </a:p>
          <a:p>
            <a:pPr indent="-342900" lvl="0" marL="342900" rtl="0" algn="just">
              <a:lnSpc>
                <a:spcPct val="120000"/>
              </a:lnSpc>
              <a:spcBef>
                <a:spcPts val="1600"/>
              </a:spcBef>
              <a:spcAft>
                <a:spcPts val="0"/>
              </a:spcAft>
              <a:buClr>
                <a:srgbClr val="080808"/>
              </a:buClr>
              <a:buSzPts val="3200"/>
              <a:buFont typeface="Times New Roman"/>
              <a:buChar char="•"/>
            </a:pPr>
            <a:r>
              <a:rPr b="0" i="0" lang="en-US" sz="3200" u="sng">
                <a:solidFill>
                  <a:srgbClr val="080808"/>
                </a:solidFill>
                <a:latin typeface="Times New Roman"/>
                <a:ea typeface="Times New Roman"/>
                <a:cs typeface="Times New Roman"/>
                <a:sym typeface="Times New Roman"/>
              </a:rPr>
              <a:t>Bước 3</a:t>
            </a:r>
            <a:r>
              <a:rPr b="0" i="0" lang="en-US" sz="3200" u="none">
                <a:solidFill>
                  <a:srgbClr val="080808"/>
                </a:solidFill>
                <a:latin typeface="Times New Roman"/>
                <a:ea typeface="Times New Roman"/>
                <a:cs typeface="Times New Roman"/>
                <a:sym typeface="Times New Roman"/>
              </a:rPr>
              <a:t>:	Nếu L</a:t>
            </a:r>
            <a:r>
              <a:rPr b="0" baseline="-25000" i="0" lang="en-US" sz="3200" u="none">
                <a:solidFill>
                  <a:srgbClr val="080808"/>
                </a:solidFill>
                <a:latin typeface="Times New Roman"/>
                <a:ea typeface="Times New Roman"/>
                <a:cs typeface="Times New Roman"/>
                <a:sym typeface="Times New Roman"/>
              </a:rPr>
              <a:t>2</a:t>
            </a:r>
            <a:r>
              <a:rPr b="0" i="0" lang="en-US" sz="3200" u="none">
                <a:solidFill>
                  <a:srgbClr val="080808"/>
                </a:solidFill>
                <a:latin typeface="Times New Roman"/>
                <a:ea typeface="Times New Roman"/>
                <a:cs typeface="Times New Roman"/>
                <a:sym typeface="Times New Roman"/>
              </a:rPr>
              <a:t> != NULL thì Merge Sort (L</a:t>
            </a:r>
            <a:r>
              <a:rPr b="0" baseline="-25000" i="0" lang="en-US" sz="3200" u="none">
                <a:solidFill>
                  <a:srgbClr val="080808"/>
                </a:solidFill>
                <a:latin typeface="Times New Roman"/>
                <a:ea typeface="Times New Roman"/>
                <a:cs typeface="Times New Roman"/>
                <a:sym typeface="Times New Roman"/>
              </a:rPr>
              <a:t>2</a:t>
            </a:r>
            <a:r>
              <a:rPr b="0" i="0" lang="en-US" sz="3200" u="none">
                <a:solidFill>
                  <a:srgbClr val="080808"/>
                </a:solidFill>
                <a:latin typeface="Times New Roman"/>
                <a:ea typeface="Times New Roman"/>
                <a:cs typeface="Times New Roman"/>
                <a:sym typeface="Times New Roman"/>
              </a:rPr>
              <a:t>).</a:t>
            </a:r>
            <a:endParaRPr/>
          </a:p>
          <a:p>
            <a:pPr indent="-342900" lvl="0" marL="342900" rtl="0" algn="just">
              <a:lnSpc>
                <a:spcPct val="120000"/>
              </a:lnSpc>
              <a:spcBef>
                <a:spcPts val="1600"/>
              </a:spcBef>
              <a:spcAft>
                <a:spcPts val="0"/>
              </a:spcAft>
              <a:buClr>
                <a:srgbClr val="080808"/>
              </a:buClr>
              <a:buSzPts val="3200"/>
              <a:buFont typeface="Times New Roman"/>
              <a:buChar char="•"/>
            </a:pPr>
            <a:r>
              <a:rPr b="0" i="0" lang="en-US" sz="3200" u="sng">
                <a:solidFill>
                  <a:srgbClr val="080808"/>
                </a:solidFill>
                <a:latin typeface="Times New Roman"/>
                <a:ea typeface="Times New Roman"/>
                <a:cs typeface="Times New Roman"/>
                <a:sym typeface="Times New Roman"/>
              </a:rPr>
              <a:t>Bước 4</a:t>
            </a:r>
            <a:r>
              <a:rPr b="0" i="0" lang="en-US" sz="3200" u="none">
                <a:solidFill>
                  <a:srgbClr val="080808"/>
                </a:solidFill>
                <a:latin typeface="Times New Roman"/>
                <a:ea typeface="Times New Roman"/>
                <a:cs typeface="Times New Roman"/>
                <a:sym typeface="Times New Roman"/>
              </a:rPr>
              <a:t>:	Trộn L</a:t>
            </a:r>
            <a:r>
              <a:rPr b="0" baseline="-25000" i="0" lang="en-US" sz="3200" u="none">
                <a:solidFill>
                  <a:srgbClr val="080808"/>
                </a:solidFill>
                <a:latin typeface="Times New Roman"/>
                <a:ea typeface="Times New Roman"/>
                <a:cs typeface="Times New Roman"/>
                <a:sym typeface="Times New Roman"/>
              </a:rPr>
              <a:t>1</a:t>
            </a:r>
            <a:r>
              <a:rPr b="0" i="0" lang="en-US" sz="3200" u="none">
                <a:solidFill>
                  <a:srgbClr val="080808"/>
                </a:solidFill>
                <a:latin typeface="Times New Roman"/>
                <a:ea typeface="Times New Roman"/>
                <a:cs typeface="Times New Roman"/>
                <a:sym typeface="Times New Roman"/>
              </a:rPr>
              <a:t> và L</a:t>
            </a:r>
            <a:r>
              <a:rPr b="0" baseline="-25000" i="0" lang="en-US" sz="3200" u="none">
                <a:solidFill>
                  <a:srgbClr val="080808"/>
                </a:solidFill>
                <a:latin typeface="Times New Roman"/>
                <a:ea typeface="Times New Roman"/>
                <a:cs typeface="Times New Roman"/>
                <a:sym typeface="Times New Roman"/>
              </a:rPr>
              <a:t>2</a:t>
            </a:r>
            <a:r>
              <a:rPr b="0" i="0" lang="en-US" sz="3200" u="none">
                <a:solidFill>
                  <a:srgbClr val="080808"/>
                </a:solidFill>
                <a:latin typeface="Times New Roman"/>
                <a:ea typeface="Times New Roman"/>
                <a:cs typeface="Times New Roman"/>
                <a:sym typeface="Times New Roman"/>
              </a:rPr>
              <a:t> đã sắp xếp lại ta có xâu L </a:t>
            </a:r>
            <a:br>
              <a:rPr b="0" i="0" lang="en-US" sz="3200" u="none">
                <a:solidFill>
                  <a:srgbClr val="080808"/>
                </a:solidFill>
                <a:latin typeface="Times New Roman"/>
                <a:ea typeface="Times New Roman"/>
                <a:cs typeface="Times New Roman"/>
                <a:sym typeface="Times New Roman"/>
              </a:rPr>
            </a:br>
            <a:r>
              <a:rPr b="0" i="0" lang="en-US" sz="3200" u="none">
                <a:solidFill>
                  <a:srgbClr val="080808"/>
                </a:solidFill>
                <a:latin typeface="Times New Roman"/>
                <a:ea typeface="Times New Roman"/>
                <a:cs typeface="Times New Roman"/>
                <a:sym typeface="Times New Roman"/>
              </a:rPr>
              <a:t>                đã được sắp xếp.</a:t>
            </a:r>
            <a:endParaRPr/>
          </a:p>
          <a:p>
            <a:pPr indent="-342900" lvl="0" marL="342900" rtl="0" algn="just">
              <a:lnSpc>
                <a:spcPct val="120000"/>
              </a:lnSpc>
              <a:spcBef>
                <a:spcPts val="1600"/>
              </a:spcBef>
              <a:spcAft>
                <a:spcPts val="0"/>
              </a:spcAft>
              <a:buClr>
                <a:srgbClr val="080808"/>
              </a:buClr>
              <a:buSzPts val="3200"/>
              <a:buFont typeface="Times New Roman"/>
              <a:buChar char="•"/>
            </a:pPr>
            <a:r>
              <a:rPr b="0" i="0" lang="en-US" sz="3200" u="none">
                <a:solidFill>
                  <a:srgbClr val="080808"/>
                </a:solidFill>
                <a:latin typeface="Times New Roman"/>
                <a:ea typeface="Times New Roman"/>
                <a:cs typeface="Times New Roman"/>
                <a:sym typeface="Times New Roman"/>
              </a:rPr>
              <a:t>Không tốn thêm không gian lưu trữ cho các dãy phụ</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48"/>
          <p:cNvSpPr txBox="1"/>
          <p:nvPr>
            <p:ph type="title"/>
          </p:nvPr>
        </p:nvSpPr>
        <p:spPr>
          <a:xfrm>
            <a:off x="776287" y="0"/>
            <a:ext cx="9129712"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a:t>
            </a:r>
            <a:endParaRPr/>
          </a:p>
        </p:txBody>
      </p:sp>
      <p:grpSp>
        <p:nvGrpSpPr>
          <p:cNvPr id="990" name="Google Shape;990;p48"/>
          <p:cNvGrpSpPr/>
          <p:nvPr/>
        </p:nvGrpSpPr>
        <p:grpSpPr>
          <a:xfrm>
            <a:off x="1208087" y="1343025"/>
            <a:ext cx="7477125" cy="1293812"/>
            <a:chOff x="761" y="846"/>
            <a:chExt cx="4710" cy="815"/>
          </a:xfrm>
        </p:grpSpPr>
        <p:sp>
          <p:nvSpPr>
            <p:cNvPr id="991" name="Google Shape;991;p48"/>
            <p:cNvSpPr/>
            <p:nvPr/>
          </p:nvSpPr>
          <p:spPr>
            <a:xfrm>
              <a:off x="852" y="1371"/>
              <a:ext cx="254" cy="234"/>
            </a:xfrm>
            <a:prstGeom prst="ellipse">
              <a:avLst/>
            </a:prstGeom>
            <a:gradFill>
              <a:gsLst>
                <a:gs pos="0">
                  <a:srgbClr val="FFFFF7"/>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2" name="Google Shape;992;p48"/>
            <p:cNvSpPr txBox="1"/>
            <p:nvPr/>
          </p:nvSpPr>
          <p:spPr>
            <a:xfrm>
              <a:off x="5302" y="1397"/>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993" name="Google Shape;993;p48"/>
            <p:cNvCxnSpPr/>
            <p:nvPr/>
          </p:nvCxnSpPr>
          <p:spPr>
            <a:xfrm>
              <a:off x="986" y="1488"/>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994" name="Google Shape;994;p48"/>
            <p:cNvSpPr txBox="1"/>
            <p:nvPr/>
          </p:nvSpPr>
          <p:spPr>
            <a:xfrm>
              <a:off x="2336" y="131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5" name="Google Shape;995;p48"/>
            <p:cNvSpPr txBox="1"/>
            <p:nvPr/>
          </p:nvSpPr>
          <p:spPr>
            <a:xfrm>
              <a:off x="1946" y="131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996" name="Google Shape;996;p48"/>
            <p:cNvSpPr txBox="1"/>
            <p:nvPr/>
          </p:nvSpPr>
          <p:spPr>
            <a:xfrm>
              <a:off x="3007" y="131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7" name="Google Shape;997;p48"/>
            <p:cNvSpPr txBox="1"/>
            <p:nvPr/>
          </p:nvSpPr>
          <p:spPr>
            <a:xfrm>
              <a:off x="2622" y="131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sp>
          <p:nvSpPr>
            <p:cNvPr id="998" name="Google Shape;998;p48"/>
            <p:cNvSpPr txBox="1"/>
            <p:nvPr/>
          </p:nvSpPr>
          <p:spPr>
            <a:xfrm>
              <a:off x="3684" y="1319"/>
              <a:ext cx="105"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9" name="Google Shape;999;p48"/>
            <p:cNvSpPr txBox="1"/>
            <p:nvPr/>
          </p:nvSpPr>
          <p:spPr>
            <a:xfrm>
              <a:off x="3300" y="1319"/>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sp>
          <p:nvSpPr>
            <p:cNvPr id="1000" name="Google Shape;1000;p48"/>
            <p:cNvSpPr txBox="1"/>
            <p:nvPr/>
          </p:nvSpPr>
          <p:spPr>
            <a:xfrm>
              <a:off x="4354" y="131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1" name="Google Shape;1001;p48"/>
            <p:cNvSpPr txBox="1"/>
            <p:nvPr/>
          </p:nvSpPr>
          <p:spPr>
            <a:xfrm>
              <a:off x="3969" y="1319"/>
              <a:ext cx="389"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sp>
          <p:nvSpPr>
            <p:cNvPr id="1002" name="Google Shape;1002;p48"/>
            <p:cNvSpPr txBox="1"/>
            <p:nvPr/>
          </p:nvSpPr>
          <p:spPr>
            <a:xfrm>
              <a:off x="5029" y="131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3" name="Google Shape;1003;p48"/>
            <p:cNvSpPr txBox="1"/>
            <p:nvPr/>
          </p:nvSpPr>
          <p:spPr>
            <a:xfrm>
              <a:off x="4645" y="1319"/>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cxnSp>
          <p:nvCxnSpPr>
            <p:cNvPr id="1004" name="Google Shape;1004;p48"/>
            <p:cNvCxnSpPr/>
            <p:nvPr/>
          </p:nvCxnSpPr>
          <p:spPr>
            <a:xfrm>
              <a:off x="3060" y="148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05" name="Google Shape;1005;p48"/>
            <p:cNvCxnSpPr/>
            <p:nvPr/>
          </p:nvCxnSpPr>
          <p:spPr>
            <a:xfrm>
              <a:off x="3732" y="148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06" name="Google Shape;1006;p48"/>
            <p:cNvCxnSpPr/>
            <p:nvPr/>
          </p:nvCxnSpPr>
          <p:spPr>
            <a:xfrm>
              <a:off x="4409" y="148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07" name="Google Shape;1007;p48"/>
            <p:cNvCxnSpPr/>
            <p:nvPr/>
          </p:nvCxnSpPr>
          <p:spPr>
            <a:xfrm>
              <a:off x="5087" y="1488"/>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08" name="Google Shape;1008;p48"/>
            <p:cNvSpPr txBox="1"/>
            <p:nvPr/>
          </p:nvSpPr>
          <p:spPr>
            <a:xfrm>
              <a:off x="761" y="1028"/>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09" name="Google Shape;1009;p48"/>
            <p:cNvSpPr txBox="1"/>
            <p:nvPr/>
          </p:nvSpPr>
          <p:spPr>
            <a:xfrm>
              <a:off x="4209" y="846"/>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010" name="Google Shape;1010;p48"/>
            <p:cNvSpPr/>
            <p:nvPr/>
          </p:nvSpPr>
          <p:spPr>
            <a:xfrm>
              <a:off x="4735" y="1048"/>
              <a:ext cx="152" cy="258"/>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1" name="Google Shape;1011;p48"/>
            <p:cNvSpPr txBox="1"/>
            <p:nvPr/>
          </p:nvSpPr>
          <p:spPr>
            <a:xfrm>
              <a:off x="1658" y="131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2" name="Google Shape;1012;p48"/>
            <p:cNvSpPr txBox="1"/>
            <p:nvPr/>
          </p:nvSpPr>
          <p:spPr>
            <a:xfrm>
              <a:off x="1268" y="131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cxnSp>
          <p:nvCxnSpPr>
            <p:cNvPr id="1013" name="Google Shape;1013;p48"/>
            <p:cNvCxnSpPr/>
            <p:nvPr/>
          </p:nvCxnSpPr>
          <p:spPr>
            <a:xfrm>
              <a:off x="2383" y="148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14" name="Google Shape;1014;p48"/>
            <p:cNvCxnSpPr/>
            <p:nvPr/>
          </p:nvCxnSpPr>
          <p:spPr>
            <a:xfrm>
              <a:off x="1706" y="1488"/>
              <a:ext cx="239" cy="0"/>
            </a:xfrm>
            <a:prstGeom prst="straightConnector1">
              <a:avLst/>
            </a:prstGeom>
            <a:noFill/>
            <a:ln cap="flat" cmpd="sng" w="9525">
              <a:solidFill>
                <a:schemeClr val="dk1"/>
              </a:solidFill>
              <a:prstDash val="solid"/>
              <a:miter lim="800000"/>
              <a:headEnd len="med" w="med" type="oval"/>
              <a:tailEnd len="med" w="med" type="stealth"/>
            </a:ln>
          </p:spPr>
        </p:cxnSp>
      </p:grpSp>
      <p:sp>
        <p:nvSpPr>
          <p:cNvPr id="1015" name="Google Shape;1015;p48"/>
          <p:cNvSpPr txBox="1"/>
          <p:nvPr/>
        </p:nvSpPr>
        <p:spPr>
          <a:xfrm>
            <a:off x="1065212" y="920750"/>
            <a:ext cx="7920037" cy="93186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danh sách liên kết gồm các phần tử sau:</a:t>
            </a:r>
            <a:endParaRPr/>
          </a:p>
          <a:p>
            <a:pPr indent="0" lvl="0" marL="0" marR="0" rtl="0" algn="l">
              <a:lnSpc>
                <a:spcPct val="100000"/>
              </a:lnSpc>
              <a:spcBef>
                <a:spcPts val="0"/>
              </a:spcBef>
              <a:spcAft>
                <a:spcPts val="0"/>
              </a:spcAft>
              <a:buNone/>
            </a:pPr>
            <a:r>
              <a:t/>
            </a:r>
            <a:endParaRPr b="0" i="0" sz="2800" u="none">
              <a:solidFill>
                <a:schemeClr val="dk1"/>
              </a:solidFill>
              <a:latin typeface="Arial"/>
              <a:ea typeface="Arial"/>
              <a:cs typeface="Arial"/>
              <a:sym typeface="Arial"/>
            </a:endParaRPr>
          </a:p>
        </p:txBody>
      </p:sp>
      <p:sp>
        <p:nvSpPr>
          <p:cNvPr id="1016" name="Google Shape;1016;p48"/>
          <p:cNvSpPr txBox="1"/>
          <p:nvPr/>
        </p:nvSpPr>
        <p:spPr>
          <a:xfrm>
            <a:off x="1065212" y="2852737"/>
            <a:ext cx="7920037"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Phân phối các đường chạy của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vào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2</a:t>
            </a:r>
            <a:endParaRPr/>
          </a:p>
        </p:txBody>
      </p:sp>
      <p:grpSp>
        <p:nvGrpSpPr>
          <p:cNvPr id="1017" name="Google Shape;1017;p48"/>
          <p:cNvGrpSpPr/>
          <p:nvPr/>
        </p:nvGrpSpPr>
        <p:grpSpPr>
          <a:xfrm>
            <a:off x="1784350" y="3357562"/>
            <a:ext cx="6048375" cy="1295400"/>
            <a:chOff x="1124" y="2115"/>
            <a:chExt cx="3810" cy="816"/>
          </a:xfrm>
        </p:grpSpPr>
        <p:sp>
          <p:nvSpPr>
            <p:cNvPr id="1018" name="Google Shape;1018;p48"/>
            <p:cNvSpPr/>
            <p:nvPr/>
          </p:nvSpPr>
          <p:spPr>
            <a:xfrm>
              <a:off x="1676" y="2641"/>
              <a:ext cx="254" cy="234"/>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9" name="Google Shape;1019;p48"/>
            <p:cNvSpPr txBox="1"/>
            <p:nvPr/>
          </p:nvSpPr>
          <p:spPr>
            <a:xfrm>
              <a:off x="4765" y="2667"/>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20" name="Google Shape;1020;p48"/>
            <p:cNvCxnSpPr/>
            <p:nvPr/>
          </p:nvCxnSpPr>
          <p:spPr>
            <a:xfrm>
              <a:off x="1810" y="2758"/>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021" name="Google Shape;1021;p48"/>
            <p:cNvSpPr txBox="1"/>
            <p:nvPr/>
          </p:nvSpPr>
          <p:spPr>
            <a:xfrm>
              <a:off x="3160" y="258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2" name="Google Shape;1022;p48"/>
            <p:cNvSpPr txBox="1"/>
            <p:nvPr/>
          </p:nvSpPr>
          <p:spPr>
            <a:xfrm>
              <a:off x="2770" y="258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1023" name="Google Shape;1023;p48"/>
            <p:cNvSpPr txBox="1"/>
            <p:nvPr/>
          </p:nvSpPr>
          <p:spPr>
            <a:xfrm>
              <a:off x="3831" y="258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4" name="Google Shape;1024;p48"/>
            <p:cNvSpPr txBox="1"/>
            <p:nvPr/>
          </p:nvSpPr>
          <p:spPr>
            <a:xfrm>
              <a:off x="3446" y="258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sp>
          <p:nvSpPr>
            <p:cNvPr id="1025" name="Google Shape;1025;p48"/>
            <p:cNvSpPr txBox="1"/>
            <p:nvPr/>
          </p:nvSpPr>
          <p:spPr>
            <a:xfrm>
              <a:off x="4508" y="2589"/>
              <a:ext cx="105"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6" name="Google Shape;1026;p48"/>
            <p:cNvSpPr txBox="1"/>
            <p:nvPr/>
          </p:nvSpPr>
          <p:spPr>
            <a:xfrm>
              <a:off x="4124" y="2589"/>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cxnSp>
          <p:nvCxnSpPr>
            <p:cNvPr id="1027" name="Google Shape;1027;p48"/>
            <p:cNvCxnSpPr/>
            <p:nvPr/>
          </p:nvCxnSpPr>
          <p:spPr>
            <a:xfrm>
              <a:off x="3884" y="275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28" name="Google Shape;1028;p48"/>
            <p:cNvCxnSpPr/>
            <p:nvPr/>
          </p:nvCxnSpPr>
          <p:spPr>
            <a:xfrm>
              <a:off x="4550" y="2758"/>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29" name="Google Shape;1029;p48"/>
            <p:cNvSpPr txBox="1"/>
            <p:nvPr/>
          </p:nvSpPr>
          <p:spPr>
            <a:xfrm>
              <a:off x="1585" y="2298"/>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30" name="Google Shape;1030;p48"/>
            <p:cNvSpPr txBox="1"/>
            <p:nvPr/>
          </p:nvSpPr>
          <p:spPr>
            <a:xfrm>
              <a:off x="2482" y="2589"/>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1" name="Google Shape;1031;p48"/>
            <p:cNvSpPr txBox="1"/>
            <p:nvPr/>
          </p:nvSpPr>
          <p:spPr>
            <a:xfrm>
              <a:off x="2092" y="2589"/>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cxnSp>
          <p:nvCxnSpPr>
            <p:cNvPr id="1032" name="Google Shape;1032;p48"/>
            <p:cNvCxnSpPr/>
            <p:nvPr/>
          </p:nvCxnSpPr>
          <p:spPr>
            <a:xfrm>
              <a:off x="3207" y="2758"/>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33" name="Google Shape;1033;p48"/>
            <p:cNvCxnSpPr/>
            <p:nvPr/>
          </p:nvCxnSpPr>
          <p:spPr>
            <a:xfrm>
              <a:off x="2530" y="2758"/>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34" name="Google Shape;1034;p48"/>
            <p:cNvSpPr txBox="1"/>
            <p:nvPr/>
          </p:nvSpPr>
          <p:spPr>
            <a:xfrm>
              <a:off x="3667" y="2115"/>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035" name="Google Shape;1035;p48"/>
            <p:cNvSpPr/>
            <p:nvPr/>
          </p:nvSpPr>
          <p:spPr>
            <a:xfrm>
              <a:off x="4193" y="2317"/>
              <a:ext cx="152" cy="258"/>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6" name="Google Shape;1036;p48"/>
            <p:cNvSpPr txBox="1"/>
            <p:nvPr/>
          </p:nvSpPr>
          <p:spPr>
            <a:xfrm>
              <a:off x="1124" y="2614"/>
              <a:ext cx="40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1</a:t>
              </a:r>
              <a:endParaRPr/>
            </a:p>
          </p:txBody>
        </p:sp>
      </p:grpSp>
      <p:grpSp>
        <p:nvGrpSpPr>
          <p:cNvPr id="1037" name="Google Shape;1037;p48"/>
          <p:cNvGrpSpPr/>
          <p:nvPr/>
        </p:nvGrpSpPr>
        <p:grpSpPr>
          <a:xfrm>
            <a:off x="1784350" y="4724400"/>
            <a:ext cx="3922712" cy="1225550"/>
            <a:chOff x="1124" y="2976"/>
            <a:chExt cx="2471" cy="772"/>
          </a:xfrm>
        </p:grpSpPr>
        <p:sp>
          <p:nvSpPr>
            <p:cNvPr id="1038" name="Google Shape;1038;p48"/>
            <p:cNvSpPr txBox="1"/>
            <p:nvPr/>
          </p:nvSpPr>
          <p:spPr>
            <a:xfrm>
              <a:off x="3032" y="2976"/>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039" name="Google Shape;1039;p48"/>
            <p:cNvSpPr/>
            <p:nvPr/>
          </p:nvSpPr>
          <p:spPr>
            <a:xfrm flipH="1">
              <a:off x="2893" y="3177"/>
              <a:ext cx="139" cy="23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0" name="Google Shape;1040;p48"/>
            <p:cNvSpPr/>
            <p:nvPr/>
          </p:nvSpPr>
          <p:spPr>
            <a:xfrm>
              <a:off x="1676" y="3458"/>
              <a:ext cx="254" cy="234"/>
            </a:xfrm>
            <a:prstGeom prst="ellipse">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1" name="Google Shape;1041;p48"/>
            <p:cNvSpPr txBox="1"/>
            <p:nvPr/>
          </p:nvSpPr>
          <p:spPr>
            <a:xfrm>
              <a:off x="3426" y="3484"/>
              <a:ext cx="169" cy="18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42" name="Google Shape;1042;p48"/>
            <p:cNvCxnSpPr/>
            <p:nvPr/>
          </p:nvCxnSpPr>
          <p:spPr>
            <a:xfrm>
              <a:off x="1810" y="3575"/>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043" name="Google Shape;1043;p48"/>
            <p:cNvSpPr txBox="1"/>
            <p:nvPr/>
          </p:nvSpPr>
          <p:spPr>
            <a:xfrm>
              <a:off x="3160" y="3406"/>
              <a:ext cx="106" cy="339"/>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4" name="Google Shape;1044;p48"/>
            <p:cNvSpPr txBox="1"/>
            <p:nvPr/>
          </p:nvSpPr>
          <p:spPr>
            <a:xfrm>
              <a:off x="2770" y="3406"/>
              <a:ext cx="388"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cxnSp>
          <p:nvCxnSpPr>
            <p:cNvPr id="1045" name="Google Shape;1045;p48"/>
            <p:cNvCxnSpPr/>
            <p:nvPr/>
          </p:nvCxnSpPr>
          <p:spPr>
            <a:xfrm>
              <a:off x="3211" y="3575"/>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46" name="Google Shape;1046;p48"/>
            <p:cNvSpPr txBox="1"/>
            <p:nvPr/>
          </p:nvSpPr>
          <p:spPr>
            <a:xfrm>
              <a:off x="1585" y="3115"/>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47" name="Google Shape;1047;p48"/>
            <p:cNvSpPr txBox="1"/>
            <p:nvPr/>
          </p:nvSpPr>
          <p:spPr>
            <a:xfrm>
              <a:off x="2482" y="3406"/>
              <a:ext cx="106" cy="339"/>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8" name="Google Shape;1048;p48"/>
            <p:cNvSpPr txBox="1"/>
            <p:nvPr/>
          </p:nvSpPr>
          <p:spPr>
            <a:xfrm>
              <a:off x="2092" y="3406"/>
              <a:ext cx="388"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cxnSp>
          <p:nvCxnSpPr>
            <p:cNvPr id="1049" name="Google Shape;1049;p48"/>
            <p:cNvCxnSpPr/>
            <p:nvPr/>
          </p:nvCxnSpPr>
          <p:spPr>
            <a:xfrm>
              <a:off x="2530" y="3575"/>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50" name="Google Shape;1050;p48"/>
            <p:cNvSpPr txBox="1"/>
            <p:nvPr/>
          </p:nvSpPr>
          <p:spPr>
            <a:xfrm>
              <a:off x="1124" y="3471"/>
              <a:ext cx="408"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4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(tt)</a:t>
            </a:r>
            <a:endParaRPr/>
          </a:p>
        </p:txBody>
      </p:sp>
      <p:sp>
        <p:nvSpPr>
          <p:cNvPr id="1056" name="Google Shape;1056;p49"/>
          <p:cNvSpPr txBox="1"/>
          <p:nvPr>
            <p:ph idx="1" type="body"/>
          </p:nvPr>
        </p:nvSpPr>
        <p:spPr>
          <a:xfrm>
            <a:off x="776287" y="765175"/>
            <a:ext cx="9129712" cy="11509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L</a:t>
            </a:r>
            <a:r>
              <a:rPr b="0" baseline="-25000" i="0" lang="en-US" sz="2800" u="none">
                <a:solidFill>
                  <a:schemeClr val="dk1"/>
                </a:solidFill>
                <a:latin typeface="Arial"/>
                <a:ea typeface="Arial"/>
                <a:cs typeface="Arial"/>
                <a:sym typeface="Arial"/>
              </a:rPr>
              <a:t>1</a:t>
            </a:r>
            <a:endParaRPr b="0" baseline="-25000" i="0" sz="2400" u="none">
              <a:solidFill>
                <a:schemeClr val="dk1"/>
              </a:solidFill>
              <a:latin typeface="Arial"/>
              <a:ea typeface="Arial"/>
              <a:cs typeface="Arial"/>
              <a:sym typeface="Arial"/>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Phân phối các đường chạy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vào L</a:t>
            </a:r>
            <a:r>
              <a:rPr b="0" baseline="-25000" i="0" lang="en-US" sz="2800" u="none">
                <a:solidFill>
                  <a:schemeClr val="dk1"/>
                </a:solidFill>
                <a:latin typeface="Arial"/>
                <a:ea typeface="Arial"/>
                <a:cs typeface="Arial"/>
                <a:sym typeface="Arial"/>
              </a:rPr>
              <a:t>11</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12</a:t>
            </a:r>
            <a:endParaRPr/>
          </a:p>
        </p:txBody>
      </p:sp>
      <p:grpSp>
        <p:nvGrpSpPr>
          <p:cNvPr id="1057" name="Google Shape;1057;p49"/>
          <p:cNvGrpSpPr/>
          <p:nvPr/>
        </p:nvGrpSpPr>
        <p:grpSpPr>
          <a:xfrm>
            <a:off x="1784350" y="1773237"/>
            <a:ext cx="3903662" cy="1295400"/>
            <a:chOff x="1124" y="1117"/>
            <a:chExt cx="2459" cy="816"/>
          </a:xfrm>
        </p:grpSpPr>
        <p:sp>
          <p:nvSpPr>
            <p:cNvPr id="1058" name="Google Shape;1058;p49"/>
            <p:cNvSpPr/>
            <p:nvPr/>
          </p:nvSpPr>
          <p:spPr>
            <a:xfrm>
              <a:off x="1676" y="1643"/>
              <a:ext cx="254" cy="234"/>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9" name="Google Shape;1059;p49"/>
            <p:cNvSpPr txBox="1"/>
            <p:nvPr/>
          </p:nvSpPr>
          <p:spPr>
            <a:xfrm>
              <a:off x="3414" y="1669"/>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60" name="Google Shape;1060;p49"/>
            <p:cNvCxnSpPr/>
            <p:nvPr/>
          </p:nvCxnSpPr>
          <p:spPr>
            <a:xfrm>
              <a:off x="1810" y="1760"/>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061" name="Google Shape;1061;p49"/>
            <p:cNvSpPr txBox="1"/>
            <p:nvPr/>
          </p:nvSpPr>
          <p:spPr>
            <a:xfrm>
              <a:off x="3160" y="1591"/>
              <a:ext cx="96"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2" name="Google Shape;1062;p49"/>
            <p:cNvSpPr txBox="1"/>
            <p:nvPr/>
          </p:nvSpPr>
          <p:spPr>
            <a:xfrm>
              <a:off x="2770" y="1591"/>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cxnSp>
          <p:nvCxnSpPr>
            <p:cNvPr id="1063" name="Google Shape;1063;p49"/>
            <p:cNvCxnSpPr/>
            <p:nvPr/>
          </p:nvCxnSpPr>
          <p:spPr>
            <a:xfrm>
              <a:off x="3199" y="1760"/>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64" name="Google Shape;1064;p49"/>
            <p:cNvSpPr txBox="1"/>
            <p:nvPr/>
          </p:nvSpPr>
          <p:spPr>
            <a:xfrm>
              <a:off x="1585" y="1300"/>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65" name="Google Shape;1065;p49"/>
            <p:cNvSpPr txBox="1"/>
            <p:nvPr/>
          </p:nvSpPr>
          <p:spPr>
            <a:xfrm>
              <a:off x="2482" y="1591"/>
              <a:ext cx="94"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6" name="Google Shape;1066;p49"/>
            <p:cNvSpPr txBox="1"/>
            <p:nvPr/>
          </p:nvSpPr>
          <p:spPr>
            <a:xfrm>
              <a:off x="2092" y="1591"/>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cxnSp>
          <p:nvCxnSpPr>
            <p:cNvPr id="1067" name="Google Shape;1067;p49"/>
            <p:cNvCxnSpPr/>
            <p:nvPr/>
          </p:nvCxnSpPr>
          <p:spPr>
            <a:xfrm>
              <a:off x="2530" y="1760"/>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68" name="Google Shape;1068;p49"/>
            <p:cNvSpPr txBox="1"/>
            <p:nvPr/>
          </p:nvSpPr>
          <p:spPr>
            <a:xfrm>
              <a:off x="3075" y="111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069" name="Google Shape;1069;p49"/>
            <p:cNvSpPr/>
            <p:nvPr/>
          </p:nvSpPr>
          <p:spPr>
            <a:xfrm flipH="1">
              <a:off x="2954" y="1274"/>
              <a:ext cx="121"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0" name="Google Shape;1070;p49"/>
            <p:cNvSpPr txBox="1"/>
            <p:nvPr/>
          </p:nvSpPr>
          <p:spPr>
            <a:xfrm>
              <a:off x="1124" y="1616"/>
              <a:ext cx="40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11</a:t>
              </a:r>
              <a:endParaRPr/>
            </a:p>
          </p:txBody>
        </p:sp>
      </p:grpSp>
      <p:grpSp>
        <p:nvGrpSpPr>
          <p:cNvPr id="1071" name="Google Shape;1071;p49"/>
          <p:cNvGrpSpPr/>
          <p:nvPr/>
        </p:nvGrpSpPr>
        <p:grpSpPr>
          <a:xfrm>
            <a:off x="1784350" y="3140075"/>
            <a:ext cx="3922712" cy="1225550"/>
            <a:chOff x="1124" y="1978"/>
            <a:chExt cx="2471" cy="772"/>
          </a:xfrm>
        </p:grpSpPr>
        <p:sp>
          <p:nvSpPr>
            <p:cNvPr id="1072" name="Google Shape;1072;p49"/>
            <p:cNvSpPr txBox="1"/>
            <p:nvPr/>
          </p:nvSpPr>
          <p:spPr>
            <a:xfrm>
              <a:off x="3032" y="1978"/>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073" name="Google Shape;1073;p49"/>
            <p:cNvSpPr/>
            <p:nvPr/>
          </p:nvSpPr>
          <p:spPr>
            <a:xfrm flipH="1">
              <a:off x="2893" y="2179"/>
              <a:ext cx="139" cy="23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4" name="Google Shape;1074;p49"/>
            <p:cNvSpPr/>
            <p:nvPr/>
          </p:nvSpPr>
          <p:spPr>
            <a:xfrm>
              <a:off x="1676" y="2460"/>
              <a:ext cx="254" cy="234"/>
            </a:xfrm>
            <a:prstGeom prst="ellipse">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5" name="Google Shape;1075;p49"/>
            <p:cNvSpPr txBox="1"/>
            <p:nvPr/>
          </p:nvSpPr>
          <p:spPr>
            <a:xfrm>
              <a:off x="3426" y="2486"/>
              <a:ext cx="169" cy="18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76" name="Google Shape;1076;p49"/>
            <p:cNvCxnSpPr/>
            <p:nvPr/>
          </p:nvCxnSpPr>
          <p:spPr>
            <a:xfrm>
              <a:off x="1810" y="2577"/>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077" name="Google Shape;1077;p49"/>
            <p:cNvSpPr txBox="1"/>
            <p:nvPr/>
          </p:nvSpPr>
          <p:spPr>
            <a:xfrm>
              <a:off x="3160" y="2408"/>
              <a:ext cx="96"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8" name="Google Shape;1078;p49"/>
            <p:cNvSpPr txBox="1"/>
            <p:nvPr/>
          </p:nvSpPr>
          <p:spPr>
            <a:xfrm>
              <a:off x="2770" y="2408"/>
              <a:ext cx="388"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cxnSp>
          <p:nvCxnSpPr>
            <p:cNvPr id="1079" name="Google Shape;1079;p49"/>
            <p:cNvCxnSpPr/>
            <p:nvPr/>
          </p:nvCxnSpPr>
          <p:spPr>
            <a:xfrm>
              <a:off x="3211" y="2577"/>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80" name="Google Shape;1080;p49"/>
            <p:cNvSpPr txBox="1"/>
            <p:nvPr/>
          </p:nvSpPr>
          <p:spPr>
            <a:xfrm>
              <a:off x="1585" y="2117"/>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81" name="Google Shape;1081;p49"/>
            <p:cNvSpPr txBox="1"/>
            <p:nvPr/>
          </p:nvSpPr>
          <p:spPr>
            <a:xfrm>
              <a:off x="2482" y="2408"/>
              <a:ext cx="94"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2" name="Google Shape;1082;p49"/>
            <p:cNvSpPr txBox="1"/>
            <p:nvPr/>
          </p:nvSpPr>
          <p:spPr>
            <a:xfrm>
              <a:off x="2092" y="2408"/>
              <a:ext cx="388"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cxnSp>
          <p:nvCxnSpPr>
            <p:cNvPr id="1083" name="Google Shape;1083;p49"/>
            <p:cNvCxnSpPr/>
            <p:nvPr/>
          </p:nvCxnSpPr>
          <p:spPr>
            <a:xfrm>
              <a:off x="2530" y="2577"/>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84" name="Google Shape;1084;p49"/>
            <p:cNvSpPr txBox="1"/>
            <p:nvPr/>
          </p:nvSpPr>
          <p:spPr>
            <a:xfrm>
              <a:off x="1124" y="2473"/>
              <a:ext cx="408"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12</a:t>
              </a:r>
              <a:endParaRPr/>
            </a:p>
          </p:txBody>
        </p:sp>
      </p:grpSp>
      <p:sp>
        <p:nvSpPr>
          <p:cNvPr id="1085" name="Google Shape;1085;p49"/>
          <p:cNvSpPr txBox="1"/>
          <p:nvPr/>
        </p:nvSpPr>
        <p:spPr>
          <a:xfrm>
            <a:off x="920750" y="4781550"/>
            <a:ext cx="8280400" cy="519112"/>
          </a:xfrm>
          <a:prstGeom prst="rect">
            <a:avLst/>
          </a:prstGeom>
          <a:noFill/>
          <a:ln>
            <a:noFill/>
          </a:ln>
        </p:spPr>
        <p:txBody>
          <a:bodyPr anchorCtr="0" anchor="t" bIns="45700" lIns="91425" spcFirstLastPara="1" rIns="91425" wrap="square" tIns="45700">
            <a:spAutoFit/>
          </a:bodyPr>
          <a:lstStyle/>
          <a:p>
            <a:pPr indent="-177800" lvl="1" marL="45720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 Trộn L</a:t>
            </a:r>
            <a:r>
              <a:rPr b="0" baseline="-25000" i="0" lang="en-US" sz="2800" u="none" cap="none" strike="noStrike">
                <a:solidFill>
                  <a:schemeClr val="dk1"/>
                </a:solidFill>
                <a:latin typeface="Arial"/>
                <a:ea typeface="Arial"/>
                <a:cs typeface="Arial"/>
                <a:sym typeface="Arial"/>
              </a:rPr>
              <a:t>11</a:t>
            </a:r>
            <a:r>
              <a:rPr b="0" i="0" lang="en-US" sz="2800" u="none" cap="none" strike="noStrike">
                <a:solidFill>
                  <a:schemeClr val="dk1"/>
                </a:solidFill>
                <a:latin typeface="Arial"/>
                <a:ea typeface="Arial"/>
                <a:cs typeface="Arial"/>
                <a:sym typeface="Arial"/>
              </a:rPr>
              <a:t> và L</a:t>
            </a:r>
            <a:r>
              <a:rPr b="0" baseline="-25000" i="0" lang="en-US" sz="2800" u="none" cap="none" strike="noStrike">
                <a:solidFill>
                  <a:schemeClr val="dk1"/>
                </a:solidFill>
                <a:latin typeface="Arial"/>
                <a:ea typeface="Arial"/>
                <a:cs typeface="Arial"/>
                <a:sym typeface="Arial"/>
              </a:rPr>
              <a:t>12</a:t>
            </a:r>
            <a:r>
              <a:rPr b="0" i="0" lang="en-US" sz="2800" u="none" cap="none" strike="noStrike">
                <a:solidFill>
                  <a:schemeClr val="dk1"/>
                </a:solidFill>
                <a:latin typeface="Arial"/>
                <a:ea typeface="Arial"/>
                <a:cs typeface="Arial"/>
                <a:sym typeface="Arial"/>
              </a:rPr>
              <a:t> vào L</a:t>
            </a:r>
            <a:r>
              <a:rPr b="0" baseline="-25000" i="0" lang="en-US" sz="2800" u="none" cap="none" strike="noStrike">
                <a:solidFill>
                  <a:schemeClr val="dk1"/>
                </a:solidFill>
                <a:latin typeface="Arial"/>
                <a:ea typeface="Arial"/>
                <a:cs typeface="Arial"/>
                <a:sym typeface="Arial"/>
              </a:rPr>
              <a:t>1</a:t>
            </a:r>
            <a:endParaRPr/>
          </a:p>
        </p:txBody>
      </p:sp>
      <p:grpSp>
        <p:nvGrpSpPr>
          <p:cNvPr id="1086" name="Google Shape;1086;p49"/>
          <p:cNvGrpSpPr/>
          <p:nvPr/>
        </p:nvGrpSpPr>
        <p:grpSpPr>
          <a:xfrm>
            <a:off x="1857375" y="5302250"/>
            <a:ext cx="6048375" cy="1295400"/>
            <a:chOff x="1170" y="3340"/>
            <a:chExt cx="3810" cy="816"/>
          </a:xfrm>
        </p:grpSpPr>
        <p:sp>
          <p:nvSpPr>
            <p:cNvPr id="1087" name="Google Shape;1087;p49"/>
            <p:cNvSpPr/>
            <p:nvPr/>
          </p:nvSpPr>
          <p:spPr>
            <a:xfrm>
              <a:off x="1722" y="3866"/>
              <a:ext cx="254" cy="234"/>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8" name="Google Shape;1088;p49"/>
            <p:cNvSpPr txBox="1"/>
            <p:nvPr/>
          </p:nvSpPr>
          <p:spPr>
            <a:xfrm>
              <a:off x="4811" y="3892"/>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89" name="Google Shape;1089;p49"/>
            <p:cNvCxnSpPr/>
            <p:nvPr/>
          </p:nvCxnSpPr>
          <p:spPr>
            <a:xfrm>
              <a:off x="1856" y="3983"/>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090" name="Google Shape;1090;p49"/>
            <p:cNvSpPr txBox="1"/>
            <p:nvPr/>
          </p:nvSpPr>
          <p:spPr>
            <a:xfrm>
              <a:off x="3206" y="3814"/>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1" name="Google Shape;1091;p49"/>
            <p:cNvSpPr txBox="1"/>
            <p:nvPr/>
          </p:nvSpPr>
          <p:spPr>
            <a:xfrm>
              <a:off x="2816" y="3814"/>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sp>
          <p:nvSpPr>
            <p:cNvPr id="1092" name="Google Shape;1092;p49"/>
            <p:cNvSpPr txBox="1"/>
            <p:nvPr/>
          </p:nvSpPr>
          <p:spPr>
            <a:xfrm>
              <a:off x="3877" y="3814"/>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3" name="Google Shape;1093;p49"/>
            <p:cNvSpPr txBox="1"/>
            <p:nvPr/>
          </p:nvSpPr>
          <p:spPr>
            <a:xfrm>
              <a:off x="3492" y="3814"/>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1094" name="Google Shape;1094;p49"/>
            <p:cNvSpPr txBox="1"/>
            <p:nvPr/>
          </p:nvSpPr>
          <p:spPr>
            <a:xfrm>
              <a:off x="4554" y="3814"/>
              <a:ext cx="105"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5" name="Google Shape;1095;p49"/>
            <p:cNvSpPr txBox="1"/>
            <p:nvPr/>
          </p:nvSpPr>
          <p:spPr>
            <a:xfrm>
              <a:off x="4170" y="3814"/>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cxnSp>
          <p:nvCxnSpPr>
            <p:cNvPr id="1096" name="Google Shape;1096;p49"/>
            <p:cNvCxnSpPr/>
            <p:nvPr/>
          </p:nvCxnSpPr>
          <p:spPr>
            <a:xfrm>
              <a:off x="3930" y="3983"/>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097" name="Google Shape;1097;p49"/>
            <p:cNvCxnSpPr/>
            <p:nvPr/>
          </p:nvCxnSpPr>
          <p:spPr>
            <a:xfrm>
              <a:off x="4596" y="3983"/>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098" name="Google Shape;1098;p49"/>
            <p:cNvSpPr txBox="1"/>
            <p:nvPr/>
          </p:nvSpPr>
          <p:spPr>
            <a:xfrm>
              <a:off x="1631" y="3523"/>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099" name="Google Shape;1099;p49"/>
            <p:cNvSpPr txBox="1"/>
            <p:nvPr/>
          </p:nvSpPr>
          <p:spPr>
            <a:xfrm>
              <a:off x="2528" y="3814"/>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0" name="Google Shape;1100;p49"/>
            <p:cNvSpPr txBox="1"/>
            <p:nvPr/>
          </p:nvSpPr>
          <p:spPr>
            <a:xfrm>
              <a:off x="2138" y="3814"/>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cxnSp>
          <p:nvCxnSpPr>
            <p:cNvPr id="1101" name="Google Shape;1101;p49"/>
            <p:cNvCxnSpPr/>
            <p:nvPr/>
          </p:nvCxnSpPr>
          <p:spPr>
            <a:xfrm>
              <a:off x="3253" y="3983"/>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102" name="Google Shape;1102;p49"/>
            <p:cNvCxnSpPr/>
            <p:nvPr/>
          </p:nvCxnSpPr>
          <p:spPr>
            <a:xfrm>
              <a:off x="2576" y="3983"/>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03" name="Google Shape;1103;p49"/>
            <p:cNvSpPr txBox="1"/>
            <p:nvPr/>
          </p:nvSpPr>
          <p:spPr>
            <a:xfrm>
              <a:off x="3713" y="3340"/>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104" name="Google Shape;1104;p49"/>
            <p:cNvSpPr/>
            <p:nvPr/>
          </p:nvSpPr>
          <p:spPr>
            <a:xfrm>
              <a:off x="4239" y="3542"/>
              <a:ext cx="152" cy="258"/>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5" name="Google Shape;1105;p49"/>
            <p:cNvSpPr txBox="1"/>
            <p:nvPr/>
          </p:nvSpPr>
          <p:spPr>
            <a:xfrm>
              <a:off x="1170" y="3839"/>
              <a:ext cx="40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0" st="0"/>
                                            </p:txEl>
                                          </p:spTgt>
                                        </p:tgtEl>
                                        <p:attrNameLst>
                                          <p:attrName>style.visibility</p:attrName>
                                        </p:attrNameLst>
                                      </p:cBhvr>
                                      <p:to>
                                        <p:strVal val="visible"/>
                                      </p:to>
                                    </p:set>
                                    <p:animEffect filter="fade" transition="in">
                                      <p:cBhvr>
                                        <p:cTn dur="500"/>
                                        <p:tgtEl>
                                          <p:spTgt spid="10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 st="1"/>
                                            </p:txEl>
                                          </p:spTgt>
                                        </p:tgtEl>
                                        <p:attrNameLst>
                                          <p:attrName>style.visibility</p:attrName>
                                        </p:attrNameLst>
                                      </p:cBhvr>
                                      <p:to>
                                        <p:strVal val="visible"/>
                                      </p:to>
                                    </p:set>
                                    <p:animEffect filter="fade" transition="in">
                                      <p:cBhvr>
                                        <p:cTn dur="500"/>
                                        <p:tgtEl>
                                          <p:spTgt spid="10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500"/>
                                        <p:tgtEl>
                                          <p:spTgt spid="10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5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toán(tt)</a:t>
            </a:r>
            <a:endParaRPr/>
          </a:p>
        </p:txBody>
      </p:sp>
      <p:sp>
        <p:nvSpPr>
          <p:cNvPr id="1111" name="Google Shape;1111;p50"/>
          <p:cNvSpPr txBox="1"/>
          <p:nvPr>
            <p:ph idx="1" type="body"/>
          </p:nvPr>
        </p:nvSpPr>
        <p:spPr>
          <a:xfrm>
            <a:off x="776287" y="765175"/>
            <a:ext cx="9129712" cy="11509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L</a:t>
            </a:r>
            <a:r>
              <a:rPr b="0" baseline="-25000" i="0" lang="en-US" sz="2800" u="none">
                <a:solidFill>
                  <a:schemeClr val="dk1"/>
                </a:solidFill>
                <a:latin typeface="Arial"/>
                <a:ea typeface="Arial"/>
                <a:cs typeface="Arial"/>
                <a:sym typeface="Arial"/>
              </a:rPr>
              <a:t>2</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Phân phối các đường chạy của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vào L</a:t>
            </a:r>
            <a:r>
              <a:rPr b="0" baseline="-25000" i="0" lang="en-US" sz="2800" u="none">
                <a:solidFill>
                  <a:schemeClr val="dk1"/>
                </a:solidFill>
                <a:latin typeface="Arial"/>
                <a:ea typeface="Arial"/>
                <a:cs typeface="Arial"/>
                <a:sym typeface="Arial"/>
              </a:rPr>
              <a:t>21</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22</a:t>
            </a:r>
            <a:endParaRPr/>
          </a:p>
        </p:txBody>
      </p:sp>
      <p:grpSp>
        <p:nvGrpSpPr>
          <p:cNvPr id="1112" name="Google Shape;1112;p50"/>
          <p:cNvGrpSpPr/>
          <p:nvPr/>
        </p:nvGrpSpPr>
        <p:grpSpPr>
          <a:xfrm>
            <a:off x="1784350" y="1773237"/>
            <a:ext cx="2990850" cy="1295400"/>
            <a:chOff x="1124" y="1117"/>
            <a:chExt cx="1884" cy="816"/>
          </a:xfrm>
        </p:grpSpPr>
        <p:sp>
          <p:nvSpPr>
            <p:cNvPr id="1113" name="Google Shape;1113;p50"/>
            <p:cNvSpPr txBox="1"/>
            <p:nvPr/>
          </p:nvSpPr>
          <p:spPr>
            <a:xfrm>
              <a:off x="2482" y="1591"/>
              <a:ext cx="94"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4" name="Google Shape;1114;p50"/>
            <p:cNvSpPr/>
            <p:nvPr/>
          </p:nvSpPr>
          <p:spPr>
            <a:xfrm>
              <a:off x="1676" y="1643"/>
              <a:ext cx="254" cy="234"/>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5" name="Google Shape;1115;p50"/>
            <p:cNvSpPr txBox="1"/>
            <p:nvPr/>
          </p:nvSpPr>
          <p:spPr>
            <a:xfrm>
              <a:off x="2748" y="1669"/>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16" name="Google Shape;1116;p50"/>
            <p:cNvCxnSpPr/>
            <p:nvPr/>
          </p:nvCxnSpPr>
          <p:spPr>
            <a:xfrm>
              <a:off x="1810" y="1760"/>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117" name="Google Shape;1117;p50"/>
            <p:cNvSpPr txBox="1"/>
            <p:nvPr/>
          </p:nvSpPr>
          <p:spPr>
            <a:xfrm>
              <a:off x="1585" y="1300"/>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118" name="Google Shape;1118;p50"/>
            <p:cNvSpPr txBox="1"/>
            <p:nvPr/>
          </p:nvSpPr>
          <p:spPr>
            <a:xfrm>
              <a:off x="2092" y="1591"/>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cxnSp>
          <p:nvCxnSpPr>
            <p:cNvPr id="1119" name="Google Shape;1119;p50"/>
            <p:cNvCxnSpPr/>
            <p:nvPr/>
          </p:nvCxnSpPr>
          <p:spPr>
            <a:xfrm>
              <a:off x="2530" y="1760"/>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20" name="Google Shape;1120;p50"/>
            <p:cNvSpPr txBox="1"/>
            <p:nvPr/>
          </p:nvSpPr>
          <p:spPr>
            <a:xfrm>
              <a:off x="2515" y="111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121" name="Google Shape;1121;p50"/>
            <p:cNvSpPr/>
            <p:nvPr/>
          </p:nvSpPr>
          <p:spPr>
            <a:xfrm flipH="1">
              <a:off x="2394" y="1274"/>
              <a:ext cx="121"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2" name="Google Shape;1122;p50"/>
            <p:cNvSpPr txBox="1"/>
            <p:nvPr/>
          </p:nvSpPr>
          <p:spPr>
            <a:xfrm>
              <a:off x="1124" y="1616"/>
              <a:ext cx="40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21</a:t>
              </a:r>
              <a:endParaRPr/>
            </a:p>
          </p:txBody>
        </p:sp>
      </p:grpSp>
      <p:grpSp>
        <p:nvGrpSpPr>
          <p:cNvPr id="1123" name="Google Shape;1123;p50"/>
          <p:cNvGrpSpPr/>
          <p:nvPr/>
        </p:nvGrpSpPr>
        <p:grpSpPr>
          <a:xfrm>
            <a:off x="1784350" y="3140075"/>
            <a:ext cx="2843212" cy="1225550"/>
            <a:chOff x="1124" y="1978"/>
            <a:chExt cx="1791" cy="772"/>
          </a:xfrm>
        </p:grpSpPr>
        <p:sp>
          <p:nvSpPr>
            <p:cNvPr id="1124" name="Google Shape;1124;p50"/>
            <p:cNvSpPr txBox="1"/>
            <p:nvPr/>
          </p:nvSpPr>
          <p:spPr>
            <a:xfrm>
              <a:off x="2482" y="2408"/>
              <a:ext cx="94"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5" name="Google Shape;1125;p50"/>
            <p:cNvSpPr txBox="1"/>
            <p:nvPr/>
          </p:nvSpPr>
          <p:spPr>
            <a:xfrm>
              <a:off x="2397" y="1978"/>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126" name="Google Shape;1126;p50"/>
            <p:cNvSpPr/>
            <p:nvPr/>
          </p:nvSpPr>
          <p:spPr>
            <a:xfrm flipH="1">
              <a:off x="2258" y="2179"/>
              <a:ext cx="139" cy="23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7" name="Google Shape;1127;p50"/>
            <p:cNvSpPr/>
            <p:nvPr/>
          </p:nvSpPr>
          <p:spPr>
            <a:xfrm>
              <a:off x="1676" y="2460"/>
              <a:ext cx="254" cy="234"/>
            </a:xfrm>
            <a:prstGeom prst="ellipse">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8" name="Google Shape;1128;p50"/>
            <p:cNvSpPr txBox="1"/>
            <p:nvPr/>
          </p:nvSpPr>
          <p:spPr>
            <a:xfrm>
              <a:off x="2746" y="2486"/>
              <a:ext cx="169" cy="18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29" name="Google Shape;1129;p50"/>
            <p:cNvCxnSpPr/>
            <p:nvPr/>
          </p:nvCxnSpPr>
          <p:spPr>
            <a:xfrm>
              <a:off x="1810" y="2577"/>
              <a:ext cx="296" cy="0"/>
            </a:xfrm>
            <a:prstGeom prst="straightConnector1">
              <a:avLst/>
            </a:prstGeom>
            <a:noFill/>
            <a:ln cap="flat" cmpd="sng" w="38100">
              <a:solidFill>
                <a:schemeClr val="dk1"/>
              </a:solidFill>
              <a:prstDash val="solid"/>
              <a:miter lim="800000"/>
              <a:headEnd len="med" w="med" type="none"/>
              <a:tailEnd len="med" w="med" type="stealth"/>
            </a:ln>
          </p:spPr>
        </p:cxnSp>
        <p:cxnSp>
          <p:nvCxnSpPr>
            <p:cNvPr id="1130" name="Google Shape;1130;p50"/>
            <p:cNvCxnSpPr/>
            <p:nvPr/>
          </p:nvCxnSpPr>
          <p:spPr>
            <a:xfrm>
              <a:off x="2531" y="2577"/>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31" name="Google Shape;1131;p50"/>
            <p:cNvSpPr txBox="1"/>
            <p:nvPr/>
          </p:nvSpPr>
          <p:spPr>
            <a:xfrm>
              <a:off x="1585" y="2117"/>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132" name="Google Shape;1132;p50"/>
            <p:cNvSpPr txBox="1"/>
            <p:nvPr/>
          </p:nvSpPr>
          <p:spPr>
            <a:xfrm>
              <a:off x="2092" y="2408"/>
              <a:ext cx="388" cy="342"/>
            </a:xfrm>
            <a:prstGeom prst="rect">
              <a:avLst/>
            </a:prstGeom>
            <a:gradFill>
              <a:gsLst>
                <a:gs pos="0">
                  <a:srgbClr val="FFFFFF"/>
                </a:gs>
                <a:gs pos="100000">
                  <a:srgbClr val="33339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sp>
          <p:nvSpPr>
            <p:cNvPr id="1133" name="Google Shape;1133;p50"/>
            <p:cNvSpPr txBox="1"/>
            <p:nvPr/>
          </p:nvSpPr>
          <p:spPr>
            <a:xfrm>
              <a:off x="1124" y="2473"/>
              <a:ext cx="408"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22</a:t>
              </a:r>
              <a:endParaRPr/>
            </a:p>
          </p:txBody>
        </p:sp>
      </p:grpSp>
      <p:sp>
        <p:nvSpPr>
          <p:cNvPr id="1134" name="Google Shape;1134;p50"/>
          <p:cNvSpPr txBox="1"/>
          <p:nvPr/>
        </p:nvSpPr>
        <p:spPr>
          <a:xfrm>
            <a:off x="992187" y="4581525"/>
            <a:ext cx="813752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Trộn L</a:t>
            </a:r>
            <a:r>
              <a:rPr b="0" baseline="-25000" i="0" lang="en-US" sz="2800" u="none">
                <a:solidFill>
                  <a:schemeClr val="dk1"/>
                </a:solidFill>
                <a:latin typeface="Arial"/>
                <a:ea typeface="Arial"/>
                <a:cs typeface="Arial"/>
                <a:sym typeface="Arial"/>
              </a:rPr>
              <a:t>21</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22</a:t>
            </a:r>
            <a:r>
              <a:rPr b="0" i="0" lang="en-US" sz="2800" u="none">
                <a:solidFill>
                  <a:schemeClr val="dk1"/>
                </a:solidFill>
                <a:latin typeface="Arial"/>
                <a:ea typeface="Arial"/>
                <a:cs typeface="Arial"/>
                <a:sym typeface="Arial"/>
              </a:rPr>
              <a:t> thành L</a:t>
            </a:r>
            <a:r>
              <a:rPr b="0" baseline="-25000" i="0" lang="en-US" sz="2800" u="none">
                <a:solidFill>
                  <a:schemeClr val="dk1"/>
                </a:solidFill>
                <a:latin typeface="Arial"/>
                <a:ea typeface="Arial"/>
                <a:cs typeface="Arial"/>
                <a:sym typeface="Arial"/>
              </a:rPr>
              <a:t>2</a:t>
            </a:r>
            <a:endParaRPr/>
          </a:p>
        </p:txBody>
      </p:sp>
      <p:grpSp>
        <p:nvGrpSpPr>
          <p:cNvPr id="1135" name="Google Shape;1135;p50"/>
          <p:cNvGrpSpPr/>
          <p:nvPr/>
        </p:nvGrpSpPr>
        <p:grpSpPr>
          <a:xfrm>
            <a:off x="2000250" y="5302250"/>
            <a:ext cx="3903662" cy="1295400"/>
            <a:chOff x="1260" y="3340"/>
            <a:chExt cx="2459" cy="816"/>
          </a:xfrm>
        </p:grpSpPr>
        <p:sp>
          <p:nvSpPr>
            <p:cNvPr id="1136" name="Google Shape;1136;p50"/>
            <p:cNvSpPr/>
            <p:nvPr/>
          </p:nvSpPr>
          <p:spPr>
            <a:xfrm>
              <a:off x="1812" y="3866"/>
              <a:ext cx="254" cy="234"/>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37" name="Google Shape;1137;p50"/>
            <p:cNvSpPr txBox="1"/>
            <p:nvPr/>
          </p:nvSpPr>
          <p:spPr>
            <a:xfrm>
              <a:off x="3550" y="3892"/>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38" name="Google Shape;1138;p50"/>
            <p:cNvCxnSpPr/>
            <p:nvPr/>
          </p:nvCxnSpPr>
          <p:spPr>
            <a:xfrm>
              <a:off x="1946" y="3983"/>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139" name="Google Shape;1139;p50"/>
            <p:cNvSpPr txBox="1"/>
            <p:nvPr/>
          </p:nvSpPr>
          <p:spPr>
            <a:xfrm>
              <a:off x="3296" y="3814"/>
              <a:ext cx="96"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0" name="Google Shape;1140;p50"/>
            <p:cNvSpPr txBox="1"/>
            <p:nvPr/>
          </p:nvSpPr>
          <p:spPr>
            <a:xfrm>
              <a:off x="2906" y="3814"/>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cxnSp>
          <p:nvCxnSpPr>
            <p:cNvPr id="1141" name="Google Shape;1141;p50"/>
            <p:cNvCxnSpPr/>
            <p:nvPr/>
          </p:nvCxnSpPr>
          <p:spPr>
            <a:xfrm>
              <a:off x="3335" y="3983"/>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42" name="Google Shape;1142;p50"/>
            <p:cNvSpPr txBox="1"/>
            <p:nvPr/>
          </p:nvSpPr>
          <p:spPr>
            <a:xfrm>
              <a:off x="1721" y="3523"/>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143" name="Google Shape;1143;p50"/>
            <p:cNvSpPr txBox="1"/>
            <p:nvPr/>
          </p:nvSpPr>
          <p:spPr>
            <a:xfrm>
              <a:off x="2618" y="3814"/>
              <a:ext cx="94"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4" name="Google Shape;1144;p50"/>
            <p:cNvSpPr txBox="1"/>
            <p:nvPr/>
          </p:nvSpPr>
          <p:spPr>
            <a:xfrm>
              <a:off x="2228" y="3814"/>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cxnSp>
          <p:nvCxnSpPr>
            <p:cNvPr id="1145" name="Google Shape;1145;p50"/>
            <p:cNvCxnSpPr/>
            <p:nvPr/>
          </p:nvCxnSpPr>
          <p:spPr>
            <a:xfrm>
              <a:off x="2666" y="3983"/>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46" name="Google Shape;1146;p50"/>
            <p:cNvSpPr txBox="1"/>
            <p:nvPr/>
          </p:nvSpPr>
          <p:spPr>
            <a:xfrm>
              <a:off x="3211" y="3340"/>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147" name="Google Shape;1147;p50"/>
            <p:cNvSpPr/>
            <p:nvPr/>
          </p:nvSpPr>
          <p:spPr>
            <a:xfrm flipH="1">
              <a:off x="3090" y="3497"/>
              <a:ext cx="121" cy="303"/>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8" name="Google Shape;1148;p50"/>
            <p:cNvSpPr txBox="1"/>
            <p:nvPr/>
          </p:nvSpPr>
          <p:spPr>
            <a:xfrm>
              <a:off x="1260" y="3839"/>
              <a:ext cx="40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t>
              </a:r>
              <a:r>
                <a:rPr b="1" baseline="-25000" i="0" lang="en-US" sz="2000" u="none">
                  <a:solidFill>
                    <a:schemeClr val="dk1"/>
                  </a:solidFill>
                  <a:latin typeface="Arial"/>
                  <a:ea typeface="Arial"/>
                  <a:cs typeface="Arial"/>
                  <a:sym typeface="Arial"/>
                </a:rPr>
                <a:t>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4"/>
                                        </p:tgtEl>
                                        <p:attrNameLst>
                                          <p:attrName>style.visibility</p:attrName>
                                        </p:attrNameLst>
                                      </p:cBhvr>
                                      <p:to>
                                        <p:strVal val="visible"/>
                                      </p:to>
                                    </p:set>
                                    <p:animEffect filter="fade" transition="in">
                                      <p:cBhvr>
                                        <p:cTn dur="500"/>
                                        <p:tgtEl>
                                          <p:spTgt spid="1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5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Minh họa thuật toán (tt)</a:t>
            </a:r>
            <a:endParaRPr/>
          </a:p>
        </p:txBody>
      </p:sp>
      <p:sp>
        <p:nvSpPr>
          <p:cNvPr id="1154" name="Google Shape;1154;p51"/>
          <p:cNvSpPr txBox="1"/>
          <p:nvPr>
            <p:ph idx="1" type="body"/>
          </p:nvPr>
        </p:nvSpPr>
        <p:spPr>
          <a:xfrm>
            <a:off x="776287" y="1773237"/>
            <a:ext cx="9129712" cy="5762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Trộn L</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L</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thành L</a:t>
            </a:r>
            <a:endParaRPr/>
          </a:p>
        </p:txBody>
      </p:sp>
      <p:grpSp>
        <p:nvGrpSpPr>
          <p:cNvPr id="1155" name="Google Shape;1155;p51"/>
          <p:cNvGrpSpPr/>
          <p:nvPr/>
        </p:nvGrpSpPr>
        <p:grpSpPr>
          <a:xfrm>
            <a:off x="1363662" y="2852737"/>
            <a:ext cx="7477125" cy="1293812"/>
            <a:chOff x="859" y="1797"/>
            <a:chExt cx="4710" cy="815"/>
          </a:xfrm>
        </p:grpSpPr>
        <p:sp>
          <p:nvSpPr>
            <p:cNvPr id="1156" name="Google Shape;1156;p51"/>
            <p:cNvSpPr/>
            <p:nvPr/>
          </p:nvSpPr>
          <p:spPr>
            <a:xfrm>
              <a:off x="950" y="2322"/>
              <a:ext cx="254" cy="234"/>
            </a:xfrm>
            <a:prstGeom prst="ellipse">
              <a:avLst/>
            </a:prstGeom>
            <a:gradFill>
              <a:gsLst>
                <a:gs pos="0">
                  <a:srgbClr val="FFFFF7"/>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7" name="Google Shape;1157;p51"/>
            <p:cNvSpPr txBox="1"/>
            <p:nvPr/>
          </p:nvSpPr>
          <p:spPr>
            <a:xfrm>
              <a:off x="5400" y="2348"/>
              <a:ext cx="169" cy="18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58" name="Google Shape;1158;p51"/>
            <p:cNvCxnSpPr/>
            <p:nvPr/>
          </p:nvCxnSpPr>
          <p:spPr>
            <a:xfrm>
              <a:off x="1084" y="2439"/>
              <a:ext cx="296" cy="0"/>
            </a:xfrm>
            <a:prstGeom prst="straightConnector1">
              <a:avLst/>
            </a:prstGeom>
            <a:noFill/>
            <a:ln cap="flat" cmpd="sng" w="38100">
              <a:solidFill>
                <a:schemeClr val="dk1"/>
              </a:solidFill>
              <a:prstDash val="solid"/>
              <a:miter lim="800000"/>
              <a:headEnd len="med" w="med" type="none"/>
              <a:tailEnd len="med" w="med" type="stealth"/>
            </a:ln>
          </p:spPr>
        </p:cxnSp>
        <p:sp>
          <p:nvSpPr>
            <p:cNvPr id="1159" name="Google Shape;1159;p51"/>
            <p:cNvSpPr txBox="1"/>
            <p:nvPr/>
          </p:nvSpPr>
          <p:spPr>
            <a:xfrm>
              <a:off x="2434" y="2270"/>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0" name="Google Shape;1160;p51"/>
            <p:cNvSpPr txBox="1"/>
            <p:nvPr/>
          </p:nvSpPr>
          <p:spPr>
            <a:xfrm>
              <a:off x="2044" y="2270"/>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2</a:t>
              </a:r>
              <a:endParaRPr/>
            </a:p>
          </p:txBody>
        </p:sp>
        <p:sp>
          <p:nvSpPr>
            <p:cNvPr id="1161" name="Google Shape;1161;p51"/>
            <p:cNvSpPr txBox="1"/>
            <p:nvPr/>
          </p:nvSpPr>
          <p:spPr>
            <a:xfrm>
              <a:off x="3105" y="2270"/>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2" name="Google Shape;1162;p51"/>
            <p:cNvSpPr txBox="1"/>
            <p:nvPr/>
          </p:nvSpPr>
          <p:spPr>
            <a:xfrm>
              <a:off x="2720" y="2270"/>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4</a:t>
              </a:r>
              <a:endParaRPr/>
            </a:p>
          </p:txBody>
        </p:sp>
        <p:sp>
          <p:nvSpPr>
            <p:cNvPr id="1163" name="Google Shape;1163;p51"/>
            <p:cNvSpPr txBox="1"/>
            <p:nvPr/>
          </p:nvSpPr>
          <p:spPr>
            <a:xfrm>
              <a:off x="3782" y="2270"/>
              <a:ext cx="105"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4" name="Google Shape;1164;p51"/>
            <p:cNvSpPr txBox="1"/>
            <p:nvPr/>
          </p:nvSpPr>
          <p:spPr>
            <a:xfrm>
              <a:off x="3398" y="2270"/>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5</a:t>
              </a:r>
              <a:endParaRPr/>
            </a:p>
          </p:txBody>
        </p:sp>
        <p:sp>
          <p:nvSpPr>
            <p:cNvPr id="1165" name="Google Shape;1165;p51"/>
            <p:cNvSpPr txBox="1"/>
            <p:nvPr/>
          </p:nvSpPr>
          <p:spPr>
            <a:xfrm>
              <a:off x="4452" y="2270"/>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6" name="Google Shape;1166;p51"/>
            <p:cNvSpPr txBox="1"/>
            <p:nvPr/>
          </p:nvSpPr>
          <p:spPr>
            <a:xfrm>
              <a:off x="4067" y="2270"/>
              <a:ext cx="389"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6</a:t>
              </a:r>
              <a:endParaRPr/>
            </a:p>
          </p:txBody>
        </p:sp>
        <p:sp>
          <p:nvSpPr>
            <p:cNvPr id="1167" name="Google Shape;1167;p51"/>
            <p:cNvSpPr txBox="1"/>
            <p:nvPr/>
          </p:nvSpPr>
          <p:spPr>
            <a:xfrm>
              <a:off x="5127" y="2270"/>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8" name="Google Shape;1168;p51"/>
            <p:cNvSpPr txBox="1"/>
            <p:nvPr/>
          </p:nvSpPr>
          <p:spPr>
            <a:xfrm>
              <a:off x="4743" y="2270"/>
              <a:ext cx="387"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8</a:t>
              </a:r>
              <a:endParaRPr/>
            </a:p>
          </p:txBody>
        </p:sp>
        <p:cxnSp>
          <p:nvCxnSpPr>
            <p:cNvPr id="1169" name="Google Shape;1169;p51"/>
            <p:cNvCxnSpPr/>
            <p:nvPr/>
          </p:nvCxnSpPr>
          <p:spPr>
            <a:xfrm>
              <a:off x="3158" y="2439"/>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170" name="Google Shape;1170;p51"/>
            <p:cNvCxnSpPr/>
            <p:nvPr/>
          </p:nvCxnSpPr>
          <p:spPr>
            <a:xfrm>
              <a:off x="3830" y="2439"/>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171" name="Google Shape;1171;p51"/>
            <p:cNvCxnSpPr/>
            <p:nvPr/>
          </p:nvCxnSpPr>
          <p:spPr>
            <a:xfrm>
              <a:off x="4507" y="2439"/>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172" name="Google Shape;1172;p51"/>
            <p:cNvCxnSpPr/>
            <p:nvPr/>
          </p:nvCxnSpPr>
          <p:spPr>
            <a:xfrm>
              <a:off x="5185" y="2439"/>
              <a:ext cx="239" cy="0"/>
            </a:xfrm>
            <a:prstGeom prst="straightConnector1">
              <a:avLst/>
            </a:prstGeom>
            <a:noFill/>
            <a:ln cap="flat" cmpd="sng" w="38100">
              <a:solidFill>
                <a:schemeClr val="dk1"/>
              </a:solidFill>
              <a:prstDash val="solid"/>
              <a:miter lim="800000"/>
              <a:headEnd len="med" w="med" type="oval"/>
              <a:tailEnd len="med" w="med" type="stealth"/>
            </a:ln>
          </p:spPr>
        </p:cxnSp>
        <p:sp>
          <p:nvSpPr>
            <p:cNvPr id="1173" name="Google Shape;1173;p51"/>
            <p:cNvSpPr txBox="1"/>
            <p:nvPr/>
          </p:nvSpPr>
          <p:spPr>
            <a:xfrm>
              <a:off x="859" y="1979"/>
              <a:ext cx="681" cy="2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eko"/>
                <a:buNone/>
              </a:pPr>
              <a:r>
                <a:rPr b="1" i="0" lang="en-US" sz="2400" u="none">
                  <a:solidFill>
                    <a:srgbClr val="080808"/>
                  </a:solidFill>
                  <a:latin typeface="Teko"/>
                  <a:ea typeface="Teko"/>
                  <a:cs typeface="Teko"/>
                  <a:sym typeface="Teko"/>
                </a:rPr>
                <a:t>pHead</a:t>
              </a:r>
              <a:endParaRPr/>
            </a:p>
          </p:txBody>
        </p:sp>
        <p:sp>
          <p:nvSpPr>
            <p:cNvPr id="1174" name="Google Shape;1174;p51"/>
            <p:cNvSpPr txBox="1"/>
            <p:nvPr/>
          </p:nvSpPr>
          <p:spPr>
            <a:xfrm>
              <a:off x="4307" y="1797"/>
              <a:ext cx="493" cy="2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pTail</a:t>
              </a:r>
              <a:endParaRPr/>
            </a:p>
          </p:txBody>
        </p:sp>
        <p:sp>
          <p:nvSpPr>
            <p:cNvPr id="1175" name="Google Shape;1175;p51"/>
            <p:cNvSpPr/>
            <p:nvPr/>
          </p:nvSpPr>
          <p:spPr>
            <a:xfrm>
              <a:off x="4833" y="1999"/>
              <a:ext cx="152" cy="258"/>
            </a:xfrm>
            <a:custGeom>
              <a:rect b="b" l="l" r="r" t="t"/>
              <a:pathLst>
                <a:path extrusionOk="0" h="315" w="198">
                  <a:moveTo>
                    <a:pt x="0" y="0"/>
                  </a:moveTo>
                  <a:cubicBezTo>
                    <a:pt x="66" y="26"/>
                    <a:pt x="132" y="53"/>
                    <a:pt x="165" y="105"/>
                  </a:cubicBezTo>
                  <a:cubicBezTo>
                    <a:pt x="198" y="157"/>
                    <a:pt x="196" y="236"/>
                    <a:pt x="195" y="315"/>
                  </a:cubicBezTo>
                </a:path>
              </a:pathLst>
            </a:custGeom>
            <a:noFill/>
            <a:ln cap="flat" cmpd="sng" w="63500">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6" name="Google Shape;1176;p51"/>
            <p:cNvSpPr txBox="1"/>
            <p:nvPr/>
          </p:nvSpPr>
          <p:spPr>
            <a:xfrm>
              <a:off x="1756" y="2270"/>
              <a:ext cx="106" cy="33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7" name="Google Shape;1177;p51"/>
            <p:cNvSpPr txBox="1"/>
            <p:nvPr/>
          </p:nvSpPr>
          <p:spPr>
            <a:xfrm>
              <a:off x="1366" y="2270"/>
              <a:ext cx="388" cy="34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900"/>
                <a:buFont typeface="Helvetica Neue"/>
                <a:buNone/>
              </a:pPr>
              <a:r>
                <a:rPr b="1" i="0" lang="en-US" sz="2900" u="none">
                  <a:solidFill>
                    <a:schemeClr val="dk1"/>
                  </a:solidFill>
                  <a:latin typeface="Helvetica Neue"/>
                  <a:ea typeface="Helvetica Neue"/>
                  <a:cs typeface="Helvetica Neue"/>
                  <a:sym typeface="Helvetica Neue"/>
                </a:rPr>
                <a:t>1</a:t>
              </a:r>
              <a:endParaRPr/>
            </a:p>
          </p:txBody>
        </p:sp>
        <p:cxnSp>
          <p:nvCxnSpPr>
            <p:cNvPr id="1178" name="Google Shape;1178;p51"/>
            <p:cNvCxnSpPr/>
            <p:nvPr/>
          </p:nvCxnSpPr>
          <p:spPr>
            <a:xfrm>
              <a:off x="2481" y="2439"/>
              <a:ext cx="239" cy="0"/>
            </a:xfrm>
            <a:prstGeom prst="straightConnector1">
              <a:avLst/>
            </a:prstGeom>
            <a:noFill/>
            <a:ln cap="flat" cmpd="sng" w="38100">
              <a:solidFill>
                <a:schemeClr val="dk1"/>
              </a:solidFill>
              <a:prstDash val="solid"/>
              <a:miter lim="800000"/>
              <a:headEnd len="med" w="med" type="oval"/>
              <a:tailEnd len="med" w="med" type="stealth"/>
            </a:ln>
          </p:spPr>
        </p:cxnSp>
        <p:cxnSp>
          <p:nvCxnSpPr>
            <p:cNvPr id="1179" name="Google Shape;1179;p51"/>
            <p:cNvCxnSpPr/>
            <p:nvPr/>
          </p:nvCxnSpPr>
          <p:spPr>
            <a:xfrm>
              <a:off x="1804" y="2439"/>
              <a:ext cx="239" cy="0"/>
            </a:xfrm>
            <a:prstGeom prst="straightConnector1">
              <a:avLst/>
            </a:prstGeom>
            <a:noFill/>
            <a:ln cap="flat" cmpd="sng" w="9525">
              <a:solidFill>
                <a:schemeClr val="dk1"/>
              </a:solidFill>
              <a:prstDash val="solid"/>
              <a:miter lim="800000"/>
              <a:headEnd len="med" w="med" type="oval"/>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4">
                                            <p:txEl>
                                              <p:pRg end="0" st="0"/>
                                            </p:txEl>
                                          </p:spTgt>
                                        </p:tgtEl>
                                        <p:attrNameLst>
                                          <p:attrName>style.visibility</p:attrName>
                                        </p:attrNameLst>
                                      </p:cBhvr>
                                      <p:to>
                                        <p:strVal val="visible"/>
                                      </p:to>
                                    </p:set>
                                    <p:animEffect filter="fade" transition="in">
                                      <p:cBhvr>
                                        <p:cTn dur="500"/>
                                        <p:tgtEl>
                                          <p:spTgt spid="115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5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hàm main()</a:t>
            </a:r>
            <a:endParaRPr/>
          </a:p>
        </p:txBody>
      </p:sp>
      <p:sp>
        <p:nvSpPr>
          <p:cNvPr id="1185" name="Google Shape;1185;p52"/>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609600" lvl="0" marL="60960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Yêu cầu: Viết chương trình thành lập 1 xâu đơn, trong đó thành phần dữ liệu của mỗi nút là 1 số nguyên dương. </a:t>
            </a:r>
            <a:endParaRPr/>
          </a:p>
          <a:p>
            <a:pPr indent="-609600" lvl="0" marL="609600" rtl="0" algn="l">
              <a:lnSpc>
                <a:spcPct val="100000"/>
              </a:lnSpc>
              <a:spcBef>
                <a:spcPts val="56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Liệt kê tất thành phần dữ liệu của tất cả các nút trong xâu</a:t>
            </a:r>
            <a:endParaRPr/>
          </a:p>
          <a:p>
            <a:pPr indent="-609600" lvl="0" marL="609600" rtl="0" algn="l">
              <a:lnSpc>
                <a:spcPct val="100000"/>
              </a:lnSpc>
              <a:spcBef>
                <a:spcPts val="56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Tìm 1 phần tử có khoá bằng x trong xâu.</a:t>
            </a:r>
            <a:endParaRPr/>
          </a:p>
          <a:p>
            <a:pPr indent="-609600" lvl="0" marL="609600" rtl="0" algn="l">
              <a:lnSpc>
                <a:spcPct val="100000"/>
              </a:lnSpc>
              <a:spcBef>
                <a:spcPts val="56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Xoá 1 phần tử đầu xâu</a:t>
            </a:r>
            <a:endParaRPr/>
          </a:p>
          <a:p>
            <a:pPr indent="-609600" lvl="0" marL="609600" rtl="0" algn="l">
              <a:lnSpc>
                <a:spcPct val="100000"/>
              </a:lnSpc>
              <a:spcBef>
                <a:spcPts val="64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Xo</a:t>
            </a:r>
            <a:r>
              <a:rPr b="0" i="0" lang="en-US" sz="3200" u="none">
                <a:solidFill>
                  <a:schemeClr val="dk1"/>
                </a:solidFill>
                <a:latin typeface="Arial"/>
                <a:ea typeface="Arial"/>
                <a:cs typeface="Arial"/>
                <a:sym typeface="Arial"/>
              </a:rPr>
              <a:t>á 1 phần tử có khoá bằng x trong xâu</a:t>
            </a:r>
            <a:endParaRPr/>
          </a:p>
          <a:p>
            <a:pPr indent="-609600" lvl="0" marL="609600" rtl="0" algn="l">
              <a:lnSpc>
                <a:spcPct val="100000"/>
              </a:lnSpc>
              <a:spcBef>
                <a:spcPts val="56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Sắp xếp xâu tăng dần theo thành phần dữ liệu (Info)</a:t>
            </a:r>
            <a:endParaRPr/>
          </a:p>
          <a:p>
            <a:pPr indent="-609600" lvl="0" marL="609600" rtl="0" algn="l">
              <a:lnSpc>
                <a:spcPct val="100000"/>
              </a:lnSpc>
              <a:spcBef>
                <a:spcPts val="64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Ch</a:t>
            </a:r>
            <a:r>
              <a:rPr b="0" i="0" lang="en-US" sz="3200" u="none">
                <a:solidFill>
                  <a:schemeClr val="dk1"/>
                </a:solidFill>
                <a:latin typeface="Arial"/>
                <a:ea typeface="Arial"/>
                <a:cs typeface="Arial"/>
                <a:sym typeface="Arial"/>
              </a:rPr>
              <a:t>èn 1 phần tử vào xâu, sao cho sau khi chèn xâu vẫn tăng dần theo trường dữ liệu</a:t>
            </a:r>
            <a:endParaRPr/>
          </a:p>
          <a:p>
            <a:pPr indent="-609600" lvl="0" marL="6096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..vv</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53"/>
          <p:cNvSpPr txBox="1"/>
          <p:nvPr>
            <p:ph type="title"/>
          </p:nvPr>
        </p:nvSpPr>
        <p:spPr>
          <a:xfrm>
            <a:off x="776287" y="0"/>
            <a:ext cx="9129712"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hàm main() (tt)</a:t>
            </a:r>
            <a:endParaRPr/>
          </a:p>
        </p:txBody>
      </p:sp>
      <p:sp>
        <p:nvSpPr>
          <p:cNvPr id="1191" name="Google Shape;1191;p53"/>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void main()</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LIST  l1; Node *p; int 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CreateList(l1);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do{</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printf(“nhap x=”); scanf(“%d”,&amp;x);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if(x&gt;0)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p = CreateNode(x);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AddHead(l1,x);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}while(x&gt;0);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printf(“Danh sách mới thành lập là\n”);</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PrintList(l1);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printf(“nhập x cần tìm x=”); scanf(“%d”,&amp;x);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5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hàm main() (tt)</a:t>
            </a:r>
            <a:endParaRPr/>
          </a:p>
        </p:txBody>
      </p:sp>
      <p:sp>
        <p:nvSpPr>
          <p:cNvPr id="1197" name="Google Shape;1197;p54"/>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	p = Search(l1,x);</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if(p==NULL) printf(“không tìm thấy”);</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 printf(“tìm thấy”); </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RemoveHead(l1,x);</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printf(“danh sách sau khi xóa\n”);</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PrintList(l1);</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printf(“nhập khoá cần xoá\n”);</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scanf(“%d”,&amp;x);</a:t>
            </a:r>
            <a:endParaRPr/>
          </a:p>
          <a:p>
            <a:pPr indent="-342900" lvl="0" marL="342900" rtl="0" algn="l">
              <a:lnSpc>
                <a:spcPct val="12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RemoveX(l1,x);</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5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hàm main() (tt)</a:t>
            </a:r>
            <a:endParaRPr/>
          </a:p>
        </p:txBody>
      </p:sp>
      <p:sp>
        <p:nvSpPr>
          <p:cNvPr id="1203" name="Google Shape;1203;p5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printf(“danh sách sau khi xoá”);</a:t>
            </a:r>
            <a:endParaRPr/>
          </a:p>
          <a:p>
            <a:pPr indent="-342900" lvl="0" marL="342900" rtl="0" algn="l">
              <a:lnSpc>
                <a:spcPct val="12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PrintfList(l1);</a:t>
            </a:r>
            <a:endParaRPr/>
          </a:p>
          <a:p>
            <a:pPr indent="-342900" lvl="0" marL="342900" rtl="0" algn="l">
              <a:lnSpc>
                <a:spcPct val="12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SelectionSort(l1);</a:t>
            </a:r>
            <a:endParaRPr/>
          </a:p>
          <a:p>
            <a:pPr indent="-342900" lvl="0" marL="342900" rtl="0" algn="l">
              <a:lnSpc>
                <a:spcPct val="12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printf(“Danh sách sau khi sắp xếp”);</a:t>
            </a:r>
            <a:endParaRPr/>
          </a:p>
          <a:p>
            <a:pPr indent="-342900" lvl="0" marL="342900" rtl="0" algn="l">
              <a:lnSpc>
                <a:spcPct val="12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PrintfList(l1);</a:t>
            </a:r>
            <a:endParaRPr/>
          </a:p>
          <a:p>
            <a:pPr indent="-342900" lvl="0" marL="342900" rtl="0" algn="l">
              <a:lnSpc>
                <a:spcPct val="12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RemoveList(l1);</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5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Vài ứng dụng danh sách liên kết đơn</a:t>
            </a:r>
            <a:endParaRPr/>
          </a:p>
        </p:txBody>
      </p:sp>
      <p:sp>
        <p:nvSpPr>
          <p:cNvPr id="1209" name="Google Shape;1209;p56"/>
          <p:cNvSpPr txBox="1"/>
          <p:nvPr>
            <p:ph idx="1" type="body"/>
          </p:nvPr>
        </p:nvSpPr>
        <p:spPr>
          <a:xfrm>
            <a:off x="776287" y="908050"/>
            <a:ext cx="9129712" cy="594995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Dùng xâu đơn để lưu trữ danh sách các học viên trong lớp học</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Dùng xâu đơn để quản lý danh sách nhân viên trong một công ty, trong cơ quan</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Dùng xâu đơn để quản lý danh sách các cuốn sách trong thư viện </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Dùng xâu đơn để quản lý các băng đĩa trong tiệm cho thuê đĩa.</a:t>
            </a:r>
            <a:endParaRPr/>
          </a:p>
          <a:p>
            <a:pPr indent="-342900" lvl="0" marL="34290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..vv</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5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Dùng xâu đơn để quản lý lớp học</a:t>
            </a:r>
            <a:endParaRPr/>
          </a:p>
        </p:txBody>
      </p:sp>
      <p:sp>
        <p:nvSpPr>
          <p:cNvPr id="1215" name="Google Shape;1215;p5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Yêu cầu: Thông tin của một sinh viên gồm, mã số sinh viên, tên sinh viên, điểm trung bình.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1. Hãy khai báo cấu trúc dữ liệu dạng danh sách liên kết để lưu danh sách sinh viên nói trên.</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2. Nhập danh sách các sinh viên, và thêm từng sinh viên vào đầu danh sách (việc nhập kết thúc khi tên của một sinh viên bằng rỗng)</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3. Tìm một sinh viên có trong lớp học hay không</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4. Xoá một sinh viên có mã số bằng x (x nhập từ bàn phím)</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5. Liệt kê thông tin của các sinh viên có điểm trung bình lớn hơn hay bằng 5.</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5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Dùng xâu đơn để quản lý lớp học</a:t>
            </a:r>
            <a:endParaRPr/>
          </a:p>
        </p:txBody>
      </p:sp>
      <p:sp>
        <p:nvSpPr>
          <p:cNvPr id="1221" name="Google Shape;1221;p5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609600" lvl="0" marL="6096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6. Xếp loại và in ra thông tin của từng sinh viên, biết rằng cách xếp loại như sau:</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 &lt;=3.6 : Loại yếu</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ĐTB&gt;=50 và ĐTB&lt;6.5 : Loại trung bình</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ĐTB&gt;=6.5 và ĐTB &lt; 7.0: Loại trung bình khá  </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ĐTB&gt;=7.0 và ĐTB &lt;8.0: Loại khá</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ĐTB&gt;=8.0 và ĐTB &lt; 9.0: Loại giỏi.</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ĐTB&gt;=9.0 : Loại xuất sắc</a:t>
            </a:r>
            <a:endParaRPr/>
          </a:p>
          <a:p>
            <a:pPr indent="-609600" lvl="0" marL="609600" rtl="0" algn="l">
              <a:lnSpc>
                <a:spcPct val="80000"/>
              </a:lnSpc>
              <a:spcBef>
                <a:spcPts val="560"/>
              </a:spcBef>
              <a:spcAft>
                <a:spcPts val="0"/>
              </a:spcAft>
              <a:buClr>
                <a:schemeClr val="dk1"/>
              </a:buClr>
              <a:buSzPts val="2800"/>
              <a:buFont typeface="Arial"/>
              <a:buAutoNum type="arabicPeriod" startAt="7"/>
            </a:pPr>
            <a:r>
              <a:rPr b="0" i="0" lang="en-US" sz="2800" u="none">
                <a:solidFill>
                  <a:schemeClr val="dk1"/>
                </a:solidFill>
                <a:latin typeface="Arial"/>
                <a:ea typeface="Arial"/>
                <a:cs typeface="Arial"/>
                <a:sym typeface="Arial"/>
              </a:rPr>
              <a:t>Sắp xếp và in ra danh sách sinh viên tăng theo điểm trung bình.</a:t>
            </a:r>
            <a:endParaRPr/>
          </a:p>
          <a:p>
            <a:pPr indent="-609600" lvl="0" marL="609600" rtl="0" algn="l">
              <a:lnSpc>
                <a:spcPct val="80000"/>
              </a:lnSpc>
              <a:spcBef>
                <a:spcPts val="560"/>
              </a:spcBef>
              <a:spcAft>
                <a:spcPts val="0"/>
              </a:spcAft>
              <a:buClr>
                <a:schemeClr val="dk1"/>
              </a:buClr>
              <a:buSzPts val="2800"/>
              <a:buFont typeface="Arial"/>
              <a:buAutoNum type="arabicPeriod" startAt="7"/>
            </a:pPr>
            <a:r>
              <a:rPr b="0" i="0" lang="en-US" sz="2800" u="none">
                <a:solidFill>
                  <a:schemeClr val="dk1"/>
                </a:solidFill>
                <a:latin typeface="Arial"/>
                <a:ea typeface="Arial"/>
                <a:cs typeface="Arial"/>
                <a:sym typeface="Arial"/>
              </a:rPr>
              <a:t>Chèn một sinh viên vào danh sách sinh viên tăng theo điểm trung bình nói trên, sao cho sau khi chèn danh sách sinh viên vẫn tăng theo điểm trung bình</a:t>
            </a:r>
            <a:endParaRPr/>
          </a:p>
          <a:p>
            <a:pPr indent="-609600" lvl="0" marL="6096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..vv</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5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Cấu trúc dữ liệu cho bài toán</a:t>
            </a:r>
            <a:endParaRPr/>
          </a:p>
        </p:txBody>
      </p:sp>
      <p:sp>
        <p:nvSpPr>
          <p:cNvPr id="1227" name="Google Shape;1227;p59"/>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Cấu trúc dữ liệu của một sinh viên</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typedef struct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 	char tên[40];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char Maso[40];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float ĐTB;</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}SV</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Cấu trúc dữ liệu của 1 nút trong xâu</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typedef struct tagNode</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 	SV Info;</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struct tagNode *pNext;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}Node;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g2cce094d8f7_0_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cấu trúc đặc biệt của danh sách đơn</a:t>
            </a:r>
            <a:endParaRPr/>
          </a:p>
        </p:txBody>
      </p:sp>
      <p:sp>
        <p:nvSpPr>
          <p:cNvPr id="1233" name="Google Shape;1233;g2cce094d8f7_0_0"/>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Stack (ngăn xếp): Là 1 vật chứa các đối tượng làm việc theo cơ chế LIFO (Last In First Out), từc việc thêm 1 đối tượng vào Stack  hoặc lấy 1 đối tượng ra khỏi Stack được thực hiện theo cơ chế “vào sau ra trước”</a:t>
            </a:r>
            <a:endParaRPr/>
          </a:p>
          <a:p>
            <a:pPr indent="-342900" lvl="0" marL="342900" rtl="0" algn="l">
              <a:lnSpc>
                <a:spcPct val="12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Queue (hàng đợi): Là 1 vật chứa các đối tượng làm việc theo cơ chế FIFO (First In First Out), tức việc thêm 1 đối tượng vào hàng đợi hay lấy 1 đối tượng ra khỏi hàng đợi thực hiện theo cơ chế “vào trước ra trước”.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6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Ứng dụng Stack và Queue</a:t>
            </a:r>
            <a:endParaRPr/>
          </a:p>
        </p:txBody>
      </p:sp>
      <p:sp>
        <p:nvSpPr>
          <p:cNvPr id="1239" name="Google Shape;1239;p61"/>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80808"/>
              </a:buClr>
              <a:buSzPts val="3600"/>
              <a:buFont typeface="Noto Sans Symbols"/>
              <a:buChar char="⮚"/>
            </a:pPr>
            <a:r>
              <a:rPr b="0" i="0" lang="en-US" sz="3600" u="none">
                <a:solidFill>
                  <a:srgbClr val="080808"/>
                </a:solidFill>
                <a:latin typeface="Arial"/>
                <a:ea typeface="Arial"/>
                <a:cs typeface="Arial"/>
                <a:sym typeface="Arial"/>
              </a:rPr>
              <a:t>Stack:</a:t>
            </a:r>
            <a:endParaRPr/>
          </a:p>
          <a:p>
            <a:pPr indent="-285750" lvl="1" marL="742950" rtl="0" algn="l">
              <a:lnSpc>
                <a:spcPct val="100000"/>
              </a:lnSpc>
              <a:spcBef>
                <a:spcPts val="640"/>
              </a:spcBef>
              <a:spcAft>
                <a:spcPts val="0"/>
              </a:spcAft>
              <a:buClr>
                <a:srgbClr val="080808"/>
              </a:buClr>
              <a:buSzPts val="3200"/>
              <a:buFont typeface="Noto Sans Symbols"/>
              <a:buChar char="▪"/>
            </a:pPr>
            <a:r>
              <a:rPr b="0" i="0" lang="en-US" sz="3200" u="none">
                <a:solidFill>
                  <a:srgbClr val="080808"/>
                </a:solidFill>
                <a:latin typeface="Arial"/>
                <a:ea typeface="Arial"/>
                <a:cs typeface="Arial"/>
                <a:sym typeface="Arial"/>
              </a:rPr>
              <a:t>Trình biên dịch</a:t>
            </a:r>
            <a:endParaRPr/>
          </a:p>
          <a:p>
            <a:pPr indent="-285750" lvl="1" marL="742950" rtl="0" algn="l">
              <a:lnSpc>
                <a:spcPct val="100000"/>
              </a:lnSpc>
              <a:spcBef>
                <a:spcPts val="640"/>
              </a:spcBef>
              <a:spcAft>
                <a:spcPts val="0"/>
              </a:spcAft>
              <a:buClr>
                <a:srgbClr val="080808"/>
              </a:buClr>
              <a:buSzPts val="3200"/>
              <a:buFont typeface="Noto Sans Symbols"/>
              <a:buChar char="▪"/>
            </a:pPr>
            <a:r>
              <a:rPr b="0" i="0" lang="en-US" sz="3200" u="none">
                <a:solidFill>
                  <a:srgbClr val="080808"/>
                </a:solidFill>
                <a:latin typeface="Arial"/>
                <a:ea typeface="Arial"/>
                <a:cs typeface="Arial"/>
                <a:sym typeface="Arial"/>
              </a:rPr>
              <a:t>Khử đệ qui đuôi</a:t>
            </a:r>
            <a:endParaRPr/>
          </a:p>
          <a:p>
            <a:pPr indent="-285750" lvl="1" marL="742950" rtl="0" algn="l">
              <a:lnSpc>
                <a:spcPct val="100000"/>
              </a:lnSpc>
              <a:spcBef>
                <a:spcPts val="640"/>
              </a:spcBef>
              <a:spcAft>
                <a:spcPts val="0"/>
              </a:spcAft>
              <a:buClr>
                <a:srgbClr val="080808"/>
              </a:buClr>
              <a:buSzPts val="3200"/>
              <a:buFont typeface="Noto Sans Symbols"/>
              <a:buChar char="▪"/>
            </a:pPr>
            <a:r>
              <a:rPr b="0" i="0" lang="en-US" sz="3200" u="none">
                <a:solidFill>
                  <a:srgbClr val="080808"/>
                </a:solidFill>
                <a:latin typeface="Arial"/>
                <a:ea typeface="Arial"/>
                <a:cs typeface="Arial"/>
                <a:sym typeface="Arial"/>
              </a:rPr>
              <a:t>Lưu vết các quá trình quay lui, vét cạn</a:t>
            </a:r>
            <a:endParaRPr/>
          </a:p>
          <a:p>
            <a:pPr indent="-342900" lvl="0" marL="342900" rtl="0" algn="l">
              <a:lnSpc>
                <a:spcPct val="100000"/>
              </a:lnSpc>
              <a:spcBef>
                <a:spcPts val="720"/>
              </a:spcBef>
              <a:spcAft>
                <a:spcPts val="0"/>
              </a:spcAft>
              <a:buClr>
                <a:srgbClr val="080808"/>
              </a:buClr>
              <a:buSzPts val="3600"/>
              <a:buFont typeface="Noto Sans Symbols"/>
              <a:buChar char="⮚"/>
            </a:pPr>
            <a:r>
              <a:rPr b="0" i="0" lang="en-US" sz="3600" u="none">
                <a:solidFill>
                  <a:srgbClr val="080808"/>
                </a:solidFill>
                <a:latin typeface="Arial"/>
                <a:ea typeface="Arial"/>
                <a:cs typeface="Arial"/>
                <a:sym typeface="Arial"/>
              </a:rPr>
              <a:t>Queue:</a:t>
            </a:r>
            <a:endParaRPr/>
          </a:p>
          <a:p>
            <a:pPr indent="-285750" lvl="1" marL="742950" rtl="0" algn="just">
              <a:lnSpc>
                <a:spcPct val="100000"/>
              </a:lnSpc>
              <a:spcBef>
                <a:spcPts val="560"/>
              </a:spcBef>
              <a:spcAft>
                <a:spcPts val="0"/>
              </a:spcAft>
              <a:buClr>
                <a:schemeClr val="hlink"/>
              </a:buClr>
              <a:buSzPts val="2800"/>
              <a:buFont typeface="Noto Sans Symbols"/>
              <a:buChar char="▪"/>
            </a:pPr>
            <a:r>
              <a:rPr b="0" i="0" lang="en-US" sz="2800" u="none">
                <a:solidFill>
                  <a:srgbClr val="080808"/>
                </a:solidFill>
                <a:latin typeface="Arial"/>
                <a:ea typeface="Arial"/>
                <a:cs typeface="Arial"/>
                <a:sym typeface="Arial"/>
              </a:rPr>
              <a:t> Tổ chức lưu vết các quá trình tìm kiếm theo chiều rộng, và quay lui vét cạn,</a:t>
            </a:r>
            <a:endParaRPr/>
          </a:p>
          <a:p>
            <a:pPr indent="-285750" lvl="1" marL="742950" rtl="0" algn="just">
              <a:lnSpc>
                <a:spcPct val="100000"/>
              </a:lnSpc>
              <a:spcBef>
                <a:spcPts val="560"/>
              </a:spcBef>
              <a:spcAft>
                <a:spcPts val="0"/>
              </a:spcAft>
              <a:buClr>
                <a:schemeClr val="hlink"/>
              </a:buClr>
              <a:buSzPts val="2800"/>
              <a:buFont typeface="Noto Sans Symbols"/>
              <a:buChar char="▪"/>
            </a:pPr>
            <a:r>
              <a:rPr b="0" i="0" lang="en-US" sz="2800" u="none">
                <a:solidFill>
                  <a:srgbClr val="080808"/>
                </a:solidFill>
                <a:latin typeface="Arial"/>
                <a:ea typeface="Arial"/>
                <a:cs typeface="Arial"/>
                <a:sym typeface="Arial"/>
              </a:rPr>
              <a:t>Tổ chức quản lý và phân phối tiến trình trong các </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   hệ điều hành, </a:t>
            </a:r>
            <a:endParaRPr/>
          </a:p>
          <a:p>
            <a:pPr indent="-285750" lvl="1" marL="742950" rtl="0" algn="just">
              <a:lnSpc>
                <a:spcPct val="100000"/>
              </a:lnSpc>
              <a:spcBef>
                <a:spcPts val="560"/>
              </a:spcBef>
              <a:spcAft>
                <a:spcPts val="0"/>
              </a:spcAft>
              <a:buClr>
                <a:schemeClr val="hlink"/>
              </a:buClr>
              <a:buSzPts val="2800"/>
              <a:buFont typeface="Noto Sans Symbols"/>
              <a:buChar char="▪"/>
            </a:pPr>
            <a:r>
              <a:rPr b="0" i="0" lang="en-US" sz="2800" u="none">
                <a:solidFill>
                  <a:srgbClr val="080808"/>
                </a:solidFill>
                <a:latin typeface="Arial"/>
                <a:ea typeface="Arial"/>
                <a:cs typeface="Arial"/>
                <a:sym typeface="Arial"/>
              </a:rPr>
              <a:t>Tổ chức bộ đệm bàn phím,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6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thao tác trên Stack</a:t>
            </a:r>
            <a:endParaRPr/>
          </a:p>
        </p:txBody>
      </p:sp>
      <p:sp>
        <p:nvSpPr>
          <p:cNvPr id="1245" name="Google Shape;1245;p62"/>
          <p:cNvSpPr txBox="1"/>
          <p:nvPr>
            <p:ph idx="1" type="body"/>
          </p:nvPr>
        </p:nvSpPr>
        <p:spPr>
          <a:xfrm>
            <a:off x="776287" y="1557337"/>
            <a:ext cx="9129712" cy="3959225"/>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Push(o): Thêm đối tượng o vào Stack</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Pop(): Lấy đối tượng từ Stack</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isEmpty(): Kiểm tra Stack có rỗng hay không</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Top():  Trả về giá trị của phần tử nằm đầu Stack mà không hủy nó khỏi Stack.</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6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Stack</a:t>
            </a:r>
            <a:endParaRPr/>
          </a:p>
        </p:txBody>
      </p:sp>
      <p:graphicFrame>
        <p:nvGraphicFramePr>
          <p:cNvPr id="1251" name="Google Shape;1251;p63"/>
          <p:cNvGraphicFramePr/>
          <p:nvPr/>
        </p:nvGraphicFramePr>
        <p:xfrm>
          <a:off x="1136650" y="1773237"/>
          <a:ext cx="6911975" cy="1008062"/>
        </p:xfrm>
        <a:graphic>
          <a:graphicData uri="http://schemas.openxmlformats.org/presentationml/2006/ole">
            <mc:AlternateContent>
              <mc:Choice Requires="v">
                <p:oleObj r:id="rId4" imgH="1008062" imgW="6911975" progId="MSDraw.Drawing.8.1" spid="_x0000_s1">
                  <p:embed/>
                </p:oleObj>
              </mc:Choice>
              <mc:Fallback>
                <p:oleObj r:id="rId5" imgH="1008062" imgW="6911975" progId="MSDraw.Drawing.8.1">
                  <p:embed/>
                  <p:pic>
                    <p:nvPicPr>
                      <p:cNvPr id="1251" name="Google Shape;1251;p63"/>
                      <p:cNvPicPr preferRelativeResize="0"/>
                      <p:nvPr>
                        <p:ph idx="1" type="body"/>
                      </p:nvPr>
                    </p:nvPicPr>
                    <p:blipFill rotWithShape="1">
                      <a:blip r:embed="rId6">
                        <a:alphaModFix/>
                      </a:blip>
                      <a:srcRect b="0" l="0" r="0" t="0"/>
                      <a:stretch/>
                    </p:blipFill>
                    <p:spPr>
                      <a:xfrm>
                        <a:off x="1136650" y="1773237"/>
                        <a:ext cx="6911975" cy="1008062"/>
                      </a:xfrm>
                      <a:prstGeom prst="rect">
                        <a:avLst/>
                      </a:prstGeom>
                      <a:noFill/>
                      <a:ln>
                        <a:noFill/>
                      </a:ln>
                    </p:spPr>
                  </p:pic>
                </p:oleObj>
              </mc:Fallback>
            </mc:AlternateContent>
          </a:graphicData>
        </a:graphic>
      </p:graphicFrame>
      <p:sp>
        <p:nvSpPr>
          <p:cNvPr id="1252" name="Google Shape;1252;p63"/>
          <p:cNvSpPr txBox="1"/>
          <p:nvPr/>
        </p:nvSpPr>
        <p:spPr>
          <a:xfrm>
            <a:off x="849312" y="981075"/>
            <a:ext cx="504031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Dùng mảng 1 chiều</a:t>
            </a:r>
            <a:endParaRPr/>
          </a:p>
        </p:txBody>
      </p:sp>
      <p:sp>
        <p:nvSpPr>
          <p:cNvPr id="1253" name="Google Shape;1253;p63"/>
          <p:cNvSpPr txBox="1"/>
          <p:nvPr/>
        </p:nvSpPr>
        <p:spPr>
          <a:xfrm>
            <a:off x="849312" y="3716337"/>
            <a:ext cx="56165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Dùng danh sách liên kết đơn</a:t>
            </a:r>
            <a:endParaRPr/>
          </a:p>
        </p:txBody>
      </p:sp>
      <p:grpSp>
        <p:nvGrpSpPr>
          <p:cNvPr id="1254" name="Google Shape;1254;p63"/>
          <p:cNvGrpSpPr/>
          <p:nvPr/>
        </p:nvGrpSpPr>
        <p:grpSpPr>
          <a:xfrm>
            <a:off x="920750" y="4221162"/>
            <a:ext cx="7345362" cy="876300"/>
            <a:chOff x="580" y="2614"/>
            <a:chExt cx="4230" cy="552"/>
          </a:xfrm>
        </p:grpSpPr>
        <p:sp>
          <p:nvSpPr>
            <p:cNvPr id="1255" name="Google Shape;1255;p63"/>
            <p:cNvSpPr txBox="1"/>
            <p:nvPr/>
          </p:nvSpPr>
          <p:spPr>
            <a:xfrm>
              <a:off x="4669" y="2912"/>
              <a:ext cx="141" cy="155"/>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256" name="Google Shape;1256;p63"/>
            <p:cNvGrpSpPr/>
            <p:nvPr/>
          </p:nvGrpSpPr>
          <p:grpSpPr>
            <a:xfrm>
              <a:off x="1871" y="2795"/>
              <a:ext cx="387" cy="371"/>
              <a:chOff x="2640" y="2681"/>
              <a:chExt cx="648" cy="419"/>
            </a:xfrm>
          </p:grpSpPr>
          <p:sp>
            <p:nvSpPr>
              <p:cNvPr id="1257" name="Google Shape;1257;p63"/>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8" name="Google Shape;1258;p63"/>
              <p:cNvSpPr txBox="1"/>
              <p:nvPr/>
            </p:nvSpPr>
            <p:spPr>
              <a:xfrm>
                <a:off x="2640" y="2681"/>
                <a:ext cx="507" cy="419"/>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grpSp>
        <p:grpSp>
          <p:nvGrpSpPr>
            <p:cNvPr id="1259" name="Google Shape;1259;p63"/>
            <p:cNvGrpSpPr/>
            <p:nvPr/>
          </p:nvGrpSpPr>
          <p:grpSpPr>
            <a:xfrm>
              <a:off x="2440" y="2795"/>
              <a:ext cx="408" cy="371"/>
              <a:chOff x="3524" y="2681"/>
              <a:chExt cx="641" cy="423"/>
            </a:xfrm>
          </p:grpSpPr>
          <p:sp>
            <p:nvSpPr>
              <p:cNvPr id="1260" name="Google Shape;1260;p63"/>
              <p:cNvSpPr txBox="1"/>
              <p:nvPr/>
            </p:nvSpPr>
            <p:spPr>
              <a:xfrm>
                <a:off x="402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1" name="Google Shape;1261;p63"/>
              <p:cNvSpPr txBox="1"/>
              <p:nvPr/>
            </p:nvSpPr>
            <p:spPr>
              <a:xfrm>
                <a:off x="3524" y="2681"/>
                <a:ext cx="506"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a:t>
                </a:r>
                <a:endParaRPr/>
              </a:p>
            </p:txBody>
          </p:sp>
        </p:grpSp>
        <p:grpSp>
          <p:nvGrpSpPr>
            <p:cNvPr id="1262" name="Google Shape;1262;p63"/>
            <p:cNvGrpSpPr/>
            <p:nvPr/>
          </p:nvGrpSpPr>
          <p:grpSpPr>
            <a:xfrm>
              <a:off x="3000" y="2795"/>
              <a:ext cx="392" cy="371"/>
              <a:chOff x="4409" y="2681"/>
              <a:chExt cx="640" cy="423"/>
            </a:xfrm>
          </p:grpSpPr>
          <p:sp>
            <p:nvSpPr>
              <p:cNvPr id="1263" name="Google Shape;1263;p63"/>
              <p:cNvSpPr txBox="1"/>
              <p:nvPr/>
            </p:nvSpPr>
            <p:spPr>
              <a:xfrm>
                <a:off x="4911"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4" name="Google Shape;1264;p63"/>
              <p:cNvSpPr txBox="1"/>
              <p:nvPr/>
            </p:nvSpPr>
            <p:spPr>
              <a:xfrm>
                <a:off x="4409" y="2681"/>
                <a:ext cx="508"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1</a:t>
                </a:r>
                <a:endParaRPr/>
              </a:p>
            </p:txBody>
          </p:sp>
        </p:grpSp>
        <p:grpSp>
          <p:nvGrpSpPr>
            <p:cNvPr id="1265" name="Google Shape;1265;p63"/>
            <p:cNvGrpSpPr/>
            <p:nvPr/>
          </p:nvGrpSpPr>
          <p:grpSpPr>
            <a:xfrm>
              <a:off x="3558" y="2795"/>
              <a:ext cx="424" cy="371"/>
              <a:chOff x="5283" y="2681"/>
              <a:chExt cx="642" cy="423"/>
            </a:xfrm>
          </p:grpSpPr>
          <p:sp>
            <p:nvSpPr>
              <p:cNvPr id="1266" name="Google Shape;1266;p63"/>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7" name="Google Shape;1267;p63"/>
              <p:cNvSpPr txBox="1"/>
              <p:nvPr/>
            </p:nvSpPr>
            <p:spPr>
              <a:xfrm>
                <a:off x="5283" y="2681"/>
                <a:ext cx="510"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grpSp>
        <p:grpSp>
          <p:nvGrpSpPr>
            <p:cNvPr id="1268" name="Google Shape;1268;p63"/>
            <p:cNvGrpSpPr/>
            <p:nvPr/>
          </p:nvGrpSpPr>
          <p:grpSpPr>
            <a:xfrm>
              <a:off x="4121" y="2795"/>
              <a:ext cx="405" cy="371"/>
              <a:chOff x="6167" y="2681"/>
              <a:chExt cx="640" cy="423"/>
            </a:xfrm>
          </p:grpSpPr>
          <p:sp>
            <p:nvSpPr>
              <p:cNvPr id="1269" name="Google Shape;1269;p63"/>
              <p:cNvSpPr txBox="1"/>
              <p:nvPr/>
            </p:nvSpPr>
            <p:spPr>
              <a:xfrm>
                <a:off x="6669"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0" name="Google Shape;1270;p63"/>
              <p:cNvSpPr txBox="1"/>
              <p:nvPr/>
            </p:nvSpPr>
            <p:spPr>
              <a:xfrm>
                <a:off x="6167" y="2681"/>
                <a:ext cx="506"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a:t>
                </a:r>
                <a:endParaRPr/>
              </a:p>
            </p:txBody>
          </p:sp>
        </p:grpSp>
        <p:cxnSp>
          <p:nvCxnSpPr>
            <p:cNvPr id="1271" name="Google Shape;1271;p63"/>
            <p:cNvCxnSpPr/>
            <p:nvPr/>
          </p:nvCxnSpPr>
          <p:spPr>
            <a:xfrm>
              <a:off x="2802" y="2969"/>
              <a:ext cx="197" cy="7"/>
            </a:xfrm>
            <a:prstGeom prst="straightConnector1">
              <a:avLst/>
            </a:prstGeom>
            <a:noFill/>
            <a:ln cap="flat" cmpd="sng" w="9525">
              <a:solidFill>
                <a:schemeClr val="dk1"/>
              </a:solidFill>
              <a:prstDash val="solid"/>
              <a:miter lim="800000"/>
              <a:headEnd len="med" w="med" type="oval"/>
              <a:tailEnd len="med" w="med" type="stealth"/>
            </a:ln>
          </p:spPr>
        </p:cxnSp>
        <p:cxnSp>
          <p:nvCxnSpPr>
            <p:cNvPr id="1272" name="Google Shape;1272;p63"/>
            <p:cNvCxnSpPr/>
            <p:nvPr/>
          </p:nvCxnSpPr>
          <p:spPr>
            <a:xfrm>
              <a:off x="3360" y="2976"/>
              <a:ext cx="199" cy="0"/>
            </a:xfrm>
            <a:prstGeom prst="straightConnector1">
              <a:avLst/>
            </a:prstGeom>
            <a:noFill/>
            <a:ln cap="flat" cmpd="sng" w="9525">
              <a:solidFill>
                <a:schemeClr val="dk1"/>
              </a:solidFill>
              <a:prstDash val="solid"/>
              <a:miter lim="800000"/>
              <a:headEnd len="med" w="med" type="oval"/>
              <a:tailEnd len="med" w="med" type="stealth"/>
            </a:ln>
          </p:spPr>
        </p:cxnSp>
        <p:cxnSp>
          <p:nvCxnSpPr>
            <p:cNvPr id="1273" name="Google Shape;1273;p63"/>
            <p:cNvCxnSpPr/>
            <p:nvPr/>
          </p:nvCxnSpPr>
          <p:spPr>
            <a:xfrm>
              <a:off x="3925" y="2976"/>
              <a:ext cx="199" cy="0"/>
            </a:xfrm>
            <a:prstGeom prst="straightConnector1">
              <a:avLst/>
            </a:prstGeom>
            <a:noFill/>
            <a:ln cap="flat" cmpd="sng" w="9525">
              <a:solidFill>
                <a:schemeClr val="dk1"/>
              </a:solidFill>
              <a:prstDash val="solid"/>
              <a:miter lim="800000"/>
              <a:headEnd len="med" w="med" type="oval"/>
              <a:tailEnd len="med" w="med" type="stealth"/>
            </a:ln>
          </p:spPr>
        </p:cxnSp>
        <p:cxnSp>
          <p:nvCxnSpPr>
            <p:cNvPr id="1274" name="Google Shape;1274;p63"/>
            <p:cNvCxnSpPr/>
            <p:nvPr/>
          </p:nvCxnSpPr>
          <p:spPr>
            <a:xfrm>
              <a:off x="4490" y="2989"/>
              <a:ext cx="199" cy="0"/>
            </a:xfrm>
            <a:prstGeom prst="straightConnector1">
              <a:avLst/>
            </a:prstGeom>
            <a:noFill/>
            <a:ln cap="flat" cmpd="sng" w="9525">
              <a:solidFill>
                <a:schemeClr val="dk1"/>
              </a:solidFill>
              <a:prstDash val="solid"/>
              <a:miter lim="800000"/>
              <a:headEnd len="med" w="med" type="oval"/>
              <a:tailEnd len="med" w="med" type="stealth"/>
            </a:ln>
          </p:spPr>
        </p:cxnSp>
        <p:grpSp>
          <p:nvGrpSpPr>
            <p:cNvPr id="1275" name="Google Shape;1275;p63"/>
            <p:cNvGrpSpPr/>
            <p:nvPr/>
          </p:nvGrpSpPr>
          <p:grpSpPr>
            <a:xfrm>
              <a:off x="1306" y="2795"/>
              <a:ext cx="408" cy="371"/>
              <a:chOff x="2640" y="2681"/>
              <a:chExt cx="648" cy="423"/>
            </a:xfrm>
          </p:grpSpPr>
          <p:sp>
            <p:nvSpPr>
              <p:cNvPr id="1276" name="Google Shape;1276;p63"/>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7" name="Google Shape;1277;p63"/>
              <p:cNvSpPr txBox="1"/>
              <p:nvPr/>
            </p:nvSpPr>
            <p:spPr>
              <a:xfrm>
                <a:off x="2640" y="2681"/>
                <a:ext cx="507"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a:t>
                </a:r>
                <a:endParaRPr/>
              </a:p>
            </p:txBody>
          </p:sp>
        </p:grpSp>
        <p:cxnSp>
          <p:nvCxnSpPr>
            <p:cNvPr id="1278" name="Google Shape;1278;p63"/>
            <p:cNvCxnSpPr/>
            <p:nvPr/>
          </p:nvCxnSpPr>
          <p:spPr>
            <a:xfrm>
              <a:off x="2236" y="2976"/>
              <a:ext cx="199" cy="0"/>
            </a:xfrm>
            <a:prstGeom prst="straightConnector1">
              <a:avLst/>
            </a:prstGeom>
            <a:noFill/>
            <a:ln cap="flat" cmpd="sng" w="9525">
              <a:solidFill>
                <a:schemeClr val="dk1"/>
              </a:solidFill>
              <a:prstDash val="solid"/>
              <a:miter lim="800000"/>
              <a:headEnd len="med" w="med" type="oval"/>
              <a:tailEnd len="med" w="med" type="stealth"/>
            </a:ln>
          </p:spPr>
        </p:cxnSp>
        <p:cxnSp>
          <p:nvCxnSpPr>
            <p:cNvPr id="1279" name="Google Shape;1279;p63"/>
            <p:cNvCxnSpPr/>
            <p:nvPr/>
          </p:nvCxnSpPr>
          <p:spPr>
            <a:xfrm>
              <a:off x="1671" y="2976"/>
              <a:ext cx="199" cy="0"/>
            </a:xfrm>
            <a:prstGeom prst="straightConnector1">
              <a:avLst/>
            </a:prstGeom>
            <a:noFill/>
            <a:ln cap="flat" cmpd="sng" w="9525">
              <a:solidFill>
                <a:schemeClr val="dk1"/>
              </a:solidFill>
              <a:prstDash val="solid"/>
              <a:miter lim="800000"/>
              <a:headEnd len="med" w="med" type="oval"/>
              <a:tailEnd len="med" w="med" type="stealth"/>
            </a:ln>
          </p:spPr>
        </p:cxnSp>
        <p:sp>
          <p:nvSpPr>
            <p:cNvPr id="1280" name="Google Shape;1280;p63"/>
            <p:cNvSpPr txBox="1"/>
            <p:nvPr/>
          </p:nvSpPr>
          <p:spPr>
            <a:xfrm>
              <a:off x="580" y="2614"/>
              <a:ext cx="235"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S</a:t>
              </a:r>
              <a:endParaRPr/>
            </a:p>
          </p:txBody>
        </p:sp>
        <p:cxnSp>
          <p:nvCxnSpPr>
            <p:cNvPr id="1281" name="Google Shape;1281;p63"/>
            <p:cNvCxnSpPr/>
            <p:nvPr/>
          </p:nvCxnSpPr>
          <p:spPr>
            <a:xfrm>
              <a:off x="852" y="2843"/>
              <a:ext cx="468" cy="110"/>
            </a:xfrm>
            <a:prstGeom prst="straightConnector1">
              <a:avLst/>
            </a:prstGeom>
            <a:noFill/>
            <a:ln cap="flat" cmpd="sng" w="76200">
              <a:solidFill>
                <a:schemeClr val="dk1"/>
              </a:solidFill>
              <a:prstDash val="solid"/>
              <a:miter lim="800000"/>
              <a:headEnd len="med" w="med" type="none"/>
              <a:tailEnd len="med" w="med" type="triangle"/>
            </a:ln>
          </p:spPr>
        </p:cxnSp>
      </p:grpSp>
      <p:sp>
        <p:nvSpPr>
          <p:cNvPr id="1282" name="Google Shape;1282;p63"/>
          <p:cNvSpPr txBox="1"/>
          <p:nvPr/>
        </p:nvSpPr>
        <p:spPr>
          <a:xfrm>
            <a:off x="4016375" y="2781300"/>
            <a:ext cx="273685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Data	S [N];</a:t>
            </a:r>
            <a:endParaRPr/>
          </a:p>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int	t;</a:t>
            </a:r>
            <a:endParaRPr/>
          </a:p>
        </p:txBody>
      </p:sp>
      <p:sp>
        <p:nvSpPr>
          <p:cNvPr id="1283" name="Google Shape;1283;p63"/>
          <p:cNvSpPr txBox="1"/>
          <p:nvPr/>
        </p:nvSpPr>
        <p:spPr>
          <a:xfrm>
            <a:off x="3944937" y="5516562"/>
            <a:ext cx="1871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S</a:t>
            </a:r>
            <a:endParaRPr/>
          </a:p>
        </p:txBody>
      </p:sp>
      <p:sp>
        <p:nvSpPr>
          <p:cNvPr id="1284" name="Google Shape;1284;p63"/>
          <p:cNvSpPr txBox="1"/>
          <p:nvPr/>
        </p:nvSpPr>
        <p:spPr>
          <a:xfrm>
            <a:off x="849312" y="6165850"/>
            <a:ext cx="7559675" cy="579437"/>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Arial"/>
                <a:ea typeface="Arial"/>
                <a:cs typeface="Arial"/>
                <a:sym typeface="Arial"/>
              </a:rPr>
              <a:t> </a:t>
            </a:r>
            <a:r>
              <a:rPr b="1" i="0" lang="en-US" sz="3200" u="none">
                <a:solidFill>
                  <a:schemeClr val="dk1"/>
                </a:solidFill>
                <a:latin typeface="Arial"/>
                <a:ea typeface="Arial"/>
                <a:cs typeface="Arial"/>
                <a:sym typeface="Arial"/>
              </a:rPr>
              <a:t>Thêm và hủy cùng phía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6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Stack bằng mảng 1 chiều</a:t>
            </a:r>
            <a:endParaRPr/>
          </a:p>
        </p:txBody>
      </p:sp>
      <p:sp>
        <p:nvSpPr>
          <p:cNvPr id="1290" name="Google Shape;1290;p64"/>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Noto Sans Symbols"/>
              <a:buChar char="⮚"/>
            </a:pPr>
            <a:r>
              <a:rPr b="0" i="1" lang="en-US" sz="3200" u="none">
                <a:solidFill>
                  <a:schemeClr val="dk1"/>
                </a:solidFill>
                <a:latin typeface="Arial"/>
                <a:ea typeface="Arial"/>
                <a:cs typeface="Arial"/>
                <a:sym typeface="Arial"/>
              </a:rPr>
              <a:t>Cấu trúc dữ liệu của 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typedef struct tagStack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a[max];</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}Stack;</a:t>
            </a:r>
            <a:endParaRPr/>
          </a:p>
          <a:p>
            <a:pPr indent="-342900" lvl="0" marL="342900" rtl="0" algn="l">
              <a:lnSpc>
                <a:spcPct val="100000"/>
              </a:lnSpc>
              <a:spcBef>
                <a:spcPts val="640"/>
              </a:spcBef>
              <a:spcAft>
                <a:spcPts val="0"/>
              </a:spcAft>
              <a:buClr>
                <a:schemeClr val="dk1"/>
              </a:buClr>
              <a:buSzPts val="3200"/>
              <a:buFont typeface="Noto Sans Symbols"/>
              <a:buChar char="⮚"/>
            </a:pPr>
            <a:r>
              <a:rPr b="0" i="1" lang="en-US" sz="3200" u="none">
                <a:solidFill>
                  <a:schemeClr val="dk1"/>
                </a:solidFill>
                <a:latin typeface="Arial"/>
                <a:ea typeface="Arial"/>
                <a:cs typeface="Arial"/>
                <a:sym typeface="Arial"/>
              </a:rPr>
              <a:t>Khởi tạo 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CreateStack(Stack &amp;s)</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s.t=-1;</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6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Kiểm tra tính rỗng và đầy của Stack</a:t>
            </a:r>
            <a:endParaRPr/>
          </a:p>
        </p:txBody>
      </p:sp>
      <p:sp>
        <p:nvSpPr>
          <p:cNvPr id="1296" name="Google Shape;1296;p6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int IsEmpty(Stack s)//Stack có rỗng hay không</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if(s.t==-1)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int IsFull(Stack s) //Kiểm tra Stack có đầy hay không</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if(s.t&gt;=max)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6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Stack</a:t>
            </a:r>
            <a:endParaRPr/>
          </a:p>
        </p:txBody>
      </p:sp>
      <p:sp>
        <p:nvSpPr>
          <p:cNvPr id="1302" name="Google Shape;1302;p6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int Push(Stack &amp;s, int 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if(IsFull(s)==0)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s.a[s.t]=x;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6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Stack</a:t>
            </a:r>
            <a:endParaRPr/>
          </a:p>
        </p:txBody>
      </p:sp>
      <p:sp>
        <p:nvSpPr>
          <p:cNvPr id="1308" name="Google Shape;1308;p6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int Pop(Stack &amp;s, int &amp;x)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if(IsEmpty(s)==0)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x=s.a[s.t];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6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Stack bằng danh sách liên kết</a:t>
            </a:r>
            <a:endParaRPr/>
          </a:p>
        </p:txBody>
      </p:sp>
      <p:sp>
        <p:nvSpPr>
          <p:cNvPr id="1314" name="Google Shape;1314;p6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Kiểm tra tính rỗng của Stack</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int IsEmpty(List &amp;s)</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if(s.pHead==NULL)//Stack rong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6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Stack</a:t>
            </a:r>
            <a:endParaRPr/>
          </a:p>
        </p:txBody>
      </p:sp>
      <p:sp>
        <p:nvSpPr>
          <p:cNvPr id="1320" name="Google Shape;1320;p69"/>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Push(List &amp;s,Node *Tam)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if(s.pHead==NULL)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s.pHead=Tam;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s.pTail=Tam;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Tam-&gt;pNext=s.pHead;</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s.pHead=Tam;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7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Stack</a:t>
            </a:r>
            <a:endParaRPr/>
          </a:p>
        </p:txBody>
      </p:sp>
      <p:sp>
        <p:nvSpPr>
          <p:cNvPr id="1326" name="Google Shape;1326;p70"/>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int Pop(List &amp;s,int &amp;trave)</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Node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if(IsEmpty(s)!=1)</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if(s.pHead!=NULL)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p=s.pHead;</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trave=p-&gt;Info;</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s.pHead=s.pHead-&gt;Next;</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if(s.pHead==NULL)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s.Tail=NULL;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1;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delete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0;</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7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thao tác trên Queue</a:t>
            </a:r>
            <a:endParaRPr/>
          </a:p>
        </p:txBody>
      </p:sp>
      <p:sp>
        <p:nvSpPr>
          <p:cNvPr id="1332" name="Google Shape;1332;p71"/>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EnQueue(O): Thêm đối tượng O vào cuối hàng đợi.</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DeQueue(): Lấy đối tượng ở đầu hàng đợi</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isEmpty(): Kiểm tra xem hàng đợi có rỗng hay không?</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Front(): Trả về giá trị của phần tử nằm đầu hàng đợi mà không hủy nó.</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72"/>
          <p:cNvSpPr txBox="1"/>
          <p:nvPr>
            <p:ph type="title"/>
          </p:nvPr>
        </p:nvSpPr>
        <p:spPr>
          <a:xfrm>
            <a:off x="776287" y="0"/>
            <a:ext cx="9129712"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a:t>
            </a:r>
            <a:endParaRPr/>
          </a:p>
        </p:txBody>
      </p:sp>
      <p:sp>
        <p:nvSpPr>
          <p:cNvPr id="1338" name="Google Shape;1338;p72"/>
          <p:cNvSpPr txBox="1"/>
          <p:nvPr/>
        </p:nvSpPr>
        <p:spPr>
          <a:xfrm>
            <a:off x="849312" y="981075"/>
            <a:ext cx="504031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Dùng mảng 1 chiều</a:t>
            </a:r>
            <a:endParaRPr/>
          </a:p>
        </p:txBody>
      </p:sp>
      <p:sp>
        <p:nvSpPr>
          <p:cNvPr id="1339" name="Google Shape;1339;p72"/>
          <p:cNvSpPr txBox="1"/>
          <p:nvPr/>
        </p:nvSpPr>
        <p:spPr>
          <a:xfrm>
            <a:off x="849312" y="3716337"/>
            <a:ext cx="56165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Dùng danh sách liên kết đơn</a:t>
            </a:r>
            <a:endParaRPr/>
          </a:p>
        </p:txBody>
      </p:sp>
      <p:sp>
        <p:nvSpPr>
          <p:cNvPr id="1340" name="Google Shape;1340;p72"/>
          <p:cNvSpPr txBox="1"/>
          <p:nvPr/>
        </p:nvSpPr>
        <p:spPr>
          <a:xfrm>
            <a:off x="8021637" y="4694237"/>
            <a:ext cx="244475" cy="2460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1" name="Google Shape;1341;p72"/>
          <p:cNvSpPr txBox="1"/>
          <p:nvPr/>
        </p:nvSpPr>
        <p:spPr>
          <a:xfrm>
            <a:off x="3690937" y="4508500"/>
            <a:ext cx="142875" cy="58261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2" name="Google Shape;1342;p72"/>
          <p:cNvSpPr txBox="1"/>
          <p:nvPr/>
        </p:nvSpPr>
        <p:spPr>
          <a:xfrm>
            <a:off x="3162300" y="4508500"/>
            <a:ext cx="525462"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sp>
        <p:nvSpPr>
          <p:cNvPr id="1343" name="Google Shape;1343;p72"/>
          <p:cNvSpPr txBox="1"/>
          <p:nvPr/>
        </p:nvSpPr>
        <p:spPr>
          <a:xfrm>
            <a:off x="4722812" y="4508500"/>
            <a:ext cx="158750" cy="5762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4" name="Google Shape;1344;p72"/>
          <p:cNvSpPr txBox="1"/>
          <p:nvPr/>
        </p:nvSpPr>
        <p:spPr>
          <a:xfrm>
            <a:off x="4151312" y="4508500"/>
            <a:ext cx="576262"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a:t>
            </a:r>
            <a:endParaRPr/>
          </a:p>
        </p:txBody>
      </p:sp>
      <p:grpSp>
        <p:nvGrpSpPr>
          <p:cNvPr id="1345" name="Google Shape;1345;p72"/>
          <p:cNvGrpSpPr/>
          <p:nvPr/>
        </p:nvGrpSpPr>
        <p:grpSpPr>
          <a:xfrm>
            <a:off x="5122862" y="4508500"/>
            <a:ext cx="693737" cy="588962"/>
            <a:chOff x="4409" y="2681"/>
            <a:chExt cx="640" cy="423"/>
          </a:xfrm>
        </p:grpSpPr>
        <p:sp>
          <p:nvSpPr>
            <p:cNvPr id="1346" name="Google Shape;1346;p72"/>
            <p:cNvSpPr txBox="1"/>
            <p:nvPr/>
          </p:nvSpPr>
          <p:spPr>
            <a:xfrm>
              <a:off x="4911"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7" name="Google Shape;1347;p72"/>
            <p:cNvSpPr txBox="1"/>
            <p:nvPr/>
          </p:nvSpPr>
          <p:spPr>
            <a:xfrm>
              <a:off x="4409" y="2681"/>
              <a:ext cx="508"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1</a:t>
              </a:r>
              <a:endParaRPr/>
            </a:p>
          </p:txBody>
        </p:sp>
      </p:grpSp>
      <p:grpSp>
        <p:nvGrpSpPr>
          <p:cNvPr id="1348" name="Google Shape;1348;p72"/>
          <p:cNvGrpSpPr/>
          <p:nvPr/>
        </p:nvGrpSpPr>
        <p:grpSpPr>
          <a:xfrm>
            <a:off x="6091237" y="4508500"/>
            <a:ext cx="736600" cy="588962"/>
            <a:chOff x="5283" y="2681"/>
            <a:chExt cx="642" cy="423"/>
          </a:xfrm>
        </p:grpSpPr>
        <p:sp>
          <p:nvSpPr>
            <p:cNvPr id="1349" name="Google Shape;1349;p72"/>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0" name="Google Shape;1350;p72"/>
            <p:cNvSpPr txBox="1"/>
            <p:nvPr/>
          </p:nvSpPr>
          <p:spPr>
            <a:xfrm>
              <a:off x="5283" y="2681"/>
              <a:ext cx="510"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grpSp>
      <p:grpSp>
        <p:nvGrpSpPr>
          <p:cNvPr id="1351" name="Google Shape;1351;p72"/>
          <p:cNvGrpSpPr/>
          <p:nvPr/>
        </p:nvGrpSpPr>
        <p:grpSpPr>
          <a:xfrm>
            <a:off x="7069137" y="4508500"/>
            <a:ext cx="703262" cy="588962"/>
            <a:chOff x="6167" y="2681"/>
            <a:chExt cx="640" cy="423"/>
          </a:xfrm>
        </p:grpSpPr>
        <p:sp>
          <p:nvSpPr>
            <p:cNvPr id="1352" name="Google Shape;1352;p72"/>
            <p:cNvSpPr txBox="1"/>
            <p:nvPr/>
          </p:nvSpPr>
          <p:spPr>
            <a:xfrm>
              <a:off x="6669"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3" name="Google Shape;1353;p72"/>
            <p:cNvSpPr txBox="1"/>
            <p:nvPr/>
          </p:nvSpPr>
          <p:spPr>
            <a:xfrm>
              <a:off x="6167" y="2681"/>
              <a:ext cx="506"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a:t>
              </a:r>
              <a:endParaRPr/>
            </a:p>
          </p:txBody>
        </p:sp>
      </p:grpSp>
      <p:cxnSp>
        <p:nvCxnSpPr>
          <p:cNvPr id="1354" name="Google Shape;1354;p72"/>
          <p:cNvCxnSpPr/>
          <p:nvPr/>
        </p:nvCxnSpPr>
        <p:spPr>
          <a:xfrm>
            <a:off x="4779962" y="4784725"/>
            <a:ext cx="341312" cy="11112"/>
          </a:xfrm>
          <a:prstGeom prst="straightConnector1">
            <a:avLst/>
          </a:prstGeom>
          <a:noFill/>
          <a:ln cap="flat" cmpd="sng" w="9525">
            <a:solidFill>
              <a:schemeClr val="dk1"/>
            </a:solidFill>
            <a:prstDash val="solid"/>
            <a:miter lim="800000"/>
            <a:headEnd len="med" w="med" type="oval"/>
            <a:tailEnd len="med" w="med" type="stealth"/>
          </a:ln>
        </p:spPr>
      </p:cxnSp>
      <p:cxnSp>
        <p:nvCxnSpPr>
          <p:cNvPr id="1355" name="Google Shape;1355;p72"/>
          <p:cNvCxnSpPr/>
          <p:nvPr/>
        </p:nvCxnSpPr>
        <p:spPr>
          <a:xfrm>
            <a:off x="5748337"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1356" name="Google Shape;1356;p72"/>
          <p:cNvCxnSpPr/>
          <p:nvPr/>
        </p:nvCxnSpPr>
        <p:spPr>
          <a:xfrm>
            <a:off x="6729412"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1357" name="Google Shape;1357;p72"/>
          <p:cNvCxnSpPr/>
          <p:nvPr/>
        </p:nvCxnSpPr>
        <p:spPr>
          <a:xfrm>
            <a:off x="7710487" y="4816475"/>
            <a:ext cx="346075" cy="0"/>
          </a:xfrm>
          <a:prstGeom prst="straightConnector1">
            <a:avLst/>
          </a:prstGeom>
          <a:noFill/>
          <a:ln cap="flat" cmpd="sng" w="9525">
            <a:solidFill>
              <a:schemeClr val="dk1"/>
            </a:solidFill>
            <a:prstDash val="solid"/>
            <a:miter lim="800000"/>
            <a:headEnd len="med" w="med" type="oval"/>
            <a:tailEnd len="med" w="med" type="stealth"/>
          </a:ln>
        </p:spPr>
      </p:cxnSp>
      <p:grpSp>
        <p:nvGrpSpPr>
          <p:cNvPr id="1358" name="Google Shape;1358;p72"/>
          <p:cNvGrpSpPr/>
          <p:nvPr/>
        </p:nvGrpSpPr>
        <p:grpSpPr>
          <a:xfrm>
            <a:off x="2181225" y="4508500"/>
            <a:ext cx="708025" cy="588962"/>
            <a:chOff x="2640" y="2681"/>
            <a:chExt cx="648" cy="423"/>
          </a:xfrm>
        </p:grpSpPr>
        <p:sp>
          <p:nvSpPr>
            <p:cNvPr id="1359" name="Google Shape;1359;p72"/>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0" name="Google Shape;1360;p72"/>
            <p:cNvSpPr txBox="1"/>
            <p:nvPr/>
          </p:nvSpPr>
          <p:spPr>
            <a:xfrm>
              <a:off x="2640" y="2681"/>
              <a:ext cx="507"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a:t>
              </a:r>
              <a:endParaRPr/>
            </a:p>
          </p:txBody>
        </p:sp>
      </p:grpSp>
      <p:cxnSp>
        <p:nvCxnSpPr>
          <p:cNvPr id="1361" name="Google Shape;1361;p72"/>
          <p:cNvCxnSpPr/>
          <p:nvPr/>
        </p:nvCxnSpPr>
        <p:spPr>
          <a:xfrm>
            <a:off x="3795712"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1362" name="Google Shape;1362;p72"/>
          <p:cNvCxnSpPr/>
          <p:nvPr/>
        </p:nvCxnSpPr>
        <p:spPr>
          <a:xfrm>
            <a:off x="2814637" y="4795837"/>
            <a:ext cx="346075" cy="0"/>
          </a:xfrm>
          <a:prstGeom prst="straightConnector1">
            <a:avLst/>
          </a:prstGeom>
          <a:noFill/>
          <a:ln cap="flat" cmpd="sng" w="9525">
            <a:solidFill>
              <a:schemeClr val="dk1"/>
            </a:solidFill>
            <a:prstDash val="solid"/>
            <a:miter lim="800000"/>
            <a:headEnd len="med" w="med" type="oval"/>
            <a:tailEnd len="med" w="med" type="stealth"/>
          </a:ln>
        </p:spPr>
      </p:cxnSp>
      <p:sp>
        <p:nvSpPr>
          <p:cNvPr id="1363" name="Google Shape;1363;p72"/>
          <p:cNvSpPr txBox="1"/>
          <p:nvPr/>
        </p:nvSpPr>
        <p:spPr>
          <a:xfrm>
            <a:off x="1639887" y="5661025"/>
            <a:ext cx="1143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Head</a:t>
            </a:r>
            <a:endParaRPr/>
          </a:p>
        </p:txBody>
      </p:sp>
      <p:cxnSp>
        <p:nvCxnSpPr>
          <p:cNvPr id="1364" name="Google Shape;1364;p72"/>
          <p:cNvCxnSpPr/>
          <p:nvPr/>
        </p:nvCxnSpPr>
        <p:spPr>
          <a:xfrm rot="10800000">
            <a:off x="2289175" y="5084762"/>
            <a:ext cx="0" cy="576262"/>
          </a:xfrm>
          <a:prstGeom prst="straightConnector1">
            <a:avLst/>
          </a:prstGeom>
          <a:noFill/>
          <a:ln cap="flat" cmpd="sng" w="76200">
            <a:solidFill>
              <a:schemeClr val="dk1"/>
            </a:solidFill>
            <a:prstDash val="solid"/>
            <a:miter lim="800000"/>
            <a:headEnd len="med" w="med" type="none"/>
            <a:tailEnd len="med" w="med" type="triangle"/>
          </a:ln>
        </p:spPr>
      </p:cxnSp>
      <p:sp>
        <p:nvSpPr>
          <p:cNvPr id="1365" name="Google Shape;1365;p72"/>
          <p:cNvSpPr txBox="1"/>
          <p:nvPr/>
        </p:nvSpPr>
        <p:spPr>
          <a:xfrm>
            <a:off x="4016375" y="2781300"/>
            <a:ext cx="273685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Data	S [N];</a:t>
            </a:r>
            <a:endParaRPr/>
          </a:p>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int	f,r;</a:t>
            </a:r>
            <a:endParaRPr/>
          </a:p>
        </p:txBody>
      </p:sp>
      <p:sp>
        <p:nvSpPr>
          <p:cNvPr id="1366" name="Google Shape;1366;p72"/>
          <p:cNvSpPr txBox="1"/>
          <p:nvPr/>
        </p:nvSpPr>
        <p:spPr>
          <a:xfrm>
            <a:off x="3944937" y="5516562"/>
            <a:ext cx="1871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Q</a:t>
            </a:r>
            <a:endParaRPr/>
          </a:p>
        </p:txBody>
      </p:sp>
      <p:sp>
        <p:nvSpPr>
          <p:cNvPr id="1367" name="Google Shape;1367;p72"/>
          <p:cNvSpPr txBox="1"/>
          <p:nvPr/>
        </p:nvSpPr>
        <p:spPr>
          <a:xfrm>
            <a:off x="849312" y="6165850"/>
            <a:ext cx="7559675"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1" i="0" lang="en-US" sz="3600" u="none">
                <a:solidFill>
                  <a:schemeClr val="dk1"/>
                </a:solidFill>
                <a:latin typeface="Arial"/>
                <a:ea typeface="Arial"/>
                <a:cs typeface="Arial"/>
                <a:sym typeface="Arial"/>
              </a:rPr>
              <a:t>Thêm và hủy Kh</a:t>
            </a:r>
            <a:r>
              <a:rPr b="1" i="0" lang="en-US" sz="3200" u="none">
                <a:solidFill>
                  <a:schemeClr val="dk1"/>
                </a:solidFill>
                <a:latin typeface="Arial"/>
                <a:ea typeface="Arial"/>
                <a:cs typeface="Arial"/>
                <a:sym typeface="Arial"/>
              </a:rPr>
              <a:t>ác</a:t>
            </a:r>
            <a:r>
              <a:rPr b="1" i="0" lang="en-US" sz="3600" u="none">
                <a:solidFill>
                  <a:schemeClr val="dk1"/>
                </a:solidFill>
                <a:latin typeface="Arial"/>
                <a:ea typeface="Arial"/>
                <a:cs typeface="Arial"/>
                <a:sym typeface="Arial"/>
              </a:rPr>
              <a:t> phía</a:t>
            </a:r>
            <a:endParaRPr/>
          </a:p>
        </p:txBody>
      </p:sp>
      <p:graphicFrame>
        <p:nvGraphicFramePr>
          <p:cNvPr id="1368" name="Google Shape;1368;p72"/>
          <p:cNvGraphicFramePr/>
          <p:nvPr/>
        </p:nvGraphicFramePr>
        <p:xfrm>
          <a:off x="1208087" y="1700212"/>
          <a:ext cx="7775575" cy="920750"/>
        </p:xfrm>
        <a:graphic>
          <a:graphicData uri="http://schemas.openxmlformats.org/presentationml/2006/ole">
            <mc:AlternateContent>
              <mc:Choice Requires="v">
                <p:oleObj r:id="rId4" imgH="920750" imgW="7775575" progId="MSDraw.Drawing.8.1" spid="_x0000_s1">
                  <p:embed/>
                </p:oleObj>
              </mc:Choice>
              <mc:Fallback>
                <p:oleObj r:id="rId5" imgH="920750" imgW="7775575" progId="MSDraw.Drawing.8.1">
                  <p:embed/>
                  <p:pic>
                    <p:nvPicPr>
                      <p:cNvPr id="1368" name="Google Shape;1368;p72"/>
                      <p:cNvPicPr preferRelativeResize="0"/>
                      <p:nvPr>
                        <p:ph idx="1" type="body"/>
                      </p:nvPr>
                    </p:nvPicPr>
                    <p:blipFill rotWithShape="1">
                      <a:blip r:embed="rId6">
                        <a:alphaModFix/>
                      </a:blip>
                      <a:srcRect b="0" l="0" r="0" t="0"/>
                      <a:stretch/>
                    </p:blipFill>
                    <p:spPr>
                      <a:xfrm>
                        <a:off x="1208087" y="1700212"/>
                        <a:ext cx="7775575" cy="920750"/>
                      </a:xfrm>
                      <a:prstGeom prst="rect">
                        <a:avLst/>
                      </a:prstGeom>
                      <a:noFill/>
                      <a:ln>
                        <a:noFill/>
                      </a:ln>
                    </p:spPr>
                  </p:pic>
                </p:oleObj>
              </mc:Fallback>
            </mc:AlternateContent>
          </a:graphicData>
        </a:graphic>
      </p:graphicFrame>
      <p:sp>
        <p:nvSpPr>
          <p:cNvPr id="1369" name="Google Shape;1369;p72"/>
          <p:cNvSpPr txBox="1"/>
          <p:nvPr/>
        </p:nvSpPr>
        <p:spPr>
          <a:xfrm>
            <a:off x="6608762" y="5661025"/>
            <a:ext cx="8905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Tail</a:t>
            </a:r>
            <a:endParaRPr/>
          </a:p>
        </p:txBody>
      </p:sp>
      <p:cxnSp>
        <p:nvCxnSpPr>
          <p:cNvPr id="1370" name="Google Shape;1370;p72"/>
          <p:cNvCxnSpPr/>
          <p:nvPr/>
        </p:nvCxnSpPr>
        <p:spPr>
          <a:xfrm rot="10800000">
            <a:off x="7258050" y="5084762"/>
            <a:ext cx="0" cy="576262"/>
          </a:xfrm>
          <a:prstGeom prst="straightConnector1">
            <a:avLst/>
          </a:prstGeom>
          <a:noFill/>
          <a:ln cap="flat" cmpd="sng" w="76200">
            <a:solidFill>
              <a:schemeClr val="dk1"/>
            </a:solidFill>
            <a:prstDash val="solid"/>
            <a:miter lim="800000"/>
            <a:headEnd len="med" w="med" type="none"/>
            <a:tailEnd len="med" w="med" type="triangl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7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 bằng mảng 1 chiều</a:t>
            </a:r>
            <a:endParaRPr/>
          </a:p>
        </p:txBody>
      </p:sp>
      <p:sp>
        <p:nvSpPr>
          <p:cNvPr id="1376" name="Google Shape;1376;p73"/>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Cấu trúc dữ liệu:</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typedef struct tagQueue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a[100];</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Front; //chỉ số của phần tử đầu trong 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Rear; //chỉ số của phầ tử cuối trong 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}Queue;</a:t>
            </a:r>
            <a:endParaRPr/>
          </a:p>
          <a:p>
            <a:pPr indent="-342900" lvl="0" marL="342900" rtl="0" algn="l">
              <a:lnSpc>
                <a:spcPct val="90000"/>
              </a:lnSpc>
              <a:spcBef>
                <a:spcPts val="64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Khởi tạo Queue rỗng</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CreateQueue(Queue &amp;q)</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q.Front=-1;</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q.Rear=-1;</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7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Queue</a:t>
            </a:r>
            <a:endParaRPr/>
          </a:p>
        </p:txBody>
      </p:sp>
      <p:sp>
        <p:nvSpPr>
          <p:cNvPr id="1382" name="Google Shape;1382;p74"/>
          <p:cNvSpPr txBox="1"/>
          <p:nvPr>
            <p:ph idx="1" type="body"/>
          </p:nvPr>
        </p:nvSpPr>
        <p:spPr>
          <a:xfrm>
            <a:off x="928687" y="8413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int DeQueue(Queue &amp;q,int &amp;x)</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if(q.Front!=-1)	//queue khong rong</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x=q.a[q.Front];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q.Front++;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if(q.Front&gt;q.Rear)//truong hop co mot phan tu</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q.Front=-1;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q.Rear=-1;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 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else //queue trong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printf("Queue rong");</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 0;</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7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Queue</a:t>
            </a:r>
            <a:endParaRPr/>
          </a:p>
        </p:txBody>
      </p:sp>
      <p:sp>
        <p:nvSpPr>
          <p:cNvPr id="1388" name="Google Shape;1388;p7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void EnQueue(Queue &amp;q,int x)</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int i;</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int f,r;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if(q.Rear-q.Front+1==N)//queue bi day khong the them vao duoc nua</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printf("queue day roi khong the them vao duoc nua");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else</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if(q.Front==-1)</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q.Front=0;</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q.Rear=-1;</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if(q.Rear==N-1)//Queue đầy ảo</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f=q.Front;</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r=q.Rear;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for(i=f;i&lt;=r;i++)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q.a[i-f]=q.a[i];</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q.Front=0;</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q.Rear=r-f;</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q.a[q.Rear]=x;</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t>
            </a:r>
            <a:endParaRPr/>
          </a:p>
          <a:p>
            <a:pPr indent="-254000" lvl="0" marL="342900" rtl="0" algn="l">
              <a:spcBef>
                <a:spcPts val="28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7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 bằng List</a:t>
            </a:r>
            <a:endParaRPr/>
          </a:p>
        </p:txBody>
      </p:sp>
      <p:sp>
        <p:nvSpPr>
          <p:cNvPr id="1394" name="Google Shape;1394;p7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Kiểm tra Queue có rỗng?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int IsEmpty(List &amp;Q)</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if(Q.pHead==NULL)//Queue rỗng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7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Queue</a:t>
            </a:r>
            <a:endParaRPr/>
          </a:p>
        </p:txBody>
      </p:sp>
      <p:sp>
        <p:nvSpPr>
          <p:cNvPr id="1400" name="Google Shape;1400;p77"/>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EnQueue(List &amp;Q, Node *Tam)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if(Q.pHead==NULL)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Q.pTail-&gt;Next=tam;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7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Queue</a:t>
            </a:r>
            <a:endParaRPr/>
          </a:p>
        </p:txBody>
      </p:sp>
      <p:sp>
        <p:nvSpPr>
          <p:cNvPr id="1406" name="Google Shape;1406;p7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int DeQueue(List &amp;Q,int &amp;trave)</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Node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if(IsEmpty(Q)!=1)</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if(Q.pHead!=NULL)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p=Q.pHead;</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trave=p-&gt;Info;</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Q.pHead=Q.pHead-&gt;Next;</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if(Q.pHead==NULL)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Q.pTail=NULL;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1;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delete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0;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2006-03-07T22:30:17Z</dcterms:created>
  <dc:creator>User</dc:creator>
</cp:coreProperties>
</file>