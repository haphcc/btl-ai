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37"/>
  </p:notesMasterIdLst>
  <p:sldIdLst>
    <p:sldId id="305" r:id="rId2"/>
    <p:sldId id="308" r:id="rId3"/>
    <p:sldId id="307" r:id="rId4"/>
    <p:sldId id="309" r:id="rId5"/>
    <p:sldId id="313" r:id="rId6"/>
    <p:sldId id="311" r:id="rId7"/>
    <p:sldId id="312" r:id="rId8"/>
    <p:sldId id="314" r:id="rId9"/>
    <p:sldId id="315" r:id="rId10"/>
    <p:sldId id="317" r:id="rId11"/>
    <p:sldId id="318" r:id="rId12"/>
    <p:sldId id="328" r:id="rId13"/>
    <p:sldId id="320" r:id="rId14"/>
    <p:sldId id="321" r:id="rId15"/>
    <p:sldId id="322" r:id="rId16"/>
    <p:sldId id="323" r:id="rId17"/>
    <p:sldId id="329" r:id="rId18"/>
    <p:sldId id="324" r:id="rId19"/>
    <p:sldId id="325" r:id="rId20"/>
    <p:sldId id="327" r:id="rId21"/>
    <p:sldId id="330" r:id="rId22"/>
    <p:sldId id="331" r:id="rId23"/>
    <p:sldId id="332" r:id="rId24"/>
    <p:sldId id="333" r:id="rId25"/>
    <p:sldId id="334" r:id="rId26"/>
    <p:sldId id="335" r:id="rId27"/>
    <p:sldId id="343" r:id="rId28"/>
    <p:sldId id="336" r:id="rId29"/>
    <p:sldId id="338" r:id="rId30"/>
    <p:sldId id="337" r:id="rId31"/>
    <p:sldId id="339" r:id="rId32"/>
    <p:sldId id="340" r:id="rId33"/>
    <p:sldId id="341" r:id="rId34"/>
    <p:sldId id="342" r:id="rId35"/>
    <p:sldId id="265" r:id="rId36"/>
  </p:sldIdLst>
  <p:sldSz cx="10287000" cy="6858000" type="35mm"/>
  <p:notesSz cx="6858000" cy="9144000"/>
  <p:defaultTextStyle>
    <a:defPPr>
      <a:defRPr lang="vi-VN"/>
    </a:defPPr>
    <a:lvl1pPr marL="0" algn="l" defTabSz="1041044" rtl="0" eaLnBrk="1" latinLnBrk="0" hangingPunct="1">
      <a:defRPr sz="2000" kern="1200">
        <a:solidFill>
          <a:schemeClr val="tx1"/>
        </a:solidFill>
        <a:latin typeface="+mn-lt"/>
        <a:ea typeface="+mn-ea"/>
        <a:cs typeface="+mn-cs"/>
      </a:defRPr>
    </a:lvl1pPr>
    <a:lvl2pPr marL="520522" algn="l" defTabSz="1041044" rtl="0" eaLnBrk="1" latinLnBrk="0" hangingPunct="1">
      <a:defRPr sz="2000" kern="1200">
        <a:solidFill>
          <a:schemeClr val="tx1"/>
        </a:solidFill>
        <a:latin typeface="+mn-lt"/>
        <a:ea typeface="+mn-ea"/>
        <a:cs typeface="+mn-cs"/>
      </a:defRPr>
    </a:lvl2pPr>
    <a:lvl3pPr marL="1041044" algn="l" defTabSz="1041044" rtl="0" eaLnBrk="1" latinLnBrk="0" hangingPunct="1">
      <a:defRPr sz="2000" kern="1200">
        <a:solidFill>
          <a:schemeClr val="tx1"/>
        </a:solidFill>
        <a:latin typeface="+mn-lt"/>
        <a:ea typeface="+mn-ea"/>
        <a:cs typeface="+mn-cs"/>
      </a:defRPr>
    </a:lvl3pPr>
    <a:lvl4pPr marL="1561567" algn="l" defTabSz="1041044" rtl="0" eaLnBrk="1" latinLnBrk="0" hangingPunct="1">
      <a:defRPr sz="2000" kern="1200">
        <a:solidFill>
          <a:schemeClr val="tx1"/>
        </a:solidFill>
        <a:latin typeface="+mn-lt"/>
        <a:ea typeface="+mn-ea"/>
        <a:cs typeface="+mn-cs"/>
      </a:defRPr>
    </a:lvl4pPr>
    <a:lvl5pPr marL="2082089" algn="l" defTabSz="1041044" rtl="0" eaLnBrk="1" latinLnBrk="0" hangingPunct="1">
      <a:defRPr sz="2000" kern="1200">
        <a:solidFill>
          <a:schemeClr val="tx1"/>
        </a:solidFill>
        <a:latin typeface="+mn-lt"/>
        <a:ea typeface="+mn-ea"/>
        <a:cs typeface="+mn-cs"/>
      </a:defRPr>
    </a:lvl5pPr>
    <a:lvl6pPr marL="2602611" algn="l" defTabSz="1041044" rtl="0" eaLnBrk="1" latinLnBrk="0" hangingPunct="1">
      <a:defRPr sz="2000" kern="1200">
        <a:solidFill>
          <a:schemeClr val="tx1"/>
        </a:solidFill>
        <a:latin typeface="+mn-lt"/>
        <a:ea typeface="+mn-ea"/>
        <a:cs typeface="+mn-cs"/>
      </a:defRPr>
    </a:lvl6pPr>
    <a:lvl7pPr marL="3123133" algn="l" defTabSz="1041044" rtl="0" eaLnBrk="1" latinLnBrk="0" hangingPunct="1">
      <a:defRPr sz="2000" kern="1200">
        <a:solidFill>
          <a:schemeClr val="tx1"/>
        </a:solidFill>
        <a:latin typeface="+mn-lt"/>
        <a:ea typeface="+mn-ea"/>
        <a:cs typeface="+mn-cs"/>
      </a:defRPr>
    </a:lvl7pPr>
    <a:lvl8pPr marL="3643655" algn="l" defTabSz="1041044" rtl="0" eaLnBrk="1" latinLnBrk="0" hangingPunct="1">
      <a:defRPr sz="2000" kern="1200">
        <a:solidFill>
          <a:schemeClr val="tx1"/>
        </a:solidFill>
        <a:latin typeface="+mn-lt"/>
        <a:ea typeface="+mn-ea"/>
        <a:cs typeface="+mn-cs"/>
      </a:defRPr>
    </a:lvl8pPr>
    <a:lvl9pPr marL="4164178" algn="l" defTabSz="1041044" rtl="0" eaLnBrk="1" latinLnBrk="0" hangingPunct="1">
      <a:defRPr sz="20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0000FF"/>
    <a:srgbClr val="0D8E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63" autoAdjust="0"/>
    <p:restoredTop sz="96092" autoAdjust="0"/>
  </p:normalViewPr>
  <p:slideViewPr>
    <p:cSldViewPr>
      <p:cViewPr>
        <p:scale>
          <a:sx n="50" d="100"/>
          <a:sy n="50" d="100"/>
        </p:scale>
        <p:origin x="-390" y="-72"/>
      </p:cViewPr>
      <p:guideLst>
        <p:guide orient="horz" pos="2161"/>
        <p:guide pos="3240"/>
      </p:guideLst>
    </p:cSldViewPr>
  </p:slideViewPr>
  <p:outlineViewPr>
    <p:cViewPr>
      <p:scale>
        <a:sx n="33" d="100"/>
        <a:sy n="33" d="100"/>
      </p:scale>
      <p:origin x="42" y="15264"/>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3" d="100"/>
          <a:sy n="53" d="100"/>
        </p:scale>
        <p:origin x="-282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23B086-1834-404D-BF86-D7E3742DB3C6}"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vi-VN"/>
        </a:p>
      </dgm:t>
    </dgm:pt>
    <dgm:pt modelId="{0260F488-0856-4885-BE6A-D1B3BB6C6BDE}">
      <dgm:prSet phldrT="[Text]" custT="1"/>
      <dgm:spPr/>
      <dgm:t>
        <a:bodyPr/>
        <a:lstStyle/>
        <a:p>
          <a:endParaRPr lang="en-US" sz="2000" b="1" kern="1200" smtClean="0">
            <a:solidFill>
              <a:srgbClr val="FF0066"/>
            </a:solidFill>
            <a:latin typeface="Arial" pitchFamily="34" charset="0"/>
            <a:ea typeface="+mn-ea"/>
            <a:cs typeface="Arial" pitchFamily="34" charset="0"/>
          </a:endParaRPr>
        </a:p>
        <a:p>
          <a:r>
            <a:rPr lang="en-US" sz="2000" b="1" kern="1200" smtClean="0">
              <a:solidFill>
                <a:srgbClr val="FF0066"/>
              </a:solidFill>
              <a:latin typeface="Arial" pitchFamily="34" charset="0"/>
              <a:ea typeface="+mn-ea"/>
              <a:cs typeface="Arial" pitchFamily="34" charset="0"/>
            </a:rPr>
            <a:t>Phần 1</a:t>
          </a:r>
          <a:endParaRPr lang="vi-VN" sz="2000" b="1" kern="1200">
            <a:solidFill>
              <a:srgbClr val="FF0066"/>
            </a:solidFill>
            <a:latin typeface="Arial" pitchFamily="34" charset="0"/>
            <a:ea typeface="+mn-ea"/>
            <a:cs typeface="Arial" pitchFamily="34" charset="0"/>
          </a:endParaRPr>
        </a:p>
      </dgm:t>
    </dgm:pt>
    <dgm:pt modelId="{95040FC8-2CD3-4491-88A6-2B8A429D6FC9}" type="parTrans" cxnId="{A4ACD94A-AD73-41D7-B516-A082DD498B79}">
      <dgm:prSet/>
      <dgm:spPr/>
      <dgm:t>
        <a:bodyPr/>
        <a:lstStyle/>
        <a:p>
          <a:endParaRPr lang="vi-VN"/>
        </a:p>
      </dgm:t>
    </dgm:pt>
    <dgm:pt modelId="{3EC7BCE0-88DB-4C58-B4EE-49B0B146E157}" type="sibTrans" cxnId="{A4ACD94A-AD73-41D7-B516-A082DD498B79}">
      <dgm:prSet/>
      <dgm:spPr/>
      <dgm:t>
        <a:bodyPr/>
        <a:lstStyle/>
        <a:p>
          <a:endParaRPr lang="vi-VN"/>
        </a:p>
      </dgm:t>
    </dgm:pt>
    <dgm:pt modelId="{778B28D7-5046-4E74-90E6-28410FAC41E4}">
      <dgm:prSet phldrT="[Text]" custT="1"/>
      <dgm:spPr/>
      <dgm:t>
        <a:bodyPr/>
        <a:lstStyle/>
        <a:p>
          <a:r>
            <a:rPr lang="en-US" sz="2800" b="0" kern="1200" smtClean="0">
              <a:solidFill>
                <a:schemeClr val="accent2">
                  <a:lumMod val="50000"/>
                </a:schemeClr>
              </a:solidFill>
              <a:latin typeface="+mn-lt"/>
              <a:ea typeface="+mn-ea"/>
              <a:cs typeface="Arial" pitchFamily="34" charset="0"/>
            </a:rPr>
            <a:t>Tổng quan về phát triển hệ thống thông tin</a:t>
          </a:r>
          <a:endParaRPr lang="vi-VN" sz="2800" b="0" kern="1200">
            <a:solidFill>
              <a:schemeClr val="accent2">
                <a:lumMod val="50000"/>
              </a:schemeClr>
            </a:solidFill>
            <a:latin typeface="+mn-lt"/>
            <a:ea typeface="+mn-ea"/>
            <a:cs typeface="Arial" pitchFamily="34" charset="0"/>
          </a:endParaRPr>
        </a:p>
      </dgm:t>
    </dgm:pt>
    <dgm:pt modelId="{EE6295D5-D397-4CAE-B69A-ABD00BC2ED9E}" type="parTrans" cxnId="{A1656E6D-38D8-49C0-B402-C2F46C097650}">
      <dgm:prSet/>
      <dgm:spPr/>
      <dgm:t>
        <a:bodyPr/>
        <a:lstStyle/>
        <a:p>
          <a:endParaRPr lang="vi-VN"/>
        </a:p>
      </dgm:t>
    </dgm:pt>
    <dgm:pt modelId="{91E317F6-05BD-4692-AD76-BDF81928F364}" type="sibTrans" cxnId="{A1656E6D-38D8-49C0-B402-C2F46C097650}">
      <dgm:prSet/>
      <dgm:spPr/>
      <dgm:t>
        <a:bodyPr/>
        <a:lstStyle/>
        <a:p>
          <a:endParaRPr lang="vi-VN"/>
        </a:p>
      </dgm:t>
    </dgm:pt>
    <dgm:pt modelId="{E798BC6D-45BE-44CB-8CC8-DB9C1471CA3C}">
      <dgm:prSet phldrT="[Text]" custT="1"/>
      <dgm:spPr/>
      <dgm:t>
        <a:bodyPr/>
        <a:lstStyle/>
        <a:p>
          <a:endParaRPr lang="vi-VN" sz="2000" b="1" kern="1200">
            <a:solidFill>
              <a:srgbClr val="FF0066"/>
            </a:solidFill>
            <a:latin typeface="Arial" pitchFamily="34" charset="0"/>
            <a:ea typeface="+mn-ea"/>
            <a:cs typeface="Arial" pitchFamily="34" charset="0"/>
          </a:endParaRPr>
        </a:p>
      </dgm:t>
    </dgm:pt>
    <dgm:pt modelId="{0BAFAAA6-8B3D-4D7C-B198-6A51A840F645}" type="parTrans" cxnId="{EE78EB2D-9633-458C-AA1E-B32BDFB24DD5}">
      <dgm:prSet/>
      <dgm:spPr/>
      <dgm:t>
        <a:bodyPr/>
        <a:lstStyle/>
        <a:p>
          <a:endParaRPr lang="vi-VN"/>
        </a:p>
      </dgm:t>
    </dgm:pt>
    <dgm:pt modelId="{C607F695-BB60-4E06-8B4C-02CFB151F2E8}" type="sibTrans" cxnId="{EE78EB2D-9633-458C-AA1E-B32BDFB24DD5}">
      <dgm:prSet/>
      <dgm:spPr/>
      <dgm:t>
        <a:bodyPr/>
        <a:lstStyle/>
        <a:p>
          <a:endParaRPr lang="vi-VN"/>
        </a:p>
      </dgm:t>
    </dgm:pt>
    <dgm:pt modelId="{3F099641-3016-4E36-A57C-08492461DA9E}">
      <dgm:prSet phldrT="[Text]" custT="1"/>
      <dgm:spPr/>
      <dgm:t>
        <a:bodyPr/>
        <a:lstStyle/>
        <a:p>
          <a:endParaRPr lang="vi-VN" sz="2400" kern="1200">
            <a:solidFill>
              <a:srgbClr val="FF0000"/>
            </a:solidFill>
            <a:latin typeface="+mn-lt"/>
            <a:ea typeface="+mn-ea"/>
            <a:cs typeface="Arial" pitchFamily="34" charset="0"/>
          </a:endParaRPr>
        </a:p>
      </dgm:t>
    </dgm:pt>
    <dgm:pt modelId="{1DE74F0F-71C3-427F-9BA8-88247CBD5315}" type="parTrans" cxnId="{15526149-690E-448A-A6B4-6D77B868B3D5}">
      <dgm:prSet/>
      <dgm:spPr/>
      <dgm:t>
        <a:bodyPr/>
        <a:lstStyle/>
        <a:p>
          <a:endParaRPr lang="vi-VN"/>
        </a:p>
      </dgm:t>
    </dgm:pt>
    <dgm:pt modelId="{BCB2569F-AD56-4492-872D-7BFEBE5F40D9}" type="sibTrans" cxnId="{15526149-690E-448A-A6B4-6D77B868B3D5}">
      <dgm:prSet/>
      <dgm:spPr/>
      <dgm:t>
        <a:bodyPr/>
        <a:lstStyle/>
        <a:p>
          <a:endParaRPr lang="vi-VN"/>
        </a:p>
      </dgm:t>
    </dgm:pt>
    <dgm:pt modelId="{83E18DC7-CA2C-4F21-AAB9-8F7C3D2CC03D}" type="pres">
      <dgm:prSet presAssocID="{2323B086-1834-404D-BF86-D7E3742DB3C6}" presName="linearFlow" presStyleCnt="0">
        <dgm:presLayoutVars>
          <dgm:dir/>
          <dgm:animLvl val="lvl"/>
          <dgm:resizeHandles val="exact"/>
        </dgm:presLayoutVars>
      </dgm:prSet>
      <dgm:spPr/>
      <dgm:t>
        <a:bodyPr/>
        <a:lstStyle/>
        <a:p>
          <a:endParaRPr lang="vi-VN"/>
        </a:p>
      </dgm:t>
    </dgm:pt>
    <dgm:pt modelId="{8CA3D8D9-C5D3-4B07-96B2-D57EB897391D}" type="pres">
      <dgm:prSet presAssocID="{0260F488-0856-4885-BE6A-D1B3BB6C6BDE}" presName="composite" presStyleCnt="0"/>
      <dgm:spPr/>
    </dgm:pt>
    <dgm:pt modelId="{2CC43149-30BB-41CF-A3CF-A8E9DA4C7E65}" type="pres">
      <dgm:prSet presAssocID="{0260F488-0856-4885-BE6A-D1B3BB6C6BDE}" presName="parentText" presStyleLbl="alignNode1" presStyleIdx="0" presStyleCnt="1">
        <dgm:presLayoutVars>
          <dgm:chMax val="1"/>
          <dgm:bulletEnabled val="1"/>
        </dgm:presLayoutVars>
      </dgm:prSet>
      <dgm:spPr/>
      <dgm:t>
        <a:bodyPr/>
        <a:lstStyle/>
        <a:p>
          <a:endParaRPr lang="vi-VN"/>
        </a:p>
      </dgm:t>
    </dgm:pt>
    <dgm:pt modelId="{FF0FE9B2-91E4-4688-AED9-7B41985CEB42}" type="pres">
      <dgm:prSet presAssocID="{0260F488-0856-4885-BE6A-D1B3BB6C6BDE}" presName="descendantText" presStyleLbl="alignAcc1" presStyleIdx="0" presStyleCnt="1">
        <dgm:presLayoutVars>
          <dgm:bulletEnabled val="1"/>
        </dgm:presLayoutVars>
      </dgm:prSet>
      <dgm:spPr/>
      <dgm:t>
        <a:bodyPr/>
        <a:lstStyle/>
        <a:p>
          <a:endParaRPr lang="vi-VN"/>
        </a:p>
      </dgm:t>
    </dgm:pt>
  </dgm:ptLst>
  <dgm:cxnLst>
    <dgm:cxn modelId="{ED16B1B1-B2FA-452A-8068-03E202D762B7}" type="presOf" srcId="{0260F488-0856-4885-BE6A-D1B3BB6C6BDE}" destId="{2CC43149-30BB-41CF-A3CF-A8E9DA4C7E65}" srcOrd="0" destOrd="0" presId="urn:microsoft.com/office/officeart/2005/8/layout/chevron2"/>
    <dgm:cxn modelId="{DC233F7C-E2CD-46C8-913A-2D8316E14C77}" type="presOf" srcId="{3F099641-3016-4E36-A57C-08492461DA9E}" destId="{FF0FE9B2-91E4-4688-AED9-7B41985CEB42}" srcOrd="0" destOrd="0" presId="urn:microsoft.com/office/officeart/2005/8/layout/chevron2"/>
    <dgm:cxn modelId="{586B4421-3B3B-455E-8291-AED72CCB3309}" type="presOf" srcId="{2323B086-1834-404D-BF86-D7E3742DB3C6}" destId="{83E18DC7-CA2C-4F21-AAB9-8F7C3D2CC03D}" srcOrd="0" destOrd="0" presId="urn:microsoft.com/office/officeart/2005/8/layout/chevron2"/>
    <dgm:cxn modelId="{A4ACD94A-AD73-41D7-B516-A082DD498B79}" srcId="{2323B086-1834-404D-BF86-D7E3742DB3C6}" destId="{0260F488-0856-4885-BE6A-D1B3BB6C6BDE}" srcOrd="0" destOrd="0" parTransId="{95040FC8-2CD3-4491-88A6-2B8A429D6FC9}" sibTransId="{3EC7BCE0-88DB-4C58-B4EE-49B0B146E157}"/>
    <dgm:cxn modelId="{EE78EB2D-9633-458C-AA1E-B32BDFB24DD5}" srcId="{778B28D7-5046-4E74-90E6-28410FAC41E4}" destId="{E798BC6D-45BE-44CB-8CC8-DB9C1471CA3C}" srcOrd="0" destOrd="0" parTransId="{0BAFAAA6-8B3D-4D7C-B198-6A51A840F645}" sibTransId="{C607F695-BB60-4E06-8B4C-02CFB151F2E8}"/>
    <dgm:cxn modelId="{6DE84731-F6EF-4749-A872-FE4A1BC18207}" type="presOf" srcId="{778B28D7-5046-4E74-90E6-28410FAC41E4}" destId="{FF0FE9B2-91E4-4688-AED9-7B41985CEB42}" srcOrd="0" destOrd="1" presId="urn:microsoft.com/office/officeart/2005/8/layout/chevron2"/>
    <dgm:cxn modelId="{A1656E6D-38D8-49C0-B402-C2F46C097650}" srcId="{0260F488-0856-4885-BE6A-D1B3BB6C6BDE}" destId="{778B28D7-5046-4E74-90E6-28410FAC41E4}" srcOrd="1" destOrd="0" parTransId="{EE6295D5-D397-4CAE-B69A-ABD00BC2ED9E}" sibTransId="{91E317F6-05BD-4692-AD76-BDF81928F364}"/>
    <dgm:cxn modelId="{C0C00E7F-A580-4DCC-8B5B-D6A24A51D0B7}" type="presOf" srcId="{E798BC6D-45BE-44CB-8CC8-DB9C1471CA3C}" destId="{FF0FE9B2-91E4-4688-AED9-7B41985CEB42}" srcOrd="0" destOrd="2" presId="urn:microsoft.com/office/officeart/2005/8/layout/chevron2"/>
    <dgm:cxn modelId="{15526149-690E-448A-A6B4-6D77B868B3D5}" srcId="{0260F488-0856-4885-BE6A-D1B3BB6C6BDE}" destId="{3F099641-3016-4E36-A57C-08492461DA9E}" srcOrd="0" destOrd="0" parTransId="{1DE74F0F-71C3-427F-9BA8-88247CBD5315}" sibTransId="{BCB2569F-AD56-4492-872D-7BFEBE5F40D9}"/>
    <dgm:cxn modelId="{9CFC73CC-BF3B-446C-81EA-AD7479BA8295}" type="presParOf" srcId="{83E18DC7-CA2C-4F21-AAB9-8F7C3D2CC03D}" destId="{8CA3D8D9-C5D3-4B07-96B2-D57EB897391D}" srcOrd="0" destOrd="0" presId="urn:microsoft.com/office/officeart/2005/8/layout/chevron2"/>
    <dgm:cxn modelId="{9BEC2CBB-52C6-408D-BACA-F185D766632F}" type="presParOf" srcId="{8CA3D8D9-C5D3-4B07-96B2-D57EB897391D}" destId="{2CC43149-30BB-41CF-A3CF-A8E9DA4C7E65}" srcOrd="0" destOrd="0" presId="urn:microsoft.com/office/officeart/2005/8/layout/chevron2"/>
    <dgm:cxn modelId="{89C75657-4537-4EB9-8F76-464CDC33E1BE}" type="presParOf" srcId="{8CA3D8D9-C5D3-4B07-96B2-D57EB897391D}" destId="{FF0FE9B2-91E4-4688-AED9-7B41985CEB42}"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C43149-30BB-41CF-A3CF-A8E9DA4C7E65}">
      <dsp:nvSpPr>
        <dsp:cNvPr id="0" name=""/>
        <dsp:cNvSpPr/>
      </dsp:nvSpPr>
      <dsp:spPr>
        <a:xfrm rot="5400000">
          <a:off x="-161701" y="162756"/>
          <a:ext cx="1078011" cy="754607"/>
        </a:xfrm>
        <a:prstGeom prst="chevron">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endParaRPr lang="en-US" sz="2000" b="1" kern="1200" smtClean="0">
            <a:solidFill>
              <a:srgbClr val="FF0066"/>
            </a:solidFill>
            <a:latin typeface="Arial" pitchFamily="34" charset="0"/>
            <a:ea typeface="+mn-ea"/>
            <a:cs typeface="Arial" pitchFamily="34" charset="0"/>
          </a:endParaRPr>
        </a:p>
        <a:p>
          <a:pPr lvl="0" algn="ctr" defTabSz="889000">
            <a:lnSpc>
              <a:spcPct val="90000"/>
            </a:lnSpc>
            <a:spcBef>
              <a:spcPct val="0"/>
            </a:spcBef>
            <a:spcAft>
              <a:spcPct val="35000"/>
            </a:spcAft>
          </a:pPr>
          <a:r>
            <a:rPr lang="en-US" sz="2000" b="1" kern="1200" smtClean="0">
              <a:solidFill>
                <a:srgbClr val="FF0066"/>
              </a:solidFill>
              <a:latin typeface="Arial" pitchFamily="34" charset="0"/>
              <a:ea typeface="+mn-ea"/>
              <a:cs typeface="Arial" pitchFamily="34" charset="0"/>
            </a:rPr>
            <a:t>Phần 1</a:t>
          </a:r>
          <a:endParaRPr lang="vi-VN" sz="2000" b="1" kern="1200">
            <a:solidFill>
              <a:srgbClr val="FF0066"/>
            </a:solidFill>
            <a:latin typeface="Arial" pitchFamily="34" charset="0"/>
            <a:ea typeface="+mn-ea"/>
            <a:cs typeface="Arial" pitchFamily="34" charset="0"/>
          </a:endParaRPr>
        </a:p>
      </dsp:txBody>
      <dsp:txXfrm rot="-5400000">
        <a:off x="2" y="378358"/>
        <a:ext cx="754607" cy="323404"/>
      </dsp:txXfrm>
    </dsp:sp>
    <dsp:sp modelId="{FF0FE9B2-91E4-4688-AED9-7B41985CEB42}">
      <dsp:nvSpPr>
        <dsp:cNvPr id="0" name=""/>
        <dsp:cNvSpPr/>
      </dsp:nvSpPr>
      <dsp:spPr>
        <a:xfrm rot="5400000">
          <a:off x="4131222" y="-3375559"/>
          <a:ext cx="701075" cy="7454304"/>
        </a:xfrm>
        <a:prstGeom prst="round2Same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endParaRPr lang="vi-VN" sz="2400" kern="1200">
            <a:solidFill>
              <a:srgbClr val="FF0000"/>
            </a:solidFill>
            <a:latin typeface="+mn-lt"/>
            <a:ea typeface="+mn-ea"/>
            <a:cs typeface="Arial" pitchFamily="34" charset="0"/>
          </a:endParaRPr>
        </a:p>
        <a:p>
          <a:pPr marL="285750" lvl="1" indent="-285750" algn="l" defTabSz="1244600">
            <a:lnSpc>
              <a:spcPct val="90000"/>
            </a:lnSpc>
            <a:spcBef>
              <a:spcPct val="0"/>
            </a:spcBef>
            <a:spcAft>
              <a:spcPct val="15000"/>
            </a:spcAft>
            <a:buChar char="••"/>
          </a:pPr>
          <a:r>
            <a:rPr lang="en-US" sz="2800" b="0" kern="1200" smtClean="0">
              <a:solidFill>
                <a:schemeClr val="accent2">
                  <a:lumMod val="50000"/>
                </a:schemeClr>
              </a:solidFill>
              <a:latin typeface="+mn-lt"/>
              <a:ea typeface="+mn-ea"/>
              <a:cs typeface="Arial" pitchFamily="34" charset="0"/>
            </a:rPr>
            <a:t>Tổng quan về phát triển hệ thống thông tin</a:t>
          </a:r>
          <a:endParaRPr lang="vi-VN" sz="2800" b="0" kern="1200">
            <a:solidFill>
              <a:schemeClr val="accent2">
                <a:lumMod val="50000"/>
              </a:schemeClr>
            </a:solidFill>
            <a:latin typeface="+mn-lt"/>
            <a:ea typeface="+mn-ea"/>
            <a:cs typeface="Arial" pitchFamily="34" charset="0"/>
          </a:endParaRPr>
        </a:p>
        <a:p>
          <a:pPr marL="457200" lvl="2" indent="-228600" algn="l" defTabSz="889000">
            <a:lnSpc>
              <a:spcPct val="90000"/>
            </a:lnSpc>
            <a:spcBef>
              <a:spcPct val="0"/>
            </a:spcBef>
            <a:spcAft>
              <a:spcPct val="15000"/>
            </a:spcAft>
            <a:buChar char="••"/>
          </a:pPr>
          <a:endParaRPr lang="vi-VN" sz="2000" b="1" kern="1200">
            <a:solidFill>
              <a:srgbClr val="FF0066"/>
            </a:solidFill>
            <a:latin typeface="Arial" pitchFamily="34" charset="0"/>
            <a:ea typeface="+mn-ea"/>
            <a:cs typeface="Arial" pitchFamily="34" charset="0"/>
          </a:endParaRPr>
        </a:p>
      </dsp:txBody>
      <dsp:txXfrm rot="-5400000">
        <a:off x="754608" y="35279"/>
        <a:ext cx="7420080" cy="632627"/>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0583693-2DF8-4331-9992-1E94EDAA209F}" type="datetimeFigureOut">
              <a:rPr lang="vi-VN" smtClean="0"/>
              <a:t>17/01/2018</a:t>
            </a:fld>
            <a:endParaRPr lang="vi-VN"/>
          </a:p>
        </p:txBody>
      </p:sp>
      <p:sp>
        <p:nvSpPr>
          <p:cNvPr id="4" name="Slide Image Placeholder 3"/>
          <p:cNvSpPr>
            <a:spLocks noGrp="1" noRot="1" noChangeAspect="1"/>
          </p:cNvSpPr>
          <p:nvPr>
            <p:ph type="sldImg" idx="2"/>
          </p:nvPr>
        </p:nvSpPr>
        <p:spPr>
          <a:xfrm>
            <a:off x="857250" y="685800"/>
            <a:ext cx="5143500" cy="34290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CB7DE39-524D-47F3-9B19-31A9B31B8792}" type="slidenum">
              <a:rPr lang="vi-VN" smtClean="0"/>
              <a:t>‹#›</a:t>
            </a:fld>
            <a:endParaRPr lang="vi-VN"/>
          </a:p>
        </p:txBody>
      </p:sp>
    </p:spTree>
    <p:extLst>
      <p:ext uri="{BB962C8B-B14F-4D97-AF65-F5344CB8AC3E}">
        <p14:creationId xmlns:p14="http://schemas.microsoft.com/office/powerpoint/2010/main" val="2226779658"/>
      </p:ext>
    </p:extLst>
  </p:cSld>
  <p:clrMap bg1="lt1" tx1="dk1" bg2="lt2" tx2="dk2" accent1="accent1" accent2="accent2" accent3="accent3" accent4="accent4" accent5="accent5" accent6="accent6" hlink="hlink" folHlink="folHlink"/>
  <p:notesStyle>
    <a:lvl1pPr marL="0" algn="l" defTabSz="1041044" rtl="0" eaLnBrk="1" latinLnBrk="0" hangingPunct="1">
      <a:defRPr sz="1400" kern="1200">
        <a:solidFill>
          <a:schemeClr val="tx1"/>
        </a:solidFill>
        <a:latin typeface="+mn-lt"/>
        <a:ea typeface="+mn-ea"/>
        <a:cs typeface="+mn-cs"/>
      </a:defRPr>
    </a:lvl1pPr>
    <a:lvl2pPr marL="520522" algn="l" defTabSz="1041044" rtl="0" eaLnBrk="1" latinLnBrk="0" hangingPunct="1">
      <a:defRPr sz="1400" kern="1200">
        <a:solidFill>
          <a:schemeClr val="tx1"/>
        </a:solidFill>
        <a:latin typeface="+mn-lt"/>
        <a:ea typeface="+mn-ea"/>
        <a:cs typeface="+mn-cs"/>
      </a:defRPr>
    </a:lvl2pPr>
    <a:lvl3pPr marL="1041044" algn="l" defTabSz="1041044" rtl="0" eaLnBrk="1" latinLnBrk="0" hangingPunct="1">
      <a:defRPr sz="1400" kern="1200">
        <a:solidFill>
          <a:schemeClr val="tx1"/>
        </a:solidFill>
        <a:latin typeface="+mn-lt"/>
        <a:ea typeface="+mn-ea"/>
        <a:cs typeface="+mn-cs"/>
      </a:defRPr>
    </a:lvl3pPr>
    <a:lvl4pPr marL="1561567" algn="l" defTabSz="1041044" rtl="0" eaLnBrk="1" latinLnBrk="0" hangingPunct="1">
      <a:defRPr sz="1400" kern="1200">
        <a:solidFill>
          <a:schemeClr val="tx1"/>
        </a:solidFill>
        <a:latin typeface="+mn-lt"/>
        <a:ea typeface="+mn-ea"/>
        <a:cs typeface="+mn-cs"/>
      </a:defRPr>
    </a:lvl4pPr>
    <a:lvl5pPr marL="2082089" algn="l" defTabSz="1041044" rtl="0" eaLnBrk="1" latinLnBrk="0" hangingPunct="1">
      <a:defRPr sz="1400" kern="1200">
        <a:solidFill>
          <a:schemeClr val="tx1"/>
        </a:solidFill>
        <a:latin typeface="+mn-lt"/>
        <a:ea typeface="+mn-ea"/>
        <a:cs typeface="+mn-cs"/>
      </a:defRPr>
    </a:lvl5pPr>
    <a:lvl6pPr marL="2602611" algn="l" defTabSz="1041044" rtl="0" eaLnBrk="1" latinLnBrk="0" hangingPunct="1">
      <a:defRPr sz="1400" kern="1200">
        <a:solidFill>
          <a:schemeClr val="tx1"/>
        </a:solidFill>
        <a:latin typeface="+mn-lt"/>
        <a:ea typeface="+mn-ea"/>
        <a:cs typeface="+mn-cs"/>
      </a:defRPr>
    </a:lvl6pPr>
    <a:lvl7pPr marL="3123133" algn="l" defTabSz="1041044" rtl="0" eaLnBrk="1" latinLnBrk="0" hangingPunct="1">
      <a:defRPr sz="1400" kern="1200">
        <a:solidFill>
          <a:schemeClr val="tx1"/>
        </a:solidFill>
        <a:latin typeface="+mn-lt"/>
        <a:ea typeface="+mn-ea"/>
        <a:cs typeface="+mn-cs"/>
      </a:defRPr>
    </a:lvl7pPr>
    <a:lvl8pPr marL="3643655" algn="l" defTabSz="1041044" rtl="0" eaLnBrk="1" latinLnBrk="0" hangingPunct="1">
      <a:defRPr sz="1400" kern="1200">
        <a:solidFill>
          <a:schemeClr val="tx1"/>
        </a:solidFill>
        <a:latin typeface="+mn-lt"/>
        <a:ea typeface="+mn-ea"/>
        <a:cs typeface="+mn-cs"/>
      </a:defRPr>
    </a:lvl8pPr>
    <a:lvl9pPr marL="4164178" algn="l" defTabSz="1041044"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7250" y="685800"/>
            <a:ext cx="5143500" cy="3429000"/>
          </a:xfrm>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a:t>
            </a:fld>
            <a:endParaRPr lang="vi-VN"/>
          </a:p>
        </p:txBody>
      </p:sp>
    </p:spTree>
    <p:extLst>
      <p:ext uri="{BB962C8B-B14F-4D97-AF65-F5344CB8AC3E}">
        <p14:creationId xmlns:p14="http://schemas.microsoft.com/office/powerpoint/2010/main" val="39817069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2</a:t>
            </a:fld>
            <a:endParaRPr lang="vi-VN"/>
          </a:p>
        </p:txBody>
      </p:sp>
    </p:spTree>
    <p:extLst>
      <p:ext uri="{BB962C8B-B14F-4D97-AF65-F5344CB8AC3E}">
        <p14:creationId xmlns:p14="http://schemas.microsoft.com/office/powerpoint/2010/main" val="12250318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1525" y="2130430"/>
            <a:ext cx="8743950" cy="1470025"/>
          </a:xfrm>
        </p:spPr>
        <p:txBody>
          <a:bodyPr/>
          <a:lstStyle/>
          <a:p>
            <a:r>
              <a:rPr lang="en-US" smtClean="0"/>
              <a:t>Click to edit Master title style</a:t>
            </a:r>
            <a:endParaRPr lang="vi-VN"/>
          </a:p>
        </p:txBody>
      </p:sp>
      <p:sp>
        <p:nvSpPr>
          <p:cNvPr id="3" name="Subtitle 2"/>
          <p:cNvSpPr>
            <a:spLocks noGrp="1"/>
          </p:cNvSpPr>
          <p:nvPr>
            <p:ph type="subTitle" idx="1"/>
          </p:nvPr>
        </p:nvSpPr>
        <p:spPr>
          <a:xfrm>
            <a:off x="1543050" y="3886200"/>
            <a:ext cx="7200900" cy="1752600"/>
          </a:xfrm>
        </p:spPr>
        <p:txBody>
          <a:bodyPr/>
          <a:lstStyle>
            <a:lvl1pPr marL="0" indent="0" algn="ctr">
              <a:buNone/>
              <a:defRPr>
                <a:solidFill>
                  <a:schemeClr val="tx1">
                    <a:tint val="75000"/>
                  </a:schemeClr>
                </a:solidFill>
              </a:defRPr>
            </a:lvl1pPr>
            <a:lvl2pPr marL="520522" indent="0" algn="ctr">
              <a:buNone/>
              <a:defRPr>
                <a:solidFill>
                  <a:schemeClr val="tx1">
                    <a:tint val="75000"/>
                  </a:schemeClr>
                </a:solidFill>
              </a:defRPr>
            </a:lvl2pPr>
            <a:lvl3pPr marL="1041044" indent="0" algn="ctr">
              <a:buNone/>
              <a:defRPr>
                <a:solidFill>
                  <a:schemeClr val="tx1">
                    <a:tint val="75000"/>
                  </a:schemeClr>
                </a:solidFill>
              </a:defRPr>
            </a:lvl3pPr>
            <a:lvl4pPr marL="1561567" indent="0" algn="ctr">
              <a:buNone/>
              <a:defRPr>
                <a:solidFill>
                  <a:schemeClr val="tx1">
                    <a:tint val="75000"/>
                  </a:schemeClr>
                </a:solidFill>
              </a:defRPr>
            </a:lvl4pPr>
            <a:lvl5pPr marL="2082089" indent="0" algn="ctr">
              <a:buNone/>
              <a:defRPr>
                <a:solidFill>
                  <a:schemeClr val="tx1">
                    <a:tint val="75000"/>
                  </a:schemeClr>
                </a:solidFill>
              </a:defRPr>
            </a:lvl5pPr>
            <a:lvl6pPr marL="2602611" indent="0" algn="ctr">
              <a:buNone/>
              <a:defRPr>
                <a:solidFill>
                  <a:schemeClr val="tx1">
                    <a:tint val="75000"/>
                  </a:schemeClr>
                </a:solidFill>
              </a:defRPr>
            </a:lvl6pPr>
            <a:lvl7pPr marL="3123133" indent="0" algn="ctr">
              <a:buNone/>
              <a:defRPr>
                <a:solidFill>
                  <a:schemeClr val="tx1">
                    <a:tint val="75000"/>
                  </a:schemeClr>
                </a:solidFill>
              </a:defRPr>
            </a:lvl7pPr>
            <a:lvl8pPr marL="3643655" indent="0" algn="ctr">
              <a:buNone/>
              <a:defRPr>
                <a:solidFill>
                  <a:schemeClr val="tx1">
                    <a:tint val="75000"/>
                  </a:schemeClr>
                </a:solidFill>
              </a:defRPr>
            </a:lvl8pPr>
            <a:lvl9pPr marL="4164178" indent="0" algn="ctr">
              <a:buNone/>
              <a:defRPr>
                <a:solidFill>
                  <a:schemeClr val="tx1">
                    <a:tint val="75000"/>
                  </a:schemeClr>
                </a:solidFill>
              </a:defRPr>
            </a:lvl9pPr>
          </a:lstStyle>
          <a:p>
            <a:r>
              <a:rPr lang="en-US" smtClean="0"/>
              <a:t>Click to edit Master subtitle style</a:t>
            </a:r>
            <a:endParaRPr lang="vi-VN"/>
          </a:p>
        </p:txBody>
      </p:sp>
      <p:sp>
        <p:nvSpPr>
          <p:cNvPr id="4" name="Date Placeholder 3"/>
          <p:cNvSpPr>
            <a:spLocks noGrp="1"/>
          </p:cNvSpPr>
          <p:nvPr>
            <p:ph type="dt" sz="half" idx="10"/>
          </p:nvPr>
        </p:nvSpPr>
        <p:spPr/>
        <p:txBody>
          <a:bodyPr/>
          <a:lstStyle/>
          <a:p>
            <a:fld id="{1FC93F78-42A9-4A2C-9821-0BA1A20C3D26}" type="datetime1">
              <a:rPr lang="vi-VN" smtClean="0"/>
              <a:t>17/01/2018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30771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F07B9503-6DD9-4446-8B71-644EDCABD314}" type="datetime1">
              <a:rPr lang="vi-VN" smtClean="0"/>
              <a:t>17/01/2018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322992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2602" y="4406901"/>
            <a:ext cx="8743950" cy="1362074"/>
          </a:xfrm>
        </p:spPr>
        <p:txBody>
          <a:bodyPr anchor="t"/>
          <a:lstStyle>
            <a:lvl1pPr algn="l">
              <a:defRPr sz="4600" b="1" cap="all"/>
            </a:lvl1pPr>
          </a:lstStyle>
          <a:p>
            <a:r>
              <a:rPr lang="en-US" smtClean="0"/>
              <a:t>Click to edit Master title style</a:t>
            </a:r>
            <a:endParaRPr lang="vi-VN"/>
          </a:p>
        </p:txBody>
      </p:sp>
      <p:sp>
        <p:nvSpPr>
          <p:cNvPr id="3" name="Text Placeholder 2"/>
          <p:cNvSpPr>
            <a:spLocks noGrp="1"/>
          </p:cNvSpPr>
          <p:nvPr>
            <p:ph type="body" idx="1"/>
          </p:nvPr>
        </p:nvSpPr>
        <p:spPr>
          <a:xfrm>
            <a:off x="812602" y="2906715"/>
            <a:ext cx="8743950" cy="1500187"/>
          </a:xfrm>
        </p:spPr>
        <p:txBody>
          <a:bodyPr anchor="b"/>
          <a:lstStyle>
            <a:lvl1pPr marL="0" indent="0">
              <a:buNone/>
              <a:defRPr sz="2300">
                <a:solidFill>
                  <a:schemeClr val="tx1">
                    <a:tint val="75000"/>
                  </a:schemeClr>
                </a:solidFill>
              </a:defRPr>
            </a:lvl1pPr>
            <a:lvl2pPr marL="520522" indent="0">
              <a:buNone/>
              <a:defRPr sz="2000">
                <a:solidFill>
                  <a:schemeClr val="tx1">
                    <a:tint val="75000"/>
                  </a:schemeClr>
                </a:solidFill>
              </a:defRPr>
            </a:lvl2pPr>
            <a:lvl3pPr marL="1041044" indent="0">
              <a:buNone/>
              <a:defRPr sz="1800">
                <a:solidFill>
                  <a:schemeClr val="tx1">
                    <a:tint val="75000"/>
                  </a:schemeClr>
                </a:solidFill>
              </a:defRPr>
            </a:lvl3pPr>
            <a:lvl4pPr marL="1561567" indent="0">
              <a:buNone/>
              <a:defRPr sz="1600">
                <a:solidFill>
                  <a:schemeClr val="tx1">
                    <a:tint val="75000"/>
                  </a:schemeClr>
                </a:solidFill>
              </a:defRPr>
            </a:lvl4pPr>
            <a:lvl5pPr marL="2082089" indent="0">
              <a:buNone/>
              <a:defRPr sz="1600">
                <a:solidFill>
                  <a:schemeClr val="tx1">
                    <a:tint val="75000"/>
                  </a:schemeClr>
                </a:solidFill>
              </a:defRPr>
            </a:lvl5pPr>
            <a:lvl6pPr marL="2602611" indent="0">
              <a:buNone/>
              <a:defRPr sz="1600">
                <a:solidFill>
                  <a:schemeClr val="tx1">
                    <a:tint val="75000"/>
                  </a:schemeClr>
                </a:solidFill>
              </a:defRPr>
            </a:lvl6pPr>
            <a:lvl7pPr marL="3123133" indent="0">
              <a:buNone/>
              <a:defRPr sz="1600">
                <a:solidFill>
                  <a:schemeClr val="tx1">
                    <a:tint val="75000"/>
                  </a:schemeClr>
                </a:solidFill>
              </a:defRPr>
            </a:lvl7pPr>
            <a:lvl8pPr marL="3643655" indent="0">
              <a:buNone/>
              <a:defRPr sz="1600">
                <a:solidFill>
                  <a:schemeClr val="tx1">
                    <a:tint val="75000"/>
                  </a:schemeClr>
                </a:solidFill>
              </a:defRPr>
            </a:lvl8pPr>
            <a:lvl9pPr marL="4164178"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CA986E9-8493-42BF-A7C6-EE1810E96B4A}" type="datetime1">
              <a:rPr lang="vi-VN" smtClean="0"/>
              <a:t>17/01/2018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568194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Content Placeholder 2"/>
          <p:cNvSpPr>
            <a:spLocks noGrp="1"/>
          </p:cNvSpPr>
          <p:nvPr>
            <p:ph sz="half" idx="1"/>
          </p:nvPr>
        </p:nvSpPr>
        <p:spPr>
          <a:xfrm>
            <a:off x="514350" y="1600204"/>
            <a:ext cx="4543425" cy="4525963"/>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Content Placeholder 3"/>
          <p:cNvSpPr>
            <a:spLocks noGrp="1"/>
          </p:cNvSpPr>
          <p:nvPr>
            <p:ph sz="half" idx="2"/>
          </p:nvPr>
        </p:nvSpPr>
        <p:spPr>
          <a:xfrm>
            <a:off x="5229225" y="1600204"/>
            <a:ext cx="4543425" cy="4525963"/>
          </a:xfrm>
        </p:spPr>
        <p:txBody>
          <a:bodyPr/>
          <a:lstStyle>
            <a:lvl1pPr>
              <a:defRPr sz="3200"/>
            </a:lvl1pPr>
            <a:lvl2pPr>
              <a:defRPr sz="27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Date Placeholder 4"/>
          <p:cNvSpPr>
            <a:spLocks noGrp="1"/>
          </p:cNvSpPr>
          <p:nvPr>
            <p:ph type="dt" sz="half" idx="10"/>
          </p:nvPr>
        </p:nvSpPr>
        <p:spPr/>
        <p:txBody>
          <a:bodyPr/>
          <a:lstStyle/>
          <a:p>
            <a:fld id="{8905EEE2-896C-48F9-8D0D-2D5367FD7444}" type="datetime1">
              <a:rPr lang="vi-VN" smtClean="0"/>
              <a:t>17/01/2018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949242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vi-VN"/>
          </a:p>
        </p:txBody>
      </p:sp>
      <p:sp>
        <p:nvSpPr>
          <p:cNvPr id="3" name="Text Placeholder 2"/>
          <p:cNvSpPr>
            <a:spLocks noGrp="1"/>
          </p:cNvSpPr>
          <p:nvPr>
            <p:ph type="body" idx="1"/>
          </p:nvPr>
        </p:nvSpPr>
        <p:spPr>
          <a:xfrm>
            <a:off x="514351" y="1535115"/>
            <a:ext cx="4545211" cy="639762"/>
          </a:xfrm>
        </p:spPr>
        <p:txBody>
          <a:bodyPr anchor="b"/>
          <a:lstStyle>
            <a:lvl1pPr marL="0" indent="0">
              <a:buNone/>
              <a:defRPr sz="2700" b="1"/>
            </a:lvl1pPr>
            <a:lvl2pPr marL="520522" indent="0">
              <a:buNone/>
              <a:defRPr sz="2300" b="1"/>
            </a:lvl2pPr>
            <a:lvl3pPr marL="1041044" indent="0">
              <a:buNone/>
              <a:defRPr sz="2000" b="1"/>
            </a:lvl3pPr>
            <a:lvl4pPr marL="1561567" indent="0">
              <a:buNone/>
              <a:defRPr sz="1800" b="1"/>
            </a:lvl4pPr>
            <a:lvl5pPr marL="2082089" indent="0">
              <a:buNone/>
              <a:defRPr sz="1800" b="1"/>
            </a:lvl5pPr>
            <a:lvl6pPr marL="2602611" indent="0">
              <a:buNone/>
              <a:defRPr sz="1800" b="1"/>
            </a:lvl6pPr>
            <a:lvl7pPr marL="3123133" indent="0">
              <a:buNone/>
              <a:defRPr sz="1800" b="1"/>
            </a:lvl7pPr>
            <a:lvl8pPr marL="3643655" indent="0">
              <a:buNone/>
              <a:defRPr sz="1800" b="1"/>
            </a:lvl8pPr>
            <a:lvl9pPr marL="4164178"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514351" y="2174876"/>
            <a:ext cx="4545211" cy="3951288"/>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5" name="Text Placeholder 4"/>
          <p:cNvSpPr>
            <a:spLocks noGrp="1"/>
          </p:cNvSpPr>
          <p:nvPr>
            <p:ph type="body" sz="quarter" idx="3"/>
          </p:nvPr>
        </p:nvSpPr>
        <p:spPr>
          <a:xfrm>
            <a:off x="5225658" y="1535115"/>
            <a:ext cx="4546998" cy="639762"/>
          </a:xfrm>
        </p:spPr>
        <p:txBody>
          <a:bodyPr anchor="b"/>
          <a:lstStyle>
            <a:lvl1pPr marL="0" indent="0">
              <a:buNone/>
              <a:defRPr sz="2700" b="1"/>
            </a:lvl1pPr>
            <a:lvl2pPr marL="520522" indent="0">
              <a:buNone/>
              <a:defRPr sz="2300" b="1"/>
            </a:lvl2pPr>
            <a:lvl3pPr marL="1041044" indent="0">
              <a:buNone/>
              <a:defRPr sz="2000" b="1"/>
            </a:lvl3pPr>
            <a:lvl4pPr marL="1561567" indent="0">
              <a:buNone/>
              <a:defRPr sz="1800" b="1"/>
            </a:lvl4pPr>
            <a:lvl5pPr marL="2082089" indent="0">
              <a:buNone/>
              <a:defRPr sz="1800" b="1"/>
            </a:lvl5pPr>
            <a:lvl6pPr marL="2602611" indent="0">
              <a:buNone/>
              <a:defRPr sz="1800" b="1"/>
            </a:lvl6pPr>
            <a:lvl7pPr marL="3123133" indent="0">
              <a:buNone/>
              <a:defRPr sz="1800" b="1"/>
            </a:lvl7pPr>
            <a:lvl8pPr marL="3643655" indent="0">
              <a:buNone/>
              <a:defRPr sz="1800" b="1"/>
            </a:lvl8pPr>
            <a:lvl9pPr marL="4164178"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5225658" y="2174876"/>
            <a:ext cx="4546998" cy="3951288"/>
          </a:xfrm>
        </p:spPr>
        <p:txBody>
          <a:bodyPr/>
          <a:lstStyle>
            <a:lvl1pPr>
              <a:defRPr sz="2700"/>
            </a:lvl1pPr>
            <a:lvl2pPr>
              <a:defRPr sz="23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7" name="Date Placeholder 6"/>
          <p:cNvSpPr>
            <a:spLocks noGrp="1"/>
          </p:cNvSpPr>
          <p:nvPr>
            <p:ph type="dt" sz="half" idx="10"/>
          </p:nvPr>
        </p:nvSpPr>
        <p:spPr/>
        <p:txBody>
          <a:bodyPr/>
          <a:lstStyle/>
          <a:p>
            <a:fld id="{5856DFF7-F5D1-4741-9AFA-644592F6D88E}" type="datetime1">
              <a:rPr lang="vi-VN" smtClean="0"/>
              <a:t>17/01/2018</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1022139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Date Placeholder 2"/>
          <p:cNvSpPr>
            <a:spLocks noGrp="1"/>
          </p:cNvSpPr>
          <p:nvPr>
            <p:ph type="dt" sz="half" idx="10"/>
          </p:nvPr>
        </p:nvSpPr>
        <p:spPr/>
        <p:txBody>
          <a:bodyPr/>
          <a:lstStyle/>
          <a:p>
            <a:fld id="{C57A1E72-38A2-4A3B-AB45-23AF396AC866}" type="datetime1">
              <a:rPr lang="vi-VN" smtClean="0"/>
              <a:t>17/01/2018</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069642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C66D5F-F7C9-4605-8742-978114C0C04F}" type="datetime1">
              <a:rPr lang="vi-VN" smtClean="0"/>
              <a:t>17/01/2018</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1040986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14355" y="273049"/>
            <a:ext cx="3384352" cy="1162050"/>
          </a:xfrm>
        </p:spPr>
        <p:txBody>
          <a:bodyPr anchor="b"/>
          <a:lstStyle>
            <a:lvl1pPr algn="l">
              <a:defRPr sz="2300" b="1"/>
            </a:lvl1pPr>
          </a:lstStyle>
          <a:p>
            <a:r>
              <a:rPr lang="en-US" smtClean="0"/>
              <a:t>Click to edit Master title style</a:t>
            </a:r>
            <a:endParaRPr lang="vi-VN"/>
          </a:p>
        </p:txBody>
      </p:sp>
      <p:sp>
        <p:nvSpPr>
          <p:cNvPr id="3" name="Content Placeholder 2"/>
          <p:cNvSpPr>
            <a:spLocks noGrp="1"/>
          </p:cNvSpPr>
          <p:nvPr>
            <p:ph idx="1"/>
          </p:nvPr>
        </p:nvSpPr>
        <p:spPr>
          <a:xfrm>
            <a:off x="4021932" y="273052"/>
            <a:ext cx="5750718" cy="5853114"/>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Text Placeholder 3"/>
          <p:cNvSpPr>
            <a:spLocks noGrp="1"/>
          </p:cNvSpPr>
          <p:nvPr>
            <p:ph type="body" sz="half" idx="2"/>
          </p:nvPr>
        </p:nvSpPr>
        <p:spPr>
          <a:xfrm>
            <a:off x="514355" y="1435102"/>
            <a:ext cx="3384352" cy="4691062"/>
          </a:xfrm>
        </p:spPr>
        <p:txBody>
          <a:bodyPr/>
          <a:lstStyle>
            <a:lvl1pPr marL="0" indent="0">
              <a:buNone/>
              <a:defRPr sz="1600"/>
            </a:lvl1pPr>
            <a:lvl2pPr marL="520522" indent="0">
              <a:buNone/>
              <a:defRPr sz="1400"/>
            </a:lvl2pPr>
            <a:lvl3pPr marL="1041044" indent="0">
              <a:buNone/>
              <a:defRPr sz="1100"/>
            </a:lvl3pPr>
            <a:lvl4pPr marL="1561567" indent="0">
              <a:buNone/>
              <a:defRPr sz="1000"/>
            </a:lvl4pPr>
            <a:lvl5pPr marL="2082089" indent="0">
              <a:buNone/>
              <a:defRPr sz="1000"/>
            </a:lvl5pPr>
            <a:lvl6pPr marL="2602611" indent="0">
              <a:buNone/>
              <a:defRPr sz="1000"/>
            </a:lvl6pPr>
            <a:lvl7pPr marL="3123133" indent="0">
              <a:buNone/>
              <a:defRPr sz="1000"/>
            </a:lvl7pPr>
            <a:lvl8pPr marL="3643655" indent="0">
              <a:buNone/>
              <a:defRPr sz="1000"/>
            </a:lvl8pPr>
            <a:lvl9pPr marL="4164178"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EE4ECAA-2B71-4DBD-B6F6-516935394A84}" type="datetime1">
              <a:rPr lang="vi-VN" smtClean="0"/>
              <a:t>17/01/2018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3338172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16324" y="4800601"/>
            <a:ext cx="6172200" cy="566738"/>
          </a:xfrm>
        </p:spPr>
        <p:txBody>
          <a:bodyPr anchor="b"/>
          <a:lstStyle>
            <a:lvl1pPr algn="l">
              <a:defRPr sz="2300" b="1"/>
            </a:lvl1pPr>
          </a:lstStyle>
          <a:p>
            <a:r>
              <a:rPr lang="en-US" smtClean="0"/>
              <a:t>Click to edit Master title style</a:t>
            </a:r>
            <a:endParaRPr lang="vi-VN"/>
          </a:p>
        </p:txBody>
      </p:sp>
      <p:sp>
        <p:nvSpPr>
          <p:cNvPr id="3" name="Picture Placeholder 2"/>
          <p:cNvSpPr>
            <a:spLocks noGrp="1"/>
          </p:cNvSpPr>
          <p:nvPr>
            <p:ph type="pic" idx="1"/>
          </p:nvPr>
        </p:nvSpPr>
        <p:spPr>
          <a:xfrm>
            <a:off x="2016324" y="612775"/>
            <a:ext cx="6172200" cy="4114800"/>
          </a:xfrm>
        </p:spPr>
        <p:txBody>
          <a:bodyPr/>
          <a:lstStyle>
            <a:lvl1pPr marL="0" indent="0">
              <a:buNone/>
              <a:defRPr sz="3600"/>
            </a:lvl1pPr>
            <a:lvl2pPr marL="520522" indent="0">
              <a:buNone/>
              <a:defRPr sz="3200"/>
            </a:lvl2pPr>
            <a:lvl3pPr marL="1041044" indent="0">
              <a:buNone/>
              <a:defRPr sz="2700"/>
            </a:lvl3pPr>
            <a:lvl4pPr marL="1561567" indent="0">
              <a:buNone/>
              <a:defRPr sz="2300"/>
            </a:lvl4pPr>
            <a:lvl5pPr marL="2082089" indent="0">
              <a:buNone/>
              <a:defRPr sz="2300"/>
            </a:lvl5pPr>
            <a:lvl6pPr marL="2602611" indent="0">
              <a:buNone/>
              <a:defRPr sz="2300"/>
            </a:lvl6pPr>
            <a:lvl7pPr marL="3123133" indent="0">
              <a:buNone/>
              <a:defRPr sz="2300"/>
            </a:lvl7pPr>
            <a:lvl8pPr marL="3643655" indent="0">
              <a:buNone/>
              <a:defRPr sz="2300"/>
            </a:lvl8pPr>
            <a:lvl9pPr marL="4164178" indent="0">
              <a:buNone/>
              <a:defRPr sz="2300"/>
            </a:lvl9pPr>
          </a:lstStyle>
          <a:p>
            <a:endParaRPr lang="vi-VN"/>
          </a:p>
        </p:txBody>
      </p:sp>
      <p:sp>
        <p:nvSpPr>
          <p:cNvPr id="4" name="Text Placeholder 3"/>
          <p:cNvSpPr>
            <a:spLocks noGrp="1"/>
          </p:cNvSpPr>
          <p:nvPr>
            <p:ph type="body" sz="half" idx="2"/>
          </p:nvPr>
        </p:nvSpPr>
        <p:spPr>
          <a:xfrm>
            <a:off x="2016324" y="5367341"/>
            <a:ext cx="6172200" cy="804863"/>
          </a:xfrm>
        </p:spPr>
        <p:txBody>
          <a:bodyPr/>
          <a:lstStyle>
            <a:lvl1pPr marL="0" indent="0">
              <a:buNone/>
              <a:defRPr sz="1600"/>
            </a:lvl1pPr>
            <a:lvl2pPr marL="520522" indent="0">
              <a:buNone/>
              <a:defRPr sz="1400"/>
            </a:lvl2pPr>
            <a:lvl3pPr marL="1041044" indent="0">
              <a:buNone/>
              <a:defRPr sz="1100"/>
            </a:lvl3pPr>
            <a:lvl4pPr marL="1561567" indent="0">
              <a:buNone/>
              <a:defRPr sz="1000"/>
            </a:lvl4pPr>
            <a:lvl5pPr marL="2082089" indent="0">
              <a:buNone/>
              <a:defRPr sz="1000"/>
            </a:lvl5pPr>
            <a:lvl6pPr marL="2602611" indent="0">
              <a:buNone/>
              <a:defRPr sz="1000"/>
            </a:lvl6pPr>
            <a:lvl7pPr marL="3123133" indent="0">
              <a:buNone/>
              <a:defRPr sz="1000"/>
            </a:lvl7pPr>
            <a:lvl8pPr marL="3643655" indent="0">
              <a:buNone/>
              <a:defRPr sz="1000"/>
            </a:lvl8pPr>
            <a:lvl9pPr marL="4164178"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922D38-52F4-4CE8-B612-A0183E7BB4FA}" type="datetime1">
              <a:rPr lang="vi-VN" smtClean="0"/>
              <a:t>17/01/2018</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262820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FD1B7337-33BE-4CEB-929A-F70E3D8A92E3}" type="datetime1">
              <a:rPr lang="vi-VN" smtClean="0"/>
              <a:t>17/01/2018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436491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458075" y="274639"/>
            <a:ext cx="2314575" cy="5851526"/>
          </a:xfrm>
        </p:spPr>
        <p:txBody>
          <a:bodyPr vert="eaVert"/>
          <a:lstStyle/>
          <a:p>
            <a:r>
              <a:rPr lang="en-US" smtClean="0"/>
              <a:t>Click to edit Master title style</a:t>
            </a:r>
            <a:endParaRPr lang="vi-VN"/>
          </a:p>
        </p:txBody>
      </p:sp>
      <p:sp>
        <p:nvSpPr>
          <p:cNvPr id="3" name="Vertical Text Placeholder 2"/>
          <p:cNvSpPr>
            <a:spLocks noGrp="1"/>
          </p:cNvSpPr>
          <p:nvPr>
            <p:ph type="body" orient="vert" idx="1"/>
          </p:nvPr>
        </p:nvSpPr>
        <p:spPr>
          <a:xfrm>
            <a:off x="514350" y="274639"/>
            <a:ext cx="6772275" cy="5851526"/>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10"/>
          </p:nvPr>
        </p:nvSpPr>
        <p:spPr/>
        <p:txBody>
          <a:bodyPr/>
          <a:lstStyle/>
          <a:p>
            <a:fld id="{DB2FD150-B1FB-4C8E-A2A2-B559A2168736}" type="datetime1">
              <a:rPr lang="vi-VN" smtClean="0"/>
              <a:t>17/01/2018</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427808B0-DB8A-471C-82EF-CF06681341D9}" type="slidenum">
              <a:rPr lang="vi-VN" smtClean="0"/>
              <a:t>‹#›</a:t>
            </a:fld>
            <a:endParaRPr lang="vi-VN"/>
          </a:p>
        </p:txBody>
      </p:sp>
    </p:spTree>
    <p:extLst>
      <p:ext uri="{BB962C8B-B14F-4D97-AF65-F5344CB8AC3E}">
        <p14:creationId xmlns:p14="http://schemas.microsoft.com/office/powerpoint/2010/main" val="4178510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0" y="274641"/>
            <a:ext cx="9258300" cy="1143001"/>
          </a:xfrm>
          <a:prstGeom prst="rect">
            <a:avLst/>
          </a:prstGeom>
        </p:spPr>
        <p:txBody>
          <a:bodyPr vert="horz" lIns="104104" tIns="52052" rIns="104104" bIns="52052" rtlCol="0" anchor="ctr">
            <a:normAutofit/>
          </a:bodyPr>
          <a:lstStyle/>
          <a:p>
            <a:r>
              <a:rPr lang="en-US" smtClean="0"/>
              <a:t>Click to edit Master title style</a:t>
            </a:r>
            <a:endParaRPr lang="vi-VN"/>
          </a:p>
        </p:txBody>
      </p:sp>
      <p:sp>
        <p:nvSpPr>
          <p:cNvPr id="3" name="Text Placeholder 2"/>
          <p:cNvSpPr>
            <a:spLocks noGrp="1"/>
          </p:cNvSpPr>
          <p:nvPr>
            <p:ph type="body" idx="1"/>
          </p:nvPr>
        </p:nvSpPr>
        <p:spPr>
          <a:xfrm>
            <a:off x="514350" y="1600204"/>
            <a:ext cx="9258300" cy="4525963"/>
          </a:xfrm>
          <a:prstGeom prst="rect">
            <a:avLst/>
          </a:prstGeom>
        </p:spPr>
        <p:txBody>
          <a:bodyPr vert="horz" lIns="104104" tIns="52052" rIns="104104" bIns="5205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vi-VN"/>
          </a:p>
        </p:txBody>
      </p:sp>
      <p:sp>
        <p:nvSpPr>
          <p:cNvPr id="4" name="Date Placeholder 3"/>
          <p:cNvSpPr>
            <a:spLocks noGrp="1"/>
          </p:cNvSpPr>
          <p:nvPr>
            <p:ph type="dt" sz="half" idx="2"/>
          </p:nvPr>
        </p:nvSpPr>
        <p:spPr>
          <a:xfrm>
            <a:off x="514350" y="6356353"/>
            <a:ext cx="2400300" cy="365125"/>
          </a:xfrm>
          <a:prstGeom prst="rect">
            <a:avLst/>
          </a:prstGeom>
        </p:spPr>
        <p:txBody>
          <a:bodyPr vert="horz" lIns="104104" tIns="52052" rIns="104104" bIns="52052" rtlCol="0" anchor="ctr"/>
          <a:lstStyle>
            <a:lvl1pPr algn="l">
              <a:defRPr sz="1400">
                <a:solidFill>
                  <a:schemeClr val="tx1">
                    <a:tint val="75000"/>
                  </a:schemeClr>
                </a:solidFill>
              </a:defRPr>
            </a:lvl1pPr>
          </a:lstStyle>
          <a:p>
            <a:fld id="{84FABED4-1AAC-45BE-A710-67DA055BC055}" type="datetime1">
              <a:rPr lang="vi-VN" smtClean="0"/>
              <a:t>17/01/2018</a:t>
            </a:fld>
            <a:endParaRPr lang="vi-VN"/>
          </a:p>
        </p:txBody>
      </p:sp>
      <p:sp>
        <p:nvSpPr>
          <p:cNvPr id="5" name="Footer Placeholder 4"/>
          <p:cNvSpPr>
            <a:spLocks noGrp="1"/>
          </p:cNvSpPr>
          <p:nvPr>
            <p:ph type="ftr" sz="quarter" idx="3"/>
          </p:nvPr>
        </p:nvSpPr>
        <p:spPr>
          <a:xfrm>
            <a:off x="3514725" y="6356353"/>
            <a:ext cx="3257550" cy="365125"/>
          </a:xfrm>
          <a:prstGeom prst="rect">
            <a:avLst/>
          </a:prstGeom>
        </p:spPr>
        <p:txBody>
          <a:bodyPr vert="horz" lIns="104104" tIns="52052" rIns="104104" bIns="52052" rtlCol="0" anchor="ctr"/>
          <a:lstStyle>
            <a:lvl1pPr algn="ctr">
              <a:defRPr sz="14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7372350" y="6356353"/>
            <a:ext cx="2400300" cy="365125"/>
          </a:xfrm>
          <a:prstGeom prst="rect">
            <a:avLst/>
          </a:prstGeom>
        </p:spPr>
        <p:txBody>
          <a:bodyPr vert="horz" lIns="104104" tIns="52052" rIns="104104" bIns="52052" rtlCol="0" anchor="ctr"/>
          <a:lstStyle>
            <a:lvl1pPr algn="r">
              <a:defRPr sz="1400">
                <a:solidFill>
                  <a:schemeClr val="tx1">
                    <a:tint val="75000"/>
                  </a:schemeClr>
                </a:solidFill>
              </a:defRPr>
            </a:lvl1pPr>
          </a:lstStyle>
          <a:p>
            <a:fld id="{427808B0-DB8A-471C-82EF-CF06681341D9}" type="slidenum">
              <a:rPr lang="vi-VN" smtClean="0"/>
              <a:t>‹#›</a:t>
            </a:fld>
            <a:endParaRPr lang="vi-VN"/>
          </a:p>
        </p:txBody>
      </p:sp>
    </p:spTree>
    <p:extLst>
      <p:ext uri="{BB962C8B-B14F-4D97-AF65-F5344CB8AC3E}">
        <p14:creationId xmlns:p14="http://schemas.microsoft.com/office/powerpoint/2010/main" val="727947107"/>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1041044" rtl="0" eaLnBrk="1" latinLnBrk="0" hangingPunct="1">
        <a:spcBef>
          <a:spcPct val="0"/>
        </a:spcBef>
        <a:buNone/>
        <a:defRPr sz="5000" kern="1200">
          <a:solidFill>
            <a:schemeClr val="tx1"/>
          </a:solidFill>
          <a:latin typeface="+mj-lt"/>
          <a:ea typeface="+mj-ea"/>
          <a:cs typeface="+mj-cs"/>
        </a:defRPr>
      </a:lvl1pPr>
    </p:titleStyle>
    <p:bodyStyle>
      <a:lvl1pPr marL="390392" indent="-390392" algn="l" defTabSz="1041044"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845849" indent="-325326" algn="l" defTabSz="1041044" rtl="0" eaLnBrk="1" latinLnBrk="0" hangingPunct="1">
        <a:spcBef>
          <a:spcPct val="20000"/>
        </a:spcBef>
        <a:buFont typeface="Arial" pitchFamily="34" charset="0"/>
        <a:buChar char="–"/>
        <a:defRPr sz="3200" kern="1200">
          <a:solidFill>
            <a:schemeClr val="tx1"/>
          </a:solidFill>
          <a:latin typeface="+mn-lt"/>
          <a:ea typeface="+mn-ea"/>
          <a:cs typeface="+mn-cs"/>
        </a:defRPr>
      </a:lvl2pPr>
      <a:lvl3pPr marL="1301306" indent="-260261" algn="l" defTabSz="1041044" rtl="0" eaLnBrk="1" latinLnBrk="0" hangingPunct="1">
        <a:spcBef>
          <a:spcPct val="20000"/>
        </a:spcBef>
        <a:buFont typeface="Arial" pitchFamily="34" charset="0"/>
        <a:buChar char="•"/>
        <a:defRPr sz="2700" kern="1200">
          <a:solidFill>
            <a:schemeClr val="tx1"/>
          </a:solidFill>
          <a:latin typeface="+mn-lt"/>
          <a:ea typeface="+mn-ea"/>
          <a:cs typeface="+mn-cs"/>
        </a:defRPr>
      </a:lvl3pPr>
      <a:lvl4pPr marL="1821828"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4pPr>
      <a:lvl5pPr marL="2342350"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5pPr>
      <a:lvl6pPr marL="2862872"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6pPr>
      <a:lvl7pPr marL="3383394"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7pPr>
      <a:lvl8pPr marL="3903917"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8pPr>
      <a:lvl9pPr marL="4424439" indent="-260261" algn="l" defTabSz="1041044" rtl="0" eaLnBrk="1" latinLnBrk="0"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vi-VN"/>
      </a:defPPr>
      <a:lvl1pPr marL="0" algn="l" defTabSz="1041044" rtl="0" eaLnBrk="1" latinLnBrk="0" hangingPunct="1">
        <a:defRPr sz="2000" kern="1200">
          <a:solidFill>
            <a:schemeClr val="tx1"/>
          </a:solidFill>
          <a:latin typeface="+mn-lt"/>
          <a:ea typeface="+mn-ea"/>
          <a:cs typeface="+mn-cs"/>
        </a:defRPr>
      </a:lvl1pPr>
      <a:lvl2pPr marL="520522" algn="l" defTabSz="1041044" rtl="0" eaLnBrk="1" latinLnBrk="0" hangingPunct="1">
        <a:defRPr sz="2000" kern="1200">
          <a:solidFill>
            <a:schemeClr val="tx1"/>
          </a:solidFill>
          <a:latin typeface="+mn-lt"/>
          <a:ea typeface="+mn-ea"/>
          <a:cs typeface="+mn-cs"/>
        </a:defRPr>
      </a:lvl2pPr>
      <a:lvl3pPr marL="1041044" algn="l" defTabSz="1041044" rtl="0" eaLnBrk="1" latinLnBrk="0" hangingPunct="1">
        <a:defRPr sz="2000" kern="1200">
          <a:solidFill>
            <a:schemeClr val="tx1"/>
          </a:solidFill>
          <a:latin typeface="+mn-lt"/>
          <a:ea typeface="+mn-ea"/>
          <a:cs typeface="+mn-cs"/>
        </a:defRPr>
      </a:lvl3pPr>
      <a:lvl4pPr marL="1561567" algn="l" defTabSz="1041044" rtl="0" eaLnBrk="1" latinLnBrk="0" hangingPunct="1">
        <a:defRPr sz="2000" kern="1200">
          <a:solidFill>
            <a:schemeClr val="tx1"/>
          </a:solidFill>
          <a:latin typeface="+mn-lt"/>
          <a:ea typeface="+mn-ea"/>
          <a:cs typeface="+mn-cs"/>
        </a:defRPr>
      </a:lvl4pPr>
      <a:lvl5pPr marL="2082089" algn="l" defTabSz="1041044" rtl="0" eaLnBrk="1" latinLnBrk="0" hangingPunct="1">
        <a:defRPr sz="2000" kern="1200">
          <a:solidFill>
            <a:schemeClr val="tx1"/>
          </a:solidFill>
          <a:latin typeface="+mn-lt"/>
          <a:ea typeface="+mn-ea"/>
          <a:cs typeface="+mn-cs"/>
        </a:defRPr>
      </a:lvl5pPr>
      <a:lvl6pPr marL="2602611" algn="l" defTabSz="1041044" rtl="0" eaLnBrk="1" latinLnBrk="0" hangingPunct="1">
        <a:defRPr sz="2000" kern="1200">
          <a:solidFill>
            <a:schemeClr val="tx1"/>
          </a:solidFill>
          <a:latin typeface="+mn-lt"/>
          <a:ea typeface="+mn-ea"/>
          <a:cs typeface="+mn-cs"/>
        </a:defRPr>
      </a:lvl6pPr>
      <a:lvl7pPr marL="3123133" algn="l" defTabSz="1041044" rtl="0" eaLnBrk="1" latinLnBrk="0" hangingPunct="1">
        <a:defRPr sz="2000" kern="1200">
          <a:solidFill>
            <a:schemeClr val="tx1"/>
          </a:solidFill>
          <a:latin typeface="+mn-lt"/>
          <a:ea typeface="+mn-ea"/>
          <a:cs typeface="+mn-cs"/>
        </a:defRPr>
      </a:lvl7pPr>
      <a:lvl8pPr marL="3643655" algn="l" defTabSz="1041044" rtl="0" eaLnBrk="1" latinLnBrk="0" hangingPunct="1">
        <a:defRPr sz="2000" kern="1200">
          <a:solidFill>
            <a:schemeClr val="tx1"/>
          </a:solidFill>
          <a:latin typeface="+mn-lt"/>
          <a:ea typeface="+mn-ea"/>
          <a:cs typeface="+mn-cs"/>
        </a:defRPr>
      </a:lvl8pPr>
      <a:lvl9pPr marL="4164178" algn="l" defTabSz="104104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6"/>
          <p:cNvSpPr txBox="1">
            <a:spLocks/>
          </p:cNvSpPr>
          <p:nvPr/>
        </p:nvSpPr>
        <p:spPr>
          <a:xfrm>
            <a:off x="318964" y="476672"/>
            <a:ext cx="9361040" cy="864096"/>
          </a:xfrm>
          <a:prstGeom prst="rect">
            <a:avLst/>
          </a:prstGeom>
        </p:spPr>
        <p:txBody>
          <a:bodyPr vert="horz" lIns="104104" tIns="52052" rIns="104104" bIns="52052" rtlCol="0">
            <a:normAutofit/>
          </a:bodyPr>
          <a:lstStyle>
            <a:lvl1pPr marL="0" indent="0" algn="ctr" defTabSz="1041044" rtl="0" eaLnBrk="1" latinLnBrk="0" hangingPunct="1">
              <a:spcBef>
                <a:spcPct val="20000"/>
              </a:spcBef>
              <a:buFont typeface="Arial" pitchFamily="34" charset="0"/>
              <a:buNone/>
              <a:defRPr sz="3600" kern="1200">
                <a:solidFill>
                  <a:schemeClr val="tx1">
                    <a:tint val="75000"/>
                  </a:schemeClr>
                </a:solidFill>
                <a:latin typeface="+mn-lt"/>
                <a:ea typeface="+mn-ea"/>
                <a:cs typeface="+mn-cs"/>
              </a:defRPr>
            </a:lvl1pPr>
            <a:lvl2pPr marL="520522" indent="0" algn="ctr" defTabSz="1041044"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2pPr>
            <a:lvl3pPr marL="1041044" indent="0" algn="ctr" defTabSz="1041044"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3pPr>
            <a:lvl4pPr marL="1561567"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4pPr>
            <a:lvl5pPr marL="2082089"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5pPr>
            <a:lvl6pPr marL="2602611"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6pPr>
            <a:lvl7pPr marL="3123133"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7pPr>
            <a:lvl8pPr marL="3643655"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8pPr>
            <a:lvl9pPr marL="4164178" indent="0" algn="ctr" defTabSz="1041044" rtl="0" eaLnBrk="1" latinLnBrk="0" hangingPunct="1">
              <a:spcBef>
                <a:spcPct val="20000"/>
              </a:spcBef>
              <a:buFont typeface="Arial" pitchFamily="34" charset="0"/>
              <a:buNone/>
              <a:defRPr sz="2300" kern="1200">
                <a:solidFill>
                  <a:schemeClr val="tx1">
                    <a:tint val="75000"/>
                  </a:schemeClr>
                </a:solidFill>
                <a:latin typeface="+mn-lt"/>
                <a:ea typeface="+mn-ea"/>
                <a:cs typeface="+mn-cs"/>
              </a:defRPr>
            </a:lvl9pPr>
          </a:lstStyle>
          <a:p>
            <a:endParaRPr lang="en-US" sz="2000" b="1" smtClean="0">
              <a:solidFill>
                <a:schemeClr val="accent6">
                  <a:lumMod val="75000"/>
                </a:schemeClr>
              </a:solidFill>
            </a:endParaRPr>
          </a:p>
          <a:p>
            <a:r>
              <a:rPr lang="en-US" sz="2000" b="1" smtClean="0">
                <a:solidFill>
                  <a:schemeClr val="accent1">
                    <a:lumMod val="75000"/>
                  </a:schemeClr>
                </a:solidFill>
              </a:rPr>
              <a:t>PHÁT TRIỂN HỆ THỐNG THÔNG TIN KINH TẾ</a:t>
            </a:r>
            <a:endParaRPr lang="vi-VN" sz="2000" b="1">
              <a:solidFill>
                <a:schemeClr val="accent1">
                  <a:lumMod val="75000"/>
                </a:schemeClr>
              </a:solidFill>
            </a:endParaRPr>
          </a:p>
        </p:txBody>
      </p:sp>
      <p:pic>
        <p:nvPicPr>
          <p:cNvPr id="1026" name="Picture 2" descr="C:\Users\LAMNHUNG\Desktop\LogoMI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2350" y="188640"/>
            <a:ext cx="1682798" cy="147860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Diagram 12"/>
          <p:cNvGraphicFramePr/>
          <p:nvPr>
            <p:extLst>
              <p:ext uri="{D42A27DB-BD31-4B8C-83A1-F6EECF244321}">
                <p14:modId xmlns:p14="http://schemas.microsoft.com/office/powerpoint/2010/main" val="2620269412"/>
              </p:ext>
            </p:extLst>
          </p:nvPr>
        </p:nvGraphicFramePr>
        <p:xfrm>
          <a:off x="823020" y="2420888"/>
          <a:ext cx="8208912" cy="10801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cxnSp>
        <p:nvCxnSpPr>
          <p:cNvPr id="16" name="Straight Connector 15"/>
          <p:cNvCxnSpPr/>
          <p:nvPr/>
        </p:nvCxnSpPr>
        <p:spPr>
          <a:xfrm>
            <a:off x="1586533" y="2420888"/>
            <a:ext cx="0" cy="3456384"/>
          </a:xfrm>
          <a:prstGeom prst="line">
            <a:avLst/>
          </a:prstGeom>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687116" y="3251027"/>
            <a:ext cx="8208912" cy="920765"/>
          </a:xfrm>
          <a:prstGeom prst="rect">
            <a:avLst/>
          </a:prstGeom>
          <a:noFill/>
          <a:effectLst/>
        </p:spPr>
        <p:txBody>
          <a:bodyPr wrap="square" rtlCol="0">
            <a:spAutoFit/>
          </a:bodyPr>
          <a:lstStyle/>
          <a:p>
            <a:pPr algn="just">
              <a:spcAft>
                <a:spcPts val="683"/>
              </a:spcAft>
              <a:buClr>
                <a:srgbClr val="FF0066"/>
              </a:buClr>
              <a:buFont typeface="Symbol" pitchFamily="18" charset="2"/>
              <a:buChar char="¨"/>
            </a:pPr>
            <a:r>
              <a:rPr lang="en-US" sz="2400">
                <a:solidFill>
                  <a:schemeClr val="accent2">
                    <a:lumMod val="50000"/>
                  </a:schemeClr>
                </a:solidFill>
                <a:cs typeface="Arial" pitchFamily="34" charset="0"/>
              </a:rPr>
              <a:t>Chương 1: Môi trường phát triển hệ thống</a:t>
            </a:r>
          </a:p>
          <a:p>
            <a:pPr algn="just">
              <a:spcAft>
                <a:spcPts val="683"/>
              </a:spcAft>
              <a:buClr>
                <a:srgbClr val="FF0066"/>
              </a:buClr>
              <a:buFont typeface="Symbol" pitchFamily="18" charset="2"/>
              <a:buChar char="¨"/>
            </a:pPr>
            <a:r>
              <a:rPr lang="en-US" sz="2400" b="1">
                <a:solidFill>
                  <a:srgbClr val="FF0066"/>
                </a:solidFill>
                <a:cs typeface="Arial" pitchFamily="34" charset="0"/>
              </a:rPr>
              <a:t>Chương 2: Lựa chọn và lập kế hoạch phát triển hệ thống</a:t>
            </a:r>
          </a:p>
        </p:txBody>
      </p:sp>
    </p:spTree>
    <p:extLst>
      <p:ext uri="{BB962C8B-B14F-4D97-AF65-F5344CB8AC3E}">
        <p14:creationId xmlns:p14="http://schemas.microsoft.com/office/powerpoint/2010/main" val="38212893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4978" y="130623"/>
            <a:ext cx="9084645" cy="778099"/>
          </a:xfrm>
          <a:solidFill>
            <a:schemeClr val="bg2"/>
          </a:solidFill>
        </p:spPr>
        <p:txBody>
          <a:bodyPr>
            <a:normAutofit fontScale="90000"/>
          </a:bodyPr>
          <a:lstStyle/>
          <a:p>
            <a:pPr algn="just"/>
            <a:r>
              <a:rPr lang="en-US" sz="2800">
                <a:solidFill>
                  <a:schemeClr val="accent6">
                    <a:lumMod val="75000"/>
                  </a:schemeClr>
                </a:solidFill>
                <a:latin typeface="Arial" pitchFamily="34" charset="0"/>
                <a:cs typeface="Arial" pitchFamily="34" charset="0"/>
              </a:rPr>
              <a:t>Chương 2: Lựa chọn và lập kế hoạch phát triển hệ </a:t>
            </a:r>
            <a:r>
              <a:rPr lang="en-US" sz="2800" smtClean="0">
                <a:solidFill>
                  <a:schemeClr val="accent6">
                    <a:lumMod val="75000"/>
                  </a:schemeClr>
                </a:solidFill>
                <a:latin typeface="Arial" pitchFamily="34" charset="0"/>
                <a:cs typeface="Arial" pitchFamily="34" charset="0"/>
              </a:rPr>
              <a:t>thống</a:t>
            </a:r>
            <a:endParaRPr lang="vi-VN" sz="2800" baseline="30000">
              <a:solidFill>
                <a:schemeClr val="accent6">
                  <a:lumMod val="75000"/>
                </a:schemeClr>
              </a:solidFill>
              <a:latin typeface="Arial" pitchFamily="34" charset="0"/>
              <a:cs typeface="Arial" pitchFamily="34" charset="0"/>
            </a:endParaRPr>
          </a:p>
        </p:txBody>
      </p:sp>
      <p:sp>
        <p:nvSpPr>
          <p:cNvPr id="3" name="Content Placeholder 2"/>
          <p:cNvSpPr>
            <a:spLocks noGrp="1"/>
          </p:cNvSpPr>
          <p:nvPr>
            <p:ph idx="1"/>
          </p:nvPr>
        </p:nvSpPr>
        <p:spPr>
          <a:xfrm>
            <a:off x="444980" y="1039523"/>
            <a:ext cx="9408681" cy="5044452"/>
          </a:xfrm>
        </p:spPr>
        <p:txBody>
          <a:bodyPr>
            <a:normAutofit/>
          </a:bodyPr>
          <a:lstStyle/>
          <a:p>
            <a:pPr marL="457200" indent="-457200" algn="just">
              <a:spcAft>
                <a:spcPts val="683"/>
              </a:spcAft>
              <a:buClr>
                <a:srgbClr val="FF0066"/>
              </a:buClr>
              <a:buAutoNum type="arabicPeriod"/>
            </a:pPr>
            <a:r>
              <a:rPr lang="vi-VN" sz="2400">
                <a:solidFill>
                  <a:schemeClr val="accent2">
                    <a:lumMod val="50000"/>
                  </a:schemeClr>
                </a:solidFill>
                <a:latin typeface="Calibri" pitchFamily="34" charset="0"/>
                <a:cs typeface="Calibri" pitchFamily="34" charset="0"/>
              </a:rPr>
              <a:t>Xác định và lựa chọn dự án</a:t>
            </a:r>
            <a:endParaRPr lang="en-US" sz="2400">
              <a:solidFill>
                <a:schemeClr val="accent2">
                  <a:lumMod val="50000"/>
                </a:schemeClr>
              </a:solidFill>
              <a:latin typeface="Calibri" pitchFamily="34" charset="0"/>
              <a:cs typeface="Calibri" pitchFamily="34" charset="0"/>
            </a:endParaRPr>
          </a:p>
          <a:p>
            <a:pPr marL="457200" indent="-457200" algn="just">
              <a:spcAft>
                <a:spcPts val="683"/>
              </a:spcAft>
              <a:buClr>
                <a:srgbClr val="FF0066"/>
              </a:buClr>
              <a:buAutoNum type="arabicPeriod"/>
            </a:pPr>
            <a:r>
              <a:rPr lang="en-US" sz="2400">
                <a:solidFill>
                  <a:schemeClr val="accent2">
                    <a:lumMod val="50000"/>
                  </a:schemeClr>
                </a:solidFill>
                <a:cs typeface="Arial" pitchFamily="34" charset="0"/>
              </a:rPr>
              <a:t>Khởi động và lập kế hoạch dự án</a:t>
            </a:r>
          </a:p>
          <a:p>
            <a:pPr marL="457200" indent="-457200" algn="just">
              <a:spcAft>
                <a:spcPts val="683"/>
              </a:spcAft>
              <a:buClr>
                <a:srgbClr val="FF0066"/>
              </a:buClr>
              <a:buAutoNum type="arabicPeriod"/>
            </a:pPr>
            <a:r>
              <a:rPr lang="en-US" sz="2400">
                <a:solidFill>
                  <a:schemeClr val="accent2">
                    <a:lumMod val="50000"/>
                  </a:schemeClr>
                </a:solidFill>
                <a:cs typeface="Arial" pitchFamily="34" charset="0"/>
              </a:rPr>
              <a:t>Đánh giá tính khả thi của hệ thống</a:t>
            </a:r>
          </a:p>
          <a:p>
            <a:pPr marL="457200" indent="-457200" algn="just">
              <a:spcAft>
                <a:spcPts val="683"/>
              </a:spcAft>
              <a:buClr>
                <a:srgbClr val="FF0066"/>
              </a:buClr>
              <a:buAutoNum type="arabicPeriod"/>
            </a:pPr>
            <a:r>
              <a:rPr lang="en-US" sz="2400">
                <a:solidFill>
                  <a:schemeClr val="accent2">
                    <a:lumMod val="50000"/>
                  </a:schemeClr>
                </a:solidFill>
                <a:cs typeface="Arial" pitchFamily="34" charset="0"/>
              </a:rPr>
              <a:t>Xây dựng kế hoạch dự án cơ sở (Baseline Project Plan)</a:t>
            </a:r>
            <a:endParaRPr lang="vi-VN" sz="2400">
              <a:solidFill>
                <a:schemeClr val="accent2">
                  <a:lumMod val="50000"/>
                </a:schemeClr>
              </a:solidFill>
              <a:cs typeface="Arial" pitchFamily="34" charset="0"/>
            </a:endParaRPr>
          </a:p>
          <a:p>
            <a:pPr marL="0" indent="0" algn="just">
              <a:spcAft>
                <a:spcPts val="683"/>
              </a:spcAft>
              <a:buClr>
                <a:srgbClr val="FF0066"/>
              </a:buClr>
              <a:buNone/>
            </a:pPr>
            <a:endParaRPr lang="vi-VN" sz="2400">
              <a:solidFill>
                <a:schemeClr val="accent2">
                  <a:lumMod val="50000"/>
                </a:schemeClr>
              </a:solidFill>
              <a:cs typeface="Arial" pitchFamily="34" charset="0"/>
            </a:endParaRPr>
          </a:p>
        </p:txBody>
      </p:sp>
      <p:cxnSp>
        <p:nvCxnSpPr>
          <p:cNvPr id="4" name="Straight Connector 3"/>
          <p:cNvCxnSpPr/>
          <p:nvPr/>
        </p:nvCxnSpPr>
        <p:spPr>
          <a:xfrm>
            <a:off x="444978" y="908720"/>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a:t>
            </a:fld>
            <a:endParaRPr lang="vi-VN"/>
          </a:p>
        </p:txBody>
      </p:sp>
    </p:spTree>
    <p:extLst>
      <p:ext uri="{BB962C8B-B14F-4D97-AF65-F5344CB8AC3E}">
        <p14:creationId xmlns:p14="http://schemas.microsoft.com/office/powerpoint/2010/main" val="4880660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200000"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b="1" smtClean="0">
                <a:solidFill>
                  <a:schemeClr val="accent6">
                    <a:lumMod val="75000"/>
                  </a:schemeClr>
                </a:solidFill>
                <a:latin typeface="Calibri (Body)"/>
                <a:cs typeface="Arial" pitchFamily="34" charset="0"/>
              </a:rPr>
              <a:t>1. </a:t>
            </a:r>
            <a:r>
              <a:rPr lang="vi-VN" sz="1600" b="1" smtClean="0">
                <a:solidFill>
                  <a:schemeClr val="accent6">
                    <a:lumMod val="75000"/>
                  </a:schemeClr>
                </a:solidFill>
                <a:latin typeface="Calibri (Body)"/>
                <a:cs typeface="Arial" pitchFamily="34" charset="0"/>
              </a:rPr>
              <a:t>Xác </a:t>
            </a:r>
            <a:r>
              <a:rPr lang="vi-VN" sz="1600" b="1">
                <a:solidFill>
                  <a:schemeClr val="accent6">
                    <a:lumMod val="75000"/>
                  </a:schemeClr>
                </a:solidFill>
                <a:latin typeface="Calibri (Body)"/>
                <a:cs typeface="Arial" pitchFamily="34" charset="0"/>
              </a:rPr>
              <a:t>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en-US" sz="1600" smtClean="0">
                <a:solidFill>
                  <a:schemeClr val="accent1">
                    <a:lumMod val="75000"/>
                  </a:schemeClr>
                </a:solidFill>
                <a:latin typeface="+mn-lt"/>
                <a:cs typeface="Arial" pitchFamily="34" charset="0"/>
              </a:rPr>
              <a:t>Khởi </a:t>
            </a:r>
            <a:r>
              <a:rPr lang="en-US" sz="1600">
                <a:solidFill>
                  <a:schemeClr val="accent1">
                    <a:lumMod val="75000"/>
                  </a:schemeClr>
                </a:solidFill>
                <a:latin typeface="+mn-lt"/>
                <a:cs typeface="Arial" pitchFamily="34" charset="0"/>
              </a:rPr>
              <a:t>động và lập kế hoạch dự án</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Đánh giá tính khả thi </a:t>
            </a:r>
            <a:r>
              <a:rPr lang="en-US" sz="1600" smtClean="0">
                <a:solidFill>
                  <a:schemeClr val="accent1">
                    <a:lumMod val="75000"/>
                  </a:schemeClr>
                </a:solidFill>
                <a:latin typeface="+mn-lt"/>
                <a:cs typeface="Arial" pitchFamily="34" charset="0"/>
              </a:rPr>
              <a:t>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Xác </a:t>
            </a:r>
            <a:r>
              <a:rPr lang="en-US" sz="2000">
                <a:solidFill>
                  <a:schemeClr val="accent2">
                    <a:lumMod val="50000"/>
                  </a:schemeClr>
                </a:solidFill>
                <a:latin typeface="Calibri" pitchFamily="34" charset="0"/>
                <a:cs typeface="Calibri" pitchFamily="34" charset="0"/>
              </a:rPr>
              <a:t>định và lựa chọn dự án là h</a:t>
            </a:r>
            <a:r>
              <a:rPr lang="vi-VN" sz="2000">
                <a:solidFill>
                  <a:schemeClr val="accent2">
                    <a:lumMod val="50000"/>
                  </a:schemeClr>
                </a:solidFill>
                <a:latin typeface="Calibri" pitchFamily="34" charset="0"/>
                <a:cs typeface="Calibri" pitchFamily="34" charset="0"/>
              </a:rPr>
              <a:t>oạt động đầu tiên của </a:t>
            </a:r>
            <a:r>
              <a:rPr lang="en-US" sz="2000">
                <a:solidFill>
                  <a:schemeClr val="accent2">
                    <a:lumMod val="50000"/>
                  </a:schemeClr>
                </a:solidFill>
                <a:latin typeface="Calibri" pitchFamily="34" charset="0"/>
                <a:cs typeface="Calibri" pitchFamily="34" charset="0"/>
              </a:rPr>
              <a:t>giai đoạn Lựa chọn và lập kế hoạc</a:t>
            </a:r>
            <a:r>
              <a:rPr lang="vi-VN" sz="2000">
                <a:solidFill>
                  <a:schemeClr val="accent2">
                    <a:lumMod val="50000"/>
                  </a:schemeClr>
                </a:solidFill>
                <a:latin typeface="Calibri" pitchFamily="34" charset="0"/>
                <a:cs typeface="Calibri" pitchFamily="34" charset="0"/>
              </a:rPr>
              <a:t>h</a:t>
            </a:r>
            <a:r>
              <a:rPr lang="en-US" sz="2000">
                <a:solidFill>
                  <a:schemeClr val="accent2">
                    <a:lumMod val="50000"/>
                  </a:schemeClr>
                </a:solidFill>
                <a:latin typeface="Calibri" pitchFamily="34" charset="0"/>
                <a:cs typeface="Calibri" pitchFamily="34" charset="0"/>
              </a:rPr>
              <a:t> h</a:t>
            </a:r>
            <a:r>
              <a:rPr lang="vi-VN" sz="2000">
                <a:solidFill>
                  <a:schemeClr val="accent2">
                    <a:lumMod val="50000"/>
                  </a:schemeClr>
                </a:solidFill>
                <a:latin typeface="Calibri" pitchFamily="34" charset="0"/>
                <a:cs typeface="Calibri" pitchFamily="34" charset="0"/>
              </a:rPr>
              <a:t>ệ thống </a:t>
            </a:r>
            <a:r>
              <a:rPr lang="en-US" sz="2000">
                <a:solidFill>
                  <a:schemeClr val="accent2">
                    <a:lumMod val="50000"/>
                  </a:schemeClr>
                </a:solidFill>
                <a:latin typeface="Calibri" pitchFamily="34" charset="0"/>
                <a:cs typeface="Calibri" pitchFamily="34" charset="0"/>
              </a:rPr>
              <a:t>trong vòng đời phát triển hệ thống.</a:t>
            </a:r>
          </a:p>
          <a:p>
            <a:pPr lvl="1" algn="just">
              <a:spcAft>
                <a:spcPts val="683"/>
              </a:spcAft>
              <a:buClr>
                <a:srgbClr val="FF0066"/>
              </a:buClr>
            </a:pPr>
            <a:r>
              <a:rPr lang="vi-VN" sz="1800" smtClean="0">
                <a:solidFill>
                  <a:schemeClr val="accent2">
                    <a:lumMod val="50000"/>
                  </a:schemeClr>
                </a:solidFill>
                <a:latin typeface="Calibri" pitchFamily="34" charset="0"/>
                <a:cs typeface="Calibri" pitchFamily="34" charset="0"/>
              </a:rPr>
              <a:t>Trong </a:t>
            </a:r>
            <a:r>
              <a:rPr lang="vi-VN" sz="1800">
                <a:solidFill>
                  <a:schemeClr val="accent2">
                    <a:lumMod val="50000"/>
                  </a:schemeClr>
                </a:solidFill>
                <a:latin typeface="Calibri" pitchFamily="34" charset="0"/>
                <a:cs typeface="Calibri" pitchFamily="34" charset="0"/>
              </a:rPr>
              <a:t>hoạt động này </a:t>
            </a:r>
            <a:r>
              <a:rPr lang="en-US" sz="1800">
                <a:solidFill>
                  <a:schemeClr val="accent2">
                    <a:lumMod val="50000"/>
                  </a:schemeClr>
                </a:solidFill>
                <a:latin typeface="Calibri" pitchFamily="34" charset="0"/>
                <a:cs typeface="Calibri" pitchFamily="34" charset="0"/>
              </a:rPr>
              <a:t>các </a:t>
            </a:r>
            <a:r>
              <a:rPr lang="vi-VN" sz="1800">
                <a:solidFill>
                  <a:schemeClr val="accent2">
                    <a:lumMod val="50000"/>
                  </a:schemeClr>
                </a:solidFill>
                <a:latin typeface="Calibri" pitchFamily="34" charset="0"/>
                <a:cs typeface="Calibri" pitchFamily="34" charset="0"/>
              </a:rPr>
              <a:t>nhà quản lý cấp cao, </a:t>
            </a:r>
            <a:r>
              <a:rPr lang="en-US" sz="1800">
                <a:solidFill>
                  <a:schemeClr val="accent2">
                    <a:lumMod val="50000"/>
                  </a:schemeClr>
                </a:solidFill>
                <a:latin typeface="Calibri" pitchFamily="34" charset="0"/>
                <a:cs typeface="Calibri" pitchFamily="34" charset="0"/>
              </a:rPr>
              <a:t>đội ngũ</a:t>
            </a:r>
            <a:r>
              <a:rPr lang="vi-VN" sz="1800">
                <a:solidFill>
                  <a:schemeClr val="accent2">
                    <a:lumMod val="50000"/>
                  </a:schemeClr>
                </a:solidFill>
                <a:latin typeface="Calibri" pitchFamily="34" charset="0"/>
                <a:cs typeface="Calibri" pitchFamily="34" charset="0"/>
              </a:rPr>
              <a:t> kinh doanh, </a:t>
            </a:r>
            <a:r>
              <a:rPr lang="en-US" sz="1800">
                <a:solidFill>
                  <a:schemeClr val="accent2">
                    <a:lumMod val="50000"/>
                  </a:schemeClr>
                </a:solidFill>
                <a:latin typeface="Calibri" pitchFamily="34" charset="0"/>
                <a:cs typeface="Calibri" pitchFamily="34" charset="0"/>
              </a:rPr>
              <a:t>nhà quản lý hệ thống sẽ </a:t>
            </a:r>
            <a:r>
              <a:rPr lang="vi-VN" sz="1800">
                <a:solidFill>
                  <a:schemeClr val="accent2">
                    <a:lumMod val="50000"/>
                  </a:schemeClr>
                </a:solidFill>
                <a:latin typeface="Calibri" pitchFamily="34" charset="0"/>
                <a:cs typeface="Calibri" pitchFamily="34" charset="0"/>
              </a:rPr>
              <a:t>xác định và đánh giá tất cả các dự án phát triển hệ thống có thể thực hiện</a:t>
            </a:r>
            <a:r>
              <a:rPr lang="en-US" sz="1800">
                <a:solidFill>
                  <a:schemeClr val="accent2">
                    <a:lumMod val="50000"/>
                  </a:schemeClr>
                </a:solidFill>
                <a:latin typeface="Calibri" pitchFamily="34" charset="0"/>
                <a:cs typeface="Calibri" pitchFamily="34" charset="0"/>
              </a:rPr>
              <a:t> được. </a:t>
            </a:r>
            <a:endParaRPr lang="en-US" sz="1800" smtClean="0">
              <a:solidFill>
                <a:schemeClr val="accent2">
                  <a:lumMod val="50000"/>
                </a:schemeClr>
              </a:solidFill>
              <a:latin typeface="Calibri" pitchFamily="34" charset="0"/>
              <a:cs typeface="Calibri" pitchFamily="34" charset="0"/>
            </a:endParaRPr>
          </a:p>
          <a:p>
            <a:pPr lvl="1" algn="just">
              <a:spcAft>
                <a:spcPts val="683"/>
              </a:spcAft>
              <a:buClr>
                <a:srgbClr val="FF0066"/>
              </a:buClr>
            </a:pPr>
            <a:r>
              <a:rPr lang="vi-VN" sz="1800">
                <a:solidFill>
                  <a:schemeClr val="accent2">
                    <a:lumMod val="50000"/>
                  </a:schemeClr>
                </a:solidFill>
                <a:latin typeface="Calibri" pitchFamily="34" charset="0"/>
                <a:cs typeface="Calibri" pitchFamily="34" charset="0"/>
              </a:rPr>
              <a:t>N</a:t>
            </a:r>
            <a:r>
              <a:rPr lang="vi-VN" sz="1800" smtClean="0">
                <a:solidFill>
                  <a:schemeClr val="accent2">
                    <a:lumMod val="50000"/>
                  </a:schemeClr>
                </a:solidFill>
                <a:latin typeface="Calibri" pitchFamily="34" charset="0"/>
                <a:cs typeface="Calibri" pitchFamily="34" charset="0"/>
              </a:rPr>
              <a:t>hững </a:t>
            </a:r>
            <a:r>
              <a:rPr lang="vi-VN" sz="1800">
                <a:solidFill>
                  <a:schemeClr val="accent2">
                    <a:lumMod val="50000"/>
                  </a:schemeClr>
                </a:solidFill>
                <a:latin typeface="Calibri" pitchFamily="34" charset="0"/>
                <a:cs typeface="Calibri" pitchFamily="34" charset="0"/>
              </a:rPr>
              <a:t>dự án có khả năng mang lại </a:t>
            </a:r>
            <a:r>
              <a:rPr lang="en-US" sz="1800">
                <a:solidFill>
                  <a:schemeClr val="accent2">
                    <a:lumMod val="50000"/>
                  </a:schemeClr>
                </a:solidFill>
                <a:latin typeface="Calibri" pitchFamily="34" charset="0"/>
                <a:cs typeface="Calibri" pitchFamily="34" charset="0"/>
              </a:rPr>
              <a:t>nhiều </a:t>
            </a:r>
            <a:r>
              <a:rPr lang="vi-VN" sz="1800">
                <a:solidFill>
                  <a:schemeClr val="accent2">
                    <a:lumMod val="50000"/>
                  </a:schemeClr>
                </a:solidFill>
                <a:latin typeface="Calibri" pitchFamily="34" charset="0"/>
                <a:cs typeface="Calibri" pitchFamily="34" charset="0"/>
              </a:rPr>
              <a:t>lợi ích </a:t>
            </a:r>
            <a:r>
              <a:rPr lang="en-US" sz="1800">
                <a:solidFill>
                  <a:schemeClr val="accent2">
                    <a:lumMod val="50000"/>
                  </a:schemeClr>
                </a:solidFill>
                <a:latin typeface="Calibri" pitchFamily="34" charset="0"/>
                <a:cs typeface="Calibri" pitchFamily="34" charset="0"/>
              </a:rPr>
              <a:t>cho</a:t>
            </a:r>
            <a:r>
              <a:rPr lang="vi-VN" sz="1800">
                <a:solidFill>
                  <a:schemeClr val="accent2">
                    <a:lumMod val="50000"/>
                  </a:schemeClr>
                </a:solidFill>
                <a:latin typeface="Calibri" pitchFamily="34" charset="0"/>
                <a:cs typeface="Calibri" pitchFamily="34" charset="0"/>
              </a:rPr>
              <a:t> tổ chức</a:t>
            </a:r>
            <a:r>
              <a:rPr lang="en-US" sz="1800">
                <a:solidFill>
                  <a:schemeClr val="accent2">
                    <a:lumMod val="50000"/>
                  </a:schemeClr>
                </a:solidFill>
                <a:latin typeface="Calibri" pitchFamily="34" charset="0"/>
                <a:cs typeface="Calibri" pitchFamily="34" charset="0"/>
              </a:rPr>
              <a:t> dựa trên các</a:t>
            </a:r>
            <a:r>
              <a:rPr lang="vi-VN" sz="1800">
                <a:solidFill>
                  <a:schemeClr val="accent2">
                    <a:lumMod val="50000"/>
                  </a:schemeClr>
                </a:solidFill>
                <a:latin typeface="Calibri" pitchFamily="34" charset="0"/>
                <a:cs typeface="Calibri" pitchFamily="34" charset="0"/>
              </a:rPr>
              <a:t> nguồn lực sẵn có</a:t>
            </a:r>
            <a:r>
              <a:rPr lang="en-US" sz="1800">
                <a:solidFill>
                  <a:schemeClr val="accent2">
                    <a:lumMod val="50000"/>
                  </a:schemeClr>
                </a:solidFill>
                <a:latin typeface="Calibri" pitchFamily="34" charset="0"/>
                <a:cs typeface="Calibri" pitchFamily="34" charset="0"/>
              </a:rPr>
              <a:t> sẽ </a:t>
            </a:r>
            <a:r>
              <a:rPr lang="vi-VN" sz="1800">
                <a:solidFill>
                  <a:schemeClr val="accent2">
                    <a:lumMod val="50000"/>
                  </a:schemeClr>
                </a:solidFill>
                <a:latin typeface="Calibri" pitchFamily="34" charset="0"/>
                <a:cs typeface="Calibri" pitchFamily="34" charset="0"/>
              </a:rPr>
              <a:t>được lựa chọn.</a:t>
            </a:r>
            <a:endParaRPr lang="en-US"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3</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smtClean="0">
                <a:solidFill>
                  <a:schemeClr val="accent6">
                    <a:lumMod val="75000"/>
                  </a:schemeClr>
                </a:solidFill>
                <a:ea typeface="+mj-ea"/>
                <a:cs typeface="Arial" pitchFamily="34" charset="0"/>
              </a:rPr>
              <a:t>1</a:t>
            </a:r>
            <a:r>
              <a:rPr lang="en-US" sz="1600" b="1">
                <a:solidFill>
                  <a:schemeClr val="accent6">
                    <a:lumMod val="75000"/>
                  </a:schemeClr>
                </a:solidFill>
                <a:ea typeface="+mj-ea"/>
                <a:cs typeface="Arial" pitchFamily="34" charset="0"/>
              </a:rPr>
              <a:t>. </a:t>
            </a:r>
            <a:r>
              <a:rPr lang="en-US" sz="1600" b="1" smtClean="0">
                <a:solidFill>
                  <a:schemeClr val="accent6">
                    <a:lumMod val="75000"/>
                  </a:schemeClr>
                </a:solidFill>
                <a:ea typeface="+mj-ea"/>
                <a:cs typeface="Arial" pitchFamily="34" charset="0"/>
              </a:rPr>
              <a:t>Định nghĩa</a:t>
            </a:r>
            <a:endParaRPr lang="vi-VN" sz="1600" b="1">
              <a:solidFill>
                <a:schemeClr val="accent6">
                  <a:lumMod val="75000"/>
                </a:schemeClr>
              </a:solidFill>
              <a:ea typeface="+mj-ea"/>
              <a:cs typeface="Arial" pitchFamily="34" charset="0"/>
            </a:endParaRPr>
          </a:p>
          <a:p>
            <a:pPr marL="0" lvl="1"/>
            <a:r>
              <a:rPr lang="en-US" sz="1600" smtClean="0">
                <a:solidFill>
                  <a:schemeClr val="tx2"/>
                </a:solidFill>
                <a:ea typeface="+mj-ea"/>
                <a:cs typeface="Arial" pitchFamily="34" charset="0"/>
              </a:rPr>
              <a:t>2. Nhu cầu phát triển dự án</a:t>
            </a:r>
          </a:p>
          <a:p>
            <a:pPr marL="0" lvl="1"/>
            <a:r>
              <a:rPr lang="en-US" sz="1600">
                <a:solidFill>
                  <a:schemeClr val="tx2"/>
                </a:solidFill>
                <a:ea typeface="+mj-ea"/>
                <a:cs typeface="Arial" pitchFamily="34" charset="0"/>
              </a:rPr>
              <a:t>3. Quy trình </a:t>
            </a:r>
            <a:r>
              <a:rPr lang="en-US" sz="1600" smtClean="0">
                <a:solidFill>
                  <a:schemeClr val="tx2"/>
                </a:solidFill>
                <a:ea typeface="+mj-ea"/>
                <a:cs typeface="Arial" pitchFamily="34" charset="0"/>
              </a:rPr>
              <a:t>thực hiện</a:t>
            </a:r>
            <a:endParaRPr lang="en-US" sz="1600">
              <a:solidFill>
                <a:schemeClr val="tx2"/>
              </a:solidFill>
              <a:ea typeface="+mj-ea"/>
              <a:cs typeface="Arial" pitchFamily="34" charset="0"/>
            </a:endParaRPr>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2276474" y="3356992"/>
            <a:ext cx="5027265" cy="3384376"/>
          </a:xfrm>
          <a:prstGeom prst="rect">
            <a:avLst/>
          </a:prstGeom>
          <a:noFill/>
          <a:ln>
            <a:noFill/>
          </a:ln>
        </p:spPr>
      </p:pic>
    </p:spTree>
    <p:extLst>
      <p:ext uri="{BB962C8B-B14F-4D97-AF65-F5344CB8AC3E}">
        <p14:creationId xmlns:p14="http://schemas.microsoft.com/office/powerpoint/2010/main" val="12399267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b="1" smtClean="0">
                <a:solidFill>
                  <a:schemeClr val="accent6">
                    <a:lumMod val="75000"/>
                  </a:schemeClr>
                </a:solidFill>
                <a:latin typeface="Calibri (Body)"/>
                <a:cs typeface="Arial" pitchFamily="34" charset="0"/>
              </a:rPr>
              <a:t>1. </a:t>
            </a:r>
            <a:r>
              <a:rPr lang="vi-VN" sz="1600" b="1" smtClean="0">
                <a:solidFill>
                  <a:schemeClr val="accent6">
                    <a:lumMod val="75000"/>
                  </a:schemeClr>
                </a:solidFill>
                <a:latin typeface="Calibri (Body)"/>
                <a:cs typeface="Arial" pitchFamily="34" charset="0"/>
              </a:rPr>
              <a:t>Xác </a:t>
            </a:r>
            <a:r>
              <a:rPr lang="vi-VN" sz="1600" b="1">
                <a:solidFill>
                  <a:schemeClr val="accent6">
                    <a:lumMod val="75000"/>
                  </a:schemeClr>
                </a:solidFill>
                <a:latin typeface="Calibri (Body)"/>
                <a:cs typeface="Arial" pitchFamily="34" charset="0"/>
              </a:rPr>
              <a:t>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en-US" sz="1600" smtClean="0">
                <a:solidFill>
                  <a:schemeClr val="accent1">
                    <a:lumMod val="75000"/>
                  </a:schemeClr>
                </a:solidFill>
                <a:latin typeface="+mn-lt"/>
                <a:cs typeface="Arial" pitchFamily="34" charset="0"/>
              </a:rPr>
              <a:t>Khởi </a:t>
            </a:r>
            <a:r>
              <a:rPr lang="en-US" sz="1600">
                <a:solidFill>
                  <a:schemeClr val="accent1">
                    <a:lumMod val="75000"/>
                  </a:schemeClr>
                </a:solidFill>
                <a:latin typeface="+mn-lt"/>
                <a:cs typeface="Arial" pitchFamily="34" charset="0"/>
              </a:rPr>
              <a:t>động và lập kế hoạch dự án</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Đánh giá tính khả thi </a:t>
            </a:r>
            <a:r>
              <a:rPr lang="en-US" sz="1600" smtClean="0">
                <a:solidFill>
                  <a:schemeClr val="accent1">
                    <a:lumMod val="75000"/>
                  </a:schemeClr>
                </a:solidFill>
                <a:latin typeface="+mn-lt"/>
                <a:cs typeface="Arial" pitchFamily="34" charset="0"/>
              </a:rPr>
              <a:t>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Nhu </a:t>
            </a:r>
            <a:r>
              <a:rPr lang="en-US" sz="2000">
                <a:solidFill>
                  <a:schemeClr val="accent2">
                    <a:lumMod val="50000"/>
                  </a:schemeClr>
                </a:solidFill>
                <a:latin typeface="Calibri" pitchFamily="34" charset="0"/>
                <a:cs typeface="Calibri" pitchFamily="34" charset="0"/>
              </a:rPr>
              <a:t>cầu phát triển một </a:t>
            </a:r>
            <a:r>
              <a:rPr lang="en-US" sz="2000" smtClean="0">
                <a:solidFill>
                  <a:schemeClr val="accent2">
                    <a:lumMod val="50000"/>
                  </a:schemeClr>
                </a:solidFill>
                <a:latin typeface="Calibri" pitchFamily="34" charset="0"/>
                <a:cs typeface="Calibri" pitchFamily="34" charset="0"/>
              </a:rPr>
              <a:t>dự án thông </a:t>
            </a:r>
            <a:r>
              <a:rPr lang="en-US" sz="2000">
                <a:solidFill>
                  <a:schemeClr val="accent2">
                    <a:lumMod val="50000"/>
                  </a:schemeClr>
                </a:solidFill>
                <a:latin typeface="Calibri" pitchFamily="34" charset="0"/>
                <a:cs typeface="Calibri" pitchFamily="34" charset="0"/>
              </a:rPr>
              <a:t>tin có thể xuất phát từ những yêu cầu sau</a:t>
            </a:r>
            <a:r>
              <a:rPr lang="en-US" sz="2000" smtClean="0">
                <a:solidFill>
                  <a:schemeClr val="accent2">
                    <a:lumMod val="50000"/>
                  </a:schemeClr>
                </a:solidFill>
                <a:latin typeface="Calibri" pitchFamily="34" charset="0"/>
                <a:cs typeface="Calibri" pitchFamily="34" charset="0"/>
              </a:rPr>
              <a:t>:</a:t>
            </a:r>
          </a:p>
          <a:p>
            <a:pPr marL="520523" lvl="1" indent="0" algn="just">
              <a:spcAft>
                <a:spcPts val="683"/>
              </a:spcAft>
              <a:buClr>
                <a:srgbClr val="FF0066"/>
              </a:buClr>
              <a:buNone/>
            </a:pPr>
            <a:r>
              <a:rPr lang="en-US" sz="1800">
                <a:solidFill>
                  <a:srgbClr val="FF0066"/>
                </a:solidFill>
                <a:latin typeface="Calibri" pitchFamily="34" charset="0"/>
                <a:cs typeface="Calibri" pitchFamily="34" charset="0"/>
              </a:rPr>
              <a:t>1. </a:t>
            </a:r>
            <a:r>
              <a:rPr lang="en-US" sz="1800" i="1">
                <a:solidFill>
                  <a:schemeClr val="accent2">
                    <a:lumMod val="50000"/>
                  </a:schemeClr>
                </a:solidFill>
                <a:latin typeface="Calibri" pitchFamily="34" charset="0"/>
                <a:cs typeface="Calibri" pitchFamily="34" charset="0"/>
              </a:rPr>
              <a:t>Nhà quản lý và bộ phận kinh doanh </a:t>
            </a:r>
            <a:r>
              <a:rPr lang="en-US" sz="1800">
                <a:solidFill>
                  <a:schemeClr val="accent2">
                    <a:lumMod val="50000"/>
                  </a:schemeClr>
                </a:solidFill>
                <a:latin typeface="Calibri" pitchFamily="34" charset="0"/>
                <a:cs typeface="Calibri" pitchFamily="34" charset="0"/>
              </a:rPr>
              <a:t>(Managers and business units</a:t>
            </a:r>
            <a:r>
              <a:rPr lang="en-US" sz="1800" smtClean="0">
                <a:solidFill>
                  <a:schemeClr val="accent2">
                    <a:lumMod val="50000"/>
                  </a:schemeClr>
                </a:solidFill>
                <a:latin typeface="Calibri" pitchFamily="34" charset="0"/>
                <a:cs typeface="Calibri" pitchFamily="34" charset="0"/>
              </a:rPr>
              <a:t>): </a:t>
            </a:r>
            <a:r>
              <a:rPr lang="en-US" sz="1800">
                <a:solidFill>
                  <a:schemeClr val="accent2">
                    <a:lumMod val="50000"/>
                  </a:schemeClr>
                </a:solidFill>
                <a:latin typeface="Calibri" pitchFamily="34" charset="0"/>
                <a:cs typeface="Calibri" pitchFamily="34" charset="0"/>
              </a:rPr>
              <a:t>muốn thay thế hoặc mở rộng hệ thống hiện tại để có thể thu được các thông tin cần thiết hoặc để cung cấp một dịch vụ mới cho khách hàng.</a:t>
            </a:r>
            <a:endParaRPr lang="vi-VN" sz="1800">
              <a:solidFill>
                <a:schemeClr val="accent2">
                  <a:lumMod val="50000"/>
                </a:schemeClr>
              </a:solidFill>
              <a:latin typeface="Calibri" pitchFamily="34" charset="0"/>
              <a:cs typeface="Calibri" pitchFamily="34" charset="0"/>
            </a:endParaRPr>
          </a:p>
          <a:p>
            <a:pPr marL="542925" indent="0">
              <a:buNone/>
            </a:pPr>
            <a:r>
              <a:rPr lang="en-US" sz="1800">
                <a:solidFill>
                  <a:srgbClr val="FF0066"/>
                </a:solidFill>
                <a:latin typeface="Calibri" pitchFamily="34" charset="0"/>
                <a:cs typeface="Calibri" pitchFamily="34" charset="0"/>
              </a:rPr>
              <a:t>2. </a:t>
            </a:r>
            <a:r>
              <a:rPr lang="en-US" sz="1800" i="1">
                <a:solidFill>
                  <a:schemeClr val="accent2">
                    <a:lumMod val="50000"/>
                  </a:schemeClr>
                </a:solidFill>
                <a:latin typeface="Calibri" pitchFamily="34" charset="0"/>
                <a:cs typeface="Calibri" pitchFamily="34" charset="0"/>
              </a:rPr>
              <a:t>Nhà quản lý hệ thống thông tin </a:t>
            </a:r>
            <a:r>
              <a:rPr lang="en-US" sz="1800">
                <a:solidFill>
                  <a:schemeClr val="accent2">
                    <a:lumMod val="50000"/>
                  </a:schemeClr>
                </a:solidFill>
                <a:latin typeface="Calibri" pitchFamily="34" charset="0"/>
                <a:cs typeface="Calibri" pitchFamily="34" charset="0"/>
              </a:rPr>
              <a:t>(Information systems managers</a:t>
            </a:r>
            <a:r>
              <a:rPr lang="en-US" sz="1800" smtClean="0">
                <a:solidFill>
                  <a:schemeClr val="accent2">
                    <a:lumMod val="50000"/>
                  </a:schemeClr>
                </a:solidFill>
                <a:latin typeface="Calibri" pitchFamily="34" charset="0"/>
                <a:cs typeface="Calibri" pitchFamily="34" charset="0"/>
              </a:rPr>
              <a:t>): </a:t>
            </a:r>
            <a:r>
              <a:rPr lang="en-US" sz="1800">
                <a:solidFill>
                  <a:schemeClr val="accent2">
                    <a:lumMod val="50000"/>
                  </a:schemeClr>
                </a:solidFill>
                <a:latin typeface="Calibri" pitchFamily="34" charset="0"/>
                <a:cs typeface="Calibri" pitchFamily="34" charset="0"/>
              </a:rPr>
              <a:t>muốn hệ thống hoạt động hiệu quả hơn, ít tốn kém tài nguyên hơn hoặc muốn chuyển hệ thống sang một môi trường hoạt động mới.</a:t>
            </a:r>
            <a:endParaRPr lang="vi-VN" sz="1800">
              <a:solidFill>
                <a:schemeClr val="accent2">
                  <a:lumMod val="50000"/>
                </a:schemeClr>
              </a:solidFill>
              <a:latin typeface="Calibri" pitchFamily="34" charset="0"/>
              <a:cs typeface="Calibri" pitchFamily="34" charset="0"/>
            </a:endParaRPr>
          </a:p>
          <a:p>
            <a:pPr marL="542925" indent="0">
              <a:buNone/>
            </a:pPr>
            <a:r>
              <a:rPr lang="en-US" sz="1800">
                <a:solidFill>
                  <a:srgbClr val="FF0066"/>
                </a:solidFill>
                <a:latin typeface="Calibri" pitchFamily="34" charset="0"/>
                <a:cs typeface="Calibri" pitchFamily="34" charset="0"/>
              </a:rPr>
              <a:t>3. </a:t>
            </a:r>
            <a:r>
              <a:rPr lang="en-US" sz="1800" i="1">
                <a:solidFill>
                  <a:schemeClr val="accent2">
                    <a:lumMod val="50000"/>
                  </a:schemeClr>
                </a:solidFill>
                <a:latin typeface="Calibri" pitchFamily="34" charset="0"/>
                <a:cs typeface="Calibri" pitchFamily="34" charset="0"/>
              </a:rPr>
              <a:t>Đội ngũ lập kế hoạch </a:t>
            </a:r>
            <a:r>
              <a:rPr lang="en-US" sz="1800">
                <a:solidFill>
                  <a:schemeClr val="accent2">
                    <a:lumMod val="50000"/>
                  </a:schemeClr>
                </a:solidFill>
                <a:latin typeface="Calibri" pitchFamily="34" charset="0"/>
                <a:cs typeface="Calibri" pitchFamily="34" charset="0"/>
              </a:rPr>
              <a:t>(Formal planning groups</a:t>
            </a:r>
            <a:r>
              <a:rPr lang="en-US" sz="1800" smtClean="0">
                <a:solidFill>
                  <a:schemeClr val="accent2">
                    <a:lumMod val="50000"/>
                  </a:schemeClr>
                </a:solidFill>
                <a:latin typeface="Calibri" pitchFamily="34" charset="0"/>
                <a:cs typeface="Calibri" pitchFamily="34" charset="0"/>
              </a:rPr>
              <a:t>): </a:t>
            </a:r>
            <a:r>
              <a:rPr lang="en-US" sz="1800">
                <a:solidFill>
                  <a:schemeClr val="accent2">
                    <a:lumMod val="50000"/>
                  </a:schemeClr>
                </a:solidFill>
                <a:latin typeface="Calibri" pitchFamily="34" charset="0"/>
                <a:cs typeface="Calibri" pitchFamily="34" charset="0"/>
              </a:rPr>
              <a:t>muốn cải thiện hệ thống hiện có để giúp tổ chức đáp ứng các mục tiêu </a:t>
            </a:r>
            <a:r>
              <a:rPr lang="en-US" sz="1800" smtClean="0">
                <a:solidFill>
                  <a:schemeClr val="accent2">
                    <a:lumMod val="50000"/>
                  </a:schemeClr>
                </a:solidFill>
                <a:latin typeface="Calibri" pitchFamily="34" charset="0"/>
                <a:cs typeface="Calibri" pitchFamily="34" charset="0"/>
              </a:rPr>
              <a:t>đề ra như </a:t>
            </a:r>
            <a:r>
              <a:rPr lang="en-US" sz="1800">
                <a:solidFill>
                  <a:schemeClr val="accent2">
                    <a:lumMod val="50000"/>
                  </a:schemeClr>
                </a:solidFill>
                <a:latin typeface="Calibri" pitchFamily="34" charset="0"/>
                <a:cs typeface="Calibri" pitchFamily="34" charset="0"/>
              </a:rPr>
              <a:t>cung cấp dịch vụ khách hàng tốt </a:t>
            </a:r>
            <a:r>
              <a:rPr lang="en-US" sz="1800" smtClean="0">
                <a:solidFill>
                  <a:schemeClr val="accent2">
                    <a:lumMod val="50000"/>
                  </a:schemeClr>
                </a:solidFill>
                <a:latin typeface="Calibri" pitchFamily="34" charset="0"/>
                <a:cs typeface="Calibri" pitchFamily="34" charset="0"/>
              </a:rPr>
              <a:t>hơn…</a:t>
            </a:r>
            <a:endParaRPr lang="en-US"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4</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Định nghĩa</a:t>
            </a:r>
            <a:endParaRPr lang="vi-VN" sz="1600">
              <a:solidFill>
                <a:schemeClr val="tx2"/>
              </a:solidFill>
              <a:ea typeface="+mj-ea"/>
              <a:cs typeface="Arial" pitchFamily="34" charset="0"/>
            </a:endParaRPr>
          </a:p>
          <a:p>
            <a:pPr marL="0" lvl="1"/>
            <a:r>
              <a:rPr lang="en-US" sz="1600" b="1">
                <a:solidFill>
                  <a:schemeClr val="accent6">
                    <a:lumMod val="75000"/>
                  </a:schemeClr>
                </a:solidFill>
                <a:ea typeface="+mj-ea"/>
                <a:cs typeface="Arial" pitchFamily="34" charset="0"/>
              </a:rPr>
              <a:t>2. Nhu cầu phát triển dự </a:t>
            </a:r>
            <a:r>
              <a:rPr lang="en-US" sz="1600" b="1" smtClean="0">
                <a:solidFill>
                  <a:schemeClr val="accent6">
                    <a:lumMod val="75000"/>
                  </a:schemeClr>
                </a:solidFill>
                <a:ea typeface="+mj-ea"/>
                <a:cs typeface="Arial" pitchFamily="34" charset="0"/>
              </a:rPr>
              <a:t>án</a:t>
            </a:r>
          </a:p>
          <a:p>
            <a:pPr marL="0" lvl="1"/>
            <a:r>
              <a:rPr lang="en-US" sz="1600">
                <a:solidFill>
                  <a:schemeClr val="tx2"/>
                </a:solidFill>
                <a:cs typeface="Arial" pitchFamily="34" charset="0"/>
              </a:rPr>
              <a:t>3. Quy trình </a:t>
            </a:r>
            <a:r>
              <a:rPr lang="en-US" sz="1600" smtClean="0">
                <a:solidFill>
                  <a:schemeClr val="tx2"/>
                </a:solidFill>
                <a:cs typeface="Arial" pitchFamily="34" charset="0"/>
              </a:rPr>
              <a:t>thực hiện</a:t>
            </a:r>
            <a:endParaRPr lang="en-US" sz="1600" b="1">
              <a:solidFill>
                <a:schemeClr val="accent6">
                  <a:lumMod val="75000"/>
                </a:schemeClr>
              </a:solidFill>
              <a:ea typeface="+mj-ea"/>
              <a:cs typeface="Arial" pitchFamily="34" charset="0"/>
            </a:endParaRPr>
          </a:p>
        </p:txBody>
      </p:sp>
      <p:pic>
        <p:nvPicPr>
          <p:cNvPr id="9" name="Picture 8"/>
          <p:cNvPicPr/>
          <p:nvPr/>
        </p:nvPicPr>
        <p:blipFill>
          <a:blip r:embed="rId2">
            <a:extLst>
              <a:ext uri="{28A0092B-C50C-407E-A947-70E740481C1C}">
                <a14:useLocalDpi xmlns:a14="http://schemas.microsoft.com/office/drawing/2010/main" val="0"/>
              </a:ext>
            </a:extLst>
          </a:blip>
          <a:srcRect/>
          <a:stretch>
            <a:fillRect/>
          </a:stretch>
        </p:blipFill>
        <p:spPr bwMode="auto">
          <a:xfrm>
            <a:off x="1967534" y="4221088"/>
            <a:ext cx="5328592" cy="2636912"/>
          </a:xfrm>
          <a:prstGeom prst="rect">
            <a:avLst/>
          </a:prstGeom>
          <a:noFill/>
          <a:ln>
            <a:noFill/>
          </a:ln>
        </p:spPr>
      </p:pic>
    </p:spTree>
    <p:extLst>
      <p:ext uri="{BB962C8B-B14F-4D97-AF65-F5344CB8AC3E}">
        <p14:creationId xmlns:p14="http://schemas.microsoft.com/office/powerpoint/2010/main" val="29676950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b="1" smtClean="0">
                <a:solidFill>
                  <a:schemeClr val="accent6">
                    <a:lumMod val="75000"/>
                  </a:schemeClr>
                </a:solidFill>
                <a:latin typeface="Calibri (Body)"/>
                <a:cs typeface="Arial" pitchFamily="34" charset="0"/>
              </a:rPr>
              <a:t>1. </a:t>
            </a:r>
            <a:r>
              <a:rPr lang="vi-VN" sz="1600" b="1" smtClean="0">
                <a:solidFill>
                  <a:schemeClr val="accent6">
                    <a:lumMod val="75000"/>
                  </a:schemeClr>
                </a:solidFill>
                <a:latin typeface="Calibri (Body)"/>
                <a:cs typeface="Arial" pitchFamily="34" charset="0"/>
              </a:rPr>
              <a:t>Xác </a:t>
            </a:r>
            <a:r>
              <a:rPr lang="vi-VN" sz="1600" b="1">
                <a:solidFill>
                  <a:schemeClr val="accent6">
                    <a:lumMod val="75000"/>
                  </a:schemeClr>
                </a:solidFill>
                <a:latin typeface="Calibri (Body)"/>
                <a:cs typeface="Arial" pitchFamily="34" charset="0"/>
              </a:rPr>
              <a:t>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en-US" sz="1600" smtClean="0">
                <a:solidFill>
                  <a:schemeClr val="accent1">
                    <a:lumMod val="75000"/>
                  </a:schemeClr>
                </a:solidFill>
                <a:latin typeface="+mn-lt"/>
                <a:cs typeface="Arial" pitchFamily="34" charset="0"/>
              </a:rPr>
              <a:t>Khởi </a:t>
            </a:r>
            <a:r>
              <a:rPr lang="en-US" sz="1600">
                <a:solidFill>
                  <a:schemeClr val="accent1">
                    <a:lumMod val="75000"/>
                  </a:schemeClr>
                </a:solidFill>
                <a:latin typeface="+mn-lt"/>
                <a:cs typeface="Arial" pitchFamily="34" charset="0"/>
              </a:rPr>
              <a:t>động và lập kế hoạch dự án</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Đánh giá tính khả thi </a:t>
            </a:r>
            <a:r>
              <a:rPr lang="en-US" sz="1600" smtClean="0">
                <a:solidFill>
                  <a:schemeClr val="accent1">
                    <a:lumMod val="75000"/>
                  </a:schemeClr>
                </a:solidFill>
                <a:latin typeface="+mn-lt"/>
                <a:cs typeface="Arial" pitchFamily="34" charset="0"/>
              </a:rPr>
              <a:t>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Quy trình xác định và lựa chọn dự án được tiến hành theo 3 bước:</a:t>
            </a:r>
          </a:p>
          <a:p>
            <a:pPr lvl="1" algn="just">
              <a:spcAft>
                <a:spcPts val="683"/>
              </a:spcAft>
              <a:buClr>
                <a:srgbClr val="FF0066"/>
              </a:buClr>
            </a:pPr>
            <a:r>
              <a:rPr lang="vi-VN" sz="1800" smtClean="0">
                <a:solidFill>
                  <a:schemeClr val="accent2">
                    <a:lumMod val="50000"/>
                  </a:schemeClr>
                </a:solidFill>
                <a:latin typeface="Calibri" pitchFamily="34" charset="0"/>
                <a:cs typeface="Calibri" pitchFamily="34" charset="0"/>
              </a:rPr>
              <a:t>Xác </a:t>
            </a:r>
            <a:r>
              <a:rPr lang="vi-VN" sz="1800">
                <a:solidFill>
                  <a:schemeClr val="accent2">
                    <a:lumMod val="50000"/>
                  </a:schemeClr>
                </a:solidFill>
                <a:latin typeface="Calibri" pitchFamily="34" charset="0"/>
                <a:cs typeface="Calibri" pitchFamily="34" charset="0"/>
              </a:rPr>
              <a:t>định các dự án phát triển tiềm </a:t>
            </a:r>
            <a:r>
              <a:rPr lang="vi-VN" sz="1800" smtClean="0">
                <a:solidFill>
                  <a:schemeClr val="accent2">
                    <a:lumMod val="50000"/>
                  </a:schemeClr>
                </a:solidFill>
                <a:latin typeface="Calibri" pitchFamily="34" charset="0"/>
                <a:cs typeface="Calibri" pitchFamily="34" charset="0"/>
              </a:rPr>
              <a:t>năng.</a:t>
            </a:r>
          </a:p>
          <a:p>
            <a:pPr lvl="1" algn="just">
              <a:spcAft>
                <a:spcPts val="683"/>
              </a:spcAft>
              <a:buClr>
                <a:srgbClr val="FF0066"/>
              </a:buClr>
            </a:pPr>
            <a:r>
              <a:rPr lang="vi-VN" sz="1800" smtClean="0">
                <a:solidFill>
                  <a:schemeClr val="accent2">
                    <a:lumMod val="50000"/>
                  </a:schemeClr>
                </a:solidFill>
                <a:latin typeface="Calibri" pitchFamily="34" charset="0"/>
                <a:cs typeface="Calibri" pitchFamily="34" charset="0"/>
              </a:rPr>
              <a:t>Phân </a:t>
            </a:r>
            <a:r>
              <a:rPr lang="vi-VN" sz="1800">
                <a:solidFill>
                  <a:schemeClr val="accent2">
                    <a:lumMod val="50000"/>
                  </a:schemeClr>
                </a:solidFill>
                <a:latin typeface="Calibri" pitchFamily="34" charset="0"/>
                <a:cs typeface="Calibri" pitchFamily="34" charset="0"/>
              </a:rPr>
              <a:t>loại và xếp hạng các dự </a:t>
            </a:r>
            <a:r>
              <a:rPr lang="vi-VN" sz="1800" smtClean="0">
                <a:solidFill>
                  <a:schemeClr val="accent2">
                    <a:lumMod val="50000"/>
                  </a:schemeClr>
                </a:solidFill>
                <a:latin typeface="Calibri" pitchFamily="34" charset="0"/>
                <a:cs typeface="Calibri" pitchFamily="34" charset="0"/>
              </a:rPr>
              <a:t>án.</a:t>
            </a:r>
          </a:p>
          <a:p>
            <a:pPr lvl="1" algn="just">
              <a:spcAft>
                <a:spcPts val="683"/>
              </a:spcAft>
              <a:buClr>
                <a:srgbClr val="FF0066"/>
              </a:buClr>
            </a:pPr>
            <a:r>
              <a:rPr lang="vi-VN" sz="1800" smtClean="0">
                <a:solidFill>
                  <a:schemeClr val="accent2">
                    <a:lumMod val="50000"/>
                  </a:schemeClr>
                </a:solidFill>
                <a:latin typeface="Calibri" pitchFamily="34" charset="0"/>
                <a:cs typeface="Calibri" pitchFamily="34" charset="0"/>
              </a:rPr>
              <a:t>Lựa </a:t>
            </a:r>
            <a:r>
              <a:rPr lang="vi-VN" sz="1800">
                <a:solidFill>
                  <a:schemeClr val="accent2">
                    <a:lumMod val="50000"/>
                  </a:schemeClr>
                </a:solidFill>
                <a:latin typeface="Calibri" pitchFamily="34" charset="0"/>
                <a:cs typeface="Calibri" pitchFamily="34" charset="0"/>
              </a:rPr>
              <a:t>chọn phương án phát </a:t>
            </a:r>
            <a:r>
              <a:rPr lang="vi-VN" sz="1800" smtClean="0">
                <a:solidFill>
                  <a:schemeClr val="accent2">
                    <a:lumMod val="50000"/>
                  </a:schemeClr>
                </a:solidFill>
                <a:latin typeface="Calibri" pitchFamily="34" charset="0"/>
                <a:cs typeface="Calibri" pitchFamily="34" charset="0"/>
              </a:rPr>
              <a:t>triển.</a:t>
            </a:r>
            <a:endParaRPr lang="en-US" sz="1800">
              <a:solidFill>
                <a:schemeClr val="accent2">
                  <a:lumMod val="50000"/>
                </a:schemeClr>
              </a:solidFill>
              <a:latin typeface="Calibri" pitchFamily="34" charset="0"/>
              <a:cs typeface="Calibri" pitchFamily="34" charset="0"/>
            </a:endParaRPr>
          </a:p>
          <a:p>
            <a:pPr marL="0" lvl="1" indent="0">
              <a:buNone/>
            </a:pPr>
            <a:endParaRPr lang="en-US"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836"/>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5</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Định nghĩa</a:t>
            </a:r>
            <a:endParaRPr lang="vi-VN" sz="1600">
              <a:solidFill>
                <a:schemeClr val="tx2"/>
              </a:solidFill>
              <a:ea typeface="+mj-ea"/>
              <a:cs typeface="Arial" pitchFamily="34" charset="0"/>
            </a:endParaRPr>
          </a:p>
          <a:p>
            <a:pPr marL="0" lvl="1"/>
            <a:r>
              <a:rPr lang="en-US" sz="1600">
                <a:solidFill>
                  <a:schemeClr val="tx2"/>
                </a:solidFill>
                <a:ea typeface="+mj-ea"/>
                <a:cs typeface="Arial" pitchFamily="34" charset="0"/>
              </a:rPr>
              <a:t>2. Nhu cầu phát triển dự án</a:t>
            </a:r>
          </a:p>
          <a:p>
            <a:pPr marL="0" lvl="1"/>
            <a:r>
              <a:rPr lang="en-US" sz="1600" b="1">
                <a:solidFill>
                  <a:schemeClr val="accent6">
                    <a:lumMod val="75000"/>
                  </a:schemeClr>
                </a:solidFill>
                <a:ea typeface="+mj-ea"/>
                <a:cs typeface="Arial" pitchFamily="34" charset="0"/>
              </a:rPr>
              <a:t>3. Quy trình </a:t>
            </a:r>
            <a:r>
              <a:rPr lang="en-US" sz="1600" b="1" smtClean="0">
                <a:solidFill>
                  <a:schemeClr val="accent6">
                    <a:lumMod val="75000"/>
                  </a:schemeClr>
                </a:solidFill>
                <a:ea typeface="+mj-ea"/>
                <a:cs typeface="Arial" pitchFamily="34" charset="0"/>
              </a:rPr>
              <a:t>thực hiện</a:t>
            </a:r>
            <a:endParaRPr lang="en-US" sz="1600" b="1">
              <a:solidFill>
                <a:schemeClr val="accent6">
                  <a:lumMod val="75000"/>
                </a:schemeClr>
              </a:solidFill>
              <a:ea typeface="+mj-ea"/>
              <a:cs typeface="Arial" pitchFamily="34" charset="0"/>
            </a:endParaRPr>
          </a:p>
        </p:txBody>
      </p:sp>
    </p:spTree>
    <p:extLst>
      <p:ext uri="{BB962C8B-B14F-4D97-AF65-F5344CB8AC3E}">
        <p14:creationId xmlns:p14="http://schemas.microsoft.com/office/powerpoint/2010/main" val="23915515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b="1" smtClean="0">
                <a:solidFill>
                  <a:schemeClr val="accent6">
                    <a:lumMod val="75000"/>
                  </a:schemeClr>
                </a:solidFill>
                <a:latin typeface="Calibri (Body)"/>
                <a:cs typeface="Arial" pitchFamily="34" charset="0"/>
              </a:rPr>
              <a:t>1. </a:t>
            </a:r>
            <a:r>
              <a:rPr lang="vi-VN" sz="1600" b="1" smtClean="0">
                <a:solidFill>
                  <a:schemeClr val="accent6">
                    <a:lumMod val="75000"/>
                  </a:schemeClr>
                </a:solidFill>
                <a:latin typeface="Calibri (Body)"/>
                <a:cs typeface="Arial" pitchFamily="34" charset="0"/>
              </a:rPr>
              <a:t>Xác </a:t>
            </a:r>
            <a:r>
              <a:rPr lang="vi-VN" sz="1600" b="1">
                <a:solidFill>
                  <a:schemeClr val="accent6">
                    <a:lumMod val="75000"/>
                  </a:schemeClr>
                </a:solidFill>
                <a:latin typeface="Calibri (Body)"/>
                <a:cs typeface="Arial" pitchFamily="34" charset="0"/>
              </a:rPr>
              <a:t>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en-US" sz="1600" smtClean="0">
                <a:solidFill>
                  <a:schemeClr val="accent1">
                    <a:lumMod val="75000"/>
                  </a:schemeClr>
                </a:solidFill>
                <a:latin typeface="+mn-lt"/>
                <a:cs typeface="Arial" pitchFamily="34" charset="0"/>
              </a:rPr>
              <a:t>Khởi </a:t>
            </a:r>
            <a:r>
              <a:rPr lang="en-US" sz="1600">
                <a:solidFill>
                  <a:schemeClr val="accent1">
                    <a:lumMod val="75000"/>
                  </a:schemeClr>
                </a:solidFill>
                <a:latin typeface="+mn-lt"/>
                <a:cs typeface="Arial" pitchFamily="34" charset="0"/>
              </a:rPr>
              <a:t>động và lập kế hoạch dự án</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Đánh giá tính khả thi </a:t>
            </a:r>
            <a:r>
              <a:rPr lang="en-US" sz="1600" smtClean="0">
                <a:solidFill>
                  <a:schemeClr val="accent1">
                    <a:lumMod val="75000"/>
                  </a:schemeClr>
                </a:solidFill>
                <a:latin typeface="+mn-lt"/>
                <a:cs typeface="Arial" pitchFamily="34" charset="0"/>
              </a:rPr>
              <a:t>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8"/>
          </a:xfrm>
        </p:spPr>
        <p:txBody>
          <a:bodyPr>
            <a:normAutofit/>
          </a:bodyPr>
          <a:lstStyle/>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Xác </a:t>
            </a:r>
            <a:r>
              <a:rPr lang="en-US" sz="2000">
                <a:solidFill>
                  <a:schemeClr val="accent2">
                    <a:lumMod val="50000"/>
                  </a:schemeClr>
                </a:solidFill>
                <a:latin typeface="Calibri" pitchFamily="34" charset="0"/>
                <a:cs typeface="Calibri" pitchFamily="34" charset="0"/>
              </a:rPr>
              <a:t>định các dự án phát triển tiềm năng của một tổ chức có thể được thực hiện bởi nhiều </a:t>
            </a:r>
            <a:r>
              <a:rPr lang="en-US" sz="2000" smtClean="0">
                <a:solidFill>
                  <a:schemeClr val="accent2">
                    <a:lumMod val="50000"/>
                  </a:schemeClr>
                </a:solidFill>
                <a:latin typeface="Calibri" pitchFamily="34" charset="0"/>
                <a:cs typeface="Calibri" pitchFamily="34" charset="0"/>
              </a:rPr>
              <a:t>đối tượng khác </a:t>
            </a:r>
            <a:r>
              <a:rPr lang="en-US" sz="2000">
                <a:solidFill>
                  <a:schemeClr val="accent2">
                    <a:lumMod val="50000"/>
                  </a:schemeClr>
                </a:solidFill>
                <a:latin typeface="Calibri" pitchFamily="34" charset="0"/>
                <a:cs typeface="Calibri" pitchFamily="34" charset="0"/>
              </a:rPr>
              <a:t>nhau như</a:t>
            </a:r>
            <a:r>
              <a:rPr lang="en-US" sz="2000" smtClean="0">
                <a:solidFill>
                  <a:schemeClr val="accent2">
                    <a:lumMod val="50000"/>
                  </a:schemeClr>
                </a:solidFill>
                <a:latin typeface="Calibri" pitchFamily="34" charset="0"/>
                <a:cs typeface="Calibri" pitchFamily="34" charset="0"/>
              </a:rPr>
              <a:t>:</a:t>
            </a:r>
          </a:p>
          <a:p>
            <a:pPr marL="863423" lvl="1" indent="-342900" algn="just">
              <a:spcBef>
                <a:spcPts val="600"/>
              </a:spcBef>
              <a:buClr>
                <a:srgbClr val="FF0066"/>
              </a:buClr>
              <a:buAutoNum type="arabicParenBoth"/>
            </a:pPr>
            <a:r>
              <a:rPr lang="en-US" sz="1800" smtClean="0">
                <a:solidFill>
                  <a:schemeClr val="accent2">
                    <a:lumMod val="50000"/>
                  </a:schemeClr>
                </a:solidFill>
                <a:latin typeface="Calibri" pitchFamily="34" charset="0"/>
                <a:cs typeface="Calibri" pitchFamily="34" charset="0"/>
              </a:rPr>
              <a:t>Top </a:t>
            </a:r>
            <a:r>
              <a:rPr lang="en-US" sz="1800">
                <a:solidFill>
                  <a:schemeClr val="accent2">
                    <a:lumMod val="50000"/>
                  </a:schemeClr>
                </a:solidFill>
                <a:latin typeface="Calibri" pitchFamily="34" charset="0"/>
                <a:cs typeface="Calibri" pitchFamily="34" charset="0"/>
              </a:rPr>
              <a:t>management - </a:t>
            </a:r>
            <a:r>
              <a:rPr lang="en-US" sz="1800" smtClean="0">
                <a:solidFill>
                  <a:schemeClr val="accent2">
                    <a:lumMod val="50000"/>
                  </a:schemeClr>
                </a:solidFill>
                <a:latin typeface="Calibri" pitchFamily="34" charset="0"/>
                <a:cs typeface="Calibri" pitchFamily="34" charset="0"/>
              </a:rPr>
              <a:t>Lãnh </a:t>
            </a:r>
            <a:r>
              <a:rPr lang="en-US" sz="1800">
                <a:solidFill>
                  <a:schemeClr val="accent2">
                    <a:lumMod val="50000"/>
                  </a:schemeClr>
                </a:solidFill>
                <a:latin typeface="Calibri" pitchFamily="34" charset="0"/>
                <a:cs typeface="Calibri" pitchFamily="34" charset="0"/>
              </a:rPr>
              <a:t>đạo cấp cao hoặc tổng giám đốc điều </a:t>
            </a:r>
            <a:r>
              <a:rPr lang="en-US" sz="1800" smtClean="0">
                <a:solidFill>
                  <a:schemeClr val="accent2">
                    <a:lumMod val="50000"/>
                  </a:schemeClr>
                </a:solidFill>
                <a:latin typeface="Calibri" pitchFamily="34" charset="0"/>
                <a:cs typeface="Calibri" pitchFamily="34" charset="0"/>
              </a:rPr>
              <a:t>hành</a:t>
            </a:r>
          </a:p>
          <a:p>
            <a:pPr marL="863423" lvl="1" indent="-342900" algn="just">
              <a:spcBef>
                <a:spcPts val="600"/>
              </a:spcBef>
              <a:buClr>
                <a:srgbClr val="FF0066"/>
              </a:buClr>
              <a:buAutoNum type="arabicParenBoth"/>
            </a:pPr>
            <a:r>
              <a:rPr lang="en-US" sz="1800" smtClean="0">
                <a:solidFill>
                  <a:schemeClr val="accent2">
                    <a:lumMod val="50000"/>
                  </a:schemeClr>
                </a:solidFill>
                <a:latin typeface="Calibri" pitchFamily="34" charset="0"/>
                <a:cs typeface="Calibri" pitchFamily="34" charset="0"/>
              </a:rPr>
              <a:t>Steering committee - Ban </a:t>
            </a:r>
            <a:r>
              <a:rPr lang="en-US" sz="1800">
                <a:solidFill>
                  <a:schemeClr val="accent2">
                    <a:lumMod val="50000"/>
                  </a:schemeClr>
                </a:solidFill>
                <a:latin typeface="Calibri" pitchFamily="34" charset="0"/>
                <a:cs typeface="Calibri" pitchFamily="34" charset="0"/>
              </a:rPr>
              <a:t>chỉ đạo bao gồm các nhà quản lý </a:t>
            </a:r>
            <a:r>
              <a:rPr lang="en-US" sz="1800" smtClean="0">
                <a:solidFill>
                  <a:schemeClr val="accent2">
                    <a:lumMod val="50000"/>
                  </a:schemeClr>
                </a:solidFill>
                <a:latin typeface="Calibri" pitchFamily="34" charset="0"/>
                <a:cs typeface="Calibri" pitchFamily="34" charset="0"/>
              </a:rPr>
              <a:t>của các </a:t>
            </a:r>
            <a:r>
              <a:rPr lang="en-US" sz="1800">
                <a:solidFill>
                  <a:schemeClr val="accent2">
                    <a:lumMod val="50000"/>
                  </a:schemeClr>
                </a:solidFill>
                <a:latin typeface="Calibri" pitchFamily="34" charset="0"/>
                <a:cs typeface="Calibri" pitchFamily="34" charset="0"/>
              </a:rPr>
              <a:t>phòng </a:t>
            </a:r>
            <a:r>
              <a:rPr lang="en-US" sz="1800" smtClean="0">
                <a:solidFill>
                  <a:schemeClr val="accent2">
                    <a:lumMod val="50000"/>
                  </a:schemeClr>
                </a:solidFill>
                <a:latin typeface="Calibri" pitchFamily="34" charset="0"/>
                <a:cs typeface="Calibri" pitchFamily="34" charset="0"/>
              </a:rPr>
              <a:t>ban.</a:t>
            </a:r>
          </a:p>
          <a:p>
            <a:pPr marL="520523" lvl="1" indent="0" algn="just">
              <a:spcBef>
                <a:spcPts val="600"/>
              </a:spcBef>
              <a:buClr>
                <a:srgbClr val="FF0066"/>
              </a:buClr>
              <a:buNone/>
            </a:pPr>
            <a:r>
              <a:rPr lang="en-US" sz="1800" smtClean="0">
                <a:solidFill>
                  <a:srgbClr val="FF0066"/>
                </a:solidFill>
                <a:latin typeface="Calibri" pitchFamily="34" charset="0"/>
                <a:cs typeface="Calibri" pitchFamily="34" charset="0"/>
              </a:rPr>
              <a:t>(3)</a:t>
            </a:r>
            <a:r>
              <a:rPr lang="en-US" sz="1800">
                <a:solidFill>
                  <a:schemeClr val="accent2">
                    <a:lumMod val="50000"/>
                  </a:schemeClr>
                </a:solidFill>
                <a:latin typeface="Calibri" pitchFamily="34" charset="0"/>
                <a:cs typeface="Calibri" pitchFamily="34" charset="0"/>
              </a:rPr>
              <a:t> User </a:t>
            </a:r>
            <a:r>
              <a:rPr lang="en-US" sz="1800" smtClean="0">
                <a:solidFill>
                  <a:schemeClr val="accent2">
                    <a:lumMod val="50000"/>
                  </a:schemeClr>
                </a:solidFill>
                <a:latin typeface="Calibri" pitchFamily="34" charset="0"/>
                <a:cs typeface="Calibri" pitchFamily="34" charset="0"/>
              </a:rPr>
              <a:t>department - Bộ </a:t>
            </a:r>
            <a:r>
              <a:rPr lang="en-US" sz="1800">
                <a:solidFill>
                  <a:schemeClr val="accent2">
                    <a:lumMod val="50000"/>
                  </a:schemeClr>
                </a:solidFill>
                <a:latin typeface="Calibri" pitchFamily="34" charset="0"/>
                <a:cs typeface="Calibri" pitchFamily="34" charset="0"/>
              </a:rPr>
              <a:t>phận người </a:t>
            </a:r>
            <a:r>
              <a:rPr lang="en-US" sz="1800" smtClean="0">
                <a:solidFill>
                  <a:schemeClr val="accent2">
                    <a:lumMod val="50000"/>
                  </a:schemeClr>
                </a:solidFill>
                <a:latin typeface="Calibri" pitchFamily="34" charset="0"/>
                <a:cs typeface="Calibri" pitchFamily="34" charset="0"/>
              </a:rPr>
              <a:t>dùng.</a:t>
            </a:r>
            <a:endParaRPr lang="en-US" sz="1800">
              <a:solidFill>
                <a:schemeClr val="accent2">
                  <a:lumMod val="50000"/>
                </a:schemeClr>
              </a:solidFill>
              <a:latin typeface="Calibri" pitchFamily="34" charset="0"/>
              <a:cs typeface="Calibri" pitchFamily="34" charset="0"/>
            </a:endParaRPr>
          </a:p>
          <a:p>
            <a:pPr marL="520523" lvl="1" indent="0" algn="just">
              <a:spcBef>
                <a:spcPts val="600"/>
              </a:spcBef>
              <a:buClr>
                <a:srgbClr val="FF0066"/>
              </a:buClr>
              <a:buNone/>
            </a:pPr>
            <a:r>
              <a:rPr lang="en-US" sz="1800">
                <a:solidFill>
                  <a:srgbClr val="FF0066"/>
                </a:solidFill>
                <a:latin typeface="Calibri" pitchFamily="34" charset="0"/>
                <a:cs typeface="Calibri" pitchFamily="34" charset="0"/>
              </a:rPr>
              <a:t>(4) </a:t>
            </a:r>
            <a:r>
              <a:rPr lang="en-US" sz="1800">
                <a:solidFill>
                  <a:schemeClr val="accent2">
                    <a:lumMod val="50000"/>
                  </a:schemeClr>
                </a:solidFill>
                <a:latin typeface="Calibri" pitchFamily="34" charset="0"/>
                <a:cs typeface="Calibri" pitchFamily="34" charset="0"/>
              </a:rPr>
              <a:t>Development group - </a:t>
            </a:r>
            <a:r>
              <a:rPr lang="en-US" sz="1800" smtClean="0">
                <a:solidFill>
                  <a:schemeClr val="accent2">
                    <a:lumMod val="50000"/>
                  </a:schemeClr>
                </a:solidFill>
                <a:latin typeface="Calibri" pitchFamily="34" charset="0"/>
                <a:cs typeface="Calibri" pitchFamily="34" charset="0"/>
              </a:rPr>
              <a:t>Nhóm </a:t>
            </a:r>
            <a:r>
              <a:rPr lang="en-US" sz="1800">
                <a:solidFill>
                  <a:schemeClr val="accent2">
                    <a:lumMod val="50000"/>
                  </a:schemeClr>
                </a:solidFill>
                <a:latin typeface="Calibri" pitchFamily="34" charset="0"/>
                <a:cs typeface="Calibri" pitchFamily="34" charset="0"/>
              </a:rPr>
              <a:t>phát triển hoặc nhà quản lý IS cấp cao</a:t>
            </a:r>
            <a:r>
              <a:rPr lang="en-US" sz="1800" smtClean="0">
                <a:solidFill>
                  <a:schemeClr val="accent2">
                    <a:lumMod val="50000"/>
                  </a:schemeClr>
                </a:solidFill>
                <a:latin typeface="Calibri" pitchFamily="34" charset="0"/>
                <a:cs typeface="Calibri" pitchFamily="34" charset="0"/>
              </a:rPr>
              <a:t>…</a:t>
            </a:r>
          </a:p>
          <a:p>
            <a:pPr marL="520523" lvl="1" indent="0" algn="just">
              <a:spcAft>
                <a:spcPts val="683"/>
              </a:spcAft>
              <a:buClr>
                <a:srgbClr val="FF0066"/>
              </a:buClr>
              <a:buNone/>
            </a:pPr>
            <a:r>
              <a:rPr lang="en-US" sz="1800" smtClean="0">
                <a:solidFill>
                  <a:schemeClr val="accent2">
                    <a:lumMod val="50000"/>
                  </a:schemeClr>
                </a:solidFill>
                <a:latin typeface="Calibri" pitchFamily="34" charset="0"/>
                <a:cs typeface="Calibri" pitchFamily="34" charset="0"/>
              </a:rPr>
              <a:t> </a:t>
            </a:r>
            <a:r>
              <a:rPr lang="vi-VN" sz="1600" smtClean="0">
                <a:solidFill>
                  <a:schemeClr val="accent2">
                    <a:lumMod val="50000"/>
                  </a:schemeClr>
                </a:solidFill>
                <a:latin typeface="Calibri" pitchFamily="34" charset="0"/>
                <a:cs typeface="Calibri" pitchFamily="34" charset="0"/>
              </a:rPr>
              <a:t>Nhóm (1) (2) thường </a:t>
            </a:r>
            <a:r>
              <a:rPr lang="vi-VN" sz="1600">
                <a:solidFill>
                  <a:schemeClr val="accent2">
                    <a:lumMod val="50000"/>
                  </a:schemeClr>
                </a:solidFill>
                <a:latin typeface="Calibri" pitchFamily="34" charset="0"/>
                <a:cs typeface="Calibri" pitchFamily="34" charset="0"/>
              </a:rPr>
              <a:t>phản ánh nhu cầu rộng lớn của tổ chức, nhóm này có sự hiểu biết tốt về các mục tiêu kinh doanh tổng thể. Các dự án được xác định </a:t>
            </a:r>
            <a:r>
              <a:rPr lang="vi-VN" sz="1600" smtClean="0">
                <a:solidFill>
                  <a:schemeClr val="accent2">
                    <a:lumMod val="50000"/>
                  </a:schemeClr>
                </a:solidFill>
                <a:latin typeface="Calibri" pitchFamily="34" charset="0"/>
                <a:cs typeface="Calibri" pitchFamily="34" charset="0"/>
              </a:rPr>
              <a:t>theo </a:t>
            </a:r>
            <a:r>
              <a:rPr lang="vi-VN" sz="1600">
                <a:solidFill>
                  <a:schemeClr val="accent2">
                    <a:lumMod val="50000"/>
                  </a:schemeClr>
                </a:solidFill>
                <a:latin typeface="Calibri" pitchFamily="34" charset="0"/>
                <a:cs typeface="Calibri" pitchFamily="34" charset="0"/>
              </a:rPr>
              <a:t>phương pháp top-down</a:t>
            </a:r>
            <a:r>
              <a:rPr lang="vi-VN" sz="1600" smtClean="0">
                <a:solidFill>
                  <a:schemeClr val="accent2">
                    <a:lumMod val="50000"/>
                  </a:schemeClr>
                </a:solidFill>
                <a:latin typeface="Calibri" pitchFamily="34" charset="0"/>
                <a:cs typeface="Calibri" pitchFamily="34" charset="0"/>
              </a:rPr>
              <a:t>.</a:t>
            </a:r>
            <a:endParaRPr lang="en-US" sz="1600" smtClean="0">
              <a:solidFill>
                <a:schemeClr val="accent2">
                  <a:lumMod val="50000"/>
                </a:schemeClr>
              </a:solidFill>
              <a:latin typeface="Calibri" pitchFamily="34" charset="0"/>
              <a:cs typeface="Calibri" pitchFamily="34" charset="0"/>
            </a:endParaRPr>
          </a:p>
          <a:p>
            <a:pPr marL="520523" lvl="1" indent="0" algn="just">
              <a:spcAft>
                <a:spcPts val="683"/>
              </a:spcAft>
              <a:buClr>
                <a:srgbClr val="FF0066"/>
              </a:buClr>
              <a:buNone/>
            </a:pPr>
            <a:r>
              <a:rPr lang="en-US" sz="1600" smtClean="0">
                <a:solidFill>
                  <a:schemeClr val="accent2">
                    <a:lumMod val="50000"/>
                  </a:schemeClr>
                </a:solidFill>
                <a:latin typeface="Calibri" pitchFamily="34" charset="0"/>
                <a:cs typeface="Calibri" pitchFamily="34" charset="0"/>
              </a:rPr>
              <a:t>Nhóm (3), (4) </a:t>
            </a:r>
            <a:r>
              <a:rPr lang="vi-VN" sz="1600">
                <a:solidFill>
                  <a:schemeClr val="accent2">
                    <a:lumMod val="50000"/>
                  </a:schemeClr>
                </a:solidFill>
                <a:latin typeface="Calibri" pitchFamily="34" charset="0"/>
                <a:cs typeface="Calibri" pitchFamily="34" charset="0"/>
              </a:rPr>
              <a:t>thường </a:t>
            </a:r>
            <a:r>
              <a:rPr lang="vi-VN" sz="1600" smtClean="0">
                <a:solidFill>
                  <a:schemeClr val="accent2">
                    <a:lumMod val="50000"/>
                  </a:schemeClr>
                </a:solidFill>
                <a:latin typeface="Calibri" pitchFamily="34" charset="0"/>
                <a:cs typeface="Calibri" pitchFamily="34" charset="0"/>
              </a:rPr>
              <a:t>phản ánh các nhu </a:t>
            </a:r>
            <a:r>
              <a:rPr lang="vi-VN" sz="1600">
                <a:solidFill>
                  <a:schemeClr val="accent2">
                    <a:lumMod val="50000"/>
                  </a:schemeClr>
                </a:solidFill>
                <a:latin typeface="Calibri" pitchFamily="34" charset="0"/>
                <a:cs typeface="Calibri" pitchFamily="34" charset="0"/>
              </a:rPr>
              <a:t>cầu kinh doanh cụ thể trong </a:t>
            </a:r>
            <a:r>
              <a:rPr lang="vi-VN" sz="1600" smtClean="0">
                <a:solidFill>
                  <a:schemeClr val="accent2">
                    <a:lumMod val="50000"/>
                  </a:schemeClr>
                </a:solidFill>
                <a:latin typeface="Calibri" pitchFamily="34" charset="0"/>
                <a:cs typeface="Calibri" pitchFamily="34" charset="0"/>
              </a:rPr>
              <a:t>đơn </a:t>
            </a:r>
            <a:r>
              <a:rPr lang="vi-VN" sz="1600">
                <a:solidFill>
                  <a:schemeClr val="accent2">
                    <a:lumMod val="50000"/>
                  </a:schemeClr>
                </a:solidFill>
                <a:latin typeface="Calibri" pitchFamily="34" charset="0"/>
                <a:cs typeface="Calibri" pitchFamily="34" charset="0"/>
              </a:rPr>
              <a:t>vị </a:t>
            </a:r>
            <a:r>
              <a:rPr lang="vi-VN" sz="1600" smtClean="0">
                <a:solidFill>
                  <a:schemeClr val="accent2">
                    <a:lumMod val="50000"/>
                  </a:schemeClr>
                </a:solidFill>
                <a:latin typeface="Calibri" pitchFamily="34" charset="0"/>
                <a:cs typeface="Calibri" pitchFamily="34" charset="0"/>
              </a:rPr>
              <a:t>và thể hiện được sự đa dạng của các chức năng. </a:t>
            </a:r>
            <a:r>
              <a:rPr lang="vi-VN" sz="1600">
                <a:solidFill>
                  <a:schemeClr val="accent2">
                    <a:lumMod val="50000"/>
                  </a:schemeClr>
                </a:solidFill>
                <a:latin typeface="Calibri" pitchFamily="34" charset="0"/>
                <a:cs typeface="Calibri" pitchFamily="34" charset="0"/>
              </a:rPr>
              <a:t>Các dự án được xác định </a:t>
            </a:r>
            <a:r>
              <a:rPr lang="vi-VN" sz="1600" smtClean="0">
                <a:solidFill>
                  <a:schemeClr val="accent2">
                    <a:lumMod val="50000"/>
                  </a:schemeClr>
                </a:solidFill>
                <a:latin typeface="Calibri" pitchFamily="34" charset="0"/>
                <a:cs typeface="Calibri" pitchFamily="34" charset="0"/>
              </a:rPr>
              <a:t>theo </a:t>
            </a:r>
            <a:r>
              <a:rPr lang="vi-VN" sz="1600">
                <a:solidFill>
                  <a:schemeClr val="accent2">
                    <a:lumMod val="50000"/>
                  </a:schemeClr>
                </a:solidFill>
                <a:latin typeface="Calibri" pitchFamily="34" charset="0"/>
                <a:cs typeface="Calibri" pitchFamily="34" charset="0"/>
              </a:rPr>
              <a:t>phương pháp bottom-up.</a:t>
            </a:r>
          </a:p>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Mỗi cách thức </a:t>
            </a:r>
            <a:r>
              <a:rPr lang="en-US" sz="2000">
                <a:solidFill>
                  <a:schemeClr val="accent2">
                    <a:lumMod val="50000"/>
                  </a:schemeClr>
                </a:solidFill>
                <a:latin typeface="Calibri" pitchFamily="34" charset="0"/>
                <a:cs typeface="Calibri" pitchFamily="34" charset="0"/>
              </a:rPr>
              <a:t>xác định có những điểm mạnh và điểm yếu </a:t>
            </a:r>
            <a:r>
              <a:rPr lang="en-US" sz="2000" smtClean="0">
                <a:solidFill>
                  <a:schemeClr val="accent2">
                    <a:lumMod val="50000"/>
                  </a:schemeClr>
                </a:solidFill>
                <a:latin typeface="Calibri" pitchFamily="34" charset="0"/>
                <a:cs typeface="Calibri" pitchFamily="34" charset="0"/>
              </a:rPr>
              <a:t>riêng:</a:t>
            </a:r>
            <a:endParaRPr lang="en-US"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4984"/>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6</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vi-VN" sz="1200" b="1">
                <a:solidFill>
                  <a:schemeClr val="accent6">
                    <a:lumMod val="75000"/>
                  </a:schemeClr>
                </a:solidFill>
                <a:ea typeface="+mj-ea"/>
                <a:cs typeface="Arial" pitchFamily="34" charset="0"/>
              </a:rPr>
              <a:t>3.1 Xác định các dự án phát triển tiềm năng</a:t>
            </a:r>
          </a:p>
          <a:p>
            <a:pPr marL="0" lvl="1"/>
            <a:r>
              <a:rPr lang="vi-VN" sz="1200" smtClean="0">
                <a:solidFill>
                  <a:schemeClr val="tx2"/>
                </a:solidFill>
                <a:ea typeface="+mj-ea"/>
                <a:cs typeface="Arial" pitchFamily="34" charset="0"/>
              </a:rPr>
              <a:t>3.2 Phân loại và xếp hạng các dự án</a:t>
            </a:r>
          </a:p>
          <a:p>
            <a:pPr marL="0" lvl="1"/>
            <a:r>
              <a:rPr lang="vi-VN" sz="1200" smtClean="0">
                <a:solidFill>
                  <a:schemeClr val="tx2"/>
                </a:solidFill>
                <a:ea typeface="+mj-ea"/>
                <a:cs typeface="Arial" pitchFamily="34" charset="0"/>
              </a:rPr>
              <a:t>3.3 Lựa chọn phương án phát triển</a:t>
            </a:r>
            <a:endParaRPr lang="en-US" sz="1200" smtClean="0">
              <a:solidFill>
                <a:schemeClr val="tx2"/>
              </a:solidFill>
              <a:ea typeface="+mj-ea"/>
              <a:cs typeface="Arial"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9044" y="5205189"/>
            <a:ext cx="6829425" cy="163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a:solidFill>
                  <a:schemeClr val="accent1">
                    <a:lumMod val="75000"/>
                  </a:schemeClr>
                </a:solidFill>
                <a:ea typeface="+mj-ea"/>
                <a:cs typeface="Arial" pitchFamily="34" charset="0"/>
              </a:rPr>
              <a:t>2. Nhu cầu phát triển dự án</a:t>
            </a:r>
          </a:p>
          <a:p>
            <a:pPr marL="0" lvl="1"/>
            <a:r>
              <a:rPr lang="en-US" sz="1300" b="1">
                <a:solidFill>
                  <a:schemeClr val="accent6">
                    <a:lumMod val="75000"/>
                  </a:schemeClr>
                </a:solidFill>
                <a:latin typeface="Calibri (Body)"/>
                <a:ea typeface="+mj-ea"/>
                <a:cs typeface="Arial" pitchFamily="34" charset="0"/>
              </a:rPr>
              <a:t>3. Quy trình thực hiện</a:t>
            </a: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42719054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b="1" smtClean="0">
                <a:solidFill>
                  <a:schemeClr val="accent6">
                    <a:lumMod val="75000"/>
                  </a:schemeClr>
                </a:solidFill>
                <a:latin typeface="Calibri (Body)"/>
                <a:cs typeface="Arial" pitchFamily="34" charset="0"/>
              </a:rPr>
              <a:t>1. </a:t>
            </a:r>
            <a:r>
              <a:rPr lang="vi-VN" sz="1600" b="1" smtClean="0">
                <a:solidFill>
                  <a:schemeClr val="accent6">
                    <a:lumMod val="75000"/>
                  </a:schemeClr>
                </a:solidFill>
                <a:latin typeface="Calibri (Body)"/>
                <a:cs typeface="Arial" pitchFamily="34" charset="0"/>
              </a:rPr>
              <a:t>Xác </a:t>
            </a:r>
            <a:r>
              <a:rPr lang="vi-VN" sz="1600" b="1">
                <a:solidFill>
                  <a:schemeClr val="accent6">
                    <a:lumMod val="75000"/>
                  </a:schemeClr>
                </a:solidFill>
                <a:latin typeface="Calibri (Body)"/>
                <a:cs typeface="Arial" pitchFamily="34" charset="0"/>
              </a:rPr>
              <a:t>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en-US" sz="1600" smtClean="0">
                <a:solidFill>
                  <a:schemeClr val="accent1">
                    <a:lumMod val="75000"/>
                  </a:schemeClr>
                </a:solidFill>
                <a:latin typeface="+mn-lt"/>
                <a:cs typeface="Arial" pitchFamily="34" charset="0"/>
              </a:rPr>
              <a:t>Khởi </a:t>
            </a:r>
            <a:r>
              <a:rPr lang="en-US" sz="1600">
                <a:solidFill>
                  <a:schemeClr val="accent1">
                    <a:lumMod val="75000"/>
                  </a:schemeClr>
                </a:solidFill>
                <a:latin typeface="+mn-lt"/>
                <a:cs typeface="Arial" pitchFamily="34" charset="0"/>
              </a:rPr>
              <a:t>động và lập kế hoạch dự án</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Đánh giá tính khả thi </a:t>
            </a:r>
            <a:r>
              <a:rPr lang="en-US" sz="1600" smtClean="0">
                <a:solidFill>
                  <a:schemeClr val="accent1">
                    <a:lumMod val="75000"/>
                  </a:schemeClr>
                </a:solidFill>
                <a:latin typeface="+mn-lt"/>
                <a:cs typeface="Arial" pitchFamily="34" charset="0"/>
              </a:rPr>
              <a:t>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Phân </a:t>
            </a:r>
            <a:r>
              <a:rPr lang="en-US" sz="2000">
                <a:solidFill>
                  <a:schemeClr val="accent2">
                    <a:lumMod val="50000"/>
                  </a:schemeClr>
                </a:solidFill>
                <a:latin typeface="Calibri" pitchFamily="34" charset="0"/>
                <a:cs typeface="Calibri" pitchFamily="34" charset="0"/>
              </a:rPr>
              <a:t>loại và xếp hạng dự án cũng có thể được thực hiện bởi các nhà quản lý hàng đầu, ban chỉ đạo, các đơn vị kinh doanh hoặc nhóm phát triển IS. Các tiêu chí được sử dụng để xếp hạng một dự án có thể thay đổi tùy theo từng tổ </a:t>
            </a:r>
            <a:r>
              <a:rPr lang="en-US" sz="2000" smtClean="0">
                <a:solidFill>
                  <a:schemeClr val="accent2">
                    <a:lumMod val="50000"/>
                  </a:schemeClr>
                </a:solidFill>
                <a:latin typeface="Calibri" pitchFamily="34" charset="0"/>
                <a:cs typeface="Calibri" pitchFamily="34" charset="0"/>
              </a:rPr>
              <a:t>chức:</a:t>
            </a:r>
          </a:p>
          <a:p>
            <a:pPr lvl="1" algn="just">
              <a:spcAft>
                <a:spcPts val="683"/>
              </a:spcAft>
              <a:buClr>
                <a:srgbClr val="FF0066"/>
              </a:buClr>
            </a:pPr>
            <a:r>
              <a:rPr lang="en-US" sz="1800" smtClean="0">
                <a:solidFill>
                  <a:srgbClr val="FF0066"/>
                </a:solidFill>
                <a:latin typeface="Calibri" pitchFamily="34" charset="0"/>
                <a:cs typeface="Calibri" pitchFamily="34" charset="0"/>
              </a:rPr>
              <a:t>Phân </a:t>
            </a:r>
            <a:r>
              <a:rPr lang="en-US" sz="1800">
                <a:solidFill>
                  <a:srgbClr val="FF0066"/>
                </a:solidFill>
                <a:latin typeface="Calibri" pitchFamily="34" charset="0"/>
                <a:cs typeface="Calibri" pitchFamily="34" charset="0"/>
              </a:rPr>
              <a:t>tích chuỗi giá trị - Value chain analysis</a:t>
            </a:r>
            <a:r>
              <a:rPr lang="en-US" sz="1800">
                <a:solidFill>
                  <a:schemeClr val="accent2">
                    <a:lumMod val="50000"/>
                  </a:schemeClr>
                </a:solidFill>
                <a:latin typeface="Calibri" pitchFamily="34" charset="0"/>
                <a:cs typeface="Calibri" pitchFamily="34" charset="0"/>
              </a:rPr>
              <a:t>: đánh giá các hoạt động gia tăng giá trị và chi phí khi phát triển sản phẩm hoặc dịch vụ. Ưu tiên những dự án hệ thống thông tin cung cấp các lợi ích tổng thể lớn</a:t>
            </a:r>
            <a:r>
              <a:rPr lang="en-US" sz="1800" smtClean="0">
                <a:solidFill>
                  <a:schemeClr val="accent2">
                    <a:lumMod val="50000"/>
                  </a:schemeClr>
                </a:solidFill>
                <a:latin typeface="Calibri" pitchFamily="34" charset="0"/>
                <a:cs typeface="Calibri" pitchFamily="34" charset="0"/>
              </a:rPr>
              <a:t>.</a:t>
            </a:r>
          </a:p>
          <a:p>
            <a:pPr lvl="1" algn="just">
              <a:spcAft>
                <a:spcPts val="683"/>
              </a:spcAft>
              <a:buClr>
                <a:srgbClr val="FF0066"/>
              </a:buClr>
            </a:pPr>
            <a:r>
              <a:rPr lang="en-US" sz="1800" smtClean="0">
                <a:solidFill>
                  <a:srgbClr val="FF0066"/>
                </a:solidFill>
                <a:latin typeface="Calibri" pitchFamily="34" charset="0"/>
                <a:cs typeface="Calibri" pitchFamily="34" charset="0"/>
              </a:rPr>
              <a:t>Liên </a:t>
            </a:r>
            <a:r>
              <a:rPr lang="en-US" sz="1800">
                <a:solidFill>
                  <a:srgbClr val="FF0066"/>
                </a:solidFill>
                <a:latin typeface="Calibri" pitchFamily="34" charset="0"/>
                <a:cs typeface="Calibri" pitchFamily="34" charset="0"/>
              </a:rPr>
              <a:t>kết chiến lược - Strategic alignment</a:t>
            </a:r>
            <a:r>
              <a:rPr lang="en-US" sz="1800">
                <a:solidFill>
                  <a:schemeClr val="accent2">
                    <a:lumMod val="50000"/>
                  </a:schemeClr>
                </a:solidFill>
                <a:latin typeface="Calibri" pitchFamily="34" charset="0"/>
                <a:cs typeface="Calibri" pitchFamily="34" charset="0"/>
              </a:rPr>
              <a:t>: đánh giá khả năng đạt được mục tiêu chiến lược và mục tiêu dài hạn của dự án</a:t>
            </a:r>
            <a:r>
              <a:rPr lang="en-US" sz="1800" smtClean="0">
                <a:solidFill>
                  <a:schemeClr val="accent2">
                    <a:lumMod val="50000"/>
                  </a:schemeClr>
                </a:solidFill>
                <a:latin typeface="Calibri" pitchFamily="34" charset="0"/>
                <a:cs typeface="Calibri" pitchFamily="34" charset="0"/>
              </a:rPr>
              <a:t>.</a:t>
            </a:r>
          </a:p>
          <a:p>
            <a:pPr lvl="1" algn="just">
              <a:spcAft>
                <a:spcPts val="683"/>
              </a:spcAft>
              <a:buClr>
                <a:srgbClr val="FF0066"/>
              </a:buClr>
            </a:pPr>
            <a:r>
              <a:rPr lang="en-US" sz="1800" smtClean="0">
                <a:solidFill>
                  <a:srgbClr val="FF0066"/>
                </a:solidFill>
                <a:latin typeface="Calibri" pitchFamily="34" charset="0"/>
                <a:cs typeface="Calibri" pitchFamily="34" charset="0"/>
              </a:rPr>
              <a:t>Lợi </a:t>
            </a:r>
            <a:r>
              <a:rPr lang="en-US" sz="1800">
                <a:solidFill>
                  <a:srgbClr val="FF0066"/>
                </a:solidFill>
                <a:latin typeface="Calibri" pitchFamily="34" charset="0"/>
                <a:cs typeface="Calibri" pitchFamily="34" charset="0"/>
              </a:rPr>
              <a:t>ích tiềm năng - Potential benefits</a:t>
            </a:r>
            <a:r>
              <a:rPr lang="en-US" sz="1800">
                <a:solidFill>
                  <a:schemeClr val="accent2">
                    <a:lumMod val="50000"/>
                  </a:schemeClr>
                </a:solidFill>
                <a:latin typeface="Calibri" pitchFamily="34" charset="0"/>
                <a:cs typeface="Calibri" pitchFamily="34" charset="0"/>
              </a:rPr>
              <a:t>: đánh giá khả năng nâng cao lợi nhuận, dịch vụ khách hàng và thời gian thực hiện của dự án</a:t>
            </a:r>
            <a:r>
              <a:rPr lang="en-US" sz="1800" smtClean="0">
                <a:solidFill>
                  <a:schemeClr val="accent2">
                    <a:lumMod val="50000"/>
                  </a:schemeClr>
                </a:solidFill>
                <a:latin typeface="Calibri" pitchFamily="34" charset="0"/>
                <a:cs typeface="Calibri" pitchFamily="34" charset="0"/>
              </a:rPr>
              <a:t>.</a:t>
            </a:r>
          </a:p>
          <a:p>
            <a:pPr lvl="1" algn="just">
              <a:spcAft>
                <a:spcPts val="683"/>
              </a:spcAft>
              <a:buClr>
                <a:srgbClr val="FF0066"/>
              </a:buClr>
            </a:pPr>
            <a:r>
              <a:rPr lang="en-US" sz="1800" smtClean="0">
                <a:solidFill>
                  <a:srgbClr val="FF0066"/>
                </a:solidFill>
                <a:latin typeface="Calibri" pitchFamily="34" charset="0"/>
                <a:cs typeface="Calibri" pitchFamily="34" charset="0"/>
              </a:rPr>
              <a:t>Nguồn </a:t>
            </a:r>
            <a:r>
              <a:rPr lang="en-US" sz="1800">
                <a:solidFill>
                  <a:srgbClr val="FF0066"/>
                </a:solidFill>
                <a:latin typeface="Calibri" pitchFamily="34" charset="0"/>
                <a:cs typeface="Calibri" pitchFamily="34" charset="0"/>
              </a:rPr>
              <a:t>lực sẵn có - Resource availability</a:t>
            </a:r>
            <a:r>
              <a:rPr lang="en-US" sz="1800">
                <a:solidFill>
                  <a:schemeClr val="accent2">
                    <a:lumMod val="50000"/>
                  </a:schemeClr>
                </a:solidFill>
                <a:latin typeface="Calibri" pitchFamily="34" charset="0"/>
                <a:cs typeface="Calibri" pitchFamily="34" charset="0"/>
              </a:rPr>
              <a:t>: đánh giá số lượng cũng như loại tài nguyên dự án yêu cầu và tính sẵn sàng của các tài nguyên</a:t>
            </a:r>
            <a:r>
              <a:rPr lang="en-US" sz="1800" smtClean="0">
                <a:solidFill>
                  <a:schemeClr val="accent2">
                    <a:lumMod val="50000"/>
                  </a:schemeClr>
                </a:solidFill>
                <a:latin typeface="Calibri" pitchFamily="34" charset="0"/>
                <a:cs typeface="Calibri" pitchFamily="34" charset="0"/>
              </a:rPr>
              <a:t>.</a:t>
            </a:r>
          </a:p>
          <a:p>
            <a:pPr lvl="1" algn="just">
              <a:spcAft>
                <a:spcPts val="683"/>
              </a:spcAft>
              <a:buClr>
                <a:srgbClr val="FF0066"/>
              </a:buClr>
            </a:pPr>
            <a:r>
              <a:rPr lang="en-US" sz="1800" smtClean="0">
                <a:solidFill>
                  <a:srgbClr val="FF0066"/>
                </a:solidFill>
                <a:latin typeface="Calibri" pitchFamily="34" charset="0"/>
                <a:cs typeface="Calibri" pitchFamily="34" charset="0"/>
              </a:rPr>
              <a:t>Quy </a:t>
            </a:r>
            <a:r>
              <a:rPr lang="en-US" sz="1800">
                <a:solidFill>
                  <a:srgbClr val="FF0066"/>
                </a:solidFill>
                <a:latin typeface="Calibri" pitchFamily="34" charset="0"/>
                <a:cs typeface="Calibri" pitchFamily="34" charset="0"/>
              </a:rPr>
              <a:t>mô dự án/Thời hạn - Project size/duration</a:t>
            </a:r>
            <a:r>
              <a:rPr lang="en-US" sz="1800">
                <a:solidFill>
                  <a:schemeClr val="accent2">
                    <a:lumMod val="50000"/>
                  </a:schemeClr>
                </a:solidFill>
                <a:latin typeface="Calibri" pitchFamily="34" charset="0"/>
                <a:cs typeface="Calibri" pitchFamily="34" charset="0"/>
              </a:rPr>
              <a:t>: đánh giá số nhân lực và thời gian cần thiết để hoàn thành dự án</a:t>
            </a:r>
            <a:r>
              <a:rPr lang="en-US" sz="1800" smtClean="0">
                <a:solidFill>
                  <a:schemeClr val="accent2">
                    <a:lumMod val="50000"/>
                  </a:schemeClr>
                </a:solidFill>
                <a:latin typeface="Calibri" pitchFamily="34" charset="0"/>
                <a:cs typeface="Calibri" pitchFamily="34" charset="0"/>
              </a:rPr>
              <a:t>.</a:t>
            </a:r>
          </a:p>
          <a:p>
            <a:pPr lvl="1" algn="just">
              <a:spcAft>
                <a:spcPts val="683"/>
              </a:spcAft>
              <a:buClr>
                <a:srgbClr val="FF0066"/>
              </a:buClr>
            </a:pPr>
            <a:r>
              <a:rPr lang="en-US" sz="1800" smtClean="0">
                <a:solidFill>
                  <a:srgbClr val="FF0066"/>
                </a:solidFill>
                <a:latin typeface="Calibri" pitchFamily="34" charset="0"/>
                <a:cs typeface="Calibri" pitchFamily="34" charset="0"/>
              </a:rPr>
              <a:t>Kỹ </a:t>
            </a:r>
            <a:r>
              <a:rPr lang="en-US" sz="1800">
                <a:solidFill>
                  <a:srgbClr val="FF0066"/>
                </a:solidFill>
                <a:latin typeface="Calibri" pitchFamily="34" charset="0"/>
                <a:cs typeface="Calibri" pitchFamily="34" charset="0"/>
              </a:rPr>
              <a:t>thuật/rủi ro - Technical difficulty/risks</a:t>
            </a:r>
            <a:r>
              <a:rPr lang="en-US" sz="1800">
                <a:solidFill>
                  <a:schemeClr val="accent2">
                    <a:lumMod val="50000"/>
                  </a:schemeClr>
                </a:solidFill>
                <a:latin typeface="Calibri" pitchFamily="34" charset="0"/>
                <a:cs typeface="Calibri" pitchFamily="34" charset="0"/>
              </a:rPr>
              <a:t>: đánh giá kỹ thuật và các rủi ro để có thể hoàn thành dự án thành công trong một thời gian và nguồn lực nhất định.</a:t>
            </a: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0981"/>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7</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vi-VN" sz="1200">
                <a:solidFill>
                  <a:schemeClr val="tx2"/>
                </a:solidFill>
                <a:ea typeface="+mj-ea"/>
                <a:cs typeface="Arial" pitchFamily="34" charset="0"/>
              </a:rPr>
              <a:t>3.1 Xác định các dự án phát triển tiềm năng</a:t>
            </a:r>
          </a:p>
          <a:p>
            <a:pPr marL="0" lvl="1"/>
            <a:r>
              <a:rPr lang="vi-VN" sz="1200" b="1">
                <a:solidFill>
                  <a:schemeClr val="accent6">
                    <a:lumMod val="75000"/>
                  </a:schemeClr>
                </a:solidFill>
                <a:ea typeface="+mj-ea"/>
                <a:cs typeface="Arial" pitchFamily="34" charset="0"/>
              </a:rPr>
              <a:t>3.2 Phân loại và xếp hạng các dự án</a:t>
            </a:r>
          </a:p>
          <a:p>
            <a:pPr marL="0" lvl="1"/>
            <a:r>
              <a:rPr lang="vi-VN" sz="1200" smtClean="0">
                <a:solidFill>
                  <a:schemeClr val="tx2"/>
                </a:solidFill>
                <a:ea typeface="+mj-ea"/>
                <a:cs typeface="Arial" pitchFamily="34" charset="0"/>
              </a:rPr>
              <a:t>3.3 Lựa chọn phương án phát triển</a:t>
            </a:r>
            <a:endParaRPr lang="en-US" sz="1200" smtClean="0">
              <a:solidFill>
                <a:schemeClr val="tx2"/>
              </a:solidFill>
              <a:ea typeface="+mj-ea"/>
              <a:cs typeface="Arial" pitchFamily="34" charset="0"/>
            </a:endParaRPr>
          </a:p>
        </p:txBody>
      </p:sp>
      <p:sp>
        <p:nvSpPr>
          <p:cNvPr id="9"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a:solidFill>
                  <a:schemeClr val="accent1">
                    <a:lumMod val="75000"/>
                  </a:schemeClr>
                </a:solidFill>
                <a:ea typeface="+mj-ea"/>
                <a:cs typeface="Arial" pitchFamily="34" charset="0"/>
              </a:rPr>
              <a:t>2. Nhu cầu phát triển dự án</a:t>
            </a:r>
          </a:p>
          <a:p>
            <a:pPr marL="0" lvl="1"/>
            <a:r>
              <a:rPr lang="en-US" sz="1300" b="1">
                <a:solidFill>
                  <a:schemeClr val="accent6">
                    <a:lumMod val="75000"/>
                  </a:schemeClr>
                </a:solidFill>
                <a:latin typeface="Calibri (Body)"/>
                <a:ea typeface="+mj-ea"/>
                <a:cs typeface="Arial" pitchFamily="34" charset="0"/>
              </a:rPr>
              <a:t>3. Quy trình thực hiện</a:t>
            </a: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37630994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b="1" smtClean="0">
                <a:solidFill>
                  <a:schemeClr val="accent6">
                    <a:lumMod val="75000"/>
                  </a:schemeClr>
                </a:solidFill>
                <a:latin typeface="Calibri (Body)"/>
                <a:cs typeface="Arial" pitchFamily="34" charset="0"/>
              </a:rPr>
              <a:t>1. </a:t>
            </a:r>
            <a:r>
              <a:rPr lang="vi-VN" sz="1600" b="1" smtClean="0">
                <a:solidFill>
                  <a:schemeClr val="accent6">
                    <a:lumMod val="75000"/>
                  </a:schemeClr>
                </a:solidFill>
                <a:latin typeface="Calibri (Body)"/>
                <a:cs typeface="Arial" pitchFamily="34" charset="0"/>
              </a:rPr>
              <a:t>Xác </a:t>
            </a:r>
            <a:r>
              <a:rPr lang="vi-VN" sz="1600" b="1">
                <a:solidFill>
                  <a:schemeClr val="accent6">
                    <a:lumMod val="75000"/>
                  </a:schemeClr>
                </a:solidFill>
                <a:latin typeface="Calibri (Body)"/>
                <a:cs typeface="Arial" pitchFamily="34" charset="0"/>
              </a:rPr>
              <a:t>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en-US" sz="1600" smtClean="0">
                <a:solidFill>
                  <a:schemeClr val="accent1">
                    <a:lumMod val="75000"/>
                  </a:schemeClr>
                </a:solidFill>
                <a:latin typeface="+mn-lt"/>
                <a:cs typeface="Arial" pitchFamily="34" charset="0"/>
              </a:rPr>
              <a:t>Khởi </a:t>
            </a:r>
            <a:r>
              <a:rPr lang="en-US" sz="1600">
                <a:solidFill>
                  <a:schemeClr val="accent1">
                    <a:lumMod val="75000"/>
                  </a:schemeClr>
                </a:solidFill>
                <a:latin typeface="+mn-lt"/>
                <a:cs typeface="Arial" pitchFamily="34" charset="0"/>
              </a:rPr>
              <a:t>động và lập kế hoạch dự án</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Đánh giá tính khả thi </a:t>
            </a:r>
            <a:r>
              <a:rPr lang="en-US" sz="1600" smtClean="0">
                <a:solidFill>
                  <a:schemeClr val="accent1">
                    <a:lumMod val="75000"/>
                  </a:schemeClr>
                </a:solidFill>
                <a:latin typeface="+mn-lt"/>
                <a:cs typeface="Arial" pitchFamily="34" charset="0"/>
              </a:rPr>
              <a:t>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Lựa chọn phương án phát triển là xem </a:t>
            </a:r>
            <a:r>
              <a:rPr lang="en-US" sz="2000">
                <a:solidFill>
                  <a:schemeClr val="accent2">
                    <a:lumMod val="50000"/>
                  </a:schemeClr>
                </a:solidFill>
                <a:latin typeface="Calibri" pitchFamily="34" charset="0"/>
                <a:cs typeface="Calibri" pitchFamily="34" charset="0"/>
              </a:rPr>
              <a:t>xét khả năng các dự án </a:t>
            </a:r>
            <a:r>
              <a:rPr lang="en-US" sz="2000" smtClean="0">
                <a:solidFill>
                  <a:schemeClr val="accent2">
                    <a:lumMod val="50000"/>
                  </a:schemeClr>
                </a:solidFill>
                <a:latin typeface="Calibri" pitchFamily="34" charset="0"/>
                <a:cs typeface="Calibri" pitchFamily="34" charset="0"/>
              </a:rPr>
              <a:t>trong ngắn </a:t>
            </a:r>
            <a:r>
              <a:rPr lang="en-US" sz="2000">
                <a:solidFill>
                  <a:schemeClr val="accent2">
                    <a:lumMod val="50000"/>
                  </a:schemeClr>
                </a:solidFill>
                <a:latin typeface="Calibri" pitchFamily="34" charset="0"/>
                <a:cs typeface="Calibri" pitchFamily="34" charset="0"/>
              </a:rPr>
              <a:t>hạn và dài hạn </a:t>
            </a:r>
            <a:r>
              <a:rPr lang="en-US" sz="2000" smtClean="0">
                <a:solidFill>
                  <a:schemeClr val="accent2">
                    <a:lumMod val="50000"/>
                  </a:schemeClr>
                </a:solidFill>
                <a:latin typeface="Calibri" pitchFamily="34" charset="0"/>
                <a:cs typeface="Calibri" pitchFamily="34" charset="0"/>
              </a:rPr>
              <a:t>có thể đạt </a:t>
            </a:r>
            <a:r>
              <a:rPr lang="en-US" sz="2000">
                <a:solidFill>
                  <a:schemeClr val="accent2">
                    <a:lumMod val="50000"/>
                  </a:schemeClr>
                </a:solidFill>
                <a:latin typeface="Calibri" pitchFamily="34" charset="0"/>
                <a:cs typeface="Calibri" pitchFamily="34" charset="0"/>
              </a:rPr>
              <a:t>được </a:t>
            </a:r>
            <a:r>
              <a:rPr lang="en-US" sz="2000" smtClean="0">
                <a:solidFill>
                  <a:schemeClr val="accent2">
                    <a:lumMod val="50000"/>
                  </a:schemeClr>
                </a:solidFill>
                <a:latin typeface="Calibri" pitchFamily="34" charset="0"/>
                <a:cs typeface="Calibri" pitchFamily="34" charset="0"/>
              </a:rPr>
              <a:t>các mục </a:t>
            </a:r>
            <a:r>
              <a:rPr lang="en-US" sz="2000">
                <a:solidFill>
                  <a:schemeClr val="accent2">
                    <a:lumMod val="50000"/>
                  </a:schemeClr>
                </a:solidFill>
                <a:latin typeface="Calibri" pitchFamily="34" charset="0"/>
                <a:cs typeface="Calibri" pitchFamily="34" charset="0"/>
              </a:rPr>
              <a:t>tiêu </a:t>
            </a:r>
            <a:r>
              <a:rPr lang="en-US" sz="2000" smtClean="0">
                <a:solidFill>
                  <a:schemeClr val="accent2">
                    <a:lumMod val="50000"/>
                  </a:schemeClr>
                </a:solidFill>
                <a:latin typeface="Calibri" pitchFamily="34" charset="0"/>
                <a:cs typeface="Calibri" pitchFamily="34" charset="0"/>
              </a:rPr>
              <a:t>đã </a:t>
            </a:r>
            <a:r>
              <a:rPr lang="en-US" sz="2000">
                <a:solidFill>
                  <a:schemeClr val="accent2">
                    <a:lumMod val="50000"/>
                  </a:schemeClr>
                </a:solidFill>
                <a:latin typeface="Calibri" pitchFamily="34" charset="0"/>
                <a:cs typeface="Calibri" pitchFamily="34" charset="0"/>
              </a:rPr>
              <a:t>đề ra. </a:t>
            </a:r>
            <a:endParaRPr lang="en-US" sz="2000" smtClean="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Vì </a:t>
            </a:r>
            <a:r>
              <a:rPr lang="en-US" sz="2000">
                <a:solidFill>
                  <a:schemeClr val="accent2">
                    <a:lumMod val="50000"/>
                  </a:schemeClr>
                </a:solidFill>
                <a:latin typeface="Calibri" pitchFamily="34" charset="0"/>
                <a:cs typeface="Calibri" pitchFamily="34" charset="0"/>
              </a:rPr>
              <a:t>điều kiện kinh doanh thay đổi theo thời gian nên tầm quan trọng của bất kỳ dự án nào cũng có thể thay đổi đáng kể. Như vậy, việc xác định và lựa chọn dự án là một hoạt động quan trọng và liên tục. </a:t>
            </a:r>
            <a:endParaRPr lang="en-US" sz="2000" smtClean="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Nhiều </a:t>
            </a:r>
            <a:r>
              <a:rPr lang="en-US" sz="2000">
                <a:solidFill>
                  <a:schemeClr val="accent2">
                    <a:lumMod val="50000"/>
                  </a:schemeClr>
                </a:solidFill>
                <a:latin typeface="Calibri" pitchFamily="34" charset="0"/>
                <a:cs typeface="Calibri" pitchFamily="34" charset="0"/>
              </a:rPr>
              <a:t>yếu tố phải được xem xét khi lựa chọn một dự án, bao gồm</a:t>
            </a:r>
            <a:r>
              <a:rPr lang="en-US" sz="2000" smtClean="0">
                <a:solidFill>
                  <a:schemeClr val="accent2">
                    <a:lumMod val="50000"/>
                  </a:schemeClr>
                </a:solidFill>
                <a:latin typeface="Calibri" pitchFamily="34" charset="0"/>
                <a:cs typeface="Calibri" pitchFamily="34" charset="0"/>
              </a:rPr>
              <a:t>:</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Nhu </a:t>
            </a:r>
            <a:r>
              <a:rPr lang="en-US" sz="1800">
                <a:solidFill>
                  <a:schemeClr val="accent2">
                    <a:lumMod val="50000"/>
                  </a:schemeClr>
                </a:solidFill>
                <a:latin typeface="Calibri" pitchFamily="34" charset="0"/>
                <a:cs typeface="Calibri" pitchFamily="34" charset="0"/>
              </a:rPr>
              <a:t>cầu của tổ </a:t>
            </a:r>
            <a:r>
              <a:rPr lang="en-US" sz="1800" smtClean="0">
                <a:solidFill>
                  <a:schemeClr val="accent2">
                    <a:lumMod val="50000"/>
                  </a:schemeClr>
                </a:solidFill>
                <a:latin typeface="Calibri" pitchFamily="34" charset="0"/>
                <a:cs typeface="Calibri" pitchFamily="34" charset="0"/>
              </a:rPr>
              <a:t>chức.</a:t>
            </a:r>
          </a:p>
          <a:p>
            <a:pPr lvl="1" algn="just">
              <a:spcAft>
                <a:spcPts val="683"/>
              </a:spcAft>
              <a:buClr>
                <a:srgbClr val="FF0066"/>
              </a:buClr>
            </a:pPr>
            <a:r>
              <a:rPr lang="en-US" sz="1800">
                <a:solidFill>
                  <a:schemeClr val="accent2">
                    <a:lumMod val="50000"/>
                  </a:schemeClr>
                </a:solidFill>
                <a:latin typeface="Calibri" pitchFamily="34" charset="0"/>
                <a:cs typeface="Calibri" pitchFamily="34" charset="0"/>
              </a:rPr>
              <a:t>Hệ thống hiện tại và các dự án đang thực </a:t>
            </a:r>
            <a:r>
              <a:rPr lang="en-US" sz="1800" smtClean="0">
                <a:solidFill>
                  <a:schemeClr val="accent2">
                    <a:lumMod val="50000"/>
                  </a:schemeClr>
                </a:solidFill>
                <a:latin typeface="Calibri" pitchFamily="34" charset="0"/>
                <a:cs typeface="Calibri" pitchFamily="34" charset="0"/>
              </a:rPr>
              <a:t>hiện.</a:t>
            </a:r>
          </a:p>
          <a:p>
            <a:pPr lvl="1" algn="just">
              <a:spcAft>
                <a:spcPts val="683"/>
              </a:spcAft>
              <a:buClr>
                <a:srgbClr val="FF0066"/>
              </a:buClr>
            </a:pPr>
            <a:r>
              <a:rPr lang="en-US" sz="1800">
                <a:solidFill>
                  <a:schemeClr val="accent2">
                    <a:lumMod val="50000"/>
                  </a:schemeClr>
                </a:solidFill>
                <a:latin typeface="Calibri" pitchFamily="34" charset="0"/>
                <a:cs typeface="Calibri" pitchFamily="34" charset="0"/>
              </a:rPr>
              <a:t>N</a:t>
            </a:r>
            <a:r>
              <a:rPr lang="en-US" sz="1800" smtClean="0">
                <a:solidFill>
                  <a:schemeClr val="accent2">
                    <a:lumMod val="50000"/>
                  </a:schemeClr>
                </a:solidFill>
                <a:latin typeface="Calibri" pitchFamily="34" charset="0"/>
                <a:cs typeface="Calibri" pitchFamily="34" charset="0"/>
              </a:rPr>
              <a:t>guồn </a:t>
            </a:r>
            <a:r>
              <a:rPr lang="en-US" sz="1800">
                <a:solidFill>
                  <a:schemeClr val="accent2">
                    <a:lumMod val="50000"/>
                  </a:schemeClr>
                </a:solidFill>
                <a:latin typeface="Calibri" pitchFamily="34" charset="0"/>
                <a:cs typeface="Calibri" pitchFamily="34" charset="0"/>
              </a:rPr>
              <a:t>lực sẵn </a:t>
            </a:r>
            <a:r>
              <a:rPr lang="en-US" sz="1800" smtClean="0">
                <a:solidFill>
                  <a:schemeClr val="accent2">
                    <a:lumMod val="50000"/>
                  </a:schemeClr>
                </a:solidFill>
                <a:latin typeface="Calibri" pitchFamily="34" charset="0"/>
                <a:cs typeface="Calibri" pitchFamily="34" charset="0"/>
              </a:rPr>
              <a:t>có.</a:t>
            </a:r>
          </a:p>
          <a:p>
            <a:pPr lvl="1" algn="just">
              <a:spcAft>
                <a:spcPts val="683"/>
              </a:spcAft>
              <a:buClr>
                <a:srgbClr val="FF0066"/>
              </a:buClr>
            </a:pPr>
            <a:r>
              <a:rPr lang="en-US" sz="1800">
                <a:solidFill>
                  <a:schemeClr val="accent2">
                    <a:lumMod val="50000"/>
                  </a:schemeClr>
                </a:solidFill>
                <a:latin typeface="Calibri" pitchFamily="34" charset="0"/>
                <a:cs typeface="Calibri" pitchFamily="34" charset="0"/>
              </a:rPr>
              <a:t>T</a:t>
            </a:r>
            <a:r>
              <a:rPr lang="en-US" sz="1800" smtClean="0">
                <a:solidFill>
                  <a:schemeClr val="accent2">
                    <a:lumMod val="50000"/>
                  </a:schemeClr>
                </a:solidFill>
                <a:latin typeface="Calibri" pitchFamily="34" charset="0"/>
                <a:cs typeface="Calibri" pitchFamily="34" charset="0"/>
              </a:rPr>
              <a:t>iêu </a:t>
            </a:r>
            <a:r>
              <a:rPr lang="en-US" sz="1800">
                <a:solidFill>
                  <a:schemeClr val="accent2">
                    <a:lumMod val="50000"/>
                  </a:schemeClr>
                </a:solidFill>
                <a:latin typeface="Calibri" pitchFamily="34" charset="0"/>
                <a:cs typeface="Calibri" pitchFamily="34" charset="0"/>
              </a:rPr>
              <a:t>chí đánh </a:t>
            </a:r>
            <a:r>
              <a:rPr lang="en-US" sz="1800" smtClean="0">
                <a:solidFill>
                  <a:schemeClr val="accent2">
                    <a:lumMod val="50000"/>
                  </a:schemeClr>
                </a:solidFill>
                <a:latin typeface="Calibri" pitchFamily="34" charset="0"/>
                <a:cs typeface="Calibri" pitchFamily="34" charset="0"/>
              </a:rPr>
              <a:t>giá.</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Điều </a:t>
            </a:r>
            <a:r>
              <a:rPr lang="en-US" sz="1800">
                <a:solidFill>
                  <a:schemeClr val="accent2">
                    <a:lumMod val="50000"/>
                  </a:schemeClr>
                </a:solidFill>
                <a:latin typeface="Calibri" pitchFamily="34" charset="0"/>
                <a:cs typeface="Calibri" pitchFamily="34" charset="0"/>
              </a:rPr>
              <a:t>kiện kinh doanh hiện </a:t>
            </a:r>
            <a:r>
              <a:rPr lang="en-US" sz="1800" smtClean="0">
                <a:solidFill>
                  <a:schemeClr val="accent2">
                    <a:lumMod val="50000"/>
                  </a:schemeClr>
                </a:solidFill>
                <a:latin typeface="Calibri" pitchFamily="34" charset="0"/>
                <a:cs typeface="Calibri" pitchFamily="34" charset="0"/>
              </a:rPr>
              <a:t>tại.</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Quan </a:t>
            </a:r>
            <a:r>
              <a:rPr lang="en-US" sz="1800">
                <a:solidFill>
                  <a:schemeClr val="accent2">
                    <a:lumMod val="50000"/>
                  </a:schemeClr>
                </a:solidFill>
                <a:latin typeface="Calibri" pitchFamily="34" charset="0"/>
                <a:cs typeface="Calibri" pitchFamily="34" charset="0"/>
              </a:rPr>
              <a:t>điểm của các nhà </a:t>
            </a:r>
            <a:r>
              <a:rPr lang="en-US" sz="1800" smtClean="0">
                <a:solidFill>
                  <a:schemeClr val="accent2">
                    <a:lumMod val="50000"/>
                  </a:schemeClr>
                </a:solidFill>
                <a:latin typeface="Calibri" pitchFamily="34" charset="0"/>
                <a:cs typeface="Calibri" pitchFamily="34" charset="0"/>
              </a:rPr>
              <a:t>lãnh đạo.</a:t>
            </a:r>
            <a:endParaRPr lang="vi-VN" sz="18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9227"/>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8</a:t>
            </a:fld>
            <a:endParaRPr lang="vi-VN"/>
          </a:p>
        </p:txBody>
      </p:sp>
      <p:sp>
        <p:nvSpPr>
          <p:cNvPr id="12"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vi-VN" sz="1200">
                <a:solidFill>
                  <a:schemeClr val="tx2"/>
                </a:solidFill>
                <a:ea typeface="+mj-ea"/>
                <a:cs typeface="Arial" pitchFamily="34" charset="0"/>
              </a:rPr>
              <a:t>3.1 Xác định các dự án phát triển tiềm năng</a:t>
            </a:r>
          </a:p>
          <a:p>
            <a:pPr marL="0" lvl="1"/>
            <a:r>
              <a:rPr lang="vi-VN" sz="1200">
                <a:solidFill>
                  <a:schemeClr val="tx2"/>
                </a:solidFill>
                <a:ea typeface="+mj-ea"/>
                <a:cs typeface="Arial" pitchFamily="34" charset="0"/>
              </a:rPr>
              <a:t>3.2 Phân loại và xếp hạng các dự án</a:t>
            </a:r>
          </a:p>
          <a:p>
            <a:pPr marL="0" lvl="1"/>
            <a:r>
              <a:rPr lang="vi-VN" sz="1200" b="1">
                <a:solidFill>
                  <a:schemeClr val="accent6">
                    <a:lumMod val="75000"/>
                  </a:schemeClr>
                </a:solidFill>
                <a:ea typeface="+mj-ea"/>
                <a:cs typeface="Arial" pitchFamily="34" charset="0"/>
              </a:rPr>
              <a:t>3.3 Lựa chọn phương án phát triển</a:t>
            </a:r>
            <a:endParaRPr lang="en-US" sz="1200" b="1">
              <a:solidFill>
                <a:schemeClr val="accent6">
                  <a:lumMod val="75000"/>
                </a:schemeClr>
              </a:solidFill>
              <a:ea typeface="+mj-ea"/>
              <a:cs typeface="Arial" pitchFamily="34" charset="0"/>
            </a:endParaRPr>
          </a:p>
        </p:txBody>
      </p:sp>
      <p:sp>
        <p:nvSpPr>
          <p:cNvPr id="13"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a:solidFill>
                  <a:schemeClr val="accent1">
                    <a:lumMod val="75000"/>
                  </a:schemeClr>
                </a:solidFill>
                <a:ea typeface="+mj-ea"/>
                <a:cs typeface="Arial" pitchFamily="34" charset="0"/>
              </a:rPr>
              <a:t>2. Nhu cầu phát triển dự án</a:t>
            </a:r>
          </a:p>
          <a:p>
            <a:pPr marL="0" lvl="1"/>
            <a:r>
              <a:rPr lang="en-US" sz="1300" b="1">
                <a:solidFill>
                  <a:schemeClr val="accent6">
                    <a:lumMod val="75000"/>
                  </a:schemeClr>
                </a:solidFill>
                <a:latin typeface="Calibri (Body)"/>
                <a:ea typeface="+mj-ea"/>
                <a:cs typeface="Arial" pitchFamily="34" charset="0"/>
              </a:rPr>
              <a:t>3. Quy trình thực hiện</a:t>
            </a: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18925869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b="1" smtClean="0">
                <a:solidFill>
                  <a:schemeClr val="accent6">
                    <a:lumMod val="75000"/>
                  </a:schemeClr>
                </a:solidFill>
                <a:latin typeface="Calibri (Body)"/>
                <a:cs typeface="Arial" pitchFamily="34" charset="0"/>
              </a:rPr>
              <a:t>1. </a:t>
            </a:r>
            <a:r>
              <a:rPr lang="vi-VN" sz="1600" b="1" smtClean="0">
                <a:solidFill>
                  <a:schemeClr val="accent6">
                    <a:lumMod val="75000"/>
                  </a:schemeClr>
                </a:solidFill>
                <a:latin typeface="Calibri (Body)"/>
                <a:cs typeface="Arial" pitchFamily="34" charset="0"/>
              </a:rPr>
              <a:t>Xác </a:t>
            </a:r>
            <a:r>
              <a:rPr lang="vi-VN" sz="1600" b="1">
                <a:solidFill>
                  <a:schemeClr val="accent6">
                    <a:lumMod val="75000"/>
                  </a:schemeClr>
                </a:solidFill>
                <a:latin typeface="Calibri (Body)"/>
                <a:cs typeface="Arial" pitchFamily="34" charset="0"/>
              </a:rPr>
              <a:t>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smtClean="0">
                <a:solidFill>
                  <a:schemeClr val="accent1">
                    <a:lumMod val="75000"/>
                  </a:schemeClr>
                </a:solidFill>
                <a:latin typeface="+mn-lt"/>
                <a:cs typeface="Arial" pitchFamily="34" charset="0"/>
              </a:rPr>
              <a:t>2</a:t>
            </a:r>
            <a:r>
              <a:rPr lang="en-US" sz="1600">
                <a:solidFill>
                  <a:schemeClr val="accent1">
                    <a:lumMod val="75000"/>
                  </a:schemeClr>
                </a:solidFill>
                <a:latin typeface="+mn-lt"/>
                <a:cs typeface="Arial" pitchFamily="34" charset="0"/>
              </a:rPr>
              <a:t>. </a:t>
            </a:r>
            <a:r>
              <a:rPr lang="en-US" sz="1600" smtClean="0">
                <a:solidFill>
                  <a:schemeClr val="accent1">
                    <a:lumMod val="75000"/>
                  </a:schemeClr>
                </a:solidFill>
                <a:latin typeface="+mn-lt"/>
                <a:cs typeface="Arial" pitchFamily="34" charset="0"/>
              </a:rPr>
              <a:t>Khởi </a:t>
            </a:r>
            <a:r>
              <a:rPr lang="en-US" sz="1600">
                <a:solidFill>
                  <a:schemeClr val="accent1">
                    <a:lumMod val="75000"/>
                  </a:schemeClr>
                </a:solidFill>
                <a:latin typeface="+mn-lt"/>
                <a:cs typeface="Arial" pitchFamily="34" charset="0"/>
              </a:rPr>
              <a:t>động và lập kế hoạch dự án</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Đánh giá tính khả thi </a:t>
            </a:r>
            <a:r>
              <a:rPr lang="en-US" sz="1600" smtClean="0">
                <a:solidFill>
                  <a:schemeClr val="accent1">
                    <a:lumMod val="75000"/>
                  </a:schemeClr>
                </a:solidFill>
                <a:latin typeface="+mn-lt"/>
                <a:cs typeface="Arial" pitchFamily="34" charset="0"/>
              </a:rPr>
              <a:t>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Quá </a:t>
            </a:r>
            <a:r>
              <a:rPr lang="en-US" sz="2000">
                <a:solidFill>
                  <a:schemeClr val="accent2">
                    <a:lumMod val="50000"/>
                  </a:schemeClr>
                </a:solidFill>
                <a:latin typeface="Calibri" pitchFamily="34" charset="0"/>
                <a:cs typeface="Calibri" pitchFamily="34" charset="0"/>
              </a:rPr>
              <a:t>trình lựa chọn phương án phát triển có thể dẫn đến nhiều kết quả:</a:t>
            </a:r>
            <a:endParaRPr lang="vi-VN" sz="2000">
              <a:solidFill>
                <a:schemeClr val="accent2">
                  <a:lumMod val="50000"/>
                </a:schemeClr>
              </a:solidFill>
              <a:latin typeface="Calibri" pitchFamily="34" charset="0"/>
              <a:cs typeface="Calibri" pitchFamily="34" charset="0"/>
            </a:endParaRPr>
          </a:p>
          <a:p>
            <a:pPr lvl="1" algn="just">
              <a:spcBef>
                <a:spcPts val="0"/>
              </a:spcBef>
              <a:spcAft>
                <a:spcPts val="400"/>
              </a:spcAft>
              <a:buClr>
                <a:srgbClr val="FF0066"/>
              </a:buClr>
            </a:pPr>
            <a:r>
              <a:rPr lang="en-US" sz="1700">
                <a:solidFill>
                  <a:schemeClr val="accent2">
                    <a:lumMod val="50000"/>
                  </a:schemeClr>
                </a:solidFill>
                <a:latin typeface="Calibri" pitchFamily="34" charset="0"/>
                <a:cs typeface="Calibri" pitchFamily="34" charset="0"/>
              </a:rPr>
              <a:t>Dự án có thể chấp nhận hoặc từ chối, chấp nhận một dự án có nghĩa là kinh phí để thực hiện các hoạt động tiếp theo của SDLC đã được phê duyệt, từ chối có nghĩa là dự án sẽ không còn được phát triển. </a:t>
            </a:r>
            <a:endParaRPr lang="vi-VN" sz="1700">
              <a:solidFill>
                <a:schemeClr val="accent2">
                  <a:lumMod val="50000"/>
                </a:schemeClr>
              </a:solidFill>
              <a:latin typeface="Calibri" pitchFamily="34" charset="0"/>
              <a:cs typeface="Calibri" pitchFamily="34" charset="0"/>
            </a:endParaRPr>
          </a:p>
          <a:p>
            <a:pPr lvl="1" algn="just">
              <a:spcBef>
                <a:spcPts val="0"/>
              </a:spcBef>
              <a:spcAft>
                <a:spcPts val="400"/>
              </a:spcAft>
              <a:buClr>
                <a:srgbClr val="FF0066"/>
              </a:buClr>
            </a:pPr>
            <a:r>
              <a:rPr lang="en-US" sz="1700">
                <a:solidFill>
                  <a:schemeClr val="accent2">
                    <a:lumMod val="50000"/>
                  </a:schemeClr>
                </a:solidFill>
                <a:latin typeface="Calibri" pitchFamily="34" charset="0"/>
                <a:cs typeface="Calibri" pitchFamily="34" charset="0"/>
              </a:rPr>
              <a:t>Dự án cũng có thể được chấp nhận có điều kiện, tức là các dự án có thể được chấp nhận trong khi chờ phê duyệt các nguồn tài nguyên cần thiết hoặc chứng minh được rằng các khó khăn đặc biệt của hệ thống có thể được </a:t>
            </a:r>
            <a:r>
              <a:rPr lang="en-US" sz="1700" smtClean="0">
                <a:solidFill>
                  <a:schemeClr val="accent2">
                    <a:lumMod val="50000"/>
                  </a:schemeClr>
                </a:solidFill>
                <a:latin typeface="Calibri" pitchFamily="34" charset="0"/>
                <a:cs typeface="Calibri" pitchFamily="34" charset="0"/>
              </a:rPr>
              <a:t>thực hiện. </a:t>
            </a:r>
            <a:endParaRPr lang="vi-VN" sz="1700">
              <a:solidFill>
                <a:schemeClr val="accent2">
                  <a:lumMod val="50000"/>
                </a:schemeClr>
              </a:solidFill>
              <a:latin typeface="Calibri" pitchFamily="34" charset="0"/>
              <a:cs typeface="Calibri" pitchFamily="34" charset="0"/>
            </a:endParaRPr>
          </a:p>
          <a:p>
            <a:pPr lvl="1" algn="just">
              <a:spcAft>
                <a:spcPts val="400"/>
              </a:spcAft>
              <a:buClr>
                <a:srgbClr val="FF0066"/>
              </a:buClr>
            </a:pPr>
            <a:r>
              <a:rPr lang="en-US" sz="1700">
                <a:solidFill>
                  <a:schemeClr val="accent2">
                    <a:lumMod val="50000"/>
                  </a:schemeClr>
                </a:solidFill>
                <a:latin typeface="Calibri" pitchFamily="34" charset="0"/>
                <a:cs typeface="Calibri" pitchFamily="34" charset="0"/>
              </a:rPr>
              <a:t>Dự án có thể được yêu cầu chỉnh sửa, thay đổi, làm rõ một số nội dung nhất định…</a:t>
            </a:r>
            <a:endParaRPr lang="vi-VN" sz="17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9227"/>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9</a:t>
            </a:fld>
            <a:endParaRPr lang="vi-VN"/>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0857" y="3789040"/>
            <a:ext cx="5117809" cy="3076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vi-VN" sz="1200">
                <a:solidFill>
                  <a:schemeClr val="tx2"/>
                </a:solidFill>
                <a:ea typeface="+mj-ea"/>
                <a:cs typeface="Arial" pitchFamily="34" charset="0"/>
              </a:rPr>
              <a:t>3.1 Xác định các dự án phát triển tiềm năng</a:t>
            </a:r>
          </a:p>
          <a:p>
            <a:pPr marL="0" lvl="1"/>
            <a:r>
              <a:rPr lang="vi-VN" sz="1200">
                <a:solidFill>
                  <a:schemeClr val="tx2"/>
                </a:solidFill>
                <a:ea typeface="+mj-ea"/>
                <a:cs typeface="Arial" pitchFamily="34" charset="0"/>
              </a:rPr>
              <a:t>3.2 Phân loại và xếp hạng các dự án</a:t>
            </a:r>
          </a:p>
          <a:p>
            <a:pPr marL="0" lvl="1"/>
            <a:r>
              <a:rPr lang="vi-VN" sz="1200" b="1">
                <a:solidFill>
                  <a:schemeClr val="accent6">
                    <a:lumMod val="75000"/>
                  </a:schemeClr>
                </a:solidFill>
                <a:ea typeface="+mj-ea"/>
                <a:cs typeface="Arial" pitchFamily="34" charset="0"/>
              </a:rPr>
              <a:t>3.3 Lựa chọn phương án phát triển</a:t>
            </a:r>
            <a:endParaRPr lang="en-US" sz="1200" b="1">
              <a:solidFill>
                <a:schemeClr val="accent6">
                  <a:lumMod val="75000"/>
                </a:schemeClr>
              </a:solidFill>
              <a:ea typeface="+mj-ea"/>
              <a:cs typeface="Arial" pitchFamily="34" charset="0"/>
            </a:endParaRPr>
          </a:p>
        </p:txBody>
      </p:sp>
      <p:sp>
        <p:nvSpPr>
          <p:cNvPr id="11"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a:solidFill>
                  <a:schemeClr val="accent1">
                    <a:lumMod val="75000"/>
                  </a:schemeClr>
                </a:solidFill>
                <a:ea typeface="+mj-ea"/>
                <a:cs typeface="Arial" pitchFamily="34" charset="0"/>
              </a:rPr>
              <a:t>2. Nhu cầu phát triển dự án</a:t>
            </a:r>
          </a:p>
          <a:p>
            <a:pPr marL="0" lvl="1"/>
            <a:r>
              <a:rPr lang="en-US" sz="1300" b="1">
                <a:solidFill>
                  <a:schemeClr val="accent6">
                    <a:lumMod val="75000"/>
                  </a:schemeClr>
                </a:solidFill>
                <a:latin typeface="Calibri (Body)"/>
                <a:ea typeface="+mj-ea"/>
                <a:cs typeface="Arial" pitchFamily="34" charset="0"/>
              </a:rPr>
              <a:t>3. Quy trình thực hiện</a:t>
            </a: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37304199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Calibri" pitchFamily="34" charset="0"/>
                <a:cs typeface="Calibri"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Khởi động và lập kế hoạch dự án</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Đánh giá tính khả thi </a:t>
            </a:r>
            <a:r>
              <a:rPr lang="en-US" sz="1600" smtClean="0">
                <a:solidFill>
                  <a:schemeClr val="accent1">
                    <a:lumMod val="75000"/>
                  </a:schemeClr>
                </a:solidFill>
                <a:latin typeface="+mn-lt"/>
                <a:cs typeface="Arial" pitchFamily="34" charset="0"/>
              </a:rPr>
              <a:t>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Khởi động và lập kế hoạch dự </a:t>
            </a:r>
            <a:r>
              <a:rPr lang="en-US" sz="2000">
                <a:solidFill>
                  <a:schemeClr val="accent2">
                    <a:lumMod val="50000"/>
                  </a:schemeClr>
                </a:solidFill>
                <a:latin typeface="Calibri" pitchFamily="34" charset="0"/>
                <a:cs typeface="Calibri" pitchFamily="34" charset="0"/>
              </a:rPr>
              <a:t>án là h</a:t>
            </a:r>
            <a:r>
              <a:rPr lang="vi-VN" sz="2000">
                <a:solidFill>
                  <a:schemeClr val="accent2">
                    <a:lumMod val="50000"/>
                  </a:schemeClr>
                </a:solidFill>
                <a:latin typeface="Calibri" pitchFamily="34" charset="0"/>
                <a:cs typeface="Calibri" pitchFamily="34" charset="0"/>
              </a:rPr>
              <a:t>oạt động </a:t>
            </a:r>
            <a:r>
              <a:rPr lang="vi-VN" sz="2000" smtClean="0">
                <a:solidFill>
                  <a:schemeClr val="accent2">
                    <a:lumMod val="50000"/>
                  </a:schemeClr>
                </a:solidFill>
                <a:latin typeface="Calibri" pitchFamily="34" charset="0"/>
                <a:cs typeface="Calibri" pitchFamily="34" charset="0"/>
              </a:rPr>
              <a:t>thứ hai của </a:t>
            </a:r>
            <a:r>
              <a:rPr lang="en-US" sz="2000" smtClean="0">
                <a:solidFill>
                  <a:schemeClr val="accent2">
                    <a:lumMod val="50000"/>
                  </a:schemeClr>
                </a:solidFill>
                <a:latin typeface="Calibri" pitchFamily="34" charset="0"/>
                <a:cs typeface="Calibri" pitchFamily="34" charset="0"/>
              </a:rPr>
              <a:t>pha </a:t>
            </a:r>
            <a:r>
              <a:rPr lang="en-US" sz="2000" i="1" smtClean="0">
                <a:solidFill>
                  <a:schemeClr val="accent2">
                    <a:lumMod val="50000"/>
                  </a:schemeClr>
                </a:solidFill>
                <a:latin typeface="Calibri" pitchFamily="34" charset="0"/>
                <a:cs typeface="Calibri" pitchFamily="34" charset="0"/>
              </a:rPr>
              <a:t>Lựa </a:t>
            </a:r>
            <a:r>
              <a:rPr lang="en-US" sz="2000" i="1">
                <a:solidFill>
                  <a:schemeClr val="accent2">
                    <a:lumMod val="50000"/>
                  </a:schemeClr>
                </a:solidFill>
                <a:latin typeface="Calibri" pitchFamily="34" charset="0"/>
                <a:cs typeface="Calibri" pitchFamily="34" charset="0"/>
              </a:rPr>
              <a:t>chọn và lập kế hoạc</a:t>
            </a:r>
            <a:r>
              <a:rPr lang="vi-VN" sz="2000" i="1">
                <a:solidFill>
                  <a:schemeClr val="accent2">
                    <a:lumMod val="50000"/>
                  </a:schemeClr>
                </a:solidFill>
                <a:latin typeface="Calibri" pitchFamily="34" charset="0"/>
                <a:cs typeface="Calibri" pitchFamily="34" charset="0"/>
              </a:rPr>
              <a:t>h</a:t>
            </a:r>
            <a:r>
              <a:rPr lang="en-US" sz="2000" i="1">
                <a:solidFill>
                  <a:schemeClr val="accent2">
                    <a:lumMod val="50000"/>
                  </a:schemeClr>
                </a:solidFill>
                <a:latin typeface="Calibri" pitchFamily="34" charset="0"/>
                <a:cs typeface="Calibri" pitchFamily="34" charset="0"/>
              </a:rPr>
              <a:t> h</a:t>
            </a:r>
            <a:r>
              <a:rPr lang="vi-VN" sz="2000" i="1">
                <a:solidFill>
                  <a:schemeClr val="accent2">
                    <a:lumMod val="50000"/>
                  </a:schemeClr>
                </a:solidFill>
                <a:latin typeface="Calibri" pitchFamily="34" charset="0"/>
                <a:cs typeface="Calibri" pitchFamily="34" charset="0"/>
              </a:rPr>
              <a:t>ệ thống</a:t>
            </a:r>
            <a:r>
              <a:rPr lang="vi-VN" sz="2000">
                <a:solidFill>
                  <a:schemeClr val="accent2">
                    <a:lumMod val="50000"/>
                  </a:schemeClr>
                </a:solidFill>
                <a:latin typeface="Calibri" pitchFamily="34" charset="0"/>
                <a:cs typeface="Calibri" pitchFamily="34" charset="0"/>
              </a:rPr>
              <a:t> </a:t>
            </a:r>
            <a:r>
              <a:rPr lang="en-US" sz="2000">
                <a:solidFill>
                  <a:schemeClr val="accent2">
                    <a:lumMod val="50000"/>
                  </a:schemeClr>
                </a:solidFill>
                <a:latin typeface="Calibri" pitchFamily="34" charset="0"/>
                <a:cs typeface="Calibri" pitchFamily="34" charset="0"/>
              </a:rPr>
              <a:t>trong vòng đời phát triển hệ thống.</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Lợi </a:t>
            </a:r>
            <a:r>
              <a:rPr lang="en-US" sz="1800">
                <a:solidFill>
                  <a:schemeClr val="accent2">
                    <a:lumMod val="50000"/>
                  </a:schemeClr>
                </a:solidFill>
                <a:latin typeface="Calibri" pitchFamily="34" charset="0"/>
                <a:cs typeface="Calibri" pitchFamily="34" charset="0"/>
              </a:rPr>
              <a:t>ích của việc khởi tạo và lập kế hoạch dự án bao gồm việc xác định phạm vi dự án, xác định các hoạt động dự </a:t>
            </a:r>
            <a:r>
              <a:rPr lang="en-US" sz="1800" smtClean="0">
                <a:solidFill>
                  <a:schemeClr val="accent2">
                    <a:lumMod val="50000"/>
                  </a:schemeClr>
                </a:solidFill>
                <a:latin typeface="Calibri" pitchFamily="34" charset="0"/>
                <a:cs typeface="Calibri" pitchFamily="34" charset="0"/>
              </a:rPr>
              <a:t>án… </a:t>
            </a:r>
            <a:r>
              <a:rPr lang="en-US" sz="1800">
                <a:solidFill>
                  <a:schemeClr val="accent2">
                    <a:lumMod val="50000"/>
                  </a:schemeClr>
                </a:solidFill>
                <a:latin typeface="Calibri" pitchFamily="34" charset="0"/>
                <a:cs typeface="Calibri" pitchFamily="34" charset="0"/>
              </a:rPr>
              <a:t>có thể làm giảm thời gian cần thiết để hoàn thành các giai đoạn sau này của dự án như giai đoạn phân tích hệ thống. Ví dụ, một phân tích tính khả thi được tiến hành cẩn thận trong thời gian khởi tạo và lập kế hoạch có thể dẫn đến quyết định từ chối một dự án và tiết kiệm đáng kể chi phí sử dụng các  tài nguyên. </a:t>
            </a:r>
            <a:endParaRPr lang="en-US" sz="1800" smtClean="0">
              <a:solidFill>
                <a:schemeClr val="accent2">
                  <a:lumMod val="50000"/>
                </a:schemeClr>
              </a:solidFill>
              <a:latin typeface="Calibri" pitchFamily="34" charset="0"/>
              <a:cs typeface="Calibri" pitchFamily="34" charset="0"/>
            </a:endParaRP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Chi </a:t>
            </a:r>
            <a:r>
              <a:rPr lang="en-US" sz="1800">
                <a:solidFill>
                  <a:schemeClr val="accent2">
                    <a:lumMod val="50000"/>
                  </a:schemeClr>
                </a:solidFill>
                <a:latin typeface="Calibri" pitchFamily="34" charset="0"/>
                <a:cs typeface="Calibri" pitchFamily="34" charset="0"/>
              </a:rPr>
              <a:t>phí thực hiện ảnh hưởng bởi kích thước và độ phức tạp của dự án cũng như kinh nghiệm của tổ chức trong việc xây dựng các hệ thống tương tự. Một nguyên tắc </a:t>
            </a:r>
            <a:r>
              <a:rPr lang="en-US" sz="1800" smtClean="0">
                <a:solidFill>
                  <a:schemeClr val="accent2">
                    <a:lumMod val="50000"/>
                  </a:schemeClr>
                </a:solidFill>
                <a:latin typeface="Calibri" pitchFamily="34" charset="0"/>
                <a:cs typeface="Calibri" pitchFamily="34" charset="0"/>
              </a:rPr>
              <a:t>là </a:t>
            </a:r>
            <a:r>
              <a:rPr lang="en-US" sz="1800">
                <a:solidFill>
                  <a:schemeClr val="accent2">
                    <a:lumMod val="50000"/>
                  </a:schemeClr>
                </a:solidFill>
                <a:latin typeface="Calibri" pitchFamily="34" charset="0"/>
                <a:cs typeface="Calibri" pitchFamily="34" charset="0"/>
              </a:rPr>
              <a:t>nên dành từ </a:t>
            </a:r>
            <a:r>
              <a:rPr lang="en-US" sz="1800" smtClean="0">
                <a:solidFill>
                  <a:schemeClr val="accent2">
                    <a:lumMod val="50000"/>
                  </a:schemeClr>
                </a:solidFill>
                <a:latin typeface="Calibri" pitchFamily="34" charset="0"/>
                <a:cs typeface="Calibri" pitchFamily="34" charset="0"/>
              </a:rPr>
              <a:t>10% </a:t>
            </a:r>
            <a:r>
              <a:rPr lang="en-US" sz="1800">
                <a:solidFill>
                  <a:schemeClr val="accent2">
                    <a:lumMod val="50000"/>
                  </a:schemeClr>
                </a:solidFill>
                <a:latin typeface="Calibri" pitchFamily="34" charset="0"/>
                <a:cs typeface="Calibri" pitchFamily="34" charset="0"/>
              </a:rPr>
              <a:t>đến 20% nỗ lực phát triển toàn bộ dự án vào việc khởi tạo và lập kế hoạch.</a:t>
            </a:r>
          </a:p>
        </p:txBody>
      </p:sp>
      <p:cxnSp>
        <p:nvCxnSpPr>
          <p:cNvPr id="4" name="Straight Connector 3"/>
          <p:cNvCxnSpPr/>
          <p:nvPr/>
        </p:nvCxnSpPr>
        <p:spPr>
          <a:xfrm>
            <a:off x="390972" y="1097803"/>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10</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smtClean="0">
                <a:solidFill>
                  <a:schemeClr val="accent6">
                    <a:lumMod val="75000"/>
                  </a:schemeClr>
                </a:solidFill>
                <a:ea typeface="+mj-ea"/>
                <a:cs typeface="Arial" pitchFamily="34" charset="0"/>
              </a:rPr>
              <a:t>1</a:t>
            </a:r>
            <a:r>
              <a:rPr lang="en-US" sz="1600" b="1">
                <a:solidFill>
                  <a:schemeClr val="accent6">
                    <a:lumMod val="75000"/>
                  </a:schemeClr>
                </a:solidFill>
                <a:ea typeface="+mj-ea"/>
                <a:cs typeface="Arial" pitchFamily="34" charset="0"/>
              </a:rPr>
              <a:t>. </a:t>
            </a:r>
            <a:r>
              <a:rPr lang="en-US" sz="1600" b="1" smtClean="0">
                <a:solidFill>
                  <a:schemeClr val="accent6">
                    <a:lumMod val="75000"/>
                  </a:schemeClr>
                </a:solidFill>
                <a:ea typeface="+mj-ea"/>
                <a:cs typeface="Arial" pitchFamily="34" charset="0"/>
              </a:rPr>
              <a:t>Định nghĩa</a:t>
            </a:r>
            <a:endParaRPr lang="vi-VN" sz="1600" b="1">
              <a:solidFill>
                <a:schemeClr val="accent6">
                  <a:lumMod val="75000"/>
                </a:schemeClr>
              </a:solidFill>
              <a:ea typeface="+mj-ea"/>
              <a:cs typeface="Arial" pitchFamily="34" charset="0"/>
            </a:endParaRPr>
          </a:p>
          <a:p>
            <a:pPr marL="0" lvl="1"/>
            <a:r>
              <a:rPr lang="en-US" sz="1600" smtClean="0">
                <a:solidFill>
                  <a:schemeClr val="tx2"/>
                </a:solidFill>
                <a:ea typeface="+mj-ea"/>
                <a:cs typeface="Arial" pitchFamily="34" charset="0"/>
              </a:rPr>
              <a:t>2. </a:t>
            </a:r>
            <a:r>
              <a:rPr lang="en-US" sz="1600">
                <a:solidFill>
                  <a:schemeClr val="tx2"/>
                </a:solidFill>
                <a:ea typeface="+mj-ea"/>
                <a:cs typeface="Arial" pitchFamily="34" charset="0"/>
              </a:rPr>
              <a:t>Quy trình </a:t>
            </a:r>
            <a:r>
              <a:rPr lang="en-US" sz="1600" smtClean="0">
                <a:solidFill>
                  <a:schemeClr val="tx2"/>
                </a:solidFill>
                <a:ea typeface="+mj-ea"/>
                <a:cs typeface="Arial" pitchFamily="34" charset="0"/>
              </a:rPr>
              <a:t>thực hiện</a:t>
            </a:r>
            <a:endParaRPr lang="en-US" sz="1600">
              <a:solidFill>
                <a:schemeClr val="tx2"/>
              </a:solidFill>
              <a:ea typeface="+mj-ea"/>
              <a:cs typeface="Arial" pitchFamily="34" charset="0"/>
            </a:endParaRPr>
          </a:p>
        </p:txBody>
      </p:sp>
      <p:pic>
        <p:nvPicPr>
          <p:cNvPr id="9" name="Picture 8"/>
          <p:cNvPicPr/>
          <p:nvPr/>
        </p:nvPicPr>
        <p:blipFill>
          <a:blip r:embed="rId2">
            <a:extLst>
              <a:ext uri="{28A0092B-C50C-407E-A947-70E740481C1C}">
                <a14:useLocalDpi xmlns:a14="http://schemas.microsoft.com/office/drawing/2010/main" val="0"/>
              </a:ext>
            </a:extLst>
          </a:blip>
          <a:srcRect/>
          <a:stretch>
            <a:fillRect/>
          </a:stretch>
        </p:blipFill>
        <p:spPr bwMode="auto">
          <a:xfrm>
            <a:off x="2288562" y="4409728"/>
            <a:ext cx="5243289" cy="2448272"/>
          </a:xfrm>
          <a:prstGeom prst="rect">
            <a:avLst/>
          </a:prstGeom>
          <a:noFill/>
          <a:ln>
            <a:noFill/>
          </a:ln>
        </p:spPr>
      </p:pic>
    </p:spTree>
    <p:extLst>
      <p:ext uri="{BB962C8B-B14F-4D97-AF65-F5344CB8AC3E}">
        <p14:creationId xmlns:p14="http://schemas.microsoft.com/office/powerpoint/2010/main" val="1250432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Calibri" pitchFamily="34" charset="0"/>
                <a:cs typeface="Calibri"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Khởi động và lập kế hoạch dự án</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Đánh giá tính khả thi </a:t>
            </a:r>
            <a:r>
              <a:rPr lang="en-US" sz="1600" smtClean="0">
                <a:solidFill>
                  <a:schemeClr val="accent1">
                    <a:lumMod val="75000"/>
                  </a:schemeClr>
                </a:solidFill>
                <a:latin typeface="+mn-lt"/>
                <a:cs typeface="Arial" pitchFamily="34" charset="0"/>
              </a:rPr>
              <a:t>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en-US" sz="2000">
                <a:solidFill>
                  <a:schemeClr val="accent2">
                    <a:lumMod val="50000"/>
                  </a:schemeClr>
                </a:solidFill>
                <a:latin typeface="Calibri" pitchFamily="34" charset="0"/>
                <a:cs typeface="Calibri" pitchFamily="34" charset="0"/>
              </a:rPr>
              <a:t>C</a:t>
            </a:r>
            <a:r>
              <a:rPr lang="en-US" sz="2000" smtClean="0">
                <a:solidFill>
                  <a:schemeClr val="accent2">
                    <a:lumMod val="50000"/>
                  </a:schemeClr>
                </a:solidFill>
                <a:latin typeface="Calibri" pitchFamily="34" charset="0"/>
                <a:cs typeface="Calibri" pitchFamily="34" charset="0"/>
              </a:rPr>
              <a:t>ác </a:t>
            </a:r>
            <a:r>
              <a:rPr lang="en-US" sz="2000">
                <a:solidFill>
                  <a:schemeClr val="accent2">
                    <a:lumMod val="50000"/>
                  </a:schemeClr>
                </a:solidFill>
                <a:latin typeface="Calibri" pitchFamily="34" charset="0"/>
                <a:cs typeface="Calibri" pitchFamily="34" charset="0"/>
              </a:rPr>
              <a:t>tổ chức chỉ định một nhà phân tích hệ thống có kinh nghiệm hoặc nhóm các nhà phân tích đối với dự án lớn để thực hiện công việc khởi </a:t>
            </a:r>
            <a:r>
              <a:rPr lang="en-US" sz="2000" smtClean="0">
                <a:solidFill>
                  <a:schemeClr val="accent2">
                    <a:lumMod val="50000"/>
                  </a:schemeClr>
                </a:solidFill>
                <a:latin typeface="Calibri" pitchFamily="34" charset="0"/>
                <a:cs typeface="Calibri" pitchFamily="34" charset="0"/>
              </a:rPr>
              <a:t>động </a:t>
            </a:r>
            <a:r>
              <a:rPr lang="en-US" sz="2000">
                <a:solidFill>
                  <a:schemeClr val="accent2">
                    <a:lumMod val="50000"/>
                  </a:schemeClr>
                </a:solidFill>
                <a:latin typeface="Calibri" pitchFamily="34" charset="0"/>
                <a:cs typeface="Calibri" pitchFamily="34" charset="0"/>
              </a:rPr>
              <a:t>và lập kế hoạch dự án. </a:t>
            </a:r>
            <a:endParaRPr lang="en-US" sz="2000" smtClean="0">
              <a:solidFill>
                <a:schemeClr val="accent2">
                  <a:lumMod val="50000"/>
                </a:schemeClr>
              </a:solidFill>
              <a:latin typeface="Calibri" pitchFamily="34" charset="0"/>
              <a:cs typeface="Calibri" pitchFamily="34" charset="0"/>
            </a:endParaRP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Các </a:t>
            </a:r>
            <a:r>
              <a:rPr lang="en-US" sz="1800">
                <a:solidFill>
                  <a:schemeClr val="accent2">
                    <a:lumMod val="50000"/>
                  </a:schemeClr>
                </a:solidFill>
                <a:latin typeface="Calibri" pitchFamily="34" charset="0"/>
                <a:cs typeface="Calibri" pitchFamily="34" charset="0"/>
              </a:rPr>
              <a:t>nhà phân tích có kinh nghiệm khi làm việc với khách hàng sẽ hiểu được rõ ràng các yêu cầu dịch vụ của khách hàng từ đó có thể dễ dàng thực hiện các phân tích chi tiết về phạm vi dự án và kế hoạch hoạt động của dự án</a:t>
            </a:r>
            <a:r>
              <a:rPr lang="en-US" sz="1800" smtClean="0">
                <a:solidFill>
                  <a:schemeClr val="accent2">
                    <a:lumMod val="50000"/>
                  </a:schemeClr>
                </a:solidFill>
                <a:latin typeface="Calibri" pitchFamily="34" charset="0"/>
                <a:cs typeface="Calibri" pitchFamily="34" charset="0"/>
              </a:rPr>
              <a:t>.</a:t>
            </a:r>
          </a:p>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Mục </a:t>
            </a:r>
            <a:r>
              <a:rPr lang="en-US" sz="2000">
                <a:solidFill>
                  <a:schemeClr val="accent2">
                    <a:lumMod val="50000"/>
                  </a:schemeClr>
                </a:solidFill>
                <a:latin typeface="Calibri" pitchFamily="34" charset="0"/>
                <a:cs typeface="Calibri" pitchFamily="34" charset="0"/>
              </a:rPr>
              <a:t>tiêu của việc khởi động và lập kế hoạch dự án là chuyển đổi một tài liệu yêu cầu hệ thống mơ hồ thành một mô tả dự án rõ ràng. </a:t>
            </a:r>
          </a:p>
        </p:txBody>
      </p:sp>
      <p:cxnSp>
        <p:nvCxnSpPr>
          <p:cNvPr id="4" name="Straight Connector 3"/>
          <p:cNvCxnSpPr/>
          <p:nvPr/>
        </p:nvCxnSpPr>
        <p:spPr>
          <a:xfrm>
            <a:off x="390972" y="1097803"/>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11</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smtClean="0">
                <a:solidFill>
                  <a:schemeClr val="accent6">
                    <a:lumMod val="75000"/>
                  </a:schemeClr>
                </a:solidFill>
                <a:ea typeface="+mj-ea"/>
                <a:cs typeface="Arial" pitchFamily="34" charset="0"/>
              </a:rPr>
              <a:t>1</a:t>
            </a:r>
            <a:r>
              <a:rPr lang="en-US" sz="1600" b="1">
                <a:solidFill>
                  <a:schemeClr val="accent6">
                    <a:lumMod val="75000"/>
                  </a:schemeClr>
                </a:solidFill>
                <a:ea typeface="+mj-ea"/>
                <a:cs typeface="Arial" pitchFamily="34" charset="0"/>
              </a:rPr>
              <a:t>. </a:t>
            </a:r>
            <a:r>
              <a:rPr lang="en-US" sz="1600" b="1" smtClean="0">
                <a:solidFill>
                  <a:schemeClr val="accent6">
                    <a:lumMod val="75000"/>
                  </a:schemeClr>
                </a:solidFill>
                <a:ea typeface="+mj-ea"/>
                <a:cs typeface="Arial" pitchFamily="34" charset="0"/>
              </a:rPr>
              <a:t>Định nghĩa</a:t>
            </a:r>
            <a:endParaRPr lang="vi-VN" sz="1600" b="1">
              <a:solidFill>
                <a:schemeClr val="accent6">
                  <a:lumMod val="75000"/>
                </a:schemeClr>
              </a:solidFill>
              <a:ea typeface="+mj-ea"/>
              <a:cs typeface="Arial" pitchFamily="34" charset="0"/>
            </a:endParaRPr>
          </a:p>
          <a:p>
            <a:pPr marL="0" lvl="1"/>
            <a:r>
              <a:rPr lang="en-US" sz="1600" smtClean="0">
                <a:solidFill>
                  <a:schemeClr val="tx2"/>
                </a:solidFill>
                <a:ea typeface="+mj-ea"/>
                <a:cs typeface="Arial" pitchFamily="34" charset="0"/>
              </a:rPr>
              <a:t>2. </a:t>
            </a:r>
            <a:r>
              <a:rPr lang="en-US" sz="1600">
                <a:solidFill>
                  <a:schemeClr val="tx2"/>
                </a:solidFill>
                <a:ea typeface="+mj-ea"/>
                <a:cs typeface="Arial" pitchFamily="34" charset="0"/>
              </a:rPr>
              <a:t>Quy trình </a:t>
            </a:r>
            <a:r>
              <a:rPr lang="en-US" sz="1600" smtClean="0">
                <a:solidFill>
                  <a:schemeClr val="tx2"/>
                </a:solidFill>
                <a:ea typeface="+mj-ea"/>
                <a:cs typeface="Arial" pitchFamily="34" charset="0"/>
              </a:rPr>
              <a:t>thực hiện</a:t>
            </a:r>
            <a:endParaRPr lang="en-US" sz="1600">
              <a:solidFill>
                <a:schemeClr val="tx2"/>
              </a:solidFill>
              <a:ea typeface="+mj-ea"/>
              <a:cs typeface="Arial" pitchFamily="34" charset="0"/>
            </a:endParaRPr>
          </a:p>
        </p:txBody>
      </p:sp>
      <p:pic>
        <p:nvPicPr>
          <p:cNvPr id="10" name="Picture 9"/>
          <p:cNvPicPr/>
          <p:nvPr/>
        </p:nvPicPr>
        <p:blipFill>
          <a:blip r:embed="rId2">
            <a:extLst>
              <a:ext uri="{28A0092B-C50C-407E-A947-70E740481C1C}">
                <a14:useLocalDpi xmlns:a14="http://schemas.microsoft.com/office/drawing/2010/main" val="0"/>
              </a:ext>
            </a:extLst>
          </a:blip>
          <a:srcRect/>
          <a:stretch>
            <a:fillRect/>
          </a:stretch>
        </p:blipFill>
        <p:spPr bwMode="auto">
          <a:xfrm>
            <a:off x="2047156" y="3717032"/>
            <a:ext cx="5400599" cy="3112740"/>
          </a:xfrm>
          <a:prstGeom prst="rect">
            <a:avLst/>
          </a:prstGeom>
          <a:noFill/>
          <a:ln>
            <a:noFill/>
          </a:ln>
        </p:spPr>
      </p:pic>
    </p:spTree>
    <p:extLst>
      <p:ext uri="{BB962C8B-B14F-4D97-AF65-F5344CB8AC3E}">
        <p14:creationId xmlns:p14="http://schemas.microsoft.com/office/powerpoint/2010/main" val="20081948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Calibri" pitchFamily="34" charset="0"/>
                <a:cs typeface="Calibri"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Khởi động và lập kế hoạch dự án</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Đánh giá tính khả thi </a:t>
            </a:r>
            <a:r>
              <a:rPr lang="en-US" sz="1600" smtClean="0">
                <a:solidFill>
                  <a:schemeClr val="accent1">
                    <a:lumMod val="75000"/>
                  </a:schemeClr>
                </a:solidFill>
                <a:latin typeface="+mn-lt"/>
                <a:cs typeface="Arial" pitchFamily="34" charset="0"/>
              </a:rPr>
              <a:t>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Quy trình thực hiện của hoạt động khởi động và lập kế hoạch dự án gồm 2 bước: </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Khởi động dự án.</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Lập kế hoạch dự án.</a:t>
            </a:r>
          </a:p>
        </p:txBody>
      </p:sp>
      <p:cxnSp>
        <p:nvCxnSpPr>
          <p:cNvPr id="4" name="Straight Connector 3"/>
          <p:cNvCxnSpPr/>
          <p:nvPr/>
        </p:nvCxnSpPr>
        <p:spPr>
          <a:xfrm>
            <a:off x="390972" y="1097803"/>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12</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Định nghĩa</a:t>
            </a:r>
            <a:endParaRPr lang="vi-VN" sz="1600">
              <a:solidFill>
                <a:schemeClr val="tx2"/>
              </a:solidFill>
              <a:ea typeface="+mj-ea"/>
              <a:cs typeface="Arial" pitchFamily="34" charset="0"/>
            </a:endParaRPr>
          </a:p>
          <a:p>
            <a:pPr marL="0" lvl="1"/>
            <a:r>
              <a:rPr lang="en-US" sz="1600" b="1">
                <a:solidFill>
                  <a:schemeClr val="accent6">
                    <a:lumMod val="75000"/>
                  </a:schemeClr>
                </a:solidFill>
                <a:ea typeface="+mj-ea"/>
                <a:cs typeface="Arial" pitchFamily="34" charset="0"/>
              </a:rPr>
              <a:t>2. Quy trình thực hiện</a:t>
            </a:r>
          </a:p>
        </p:txBody>
      </p:sp>
    </p:spTree>
    <p:extLst>
      <p:ext uri="{BB962C8B-B14F-4D97-AF65-F5344CB8AC3E}">
        <p14:creationId xmlns:p14="http://schemas.microsoft.com/office/powerpoint/2010/main" val="465970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Khởi động và lập kế hoạch dự án</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Đánh giá tính khả thi </a:t>
            </a:r>
            <a:r>
              <a:rPr lang="en-US" sz="1600" smtClean="0">
                <a:solidFill>
                  <a:schemeClr val="accent1">
                    <a:lumMod val="75000"/>
                  </a:schemeClr>
                </a:solidFill>
                <a:latin typeface="+mn-lt"/>
                <a:cs typeface="Arial" pitchFamily="34" charset="0"/>
              </a:rPr>
              <a:t>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Trong giai đoạn khởi động dự án, </a:t>
            </a:r>
            <a:r>
              <a:rPr lang="en-US" sz="2000">
                <a:solidFill>
                  <a:schemeClr val="accent2">
                    <a:lumMod val="50000"/>
                  </a:schemeClr>
                </a:solidFill>
                <a:latin typeface="Calibri" pitchFamily="34" charset="0"/>
                <a:cs typeface="Calibri" pitchFamily="34" charset="0"/>
              </a:rPr>
              <a:t>một hoặc nhiều nhà phân tích được phân công làm việc với khách hàng để thiết lập các tiêu chuẩn làm việc và </a:t>
            </a:r>
            <a:r>
              <a:rPr lang="en-US" sz="2000" smtClean="0">
                <a:solidFill>
                  <a:schemeClr val="accent2">
                    <a:lumMod val="50000"/>
                  </a:schemeClr>
                </a:solidFill>
                <a:latin typeface="Calibri" pitchFamily="34" charset="0"/>
                <a:cs typeface="Calibri" pitchFamily="34" charset="0"/>
              </a:rPr>
              <a:t>các cách thức truyền thông.</a:t>
            </a:r>
          </a:p>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Khởi động dự án bao gồm 6 hoạt động:</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Thiết </a:t>
            </a:r>
            <a:r>
              <a:rPr lang="en-US" sz="1800">
                <a:solidFill>
                  <a:schemeClr val="accent2">
                    <a:lumMod val="50000"/>
                  </a:schemeClr>
                </a:solidFill>
                <a:latin typeface="Calibri" pitchFamily="34" charset="0"/>
                <a:cs typeface="Calibri" pitchFamily="34" charset="0"/>
              </a:rPr>
              <a:t>lập nhóm khởi động dự án</a:t>
            </a:r>
            <a:r>
              <a:rPr lang="en-US" sz="1800" smtClean="0">
                <a:solidFill>
                  <a:schemeClr val="accent2">
                    <a:lumMod val="50000"/>
                  </a:schemeClr>
                </a:solidFill>
                <a:latin typeface="Calibri" pitchFamily="34" charset="0"/>
                <a:cs typeface="Calibri" pitchFamily="34" charset="0"/>
              </a:rPr>
              <a:t>.</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Thiết </a:t>
            </a:r>
            <a:r>
              <a:rPr lang="en-US" sz="1800">
                <a:solidFill>
                  <a:schemeClr val="accent2">
                    <a:lumMod val="50000"/>
                  </a:schemeClr>
                </a:solidFill>
                <a:latin typeface="Calibri" pitchFamily="34" charset="0"/>
                <a:cs typeface="Calibri" pitchFamily="34" charset="0"/>
              </a:rPr>
              <a:t>lập mối quan hệ với khách hàng</a:t>
            </a:r>
            <a:r>
              <a:rPr lang="en-US" sz="1800" smtClean="0">
                <a:solidFill>
                  <a:schemeClr val="accent2">
                    <a:lumMod val="50000"/>
                  </a:schemeClr>
                </a:solidFill>
                <a:latin typeface="Calibri" pitchFamily="34" charset="0"/>
                <a:cs typeface="Calibri" pitchFamily="34" charset="0"/>
              </a:rPr>
              <a:t>.</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Thiết </a:t>
            </a:r>
            <a:r>
              <a:rPr lang="en-US" sz="1800">
                <a:solidFill>
                  <a:schemeClr val="accent2">
                    <a:lumMod val="50000"/>
                  </a:schemeClr>
                </a:solidFill>
                <a:latin typeface="Calibri" pitchFamily="34" charset="0"/>
                <a:cs typeface="Calibri" pitchFamily="34" charset="0"/>
              </a:rPr>
              <a:t>lập kế hoạch khởi động dự án</a:t>
            </a:r>
            <a:r>
              <a:rPr lang="en-US" sz="1800" smtClean="0">
                <a:solidFill>
                  <a:schemeClr val="accent2">
                    <a:lumMod val="50000"/>
                  </a:schemeClr>
                </a:solidFill>
                <a:latin typeface="Calibri" pitchFamily="34" charset="0"/>
                <a:cs typeface="Calibri" pitchFamily="34" charset="0"/>
              </a:rPr>
              <a:t>.</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Thiết </a:t>
            </a:r>
            <a:r>
              <a:rPr lang="en-US" sz="1800">
                <a:solidFill>
                  <a:schemeClr val="accent2">
                    <a:lumMod val="50000"/>
                  </a:schemeClr>
                </a:solidFill>
                <a:latin typeface="Calibri" pitchFamily="34" charset="0"/>
                <a:cs typeface="Calibri" pitchFamily="34" charset="0"/>
              </a:rPr>
              <a:t>lập quy trình quản lý</a:t>
            </a:r>
            <a:r>
              <a:rPr lang="en-US" sz="1800" smtClean="0">
                <a:solidFill>
                  <a:schemeClr val="accent2">
                    <a:lumMod val="50000"/>
                  </a:schemeClr>
                </a:solidFill>
                <a:latin typeface="Calibri" pitchFamily="34" charset="0"/>
                <a:cs typeface="Calibri" pitchFamily="34" charset="0"/>
              </a:rPr>
              <a:t>.</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Thiết </a:t>
            </a:r>
            <a:r>
              <a:rPr lang="en-US" sz="1800">
                <a:solidFill>
                  <a:schemeClr val="accent2">
                    <a:lumMod val="50000"/>
                  </a:schemeClr>
                </a:solidFill>
                <a:latin typeface="Calibri" pitchFamily="34" charset="0"/>
                <a:cs typeface="Calibri" pitchFamily="34" charset="0"/>
              </a:rPr>
              <a:t>lập môi trường quản lý dự </a:t>
            </a:r>
            <a:r>
              <a:rPr lang="en-US" sz="1800" smtClean="0">
                <a:solidFill>
                  <a:schemeClr val="accent2">
                    <a:lumMod val="50000"/>
                  </a:schemeClr>
                </a:solidFill>
                <a:latin typeface="Calibri" pitchFamily="34" charset="0"/>
                <a:cs typeface="Calibri" pitchFamily="34" charset="0"/>
              </a:rPr>
              <a:t>án.</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Phát </a:t>
            </a:r>
            <a:r>
              <a:rPr lang="en-US" sz="1800">
                <a:solidFill>
                  <a:schemeClr val="accent2">
                    <a:lumMod val="50000"/>
                  </a:schemeClr>
                </a:solidFill>
                <a:latin typeface="Calibri" pitchFamily="34" charset="0"/>
                <a:cs typeface="Calibri" pitchFamily="34" charset="0"/>
              </a:rPr>
              <a:t>triển điều lệ dự </a:t>
            </a:r>
            <a:r>
              <a:rPr lang="en-US" sz="1800" smtClean="0">
                <a:solidFill>
                  <a:schemeClr val="accent2">
                    <a:lumMod val="50000"/>
                  </a:schemeClr>
                </a:solidFill>
                <a:latin typeface="Calibri" pitchFamily="34" charset="0"/>
                <a:cs typeface="Calibri" pitchFamily="34" charset="0"/>
              </a:rPr>
              <a:t>án.</a:t>
            </a: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2" y="1099227"/>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13</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b="1">
                <a:solidFill>
                  <a:schemeClr val="accent6">
                    <a:lumMod val="75000"/>
                  </a:schemeClr>
                </a:solidFill>
                <a:ea typeface="+mj-ea"/>
                <a:cs typeface="Arial" pitchFamily="34" charset="0"/>
              </a:rPr>
              <a:t>2.1 Khởi động dự án</a:t>
            </a:r>
          </a:p>
          <a:p>
            <a:pPr marL="3175" lvl="1"/>
            <a:r>
              <a:rPr lang="vi-VN" sz="1200">
                <a:solidFill>
                  <a:schemeClr val="tx2"/>
                </a:solidFill>
                <a:cs typeface="Arial" pitchFamily="34" charset="0"/>
              </a:rPr>
              <a:t>2.2 Lập kế hoạch dự </a:t>
            </a:r>
            <a:r>
              <a:rPr lang="vi-VN" sz="1200" smtClean="0">
                <a:solidFill>
                  <a:schemeClr val="tx2"/>
                </a:solidFill>
                <a:cs typeface="Arial" pitchFamily="34" charset="0"/>
              </a:rPr>
              <a:t>án</a:t>
            </a:r>
            <a:endParaRPr lang="vi-VN" sz="1200">
              <a:solidFill>
                <a:schemeClr val="tx2"/>
              </a:solidFill>
              <a:cs typeface="Arial" pitchFamily="34" charset="0"/>
            </a:endParaRPr>
          </a:p>
        </p:txBody>
      </p:sp>
      <p:sp>
        <p:nvSpPr>
          <p:cNvPr id="9"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a:t>
            </a:r>
            <a:r>
              <a:rPr lang="en-US" sz="1300" b="1">
                <a:solidFill>
                  <a:schemeClr val="accent6">
                    <a:lumMod val="75000"/>
                  </a:schemeClr>
                </a:solidFill>
                <a:latin typeface="Calibri (Body)"/>
                <a:ea typeface="+mj-ea"/>
                <a:cs typeface="Arial" pitchFamily="34" charset="0"/>
              </a:rPr>
              <a:t>Quy trình thực hiện</a:t>
            </a: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8755173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Khởi động và lập kế hoạch dự án</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Đánh giá tính khả thi </a:t>
            </a:r>
            <a:r>
              <a:rPr lang="en-US" sz="1600" smtClean="0">
                <a:solidFill>
                  <a:schemeClr val="accent1">
                    <a:lumMod val="75000"/>
                  </a:schemeClr>
                </a:solidFill>
                <a:latin typeface="+mn-lt"/>
                <a:cs typeface="Arial" pitchFamily="34" charset="0"/>
              </a:rPr>
              <a:t>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en-US" sz="2000">
                <a:solidFill>
                  <a:schemeClr val="accent2">
                    <a:lumMod val="50000"/>
                  </a:schemeClr>
                </a:solidFill>
                <a:latin typeface="Calibri" pitchFamily="34" charset="0"/>
                <a:cs typeface="Calibri" pitchFamily="34" charset="0"/>
              </a:rPr>
              <a:t>G</a:t>
            </a:r>
            <a:r>
              <a:rPr lang="en-US" sz="2000" smtClean="0">
                <a:solidFill>
                  <a:schemeClr val="accent2">
                    <a:lumMod val="50000"/>
                  </a:schemeClr>
                </a:solidFill>
                <a:latin typeface="Calibri" pitchFamily="34" charset="0"/>
                <a:cs typeface="Calibri" pitchFamily="34" charset="0"/>
              </a:rPr>
              <a:t>iai đoạn lập </a:t>
            </a:r>
            <a:r>
              <a:rPr lang="en-US" sz="2000">
                <a:solidFill>
                  <a:schemeClr val="accent2">
                    <a:lumMod val="50000"/>
                  </a:schemeClr>
                </a:solidFill>
                <a:latin typeface="Calibri" pitchFamily="34" charset="0"/>
                <a:cs typeface="Calibri" pitchFamily="34" charset="0"/>
              </a:rPr>
              <a:t>kế hoạch dự án tập trung vào việc xác định rõ ràng các nhiệm vụ cần thực hiện và các công việc cần thiết để hoàn thành mỗi nhiệm vụ.  </a:t>
            </a:r>
            <a:endParaRPr lang="en-US" sz="2000" smtClean="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en-US" sz="2000">
                <a:solidFill>
                  <a:schemeClr val="accent2">
                    <a:lumMod val="50000"/>
                  </a:schemeClr>
                </a:solidFill>
                <a:latin typeface="Calibri" pitchFamily="34" charset="0"/>
                <a:cs typeface="Calibri" pitchFamily="34" charset="0"/>
              </a:rPr>
              <a:t>Mục tiêu của </a:t>
            </a:r>
            <a:r>
              <a:rPr lang="en-US" sz="2000" smtClean="0">
                <a:solidFill>
                  <a:schemeClr val="accent2">
                    <a:lumMod val="50000"/>
                  </a:schemeClr>
                </a:solidFill>
                <a:latin typeface="Calibri" pitchFamily="34" charset="0"/>
                <a:cs typeface="Calibri" pitchFamily="34" charset="0"/>
              </a:rPr>
              <a:t>lập </a:t>
            </a:r>
            <a:r>
              <a:rPr lang="en-US" sz="2000">
                <a:solidFill>
                  <a:schemeClr val="accent2">
                    <a:lumMod val="50000"/>
                  </a:schemeClr>
                </a:solidFill>
                <a:latin typeface="Calibri" pitchFamily="34" charset="0"/>
                <a:cs typeface="Calibri" pitchFamily="34" charset="0"/>
              </a:rPr>
              <a:t>kế hoạch dự án là tạo ra hai tài liệu: Kế hoạch dự án cơ sở (Baseline Project Plan - BPP) và Tuyên bố phạm vi dự án (Project Scope Statement - PSS</a:t>
            </a:r>
            <a:r>
              <a:rPr lang="en-US" sz="2000" smtClean="0">
                <a:solidFill>
                  <a:schemeClr val="accent2">
                    <a:lumMod val="50000"/>
                  </a:schemeClr>
                </a:solidFill>
                <a:latin typeface="Calibri" pitchFamily="34" charset="0"/>
                <a:cs typeface="Calibri" pitchFamily="34" charset="0"/>
              </a:rPr>
              <a:t>).</a:t>
            </a:r>
          </a:p>
          <a:p>
            <a:pPr lvl="1" algn="just">
              <a:spcAft>
                <a:spcPts val="683"/>
              </a:spcAft>
              <a:buClr>
                <a:srgbClr val="FF0066"/>
              </a:buClr>
            </a:pPr>
            <a:r>
              <a:rPr lang="en-US" sz="1800">
                <a:solidFill>
                  <a:schemeClr val="accent2">
                    <a:lumMod val="50000"/>
                  </a:schemeClr>
                </a:solidFill>
                <a:latin typeface="Calibri" pitchFamily="34" charset="0"/>
                <a:cs typeface="Calibri" pitchFamily="34" charset="0"/>
              </a:rPr>
              <a:t>BPP là một tài liệu nội bộ được sử dụng bởi các nhóm phát triển nhưng không được chia sẻ với khách </a:t>
            </a:r>
            <a:r>
              <a:rPr lang="en-US" sz="1800" smtClean="0">
                <a:solidFill>
                  <a:schemeClr val="accent2">
                    <a:lumMod val="50000"/>
                  </a:schemeClr>
                </a:solidFill>
                <a:latin typeface="Calibri" pitchFamily="34" charset="0"/>
                <a:cs typeface="Calibri" pitchFamily="34" charset="0"/>
              </a:rPr>
              <a:t>hàng</a:t>
            </a:r>
            <a:r>
              <a:rPr lang="en-US" sz="1800">
                <a:solidFill>
                  <a:schemeClr val="accent2">
                    <a:lumMod val="50000"/>
                  </a:schemeClr>
                </a:solidFill>
                <a:latin typeface="Calibri" pitchFamily="34" charset="0"/>
                <a:cs typeface="Calibri" pitchFamily="34" charset="0"/>
              </a:rPr>
              <a:t>,</a:t>
            </a:r>
            <a:r>
              <a:rPr lang="en-US" sz="1800" smtClean="0">
                <a:solidFill>
                  <a:schemeClr val="accent2">
                    <a:lumMod val="50000"/>
                  </a:schemeClr>
                </a:solidFill>
                <a:latin typeface="Calibri" pitchFamily="34" charset="0"/>
                <a:cs typeface="Calibri" pitchFamily="34" charset="0"/>
              </a:rPr>
              <a:t> </a:t>
            </a:r>
            <a:r>
              <a:rPr lang="vi-VN" sz="1800">
                <a:solidFill>
                  <a:schemeClr val="accent2">
                    <a:lumMod val="50000"/>
                  </a:schemeClr>
                </a:solidFill>
                <a:latin typeface="Calibri" pitchFamily="34" charset="0"/>
                <a:cs typeface="Calibri" pitchFamily="34" charset="0"/>
              </a:rPr>
              <a:t>bao gồm các ước </a:t>
            </a:r>
            <a:r>
              <a:rPr lang="vi-VN" sz="1800" smtClean="0">
                <a:solidFill>
                  <a:schemeClr val="accent2">
                    <a:lumMod val="50000"/>
                  </a:schemeClr>
                </a:solidFill>
                <a:latin typeface="Calibri" pitchFamily="34" charset="0"/>
                <a:cs typeface="Calibri" pitchFamily="34" charset="0"/>
              </a:rPr>
              <a:t>lượng </a:t>
            </a:r>
            <a:r>
              <a:rPr lang="vi-VN" sz="1800">
                <a:solidFill>
                  <a:schemeClr val="accent2">
                    <a:lumMod val="50000"/>
                  </a:schemeClr>
                </a:solidFill>
                <a:latin typeface="Calibri" pitchFamily="34" charset="0"/>
                <a:cs typeface="Calibri" pitchFamily="34" charset="0"/>
              </a:rPr>
              <a:t>tốt nhất về phạm vi, lợi ích, chi phí, rủi ro và yêu cầu tài nguyên của dự </a:t>
            </a:r>
            <a:r>
              <a:rPr lang="vi-VN" sz="1800" smtClean="0">
                <a:solidFill>
                  <a:schemeClr val="accent2">
                    <a:lumMod val="50000"/>
                  </a:schemeClr>
                </a:solidFill>
                <a:latin typeface="Calibri" pitchFamily="34" charset="0"/>
                <a:cs typeface="Calibri" pitchFamily="34" charset="0"/>
              </a:rPr>
              <a:t>án.</a:t>
            </a:r>
            <a:endParaRPr lang="en-US" sz="1800">
              <a:solidFill>
                <a:schemeClr val="accent2">
                  <a:lumMod val="50000"/>
                </a:schemeClr>
              </a:solidFill>
              <a:latin typeface="Calibri" pitchFamily="34" charset="0"/>
              <a:cs typeface="Calibri" pitchFamily="34" charset="0"/>
            </a:endParaRPr>
          </a:p>
          <a:p>
            <a:pPr lvl="1" algn="just">
              <a:spcAft>
                <a:spcPts val="683"/>
              </a:spcAft>
              <a:buClr>
                <a:srgbClr val="FF0066"/>
              </a:buClr>
            </a:pPr>
            <a:r>
              <a:rPr lang="en-US" sz="1800">
                <a:solidFill>
                  <a:schemeClr val="accent2">
                    <a:lumMod val="50000"/>
                  </a:schemeClr>
                </a:solidFill>
                <a:latin typeface="Calibri" pitchFamily="34" charset="0"/>
                <a:cs typeface="Calibri" pitchFamily="34" charset="0"/>
              </a:rPr>
              <a:t>PSS được viết bởi nhóm dự án, chỉ rõ những mục tiêu của dự án cho các khách </a:t>
            </a:r>
            <a:r>
              <a:rPr lang="en-US" sz="1800" smtClean="0">
                <a:solidFill>
                  <a:schemeClr val="accent2">
                    <a:lumMod val="50000"/>
                  </a:schemeClr>
                </a:solidFill>
                <a:latin typeface="Calibri" pitchFamily="34" charset="0"/>
                <a:cs typeface="Calibri" pitchFamily="34" charset="0"/>
              </a:rPr>
              <a:t>hàng, bao gồm </a:t>
            </a:r>
            <a:r>
              <a:rPr lang="vi-VN" sz="1800" smtClean="0">
                <a:solidFill>
                  <a:schemeClr val="accent2">
                    <a:lumMod val="50000"/>
                  </a:schemeClr>
                </a:solidFill>
                <a:latin typeface="Calibri" pitchFamily="34" charset="0"/>
                <a:cs typeface="Calibri" pitchFamily="34" charset="0"/>
              </a:rPr>
              <a:t>Quy </a:t>
            </a:r>
            <a:r>
              <a:rPr lang="vi-VN" sz="1800">
                <a:solidFill>
                  <a:schemeClr val="accent2">
                    <a:lumMod val="50000"/>
                  </a:schemeClr>
                </a:solidFill>
                <a:latin typeface="Calibri" pitchFamily="34" charset="0"/>
                <a:cs typeface="Calibri" pitchFamily="34" charset="0"/>
              </a:rPr>
              <a:t>mô dự án</a:t>
            </a:r>
            <a:r>
              <a:rPr lang="en-US" sz="1800">
                <a:solidFill>
                  <a:schemeClr val="accent2">
                    <a:lumMod val="50000"/>
                  </a:schemeClr>
                </a:solidFill>
                <a:latin typeface="Calibri" pitchFamily="34" charset="0"/>
                <a:cs typeface="Calibri" pitchFamily="34" charset="0"/>
              </a:rPr>
              <a:t>, </a:t>
            </a:r>
            <a:r>
              <a:rPr lang="vi-VN" sz="1800" smtClean="0">
                <a:solidFill>
                  <a:schemeClr val="accent2">
                    <a:lumMod val="50000"/>
                  </a:schemeClr>
                </a:solidFill>
                <a:latin typeface="Calibri" pitchFamily="34" charset="0"/>
                <a:cs typeface="Calibri" pitchFamily="34" charset="0"/>
              </a:rPr>
              <a:t>Cách thức phân ph</a:t>
            </a:r>
            <a:r>
              <a:rPr lang="en-US" sz="1800" smtClean="0">
                <a:solidFill>
                  <a:schemeClr val="accent2">
                    <a:lumMod val="50000"/>
                  </a:schemeClr>
                </a:solidFill>
                <a:latin typeface="Calibri" pitchFamily="34" charset="0"/>
                <a:cs typeface="Calibri" pitchFamily="34" charset="0"/>
              </a:rPr>
              <a:t>ối, </a:t>
            </a:r>
            <a:r>
              <a:rPr lang="vi-VN" sz="1800">
                <a:solidFill>
                  <a:schemeClr val="accent2">
                    <a:lumMod val="50000"/>
                  </a:schemeClr>
                </a:solidFill>
                <a:latin typeface="Calibri" pitchFamily="34" charset="0"/>
                <a:cs typeface="Calibri" pitchFamily="34" charset="0"/>
              </a:rPr>
              <a:t>T</a:t>
            </a:r>
            <a:r>
              <a:rPr lang="vi-VN" sz="1800" smtClean="0">
                <a:solidFill>
                  <a:schemeClr val="accent2">
                    <a:lumMod val="50000"/>
                  </a:schemeClr>
                </a:solidFill>
                <a:latin typeface="Calibri" pitchFamily="34" charset="0"/>
                <a:cs typeface="Calibri" pitchFamily="34" charset="0"/>
              </a:rPr>
              <a:t>iêu </a:t>
            </a:r>
            <a:r>
              <a:rPr lang="vi-VN" sz="1800">
                <a:solidFill>
                  <a:schemeClr val="accent2">
                    <a:lumMod val="50000"/>
                  </a:schemeClr>
                </a:solidFill>
                <a:latin typeface="Calibri" pitchFamily="34" charset="0"/>
                <a:cs typeface="Calibri" pitchFamily="34" charset="0"/>
              </a:rPr>
              <a:t>chuẩn nghiệm </a:t>
            </a:r>
            <a:r>
              <a:rPr lang="vi-VN" sz="1800" smtClean="0">
                <a:solidFill>
                  <a:schemeClr val="accent2">
                    <a:lumMod val="50000"/>
                  </a:schemeClr>
                </a:solidFill>
                <a:latin typeface="Calibri" pitchFamily="34" charset="0"/>
                <a:cs typeface="Calibri" pitchFamily="34" charset="0"/>
              </a:rPr>
              <a:t>thu</a:t>
            </a:r>
            <a:r>
              <a:rPr lang="en-US" sz="1800" smtClean="0">
                <a:solidFill>
                  <a:schemeClr val="accent2">
                    <a:lumMod val="50000"/>
                  </a:schemeClr>
                </a:solidFill>
                <a:latin typeface="Calibri" pitchFamily="34" charset="0"/>
                <a:cs typeface="Calibri" pitchFamily="34" charset="0"/>
              </a:rPr>
              <a:t>, </a:t>
            </a:r>
            <a:r>
              <a:rPr lang="vi-VN" sz="1800">
                <a:solidFill>
                  <a:schemeClr val="accent2">
                    <a:lumMod val="50000"/>
                  </a:schemeClr>
                </a:solidFill>
                <a:latin typeface="Calibri" pitchFamily="34" charset="0"/>
                <a:cs typeface="Calibri" pitchFamily="34" charset="0"/>
              </a:rPr>
              <a:t>Các giả định và ràng </a:t>
            </a:r>
            <a:r>
              <a:rPr lang="vi-VN" sz="1800" smtClean="0">
                <a:solidFill>
                  <a:schemeClr val="accent2">
                    <a:lumMod val="50000"/>
                  </a:schemeClr>
                </a:solidFill>
                <a:latin typeface="Calibri" pitchFamily="34" charset="0"/>
                <a:cs typeface="Calibri" pitchFamily="34" charset="0"/>
              </a:rPr>
              <a:t>buộc...</a:t>
            </a:r>
            <a:endParaRPr lang="vi-VN" sz="180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endParaRPr lang="en-US" sz="180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6901"/>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14</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a:solidFill>
                  <a:schemeClr val="tx2"/>
                </a:solidFill>
                <a:cs typeface="Arial" pitchFamily="34" charset="0"/>
              </a:rPr>
              <a:t>2.1 Khởi động dự án</a:t>
            </a:r>
          </a:p>
          <a:p>
            <a:pPr marL="3175" lvl="1"/>
            <a:r>
              <a:rPr lang="vi-VN" sz="1200" b="1">
                <a:solidFill>
                  <a:schemeClr val="accent6">
                    <a:lumMod val="75000"/>
                  </a:schemeClr>
                </a:solidFill>
                <a:ea typeface="+mj-ea"/>
                <a:cs typeface="Arial" pitchFamily="34" charset="0"/>
              </a:rPr>
              <a:t>2.2 Lập kế hoạch dự án</a:t>
            </a:r>
          </a:p>
        </p:txBody>
      </p:sp>
      <p:sp>
        <p:nvSpPr>
          <p:cNvPr id="9"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a:t>
            </a:r>
            <a:r>
              <a:rPr lang="en-US" sz="1300" b="1">
                <a:solidFill>
                  <a:schemeClr val="accent6">
                    <a:lumMod val="75000"/>
                  </a:schemeClr>
                </a:solidFill>
                <a:latin typeface="Calibri (Body)"/>
                <a:ea typeface="+mj-ea"/>
                <a:cs typeface="Arial" pitchFamily="34" charset="0"/>
              </a:rPr>
              <a:t>Quy trình thực hiện</a:t>
            </a: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36997309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b="1">
                <a:solidFill>
                  <a:schemeClr val="accent6">
                    <a:lumMod val="75000"/>
                  </a:schemeClr>
                </a:solidFill>
                <a:latin typeface="Calibri (Body)"/>
                <a:cs typeface="Arial" pitchFamily="34" charset="0"/>
              </a:rPr>
              <a:t>2. Khởi động và lập kế hoạch dự án</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3. </a:t>
            </a:r>
            <a:r>
              <a:rPr lang="en-US" sz="1600">
                <a:solidFill>
                  <a:schemeClr val="accent1">
                    <a:lumMod val="75000"/>
                  </a:schemeClr>
                </a:solidFill>
                <a:latin typeface="+mn-lt"/>
                <a:cs typeface="Arial" pitchFamily="34" charset="0"/>
              </a:rPr>
              <a:t>Đánh giá tính khả thi </a:t>
            </a:r>
            <a:r>
              <a:rPr lang="en-US" sz="1600" smtClean="0">
                <a:solidFill>
                  <a:schemeClr val="accent1">
                    <a:lumMod val="75000"/>
                  </a:schemeClr>
                </a:solidFill>
                <a:latin typeface="+mn-lt"/>
                <a:cs typeface="Arial" pitchFamily="34" charset="0"/>
              </a:rPr>
              <a:t>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Lập kế hoạch dự </a:t>
            </a:r>
            <a:r>
              <a:rPr lang="en-US" sz="2000">
                <a:solidFill>
                  <a:schemeClr val="accent2">
                    <a:lumMod val="50000"/>
                  </a:schemeClr>
                </a:solidFill>
                <a:latin typeface="Calibri" pitchFamily="34" charset="0"/>
                <a:cs typeface="Calibri" pitchFamily="34" charset="0"/>
              </a:rPr>
              <a:t>án bao gồm </a:t>
            </a:r>
            <a:r>
              <a:rPr lang="en-US" sz="2000" smtClean="0">
                <a:solidFill>
                  <a:schemeClr val="accent2">
                    <a:lumMod val="50000"/>
                  </a:schemeClr>
                </a:solidFill>
                <a:latin typeface="Calibri" pitchFamily="34" charset="0"/>
                <a:cs typeface="Calibri" pitchFamily="34" charset="0"/>
              </a:rPr>
              <a:t>10 </a:t>
            </a:r>
            <a:r>
              <a:rPr lang="en-US" sz="2000">
                <a:solidFill>
                  <a:schemeClr val="accent2">
                    <a:lumMod val="50000"/>
                  </a:schemeClr>
                </a:solidFill>
                <a:latin typeface="Calibri" pitchFamily="34" charset="0"/>
                <a:cs typeface="Calibri" pitchFamily="34" charset="0"/>
              </a:rPr>
              <a:t>hoạt động</a:t>
            </a:r>
            <a:r>
              <a:rPr lang="en-US" sz="2000" smtClean="0">
                <a:solidFill>
                  <a:schemeClr val="accent2">
                    <a:lumMod val="50000"/>
                  </a:schemeClr>
                </a:solidFill>
                <a:latin typeface="Calibri" pitchFamily="34" charset="0"/>
                <a:cs typeface="Calibri" pitchFamily="34" charset="0"/>
              </a:rPr>
              <a:t>:</a:t>
            </a:r>
          </a:p>
          <a:p>
            <a:pPr marL="863423" lvl="1" indent="-342900" algn="just">
              <a:spcAft>
                <a:spcPts val="683"/>
              </a:spcAft>
              <a:buClr>
                <a:srgbClr val="FF0066"/>
              </a:buClr>
              <a:buFont typeface="+mj-lt"/>
              <a:buAutoNum type="arabicPeriod"/>
            </a:pPr>
            <a:r>
              <a:rPr lang="vi-VN" sz="1800" smtClean="0">
                <a:solidFill>
                  <a:schemeClr val="accent2">
                    <a:lumMod val="50000"/>
                  </a:schemeClr>
                </a:solidFill>
                <a:latin typeface="Calibri" pitchFamily="34" charset="0"/>
                <a:cs typeface="Calibri" pitchFamily="34" charset="0"/>
              </a:rPr>
              <a:t>Mô </a:t>
            </a:r>
            <a:r>
              <a:rPr lang="vi-VN" sz="1800">
                <a:solidFill>
                  <a:schemeClr val="accent2">
                    <a:lumMod val="50000"/>
                  </a:schemeClr>
                </a:solidFill>
                <a:latin typeface="Calibri" pitchFamily="34" charset="0"/>
                <a:cs typeface="Calibri" pitchFamily="34" charset="0"/>
              </a:rPr>
              <a:t>tả phạm vi dự án, giải pháp thay </a:t>
            </a:r>
            <a:r>
              <a:rPr lang="vi-VN" sz="1800" smtClean="0">
                <a:solidFill>
                  <a:schemeClr val="accent2">
                    <a:lumMod val="50000"/>
                  </a:schemeClr>
                </a:solidFill>
                <a:latin typeface="Calibri" pitchFamily="34" charset="0"/>
                <a:cs typeface="Calibri" pitchFamily="34" charset="0"/>
              </a:rPr>
              <a:t>thế </a:t>
            </a:r>
            <a:r>
              <a:rPr lang="vi-VN" sz="1800">
                <a:solidFill>
                  <a:schemeClr val="accent2">
                    <a:lumMod val="50000"/>
                  </a:schemeClr>
                </a:solidFill>
                <a:latin typeface="Calibri" pitchFamily="34" charset="0"/>
                <a:cs typeface="Calibri" pitchFamily="34" charset="0"/>
              </a:rPr>
              <a:t>và tính khả </a:t>
            </a:r>
            <a:r>
              <a:rPr lang="vi-VN" sz="1800" smtClean="0">
                <a:solidFill>
                  <a:schemeClr val="accent2">
                    <a:lumMod val="50000"/>
                  </a:schemeClr>
                </a:solidFill>
                <a:latin typeface="Calibri" pitchFamily="34" charset="0"/>
                <a:cs typeface="Calibri" pitchFamily="34" charset="0"/>
              </a:rPr>
              <a:t>thi.</a:t>
            </a:r>
          </a:p>
          <a:p>
            <a:pPr marL="863423" lvl="1" indent="-342900" algn="just">
              <a:spcAft>
                <a:spcPts val="683"/>
              </a:spcAft>
              <a:buClr>
                <a:srgbClr val="FF0066"/>
              </a:buClr>
              <a:buFont typeface="+mj-lt"/>
              <a:buAutoNum type="arabicPeriod"/>
            </a:pPr>
            <a:r>
              <a:rPr lang="vi-VN" sz="1800" smtClean="0">
                <a:solidFill>
                  <a:schemeClr val="accent2">
                    <a:lumMod val="50000"/>
                  </a:schemeClr>
                </a:solidFill>
                <a:latin typeface="Calibri" pitchFamily="34" charset="0"/>
                <a:cs typeface="Calibri" pitchFamily="34" charset="0"/>
              </a:rPr>
              <a:t>Phân </a:t>
            </a:r>
            <a:r>
              <a:rPr lang="vi-VN" sz="1800">
                <a:solidFill>
                  <a:schemeClr val="accent2">
                    <a:lumMod val="50000"/>
                  </a:schemeClr>
                </a:solidFill>
                <a:latin typeface="Calibri" pitchFamily="34" charset="0"/>
                <a:cs typeface="Calibri" pitchFamily="34" charset="0"/>
              </a:rPr>
              <a:t>chia dự án thành các nhiệm vụ có thể quản lý </a:t>
            </a:r>
            <a:r>
              <a:rPr lang="vi-VN" sz="1800" smtClean="0">
                <a:solidFill>
                  <a:schemeClr val="accent2">
                    <a:lumMod val="50000"/>
                  </a:schemeClr>
                </a:solidFill>
                <a:latin typeface="Calibri" pitchFamily="34" charset="0"/>
                <a:cs typeface="Calibri" pitchFamily="34" charset="0"/>
              </a:rPr>
              <a:t>được.</a:t>
            </a:r>
          </a:p>
          <a:p>
            <a:pPr marL="863423" lvl="1" indent="-342900" algn="just">
              <a:spcAft>
                <a:spcPts val="683"/>
              </a:spcAft>
              <a:buClr>
                <a:srgbClr val="FF0066"/>
              </a:buClr>
              <a:buFont typeface="+mj-lt"/>
              <a:buAutoNum type="arabicPeriod"/>
            </a:pPr>
            <a:r>
              <a:rPr lang="vi-VN" sz="1800" smtClean="0">
                <a:solidFill>
                  <a:schemeClr val="accent2">
                    <a:lumMod val="50000"/>
                  </a:schemeClr>
                </a:solidFill>
                <a:latin typeface="Calibri" pitchFamily="34" charset="0"/>
                <a:cs typeface="Calibri" pitchFamily="34" charset="0"/>
              </a:rPr>
              <a:t>Ước </a:t>
            </a:r>
            <a:r>
              <a:rPr lang="vi-VN" sz="1800">
                <a:solidFill>
                  <a:schemeClr val="accent2">
                    <a:lumMod val="50000"/>
                  </a:schemeClr>
                </a:solidFill>
                <a:latin typeface="Calibri" pitchFamily="34" charset="0"/>
                <a:cs typeface="Calibri" pitchFamily="34" charset="0"/>
              </a:rPr>
              <a:t>tính nguồn lực và lập kế hoạch về tài </a:t>
            </a:r>
            <a:r>
              <a:rPr lang="vi-VN" sz="1800" smtClean="0">
                <a:solidFill>
                  <a:schemeClr val="accent2">
                    <a:lumMod val="50000"/>
                  </a:schemeClr>
                </a:solidFill>
                <a:latin typeface="Calibri" pitchFamily="34" charset="0"/>
                <a:cs typeface="Calibri" pitchFamily="34" charset="0"/>
              </a:rPr>
              <a:t>nguyên.</a:t>
            </a:r>
          </a:p>
          <a:p>
            <a:pPr marL="863423" lvl="1" indent="-342900" algn="just">
              <a:spcAft>
                <a:spcPts val="683"/>
              </a:spcAft>
              <a:buClr>
                <a:srgbClr val="FF0066"/>
              </a:buClr>
              <a:buFont typeface="+mj-lt"/>
              <a:buAutoNum type="arabicPeriod"/>
            </a:pPr>
            <a:r>
              <a:rPr lang="vi-VN" sz="1800" smtClean="0">
                <a:solidFill>
                  <a:schemeClr val="accent2">
                    <a:lumMod val="50000"/>
                  </a:schemeClr>
                </a:solidFill>
                <a:latin typeface="Calibri" pitchFamily="34" charset="0"/>
                <a:cs typeface="Calibri" pitchFamily="34" charset="0"/>
              </a:rPr>
              <a:t>Xây dựng một lịch trình sơ bộ.</a:t>
            </a:r>
          </a:p>
          <a:p>
            <a:pPr marL="863423" lvl="1" indent="-342900" algn="just">
              <a:spcAft>
                <a:spcPts val="683"/>
              </a:spcAft>
              <a:buClr>
                <a:srgbClr val="FF0066"/>
              </a:buClr>
              <a:buFont typeface="+mj-lt"/>
              <a:buAutoNum type="arabicPeriod"/>
            </a:pPr>
            <a:r>
              <a:rPr lang="vi-VN" sz="1800" smtClean="0">
                <a:solidFill>
                  <a:schemeClr val="accent2">
                    <a:lumMod val="50000"/>
                  </a:schemeClr>
                </a:solidFill>
                <a:latin typeface="Calibri" pitchFamily="34" charset="0"/>
                <a:cs typeface="Calibri" pitchFamily="34" charset="0"/>
              </a:rPr>
              <a:t>Phát </a:t>
            </a:r>
            <a:r>
              <a:rPr lang="vi-VN" sz="1800">
                <a:solidFill>
                  <a:schemeClr val="accent2">
                    <a:lumMod val="50000"/>
                  </a:schemeClr>
                </a:solidFill>
                <a:latin typeface="Calibri" pitchFamily="34" charset="0"/>
                <a:cs typeface="Calibri" pitchFamily="34" charset="0"/>
              </a:rPr>
              <a:t>triển một kế hoạch truyền </a:t>
            </a:r>
            <a:r>
              <a:rPr lang="vi-VN" sz="1800" smtClean="0">
                <a:solidFill>
                  <a:schemeClr val="accent2">
                    <a:lumMod val="50000"/>
                  </a:schemeClr>
                </a:solidFill>
                <a:latin typeface="Calibri" pitchFamily="34" charset="0"/>
                <a:cs typeface="Calibri" pitchFamily="34" charset="0"/>
              </a:rPr>
              <a:t>thông.</a:t>
            </a:r>
          </a:p>
          <a:p>
            <a:pPr marL="863423" lvl="1" indent="-342900" algn="just">
              <a:spcAft>
                <a:spcPts val="683"/>
              </a:spcAft>
              <a:buClr>
                <a:srgbClr val="FF0066"/>
              </a:buClr>
              <a:buFont typeface="+mj-lt"/>
              <a:buAutoNum type="arabicPeriod"/>
            </a:pPr>
            <a:r>
              <a:rPr lang="vi-VN" sz="1800" smtClean="0">
                <a:solidFill>
                  <a:schemeClr val="accent2">
                    <a:lumMod val="50000"/>
                  </a:schemeClr>
                </a:solidFill>
                <a:latin typeface="Calibri" pitchFamily="34" charset="0"/>
                <a:cs typeface="Calibri" pitchFamily="34" charset="0"/>
              </a:rPr>
              <a:t>Xác </a:t>
            </a:r>
            <a:r>
              <a:rPr lang="vi-VN" sz="1800">
                <a:solidFill>
                  <a:schemeClr val="accent2">
                    <a:lumMod val="50000"/>
                  </a:schemeClr>
                </a:solidFill>
                <a:latin typeface="Calibri" pitchFamily="34" charset="0"/>
                <a:cs typeface="Calibri" pitchFamily="34" charset="0"/>
              </a:rPr>
              <a:t>định tiêu chuẩn và quy trình dự </a:t>
            </a:r>
            <a:r>
              <a:rPr lang="vi-VN" sz="1800" smtClean="0">
                <a:solidFill>
                  <a:schemeClr val="accent2">
                    <a:lumMod val="50000"/>
                  </a:schemeClr>
                </a:solidFill>
                <a:latin typeface="Calibri" pitchFamily="34" charset="0"/>
                <a:cs typeface="Calibri" pitchFamily="34" charset="0"/>
              </a:rPr>
              <a:t>án.</a:t>
            </a:r>
          </a:p>
          <a:p>
            <a:pPr marL="863423" lvl="1" indent="-342900" algn="just">
              <a:spcAft>
                <a:spcPts val="683"/>
              </a:spcAft>
              <a:buClr>
                <a:srgbClr val="FF0066"/>
              </a:buClr>
              <a:buFont typeface="+mj-lt"/>
              <a:buAutoNum type="arabicPeriod"/>
            </a:pPr>
            <a:r>
              <a:rPr lang="vi-VN" sz="1800" smtClean="0">
                <a:solidFill>
                  <a:schemeClr val="accent2">
                    <a:lumMod val="50000"/>
                  </a:schemeClr>
                </a:solidFill>
                <a:latin typeface="Calibri" pitchFamily="34" charset="0"/>
                <a:cs typeface="Calibri" pitchFamily="34" charset="0"/>
              </a:rPr>
              <a:t>Xác </a:t>
            </a:r>
            <a:r>
              <a:rPr lang="vi-VN" sz="1800">
                <a:solidFill>
                  <a:schemeClr val="accent2">
                    <a:lumMod val="50000"/>
                  </a:schemeClr>
                </a:solidFill>
                <a:latin typeface="Calibri" pitchFamily="34" charset="0"/>
                <a:cs typeface="Calibri" pitchFamily="34" charset="0"/>
              </a:rPr>
              <a:t>định và đánh giá rủi </a:t>
            </a:r>
            <a:r>
              <a:rPr lang="vi-VN" sz="1800" smtClean="0">
                <a:solidFill>
                  <a:schemeClr val="accent2">
                    <a:lumMod val="50000"/>
                  </a:schemeClr>
                </a:solidFill>
                <a:latin typeface="Calibri" pitchFamily="34" charset="0"/>
                <a:cs typeface="Calibri" pitchFamily="34" charset="0"/>
              </a:rPr>
              <a:t>ro.</a:t>
            </a:r>
          </a:p>
          <a:p>
            <a:pPr marL="863423" lvl="1" indent="-342900" algn="just">
              <a:spcAft>
                <a:spcPts val="683"/>
              </a:spcAft>
              <a:buClr>
                <a:srgbClr val="FF0066"/>
              </a:buClr>
              <a:buFont typeface="+mj-lt"/>
              <a:buAutoNum type="arabicPeriod"/>
            </a:pPr>
            <a:r>
              <a:rPr lang="vi-VN" sz="1800" smtClean="0">
                <a:solidFill>
                  <a:schemeClr val="accent2">
                    <a:lumMod val="50000"/>
                  </a:schemeClr>
                </a:solidFill>
                <a:latin typeface="Calibri" pitchFamily="34" charset="0"/>
                <a:cs typeface="Calibri" pitchFamily="34" charset="0"/>
              </a:rPr>
              <a:t>Tạo </a:t>
            </a:r>
            <a:r>
              <a:rPr lang="vi-VN" sz="1800">
                <a:solidFill>
                  <a:schemeClr val="accent2">
                    <a:lumMod val="50000"/>
                  </a:schemeClr>
                </a:solidFill>
                <a:latin typeface="Calibri" pitchFamily="34" charset="0"/>
                <a:cs typeface="Calibri" pitchFamily="34" charset="0"/>
              </a:rPr>
              <a:t>một ngân sách sơ </a:t>
            </a:r>
            <a:r>
              <a:rPr lang="vi-VN" sz="1800" smtClean="0">
                <a:solidFill>
                  <a:schemeClr val="accent2">
                    <a:lumMod val="50000"/>
                  </a:schemeClr>
                </a:solidFill>
                <a:latin typeface="Calibri" pitchFamily="34" charset="0"/>
                <a:cs typeface="Calibri" pitchFamily="34" charset="0"/>
              </a:rPr>
              <a:t>bộ.</a:t>
            </a:r>
          </a:p>
          <a:p>
            <a:pPr marL="863423" lvl="1" indent="-342900" algn="just">
              <a:spcAft>
                <a:spcPts val="683"/>
              </a:spcAft>
              <a:buClr>
                <a:srgbClr val="FF0066"/>
              </a:buClr>
              <a:buFont typeface="+mj-lt"/>
              <a:buAutoNum type="arabicPeriod"/>
            </a:pPr>
            <a:r>
              <a:rPr lang="vi-VN" sz="1800" smtClean="0">
                <a:solidFill>
                  <a:schemeClr val="accent2">
                    <a:lumMod val="50000"/>
                  </a:schemeClr>
                </a:solidFill>
                <a:latin typeface="Calibri" pitchFamily="34" charset="0"/>
                <a:cs typeface="Calibri" pitchFamily="34" charset="0"/>
              </a:rPr>
              <a:t>Thiết </a:t>
            </a:r>
            <a:r>
              <a:rPr lang="vi-VN" sz="1800">
                <a:solidFill>
                  <a:schemeClr val="accent2">
                    <a:lumMod val="50000"/>
                  </a:schemeClr>
                </a:solidFill>
                <a:latin typeface="Calibri" pitchFamily="34" charset="0"/>
                <a:cs typeface="Calibri" pitchFamily="34" charset="0"/>
              </a:rPr>
              <a:t>lập tuyên bố phạm vi dự </a:t>
            </a:r>
            <a:r>
              <a:rPr lang="vi-VN" sz="1800" smtClean="0">
                <a:solidFill>
                  <a:schemeClr val="accent2">
                    <a:lumMod val="50000"/>
                  </a:schemeClr>
                </a:solidFill>
                <a:latin typeface="Calibri" pitchFamily="34" charset="0"/>
                <a:cs typeface="Calibri" pitchFamily="34" charset="0"/>
              </a:rPr>
              <a:t>án.</a:t>
            </a:r>
          </a:p>
          <a:p>
            <a:pPr marL="863423" lvl="1" indent="-342900" algn="just">
              <a:spcAft>
                <a:spcPts val="683"/>
              </a:spcAft>
              <a:buClr>
                <a:srgbClr val="FF0066"/>
              </a:buClr>
              <a:buFont typeface="+mj-lt"/>
              <a:buAutoNum type="arabicPeriod"/>
            </a:pPr>
            <a:r>
              <a:rPr lang="vi-VN" sz="1800" smtClean="0">
                <a:solidFill>
                  <a:schemeClr val="accent2">
                    <a:lumMod val="50000"/>
                  </a:schemeClr>
                </a:solidFill>
                <a:latin typeface="Calibri" pitchFamily="34" charset="0"/>
                <a:cs typeface="Calibri" pitchFamily="34" charset="0"/>
              </a:rPr>
              <a:t>Thiết </a:t>
            </a:r>
            <a:r>
              <a:rPr lang="vi-VN" sz="1800">
                <a:solidFill>
                  <a:schemeClr val="accent2">
                    <a:lumMod val="50000"/>
                  </a:schemeClr>
                </a:solidFill>
                <a:latin typeface="Calibri" pitchFamily="34" charset="0"/>
                <a:cs typeface="Calibri" pitchFamily="34" charset="0"/>
              </a:rPr>
              <a:t>lập kế hoạch dự án cơ </a:t>
            </a:r>
            <a:r>
              <a:rPr lang="vi-VN" sz="1800" smtClean="0">
                <a:solidFill>
                  <a:schemeClr val="accent2">
                    <a:lumMod val="50000"/>
                  </a:schemeClr>
                </a:solidFill>
                <a:latin typeface="Calibri" pitchFamily="34" charset="0"/>
                <a:cs typeface="Calibri" pitchFamily="34" charset="0"/>
              </a:rPr>
              <a:t>sở.</a:t>
            </a:r>
            <a:endParaRPr lang="vi-VN" sz="180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endParaRPr lang="en-US" sz="180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6901"/>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15</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a:solidFill>
                  <a:schemeClr val="tx2"/>
                </a:solidFill>
                <a:cs typeface="Arial" pitchFamily="34" charset="0"/>
              </a:rPr>
              <a:t>2.1 Khởi động dự án</a:t>
            </a:r>
          </a:p>
          <a:p>
            <a:pPr marL="3175" lvl="1"/>
            <a:r>
              <a:rPr lang="vi-VN" sz="1200" b="1">
                <a:solidFill>
                  <a:schemeClr val="accent6">
                    <a:lumMod val="75000"/>
                  </a:schemeClr>
                </a:solidFill>
                <a:ea typeface="+mj-ea"/>
                <a:cs typeface="Arial" pitchFamily="34" charset="0"/>
              </a:rPr>
              <a:t>2.2 Lập kế hoạch dự án</a:t>
            </a:r>
          </a:p>
        </p:txBody>
      </p:sp>
      <p:sp>
        <p:nvSpPr>
          <p:cNvPr id="9"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a:t>
            </a:r>
            <a:r>
              <a:rPr lang="en-US" sz="1300" b="1">
                <a:solidFill>
                  <a:schemeClr val="accent6">
                    <a:lumMod val="75000"/>
                  </a:schemeClr>
                </a:solidFill>
                <a:latin typeface="Calibri (Body)"/>
                <a:ea typeface="+mj-ea"/>
                <a:cs typeface="Arial" pitchFamily="34" charset="0"/>
              </a:rPr>
              <a:t>Quy trình thực hiện</a:t>
            </a: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12909566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Hầu </a:t>
            </a:r>
            <a:r>
              <a:rPr lang="vi-VN" sz="2000">
                <a:solidFill>
                  <a:schemeClr val="accent2">
                    <a:lumMod val="50000"/>
                  </a:schemeClr>
                </a:solidFill>
                <a:latin typeface="Calibri" pitchFamily="34" charset="0"/>
                <a:cs typeface="Calibri" pitchFamily="34" charset="0"/>
              </a:rPr>
              <a:t>hết các dự án </a:t>
            </a:r>
            <a:r>
              <a:rPr lang="vi-VN" sz="2000" smtClean="0">
                <a:solidFill>
                  <a:schemeClr val="accent2">
                    <a:lumMod val="50000"/>
                  </a:schemeClr>
                </a:solidFill>
                <a:latin typeface="Calibri" pitchFamily="34" charset="0"/>
                <a:cs typeface="Calibri" pitchFamily="34" charset="0"/>
              </a:rPr>
              <a:t>phát triển hệ </a:t>
            </a:r>
            <a:r>
              <a:rPr lang="vi-VN" sz="2000">
                <a:solidFill>
                  <a:schemeClr val="accent2">
                    <a:lumMod val="50000"/>
                  </a:schemeClr>
                </a:solidFill>
                <a:latin typeface="Calibri" pitchFamily="34" charset="0"/>
                <a:cs typeface="Calibri" pitchFamily="34" charset="0"/>
              </a:rPr>
              <a:t>thống thông tin đều </a:t>
            </a:r>
            <a:r>
              <a:rPr lang="vi-VN" sz="2000" smtClean="0">
                <a:solidFill>
                  <a:schemeClr val="accent2">
                    <a:lumMod val="50000"/>
                  </a:schemeClr>
                </a:solidFill>
                <a:latin typeface="Calibri" pitchFamily="34" charset="0"/>
                <a:cs typeface="Calibri" pitchFamily="34" charset="0"/>
              </a:rPr>
              <a:t>phải tuân theo một </a:t>
            </a:r>
            <a:r>
              <a:rPr lang="vi-VN" sz="2000">
                <a:solidFill>
                  <a:schemeClr val="accent2">
                    <a:lumMod val="50000"/>
                  </a:schemeClr>
                </a:solidFill>
                <a:latin typeface="Calibri" pitchFamily="34" charset="0"/>
                <a:cs typeface="Calibri" pitchFamily="34" charset="0"/>
              </a:rPr>
              <a:t>ngân sách và thời gian thực hiện nhất </a:t>
            </a:r>
            <a:r>
              <a:rPr lang="vi-VN" sz="2000" smtClean="0">
                <a:solidFill>
                  <a:schemeClr val="accent2">
                    <a:lumMod val="50000"/>
                  </a:schemeClr>
                </a:solidFill>
                <a:latin typeface="Calibri" pitchFamily="34" charset="0"/>
                <a:cs typeface="Calibri" pitchFamily="34" charset="0"/>
              </a:rPr>
              <a:t>định, do đó đánh giá tính khả thi là một công việc cần thiết để đảm bảo hệ thống có thể được thực hiện theo yêu cầu đặt ra.</a:t>
            </a:r>
          </a:p>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Đánh </a:t>
            </a:r>
            <a:r>
              <a:rPr lang="vi-VN" sz="2000">
                <a:solidFill>
                  <a:schemeClr val="accent2">
                    <a:lumMod val="50000"/>
                  </a:schemeClr>
                </a:solidFill>
                <a:latin typeface="Calibri" pitchFamily="34" charset="0"/>
                <a:cs typeface="Calibri" pitchFamily="34" charset="0"/>
              </a:rPr>
              <a:t>giá tính khả thi của dự án nhằm mục đích phát hiện những cơ hội và các mối đe dọa tới sự </a:t>
            </a:r>
            <a:r>
              <a:rPr lang="vi-VN" sz="2000" smtClean="0">
                <a:solidFill>
                  <a:schemeClr val="accent2">
                    <a:lumMod val="50000"/>
                  </a:schemeClr>
                </a:solidFill>
                <a:latin typeface="Calibri" pitchFamily="34" charset="0"/>
                <a:cs typeface="Calibri" pitchFamily="34" charset="0"/>
              </a:rPr>
              <a:t>thành công </a:t>
            </a:r>
            <a:r>
              <a:rPr lang="vi-VN" sz="2000">
                <a:solidFill>
                  <a:schemeClr val="accent2">
                    <a:lumMod val="50000"/>
                  </a:schemeClr>
                </a:solidFill>
                <a:latin typeface="Calibri" pitchFamily="34" charset="0"/>
                <a:cs typeface="Calibri" pitchFamily="34" charset="0"/>
              </a:rPr>
              <a:t>của dự án, từ đó </a:t>
            </a:r>
            <a:r>
              <a:rPr lang="vi-VN" sz="2000" smtClean="0">
                <a:solidFill>
                  <a:schemeClr val="accent2">
                    <a:lumMod val="50000"/>
                  </a:schemeClr>
                </a:solidFill>
                <a:latin typeface="Calibri" pitchFamily="34" charset="0"/>
                <a:cs typeface="Calibri" pitchFamily="34" charset="0"/>
              </a:rPr>
              <a:t>quyết </a:t>
            </a:r>
            <a:r>
              <a:rPr lang="vi-VN" sz="2000">
                <a:solidFill>
                  <a:schemeClr val="accent2">
                    <a:lumMod val="50000"/>
                  </a:schemeClr>
                </a:solidFill>
                <a:latin typeface="Calibri" pitchFamily="34" charset="0"/>
                <a:cs typeface="Calibri" pitchFamily="34" charset="0"/>
              </a:rPr>
              <a:t>định dự án có thể được triển khai hay không</a:t>
            </a:r>
            <a:r>
              <a:rPr lang="vi-VN" sz="2000" smtClean="0">
                <a:solidFill>
                  <a:schemeClr val="accent2">
                    <a:lumMod val="50000"/>
                  </a:schemeClr>
                </a:solidFill>
                <a:latin typeface="Calibri" pitchFamily="34" charset="0"/>
                <a:cs typeface="Calibri" pitchFamily="34" charset="0"/>
              </a:rPr>
              <a:t>.</a:t>
            </a:r>
            <a:endParaRPr lang="vi-VN" sz="20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en-US" sz="200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6901"/>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16</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a:solidFill>
                  <a:schemeClr val="accent6">
                    <a:lumMod val="75000"/>
                  </a:schemeClr>
                </a:solidFill>
                <a:ea typeface="+mj-ea"/>
                <a:cs typeface="Arial" pitchFamily="34" charset="0"/>
              </a:rPr>
              <a:t>1. Định nghĩa</a:t>
            </a:r>
            <a:endParaRPr lang="vi-VN" sz="1600" b="1">
              <a:solidFill>
                <a:schemeClr val="accent6">
                  <a:lumMod val="75000"/>
                </a:schemeClr>
              </a:solidFill>
              <a:ea typeface="+mj-ea"/>
              <a:cs typeface="Arial" pitchFamily="34" charset="0"/>
            </a:endParaRPr>
          </a:p>
          <a:p>
            <a:pPr marL="0" lvl="1"/>
            <a:r>
              <a:rPr lang="en-US" sz="1600">
                <a:solidFill>
                  <a:schemeClr val="tx2"/>
                </a:solidFill>
                <a:ea typeface="+mj-ea"/>
                <a:cs typeface="Arial" pitchFamily="34" charset="0"/>
              </a:rPr>
              <a:t>2. </a:t>
            </a:r>
            <a:r>
              <a:rPr lang="en-US" sz="1600" smtClean="0">
                <a:solidFill>
                  <a:schemeClr val="tx2"/>
                </a:solidFill>
                <a:ea typeface="+mj-ea"/>
                <a:cs typeface="Arial" pitchFamily="34" charset="0"/>
              </a:rPr>
              <a:t>Các yếu tố đánh giá</a:t>
            </a:r>
          </a:p>
        </p:txBody>
      </p:sp>
    </p:spTree>
    <p:extLst>
      <p:ext uri="{BB962C8B-B14F-4D97-AF65-F5344CB8AC3E}">
        <p14:creationId xmlns:p14="http://schemas.microsoft.com/office/powerpoint/2010/main" val="204268765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Với mỗi hệ thống khác nhau sẽ xác định những yếu tố khả thi quan trọng khác nhau, nhưng chủ yếu tập trung vào các yếu tố sau:</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Đánh </a:t>
            </a:r>
            <a:r>
              <a:rPr lang="en-US" sz="1800">
                <a:solidFill>
                  <a:schemeClr val="accent2">
                    <a:lumMod val="50000"/>
                  </a:schemeClr>
                </a:solidFill>
                <a:latin typeface="Calibri" pitchFamily="34" charset="0"/>
                <a:cs typeface="Calibri" pitchFamily="34" charset="0"/>
              </a:rPr>
              <a:t>giá tính khả thi kinh </a:t>
            </a:r>
            <a:r>
              <a:rPr lang="en-US" sz="1800" smtClean="0">
                <a:solidFill>
                  <a:schemeClr val="accent2">
                    <a:lumMod val="50000"/>
                  </a:schemeClr>
                </a:solidFill>
                <a:latin typeface="Calibri" pitchFamily="34" charset="0"/>
                <a:cs typeface="Calibri" pitchFamily="34" charset="0"/>
              </a:rPr>
              <a:t>tế</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Đánh </a:t>
            </a:r>
            <a:r>
              <a:rPr lang="en-US" sz="1800">
                <a:solidFill>
                  <a:schemeClr val="accent2">
                    <a:lumMod val="50000"/>
                  </a:schemeClr>
                </a:solidFill>
                <a:latin typeface="Calibri" pitchFamily="34" charset="0"/>
                <a:cs typeface="Calibri" pitchFamily="34" charset="0"/>
              </a:rPr>
              <a:t>giá tính khả thi kỹ thuật</a:t>
            </a: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Đánh </a:t>
            </a:r>
            <a:r>
              <a:rPr lang="en-US" sz="1800">
                <a:solidFill>
                  <a:schemeClr val="accent2">
                    <a:lumMod val="50000"/>
                  </a:schemeClr>
                </a:solidFill>
                <a:latin typeface="Calibri" pitchFamily="34" charset="0"/>
                <a:cs typeface="Calibri" pitchFamily="34" charset="0"/>
              </a:rPr>
              <a:t>giá tính khả thi hoạt động </a:t>
            </a:r>
            <a:endParaRPr lang="en-US" sz="1800" smtClean="0">
              <a:solidFill>
                <a:schemeClr val="accent2">
                  <a:lumMod val="50000"/>
                </a:schemeClr>
              </a:solidFill>
              <a:latin typeface="Calibri" pitchFamily="34" charset="0"/>
              <a:cs typeface="Calibri" pitchFamily="34" charset="0"/>
            </a:endParaRPr>
          </a:p>
          <a:p>
            <a:pPr lvl="1" algn="just">
              <a:spcAft>
                <a:spcPts val="683"/>
              </a:spcAft>
              <a:buClr>
                <a:srgbClr val="FF0066"/>
              </a:buClr>
            </a:pPr>
            <a:r>
              <a:rPr lang="en-US" sz="1800" smtClean="0">
                <a:solidFill>
                  <a:schemeClr val="accent2">
                    <a:lumMod val="50000"/>
                  </a:schemeClr>
                </a:solidFill>
                <a:latin typeface="Calibri" pitchFamily="34" charset="0"/>
                <a:cs typeface="Calibri" pitchFamily="34" charset="0"/>
              </a:rPr>
              <a:t>Đánh </a:t>
            </a:r>
            <a:r>
              <a:rPr lang="en-US" sz="1800">
                <a:solidFill>
                  <a:schemeClr val="accent2">
                    <a:lumMod val="50000"/>
                  </a:schemeClr>
                </a:solidFill>
                <a:latin typeface="Calibri" pitchFamily="34" charset="0"/>
                <a:cs typeface="Calibri" pitchFamily="34" charset="0"/>
              </a:rPr>
              <a:t>giá tính khả thi khác (lịch </a:t>
            </a:r>
            <a:r>
              <a:rPr lang="en-US" sz="1800" smtClean="0">
                <a:solidFill>
                  <a:schemeClr val="accent2">
                    <a:lumMod val="50000"/>
                  </a:schemeClr>
                </a:solidFill>
                <a:latin typeface="Calibri" pitchFamily="34" charset="0"/>
                <a:cs typeface="Calibri" pitchFamily="34" charset="0"/>
              </a:rPr>
              <a:t>trình, </a:t>
            </a:r>
            <a:r>
              <a:rPr lang="en-US" sz="1800">
                <a:solidFill>
                  <a:schemeClr val="accent2">
                    <a:lumMod val="50000"/>
                  </a:schemeClr>
                </a:solidFill>
                <a:latin typeface="Calibri" pitchFamily="34" charset="0"/>
                <a:cs typeface="Calibri" pitchFamily="34" charset="0"/>
              </a:rPr>
              <a:t>pháp lý và hợp </a:t>
            </a:r>
            <a:r>
              <a:rPr lang="en-US" sz="1800" smtClean="0">
                <a:solidFill>
                  <a:schemeClr val="accent2">
                    <a:lumMod val="50000"/>
                  </a:schemeClr>
                </a:solidFill>
                <a:latin typeface="Calibri" pitchFamily="34" charset="0"/>
                <a:cs typeface="Calibri" pitchFamily="34" charset="0"/>
              </a:rPr>
              <a:t>đồng)</a:t>
            </a:r>
            <a:endParaRPr lang="vi-VN" sz="18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vi-VN" sz="20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en-US" sz="200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6901"/>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17</a:t>
            </a:fld>
            <a:endParaRPr lang="vi-VN"/>
          </a:p>
        </p:txBody>
      </p:sp>
      <p:sp>
        <p:nvSpPr>
          <p:cNvPr id="8"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ea typeface="+mj-ea"/>
                <a:cs typeface="Arial" pitchFamily="34" charset="0"/>
              </a:rPr>
              <a:t>1. Định nghĩa</a:t>
            </a:r>
            <a:endParaRPr lang="vi-VN" sz="1600">
              <a:solidFill>
                <a:schemeClr val="tx2"/>
              </a:solidFill>
              <a:ea typeface="+mj-ea"/>
              <a:cs typeface="Arial" pitchFamily="34" charset="0"/>
            </a:endParaRPr>
          </a:p>
          <a:p>
            <a:pPr marL="0" lvl="1"/>
            <a:r>
              <a:rPr lang="en-US" sz="1600" b="1">
                <a:solidFill>
                  <a:schemeClr val="accent6">
                    <a:lumMod val="75000"/>
                  </a:schemeClr>
                </a:solidFill>
                <a:ea typeface="+mj-ea"/>
                <a:cs typeface="Arial" pitchFamily="34" charset="0"/>
              </a:rPr>
              <a:t>2. Các yếu tố đánh giá</a:t>
            </a:r>
          </a:p>
          <a:p>
            <a:pPr marL="0" lvl="1"/>
            <a:endParaRPr lang="en-US" sz="1600" b="1">
              <a:solidFill>
                <a:schemeClr val="accent6">
                  <a:lumMod val="75000"/>
                </a:schemeClr>
              </a:solidFill>
              <a:ea typeface="+mj-ea"/>
              <a:cs typeface="Arial" pitchFamily="34" charset="0"/>
            </a:endParaRPr>
          </a:p>
        </p:txBody>
      </p:sp>
    </p:spTree>
    <p:extLst>
      <p:ext uri="{BB962C8B-B14F-4D97-AF65-F5344CB8AC3E}">
        <p14:creationId xmlns:p14="http://schemas.microsoft.com/office/powerpoint/2010/main" val="42033736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N</a:t>
            </a:r>
            <a:r>
              <a:rPr lang="vi-VN" sz="2000">
                <a:solidFill>
                  <a:schemeClr val="accent2">
                    <a:lumMod val="50000"/>
                  </a:schemeClr>
                </a:solidFill>
                <a:latin typeface="Calibri" pitchFamily="34" charset="0"/>
                <a:cs typeface="Calibri" pitchFamily="34" charset="0"/>
              </a:rPr>
              <a:t>ghiên cứu tính khả thi kinh tế là </a:t>
            </a:r>
            <a:r>
              <a:rPr lang="en-US" sz="2000">
                <a:solidFill>
                  <a:schemeClr val="accent2">
                    <a:lumMod val="50000"/>
                  </a:schemeClr>
                </a:solidFill>
                <a:latin typeface="Calibri" pitchFamily="34" charset="0"/>
                <a:cs typeface="Calibri" pitchFamily="34" charset="0"/>
              </a:rPr>
              <a:t>yêu cầu bắt buộc trong</a:t>
            </a:r>
            <a:r>
              <a:rPr lang="vi-VN" sz="2000">
                <a:solidFill>
                  <a:schemeClr val="accent2">
                    <a:lumMod val="50000"/>
                  </a:schemeClr>
                </a:solidFill>
                <a:latin typeface="Calibri" pitchFamily="34" charset="0"/>
                <a:cs typeface="Calibri" pitchFamily="34" charset="0"/>
              </a:rPr>
              <a:t> kế hoạch dự án cơ sở. </a:t>
            </a:r>
            <a:endParaRPr lang="vi-VN" sz="2000" smtClean="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Mục </a:t>
            </a:r>
            <a:r>
              <a:rPr lang="vi-VN" sz="2000">
                <a:solidFill>
                  <a:schemeClr val="accent2">
                    <a:lumMod val="50000"/>
                  </a:schemeClr>
                </a:solidFill>
                <a:latin typeface="Calibri" pitchFamily="34" charset="0"/>
                <a:cs typeface="Calibri" pitchFamily="34" charset="0"/>
              </a:rPr>
              <a:t>đích của việc đánh giá tính khả thi kinh tế là xác định các lợi ích tài chính và chi phí liên quan </a:t>
            </a:r>
            <a:r>
              <a:rPr lang="en-US" sz="2000">
                <a:solidFill>
                  <a:schemeClr val="accent2">
                    <a:lumMod val="50000"/>
                  </a:schemeClr>
                </a:solidFill>
                <a:latin typeface="Calibri" pitchFamily="34" charset="0"/>
                <a:cs typeface="Calibri" pitchFamily="34" charset="0"/>
              </a:rPr>
              <a:t>đến sự</a:t>
            </a:r>
            <a:r>
              <a:rPr lang="vi-VN" sz="2000">
                <a:solidFill>
                  <a:schemeClr val="accent2">
                    <a:lumMod val="50000"/>
                  </a:schemeClr>
                </a:solidFill>
                <a:latin typeface="Calibri" pitchFamily="34" charset="0"/>
                <a:cs typeface="Calibri" pitchFamily="34" charset="0"/>
              </a:rPr>
              <a:t> phát triển</a:t>
            </a:r>
            <a:r>
              <a:rPr lang="en-US" sz="2000">
                <a:solidFill>
                  <a:schemeClr val="accent2">
                    <a:lumMod val="50000"/>
                  </a:schemeClr>
                </a:solidFill>
                <a:latin typeface="Calibri" pitchFamily="34" charset="0"/>
                <a:cs typeface="Calibri" pitchFamily="34" charset="0"/>
              </a:rPr>
              <a:t> dự án</a:t>
            </a:r>
            <a:r>
              <a:rPr lang="vi-VN" sz="2000">
                <a:solidFill>
                  <a:schemeClr val="accent2">
                    <a:lumMod val="50000"/>
                  </a:schemeClr>
                </a:solidFill>
                <a:latin typeface="Calibri" pitchFamily="34" charset="0"/>
                <a:cs typeface="Calibri" pitchFamily="34" charset="0"/>
              </a:rPr>
              <a:t>. </a:t>
            </a:r>
            <a:endParaRPr lang="vi-VN" sz="2000" smtClean="0">
              <a:solidFill>
                <a:schemeClr val="accent2">
                  <a:lumMod val="50000"/>
                </a:schemeClr>
              </a:solidFill>
              <a:latin typeface="Calibri" pitchFamily="34" charset="0"/>
              <a:cs typeface="Calibri" pitchFamily="34" charset="0"/>
            </a:endParaRPr>
          </a:p>
          <a:p>
            <a:pPr lvl="1" algn="just">
              <a:spcAft>
                <a:spcPts val="683"/>
              </a:spcAft>
              <a:buClr>
                <a:srgbClr val="FF0066"/>
              </a:buClr>
            </a:pPr>
            <a:r>
              <a:rPr lang="vi-VN" sz="1800" smtClean="0">
                <a:solidFill>
                  <a:schemeClr val="accent2">
                    <a:lumMod val="50000"/>
                  </a:schemeClr>
                </a:solidFill>
                <a:latin typeface="Calibri" pitchFamily="34" charset="0"/>
                <a:cs typeface="Calibri" pitchFamily="34" charset="0"/>
              </a:rPr>
              <a:t>Tính </a:t>
            </a:r>
            <a:r>
              <a:rPr lang="vi-VN" sz="1800">
                <a:solidFill>
                  <a:schemeClr val="accent2">
                    <a:lumMod val="50000"/>
                  </a:schemeClr>
                </a:solidFill>
                <a:latin typeface="Calibri" pitchFamily="34" charset="0"/>
                <a:cs typeface="Calibri" pitchFamily="34" charset="0"/>
              </a:rPr>
              <a:t>khả thi kinh tế thường được gọi là phân tích chi phí-lợi nhuận. </a:t>
            </a:r>
            <a:endParaRPr lang="vi-VN" sz="1800" smtClean="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Trong </a:t>
            </a:r>
            <a:r>
              <a:rPr lang="vi-VN" sz="2000">
                <a:solidFill>
                  <a:schemeClr val="accent2">
                    <a:lumMod val="50000"/>
                  </a:schemeClr>
                </a:solidFill>
                <a:latin typeface="Calibri" pitchFamily="34" charset="0"/>
                <a:cs typeface="Calibri" pitchFamily="34" charset="0"/>
              </a:rPr>
              <a:t>giai đoạn khởi động và lập kế hoạch dự án, ta không thể xác định chính xác tất cả các lợi ích và chi phí liên quan đến một dự án cụ thể</a:t>
            </a:r>
            <a:r>
              <a:rPr lang="en-US" sz="2000">
                <a:solidFill>
                  <a:schemeClr val="accent2">
                    <a:lumMod val="50000"/>
                  </a:schemeClr>
                </a:solidFill>
                <a:latin typeface="Calibri" pitchFamily="34" charset="0"/>
                <a:cs typeface="Calibri" pitchFamily="34" charset="0"/>
              </a:rPr>
              <a:t> mà chỉ có thể định lượng </a:t>
            </a:r>
            <a:r>
              <a:rPr lang="vi-VN" sz="2000">
                <a:solidFill>
                  <a:schemeClr val="accent2">
                    <a:lumMod val="50000"/>
                  </a:schemeClr>
                </a:solidFill>
                <a:latin typeface="Calibri" pitchFamily="34" charset="0"/>
                <a:cs typeface="Calibri" pitchFamily="34" charset="0"/>
              </a:rPr>
              <a:t>các lợi ích và chi phí</a:t>
            </a:r>
            <a:r>
              <a:rPr lang="en-US" sz="2000">
                <a:solidFill>
                  <a:schemeClr val="accent2">
                    <a:lumMod val="50000"/>
                  </a:schemeClr>
                </a:solidFill>
                <a:latin typeface="Calibri" pitchFamily="34" charset="0"/>
                <a:cs typeface="Calibri" pitchFamily="34" charset="0"/>
              </a:rPr>
              <a:t> đó từ đó xác định được </a:t>
            </a:r>
            <a:r>
              <a:rPr lang="vi-VN" sz="2000">
                <a:solidFill>
                  <a:schemeClr val="accent2">
                    <a:lumMod val="50000"/>
                  </a:schemeClr>
                </a:solidFill>
                <a:latin typeface="Calibri" pitchFamily="34" charset="0"/>
                <a:cs typeface="Calibri" pitchFamily="34" charset="0"/>
              </a:rPr>
              <a:t>dự án nào là</a:t>
            </a:r>
            <a:r>
              <a:rPr lang="en-US" sz="2000">
                <a:solidFill>
                  <a:schemeClr val="accent2">
                    <a:lumMod val="50000"/>
                  </a:schemeClr>
                </a:solidFill>
                <a:latin typeface="Calibri" pitchFamily="34" charset="0"/>
                <a:cs typeface="Calibri" pitchFamily="34" charset="0"/>
              </a:rPr>
              <a:t> có tính</a:t>
            </a:r>
            <a:r>
              <a:rPr lang="vi-VN" sz="2000">
                <a:solidFill>
                  <a:schemeClr val="accent2">
                    <a:lumMod val="50000"/>
                  </a:schemeClr>
                </a:solidFill>
                <a:latin typeface="Calibri" pitchFamily="34" charset="0"/>
                <a:cs typeface="Calibri" pitchFamily="34" charset="0"/>
              </a:rPr>
              <a:t> khả thi hơn</a:t>
            </a:r>
            <a:r>
              <a:rPr lang="vi-VN" sz="2000" smtClean="0">
                <a:solidFill>
                  <a:schemeClr val="accent2">
                    <a:lumMod val="50000"/>
                  </a:schemeClr>
                </a:solidFill>
                <a:latin typeface="Calibri" pitchFamily="34" charset="0"/>
                <a:cs typeface="Calibri" pitchFamily="34" charset="0"/>
              </a:rPr>
              <a:t>.</a:t>
            </a:r>
          </a:p>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Đánh giá tính khả thi kinh tế gồm 3 bước:</a:t>
            </a:r>
          </a:p>
          <a:p>
            <a:pPr marL="863423" lvl="1" indent="-342900" algn="just">
              <a:spcAft>
                <a:spcPts val="683"/>
              </a:spcAft>
              <a:buClr>
                <a:srgbClr val="FF0066"/>
              </a:buClr>
              <a:buFont typeface="+mj-lt"/>
              <a:buAutoNum type="arabicPeriod"/>
            </a:pPr>
            <a:r>
              <a:rPr lang="vi-VN" sz="1800" smtClean="0">
                <a:solidFill>
                  <a:schemeClr val="accent2">
                    <a:lumMod val="50000"/>
                  </a:schemeClr>
                </a:solidFill>
                <a:latin typeface="Calibri" pitchFamily="34" charset="0"/>
                <a:cs typeface="Calibri" pitchFamily="34" charset="0"/>
              </a:rPr>
              <a:t>Xác định lợi nhuận dự án.</a:t>
            </a:r>
          </a:p>
          <a:p>
            <a:pPr marL="863423" lvl="1" indent="-342900" algn="just">
              <a:spcAft>
                <a:spcPts val="683"/>
              </a:spcAft>
              <a:buClr>
                <a:srgbClr val="FF0066"/>
              </a:buClr>
              <a:buFont typeface="+mj-lt"/>
              <a:buAutoNum type="arabicPeriod"/>
            </a:pPr>
            <a:r>
              <a:rPr lang="vi-VN" sz="1800" smtClean="0">
                <a:solidFill>
                  <a:schemeClr val="accent2">
                    <a:lumMod val="50000"/>
                  </a:schemeClr>
                </a:solidFill>
                <a:latin typeface="Calibri" pitchFamily="34" charset="0"/>
                <a:cs typeface="Calibri" pitchFamily="34" charset="0"/>
              </a:rPr>
              <a:t>Xác định chi phí dự án.</a:t>
            </a:r>
          </a:p>
          <a:p>
            <a:pPr marL="863423" lvl="1" indent="-342900" algn="just">
              <a:spcAft>
                <a:spcPts val="683"/>
              </a:spcAft>
              <a:buClr>
                <a:srgbClr val="FF0066"/>
              </a:buClr>
              <a:buFont typeface="+mj-lt"/>
              <a:buAutoNum type="arabicPeriod"/>
            </a:pPr>
            <a:r>
              <a:rPr lang="vi-VN" sz="1800" smtClean="0">
                <a:solidFill>
                  <a:schemeClr val="accent2">
                    <a:lumMod val="50000"/>
                  </a:schemeClr>
                </a:solidFill>
                <a:latin typeface="Calibri" pitchFamily="34" charset="0"/>
                <a:cs typeface="Calibri" pitchFamily="34" charset="0"/>
              </a:rPr>
              <a:t>Đánh giá mối quan hệ giữa lợi nhuận và chi phí của dự án.</a:t>
            </a:r>
          </a:p>
          <a:p>
            <a:pPr algn="just">
              <a:spcAft>
                <a:spcPts val="683"/>
              </a:spcAft>
              <a:buClr>
                <a:srgbClr val="FF0066"/>
              </a:buClr>
              <a:buFont typeface="Symbol" pitchFamily="18" charset="2"/>
              <a:buChar char="¨"/>
            </a:pPr>
            <a:endParaRPr lang="en-US" sz="2000">
              <a:solidFill>
                <a:schemeClr val="accent2">
                  <a:lumMod val="50000"/>
                </a:schemeClr>
              </a:solidFill>
              <a:latin typeface="Calibri" pitchFamily="34" charset="0"/>
              <a:cs typeface="Calibri" pitchFamily="34" charset="0"/>
            </a:endParaRPr>
          </a:p>
          <a:p>
            <a:pPr lvl="1"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6194"/>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18</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b="1" smtClean="0">
                <a:solidFill>
                  <a:schemeClr val="accent6">
                    <a:lumMod val="75000"/>
                  </a:schemeClr>
                </a:solidFill>
                <a:ea typeface="+mj-ea"/>
                <a:cs typeface="Arial" pitchFamily="34" charset="0"/>
              </a:rPr>
              <a:t>2.1 Đánh giá tính khả thi kinh tế</a:t>
            </a:r>
          </a:p>
          <a:p>
            <a:pPr marL="3175" lvl="1"/>
            <a:r>
              <a:rPr lang="vi-VN" sz="1200" smtClean="0">
                <a:solidFill>
                  <a:schemeClr val="tx2"/>
                </a:solidFill>
                <a:cs typeface="Arial" pitchFamily="34" charset="0"/>
              </a:rPr>
              <a:t>2.2 Đánh giá tính khả thi </a:t>
            </a:r>
            <a:r>
              <a:rPr lang="vi-VN" sz="1200">
                <a:solidFill>
                  <a:schemeClr val="tx2"/>
                </a:solidFill>
                <a:cs typeface="Arial" pitchFamily="34" charset="0"/>
              </a:rPr>
              <a:t>kỹ </a:t>
            </a:r>
            <a:r>
              <a:rPr lang="vi-VN" sz="1200" smtClean="0">
                <a:solidFill>
                  <a:schemeClr val="tx2"/>
                </a:solidFill>
                <a:cs typeface="Arial" pitchFamily="34" charset="0"/>
              </a:rPr>
              <a:t>thuật</a:t>
            </a:r>
            <a:endParaRPr lang="en-US" sz="1200" smtClean="0">
              <a:solidFill>
                <a:schemeClr val="tx2"/>
              </a:solidFill>
              <a:cs typeface="Arial" pitchFamily="34" charset="0"/>
            </a:endParaRPr>
          </a:p>
          <a:p>
            <a:pPr marL="3175" lvl="1"/>
            <a:r>
              <a:rPr lang="vi-VN" sz="1200" smtClean="0">
                <a:solidFill>
                  <a:schemeClr val="tx2"/>
                </a:solidFill>
                <a:cs typeface="Arial" pitchFamily="34" charset="0"/>
              </a:rPr>
              <a:t>2.3 Đánh giá tính khả thi </a:t>
            </a:r>
            <a:r>
              <a:rPr lang="vi-VN" sz="1200">
                <a:solidFill>
                  <a:schemeClr val="tx2"/>
                </a:solidFill>
                <a:cs typeface="Arial" pitchFamily="34" charset="0"/>
              </a:rPr>
              <a:t>hoạt động</a:t>
            </a:r>
          </a:p>
          <a:p>
            <a:pPr marL="3175" lvl="1"/>
            <a:r>
              <a:rPr lang="vi-VN" sz="1200" smtClean="0">
                <a:solidFill>
                  <a:schemeClr val="tx2"/>
                </a:solidFill>
                <a:cs typeface="Arial" pitchFamily="34" charset="0"/>
              </a:rPr>
              <a:t>2.4 Đánh giá tính khả thi khác</a:t>
            </a:r>
            <a:endParaRPr lang="vi-VN" sz="1200">
              <a:solidFill>
                <a:schemeClr val="tx2"/>
              </a:solidFill>
              <a:cs typeface="Arial" pitchFamily="34" charset="0"/>
            </a:endParaRPr>
          </a:p>
          <a:p>
            <a:pPr marL="3175" lvl="1"/>
            <a:endParaRPr lang="vi-VN" sz="1200" b="1">
              <a:solidFill>
                <a:schemeClr val="accent6">
                  <a:lumMod val="75000"/>
                </a:schemeClr>
              </a:solidFill>
              <a:ea typeface="+mj-ea"/>
              <a:cs typeface="Arial" pitchFamily="34" charset="0"/>
            </a:endParaRPr>
          </a:p>
        </p:txBody>
      </p:sp>
      <p:sp>
        <p:nvSpPr>
          <p:cNvPr id="9"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Các yếu tố đánh giá</a:t>
            </a:r>
            <a:endParaRPr lang="en-US" sz="1300" b="1">
              <a:solidFill>
                <a:schemeClr val="accent6">
                  <a:lumMod val="75000"/>
                </a:schemeClr>
              </a:solidFill>
              <a:latin typeface="Calibri (Body)"/>
              <a:ea typeface="+mj-ea"/>
              <a:cs typeface="Arial" pitchFamily="34" charset="0"/>
            </a:endParaRP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10573206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indent="0" algn="just">
              <a:spcAft>
                <a:spcPts val="683"/>
              </a:spcAft>
              <a:buClr>
                <a:srgbClr val="FF0066"/>
              </a:buClr>
              <a:buNone/>
            </a:pPr>
            <a:r>
              <a:rPr lang="en-US" sz="2000" smtClean="0">
                <a:solidFill>
                  <a:srgbClr val="FF0066"/>
                </a:solidFill>
                <a:latin typeface="Calibri" pitchFamily="34" charset="0"/>
                <a:cs typeface="Calibri" pitchFamily="34" charset="0"/>
              </a:rPr>
              <a:t>B1. </a:t>
            </a:r>
            <a:r>
              <a:rPr lang="en-US" sz="2000" smtClean="0">
                <a:solidFill>
                  <a:schemeClr val="accent2">
                    <a:lumMod val="50000"/>
                  </a:schemeClr>
                </a:solidFill>
                <a:latin typeface="Calibri" pitchFamily="34" charset="0"/>
                <a:cs typeface="Calibri" pitchFamily="34" charset="0"/>
              </a:rPr>
              <a:t>Xác </a:t>
            </a:r>
            <a:r>
              <a:rPr lang="en-US" sz="2000">
                <a:solidFill>
                  <a:schemeClr val="accent2">
                    <a:lumMod val="50000"/>
                  </a:schemeClr>
                </a:solidFill>
                <a:latin typeface="Calibri" pitchFamily="34" charset="0"/>
                <a:cs typeface="Calibri" pitchFamily="34" charset="0"/>
              </a:rPr>
              <a:t>định lợi nhuận dự </a:t>
            </a:r>
            <a:r>
              <a:rPr lang="en-US" sz="2000" smtClean="0">
                <a:solidFill>
                  <a:schemeClr val="accent2">
                    <a:lumMod val="50000"/>
                  </a:schemeClr>
                </a:solidFill>
                <a:latin typeface="Calibri" pitchFamily="34" charset="0"/>
                <a:cs typeface="Calibri" pitchFamily="34" charset="0"/>
              </a:rPr>
              <a:t>án</a:t>
            </a:r>
            <a:endParaRPr lang="vi-VN" sz="2000" smtClean="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Một </a:t>
            </a:r>
            <a:r>
              <a:rPr lang="en-US" sz="1800">
                <a:solidFill>
                  <a:schemeClr val="accent2">
                    <a:lumMod val="50000"/>
                  </a:schemeClr>
                </a:solidFill>
                <a:latin typeface="Calibri" pitchFamily="34" charset="0"/>
                <a:cs typeface="Calibri" pitchFamily="34" charset="0"/>
              </a:rPr>
              <a:t>hệ thống thông tin có thể cung cấp nhiều lợi ích cho một tổ chức </a:t>
            </a:r>
            <a:r>
              <a:rPr lang="en-US" sz="1800" smtClean="0">
                <a:solidFill>
                  <a:schemeClr val="accent2">
                    <a:lumMod val="50000"/>
                  </a:schemeClr>
                </a:solidFill>
                <a:latin typeface="Calibri" pitchFamily="34" charset="0"/>
                <a:cs typeface="Calibri" pitchFamily="34" charset="0"/>
              </a:rPr>
              <a:t>như:</a:t>
            </a:r>
          </a:p>
          <a:p>
            <a:pPr lvl="1" algn="just">
              <a:spcAft>
                <a:spcPts val="683"/>
              </a:spcAft>
              <a:buClr>
                <a:srgbClr val="FF0066"/>
              </a:buClr>
            </a:pPr>
            <a:r>
              <a:rPr lang="en-US" sz="1600" smtClean="0">
                <a:solidFill>
                  <a:schemeClr val="accent2">
                    <a:lumMod val="50000"/>
                  </a:schemeClr>
                </a:solidFill>
                <a:latin typeface="Calibri" pitchFamily="34" charset="0"/>
                <a:cs typeface="Calibri" pitchFamily="34" charset="0"/>
              </a:rPr>
              <a:t>Tự </a:t>
            </a:r>
            <a:r>
              <a:rPr lang="en-US" sz="1600">
                <a:solidFill>
                  <a:schemeClr val="accent2">
                    <a:lumMod val="50000"/>
                  </a:schemeClr>
                </a:solidFill>
                <a:latin typeface="Calibri" pitchFamily="34" charset="0"/>
                <a:cs typeface="Calibri" pitchFamily="34" charset="0"/>
              </a:rPr>
              <a:t>động thực hiện các công việc đơn </a:t>
            </a:r>
            <a:r>
              <a:rPr lang="en-US" sz="1600" smtClean="0">
                <a:solidFill>
                  <a:schemeClr val="accent2">
                    <a:lumMod val="50000"/>
                  </a:schemeClr>
                </a:solidFill>
                <a:latin typeface="Calibri" pitchFamily="34" charset="0"/>
                <a:cs typeface="Calibri" pitchFamily="34" charset="0"/>
              </a:rPr>
              <a:t>điệu.</a:t>
            </a:r>
          </a:p>
          <a:p>
            <a:pPr lvl="1" algn="just">
              <a:spcAft>
                <a:spcPts val="683"/>
              </a:spcAft>
              <a:buClr>
                <a:srgbClr val="FF0066"/>
              </a:buClr>
            </a:pPr>
            <a:r>
              <a:rPr lang="en-US" sz="1600" smtClean="0">
                <a:solidFill>
                  <a:schemeClr val="accent2">
                    <a:lumMod val="50000"/>
                  </a:schemeClr>
                </a:solidFill>
                <a:latin typeface="Calibri" pitchFamily="34" charset="0"/>
                <a:cs typeface="Calibri" pitchFamily="34" charset="0"/>
              </a:rPr>
              <a:t>Giảm </a:t>
            </a:r>
            <a:r>
              <a:rPr lang="en-US" sz="1600">
                <a:solidFill>
                  <a:schemeClr val="accent2">
                    <a:lumMod val="50000"/>
                  </a:schemeClr>
                </a:solidFill>
                <a:latin typeface="Calibri" pitchFamily="34" charset="0"/>
                <a:cs typeface="Calibri" pitchFamily="34" charset="0"/>
              </a:rPr>
              <a:t>sai </a:t>
            </a:r>
            <a:r>
              <a:rPr lang="en-US" sz="1600" smtClean="0">
                <a:solidFill>
                  <a:schemeClr val="accent2">
                    <a:lumMod val="50000"/>
                  </a:schemeClr>
                </a:solidFill>
                <a:latin typeface="Calibri" pitchFamily="34" charset="0"/>
                <a:cs typeface="Calibri" pitchFamily="34" charset="0"/>
              </a:rPr>
              <a:t>sót.</a:t>
            </a:r>
          </a:p>
          <a:p>
            <a:pPr lvl="1" algn="just">
              <a:spcAft>
                <a:spcPts val="683"/>
              </a:spcAft>
              <a:buClr>
                <a:srgbClr val="FF0066"/>
              </a:buClr>
            </a:pPr>
            <a:r>
              <a:rPr lang="en-US" sz="1600" smtClean="0">
                <a:solidFill>
                  <a:schemeClr val="accent2">
                    <a:lumMod val="50000"/>
                  </a:schemeClr>
                </a:solidFill>
                <a:latin typeface="Calibri" pitchFamily="34" charset="0"/>
                <a:cs typeface="Calibri" pitchFamily="34" charset="0"/>
              </a:rPr>
              <a:t>Cung </a:t>
            </a:r>
            <a:r>
              <a:rPr lang="en-US" sz="1600">
                <a:solidFill>
                  <a:schemeClr val="accent2">
                    <a:lumMod val="50000"/>
                  </a:schemeClr>
                </a:solidFill>
                <a:latin typeface="Calibri" pitchFamily="34" charset="0"/>
                <a:cs typeface="Calibri" pitchFamily="34" charset="0"/>
              </a:rPr>
              <a:t>cấp các dịch vụ </a:t>
            </a:r>
            <a:r>
              <a:rPr lang="en-US" sz="1600" smtClean="0">
                <a:solidFill>
                  <a:schemeClr val="accent2">
                    <a:lumMod val="50000"/>
                  </a:schemeClr>
                </a:solidFill>
                <a:latin typeface="Calibri" pitchFamily="34" charset="0"/>
                <a:cs typeface="Calibri" pitchFamily="34" charset="0"/>
              </a:rPr>
              <a:t>hữu ích cho </a:t>
            </a:r>
            <a:r>
              <a:rPr lang="en-US" sz="1600">
                <a:solidFill>
                  <a:schemeClr val="accent2">
                    <a:lumMod val="50000"/>
                  </a:schemeClr>
                </a:solidFill>
                <a:latin typeface="Calibri" pitchFamily="34" charset="0"/>
                <a:cs typeface="Calibri" pitchFamily="34" charset="0"/>
              </a:rPr>
              <a:t>khách hàng và nhà cung </a:t>
            </a:r>
            <a:r>
              <a:rPr lang="en-US" sz="1600" smtClean="0">
                <a:solidFill>
                  <a:schemeClr val="accent2">
                    <a:lumMod val="50000"/>
                  </a:schemeClr>
                </a:solidFill>
                <a:latin typeface="Calibri" pitchFamily="34" charset="0"/>
                <a:cs typeface="Calibri" pitchFamily="34" charset="0"/>
              </a:rPr>
              <a:t>cấp.</a:t>
            </a:r>
          </a:p>
          <a:p>
            <a:pPr lvl="1" algn="just">
              <a:spcAft>
                <a:spcPts val="683"/>
              </a:spcAft>
              <a:buClr>
                <a:srgbClr val="FF0066"/>
              </a:buClr>
            </a:pPr>
            <a:r>
              <a:rPr lang="en-US" sz="1600" smtClean="0">
                <a:solidFill>
                  <a:schemeClr val="accent2">
                    <a:lumMod val="50000"/>
                  </a:schemeClr>
                </a:solidFill>
                <a:latin typeface="Calibri" pitchFamily="34" charset="0"/>
                <a:cs typeface="Calibri" pitchFamily="34" charset="0"/>
              </a:rPr>
              <a:t>Nâng </a:t>
            </a:r>
            <a:r>
              <a:rPr lang="en-US" sz="1600">
                <a:solidFill>
                  <a:schemeClr val="accent2">
                    <a:lumMod val="50000"/>
                  </a:schemeClr>
                </a:solidFill>
                <a:latin typeface="Calibri" pitchFamily="34" charset="0"/>
                <a:cs typeface="Calibri" pitchFamily="34" charset="0"/>
              </a:rPr>
              <a:t>cao hiệu quả tổ chức cũng như tốc độ, tính linh hoạt của hệ thống</a:t>
            </a:r>
            <a:r>
              <a:rPr lang="en-US" sz="1600" smtClean="0">
                <a:solidFill>
                  <a:schemeClr val="accent2">
                    <a:lumMod val="50000"/>
                  </a:schemeClr>
                </a:solidFill>
                <a:latin typeface="Calibri" pitchFamily="34" charset="0"/>
                <a:cs typeface="Calibri" pitchFamily="34" charset="0"/>
              </a:rPr>
              <a:t>…</a:t>
            </a:r>
          </a:p>
          <a:p>
            <a:pPr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Lợi </a:t>
            </a:r>
            <a:r>
              <a:rPr lang="en-US" sz="1800">
                <a:solidFill>
                  <a:schemeClr val="accent2">
                    <a:lumMod val="50000"/>
                  </a:schemeClr>
                </a:solidFill>
                <a:latin typeface="Calibri" pitchFamily="34" charset="0"/>
                <a:cs typeface="Calibri" pitchFamily="34" charset="0"/>
              </a:rPr>
              <a:t>ích của dự án bao </a:t>
            </a:r>
            <a:r>
              <a:rPr lang="en-US" sz="1800" smtClean="0">
                <a:solidFill>
                  <a:schemeClr val="accent2">
                    <a:lumMod val="50000"/>
                  </a:schemeClr>
                </a:solidFill>
                <a:latin typeface="Calibri" pitchFamily="34" charset="0"/>
                <a:cs typeface="Calibri" pitchFamily="34" charset="0"/>
              </a:rPr>
              <a:t>gồm:</a:t>
            </a:r>
          </a:p>
          <a:p>
            <a:pPr lvl="1" algn="just">
              <a:spcAft>
                <a:spcPts val="683"/>
              </a:spcAft>
              <a:buClr>
                <a:srgbClr val="FF0066"/>
              </a:buClr>
            </a:pPr>
            <a:r>
              <a:rPr lang="en-US" sz="1600">
                <a:solidFill>
                  <a:schemeClr val="accent2">
                    <a:lumMod val="50000"/>
                  </a:schemeClr>
                </a:solidFill>
                <a:latin typeface="Calibri" pitchFamily="34" charset="0"/>
                <a:cs typeface="Calibri" pitchFamily="34" charset="0"/>
              </a:rPr>
              <a:t>L</a:t>
            </a:r>
            <a:r>
              <a:rPr lang="en-US" sz="1600" smtClean="0">
                <a:solidFill>
                  <a:schemeClr val="accent2">
                    <a:lumMod val="50000"/>
                  </a:schemeClr>
                </a:solidFill>
                <a:latin typeface="Calibri" pitchFamily="34" charset="0"/>
                <a:cs typeface="Calibri" pitchFamily="34" charset="0"/>
              </a:rPr>
              <a:t>ợi </a:t>
            </a:r>
            <a:r>
              <a:rPr lang="en-US" sz="1600">
                <a:solidFill>
                  <a:schemeClr val="accent2">
                    <a:lumMod val="50000"/>
                  </a:schemeClr>
                </a:solidFill>
                <a:latin typeface="Calibri" pitchFamily="34" charset="0"/>
                <a:cs typeface="Calibri" pitchFamily="34" charset="0"/>
              </a:rPr>
              <a:t>ích hữu hình </a:t>
            </a:r>
            <a:r>
              <a:rPr lang="en-US" sz="1600" smtClean="0">
                <a:solidFill>
                  <a:schemeClr val="accent2">
                    <a:lumMod val="50000"/>
                  </a:schemeClr>
                </a:solidFill>
                <a:latin typeface="Calibri" pitchFamily="34" charset="0"/>
                <a:cs typeface="Calibri" pitchFamily="34" charset="0"/>
              </a:rPr>
              <a:t>(</a:t>
            </a:r>
            <a:r>
              <a:rPr lang="en-US" sz="1600" i="1" smtClean="0">
                <a:solidFill>
                  <a:schemeClr val="accent2">
                    <a:lumMod val="50000"/>
                  </a:schemeClr>
                </a:solidFill>
                <a:latin typeface="Calibri" pitchFamily="34" charset="0"/>
                <a:cs typeface="Calibri" pitchFamily="34" charset="0"/>
              </a:rPr>
              <a:t>tangible cost</a:t>
            </a:r>
            <a:r>
              <a:rPr lang="en-US" sz="1600" smtClean="0">
                <a:solidFill>
                  <a:schemeClr val="accent2">
                    <a:lumMod val="50000"/>
                  </a:schemeClr>
                </a:solidFill>
                <a:latin typeface="Calibri" pitchFamily="34" charset="0"/>
                <a:cs typeface="Calibri" pitchFamily="34" charset="0"/>
              </a:rPr>
              <a:t>).</a:t>
            </a:r>
          </a:p>
          <a:p>
            <a:pPr lvl="1" algn="just">
              <a:spcAft>
                <a:spcPts val="683"/>
              </a:spcAft>
              <a:buClr>
                <a:srgbClr val="FF0066"/>
              </a:buClr>
            </a:pPr>
            <a:r>
              <a:rPr lang="en-US" sz="1600" smtClean="0">
                <a:solidFill>
                  <a:schemeClr val="accent2">
                    <a:lumMod val="50000"/>
                  </a:schemeClr>
                </a:solidFill>
                <a:latin typeface="Calibri" pitchFamily="34" charset="0"/>
                <a:cs typeface="Calibri" pitchFamily="34" charset="0"/>
              </a:rPr>
              <a:t>Lợi ích vô </a:t>
            </a:r>
            <a:r>
              <a:rPr lang="en-US" sz="1600">
                <a:solidFill>
                  <a:schemeClr val="accent2">
                    <a:lumMod val="50000"/>
                  </a:schemeClr>
                </a:solidFill>
                <a:latin typeface="Calibri" pitchFamily="34" charset="0"/>
                <a:cs typeface="Calibri" pitchFamily="34" charset="0"/>
              </a:rPr>
              <a:t>hình </a:t>
            </a:r>
            <a:r>
              <a:rPr lang="en-US" sz="1600" smtClean="0">
                <a:solidFill>
                  <a:schemeClr val="accent2">
                    <a:lumMod val="50000"/>
                  </a:schemeClr>
                </a:solidFill>
                <a:latin typeface="Calibri" pitchFamily="34" charset="0"/>
                <a:cs typeface="Calibri" pitchFamily="34" charset="0"/>
              </a:rPr>
              <a:t>(</a:t>
            </a:r>
            <a:r>
              <a:rPr lang="en-US" sz="1600" i="1" smtClean="0">
                <a:solidFill>
                  <a:schemeClr val="accent2">
                    <a:lumMod val="50000"/>
                  </a:schemeClr>
                </a:solidFill>
                <a:latin typeface="Calibri" pitchFamily="34" charset="0"/>
                <a:cs typeface="Calibri" pitchFamily="34" charset="0"/>
              </a:rPr>
              <a:t>intangible </a:t>
            </a:r>
            <a:r>
              <a:rPr lang="en-US" sz="1600" i="1">
                <a:solidFill>
                  <a:schemeClr val="accent2">
                    <a:lumMod val="50000"/>
                  </a:schemeClr>
                </a:solidFill>
                <a:latin typeface="Calibri" pitchFamily="34" charset="0"/>
                <a:cs typeface="Calibri" pitchFamily="34" charset="0"/>
              </a:rPr>
              <a:t>cost</a:t>
            </a:r>
            <a:r>
              <a:rPr lang="en-US" sz="1600">
                <a:solidFill>
                  <a:schemeClr val="accent2">
                    <a:lumMod val="50000"/>
                  </a:schemeClr>
                </a:solidFill>
                <a:latin typeface="Calibri" pitchFamily="34" charset="0"/>
                <a:cs typeface="Calibri" pitchFamily="34" charset="0"/>
              </a:rPr>
              <a:t>). </a:t>
            </a:r>
            <a:endParaRPr lang="en-US" sz="1600" smtClean="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6194"/>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19</a:t>
            </a:fld>
            <a:endParaRPr lang="vi-VN"/>
          </a:p>
        </p:txBody>
      </p:sp>
      <p:sp>
        <p:nvSpPr>
          <p:cNvPr id="7"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b="1" smtClean="0">
                <a:solidFill>
                  <a:schemeClr val="accent6">
                    <a:lumMod val="75000"/>
                  </a:schemeClr>
                </a:solidFill>
                <a:ea typeface="+mj-ea"/>
                <a:cs typeface="Arial" pitchFamily="34" charset="0"/>
              </a:rPr>
              <a:t>2.1 Đánh giá tính khả thi kinh tế</a:t>
            </a:r>
          </a:p>
          <a:p>
            <a:pPr marL="3175" lvl="1"/>
            <a:r>
              <a:rPr lang="vi-VN" sz="1200" smtClean="0">
                <a:solidFill>
                  <a:schemeClr val="tx2"/>
                </a:solidFill>
                <a:cs typeface="Arial" pitchFamily="34" charset="0"/>
              </a:rPr>
              <a:t>2.2 Đánh giá tính khả thi </a:t>
            </a:r>
            <a:r>
              <a:rPr lang="vi-VN" sz="1200">
                <a:solidFill>
                  <a:schemeClr val="tx2"/>
                </a:solidFill>
                <a:cs typeface="Arial" pitchFamily="34" charset="0"/>
              </a:rPr>
              <a:t>kỹ thuật</a:t>
            </a:r>
          </a:p>
          <a:p>
            <a:pPr marL="3175" lvl="1"/>
            <a:r>
              <a:rPr lang="vi-VN" sz="1200" smtClean="0">
                <a:solidFill>
                  <a:schemeClr val="tx2"/>
                </a:solidFill>
                <a:cs typeface="Arial" pitchFamily="34" charset="0"/>
              </a:rPr>
              <a:t>2.3 Đánh giá tính khả thi </a:t>
            </a:r>
            <a:r>
              <a:rPr lang="vi-VN" sz="1200">
                <a:solidFill>
                  <a:schemeClr val="tx2"/>
                </a:solidFill>
                <a:cs typeface="Arial" pitchFamily="34" charset="0"/>
              </a:rPr>
              <a:t>hoạt </a:t>
            </a:r>
            <a:r>
              <a:rPr lang="vi-VN" sz="1200" smtClean="0">
                <a:solidFill>
                  <a:schemeClr val="tx2"/>
                </a:solidFill>
                <a:cs typeface="Arial" pitchFamily="34" charset="0"/>
              </a:rPr>
              <a:t>động</a:t>
            </a:r>
          </a:p>
          <a:p>
            <a:pPr marL="3175" lvl="1"/>
            <a:r>
              <a:rPr lang="vi-VN" sz="1200" smtClean="0">
                <a:solidFill>
                  <a:schemeClr val="tx2"/>
                </a:solidFill>
                <a:cs typeface="Arial" pitchFamily="34" charset="0"/>
              </a:rPr>
              <a:t>2.4 Đánh giá tính khả thi khác</a:t>
            </a:r>
            <a:endParaRPr lang="vi-VN" sz="1200">
              <a:solidFill>
                <a:schemeClr val="tx2"/>
              </a:solidFill>
              <a:cs typeface="Arial" pitchFamily="34" charset="0"/>
            </a:endParaRPr>
          </a:p>
          <a:p>
            <a:pPr marL="3175" lvl="1"/>
            <a:endParaRPr lang="vi-VN" sz="1200" b="1">
              <a:solidFill>
                <a:schemeClr val="accent6">
                  <a:lumMod val="75000"/>
                </a:schemeClr>
              </a:solidFill>
              <a:ea typeface="+mj-ea"/>
              <a:cs typeface="Arial" pitchFamily="34" charset="0"/>
            </a:endParaRPr>
          </a:p>
        </p:txBody>
      </p:sp>
      <p:sp>
        <p:nvSpPr>
          <p:cNvPr id="9"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Các yếu tố đánh giá</a:t>
            </a:r>
            <a:endParaRPr lang="en-US" sz="1300" b="1">
              <a:solidFill>
                <a:schemeClr val="accent6">
                  <a:lumMod val="75000"/>
                </a:schemeClr>
              </a:solidFill>
              <a:latin typeface="Calibri (Body)"/>
              <a:ea typeface="+mj-ea"/>
              <a:cs typeface="Arial" pitchFamily="34" charset="0"/>
            </a:endParaRP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22931201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indent="0" algn="just">
              <a:spcAft>
                <a:spcPts val="683"/>
              </a:spcAft>
              <a:buClr>
                <a:srgbClr val="FF0066"/>
              </a:buClr>
              <a:buNone/>
            </a:pPr>
            <a:r>
              <a:rPr lang="en-US" sz="2000" smtClean="0">
                <a:solidFill>
                  <a:schemeClr val="tx2">
                    <a:lumMod val="75000"/>
                  </a:schemeClr>
                </a:solidFill>
                <a:latin typeface="Calibri" pitchFamily="34" charset="0"/>
                <a:cs typeface="Calibri" pitchFamily="34" charset="0"/>
              </a:rPr>
              <a:t>B1. Xác </a:t>
            </a:r>
            <a:r>
              <a:rPr lang="en-US" sz="2000">
                <a:solidFill>
                  <a:schemeClr val="tx2">
                    <a:lumMod val="75000"/>
                  </a:schemeClr>
                </a:solidFill>
                <a:latin typeface="Calibri" pitchFamily="34" charset="0"/>
                <a:cs typeface="Calibri" pitchFamily="34" charset="0"/>
              </a:rPr>
              <a:t>định lợi nhuận dự </a:t>
            </a:r>
            <a:r>
              <a:rPr lang="en-US" sz="2000" smtClean="0">
                <a:solidFill>
                  <a:schemeClr val="tx2">
                    <a:lumMod val="75000"/>
                  </a:schemeClr>
                </a:solidFill>
                <a:latin typeface="Calibri" pitchFamily="34" charset="0"/>
                <a:cs typeface="Calibri" pitchFamily="34" charset="0"/>
              </a:rPr>
              <a:t>án – Lợi ích hữu hình</a:t>
            </a:r>
            <a:endParaRPr lang="vi-VN" sz="2000" smtClean="0">
              <a:solidFill>
                <a:schemeClr val="tx2">
                  <a:lumMod val="75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Lợi </a:t>
            </a:r>
            <a:r>
              <a:rPr lang="en-US" sz="1800">
                <a:solidFill>
                  <a:schemeClr val="accent2">
                    <a:lumMod val="50000"/>
                  </a:schemeClr>
                </a:solidFill>
                <a:latin typeface="Calibri" pitchFamily="34" charset="0"/>
                <a:cs typeface="Calibri" pitchFamily="34" charset="0"/>
              </a:rPr>
              <a:t>ích hữu hình là lợi ích có thể </a:t>
            </a:r>
            <a:r>
              <a:rPr lang="en-US" sz="1800" smtClean="0">
                <a:solidFill>
                  <a:schemeClr val="accent2">
                    <a:lumMod val="50000"/>
                  </a:schemeClr>
                </a:solidFill>
                <a:latin typeface="Calibri" pitchFamily="34" charset="0"/>
                <a:cs typeface="Calibri" pitchFamily="34" charset="0"/>
              </a:rPr>
              <a:t>đo được bằng </a:t>
            </a:r>
            <a:r>
              <a:rPr lang="en-US" sz="1800">
                <a:solidFill>
                  <a:schemeClr val="accent2">
                    <a:lumMod val="50000"/>
                  </a:schemeClr>
                </a:solidFill>
                <a:latin typeface="Calibri" pitchFamily="34" charset="0"/>
                <a:cs typeface="Calibri" pitchFamily="34" charset="0"/>
              </a:rPr>
              <a:t>tiền, ví dụ lợi ích giảm chi phí nhân sự, giảm chi phí giao </a:t>
            </a:r>
            <a:r>
              <a:rPr lang="en-US" sz="1800" smtClean="0">
                <a:solidFill>
                  <a:schemeClr val="accent2">
                    <a:lumMod val="50000"/>
                  </a:schemeClr>
                </a:solidFill>
                <a:latin typeface="Calibri" pitchFamily="34" charset="0"/>
                <a:cs typeface="Calibri" pitchFamily="34" charset="0"/>
              </a:rPr>
              <a:t>dịch, mức lợi nhuận tăng…</a:t>
            </a:r>
            <a:endParaRPr lang="en-US" sz="1800">
              <a:solidFill>
                <a:schemeClr val="accent2">
                  <a:lumMod val="50000"/>
                </a:schemeClr>
              </a:solidFill>
              <a:latin typeface="Calibri" pitchFamily="34" charset="0"/>
              <a:cs typeface="Calibri" pitchFamily="34" charset="0"/>
            </a:endParaRPr>
          </a:p>
          <a:p>
            <a:pPr lvl="1" algn="just">
              <a:spcAft>
                <a:spcPts val="683"/>
              </a:spcAft>
              <a:buClr>
                <a:srgbClr val="FF0066"/>
              </a:buClr>
            </a:pPr>
            <a:r>
              <a:rPr lang="en-US" sz="1600" smtClean="0">
                <a:solidFill>
                  <a:schemeClr val="accent2">
                    <a:lumMod val="50000"/>
                  </a:schemeClr>
                </a:solidFill>
                <a:latin typeface="Calibri" pitchFamily="34" charset="0"/>
                <a:cs typeface="Calibri" pitchFamily="34" charset="0"/>
              </a:rPr>
              <a:t>Không </a:t>
            </a:r>
            <a:r>
              <a:rPr lang="en-US" sz="1600">
                <a:solidFill>
                  <a:schemeClr val="accent2">
                    <a:lumMod val="50000"/>
                  </a:schemeClr>
                </a:solidFill>
                <a:latin typeface="Calibri" pitchFamily="34" charset="0"/>
                <a:cs typeface="Calibri" pitchFamily="34" charset="0"/>
              </a:rPr>
              <a:t>phải tất cả những lợi ích hữu hình đều có thể dễ dàng định lượng, như lợi ích cho phép một công ty có thể tiết kiệm 50% thời gian khi thực hiện một công việc rất khó để định lượng đã tiết kiệm được bao nhiêu tiền. </a:t>
            </a:r>
            <a:endParaRPr lang="en-US" sz="1600" smtClean="0">
              <a:solidFill>
                <a:schemeClr val="accent2">
                  <a:lumMod val="50000"/>
                </a:schemeClr>
              </a:solidFill>
              <a:latin typeface="Calibri" pitchFamily="34" charset="0"/>
              <a:cs typeface="Calibri" pitchFamily="34" charset="0"/>
            </a:endParaRPr>
          </a:p>
          <a:p>
            <a:pPr lvl="1" algn="just">
              <a:spcAft>
                <a:spcPts val="683"/>
              </a:spcAft>
              <a:buClr>
                <a:srgbClr val="FF0066"/>
              </a:buClr>
            </a:pPr>
            <a:r>
              <a:rPr lang="en-US" sz="1600" smtClean="0">
                <a:solidFill>
                  <a:schemeClr val="accent2">
                    <a:lumMod val="50000"/>
                  </a:schemeClr>
                </a:solidFill>
                <a:latin typeface="Calibri" pitchFamily="34" charset="0"/>
                <a:cs typeface="Calibri" pitchFamily="34" charset="0"/>
              </a:rPr>
              <a:t>Các </a:t>
            </a:r>
            <a:r>
              <a:rPr lang="en-US" sz="1600">
                <a:solidFill>
                  <a:schemeClr val="accent2">
                    <a:lumMod val="50000"/>
                  </a:schemeClr>
                </a:solidFill>
                <a:latin typeface="Calibri" pitchFamily="34" charset="0"/>
                <a:cs typeface="Calibri" pitchFamily="34" charset="0"/>
              </a:rPr>
              <a:t>lợi ích hữu hình phù hợp với các tiêu chí sau:</a:t>
            </a:r>
            <a:endParaRPr lang="vi-VN" sz="1600">
              <a:solidFill>
                <a:schemeClr val="accent2">
                  <a:lumMod val="50000"/>
                </a:schemeClr>
              </a:solidFill>
              <a:latin typeface="Calibri" pitchFamily="34" charset="0"/>
              <a:cs typeface="Calibri" pitchFamily="34" charset="0"/>
            </a:endParaRPr>
          </a:p>
          <a:p>
            <a:pPr lvl="2">
              <a:buClr>
                <a:srgbClr val="FF0066"/>
              </a:buClr>
            </a:pPr>
            <a:r>
              <a:rPr lang="en-US" sz="1400">
                <a:solidFill>
                  <a:schemeClr val="accent2">
                    <a:lumMod val="50000"/>
                  </a:schemeClr>
                </a:solidFill>
                <a:latin typeface="Calibri" pitchFamily="34" charset="0"/>
                <a:cs typeface="Calibri" pitchFamily="34" charset="0"/>
              </a:rPr>
              <a:t>Giảm chi phí</a:t>
            </a:r>
            <a:endParaRPr lang="vi-VN" sz="1400">
              <a:solidFill>
                <a:schemeClr val="accent2">
                  <a:lumMod val="50000"/>
                </a:schemeClr>
              </a:solidFill>
              <a:latin typeface="Calibri" pitchFamily="34" charset="0"/>
              <a:cs typeface="Calibri" pitchFamily="34" charset="0"/>
            </a:endParaRPr>
          </a:p>
          <a:p>
            <a:pPr lvl="2">
              <a:buClr>
                <a:srgbClr val="FF0066"/>
              </a:buClr>
            </a:pPr>
            <a:r>
              <a:rPr lang="en-US" sz="1400">
                <a:solidFill>
                  <a:schemeClr val="accent2">
                    <a:lumMod val="50000"/>
                  </a:schemeClr>
                </a:solidFill>
                <a:latin typeface="Calibri" pitchFamily="34" charset="0"/>
                <a:cs typeface="Calibri" pitchFamily="34" charset="0"/>
              </a:rPr>
              <a:t>Giảm lỗi</a:t>
            </a:r>
            <a:endParaRPr lang="vi-VN" sz="1400">
              <a:solidFill>
                <a:schemeClr val="accent2">
                  <a:lumMod val="50000"/>
                </a:schemeClr>
              </a:solidFill>
              <a:latin typeface="Calibri" pitchFamily="34" charset="0"/>
              <a:cs typeface="Calibri" pitchFamily="34" charset="0"/>
            </a:endParaRPr>
          </a:p>
          <a:p>
            <a:pPr lvl="2">
              <a:buClr>
                <a:srgbClr val="FF0066"/>
              </a:buClr>
            </a:pPr>
            <a:r>
              <a:rPr lang="en-US" sz="1400">
                <a:solidFill>
                  <a:schemeClr val="accent2">
                    <a:lumMod val="50000"/>
                  </a:schemeClr>
                </a:solidFill>
                <a:latin typeface="Calibri" pitchFamily="34" charset="0"/>
                <a:cs typeface="Calibri" pitchFamily="34" charset="0"/>
              </a:rPr>
              <a:t>Tăng tính linh hoạt</a:t>
            </a:r>
            <a:endParaRPr lang="vi-VN" sz="1400">
              <a:solidFill>
                <a:schemeClr val="accent2">
                  <a:lumMod val="50000"/>
                </a:schemeClr>
              </a:solidFill>
              <a:latin typeface="Calibri" pitchFamily="34" charset="0"/>
              <a:cs typeface="Calibri" pitchFamily="34" charset="0"/>
            </a:endParaRPr>
          </a:p>
          <a:p>
            <a:pPr lvl="2">
              <a:buClr>
                <a:srgbClr val="FF0066"/>
              </a:buClr>
            </a:pPr>
            <a:r>
              <a:rPr lang="en-US" sz="1400">
                <a:solidFill>
                  <a:schemeClr val="accent2">
                    <a:lumMod val="50000"/>
                  </a:schemeClr>
                </a:solidFill>
                <a:latin typeface="Calibri" pitchFamily="34" charset="0"/>
                <a:cs typeface="Calibri" pitchFamily="34" charset="0"/>
              </a:rPr>
              <a:t>Tăng tốc độ hoạt động</a:t>
            </a:r>
            <a:endParaRPr lang="vi-VN" sz="1400">
              <a:solidFill>
                <a:schemeClr val="accent2">
                  <a:lumMod val="50000"/>
                </a:schemeClr>
              </a:solidFill>
              <a:latin typeface="Calibri" pitchFamily="34" charset="0"/>
              <a:cs typeface="Calibri" pitchFamily="34" charset="0"/>
            </a:endParaRPr>
          </a:p>
          <a:p>
            <a:pPr lvl="2">
              <a:buClr>
                <a:srgbClr val="FF0066"/>
              </a:buClr>
            </a:pPr>
            <a:r>
              <a:rPr lang="en-US" sz="1400">
                <a:solidFill>
                  <a:schemeClr val="accent2">
                    <a:lumMod val="50000"/>
                  </a:schemeClr>
                </a:solidFill>
                <a:latin typeface="Calibri" pitchFamily="34" charset="0"/>
                <a:cs typeface="Calibri" pitchFamily="34" charset="0"/>
              </a:rPr>
              <a:t>Cải thiện việc </a:t>
            </a:r>
            <a:r>
              <a:rPr lang="en-US" sz="1400" smtClean="0">
                <a:solidFill>
                  <a:schemeClr val="accent2">
                    <a:lumMod val="50000"/>
                  </a:schemeClr>
                </a:solidFill>
                <a:latin typeface="Calibri" pitchFamily="34" charset="0"/>
                <a:cs typeface="Calibri" pitchFamily="34" charset="0"/>
              </a:rPr>
              <a:t>điều khiển và lập </a:t>
            </a:r>
            <a:r>
              <a:rPr lang="en-US" sz="1400">
                <a:solidFill>
                  <a:schemeClr val="accent2">
                    <a:lumMod val="50000"/>
                  </a:schemeClr>
                </a:solidFill>
                <a:latin typeface="Calibri" pitchFamily="34" charset="0"/>
                <a:cs typeface="Calibri" pitchFamily="34" charset="0"/>
              </a:rPr>
              <a:t>kế hoạch quản </a:t>
            </a:r>
            <a:r>
              <a:rPr lang="en-US" sz="1400" smtClean="0">
                <a:solidFill>
                  <a:schemeClr val="accent2">
                    <a:lumMod val="50000"/>
                  </a:schemeClr>
                </a:solidFill>
                <a:latin typeface="Calibri" pitchFamily="34" charset="0"/>
                <a:cs typeface="Calibri" pitchFamily="34" charset="0"/>
              </a:rPr>
              <a:t>lý</a:t>
            </a:r>
            <a:endParaRPr lang="vi-VN" sz="1400">
              <a:solidFill>
                <a:schemeClr val="accent2">
                  <a:lumMod val="50000"/>
                </a:schemeClr>
              </a:solidFill>
              <a:latin typeface="Calibri" pitchFamily="34" charset="0"/>
              <a:cs typeface="Calibri" pitchFamily="34" charset="0"/>
            </a:endParaRPr>
          </a:p>
          <a:p>
            <a:pPr lvl="2">
              <a:buClr>
                <a:srgbClr val="FF0066"/>
              </a:buClr>
            </a:pPr>
            <a:r>
              <a:rPr lang="en-US" sz="1400">
                <a:solidFill>
                  <a:schemeClr val="accent2">
                    <a:lumMod val="50000"/>
                  </a:schemeClr>
                </a:solidFill>
                <a:latin typeface="Calibri" pitchFamily="34" charset="0"/>
                <a:cs typeface="Calibri" pitchFamily="34" charset="0"/>
              </a:rPr>
              <a:t>Mở rộng thị trường </a:t>
            </a:r>
            <a:r>
              <a:rPr lang="en-US" sz="1400" smtClean="0">
                <a:solidFill>
                  <a:schemeClr val="accent2">
                    <a:lumMod val="50000"/>
                  </a:schemeClr>
                </a:solidFill>
                <a:latin typeface="Calibri" pitchFamily="34" charset="0"/>
                <a:cs typeface="Calibri" pitchFamily="34" charset="0"/>
              </a:rPr>
              <a:t>hoạt động</a:t>
            </a:r>
            <a:endParaRPr lang="vi-VN" sz="14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20</a:t>
            </a:fld>
            <a:endParaRPr lang="vi-VN"/>
          </a:p>
        </p:txBody>
      </p:sp>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b="1" smtClean="0">
                <a:solidFill>
                  <a:schemeClr val="accent6">
                    <a:lumMod val="75000"/>
                  </a:schemeClr>
                </a:solidFill>
                <a:ea typeface="+mj-ea"/>
                <a:cs typeface="Arial" pitchFamily="34" charset="0"/>
              </a:rPr>
              <a:t>2.1 Đánh giá tính khả thi kinh tế</a:t>
            </a:r>
          </a:p>
          <a:p>
            <a:pPr marL="3175" lvl="1"/>
            <a:r>
              <a:rPr lang="vi-VN" sz="1200">
                <a:solidFill>
                  <a:schemeClr val="tx2"/>
                </a:solidFill>
                <a:cs typeface="Arial" pitchFamily="34" charset="0"/>
              </a:rPr>
              <a:t>2.2 Đánh giá tính khả thi kỹ </a:t>
            </a:r>
            <a:r>
              <a:rPr lang="vi-VN" sz="1200" smtClean="0">
                <a:solidFill>
                  <a:schemeClr val="tx2"/>
                </a:solidFill>
                <a:cs typeface="Arial" pitchFamily="34" charset="0"/>
              </a:rPr>
              <a:t>thuật</a:t>
            </a:r>
          </a:p>
          <a:p>
            <a:pPr marL="3175" lvl="1"/>
            <a:r>
              <a:rPr lang="vi-VN" sz="1200" smtClean="0">
                <a:solidFill>
                  <a:schemeClr val="tx2"/>
                </a:solidFill>
                <a:cs typeface="Arial" pitchFamily="34" charset="0"/>
              </a:rPr>
              <a:t>2.3 Đánh giá tính khả thi </a:t>
            </a:r>
            <a:r>
              <a:rPr lang="vi-VN" sz="1200">
                <a:solidFill>
                  <a:schemeClr val="tx2"/>
                </a:solidFill>
                <a:cs typeface="Arial" pitchFamily="34" charset="0"/>
              </a:rPr>
              <a:t>hoạt động</a:t>
            </a:r>
          </a:p>
          <a:p>
            <a:pPr marL="3175" lvl="1"/>
            <a:r>
              <a:rPr lang="vi-VN" sz="1200" smtClean="0">
                <a:solidFill>
                  <a:schemeClr val="tx2"/>
                </a:solidFill>
                <a:cs typeface="Arial" pitchFamily="34" charset="0"/>
              </a:rPr>
              <a:t>2.4 Đánh giá tính khả thi khác</a:t>
            </a:r>
            <a:endParaRPr lang="vi-VN" sz="1200">
              <a:solidFill>
                <a:schemeClr val="tx2"/>
              </a:solidFill>
              <a:cs typeface="Arial" pitchFamily="34" charset="0"/>
            </a:endParaRPr>
          </a:p>
          <a:p>
            <a:pPr marL="3175" lvl="1"/>
            <a:endParaRPr lang="vi-VN" sz="1200" b="1">
              <a:solidFill>
                <a:schemeClr val="accent6">
                  <a:lumMod val="75000"/>
                </a:schemeClr>
              </a:solidFill>
              <a:ea typeface="+mj-ea"/>
              <a:cs typeface="Arial" pitchFamily="34" charset="0"/>
            </a:endParaRPr>
          </a:p>
        </p:txBody>
      </p:sp>
      <p:sp>
        <p:nvSpPr>
          <p:cNvPr id="10"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Các yếu tố đánh giá</a:t>
            </a:r>
            <a:endParaRPr lang="en-US" sz="1300" b="1">
              <a:solidFill>
                <a:schemeClr val="accent6">
                  <a:lumMod val="75000"/>
                </a:schemeClr>
              </a:solidFill>
              <a:latin typeface="Calibri (Body)"/>
              <a:ea typeface="+mj-ea"/>
              <a:cs typeface="Arial" pitchFamily="34" charset="0"/>
            </a:endParaRP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221873924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indent="0" algn="just">
              <a:spcAft>
                <a:spcPts val="683"/>
              </a:spcAft>
              <a:buClr>
                <a:srgbClr val="FF0066"/>
              </a:buClr>
              <a:buNone/>
            </a:pPr>
            <a:r>
              <a:rPr lang="en-US" sz="2000" smtClean="0">
                <a:solidFill>
                  <a:schemeClr val="tx2">
                    <a:lumMod val="75000"/>
                  </a:schemeClr>
                </a:solidFill>
                <a:latin typeface="Calibri" pitchFamily="34" charset="0"/>
                <a:cs typeface="Calibri" pitchFamily="34" charset="0"/>
              </a:rPr>
              <a:t>B1. Xác </a:t>
            </a:r>
            <a:r>
              <a:rPr lang="en-US" sz="2000">
                <a:solidFill>
                  <a:schemeClr val="tx2">
                    <a:lumMod val="75000"/>
                  </a:schemeClr>
                </a:solidFill>
                <a:latin typeface="Calibri" pitchFamily="34" charset="0"/>
                <a:cs typeface="Calibri" pitchFamily="34" charset="0"/>
              </a:rPr>
              <a:t>định lợi nhuận dự </a:t>
            </a:r>
            <a:r>
              <a:rPr lang="en-US" sz="2000" smtClean="0">
                <a:solidFill>
                  <a:schemeClr val="tx2">
                    <a:lumMod val="75000"/>
                  </a:schemeClr>
                </a:solidFill>
                <a:latin typeface="Calibri" pitchFamily="34" charset="0"/>
                <a:cs typeface="Calibri" pitchFamily="34" charset="0"/>
              </a:rPr>
              <a:t>án – Lợi ích hữu hình</a:t>
            </a:r>
            <a:endParaRPr lang="vi-VN" sz="2000" smtClean="0">
              <a:solidFill>
                <a:schemeClr val="tx2">
                  <a:lumMod val="75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Ví </a:t>
            </a:r>
            <a:r>
              <a:rPr lang="en-US" sz="1800">
                <a:solidFill>
                  <a:schemeClr val="accent2">
                    <a:lumMod val="50000"/>
                  </a:schemeClr>
                </a:solidFill>
                <a:latin typeface="Calibri" pitchFamily="34" charset="0"/>
                <a:cs typeface="Calibri" pitchFamily="34" charset="0"/>
              </a:rPr>
              <a:t>dụ minh họa xác định lợi ích hữu hình của hệ thống theo dõi khách hàng tại công ty nội thất PV. Các bước thực hiện như sau</a:t>
            </a:r>
            <a:r>
              <a:rPr lang="en-US" sz="1800" smtClean="0">
                <a:solidFill>
                  <a:schemeClr val="accent2">
                    <a:lumMod val="50000"/>
                  </a:schemeClr>
                </a:solidFill>
                <a:latin typeface="Calibri" pitchFamily="34" charset="0"/>
                <a:cs typeface="Calibri" pitchFamily="34" charset="0"/>
              </a:rPr>
              <a:t>:</a:t>
            </a:r>
          </a:p>
          <a:p>
            <a:pPr marL="626907" lvl="1" indent="-171450" algn="just">
              <a:spcAft>
                <a:spcPts val="683"/>
              </a:spcAft>
              <a:buClr>
                <a:srgbClr val="FF0066"/>
              </a:buClr>
              <a:buFont typeface="Calibri" pitchFamily="34" charset="0"/>
              <a:buChar char="—"/>
            </a:pPr>
            <a:r>
              <a:rPr lang="en-US" sz="1600" smtClean="0">
                <a:solidFill>
                  <a:schemeClr val="accent2">
                    <a:lumMod val="50000"/>
                  </a:schemeClr>
                </a:solidFill>
                <a:latin typeface="Calibri" pitchFamily="34" charset="0"/>
                <a:cs typeface="Calibri" pitchFamily="34" charset="0"/>
              </a:rPr>
              <a:t> Phỏng vấn người chịu trách nhiệm thu thập, nhập liệu và phân tích tính đúng đắn của dữ liệu theo dõi khách hàng hiện tại. </a:t>
            </a:r>
          </a:p>
          <a:p>
            <a:pPr marL="809625" lvl="2" indent="-180975" algn="just">
              <a:spcAft>
                <a:spcPts val="683"/>
              </a:spcAft>
              <a:buClr>
                <a:srgbClr val="FF0066"/>
              </a:buClr>
            </a:pPr>
            <a:r>
              <a:rPr lang="en-US" sz="1400" smtClean="0">
                <a:solidFill>
                  <a:schemeClr val="accent2">
                    <a:lumMod val="50000"/>
                  </a:schemeClr>
                </a:solidFill>
                <a:latin typeface="Calibri" pitchFamily="34" charset="0"/>
                <a:cs typeface="Calibri" pitchFamily="34" charset="0"/>
              </a:rPr>
              <a:t>Người </a:t>
            </a:r>
            <a:r>
              <a:rPr lang="en-US" sz="1400">
                <a:solidFill>
                  <a:schemeClr val="accent2">
                    <a:lumMod val="50000"/>
                  </a:schemeClr>
                </a:solidFill>
                <a:latin typeface="Calibri" pitchFamily="34" charset="0"/>
                <a:cs typeface="Calibri" pitchFamily="34" charset="0"/>
              </a:rPr>
              <a:t>này ước tính dành 10% thời gian để sửa lỗi nhập dữ liệu, lương của người này là $</a:t>
            </a:r>
            <a:r>
              <a:rPr lang="en-US" sz="1400" smtClean="0">
                <a:solidFill>
                  <a:schemeClr val="accent2">
                    <a:lumMod val="50000"/>
                  </a:schemeClr>
                </a:solidFill>
                <a:latin typeface="Calibri" pitchFamily="34" charset="0"/>
                <a:cs typeface="Calibri" pitchFamily="34" charset="0"/>
              </a:rPr>
              <a:t>25,000 </a:t>
            </a:r>
            <a:r>
              <a:rPr lang="en-US" sz="1400">
                <a:solidFill>
                  <a:schemeClr val="accent2">
                    <a:lumMod val="50000"/>
                  </a:schemeClr>
                </a:solidFill>
                <a:latin typeface="Calibri" pitchFamily="34" charset="0"/>
                <a:cs typeface="Calibri" pitchFamily="34" charset="0"/>
              </a:rPr>
              <a:t>nên ước tính lợi ích giảm lỗi là $</a:t>
            </a:r>
            <a:r>
              <a:rPr lang="en-US" sz="1400" smtClean="0">
                <a:solidFill>
                  <a:schemeClr val="accent2">
                    <a:lumMod val="50000"/>
                  </a:schemeClr>
                </a:solidFill>
                <a:latin typeface="Calibri" pitchFamily="34" charset="0"/>
                <a:cs typeface="Calibri" pitchFamily="34" charset="0"/>
              </a:rPr>
              <a:t>2,500</a:t>
            </a:r>
            <a:r>
              <a:rPr lang="en-US" sz="1400">
                <a:solidFill>
                  <a:schemeClr val="accent2">
                    <a:lumMod val="50000"/>
                  </a:schemeClr>
                </a:solidFill>
                <a:latin typeface="Calibri" pitchFamily="34" charset="0"/>
                <a:cs typeface="Calibri" pitchFamily="34" charset="0"/>
              </a:rPr>
              <a:t>.</a:t>
            </a:r>
            <a:endParaRPr lang="vi-VN" sz="1400">
              <a:solidFill>
                <a:schemeClr val="accent2">
                  <a:lumMod val="50000"/>
                </a:schemeClr>
              </a:solidFill>
              <a:latin typeface="Calibri" pitchFamily="34" charset="0"/>
              <a:cs typeface="Calibri" pitchFamily="34" charset="0"/>
            </a:endParaRPr>
          </a:p>
          <a:p>
            <a:pPr marL="626907" lvl="1" indent="-171450" algn="just">
              <a:spcAft>
                <a:spcPts val="683"/>
              </a:spcAft>
              <a:buClr>
                <a:srgbClr val="FF0066"/>
              </a:buClr>
              <a:buFont typeface="Calibri" pitchFamily="34" charset="0"/>
              <a:buChar char="—"/>
            </a:pPr>
            <a:r>
              <a:rPr lang="en-US" sz="1600" smtClean="0">
                <a:solidFill>
                  <a:schemeClr val="accent2">
                    <a:lumMod val="50000"/>
                  </a:schemeClr>
                </a:solidFill>
                <a:latin typeface="Calibri" pitchFamily="34" charset="0"/>
                <a:cs typeface="Calibri" pitchFamily="34" charset="0"/>
              </a:rPr>
              <a:t> Phỏng </a:t>
            </a:r>
            <a:r>
              <a:rPr lang="en-US" sz="1600">
                <a:solidFill>
                  <a:schemeClr val="accent2">
                    <a:lumMod val="50000"/>
                  </a:schemeClr>
                </a:solidFill>
                <a:latin typeface="Calibri" pitchFamily="34" charset="0"/>
                <a:cs typeface="Calibri" pitchFamily="34" charset="0"/>
              </a:rPr>
              <a:t>vấn những người quản lý sử dụng các báo cáo theo dõi khách hàng hiện tại để ước tính lợi ích hữu hình khác. </a:t>
            </a:r>
            <a:endParaRPr lang="vi-VN" sz="1600">
              <a:solidFill>
                <a:schemeClr val="accent2">
                  <a:lumMod val="50000"/>
                </a:schemeClr>
              </a:solidFill>
              <a:latin typeface="Calibri" pitchFamily="34" charset="0"/>
              <a:cs typeface="Calibri" pitchFamily="34" charset="0"/>
            </a:endParaRPr>
          </a:p>
          <a:p>
            <a:pPr marL="804863" lvl="2" indent="-171450" algn="just">
              <a:buClr>
                <a:srgbClr val="FF0066"/>
              </a:buClr>
            </a:pPr>
            <a:r>
              <a:rPr lang="en-US" sz="1400">
                <a:solidFill>
                  <a:schemeClr val="accent2">
                    <a:lumMod val="50000"/>
                  </a:schemeClr>
                </a:solidFill>
                <a:latin typeface="Calibri" pitchFamily="34" charset="0"/>
                <a:cs typeface="Calibri" pitchFamily="34" charset="0"/>
              </a:rPr>
              <a:t>Có thể giảm chi phí nếu hàng tồn kho được quản lý tốt </a:t>
            </a:r>
            <a:endParaRPr lang="en-US" sz="1400" smtClean="0">
              <a:solidFill>
                <a:schemeClr val="accent2">
                  <a:lumMod val="50000"/>
                </a:schemeClr>
              </a:solidFill>
              <a:latin typeface="Calibri" pitchFamily="34" charset="0"/>
              <a:cs typeface="Calibri" pitchFamily="34" charset="0"/>
            </a:endParaRPr>
          </a:p>
          <a:p>
            <a:pPr marL="633413" lvl="2" indent="0" algn="just">
              <a:spcBef>
                <a:spcPts val="0"/>
              </a:spcBef>
              <a:spcAft>
                <a:spcPts val="683"/>
              </a:spcAft>
              <a:buClr>
                <a:srgbClr val="FF0066"/>
              </a:buClr>
              <a:buNone/>
            </a:pPr>
            <a:r>
              <a:rPr lang="en-US" sz="1400" smtClean="0">
                <a:solidFill>
                  <a:schemeClr val="accent2">
                    <a:lumMod val="50000"/>
                  </a:schemeClr>
                </a:solidFill>
                <a:latin typeface="Calibri" pitchFamily="34" charset="0"/>
                <a:cs typeface="Calibri" pitchFamily="34" charset="0"/>
              </a:rPr>
              <a:t>hơn</a:t>
            </a:r>
            <a:r>
              <a:rPr lang="en-US" sz="1400">
                <a:solidFill>
                  <a:schemeClr val="accent2">
                    <a:lumMod val="50000"/>
                  </a:schemeClr>
                </a:solidFill>
                <a:latin typeface="Calibri" pitchFamily="34" charset="0"/>
                <a:cs typeface="Calibri" pitchFamily="34" charset="0"/>
              </a:rPr>
              <a:t>. </a:t>
            </a:r>
            <a:endParaRPr lang="en-US" sz="1400" smtClean="0">
              <a:solidFill>
                <a:schemeClr val="accent2">
                  <a:lumMod val="50000"/>
                </a:schemeClr>
              </a:solidFill>
              <a:latin typeface="Calibri" pitchFamily="34" charset="0"/>
              <a:cs typeface="Calibri" pitchFamily="34" charset="0"/>
            </a:endParaRPr>
          </a:p>
          <a:p>
            <a:pPr marL="804863" lvl="2" indent="-171450" algn="just">
              <a:spcBef>
                <a:spcPts val="0"/>
              </a:spcBef>
              <a:buClr>
                <a:srgbClr val="FF0066"/>
              </a:buClr>
            </a:pPr>
            <a:r>
              <a:rPr lang="en-US" sz="1400" smtClean="0">
                <a:solidFill>
                  <a:schemeClr val="accent2">
                    <a:lumMod val="50000"/>
                  </a:schemeClr>
                </a:solidFill>
                <a:latin typeface="Calibri" pitchFamily="34" charset="0"/>
                <a:cs typeface="Calibri" pitchFamily="34" charset="0"/>
              </a:rPr>
              <a:t>Ngoài </a:t>
            </a:r>
            <a:r>
              <a:rPr lang="en-US" sz="1400">
                <a:solidFill>
                  <a:schemeClr val="accent2">
                    <a:lumMod val="50000"/>
                  </a:schemeClr>
                </a:solidFill>
                <a:latin typeface="Calibri" pitchFamily="34" charset="0"/>
                <a:cs typeface="Calibri" pitchFamily="34" charset="0"/>
              </a:rPr>
              <a:t>ra, việc giảm thời gian sắp xếp lại dữ liệu thủ </a:t>
            </a:r>
            <a:r>
              <a:rPr lang="en-US" sz="1400" smtClean="0">
                <a:solidFill>
                  <a:schemeClr val="accent2">
                    <a:lumMod val="50000"/>
                  </a:schemeClr>
                </a:solidFill>
                <a:latin typeface="Calibri" pitchFamily="34" charset="0"/>
                <a:cs typeface="Calibri" pitchFamily="34" charset="0"/>
              </a:rPr>
              <a:t> </a:t>
            </a:r>
          </a:p>
          <a:p>
            <a:pPr marL="633413" lvl="2" indent="0" algn="just">
              <a:spcBef>
                <a:spcPts val="0"/>
              </a:spcBef>
              <a:buClr>
                <a:srgbClr val="FF0066"/>
              </a:buClr>
              <a:buNone/>
            </a:pPr>
            <a:r>
              <a:rPr lang="en-US" sz="1400" smtClean="0">
                <a:solidFill>
                  <a:schemeClr val="accent2">
                    <a:lumMod val="50000"/>
                  </a:schemeClr>
                </a:solidFill>
                <a:latin typeface="Calibri" pitchFamily="34" charset="0"/>
                <a:cs typeface="Calibri" pitchFamily="34" charset="0"/>
              </a:rPr>
              <a:t>công </a:t>
            </a:r>
            <a:r>
              <a:rPr lang="en-US" sz="1400">
                <a:solidFill>
                  <a:schemeClr val="accent2">
                    <a:lumMod val="50000"/>
                  </a:schemeClr>
                </a:solidFill>
                <a:latin typeface="Calibri" pitchFamily="34" charset="0"/>
                <a:cs typeface="Calibri" pitchFamily="34" charset="0"/>
              </a:rPr>
              <a:t>cho các mục đích khác nhau sẽ làm tăng tính linh </a:t>
            </a:r>
            <a:endParaRPr lang="en-US" sz="1400" smtClean="0">
              <a:solidFill>
                <a:schemeClr val="accent2">
                  <a:lumMod val="50000"/>
                </a:schemeClr>
              </a:solidFill>
              <a:latin typeface="Calibri" pitchFamily="34" charset="0"/>
              <a:cs typeface="Calibri" pitchFamily="34" charset="0"/>
            </a:endParaRPr>
          </a:p>
          <a:p>
            <a:pPr marL="633413" lvl="2" indent="0" algn="just">
              <a:spcAft>
                <a:spcPts val="683"/>
              </a:spcAft>
              <a:buClr>
                <a:srgbClr val="FF0066"/>
              </a:buClr>
              <a:buNone/>
            </a:pPr>
            <a:r>
              <a:rPr lang="en-US" sz="1400" smtClean="0">
                <a:solidFill>
                  <a:schemeClr val="accent2">
                    <a:lumMod val="50000"/>
                  </a:schemeClr>
                </a:solidFill>
                <a:latin typeface="Calibri" pitchFamily="34" charset="0"/>
                <a:cs typeface="Calibri" pitchFamily="34" charset="0"/>
              </a:rPr>
              <a:t>hoạt </a:t>
            </a:r>
            <a:r>
              <a:rPr lang="en-US" sz="1400">
                <a:solidFill>
                  <a:schemeClr val="accent2">
                    <a:lumMod val="50000"/>
                  </a:schemeClr>
                </a:solidFill>
                <a:latin typeface="Calibri" pitchFamily="34" charset="0"/>
                <a:cs typeface="Calibri" pitchFamily="34" charset="0"/>
              </a:rPr>
              <a:t>của hệ thống. </a:t>
            </a:r>
            <a:endParaRPr lang="vi-VN" sz="1400">
              <a:solidFill>
                <a:schemeClr val="accent2">
                  <a:lumMod val="50000"/>
                </a:schemeClr>
              </a:solidFill>
              <a:latin typeface="Calibri" pitchFamily="34" charset="0"/>
              <a:cs typeface="Calibri" pitchFamily="34" charset="0"/>
            </a:endParaRPr>
          </a:p>
          <a:p>
            <a:pPr algn="just">
              <a:buClr>
                <a:srgbClr val="FF0066"/>
              </a:buClr>
              <a:buFont typeface="Symbol" pitchFamily="18" charset="2"/>
              <a:buChar char="¨"/>
            </a:pPr>
            <a:r>
              <a:rPr lang="en-US" sz="1800">
                <a:solidFill>
                  <a:schemeClr val="accent2">
                    <a:lumMod val="50000"/>
                  </a:schemeClr>
                </a:solidFill>
                <a:latin typeface="Calibri" pitchFamily="34" charset="0"/>
                <a:cs typeface="Calibri" pitchFamily="34" charset="0"/>
              </a:rPr>
              <a:t>Phân tích này dự báo rằng lợi ích từ hệ thống </a:t>
            </a:r>
          </a:p>
          <a:p>
            <a:pPr marL="0" indent="0" algn="just">
              <a:spcBef>
                <a:spcPts val="0"/>
              </a:spcBef>
              <a:buClr>
                <a:srgbClr val="FF0066"/>
              </a:buClr>
              <a:buNone/>
            </a:pPr>
            <a:r>
              <a:rPr lang="en-US" sz="1800" smtClean="0">
                <a:solidFill>
                  <a:schemeClr val="accent2">
                    <a:lumMod val="50000"/>
                  </a:schemeClr>
                </a:solidFill>
                <a:latin typeface="Calibri" pitchFamily="34" charset="0"/>
                <a:cs typeface="Calibri" pitchFamily="34" charset="0"/>
              </a:rPr>
              <a:t>sẽ </a:t>
            </a:r>
            <a:r>
              <a:rPr lang="en-US" sz="1800">
                <a:solidFill>
                  <a:schemeClr val="accent2">
                    <a:lumMod val="50000"/>
                  </a:schemeClr>
                </a:solidFill>
                <a:latin typeface="Calibri" pitchFamily="34" charset="0"/>
                <a:cs typeface="Calibri" pitchFamily="34" charset="0"/>
              </a:rPr>
              <a:t>được khoảng $ 50,000 mỗi năm.</a:t>
            </a: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21</a:t>
            </a:fld>
            <a:endParaRPr lang="vi-VN"/>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7516" y="3789040"/>
            <a:ext cx="4905375" cy="2638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b="1" smtClean="0">
                <a:solidFill>
                  <a:schemeClr val="accent6">
                    <a:lumMod val="75000"/>
                  </a:schemeClr>
                </a:solidFill>
                <a:ea typeface="+mj-ea"/>
                <a:cs typeface="Arial" pitchFamily="34" charset="0"/>
              </a:rPr>
              <a:t>2.1 Đánh giá tính khả thi kinh tế</a:t>
            </a:r>
          </a:p>
          <a:p>
            <a:pPr marL="3175" lvl="1"/>
            <a:r>
              <a:rPr lang="vi-VN" sz="1200" smtClean="0">
                <a:solidFill>
                  <a:schemeClr val="tx2"/>
                </a:solidFill>
                <a:cs typeface="Arial" pitchFamily="34" charset="0"/>
              </a:rPr>
              <a:t>2.2 Đánh giá tính khả thi </a:t>
            </a:r>
            <a:r>
              <a:rPr lang="vi-VN" sz="1200">
                <a:solidFill>
                  <a:schemeClr val="tx2"/>
                </a:solidFill>
                <a:cs typeface="Arial" pitchFamily="34" charset="0"/>
              </a:rPr>
              <a:t>kỹ thuật</a:t>
            </a:r>
          </a:p>
          <a:p>
            <a:pPr marL="3175" lvl="1"/>
            <a:r>
              <a:rPr lang="vi-VN" sz="1200" smtClean="0">
                <a:solidFill>
                  <a:schemeClr val="tx2"/>
                </a:solidFill>
                <a:cs typeface="Arial" pitchFamily="34" charset="0"/>
              </a:rPr>
              <a:t>2.3 Đánh giá tính khả thi </a:t>
            </a:r>
            <a:r>
              <a:rPr lang="vi-VN" sz="1200">
                <a:solidFill>
                  <a:schemeClr val="tx2"/>
                </a:solidFill>
                <a:cs typeface="Arial" pitchFamily="34" charset="0"/>
              </a:rPr>
              <a:t>hoạt động</a:t>
            </a:r>
          </a:p>
          <a:p>
            <a:pPr marL="3175" lvl="1"/>
            <a:r>
              <a:rPr lang="vi-VN" sz="1200" smtClean="0">
                <a:solidFill>
                  <a:schemeClr val="tx2"/>
                </a:solidFill>
                <a:cs typeface="Arial" pitchFamily="34" charset="0"/>
              </a:rPr>
              <a:t>2.4 Đánh giá tính khả thi khác</a:t>
            </a:r>
            <a:endParaRPr lang="vi-VN" sz="1200">
              <a:solidFill>
                <a:schemeClr val="tx2"/>
              </a:solidFill>
              <a:cs typeface="Arial" pitchFamily="34" charset="0"/>
            </a:endParaRPr>
          </a:p>
          <a:p>
            <a:pPr marL="3175" lvl="1"/>
            <a:endParaRPr lang="vi-VN" sz="1200" b="1">
              <a:solidFill>
                <a:schemeClr val="accent6">
                  <a:lumMod val="75000"/>
                </a:schemeClr>
              </a:solidFill>
              <a:ea typeface="+mj-ea"/>
              <a:cs typeface="Arial" pitchFamily="34" charset="0"/>
            </a:endParaRPr>
          </a:p>
        </p:txBody>
      </p:sp>
      <p:sp>
        <p:nvSpPr>
          <p:cNvPr id="10"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Các yếu tố đánh giá</a:t>
            </a:r>
            <a:endParaRPr lang="en-US" sz="1300" b="1">
              <a:solidFill>
                <a:schemeClr val="accent6">
                  <a:lumMod val="75000"/>
                </a:schemeClr>
              </a:solidFill>
              <a:latin typeface="Calibri (Body)"/>
              <a:ea typeface="+mj-ea"/>
              <a:cs typeface="Arial" pitchFamily="34" charset="0"/>
            </a:endParaRP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1186755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indent="0" algn="just">
              <a:spcAft>
                <a:spcPts val="683"/>
              </a:spcAft>
              <a:buClr>
                <a:srgbClr val="FF0066"/>
              </a:buClr>
              <a:buNone/>
            </a:pPr>
            <a:r>
              <a:rPr lang="en-US" sz="2000" smtClean="0">
                <a:solidFill>
                  <a:schemeClr val="tx2">
                    <a:lumMod val="75000"/>
                  </a:schemeClr>
                </a:solidFill>
                <a:latin typeface="Calibri" pitchFamily="34" charset="0"/>
                <a:cs typeface="Calibri" pitchFamily="34" charset="0"/>
              </a:rPr>
              <a:t>B1. Xác </a:t>
            </a:r>
            <a:r>
              <a:rPr lang="en-US" sz="2000">
                <a:solidFill>
                  <a:schemeClr val="tx2">
                    <a:lumMod val="75000"/>
                  </a:schemeClr>
                </a:solidFill>
                <a:latin typeface="Calibri" pitchFamily="34" charset="0"/>
                <a:cs typeface="Calibri" pitchFamily="34" charset="0"/>
              </a:rPr>
              <a:t>định lợi nhuận dự </a:t>
            </a:r>
            <a:r>
              <a:rPr lang="en-US" sz="2000" smtClean="0">
                <a:solidFill>
                  <a:schemeClr val="tx2">
                    <a:lumMod val="75000"/>
                  </a:schemeClr>
                </a:solidFill>
                <a:latin typeface="Calibri" pitchFamily="34" charset="0"/>
                <a:cs typeface="Calibri" pitchFamily="34" charset="0"/>
              </a:rPr>
              <a:t>án – Lợi ích vô hình</a:t>
            </a:r>
            <a:endParaRPr lang="vi-VN" sz="2000" smtClean="0">
              <a:solidFill>
                <a:schemeClr val="tx2">
                  <a:lumMod val="75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Lợi </a:t>
            </a:r>
            <a:r>
              <a:rPr lang="en-US" sz="1800">
                <a:solidFill>
                  <a:schemeClr val="accent2">
                    <a:lumMod val="50000"/>
                  </a:schemeClr>
                </a:solidFill>
                <a:latin typeface="Calibri" pitchFamily="34" charset="0"/>
                <a:cs typeface="Calibri" pitchFamily="34" charset="0"/>
              </a:rPr>
              <a:t>ích vô hình là lợi ích không thể dễ dàng đo được bằng </a:t>
            </a:r>
            <a:r>
              <a:rPr lang="en-US" sz="1800" smtClean="0">
                <a:solidFill>
                  <a:schemeClr val="accent2">
                    <a:lumMod val="50000"/>
                  </a:schemeClr>
                </a:solidFill>
                <a:latin typeface="Calibri" pitchFamily="34" charset="0"/>
                <a:cs typeface="Calibri" pitchFamily="34" charset="0"/>
              </a:rPr>
              <a:t>tiền và mang lại lợi ích trực tiếp cho tổ chức, ví dụ:</a:t>
            </a:r>
          </a:p>
          <a:p>
            <a:pPr lvl="1">
              <a:buClr>
                <a:srgbClr val="FF0066"/>
              </a:buClr>
            </a:pPr>
            <a:r>
              <a:rPr lang="en-US" sz="1600">
                <a:solidFill>
                  <a:schemeClr val="accent2">
                    <a:lumMod val="50000"/>
                  </a:schemeClr>
                </a:solidFill>
                <a:latin typeface="Calibri" pitchFamily="34" charset="0"/>
                <a:cs typeface="Calibri" pitchFamily="34" charset="0"/>
              </a:rPr>
              <a:t>L</a:t>
            </a:r>
            <a:r>
              <a:rPr lang="en-US" sz="1600" smtClean="0">
                <a:solidFill>
                  <a:schemeClr val="accent2">
                    <a:lumMod val="50000"/>
                  </a:schemeClr>
                </a:solidFill>
                <a:latin typeface="Calibri" pitchFamily="34" charset="0"/>
                <a:cs typeface="Calibri" pitchFamily="34" charset="0"/>
              </a:rPr>
              <a:t>ợi </a:t>
            </a:r>
            <a:r>
              <a:rPr lang="en-US" sz="1600">
                <a:solidFill>
                  <a:schemeClr val="accent2">
                    <a:lumMod val="50000"/>
                  </a:schemeClr>
                </a:solidFill>
                <a:latin typeface="Calibri" pitchFamily="34" charset="0"/>
                <a:cs typeface="Calibri" pitchFamily="34" charset="0"/>
              </a:rPr>
              <a:t>ích nâng cao tinh thần làm việc nhân </a:t>
            </a:r>
            <a:r>
              <a:rPr lang="en-US" sz="1600" smtClean="0">
                <a:solidFill>
                  <a:schemeClr val="accent2">
                    <a:lumMod val="50000"/>
                  </a:schemeClr>
                </a:solidFill>
                <a:latin typeface="Calibri" pitchFamily="34" charset="0"/>
                <a:cs typeface="Calibri" pitchFamily="34" charset="0"/>
              </a:rPr>
              <a:t>viên</a:t>
            </a:r>
            <a:endParaRPr lang="en-US" sz="1600" smtClean="0">
              <a:solidFill>
                <a:schemeClr val="accent2">
                  <a:lumMod val="50000"/>
                </a:schemeClr>
              </a:solidFill>
              <a:latin typeface="Calibri" pitchFamily="34" charset="0"/>
              <a:cs typeface="Calibri" pitchFamily="34" charset="0"/>
            </a:endParaRPr>
          </a:p>
          <a:p>
            <a:pPr lvl="1">
              <a:spcAft>
                <a:spcPts val="600"/>
              </a:spcAft>
              <a:buClr>
                <a:srgbClr val="FF0066"/>
              </a:buClr>
            </a:pPr>
            <a:r>
              <a:rPr lang="en-US" sz="1600" smtClean="0">
                <a:solidFill>
                  <a:schemeClr val="accent2">
                    <a:lumMod val="50000"/>
                  </a:schemeClr>
                </a:solidFill>
                <a:latin typeface="Calibri" pitchFamily="34" charset="0"/>
                <a:cs typeface="Calibri" pitchFamily="34" charset="0"/>
              </a:rPr>
              <a:t>Lợi </a:t>
            </a:r>
            <a:r>
              <a:rPr lang="en-US" sz="1600">
                <a:solidFill>
                  <a:schemeClr val="accent2">
                    <a:lumMod val="50000"/>
                  </a:schemeClr>
                </a:solidFill>
                <a:latin typeface="Calibri" pitchFamily="34" charset="0"/>
                <a:cs typeface="Calibri" pitchFamily="34" charset="0"/>
              </a:rPr>
              <a:t>ích của việc giảm chất thải hoặc giảm tiêu thụ tài </a:t>
            </a:r>
            <a:r>
              <a:rPr lang="en-US" sz="1600" smtClean="0">
                <a:solidFill>
                  <a:schemeClr val="accent2">
                    <a:lumMod val="50000"/>
                  </a:schemeClr>
                </a:solidFill>
                <a:latin typeface="Calibri" pitchFamily="34" charset="0"/>
                <a:cs typeface="Calibri" pitchFamily="34" charset="0"/>
              </a:rPr>
              <a:t>nguyên</a:t>
            </a:r>
          </a:p>
          <a:p>
            <a:pPr lvl="1">
              <a:spcAft>
                <a:spcPts val="600"/>
              </a:spcAft>
              <a:buClr>
                <a:srgbClr val="FF0066"/>
              </a:buClr>
            </a:pPr>
            <a:r>
              <a:rPr lang="en-US" sz="1600" smtClean="0">
                <a:solidFill>
                  <a:schemeClr val="accent2">
                    <a:lumMod val="50000"/>
                  </a:schemeClr>
                </a:solidFill>
                <a:latin typeface="Calibri" pitchFamily="34" charset="0"/>
                <a:cs typeface="Calibri" pitchFamily="34" charset="0"/>
              </a:rPr>
              <a:t>Lợi ích của việc tăng sự hài  lòng của khách hàng…</a:t>
            </a:r>
            <a:endParaRPr lang="en-US" sz="16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en-US" sz="1800" i="1" smtClean="0">
                <a:solidFill>
                  <a:schemeClr val="accent2">
                    <a:lumMod val="50000"/>
                  </a:schemeClr>
                </a:solidFill>
                <a:latin typeface="Calibri" pitchFamily="34" charset="0"/>
                <a:cs typeface="Calibri" pitchFamily="34" charset="0"/>
              </a:rPr>
              <a:t>Chú ý: </a:t>
            </a:r>
            <a:r>
              <a:rPr lang="en-US" sz="1800" smtClean="0">
                <a:solidFill>
                  <a:schemeClr val="accent2">
                    <a:lumMod val="50000"/>
                  </a:schemeClr>
                </a:solidFill>
                <a:latin typeface="Calibri" pitchFamily="34" charset="0"/>
                <a:cs typeface="Calibri" pitchFamily="34" charset="0"/>
              </a:rPr>
              <a:t>trong giai đoạn Khởi </a:t>
            </a:r>
            <a:r>
              <a:rPr lang="en-US" sz="1800">
                <a:solidFill>
                  <a:schemeClr val="accent2">
                    <a:lumMod val="50000"/>
                  </a:schemeClr>
                </a:solidFill>
                <a:latin typeface="Calibri" pitchFamily="34" charset="0"/>
                <a:cs typeface="Calibri" pitchFamily="34" charset="0"/>
              </a:rPr>
              <a:t>động và lập kế hoạch dự án một số lợi ích hữu hình tiềm năng có thể được coi là các lợi ích vô hình vì lúc này chưa có khả năng đo được giá trị của chúng. Trong giai đoạn sau, các lợi ích vô hình này có thể trở thành lợi ích hữu hình khi ta đã hiểu rõ hơn các chức năng của hệ thống đang thiết kế.</a:t>
            </a:r>
          </a:p>
          <a:p>
            <a:pPr algn="just">
              <a:spcAft>
                <a:spcPts val="683"/>
              </a:spcAft>
              <a:buClr>
                <a:srgbClr val="FF0066"/>
              </a:buClr>
              <a:buFont typeface="Symbol" pitchFamily="18" charset="2"/>
              <a:buChar char="¨"/>
            </a:pPr>
            <a:r>
              <a:rPr lang="en-US" sz="1800">
                <a:solidFill>
                  <a:schemeClr val="accent2">
                    <a:lumMod val="50000"/>
                  </a:schemeClr>
                </a:solidFill>
                <a:latin typeface="Calibri" pitchFamily="34" charset="0"/>
                <a:cs typeface="Calibri" pitchFamily="34" charset="0"/>
              </a:rPr>
              <a:t>Lợi ích vô hình phù hợp với các tiêu chí sau:</a:t>
            </a:r>
            <a:endParaRPr lang="vi-VN" sz="1800">
              <a:solidFill>
                <a:schemeClr val="accent2">
                  <a:lumMod val="50000"/>
                </a:schemeClr>
              </a:solidFill>
              <a:latin typeface="Calibri" pitchFamily="34" charset="0"/>
              <a:cs typeface="Calibri" pitchFamily="34" charset="0"/>
            </a:endParaRPr>
          </a:p>
          <a:p>
            <a:pPr lvl="1">
              <a:buClr>
                <a:srgbClr val="FF0066"/>
              </a:buClr>
            </a:pPr>
            <a:r>
              <a:rPr lang="vi-VN" sz="1600">
                <a:solidFill>
                  <a:schemeClr val="accent2">
                    <a:lumMod val="50000"/>
                  </a:schemeClr>
                </a:solidFill>
                <a:latin typeface="Calibri" pitchFamily="34" charset="0"/>
                <a:cs typeface="Calibri" pitchFamily="34" charset="0"/>
              </a:rPr>
              <a:t>Tăng tính cạnh tranh</a:t>
            </a:r>
          </a:p>
          <a:p>
            <a:pPr lvl="1">
              <a:buClr>
                <a:srgbClr val="FF0066"/>
              </a:buClr>
            </a:pPr>
            <a:r>
              <a:rPr lang="vi-VN" sz="1600">
                <a:solidFill>
                  <a:schemeClr val="accent2">
                    <a:lumMod val="50000"/>
                  </a:schemeClr>
                </a:solidFill>
                <a:latin typeface="Calibri" pitchFamily="34" charset="0"/>
                <a:cs typeface="Calibri" pitchFamily="34" charset="0"/>
              </a:rPr>
              <a:t>Tăng tính linh hoạt của tổ chức</a:t>
            </a:r>
          </a:p>
          <a:p>
            <a:pPr lvl="1">
              <a:buClr>
                <a:srgbClr val="FF0066"/>
              </a:buClr>
            </a:pPr>
            <a:r>
              <a:rPr lang="vi-VN" sz="1600">
                <a:solidFill>
                  <a:schemeClr val="accent2">
                    <a:lumMod val="50000"/>
                  </a:schemeClr>
                </a:solidFill>
                <a:latin typeface="Calibri" pitchFamily="34" charset="0"/>
                <a:cs typeface="Calibri" pitchFamily="34" charset="0"/>
              </a:rPr>
              <a:t>Tăng tinh thần nhân viên</a:t>
            </a:r>
          </a:p>
          <a:p>
            <a:pPr lvl="1">
              <a:buClr>
                <a:srgbClr val="FF0066"/>
              </a:buClr>
            </a:pPr>
            <a:r>
              <a:rPr lang="vi-VN" sz="1600">
                <a:solidFill>
                  <a:schemeClr val="accent2">
                    <a:lumMod val="50000"/>
                  </a:schemeClr>
                </a:solidFill>
                <a:latin typeface="Calibri" pitchFamily="34" charset="0"/>
                <a:cs typeface="Calibri" pitchFamily="34" charset="0"/>
              </a:rPr>
              <a:t>Khuyến khích tổ chức nâng cao nhận thức</a:t>
            </a:r>
          </a:p>
          <a:p>
            <a:pPr lvl="1">
              <a:buClr>
                <a:srgbClr val="FF0066"/>
              </a:buClr>
            </a:pPr>
            <a:r>
              <a:rPr lang="en-US" sz="1600">
                <a:solidFill>
                  <a:schemeClr val="accent2">
                    <a:lumMod val="50000"/>
                  </a:schemeClr>
                </a:solidFill>
                <a:latin typeface="Calibri" pitchFamily="34" charset="0"/>
                <a:cs typeface="Calibri" pitchFamily="34" charset="0"/>
              </a:rPr>
              <a:t>Thông tin kịp thời </a:t>
            </a:r>
          </a:p>
        </p:txBody>
      </p:sp>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22</a:t>
            </a:fld>
            <a:endParaRPr lang="vi-VN"/>
          </a:p>
        </p:txBody>
      </p:sp>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b="1" smtClean="0">
                <a:solidFill>
                  <a:schemeClr val="accent6">
                    <a:lumMod val="75000"/>
                  </a:schemeClr>
                </a:solidFill>
                <a:ea typeface="+mj-ea"/>
                <a:cs typeface="Arial" pitchFamily="34" charset="0"/>
              </a:rPr>
              <a:t>2.1 Đánh giá tính khả thi kinh tế</a:t>
            </a:r>
          </a:p>
          <a:p>
            <a:pPr marL="3175" lvl="1"/>
            <a:r>
              <a:rPr lang="vi-VN" sz="1200" smtClean="0">
                <a:solidFill>
                  <a:schemeClr val="tx2"/>
                </a:solidFill>
                <a:cs typeface="Arial" pitchFamily="34" charset="0"/>
              </a:rPr>
              <a:t>2.2 Đánh giá tính khả thi </a:t>
            </a:r>
            <a:r>
              <a:rPr lang="vi-VN" sz="1200">
                <a:solidFill>
                  <a:schemeClr val="tx2"/>
                </a:solidFill>
                <a:cs typeface="Arial" pitchFamily="34" charset="0"/>
              </a:rPr>
              <a:t>kỹ </a:t>
            </a:r>
            <a:r>
              <a:rPr lang="vi-VN" sz="1200" smtClean="0">
                <a:solidFill>
                  <a:schemeClr val="tx2"/>
                </a:solidFill>
                <a:cs typeface="Arial" pitchFamily="34" charset="0"/>
              </a:rPr>
              <a:t>thuật</a:t>
            </a:r>
          </a:p>
          <a:p>
            <a:pPr marL="3175" lvl="1"/>
            <a:r>
              <a:rPr lang="vi-VN" sz="1200" smtClean="0">
                <a:solidFill>
                  <a:schemeClr val="tx2"/>
                </a:solidFill>
                <a:cs typeface="Arial" pitchFamily="34" charset="0"/>
              </a:rPr>
              <a:t>2.3 Đánh giá tính khả thi </a:t>
            </a:r>
            <a:r>
              <a:rPr lang="vi-VN" sz="1200">
                <a:solidFill>
                  <a:schemeClr val="tx2"/>
                </a:solidFill>
                <a:cs typeface="Arial" pitchFamily="34" charset="0"/>
              </a:rPr>
              <a:t>hoạt động </a:t>
            </a:r>
            <a:endParaRPr lang="en-US" sz="1200" smtClean="0">
              <a:solidFill>
                <a:schemeClr val="tx2"/>
              </a:solidFill>
              <a:cs typeface="Arial" pitchFamily="34" charset="0"/>
            </a:endParaRPr>
          </a:p>
          <a:p>
            <a:pPr marL="3175" lvl="1"/>
            <a:r>
              <a:rPr lang="vi-VN" sz="1200" smtClean="0">
                <a:solidFill>
                  <a:schemeClr val="tx2"/>
                </a:solidFill>
                <a:cs typeface="Arial" pitchFamily="34" charset="0"/>
              </a:rPr>
              <a:t>2.4 Đánh giá tính khả thi khác</a:t>
            </a:r>
            <a:endParaRPr lang="vi-VN" sz="1200">
              <a:solidFill>
                <a:schemeClr val="tx2"/>
              </a:solidFill>
              <a:cs typeface="Arial" pitchFamily="34" charset="0"/>
            </a:endParaRPr>
          </a:p>
          <a:p>
            <a:pPr marL="3175" lvl="1"/>
            <a:endParaRPr lang="vi-VN" sz="1200" b="1">
              <a:solidFill>
                <a:schemeClr val="accent6">
                  <a:lumMod val="75000"/>
                </a:schemeClr>
              </a:solidFill>
              <a:ea typeface="+mj-ea"/>
              <a:cs typeface="Arial" pitchFamily="34" charset="0"/>
            </a:endParaRPr>
          </a:p>
        </p:txBody>
      </p:sp>
      <p:sp>
        <p:nvSpPr>
          <p:cNvPr id="10"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Các yếu tố đánh giá</a:t>
            </a:r>
            <a:endParaRPr lang="en-US" sz="1300" b="1">
              <a:solidFill>
                <a:schemeClr val="accent6">
                  <a:lumMod val="75000"/>
                </a:schemeClr>
              </a:solidFill>
              <a:latin typeface="Calibri (Body)"/>
              <a:ea typeface="+mj-ea"/>
              <a:cs typeface="Arial" pitchFamily="34" charset="0"/>
            </a:endParaRP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10585948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indent="0" algn="just">
              <a:spcAft>
                <a:spcPts val="683"/>
              </a:spcAft>
              <a:buClr>
                <a:srgbClr val="FF0066"/>
              </a:buClr>
              <a:buNone/>
            </a:pPr>
            <a:r>
              <a:rPr lang="en-US" sz="2000" smtClean="0">
                <a:solidFill>
                  <a:srgbClr val="FF0066"/>
                </a:solidFill>
                <a:latin typeface="Calibri" pitchFamily="34" charset="0"/>
                <a:cs typeface="Calibri" pitchFamily="34" charset="0"/>
              </a:rPr>
              <a:t>B2. </a:t>
            </a:r>
            <a:r>
              <a:rPr lang="en-US" sz="2000">
                <a:solidFill>
                  <a:schemeClr val="accent2">
                    <a:lumMod val="50000"/>
                  </a:schemeClr>
                </a:solidFill>
                <a:latin typeface="Calibri" pitchFamily="34" charset="0"/>
                <a:cs typeface="Calibri" pitchFamily="34" charset="0"/>
              </a:rPr>
              <a:t>Xác định </a:t>
            </a:r>
            <a:r>
              <a:rPr lang="en-US" sz="2000" smtClean="0">
                <a:solidFill>
                  <a:schemeClr val="accent2">
                    <a:lumMod val="50000"/>
                  </a:schemeClr>
                </a:solidFill>
                <a:latin typeface="Calibri" pitchFamily="34" charset="0"/>
                <a:cs typeface="Calibri" pitchFamily="34" charset="0"/>
              </a:rPr>
              <a:t>chi phí dự án</a:t>
            </a:r>
            <a:endParaRPr lang="vi-VN" sz="2000" smtClean="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Chi </a:t>
            </a:r>
            <a:r>
              <a:rPr lang="en-US" sz="1800">
                <a:solidFill>
                  <a:schemeClr val="accent2">
                    <a:lumMod val="50000"/>
                  </a:schemeClr>
                </a:solidFill>
                <a:latin typeface="Calibri" pitchFamily="34" charset="0"/>
                <a:cs typeface="Calibri" pitchFamily="34" charset="0"/>
              </a:rPr>
              <a:t>phí của dự án bao gồm cả chi phí hữu hình và chi phí vô hình. </a:t>
            </a:r>
            <a:endParaRPr lang="vi-VN" sz="1800">
              <a:solidFill>
                <a:schemeClr val="accent2">
                  <a:lumMod val="50000"/>
                </a:schemeClr>
              </a:solidFill>
              <a:latin typeface="Calibri" pitchFamily="34" charset="0"/>
              <a:cs typeface="Calibri" pitchFamily="34" charset="0"/>
            </a:endParaRPr>
          </a:p>
          <a:p>
            <a:pPr lvl="1">
              <a:spcAft>
                <a:spcPts val="600"/>
              </a:spcAft>
              <a:buClr>
                <a:srgbClr val="FF0066"/>
              </a:buClr>
            </a:pPr>
            <a:r>
              <a:rPr lang="en-US" sz="1600" smtClean="0">
                <a:solidFill>
                  <a:schemeClr val="accent2">
                    <a:lumMod val="50000"/>
                  </a:schemeClr>
                </a:solidFill>
                <a:latin typeface="Calibri" pitchFamily="34" charset="0"/>
                <a:cs typeface="Calibri" pitchFamily="34" charset="0"/>
              </a:rPr>
              <a:t>Xét </a:t>
            </a:r>
            <a:r>
              <a:rPr lang="en-US" sz="1600">
                <a:solidFill>
                  <a:schemeClr val="accent2">
                    <a:lumMod val="50000"/>
                  </a:schemeClr>
                </a:solidFill>
                <a:latin typeface="Calibri" pitchFamily="34" charset="0"/>
                <a:cs typeface="Calibri" pitchFamily="34" charset="0"/>
              </a:rPr>
              <a:t>trên góc độ phát triển hệ thống, chi phí hữu hình bao gồm các hạng mục như chi phí phần cứng, chi phí lao động và chi phí hoạt động như đào tạo nhân viên và chi phí bảo trì. </a:t>
            </a:r>
            <a:endParaRPr lang="en-US" sz="1600" smtClean="0">
              <a:solidFill>
                <a:schemeClr val="accent2">
                  <a:lumMod val="50000"/>
                </a:schemeClr>
              </a:solidFill>
              <a:latin typeface="Calibri" pitchFamily="34" charset="0"/>
              <a:cs typeface="Calibri" pitchFamily="34" charset="0"/>
            </a:endParaRPr>
          </a:p>
          <a:p>
            <a:pPr lvl="1">
              <a:spcAft>
                <a:spcPts val="600"/>
              </a:spcAft>
              <a:buClr>
                <a:srgbClr val="FF0066"/>
              </a:buClr>
            </a:pPr>
            <a:r>
              <a:rPr lang="en-US" sz="1600" smtClean="0">
                <a:solidFill>
                  <a:schemeClr val="accent2">
                    <a:lumMod val="50000"/>
                  </a:schemeClr>
                </a:solidFill>
                <a:latin typeface="Calibri" pitchFamily="34" charset="0"/>
                <a:cs typeface="Calibri" pitchFamily="34" charset="0"/>
              </a:rPr>
              <a:t>Chi </a:t>
            </a:r>
            <a:r>
              <a:rPr lang="en-US" sz="1600">
                <a:solidFill>
                  <a:schemeClr val="accent2">
                    <a:lumMod val="50000"/>
                  </a:schemeClr>
                </a:solidFill>
                <a:latin typeface="Calibri" pitchFamily="34" charset="0"/>
                <a:cs typeface="Calibri" pitchFamily="34" charset="0"/>
              </a:rPr>
              <a:t>phí vô hình bao gồm các hạng mục như mất thiện chí của khách hàng, giảm tinh thần làm việc của nhân viên hoặc hoạt động không hiệu quả…</a:t>
            </a:r>
            <a:endParaRPr lang="vi-VN" sz="18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en-US" sz="1800">
                <a:solidFill>
                  <a:schemeClr val="accent2">
                    <a:lumMod val="50000"/>
                  </a:schemeClr>
                </a:solidFill>
                <a:latin typeface="Calibri" pitchFamily="34" charset="0"/>
                <a:cs typeface="Calibri" pitchFamily="34" charset="0"/>
              </a:rPr>
              <a:t>Chi phí hữu hình gồm chi phí ban đầu (one-time cost) và chi phí định kỳ (recurring costs). </a:t>
            </a:r>
            <a:endParaRPr lang="vi-VN" sz="1800">
              <a:solidFill>
                <a:schemeClr val="accent2">
                  <a:lumMod val="50000"/>
                </a:schemeClr>
              </a:solidFill>
              <a:latin typeface="Calibri" pitchFamily="34" charset="0"/>
              <a:cs typeface="Calibri" pitchFamily="34" charset="0"/>
            </a:endParaRPr>
          </a:p>
          <a:p>
            <a:pPr lvl="1">
              <a:spcAft>
                <a:spcPts val="600"/>
              </a:spcAft>
              <a:buClr>
                <a:srgbClr val="FF0066"/>
              </a:buClr>
            </a:pPr>
            <a:r>
              <a:rPr lang="en-US" sz="1600">
                <a:solidFill>
                  <a:schemeClr val="accent2">
                    <a:lumMod val="50000"/>
                  </a:schemeClr>
                </a:solidFill>
                <a:latin typeface="Calibri" pitchFamily="34" charset="0"/>
                <a:cs typeface="Calibri" pitchFamily="34" charset="0"/>
              </a:rPr>
              <a:t>Chi phí </a:t>
            </a:r>
            <a:r>
              <a:rPr lang="en-US" sz="1600" smtClean="0">
                <a:solidFill>
                  <a:schemeClr val="accent2">
                    <a:lumMod val="50000"/>
                  </a:schemeClr>
                </a:solidFill>
                <a:latin typeface="Calibri" pitchFamily="34" charset="0"/>
                <a:cs typeface="Calibri" pitchFamily="34" charset="0"/>
              </a:rPr>
              <a:t>ban đầu đề </a:t>
            </a:r>
            <a:r>
              <a:rPr lang="en-US" sz="1600">
                <a:solidFill>
                  <a:schemeClr val="accent2">
                    <a:lumMod val="50000"/>
                  </a:schemeClr>
                </a:solidFill>
                <a:latin typeface="Calibri" pitchFamily="34" charset="0"/>
                <a:cs typeface="Calibri" pitchFamily="34" charset="0"/>
              </a:rPr>
              <a:t>cập đến các chi phí liên quan tới các hoạt động khi khởi tạo, xây dựng và khởi động hệ thống </a:t>
            </a:r>
            <a:r>
              <a:rPr lang="en-US" sz="1600" smtClean="0">
                <a:solidFill>
                  <a:schemeClr val="accent2">
                    <a:lumMod val="50000"/>
                  </a:schemeClr>
                </a:solidFill>
                <a:latin typeface="Calibri" pitchFamily="34" charset="0"/>
                <a:cs typeface="Calibri" pitchFamily="34" charset="0"/>
              </a:rPr>
              <a:t>như: </a:t>
            </a:r>
            <a:endParaRPr lang="vi-VN" sz="1600" smtClean="0">
              <a:solidFill>
                <a:schemeClr val="accent2">
                  <a:lumMod val="50000"/>
                </a:schemeClr>
              </a:solidFill>
              <a:latin typeface="Calibri" pitchFamily="34" charset="0"/>
              <a:cs typeface="Calibri" pitchFamily="34" charset="0"/>
            </a:endParaRPr>
          </a:p>
          <a:p>
            <a:pPr marL="1082364" lvl="2" indent="-171450" algn="just">
              <a:spcAft>
                <a:spcPts val="683"/>
              </a:spcAft>
              <a:buClr>
                <a:srgbClr val="FF0066"/>
              </a:buClr>
            </a:pPr>
            <a:r>
              <a:rPr lang="en-US" sz="1400" smtClean="0">
                <a:solidFill>
                  <a:schemeClr val="accent2">
                    <a:lumMod val="50000"/>
                  </a:schemeClr>
                </a:solidFill>
                <a:latin typeface="Calibri" pitchFamily="34" charset="0"/>
                <a:cs typeface="Calibri" pitchFamily="34" charset="0"/>
              </a:rPr>
              <a:t>Chi phí phát triển hệ thống; Chi phí mua phần cứng và phần mềm mới; Chi phí đào tạo người dùng; Chi phí chuẩn </a:t>
            </a:r>
            <a:r>
              <a:rPr lang="en-US" sz="1400">
                <a:solidFill>
                  <a:schemeClr val="accent2">
                    <a:lumMod val="50000"/>
                  </a:schemeClr>
                </a:solidFill>
                <a:latin typeface="Calibri" pitchFamily="34" charset="0"/>
                <a:cs typeface="Calibri" pitchFamily="34" charset="0"/>
              </a:rPr>
              <a:t>bị </a:t>
            </a:r>
            <a:r>
              <a:rPr lang="en-US" sz="1400" smtClean="0">
                <a:solidFill>
                  <a:schemeClr val="accent2">
                    <a:lumMod val="50000"/>
                  </a:schemeClr>
                </a:solidFill>
                <a:latin typeface="Calibri" pitchFamily="34" charset="0"/>
                <a:cs typeface="Calibri" pitchFamily="34" charset="0"/>
              </a:rPr>
              <a:t>môi trường; Chi phí chuyển </a:t>
            </a:r>
            <a:r>
              <a:rPr lang="en-US" sz="1400">
                <a:solidFill>
                  <a:schemeClr val="accent2">
                    <a:lumMod val="50000"/>
                  </a:schemeClr>
                </a:solidFill>
                <a:latin typeface="Calibri" pitchFamily="34" charset="0"/>
                <a:cs typeface="Calibri" pitchFamily="34" charset="0"/>
              </a:rPr>
              <a:t>đổi dữ liệu </a:t>
            </a:r>
            <a:r>
              <a:rPr lang="en-US" sz="1400" smtClean="0">
                <a:solidFill>
                  <a:schemeClr val="accent2">
                    <a:lumMod val="50000"/>
                  </a:schemeClr>
                </a:solidFill>
                <a:latin typeface="Calibri" pitchFamily="34" charset="0"/>
                <a:cs typeface="Calibri" pitchFamily="34" charset="0"/>
              </a:rPr>
              <a:t>và </a:t>
            </a:r>
            <a:r>
              <a:rPr lang="en-US" sz="1400">
                <a:solidFill>
                  <a:schemeClr val="accent2">
                    <a:lumMod val="50000"/>
                  </a:schemeClr>
                </a:solidFill>
                <a:latin typeface="Calibri" pitchFamily="34" charset="0"/>
                <a:cs typeface="Calibri" pitchFamily="34" charset="0"/>
              </a:rPr>
              <a:t>hệ thống</a:t>
            </a:r>
            <a:r>
              <a:rPr lang="en-US" sz="1400" smtClean="0">
                <a:solidFill>
                  <a:schemeClr val="accent2">
                    <a:lumMod val="50000"/>
                  </a:schemeClr>
                </a:solidFill>
                <a:latin typeface="Calibri" pitchFamily="34" charset="0"/>
                <a:cs typeface="Calibri" pitchFamily="34" charset="0"/>
              </a:rPr>
              <a:t>.</a:t>
            </a:r>
          </a:p>
          <a:p>
            <a:pPr lvl="1">
              <a:spcAft>
                <a:spcPts val="600"/>
              </a:spcAft>
              <a:buClr>
                <a:srgbClr val="FF0066"/>
              </a:buClr>
            </a:pPr>
            <a:r>
              <a:rPr lang="en-US" sz="1600">
                <a:solidFill>
                  <a:schemeClr val="accent2">
                    <a:lumMod val="50000"/>
                  </a:schemeClr>
                </a:solidFill>
                <a:latin typeface="Calibri" pitchFamily="34" charset="0"/>
                <a:cs typeface="Calibri" pitchFamily="34" charset="0"/>
              </a:rPr>
              <a:t>Chi phí </a:t>
            </a:r>
            <a:r>
              <a:rPr lang="en-US" sz="1600" smtClean="0">
                <a:solidFill>
                  <a:schemeClr val="accent2">
                    <a:lumMod val="50000"/>
                  </a:schemeClr>
                </a:solidFill>
                <a:latin typeface="Calibri" pitchFamily="34" charset="0"/>
                <a:cs typeface="Calibri" pitchFamily="34" charset="0"/>
              </a:rPr>
              <a:t>định kỳ đề </a:t>
            </a:r>
            <a:r>
              <a:rPr lang="en-US" sz="1600">
                <a:solidFill>
                  <a:schemeClr val="accent2">
                    <a:lumMod val="50000"/>
                  </a:schemeClr>
                </a:solidFill>
                <a:latin typeface="Calibri" pitchFamily="34" charset="0"/>
                <a:cs typeface="Calibri" pitchFamily="34" charset="0"/>
              </a:rPr>
              <a:t>cập đến các chi phí liên quan tới các hoạt động </a:t>
            </a:r>
            <a:r>
              <a:rPr lang="en-US" sz="1600" smtClean="0">
                <a:solidFill>
                  <a:schemeClr val="accent2">
                    <a:lumMod val="50000"/>
                  </a:schemeClr>
                </a:solidFill>
                <a:latin typeface="Calibri" pitchFamily="34" charset="0"/>
                <a:cs typeface="Calibri" pitchFamily="34" charset="0"/>
              </a:rPr>
              <a:t>phát sinh hàng năm khi vận hành hệ </a:t>
            </a:r>
            <a:r>
              <a:rPr lang="en-US" sz="1600">
                <a:solidFill>
                  <a:schemeClr val="accent2">
                    <a:lumMod val="50000"/>
                  </a:schemeClr>
                </a:solidFill>
                <a:latin typeface="Calibri" pitchFamily="34" charset="0"/>
                <a:cs typeface="Calibri" pitchFamily="34" charset="0"/>
              </a:rPr>
              <a:t>thống như: </a:t>
            </a:r>
            <a:endParaRPr lang="vi-VN" sz="1600">
              <a:solidFill>
                <a:schemeClr val="accent2">
                  <a:lumMod val="50000"/>
                </a:schemeClr>
              </a:solidFill>
              <a:latin typeface="Calibri" pitchFamily="34" charset="0"/>
              <a:cs typeface="Calibri" pitchFamily="34" charset="0"/>
            </a:endParaRPr>
          </a:p>
          <a:p>
            <a:pPr marL="1082364" lvl="2" indent="-171450" algn="just">
              <a:spcAft>
                <a:spcPts val="683"/>
              </a:spcAft>
              <a:buClr>
                <a:srgbClr val="FF0066"/>
              </a:buClr>
            </a:pPr>
            <a:r>
              <a:rPr lang="vi-VN" sz="1400" smtClean="0">
                <a:solidFill>
                  <a:schemeClr val="accent2">
                    <a:lumMod val="50000"/>
                  </a:schemeClr>
                </a:solidFill>
                <a:latin typeface="Calibri" pitchFamily="34" charset="0"/>
                <a:cs typeface="Calibri" pitchFamily="34" charset="0"/>
              </a:rPr>
              <a:t>Chi </a:t>
            </a:r>
            <a:r>
              <a:rPr lang="vi-VN" sz="1400">
                <a:solidFill>
                  <a:schemeClr val="accent2">
                    <a:lumMod val="50000"/>
                  </a:schemeClr>
                </a:solidFill>
                <a:latin typeface="Calibri" pitchFamily="34" charset="0"/>
                <a:cs typeface="Calibri" pitchFamily="34" charset="0"/>
              </a:rPr>
              <a:t>phí bảo hành và sử dụng phần </a:t>
            </a:r>
            <a:r>
              <a:rPr lang="vi-VN" sz="1400" smtClean="0">
                <a:solidFill>
                  <a:schemeClr val="accent2">
                    <a:lumMod val="50000"/>
                  </a:schemeClr>
                </a:solidFill>
                <a:latin typeface="Calibri" pitchFamily="34" charset="0"/>
                <a:cs typeface="Calibri" pitchFamily="34" charset="0"/>
              </a:rPr>
              <a:t>mềm; Chi </a:t>
            </a:r>
            <a:r>
              <a:rPr lang="vi-VN" sz="1400">
                <a:solidFill>
                  <a:schemeClr val="accent2">
                    <a:lumMod val="50000"/>
                  </a:schemeClr>
                </a:solidFill>
                <a:latin typeface="Calibri" pitchFamily="34" charset="0"/>
                <a:cs typeface="Calibri" pitchFamily="34" charset="0"/>
              </a:rPr>
              <a:t>phí phát sinh dung lượng lưu trữ dữ </a:t>
            </a:r>
            <a:r>
              <a:rPr lang="vi-VN" sz="1400" smtClean="0">
                <a:solidFill>
                  <a:schemeClr val="accent2">
                    <a:lumMod val="50000"/>
                  </a:schemeClr>
                </a:solidFill>
                <a:latin typeface="Calibri" pitchFamily="34" charset="0"/>
                <a:cs typeface="Calibri" pitchFamily="34" charset="0"/>
              </a:rPr>
              <a:t>liệu; Chi </a:t>
            </a:r>
            <a:r>
              <a:rPr lang="vi-VN" sz="1400">
                <a:solidFill>
                  <a:schemeClr val="accent2">
                    <a:lumMod val="50000"/>
                  </a:schemeClr>
                </a:solidFill>
                <a:latin typeface="Calibri" pitchFamily="34" charset="0"/>
                <a:cs typeface="Calibri" pitchFamily="34" charset="0"/>
              </a:rPr>
              <a:t>phí phát sinh truyền </a:t>
            </a:r>
            <a:r>
              <a:rPr lang="vi-VN" sz="1400" smtClean="0">
                <a:solidFill>
                  <a:schemeClr val="accent2">
                    <a:lumMod val="50000"/>
                  </a:schemeClr>
                </a:solidFill>
                <a:latin typeface="Calibri" pitchFamily="34" charset="0"/>
                <a:cs typeface="Calibri" pitchFamily="34" charset="0"/>
              </a:rPr>
              <a:t>thông; Chi </a:t>
            </a:r>
            <a:r>
              <a:rPr lang="vi-VN" sz="1400">
                <a:solidFill>
                  <a:schemeClr val="accent2">
                    <a:lumMod val="50000"/>
                  </a:schemeClr>
                </a:solidFill>
                <a:latin typeface="Calibri" pitchFamily="34" charset="0"/>
                <a:cs typeface="Calibri" pitchFamily="34" charset="0"/>
              </a:rPr>
              <a:t>phí thuê mới phần mềm và phần </a:t>
            </a:r>
            <a:r>
              <a:rPr lang="vi-VN" sz="1400" smtClean="0">
                <a:solidFill>
                  <a:schemeClr val="accent2">
                    <a:lumMod val="50000"/>
                  </a:schemeClr>
                </a:solidFill>
                <a:latin typeface="Calibri" pitchFamily="34" charset="0"/>
                <a:cs typeface="Calibri" pitchFamily="34" charset="0"/>
              </a:rPr>
              <a:t>cứng; Chi </a:t>
            </a:r>
            <a:r>
              <a:rPr lang="vi-VN" sz="1400">
                <a:solidFill>
                  <a:schemeClr val="accent2">
                    <a:lumMod val="50000"/>
                  </a:schemeClr>
                </a:solidFill>
                <a:latin typeface="Calibri" pitchFamily="34" charset="0"/>
                <a:cs typeface="Calibri" pitchFamily="34" charset="0"/>
              </a:rPr>
              <a:t>phí cung ứng và các chi phí khác (ví </a:t>
            </a:r>
            <a:r>
              <a:rPr lang="vi-VN" sz="1400" smtClean="0">
                <a:solidFill>
                  <a:schemeClr val="accent2">
                    <a:lumMod val="50000"/>
                  </a:schemeClr>
                </a:solidFill>
                <a:latin typeface="Calibri" pitchFamily="34" charset="0"/>
                <a:cs typeface="Calibri" pitchFamily="34" charset="0"/>
              </a:rPr>
              <a:t>dụ giấy </a:t>
            </a:r>
            <a:r>
              <a:rPr lang="vi-VN" sz="1400">
                <a:solidFill>
                  <a:schemeClr val="accent2">
                    <a:lumMod val="50000"/>
                  </a:schemeClr>
                </a:solidFill>
                <a:latin typeface="Calibri" pitchFamily="34" charset="0"/>
                <a:cs typeface="Calibri" pitchFamily="34" charset="0"/>
              </a:rPr>
              <a:t>tờ, báo biểu,…)</a:t>
            </a:r>
          </a:p>
          <a:p>
            <a:pPr marL="1082364" lvl="2" indent="-171450" algn="just">
              <a:spcAft>
                <a:spcPts val="683"/>
              </a:spcAft>
              <a:buClr>
                <a:srgbClr val="FF0066"/>
              </a:buClr>
            </a:pPr>
            <a:endParaRPr lang="en-US" sz="14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23</a:t>
            </a:fld>
            <a:endParaRPr lang="vi-VN"/>
          </a:p>
        </p:txBody>
      </p:sp>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b="1" smtClean="0">
                <a:solidFill>
                  <a:schemeClr val="accent6">
                    <a:lumMod val="75000"/>
                  </a:schemeClr>
                </a:solidFill>
                <a:ea typeface="+mj-ea"/>
                <a:cs typeface="Arial" pitchFamily="34" charset="0"/>
              </a:rPr>
              <a:t>2.1 Đánh giá tính khả thi kinh tế</a:t>
            </a:r>
          </a:p>
          <a:p>
            <a:pPr marL="3175" lvl="1"/>
            <a:r>
              <a:rPr lang="vi-VN" sz="1200" smtClean="0">
                <a:solidFill>
                  <a:schemeClr val="tx2"/>
                </a:solidFill>
                <a:cs typeface="Arial" pitchFamily="34" charset="0"/>
              </a:rPr>
              <a:t>2.2 Đánh giá tính khả thi </a:t>
            </a:r>
            <a:r>
              <a:rPr lang="vi-VN" sz="1200">
                <a:solidFill>
                  <a:schemeClr val="tx2"/>
                </a:solidFill>
                <a:cs typeface="Arial" pitchFamily="34" charset="0"/>
              </a:rPr>
              <a:t>kỹ </a:t>
            </a:r>
            <a:r>
              <a:rPr lang="vi-VN" sz="1200" smtClean="0">
                <a:solidFill>
                  <a:schemeClr val="tx2"/>
                </a:solidFill>
                <a:cs typeface="Arial" pitchFamily="34" charset="0"/>
              </a:rPr>
              <a:t>thuật</a:t>
            </a:r>
          </a:p>
          <a:p>
            <a:pPr marL="3175" lvl="1"/>
            <a:r>
              <a:rPr lang="vi-VN" sz="1200" smtClean="0">
                <a:solidFill>
                  <a:schemeClr val="tx2"/>
                </a:solidFill>
                <a:cs typeface="Arial" pitchFamily="34" charset="0"/>
              </a:rPr>
              <a:t>2.3 Đánh giá tính khả thi</a:t>
            </a:r>
            <a:r>
              <a:rPr lang="en-US" sz="1200" smtClean="0">
                <a:solidFill>
                  <a:schemeClr val="tx2"/>
                </a:solidFill>
                <a:cs typeface="Arial" pitchFamily="34" charset="0"/>
              </a:rPr>
              <a:t> </a:t>
            </a:r>
            <a:r>
              <a:rPr lang="vi-VN" sz="1200">
                <a:solidFill>
                  <a:schemeClr val="tx2"/>
                </a:solidFill>
                <a:cs typeface="Arial" pitchFamily="34" charset="0"/>
              </a:rPr>
              <a:t>hoạt động</a:t>
            </a:r>
            <a:endParaRPr lang="vi-VN" sz="1200" smtClean="0">
              <a:solidFill>
                <a:schemeClr val="tx2"/>
              </a:solidFill>
              <a:cs typeface="Arial" pitchFamily="34" charset="0"/>
            </a:endParaRPr>
          </a:p>
          <a:p>
            <a:pPr marL="3175" lvl="1"/>
            <a:r>
              <a:rPr lang="vi-VN" sz="1200" smtClean="0">
                <a:solidFill>
                  <a:schemeClr val="tx2"/>
                </a:solidFill>
                <a:cs typeface="Arial" pitchFamily="34" charset="0"/>
              </a:rPr>
              <a:t>2.4 Đánh giá tính khả thi khác</a:t>
            </a:r>
            <a:endParaRPr lang="vi-VN" sz="1200">
              <a:solidFill>
                <a:schemeClr val="tx2"/>
              </a:solidFill>
              <a:cs typeface="Arial" pitchFamily="34" charset="0"/>
            </a:endParaRPr>
          </a:p>
          <a:p>
            <a:pPr marL="3175" lvl="1"/>
            <a:endParaRPr lang="vi-VN" sz="1200" b="1">
              <a:solidFill>
                <a:schemeClr val="accent6">
                  <a:lumMod val="75000"/>
                </a:schemeClr>
              </a:solidFill>
              <a:ea typeface="+mj-ea"/>
              <a:cs typeface="Arial" pitchFamily="34" charset="0"/>
            </a:endParaRPr>
          </a:p>
        </p:txBody>
      </p:sp>
      <p:sp>
        <p:nvSpPr>
          <p:cNvPr id="10"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Các yếu tố đánh giá</a:t>
            </a:r>
            <a:endParaRPr lang="en-US" sz="1300" b="1">
              <a:solidFill>
                <a:schemeClr val="accent6">
                  <a:lumMod val="75000"/>
                </a:schemeClr>
              </a:solidFill>
              <a:latin typeface="Calibri (Body)"/>
              <a:ea typeface="+mj-ea"/>
              <a:cs typeface="Arial" pitchFamily="34" charset="0"/>
            </a:endParaRP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31393573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indent="0" algn="just">
              <a:spcAft>
                <a:spcPts val="683"/>
              </a:spcAft>
              <a:buClr>
                <a:srgbClr val="FF0066"/>
              </a:buClr>
              <a:buNone/>
            </a:pPr>
            <a:r>
              <a:rPr lang="en-US" sz="2000">
                <a:solidFill>
                  <a:schemeClr val="tx2">
                    <a:lumMod val="75000"/>
                  </a:schemeClr>
                </a:solidFill>
                <a:latin typeface="Calibri" pitchFamily="34" charset="0"/>
                <a:cs typeface="Calibri" pitchFamily="34" charset="0"/>
              </a:rPr>
              <a:t>B2. Xác định chi phí dự án</a:t>
            </a:r>
            <a:endParaRPr lang="vi-VN" sz="2000">
              <a:solidFill>
                <a:schemeClr val="tx2">
                  <a:lumMod val="75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Ví dụ xác định chi phí ban đầu của Hệ thống theo dõi khách hàng, xuất hiện ở năm 0 được kết quả như sau: </a:t>
            </a:r>
          </a:p>
          <a:p>
            <a:pPr lvl="1" algn="just">
              <a:spcAft>
                <a:spcPts val="600"/>
              </a:spcAft>
              <a:buClr>
                <a:srgbClr val="FF0066"/>
              </a:buClr>
            </a:pPr>
            <a:r>
              <a:rPr lang="en-US" sz="1600" smtClean="0">
                <a:solidFill>
                  <a:schemeClr val="accent2">
                    <a:lumMod val="50000"/>
                  </a:schemeClr>
                </a:solidFill>
                <a:latin typeface="Calibri" pitchFamily="34" charset="0"/>
                <a:cs typeface="Calibri" pitchFamily="34" charset="0"/>
              </a:rPr>
              <a:t>Phỏng vấn giám đốc dự án cho biết cần 4 tháng để phát triển hệ thống, mỗi tháng tốn 5.000$</a:t>
            </a:r>
          </a:p>
          <a:p>
            <a:pPr lvl="1" algn="just">
              <a:spcAft>
                <a:spcPts val="600"/>
              </a:spcAft>
              <a:buClr>
                <a:srgbClr val="FF0066"/>
              </a:buClr>
            </a:pPr>
            <a:r>
              <a:rPr lang="en-US" sz="1600">
                <a:solidFill>
                  <a:schemeClr val="accent2">
                    <a:lumMod val="50000"/>
                  </a:schemeClr>
                </a:solidFill>
                <a:latin typeface="Calibri" pitchFamily="34" charset="0"/>
                <a:cs typeface="Calibri" pitchFamily="34" charset="0"/>
              </a:rPr>
              <a:t>Để </a:t>
            </a:r>
            <a:r>
              <a:rPr lang="en-US" sz="1600" smtClean="0">
                <a:solidFill>
                  <a:schemeClr val="accent2">
                    <a:lumMod val="50000"/>
                  </a:schemeClr>
                </a:solidFill>
                <a:latin typeface="Calibri" pitchFamily="34" charset="0"/>
                <a:cs typeface="Calibri" pitchFamily="34" charset="0"/>
              </a:rPr>
              <a:t>các </a:t>
            </a:r>
            <a:r>
              <a:rPr lang="en-US" sz="1600">
                <a:solidFill>
                  <a:schemeClr val="accent2">
                    <a:lumMod val="50000"/>
                  </a:schemeClr>
                </a:solidFill>
                <a:latin typeface="Calibri" pitchFamily="34" charset="0"/>
                <a:cs typeface="Calibri" pitchFamily="34" charset="0"/>
              </a:rPr>
              <a:t>hệ thống mới </a:t>
            </a:r>
            <a:r>
              <a:rPr lang="en-US" sz="1600" smtClean="0">
                <a:solidFill>
                  <a:schemeClr val="accent2">
                    <a:lumMod val="50000"/>
                  </a:schemeClr>
                </a:solidFill>
                <a:latin typeface="Calibri" pitchFamily="34" charset="0"/>
                <a:cs typeface="Calibri" pitchFamily="34" charset="0"/>
              </a:rPr>
              <a:t>vận hành có </a:t>
            </a:r>
            <a:r>
              <a:rPr lang="en-US" sz="1600">
                <a:solidFill>
                  <a:schemeClr val="accent2">
                    <a:lumMod val="50000"/>
                  </a:schemeClr>
                </a:solidFill>
                <a:latin typeface="Calibri" pitchFamily="34" charset="0"/>
                <a:cs typeface="Calibri" pitchFamily="34" charset="0"/>
              </a:rPr>
              <a:t>hiệu quả, </a:t>
            </a:r>
            <a:r>
              <a:rPr lang="en-US" sz="1600" smtClean="0">
                <a:solidFill>
                  <a:schemeClr val="accent2">
                    <a:lumMod val="50000"/>
                  </a:schemeClr>
                </a:solidFill>
                <a:latin typeface="Calibri" pitchFamily="34" charset="0"/>
                <a:cs typeface="Calibri" pitchFamily="34" charset="0"/>
              </a:rPr>
              <a:t>bộ </a:t>
            </a:r>
            <a:r>
              <a:rPr lang="en-US" sz="1600">
                <a:solidFill>
                  <a:schemeClr val="accent2">
                    <a:lumMod val="50000"/>
                  </a:schemeClr>
                </a:solidFill>
                <a:latin typeface="Calibri" pitchFamily="34" charset="0"/>
                <a:cs typeface="Calibri" pitchFamily="34" charset="0"/>
              </a:rPr>
              <a:t>phận marketing </a:t>
            </a:r>
            <a:r>
              <a:rPr lang="en-US" sz="1600" smtClean="0">
                <a:solidFill>
                  <a:schemeClr val="accent2">
                    <a:lumMod val="50000"/>
                  </a:schemeClr>
                </a:solidFill>
                <a:latin typeface="Calibri" pitchFamily="34" charset="0"/>
                <a:cs typeface="Calibri" pitchFamily="34" charset="0"/>
              </a:rPr>
              <a:t>cần </a:t>
            </a:r>
            <a:r>
              <a:rPr lang="en-US" sz="1600">
                <a:solidFill>
                  <a:schemeClr val="accent2">
                    <a:lumMod val="50000"/>
                  </a:schemeClr>
                </a:solidFill>
                <a:latin typeface="Calibri" pitchFamily="34" charset="0"/>
                <a:cs typeface="Calibri" pitchFamily="34" charset="0"/>
              </a:rPr>
              <a:t>phải nâng cấp ít nhất là </a:t>
            </a:r>
            <a:r>
              <a:rPr lang="en-US" sz="1600" smtClean="0">
                <a:solidFill>
                  <a:schemeClr val="accent2">
                    <a:lumMod val="50000"/>
                  </a:schemeClr>
                </a:solidFill>
                <a:latin typeface="Calibri" pitchFamily="34" charset="0"/>
                <a:cs typeface="Calibri" pitchFamily="34" charset="0"/>
              </a:rPr>
              <a:t>5 máy </a:t>
            </a:r>
            <a:r>
              <a:rPr lang="en-US" sz="1600">
                <a:solidFill>
                  <a:schemeClr val="accent2">
                    <a:lumMod val="50000"/>
                  </a:schemeClr>
                </a:solidFill>
                <a:latin typeface="Calibri" pitchFamily="34" charset="0"/>
                <a:cs typeface="Calibri" pitchFamily="34" charset="0"/>
              </a:rPr>
              <a:t>trạm hiện </a:t>
            </a:r>
            <a:r>
              <a:rPr lang="en-US" sz="1600" smtClean="0">
                <a:solidFill>
                  <a:schemeClr val="accent2">
                    <a:lumMod val="50000"/>
                  </a:schemeClr>
                </a:solidFill>
                <a:latin typeface="Calibri" pitchFamily="34" charset="0"/>
                <a:cs typeface="Calibri" pitchFamily="34" charset="0"/>
              </a:rPr>
              <a:t>tại, mỗi máy tốn 3.000$. </a:t>
            </a:r>
            <a:r>
              <a:rPr lang="en-US" sz="1600">
                <a:solidFill>
                  <a:schemeClr val="accent2">
                    <a:lumMod val="50000"/>
                  </a:schemeClr>
                </a:solidFill>
                <a:latin typeface="Calibri" pitchFamily="34" charset="0"/>
                <a:cs typeface="Calibri" pitchFamily="34" charset="0"/>
              </a:rPr>
              <a:t>Ngoài ra, giấy phép phần mềm cho mỗi máy trạm </a:t>
            </a:r>
            <a:r>
              <a:rPr lang="en-US" sz="1600" smtClean="0">
                <a:solidFill>
                  <a:schemeClr val="accent2">
                    <a:lumMod val="50000"/>
                  </a:schemeClr>
                </a:solidFill>
                <a:latin typeface="Calibri" pitchFamily="34" charset="0"/>
                <a:cs typeface="Calibri" pitchFamily="34" charset="0"/>
              </a:rPr>
              <a:t>là 1.000$</a:t>
            </a:r>
          </a:p>
          <a:p>
            <a:pPr lvl="1" algn="just">
              <a:spcAft>
                <a:spcPts val="600"/>
              </a:spcAft>
              <a:buClr>
                <a:srgbClr val="FF0066"/>
              </a:buClr>
            </a:pPr>
            <a:r>
              <a:rPr lang="en-US" sz="1600" smtClean="0">
                <a:solidFill>
                  <a:schemeClr val="accent2">
                    <a:lumMod val="50000"/>
                  </a:schemeClr>
                </a:solidFill>
                <a:latin typeface="Calibri" pitchFamily="34" charset="0"/>
                <a:cs typeface="Calibri" pitchFamily="34" charset="0"/>
              </a:rPr>
              <a:t>Chi </a:t>
            </a:r>
            <a:r>
              <a:rPr lang="en-US" sz="1600">
                <a:solidFill>
                  <a:schemeClr val="accent2">
                    <a:lumMod val="50000"/>
                  </a:schemeClr>
                </a:solidFill>
                <a:latin typeface="Calibri" pitchFamily="34" charset="0"/>
                <a:cs typeface="Calibri" pitchFamily="34" charset="0"/>
              </a:rPr>
              <a:t>phí đào tạo người </a:t>
            </a:r>
            <a:r>
              <a:rPr lang="en-US" sz="1600" smtClean="0">
                <a:solidFill>
                  <a:schemeClr val="accent2">
                    <a:lumMod val="50000"/>
                  </a:schemeClr>
                </a:solidFill>
                <a:latin typeface="Calibri" pitchFamily="34" charset="0"/>
                <a:cs typeface="Calibri" pitchFamily="34" charset="0"/>
              </a:rPr>
              <a:t>dùng ở mức 250$/1 người, hệ thống cần đào tạo 10 người.</a:t>
            </a:r>
            <a:endParaRPr lang="en-US" sz="1800">
              <a:solidFill>
                <a:schemeClr val="accent2">
                  <a:lumMod val="50000"/>
                </a:schemeClr>
              </a:solidFill>
              <a:latin typeface="Calibri" pitchFamily="34" charset="0"/>
              <a:cs typeface="Calibri" pitchFamily="34" charset="0"/>
            </a:endParaRPr>
          </a:p>
          <a:p>
            <a:pPr marL="0" lvl="1" indent="0" algn="just">
              <a:spcAft>
                <a:spcPts val="600"/>
              </a:spcAft>
              <a:buClr>
                <a:srgbClr val="FF0066"/>
              </a:buClr>
              <a:buNone/>
            </a:pPr>
            <a:r>
              <a:rPr lang="en-US" sz="1800" smtClean="0">
                <a:solidFill>
                  <a:schemeClr val="accent2">
                    <a:lumMod val="50000"/>
                  </a:schemeClr>
                </a:solidFill>
                <a:latin typeface="Calibri" pitchFamily="34" charset="0"/>
                <a:cs typeface="Calibri" pitchFamily="34" charset="0"/>
              </a:rPr>
              <a:t>Như vậy chi phí ban đầu tốn 42.500$.</a:t>
            </a: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24</a:t>
            </a:fld>
            <a:endParaRPr lang="vi-VN"/>
          </a:p>
        </p:txBody>
      </p:sp>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b="1" smtClean="0">
                <a:solidFill>
                  <a:schemeClr val="accent6">
                    <a:lumMod val="75000"/>
                  </a:schemeClr>
                </a:solidFill>
                <a:ea typeface="+mj-ea"/>
                <a:cs typeface="Arial" pitchFamily="34" charset="0"/>
              </a:rPr>
              <a:t>2.1 Đánh giá tính khả thi kinh tế</a:t>
            </a:r>
          </a:p>
          <a:p>
            <a:pPr marL="3175" lvl="1"/>
            <a:r>
              <a:rPr lang="vi-VN" sz="1200" smtClean="0">
                <a:solidFill>
                  <a:schemeClr val="tx2"/>
                </a:solidFill>
                <a:cs typeface="Arial" pitchFamily="34" charset="0"/>
              </a:rPr>
              <a:t>2.2 Đánh giá tính khả thi </a:t>
            </a:r>
            <a:r>
              <a:rPr lang="vi-VN" sz="1200">
                <a:solidFill>
                  <a:schemeClr val="tx2"/>
                </a:solidFill>
                <a:cs typeface="Arial" pitchFamily="34" charset="0"/>
              </a:rPr>
              <a:t>kỹ </a:t>
            </a:r>
            <a:r>
              <a:rPr lang="vi-VN" sz="1200" smtClean="0">
                <a:solidFill>
                  <a:schemeClr val="tx2"/>
                </a:solidFill>
                <a:cs typeface="Arial" pitchFamily="34" charset="0"/>
              </a:rPr>
              <a:t>thuật</a:t>
            </a:r>
          </a:p>
          <a:p>
            <a:pPr marL="3175" lvl="1"/>
            <a:r>
              <a:rPr lang="vi-VN" sz="1200" smtClean="0">
                <a:solidFill>
                  <a:schemeClr val="tx2"/>
                </a:solidFill>
                <a:cs typeface="Arial" pitchFamily="34" charset="0"/>
              </a:rPr>
              <a:t>2.3 Đánh giá tính khả thi </a:t>
            </a:r>
            <a:r>
              <a:rPr lang="vi-VN" sz="1200">
                <a:solidFill>
                  <a:schemeClr val="tx2"/>
                </a:solidFill>
                <a:cs typeface="Arial" pitchFamily="34" charset="0"/>
              </a:rPr>
              <a:t>hoạt động </a:t>
            </a:r>
            <a:endParaRPr lang="en-US" sz="1200" smtClean="0">
              <a:solidFill>
                <a:schemeClr val="tx2"/>
              </a:solidFill>
              <a:cs typeface="Arial" pitchFamily="34" charset="0"/>
            </a:endParaRPr>
          </a:p>
          <a:p>
            <a:pPr marL="3175" lvl="1"/>
            <a:r>
              <a:rPr lang="vi-VN" sz="1200" smtClean="0">
                <a:solidFill>
                  <a:schemeClr val="tx2"/>
                </a:solidFill>
                <a:cs typeface="Arial" pitchFamily="34" charset="0"/>
              </a:rPr>
              <a:t>2.4 Đánh giá tính khả thi khác</a:t>
            </a:r>
            <a:endParaRPr lang="vi-VN" sz="1200">
              <a:solidFill>
                <a:schemeClr val="tx2"/>
              </a:solidFill>
              <a:cs typeface="Arial" pitchFamily="34" charset="0"/>
            </a:endParaRPr>
          </a:p>
          <a:p>
            <a:pPr marL="3175" lvl="1"/>
            <a:endParaRPr lang="vi-VN" sz="1200" b="1">
              <a:solidFill>
                <a:schemeClr val="accent6">
                  <a:lumMod val="75000"/>
                </a:schemeClr>
              </a:solidFill>
              <a:ea typeface="+mj-ea"/>
              <a:cs typeface="Arial" pitchFamily="34" charset="0"/>
            </a:endParaRPr>
          </a:p>
        </p:txBody>
      </p:sp>
      <p:sp>
        <p:nvSpPr>
          <p:cNvPr id="10"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Các yếu tố đánh giá</a:t>
            </a:r>
            <a:endParaRPr lang="en-US" sz="1300" b="1">
              <a:solidFill>
                <a:schemeClr val="accent6">
                  <a:lumMod val="75000"/>
                </a:schemeClr>
              </a:solidFill>
              <a:latin typeface="Calibri (Body)"/>
              <a:ea typeface="+mj-ea"/>
              <a:cs typeface="Arial" pitchFamily="34" charset="0"/>
            </a:endParaRPr>
          </a:p>
          <a:p>
            <a:pPr marL="180975" lvl="1"/>
            <a:endParaRPr lang="en-US" sz="1200" smtClean="0">
              <a:solidFill>
                <a:schemeClr val="accent1">
                  <a:lumMod val="75000"/>
                </a:schemeClr>
              </a:solidFill>
              <a:ea typeface="+mj-ea"/>
              <a:cs typeface="Arial"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5388" y="3867150"/>
            <a:ext cx="5076825" cy="299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82410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indent="0" algn="just">
              <a:spcAft>
                <a:spcPts val="683"/>
              </a:spcAft>
              <a:buClr>
                <a:srgbClr val="FF0066"/>
              </a:buClr>
              <a:buNone/>
            </a:pPr>
            <a:r>
              <a:rPr lang="en-US" sz="2000">
                <a:solidFill>
                  <a:schemeClr val="tx2">
                    <a:lumMod val="75000"/>
                  </a:schemeClr>
                </a:solidFill>
                <a:latin typeface="Calibri" pitchFamily="34" charset="0"/>
                <a:cs typeface="Calibri" pitchFamily="34" charset="0"/>
              </a:rPr>
              <a:t>B2. Xác định chi phí dự án</a:t>
            </a:r>
            <a:endParaRPr lang="vi-VN" sz="2000">
              <a:solidFill>
                <a:schemeClr val="tx2">
                  <a:lumMod val="75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Ví dụ xác định chi phí định kỳ của Hệ thống theo dõi khách hàng từ năm 1 đến năm 5 được kết quả như sau: </a:t>
            </a:r>
          </a:p>
          <a:p>
            <a:pPr lvl="1" algn="just">
              <a:spcAft>
                <a:spcPts val="600"/>
              </a:spcAft>
              <a:buClr>
                <a:srgbClr val="FF0066"/>
              </a:buClr>
            </a:pPr>
            <a:r>
              <a:rPr lang="en-US" sz="1600" smtClean="0">
                <a:solidFill>
                  <a:schemeClr val="accent2">
                    <a:lumMod val="50000"/>
                  </a:schemeClr>
                </a:solidFill>
                <a:latin typeface="Calibri" pitchFamily="34" charset="0"/>
                <a:cs typeface="Calibri" pitchFamily="34" charset="0"/>
              </a:rPr>
              <a:t>Hệ thống được ước tính trung bình hàng năm cần 5 </a:t>
            </a:r>
            <a:r>
              <a:rPr lang="en-US" sz="1600">
                <a:solidFill>
                  <a:schemeClr val="accent2">
                    <a:lumMod val="50000"/>
                  </a:schemeClr>
                </a:solidFill>
                <a:latin typeface="Calibri" pitchFamily="34" charset="0"/>
                <a:cs typeface="Calibri" pitchFamily="34" charset="0"/>
              </a:rPr>
              <a:t>tháng </a:t>
            </a:r>
            <a:r>
              <a:rPr lang="en-US" sz="1600" smtClean="0">
                <a:solidFill>
                  <a:schemeClr val="accent2">
                    <a:lumMod val="50000"/>
                  </a:schemeClr>
                </a:solidFill>
                <a:latin typeface="Calibri" pitchFamily="34" charset="0"/>
                <a:cs typeface="Calibri" pitchFamily="34" charset="0"/>
              </a:rPr>
              <a:t>bảo trì phần mềm, </a:t>
            </a:r>
            <a:r>
              <a:rPr lang="en-US" sz="1600">
                <a:solidFill>
                  <a:schemeClr val="accent2">
                    <a:lumMod val="50000"/>
                  </a:schemeClr>
                </a:solidFill>
                <a:latin typeface="Calibri" pitchFamily="34" charset="0"/>
                <a:cs typeface="Calibri" pitchFamily="34" charset="0"/>
              </a:rPr>
              <a:t>chủ yếu cho các </a:t>
            </a:r>
            <a:r>
              <a:rPr lang="en-US" sz="1600" smtClean="0">
                <a:solidFill>
                  <a:schemeClr val="accent2">
                    <a:lumMod val="50000"/>
                  </a:schemeClr>
                </a:solidFill>
                <a:latin typeface="Calibri" pitchFamily="34" charset="0"/>
                <a:cs typeface="Calibri" pitchFamily="34" charset="0"/>
              </a:rPr>
              <a:t>cải tiến mà </a:t>
            </a:r>
            <a:r>
              <a:rPr lang="en-US" sz="1600">
                <a:solidFill>
                  <a:schemeClr val="accent2">
                    <a:lumMod val="50000"/>
                  </a:schemeClr>
                </a:solidFill>
                <a:latin typeface="Calibri" pitchFamily="34" charset="0"/>
                <a:cs typeface="Calibri" pitchFamily="34" charset="0"/>
              </a:rPr>
              <a:t>người dùng </a:t>
            </a:r>
            <a:r>
              <a:rPr lang="en-US" sz="1600" smtClean="0">
                <a:solidFill>
                  <a:schemeClr val="accent2">
                    <a:lumMod val="50000"/>
                  </a:schemeClr>
                </a:solidFill>
                <a:latin typeface="Calibri" pitchFamily="34" charset="0"/>
                <a:cs typeface="Calibri" pitchFamily="34" charset="0"/>
              </a:rPr>
              <a:t>yêu </a:t>
            </a:r>
            <a:r>
              <a:rPr lang="en-US" sz="1600">
                <a:solidFill>
                  <a:schemeClr val="accent2">
                    <a:lumMod val="50000"/>
                  </a:schemeClr>
                </a:solidFill>
                <a:latin typeface="Calibri" pitchFamily="34" charset="0"/>
                <a:cs typeface="Calibri" pitchFamily="34" charset="0"/>
              </a:rPr>
              <a:t>cầu </a:t>
            </a:r>
            <a:r>
              <a:rPr lang="en-US" sz="1600" smtClean="0">
                <a:solidFill>
                  <a:schemeClr val="accent2">
                    <a:lumMod val="50000"/>
                  </a:schemeClr>
                </a:solidFill>
                <a:latin typeface="Calibri" pitchFamily="34" charset="0"/>
                <a:cs typeface="Calibri" pitchFamily="34" charset="0"/>
              </a:rPr>
              <a:t>bộ </a:t>
            </a:r>
            <a:r>
              <a:rPr lang="en-US" sz="1600">
                <a:solidFill>
                  <a:schemeClr val="accent2">
                    <a:lumMod val="50000"/>
                  </a:schemeClr>
                </a:solidFill>
                <a:latin typeface="Calibri" pitchFamily="34" charset="0"/>
                <a:cs typeface="Calibri" pitchFamily="34" charset="0"/>
              </a:rPr>
              <a:t>phận IS. </a:t>
            </a:r>
            <a:endParaRPr lang="en-US" sz="1600" smtClean="0">
              <a:solidFill>
                <a:schemeClr val="accent2">
                  <a:lumMod val="50000"/>
                </a:schemeClr>
              </a:solidFill>
              <a:latin typeface="Calibri" pitchFamily="34" charset="0"/>
              <a:cs typeface="Calibri" pitchFamily="34" charset="0"/>
            </a:endParaRPr>
          </a:p>
          <a:p>
            <a:pPr lvl="1" algn="just">
              <a:spcAft>
                <a:spcPts val="600"/>
              </a:spcAft>
              <a:buClr>
                <a:srgbClr val="FF0066"/>
              </a:buClr>
            </a:pPr>
            <a:r>
              <a:rPr lang="en-US" sz="1600" smtClean="0">
                <a:solidFill>
                  <a:schemeClr val="accent2">
                    <a:lumMod val="50000"/>
                  </a:schemeClr>
                </a:solidFill>
                <a:latin typeface="Calibri" pitchFamily="34" charset="0"/>
                <a:cs typeface="Calibri" pitchFamily="34" charset="0"/>
              </a:rPr>
              <a:t>Các chi </a:t>
            </a:r>
            <a:r>
              <a:rPr lang="en-US" sz="1600">
                <a:solidFill>
                  <a:schemeClr val="accent2">
                    <a:lumMod val="50000"/>
                  </a:schemeClr>
                </a:solidFill>
                <a:latin typeface="Calibri" pitchFamily="34" charset="0"/>
                <a:cs typeface="Calibri" pitchFamily="34" charset="0"/>
              </a:rPr>
              <a:t>phí </a:t>
            </a:r>
            <a:r>
              <a:rPr lang="en-US" sz="1600" smtClean="0">
                <a:solidFill>
                  <a:schemeClr val="accent2">
                    <a:lumMod val="50000"/>
                  </a:schemeClr>
                </a:solidFill>
                <a:latin typeface="Calibri" pitchFamily="34" charset="0"/>
                <a:cs typeface="Calibri" pitchFamily="34" charset="0"/>
              </a:rPr>
              <a:t>vận hành </a:t>
            </a:r>
            <a:r>
              <a:rPr lang="en-US" sz="1600">
                <a:solidFill>
                  <a:schemeClr val="accent2">
                    <a:lumMod val="50000"/>
                  </a:schemeClr>
                </a:solidFill>
                <a:latin typeface="Calibri" pitchFamily="34" charset="0"/>
                <a:cs typeface="Calibri" pitchFamily="34" charset="0"/>
              </a:rPr>
              <a:t>khác như tăng </a:t>
            </a:r>
            <a:r>
              <a:rPr lang="en-US" sz="1600" smtClean="0">
                <a:solidFill>
                  <a:schemeClr val="accent2">
                    <a:lumMod val="50000"/>
                  </a:schemeClr>
                </a:solidFill>
                <a:latin typeface="Calibri" pitchFamily="34" charset="0"/>
                <a:cs typeface="Calibri" pitchFamily="34" charset="0"/>
              </a:rPr>
              <a:t>dung lượng lưu </a:t>
            </a:r>
            <a:r>
              <a:rPr lang="en-US" sz="1600">
                <a:solidFill>
                  <a:schemeClr val="accent2">
                    <a:lumMod val="50000"/>
                  </a:schemeClr>
                </a:solidFill>
                <a:latin typeface="Calibri" pitchFamily="34" charset="0"/>
                <a:cs typeface="Calibri" pitchFamily="34" charset="0"/>
              </a:rPr>
              <a:t>trữ dữ liệu, </a:t>
            </a:r>
            <a:r>
              <a:rPr lang="en-US" sz="1600" smtClean="0">
                <a:solidFill>
                  <a:schemeClr val="accent2">
                    <a:lumMod val="50000"/>
                  </a:schemeClr>
                </a:solidFill>
                <a:latin typeface="Calibri" pitchFamily="34" charset="0"/>
                <a:cs typeface="Calibri" pitchFamily="34" charset="0"/>
              </a:rPr>
              <a:t>chi phí truyền thông </a:t>
            </a:r>
            <a:r>
              <a:rPr lang="en-US" sz="1600">
                <a:solidFill>
                  <a:schemeClr val="accent2">
                    <a:lumMod val="50000"/>
                  </a:schemeClr>
                </a:solidFill>
                <a:latin typeface="Calibri" pitchFamily="34" charset="0"/>
                <a:cs typeface="Calibri" pitchFamily="34" charset="0"/>
              </a:rPr>
              <a:t>và </a:t>
            </a:r>
            <a:r>
              <a:rPr lang="en-US" sz="1600" smtClean="0">
                <a:solidFill>
                  <a:schemeClr val="accent2">
                    <a:lumMod val="50000"/>
                  </a:schemeClr>
                </a:solidFill>
                <a:latin typeface="Calibri" pitchFamily="34" charset="0"/>
                <a:cs typeface="Calibri" pitchFamily="34" charset="0"/>
              </a:rPr>
              <a:t>chi phí cung ứng cũng </a:t>
            </a:r>
            <a:r>
              <a:rPr lang="en-US" sz="1600">
                <a:solidFill>
                  <a:schemeClr val="accent2">
                    <a:lumMod val="50000"/>
                  </a:schemeClr>
                </a:solidFill>
                <a:latin typeface="Calibri" pitchFamily="34" charset="0"/>
                <a:cs typeface="Calibri" pitchFamily="34" charset="0"/>
              </a:rPr>
              <a:t>được dự kiến.</a:t>
            </a:r>
            <a:endParaRPr lang="vi-VN" sz="1600">
              <a:solidFill>
                <a:schemeClr val="accent2">
                  <a:lumMod val="50000"/>
                </a:schemeClr>
              </a:solidFill>
              <a:latin typeface="Calibri" pitchFamily="34" charset="0"/>
              <a:cs typeface="Calibri" pitchFamily="34" charset="0"/>
            </a:endParaRPr>
          </a:p>
          <a:p>
            <a:pPr marL="0" lvl="1" indent="0" algn="just">
              <a:spcAft>
                <a:spcPts val="600"/>
              </a:spcAft>
              <a:buClr>
                <a:srgbClr val="FF0066"/>
              </a:buClr>
              <a:buNone/>
            </a:pPr>
            <a:r>
              <a:rPr lang="en-US" sz="1600">
                <a:solidFill>
                  <a:schemeClr val="accent2">
                    <a:lumMod val="50000"/>
                  </a:schemeClr>
                </a:solidFill>
                <a:latin typeface="Calibri" pitchFamily="34" charset="0"/>
                <a:cs typeface="Calibri" pitchFamily="34" charset="0"/>
              </a:rPr>
              <a:t>Như vậy chi phí </a:t>
            </a:r>
            <a:r>
              <a:rPr lang="en-US" sz="1600" smtClean="0">
                <a:solidFill>
                  <a:schemeClr val="accent2">
                    <a:lumMod val="50000"/>
                  </a:schemeClr>
                </a:solidFill>
                <a:latin typeface="Calibri" pitchFamily="34" charset="0"/>
                <a:cs typeface="Calibri" pitchFamily="34" charset="0"/>
              </a:rPr>
              <a:t>định kỳ hàng năm tốn 28.500</a:t>
            </a:r>
            <a:r>
              <a:rPr lang="en-US" sz="1600">
                <a:solidFill>
                  <a:schemeClr val="accent2">
                    <a:lumMod val="50000"/>
                  </a:schemeClr>
                </a:solidFill>
                <a:latin typeface="Calibri" pitchFamily="34" charset="0"/>
                <a:cs typeface="Calibri" pitchFamily="34" charset="0"/>
              </a:rPr>
              <a:t>$.</a:t>
            </a:r>
            <a:endParaRPr lang="vi-VN" sz="16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25</a:t>
            </a:fld>
            <a:endParaRPr lang="vi-VN"/>
          </a:p>
        </p:txBody>
      </p:sp>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b="1" smtClean="0">
                <a:solidFill>
                  <a:schemeClr val="accent6">
                    <a:lumMod val="75000"/>
                  </a:schemeClr>
                </a:solidFill>
                <a:ea typeface="+mj-ea"/>
                <a:cs typeface="Arial" pitchFamily="34" charset="0"/>
              </a:rPr>
              <a:t>2.1 Đánh giá tính khả thi kinh tế</a:t>
            </a:r>
          </a:p>
          <a:p>
            <a:pPr marL="3175" lvl="1"/>
            <a:r>
              <a:rPr lang="vi-VN" sz="1200" smtClean="0">
                <a:solidFill>
                  <a:schemeClr val="tx2"/>
                </a:solidFill>
                <a:cs typeface="Arial" pitchFamily="34" charset="0"/>
              </a:rPr>
              <a:t>2.2 Đánh giá tính khả thi </a:t>
            </a:r>
            <a:r>
              <a:rPr lang="vi-VN" sz="1200">
                <a:solidFill>
                  <a:schemeClr val="tx2"/>
                </a:solidFill>
                <a:cs typeface="Arial" pitchFamily="34" charset="0"/>
              </a:rPr>
              <a:t>kỹ thuật</a:t>
            </a:r>
          </a:p>
          <a:p>
            <a:pPr marL="3175" lvl="1"/>
            <a:r>
              <a:rPr lang="vi-VN" sz="1200" smtClean="0">
                <a:solidFill>
                  <a:schemeClr val="tx2"/>
                </a:solidFill>
                <a:cs typeface="Arial" pitchFamily="34" charset="0"/>
              </a:rPr>
              <a:t>2.3 Đánh giá tính khả thi </a:t>
            </a:r>
            <a:r>
              <a:rPr lang="vi-VN" sz="1200">
                <a:solidFill>
                  <a:schemeClr val="tx2"/>
                </a:solidFill>
                <a:cs typeface="Arial" pitchFamily="34" charset="0"/>
              </a:rPr>
              <a:t>hoạt động</a:t>
            </a:r>
          </a:p>
          <a:p>
            <a:pPr marL="3175" lvl="1"/>
            <a:r>
              <a:rPr lang="vi-VN" sz="1200" smtClean="0">
                <a:solidFill>
                  <a:schemeClr val="tx2"/>
                </a:solidFill>
                <a:cs typeface="Arial" pitchFamily="34" charset="0"/>
              </a:rPr>
              <a:t>2.4 Đánh giá tính khả thi khác</a:t>
            </a:r>
            <a:endParaRPr lang="vi-VN" sz="1200">
              <a:solidFill>
                <a:schemeClr val="tx2"/>
              </a:solidFill>
              <a:cs typeface="Arial" pitchFamily="34" charset="0"/>
            </a:endParaRPr>
          </a:p>
          <a:p>
            <a:pPr marL="3175" lvl="1"/>
            <a:endParaRPr lang="vi-VN" sz="1200" b="1">
              <a:solidFill>
                <a:schemeClr val="accent6">
                  <a:lumMod val="75000"/>
                </a:schemeClr>
              </a:solidFill>
              <a:ea typeface="+mj-ea"/>
              <a:cs typeface="Arial" pitchFamily="34" charset="0"/>
            </a:endParaRPr>
          </a:p>
        </p:txBody>
      </p:sp>
      <p:sp>
        <p:nvSpPr>
          <p:cNvPr id="10"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Các yếu tố đánh giá</a:t>
            </a:r>
            <a:endParaRPr lang="en-US" sz="1300" b="1">
              <a:solidFill>
                <a:schemeClr val="accent6">
                  <a:lumMod val="75000"/>
                </a:schemeClr>
              </a:solidFill>
              <a:latin typeface="Calibri (Body)"/>
              <a:ea typeface="+mj-ea"/>
              <a:cs typeface="Arial" pitchFamily="34" charset="0"/>
            </a:endParaRPr>
          </a:p>
          <a:p>
            <a:pPr marL="180975" lvl="1"/>
            <a:endParaRPr lang="en-US" sz="1200" smtClean="0">
              <a:solidFill>
                <a:schemeClr val="accent1">
                  <a:lumMod val="75000"/>
                </a:schemeClr>
              </a:solidFill>
              <a:ea typeface="+mj-ea"/>
              <a:cs typeface="Arial"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5388" y="4105275"/>
            <a:ext cx="4991100" cy="275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24871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18964" y="1196752"/>
                <a:ext cx="9478053" cy="5661247"/>
              </a:xfrm>
            </p:spPr>
            <p:txBody>
              <a:bodyPr>
                <a:normAutofit/>
              </a:bodyPr>
              <a:lstStyle/>
              <a:p>
                <a:pPr marL="0" indent="0" algn="just">
                  <a:spcAft>
                    <a:spcPts val="683"/>
                  </a:spcAft>
                  <a:buClr>
                    <a:srgbClr val="FF0066"/>
                  </a:buClr>
                  <a:buNone/>
                </a:pPr>
                <a:r>
                  <a:rPr lang="en-US" sz="2000" smtClean="0">
                    <a:solidFill>
                      <a:srgbClr val="FF0066"/>
                    </a:solidFill>
                    <a:latin typeface="Calibri" pitchFamily="34" charset="0"/>
                    <a:cs typeface="Calibri" pitchFamily="34" charset="0"/>
                  </a:rPr>
                  <a:t>B3. </a:t>
                </a:r>
                <a:r>
                  <a:rPr lang="en-US" sz="2000" smtClean="0">
                    <a:solidFill>
                      <a:schemeClr val="accent2">
                        <a:lumMod val="50000"/>
                      </a:schemeClr>
                    </a:solidFill>
                    <a:latin typeface="Calibri" pitchFamily="34" charset="0"/>
                    <a:cs typeface="Calibri" pitchFamily="34" charset="0"/>
                  </a:rPr>
                  <a:t>Đánh giá mối quan hệ giữa lợi nhuận và chi phí của dự án</a:t>
                </a:r>
                <a:endParaRPr lang="vi-VN" sz="200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Sử dụng phương </a:t>
                </a:r>
                <a:r>
                  <a:rPr lang="en-US" sz="1800">
                    <a:solidFill>
                      <a:schemeClr val="accent2">
                        <a:lumMod val="50000"/>
                      </a:schemeClr>
                    </a:solidFill>
                    <a:latin typeface="Calibri" pitchFamily="34" charset="0"/>
                    <a:cs typeface="Calibri" pitchFamily="34" charset="0"/>
                  </a:rPr>
                  <a:t>pháp giá trị thời gian (TVM – </a:t>
                </a:r>
                <a:r>
                  <a:rPr lang="en-US" sz="1800" smtClean="0">
                    <a:solidFill>
                      <a:schemeClr val="accent2">
                        <a:lumMod val="50000"/>
                      </a:schemeClr>
                    </a:solidFill>
                    <a:latin typeface="Calibri" pitchFamily="34" charset="0"/>
                    <a:cs typeface="Calibri" pitchFamily="34" charset="0"/>
                  </a:rPr>
                  <a:t>Time Value </a:t>
                </a:r>
                <a:r>
                  <a:rPr lang="en-US" sz="1800">
                    <a:solidFill>
                      <a:schemeClr val="accent2">
                        <a:lumMod val="50000"/>
                      </a:schemeClr>
                    </a:solidFill>
                    <a:latin typeface="Calibri" pitchFamily="34" charset="0"/>
                    <a:cs typeface="Calibri" pitchFamily="34" charset="0"/>
                  </a:rPr>
                  <a:t>of Money)</a:t>
                </a:r>
              </a:p>
              <a:p>
                <a:pPr lvl="1" algn="just">
                  <a:spcAft>
                    <a:spcPts val="600"/>
                  </a:spcAft>
                  <a:buClr>
                    <a:srgbClr val="FF0066"/>
                  </a:buClr>
                </a:pPr>
                <a:r>
                  <a:rPr lang="en-US" sz="1600" smtClean="0">
                    <a:solidFill>
                      <a:schemeClr val="accent2">
                        <a:lumMod val="50000"/>
                      </a:schemeClr>
                    </a:solidFill>
                    <a:latin typeface="Calibri" pitchFamily="34" charset="0"/>
                    <a:cs typeface="Calibri" pitchFamily="34" charset="0"/>
                  </a:rPr>
                  <a:t>TVM đề cập tới việc so </a:t>
                </a:r>
                <a:r>
                  <a:rPr lang="en-US" sz="1600">
                    <a:solidFill>
                      <a:schemeClr val="accent2">
                        <a:lumMod val="50000"/>
                      </a:schemeClr>
                    </a:solidFill>
                    <a:latin typeface="Calibri" pitchFamily="34" charset="0"/>
                    <a:cs typeface="Calibri" pitchFamily="34" charset="0"/>
                  </a:rPr>
                  <a:t>sánh giữa chi phí hiện tại bỏ ra với các lợi ích sẽ nhận được trong tương </a:t>
                </a:r>
                <a:r>
                  <a:rPr lang="en-US" sz="1600" smtClean="0">
                    <a:solidFill>
                      <a:schemeClr val="accent2">
                        <a:lumMod val="50000"/>
                      </a:schemeClr>
                    </a:solidFill>
                    <a:latin typeface="Calibri" pitchFamily="34" charset="0"/>
                    <a:cs typeface="Calibri" pitchFamily="34" charset="0"/>
                  </a:rPr>
                  <a:t>lai.</a:t>
                </a:r>
              </a:p>
              <a:p>
                <a:pPr lvl="1" algn="just">
                  <a:spcAft>
                    <a:spcPts val="600"/>
                  </a:spcAft>
                  <a:buClr>
                    <a:srgbClr val="FF0066"/>
                  </a:buClr>
                </a:pPr>
                <a:r>
                  <a:rPr lang="en-US" sz="1600" smtClean="0">
                    <a:solidFill>
                      <a:schemeClr val="accent2">
                        <a:lumMod val="50000"/>
                      </a:schemeClr>
                    </a:solidFill>
                    <a:latin typeface="Calibri" pitchFamily="34" charset="0"/>
                    <a:cs typeface="Calibri" pitchFamily="34" charset="0"/>
                  </a:rPr>
                  <a:t>Các </a:t>
                </a:r>
                <a:r>
                  <a:rPr lang="en-US" sz="1600">
                    <a:solidFill>
                      <a:schemeClr val="accent2">
                        <a:lumMod val="50000"/>
                      </a:schemeClr>
                    </a:solidFill>
                    <a:latin typeface="Calibri" pitchFamily="34" charset="0"/>
                    <a:cs typeface="Calibri" pitchFamily="34" charset="0"/>
                  </a:rPr>
                  <a:t>lợi ích của việc phát triển hệ thống xảy ra trong tương lai, tuy nhiên tổ chức phải bỏ ra các chi phí </a:t>
                </a:r>
                <a:r>
                  <a:rPr lang="en-US" sz="1600" smtClean="0">
                    <a:solidFill>
                      <a:schemeClr val="accent2">
                        <a:lumMod val="50000"/>
                      </a:schemeClr>
                    </a:solidFill>
                    <a:latin typeface="Calibri" pitchFamily="34" charset="0"/>
                    <a:cs typeface="Calibri" pitchFamily="34" charset="0"/>
                  </a:rPr>
                  <a:t>ban đầu và định kỳ, </a:t>
                </a:r>
                <a:r>
                  <a:rPr lang="en-US" sz="1600">
                    <a:solidFill>
                      <a:schemeClr val="accent2">
                        <a:lumMod val="50000"/>
                      </a:schemeClr>
                    </a:solidFill>
                    <a:latin typeface="Calibri" pitchFamily="34" charset="0"/>
                    <a:cs typeface="Calibri" pitchFamily="34" charset="0"/>
                  </a:rPr>
                  <a:t>do vậy tất cả chi phí và lợi nhuận cần được </a:t>
                </a:r>
                <a:r>
                  <a:rPr lang="vi-VN" sz="1600" smtClean="0">
                    <a:solidFill>
                      <a:schemeClr val="accent2">
                        <a:lumMod val="50000"/>
                      </a:schemeClr>
                    </a:solidFill>
                    <a:latin typeface="Calibri" pitchFamily="34" charset="0"/>
                    <a:cs typeface="Calibri" pitchFamily="34" charset="0"/>
                  </a:rPr>
                  <a:t>xem </a:t>
                </a:r>
                <a:r>
                  <a:rPr lang="vi-VN" sz="1600">
                    <a:solidFill>
                      <a:schemeClr val="accent2">
                        <a:lumMod val="50000"/>
                      </a:schemeClr>
                    </a:solidFill>
                    <a:latin typeface="Calibri" pitchFamily="34" charset="0"/>
                    <a:cs typeface="Calibri" pitchFamily="34" charset="0"/>
                  </a:rPr>
                  <a:t>xét trong mối quan hệ với hiện tại của </a:t>
                </a:r>
                <a:r>
                  <a:rPr lang="vi-VN" sz="1600" smtClean="0">
                    <a:solidFill>
                      <a:schemeClr val="accent2">
                        <a:lumMod val="50000"/>
                      </a:schemeClr>
                    </a:solidFill>
                    <a:latin typeface="Calibri" pitchFamily="34" charset="0"/>
                    <a:cs typeface="Calibri" pitchFamily="34" charset="0"/>
                  </a:rPr>
                  <a:t>chúng.</a:t>
                </a:r>
              </a:p>
              <a:p>
                <a:pPr algn="just">
                  <a:spcAft>
                    <a:spcPts val="683"/>
                  </a:spcAft>
                  <a:buClr>
                    <a:srgbClr val="FF0066"/>
                  </a:buClr>
                  <a:buFont typeface="Symbol" pitchFamily="18" charset="2"/>
                  <a:buChar char="¨"/>
                </a:pPr>
                <a:r>
                  <a:rPr lang="en-US" sz="1800" smtClean="0">
                    <a:solidFill>
                      <a:schemeClr val="accent2">
                        <a:lumMod val="50000"/>
                      </a:schemeClr>
                    </a:solidFill>
                    <a:latin typeface="Calibri" pitchFamily="34" charset="0"/>
                    <a:cs typeface="Calibri" pitchFamily="34" charset="0"/>
                  </a:rPr>
                  <a:t>Một số khái niệm cần chú ý:</a:t>
                </a:r>
              </a:p>
              <a:p>
                <a:pPr lvl="1" algn="just">
                  <a:spcAft>
                    <a:spcPts val="600"/>
                  </a:spcAft>
                  <a:buClr>
                    <a:srgbClr val="FF0066"/>
                  </a:buClr>
                </a:pPr>
                <a:r>
                  <a:rPr lang="en-US" sz="1600" i="1" smtClean="0">
                    <a:solidFill>
                      <a:schemeClr val="accent2">
                        <a:lumMod val="50000"/>
                      </a:schemeClr>
                    </a:solidFill>
                    <a:latin typeface="Calibri" pitchFamily="34" charset="0"/>
                    <a:cs typeface="Calibri" pitchFamily="34" charset="0"/>
                  </a:rPr>
                  <a:t>Tỷ </a:t>
                </a:r>
                <a:r>
                  <a:rPr lang="en-US" sz="1600" i="1">
                    <a:solidFill>
                      <a:schemeClr val="accent2">
                        <a:lumMod val="50000"/>
                      </a:schemeClr>
                    </a:solidFill>
                    <a:latin typeface="Calibri" pitchFamily="34" charset="0"/>
                    <a:cs typeface="Calibri" pitchFamily="34" charset="0"/>
                  </a:rPr>
                  <a:t>lệ chiết khấu </a:t>
                </a:r>
                <a:r>
                  <a:rPr lang="en-US" sz="1600">
                    <a:solidFill>
                      <a:schemeClr val="accent2">
                        <a:lumMod val="50000"/>
                      </a:schemeClr>
                    </a:solidFill>
                    <a:latin typeface="Calibri" pitchFamily="34" charset="0"/>
                    <a:cs typeface="Calibri" pitchFamily="34" charset="0"/>
                  </a:rPr>
                  <a:t>- Discount rate: </a:t>
                </a:r>
                <a:r>
                  <a:rPr lang="vi-VN" sz="1600">
                    <a:solidFill>
                      <a:schemeClr val="accent2">
                        <a:lumMod val="50000"/>
                      </a:schemeClr>
                    </a:solidFill>
                    <a:latin typeface="Calibri" pitchFamily="34" charset="0"/>
                    <a:cs typeface="Calibri" pitchFamily="34" charset="0"/>
                  </a:rPr>
                  <a:t>Lãi suất chiết khấu có thể được tính bằng chi phí huy động </a:t>
                </a:r>
                <a:r>
                  <a:rPr lang="vi-VN" sz="1600" smtClean="0">
                    <a:solidFill>
                      <a:schemeClr val="accent2">
                        <a:lumMod val="50000"/>
                      </a:schemeClr>
                    </a:solidFill>
                    <a:latin typeface="Calibri" pitchFamily="34" charset="0"/>
                    <a:cs typeface="Calibri" pitchFamily="34" charset="0"/>
                  </a:rPr>
                  <a:t>vốn, đây </a:t>
                </a:r>
                <a:r>
                  <a:rPr lang="vi-VN" sz="1600">
                    <a:solidFill>
                      <a:schemeClr val="accent2">
                        <a:lumMod val="50000"/>
                      </a:schemeClr>
                    </a:solidFill>
                    <a:latin typeface="Calibri" pitchFamily="34" charset="0"/>
                    <a:cs typeface="Calibri" pitchFamily="34" charset="0"/>
                  </a:rPr>
                  <a:t>là tỷ lệ lợi tức người bỏ vốn mong muốn thu lại từ dự án. Nói cách khác, lãi suất chiết khấu là chi phí sử dụng vốn, hay chi phí cơ hội của </a:t>
                </a:r>
                <a:r>
                  <a:rPr lang="vi-VN" sz="1600" smtClean="0">
                    <a:solidFill>
                      <a:schemeClr val="accent2">
                        <a:lumMod val="50000"/>
                      </a:schemeClr>
                    </a:solidFill>
                    <a:latin typeface="Calibri" pitchFamily="34" charset="0"/>
                    <a:cs typeface="Calibri" pitchFamily="34" charset="0"/>
                  </a:rPr>
                  <a:t>vốn.</a:t>
                </a:r>
              </a:p>
              <a:p>
                <a:pPr lvl="1" algn="just">
                  <a:spcAft>
                    <a:spcPts val="600"/>
                  </a:spcAft>
                  <a:buClr>
                    <a:srgbClr val="FF0066"/>
                  </a:buClr>
                </a:pPr>
                <a:r>
                  <a:rPr lang="en-US" sz="1600" i="1">
                    <a:solidFill>
                      <a:schemeClr val="accent2">
                        <a:lumMod val="50000"/>
                      </a:schemeClr>
                    </a:solidFill>
                    <a:latin typeface="Calibri" pitchFamily="34" charset="0"/>
                    <a:cs typeface="Calibri" pitchFamily="34" charset="0"/>
                  </a:rPr>
                  <a:t>Giá trị hiện tại </a:t>
                </a:r>
                <a:r>
                  <a:rPr lang="en-US" sz="1600">
                    <a:solidFill>
                      <a:schemeClr val="accent2">
                        <a:lumMod val="50000"/>
                      </a:schemeClr>
                    </a:solidFill>
                    <a:latin typeface="Calibri" pitchFamily="34" charset="0"/>
                    <a:cs typeface="Calibri" pitchFamily="34" charset="0"/>
                  </a:rPr>
                  <a:t>(Present Value) của luồng tiền </a:t>
                </a:r>
                <a:r>
                  <a:rPr lang="en-US" sz="1600" smtClean="0">
                    <a:solidFill>
                      <a:schemeClr val="accent2">
                        <a:lumMod val="50000"/>
                      </a:schemeClr>
                    </a:solidFill>
                    <a:latin typeface="Calibri" pitchFamily="34" charset="0"/>
                    <a:cs typeface="Calibri" pitchFamily="34" charset="0"/>
                  </a:rPr>
                  <a:t>Y trong </a:t>
                </a:r>
                <a:r>
                  <a:rPr lang="en-US" sz="1600">
                    <a:solidFill>
                      <a:schemeClr val="accent2">
                        <a:lumMod val="50000"/>
                      </a:schemeClr>
                    </a:solidFill>
                    <a:latin typeface="Calibri" pitchFamily="34" charset="0"/>
                    <a:cs typeface="Calibri" pitchFamily="34" charset="0"/>
                  </a:rPr>
                  <a:t>n </a:t>
                </a:r>
                <a:r>
                  <a:rPr lang="en-US" sz="1600" smtClean="0">
                    <a:solidFill>
                      <a:schemeClr val="accent2">
                        <a:lumMod val="50000"/>
                      </a:schemeClr>
                    </a:solidFill>
                    <a:latin typeface="Calibri" pitchFamily="34" charset="0"/>
                    <a:cs typeface="Calibri" pitchFamily="34" charset="0"/>
                  </a:rPr>
                  <a:t>năm, với i là tỷ lệ chiết khấu:</a:t>
                </a:r>
              </a:p>
              <a:p>
                <a:pPr marL="520523" lvl="1" indent="0" algn="just">
                  <a:spcAft>
                    <a:spcPts val="600"/>
                  </a:spcAft>
                  <a:buClr>
                    <a:srgbClr val="FF0066"/>
                  </a:buClr>
                  <a:buNone/>
                </a:pPr>
                <a:r>
                  <a:rPr lang="en-US" sz="1600" smtClean="0">
                    <a:solidFill>
                      <a:schemeClr val="accent2">
                        <a:lumMod val="50000"/>
                      </a:schemeClr>
                    </a:solidFill>
                    <a:cs typeface="Calibri" pitchFamily="34" charset="0"/>
                  </a:rPr>
                  <a:t>                                                                  </a:t>
                </a:r>
                <a14:m>
                  <m:oMath xmlns:m="http://schemas.openxmlformats.org/officeDocument/2006/math">
                    <m:sSub>
                      <m:sSubPr>
                        <m:ctrlPr>
                          <a:rPr lang="en-US" sz="1600" i="1" smtClean="0">
                            <a:solidFill>
                              <a:schemeClr val="accent2">
                                <a:lumMod val="50000"/>
                              </a:schemeClr>
                            </a:solidFill>
                            <a:latin typeface="Cambria Math"/>
                            <a:cs typeface="Calibri" pitchFamily="34" charset="0"/>
                          </a:rPr>
                        </m:ctrlPr>
                      </m:sSubPr>
                      <m:e>
                        <m:r>
                          <a:rPr lang="en-US" sz="1600" b="0" i="1" smtClean="0">
                            <a:solidFill>
                              <a:schemeClr val="accent2">
                                <a:lumMod val="50000"/>
                              </a:schemeClr>
                            </a:solidFill>
                            <a:latin typeface="Cambria Math"/>
                            <a:cs typeface="Calibri" pitchFamily="34" charset="0"/>
                          </a:rPr>
                          <m:t>𝑃𝑉</m:t>
                        </m:r>
                      </m:e>
                      <m:sub>
                        <m:r>
                          <a:rPr lang="en-US" sz="1600" b="0" i="1" smtClean="0">
                            <a:solidFill>
                              <a:schemeClr val="accent2">
                                <a:lumMod val="50000"/>
                              </a:schemeClr>
                            </a:solidFill>
                            <a:latin typeface="Cambria Math"/>
                            <a:cs typeface="Calibri" pitchFamily="34" charset="0"/>
                          </a:rPr>
                          <m:t>𝑛</m:t>
                        </m:r>
                      </m:sub>
                    </m:sSub>
                    <m:r>
                      <a:rPr lang="en-US" sz="1600" b="0" i="1" smtClean="0">
                        <a:solidFill>
                          <a:schemeClr val="accent2">
                            <a:lumMod val="50000"/>
                          </a:schemeClr>
                        </a:solidFill>
                        <a:latin typeface="Cambria Math"/>
                        <a:cs typeface="Calibri" pitchFamily="34" charset="0"/>
                      </a:rPr>
                      <m:t>(</m:t>
                    </m:r>
                    <m:r>
                      <a:rPr lang="en-US" sz="1600" b="0" i="1" smtClean="0">
                        <a:solidFill>
                          <a:schemeClr val="accent2">
                            <a:lumMod val="50000"/>
                          </a:schemeClr>
                        </a:solidFill>
                        <a:latin typeface="Cambria Math"/>
                        <a:cs typeface="Calibri" pitchFamily="34" charset="0"/>
                      </a:rPr>
                      <m:t>𝑌</m:t>
                    </m:r>
                    <m:r>
                      <a:rPr lang="en-US" sz="1600" b="0" i="1" smtClean="0">
                        <a:solidFill>
                          <a:schemeClr val="accent2">
                            <a:lumMod val="50000"/>
                          </a:schemeClr>
                        </a:solidFill>
                        <a:latin typeface="Cambria Math"/>
                        <a:cs typeface="Calibri" pitchFamily="34" charset="0"/>
                      </a:rPr>
                      <m:t>)</m:t>
                    </m:r>
                  </m:oMath>
                </a14:m>
                <a:r>
                  <a:rPr lang="en-US" sz="1600" smtClean="0">
                    <a:solidFill>
                      <a:schemeClr val="accent2">
                        <a:lumMod val="50000"/>
                      </a:schemeClr>
                    </a:solidFill>
                    <a:latin typeface="Calibri" pitchFamily="34" charset="0"/>
                    <a:cs typeface="Calibri" pitchFamily="34" charset="0"/>
                  </a:rPr>
                  <a:t>=Y x </a:t>
                </a:r>
                <a14:m>
                  <m:oMath xmlns:m="http://schemas.openxmlformats.org/officeDocument/2006/math">
                    <m:d>
                      <m:dPr>
                        <m:begChr m:val="["/>
                        <m:endChr m:val="]"/>
                        <m:ctrlPr>
                          <a:rPr lang="en-US" sz="1600" i="1" smtClean="0">
                            <a:solidFill>
                              <a:schemeClr val="accent2">
                                <a:lumMod val="50000"/>
                              </a:schemeClr>
                            </a:solidFill>
                            <a:latin typeface="Cambria Math"/>
                            <a:cs typeface="Calibri" pitchFamily="34" charset="0"/>
                          </a:rPr>
                        </m:ctrlPr>
                      </m:dPr>
                      <m:e>
                        <m:f>
                          <m:fPr>
                            <m:ctrlPr>
                              <a:rPr lang="en-US" sz="1600" i="1" smtClean="0">
                                <a:solidFill>
                                  <a:schemeClr val="accent2">
                                    <a:lumMod val="50000"/>
                                  </a:schemeClr>
                                </a:solidFill>
                                <a:latin typeface="Cambria Math"/>
                                <a:cs typeface="Calibri" pitchFamily="34" charset="0"/>
                              </a:rPr>
                            </m:ctrlPr>
                          </m:fPr>
                          <m:num>
                            <m:r>
                              <a:rPr lang="en-US" sz="1600" b="0" i="1" smtClean="0">
                                <a:solidFill>
                                  <a:schemeClr val="accent2">
                                    <a:lumMod val="50000"/>
                                  </a:schemeClr>
                                </a:solidFill>
                                <a:latin typeface="Cambria Math"/>
                                <a:cs typeface="Calibri" pitchFamily="34" charset="0"/>
                              </a:rPr>
                              <m:t>1</m:t>
                            </m:r>
                          </m:num>
                          <m:den>
                            <m:sSup>
                              <m:sSupPr>
                                <m:ctrlPr>
                                  <a:rPr lang="en-US" sz="1600" i="1" smtClean="0">
                                    <a:solidFill>
                                      <a:schemeClr val="accent2">
                                        <a:lumMod val="50000"/>
                                      </a:schemeClr>
                                    </a:solidFill>
                                    <a:latin typeface="Cambria Math"/>
                                    <a:cs typeface="Calibri" pitchFamily="34" charset="0"/>
                                  </a:rPr>
                                </m:ctrlPr>
                              </m:sSupPr>
                              <m:e>
                                <m:r>
                                  <a:rPr lang="en-US" sz="1600" b="0" i="1" smtClean="0">
                                    <a:solidFill>
                                      <a:schemeClr val="accent2">
                                        <a:lumMod val="50000"/>
                                      </a:schemeClr>
                                    </a:solidFill>
                                    <a:latin typeface="Cambria Math"/>
                                    <a:cs typeface="Calibri" pitchFamily="34" charset="0"/>
                                  </a:rPr>
                                  <m:t>(1+</m:t>
                                </m:r>
                                <m:r>
                                  <a:rPr lang="en-US" sz="1600" b="0" i="1" smtClean="0">
                                    <a:solidFill>
                                      <a:schemeClr val="accent2">
                                        <a:lumMod val="50000"/>
                                      </a:schemeClr>
                                    </a:solidFill>
                                    <a:latin typeface="Cambria Math"/>
                                    <a:cs typeface="Calibri" pitchFamily="34" charset="0"/>
                                  </a:rPr>
                                  <m:t>𝑖</m:t>
                                </m:r>
                                <m:r>
                                  <a:rPr lang="en-US" sz="1600" b="0" i="1" smtClean="0">
                                    <a:solidFill>
                                      <a:schemeClr val="accent2">
                                        <a:lumMod val="50000"/>
                                      </a:schemeClr>
                                    </a:solidFill>
                                    <a:latin typeface="Cambria Math"/>
                                    <a:cs typeface="Calibri" pitchFamily="34" charset="0"/>
                                  </a:rPr>
                                  <m:t>)</m:t>
                                </m:r>
                              </m:e>
                              <m:sup>
                                <m:r>
                                  <a:rPr lang="en-US" sz="1600" b="0" i="1" smtClean="0">
                                    <a:solidFill>
                                      <a:schemeClr val="accent2">
                                        <a:lumMod val="50000"/>
                                      </a:schemeClr>
                                    </a:solidFill>
                                    <a:latin typeface="Cambria Math"/>
                                    <a:cs typeface="Calibri" pitchFamily="34" charset="0"/>
                                  </a:rPr>
                                  <m:t>𝑛</m:t>
                                </m:r>
                              </m:sup>
                            </m:sSup>
                          </m:den>
                        </m:f>
                      </m:e>
                    </m:d>
                  </m:oMath>
                </a14:m>
                <a:endParaRPr lang="en-US" sz="1600" smtClean="0">
                  <a:solidFill>
                    <a:schemeClr val="accent2">
                      <a:lumMod val="50000"/>
                    </a:schemeClr>
                  </a:solidFill>
                  <a:latin typeface="Calibri" pitchFamily="34" charset="0"/>
                  <a:cs typeface="Calibri" pitchFamily="34" charset="0"/>
                </a:endParaRPr>
              </a:p>
              <a:p>
                <a:pPr lvl="1" algn="just">
                  <a:spcAft>
                    <a:spcPts val="600"/>
                  </a:spcAft>
                  <a:buClr>
                    <a:srgbClr val="FF0066"/>
                  </a:buClr>
                </a:pPr>
                <a:r>
                  <a:rPr lang="en-US" sz="1600" i="1" smtClean="0">
                    <a:solidFill>
                      <a:schemeClr val="accent2">
                        <a:lumMod val="50000"/>
                      </a:schemeClr>
                    </a:solidFill>
                    <a:latin typeface="Calibri" pitchFamily="34" charset="0"/>
                    <a:cs typeface="Calibri" pitchFamily="34" charset="0"/>
                  </a:rPr>
                  <a:t>Giá </a:t>
                </a:r>
                <a:r>
                  <a:rPr lang="en-US" sz="1600" i="1">
                    <a:solidFill>
                      <a:schemeClr val="accent2">
                        <a:lumMod val="50000"/>
                      </a:schemeClr>
                    </a:solidFill>
                    <a:latin typeface="Calibri" pitchFamily="34" charset="0"/>
                    <a:cs typeface="Calibri" pitchFamily="34" charset="0"/>
                  </a:rPr>
                  <a:t>trị hiện tại </a:t>
                </a:r>
                <a:r>
                  <a:rPr lang="en-US" sz="1600" i="1" smtClean="0">
                    <a:solidFill>
                      <a:schemeClr val="accent2">
                        <a:lumMod val="50000"/>
                      </a:schemeClr>
                    </a:solidFill>
                    <a:latin typeface="Calibri" pitchFamily="34" charset="0"/>
                    <a:cs typeface="Calibri" pitchFamily="34" charset="0"/>
                  </a:rPr>
                  <a:t>ròng </a:t>
                </a:r>
                <a:r>
                  <a:rPr lang="en-US" sz="1600">
                    <a:solidFill>
                      <a:schemeClr val="accent2">
                        <a:lumMod val="50000"/>
                      </a:schemeClr>
                    </a:solidFill>
                    <a:latin typeface="Calibri" pitchFamily="34" charset="0"/>
                    <a:cs typeface="Calibri" pitchFamily="34" charset="0"/>
                  </a:rPr>
                  <a:t>- Net Present Value (NPV): Giá trị hiện tại của dự </a:t>
                </a:r>
                <a:r>
                  <a:rPr lang="en-US" sz="1600" smtClean="0">
                    <a:solidFill>
                      <a:schemeClr val="accent2">
                        <a:lumMod val="50000"/>
                      </a:schemeClr>
                    </a:solidFill>
                    <a:latin typeface="Calibri" pitchFamily="34" charset="0"/>
                    <a:cs typeface="Calibri" pitchFamily="34" charset="0"/>
                  </a:rPr>
                  <a:t>án được tính theo công thức:</a:t>
                </a:r>
              </a:p>
              <a:p>
                <a:pPr marL="0" indent="0">
                  <a:buNone/>
                </a:pPr>
                <a:r>
                  <a:rPr lang="en-US" sz="1600" b="0" smtClean="0">
                    <a:solidFill>
                      <a:schemeClr val="accent2">
                        <a:lumMod val="50000"/>
                      </a:schemeClr>
                    </a:solidFill>
                    <a:cs typeface="Calibri" pitchFamily="34" charset="0"/>
                  </a:rPr>
                  <a:t>                                                                              </a:t>
                </a:r>
                <a14:m>
                  <m:oMath xmlns:m="http://schemas.openxmlformats.org/officeDocument/2006/math">
                    <m:r>
                      <a:rPr lang="en-US" sz="1600" b="0" i="1" smtClean="0">
                        <a:solidFill>
                          <a:schemeClr val="accent2">
                            <a:lumMod val="50000"/>
                          </a:schemeClr>
                        </a:solidFill>
                        <a:latin typeface="Cambria Math"/>
                        <a:cs typeface="Calibri" pitchFamily="34" charset="0"/>
                      </a:rPr>
                      <m:t>𝑁𝑃𝑉</m:t>
                    </m:r>
                    <m:r>
                      <a:rPr lang="en-US" sz="1600" b="0" i="1" smtClean="0">
                        <a:solidFill>
                          <a:schemeClr val="accent2">
                            <a:lumMod val="50000"/>
                          </a:schemeClr>
                        </a:solidFill>
                        <a:latin typeface="Cambria Math"/>
                        <a:cs typeface="Calibri" pitchFamily="34" charset="0"/>
                      </a:rPr>
                      <m:t>=</m:t>
                    </m:r>
                    <m:nary>
                      <m:naryPr>
                        <m:chr m:val="∑"/>
                        <m:subHide m:val="on"/>
                        <m:supHide m:val="on"/>
                        <m:ctrlPr>
                          <a:rPr lang="en-US" sz="1600" i="1" smtClean="0">
                            <a:solidFill>
                              <a:schemeClr val="accent2">
                                <a:lumMod val="50000"/>
                              </a:schemeClr>
                            </a:solidFill>
                            <a:latin typeface="Cambria Math"/>
                            <a:cs typeface="Calibri" pitchFamily="34" charset="0"/>
                          </a:rPr>
                        </m:ctrlPr>
                      </m:naryPr>
                      <m:sub/>
                      <m:sup/>
                      <m:e>
                        <m:sSub>
                          <m:sSubPr>
                            <m:ctrlPr>
                              <a:rPr lang="en-US" sz="1600" i="1" smtClean="0">
                                <a:solidFill>
                                  <a:schemeClr val="accent2">
                                    <a:lumMod val="50000"/>
                                  </a:schemeClr>
                                </a:solidFill>
                                <a:latin typeface="Cambria Math"/>
                                <a:cs typeface="Calibri" pitchFamily="34" charset="0"/>
                              </a:rPr>
                            </m:ctrlPr>
                          </m:sSubPr>
                          <m:e>
                            <m:r>
                              <a:rPr lang="en-US" sz="1600" b="0" i="1" smtClean="0">
                                <a:solidFill>
                                  <a:schemeClr val="accent2">
                                    <a:lumMod val="50000"/>
                                  </a:schemeClr>
                                </a:solidFill>
                                <a:latin typeface="Cambria Math"/>
                                <a:cs typeface="Calibri" pitchFamily="34" charset="0"/>
                              </a:rPr>
                              <m:t>𝑃𝑉</m:t>
                            </m:r>
                          </m:e>
                          <m:sub>
                            <m:r>
                              <a:rPr lang="en-US" sz="1600" b="0" i="1" smtClean="0">
                                <a:solidFill>
                                  <a:schemeClr val="accent2">
                                    <a:lumMod val="50000"/>
                                  </a:schemeClr>
                                </a:solidFill>
                                <a:latin typeface="Cambria Math"/>
                                <a:cs typeface="Calibri" pitchFamily="34" charset="0"/>
                              </a:rPr>
                              <m:t>𝑛</m:t>
                            </m:r>
                          </m:sub>
                        </m:sSub>
                      </m:e>
                    </m:nary>
                  </m:oMath>
                </a14:m>
                <a:endParaRPr lang="en-US" sz="1600">
                  <a:solidFill>
                    <a:schemeClr val="accent2">
                      <a:lumMod val="50000"/>
                    </a:schemeClr>
                  </a:solidFill>
                  <a:latin typeface="Calibri" pitchFamily="34" charset="0"/>
                  <a:cs typeface="Calibri" pitchFamily="34" charset="0"/>
                </a:endParaRPr>
              </a:p>
              <a:p>
                <a:pPr lvl="1" algn="just">
                  <a:spcAft>
                    <a:spcPts val="600"/>
                  </a:spcAft>
                  <a:buClr>
                    <a:srgbClr val="FF0066"/>
                  </a:buClr>
                </a:pPr>
                <a:endParaRPr lang="en-US" sz="1600">
                  <a:solidFill>
                    <a:schemeClr val="accent2">
                      <a:lumMod val="50000"/>
                    </a:schemeClr>
                  </a:solidFill>
                  <a:latin typeface="Calibri" pitchFamily="34" charset="0"/>
                  <a:cs typeface="Calibri"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18964" y="1196752"/>
                <a:ext cx="9478053" cy="5661247"/>
              </a:xfrm>
              <a:blipFill rotWithShape="1">
                <a:blip r:embed="rId2"/>
                <a:stretch>
                  <a:fillRect l="-514" t="-431" r="-257"/>
                </a:stretch>
              </a:blipFill>
            </p:spPr>
            <p:txBody>
              <a:bodyPr/>
              <a:lstStyle/>
              <a:p>
                <a:r>
                  <a:rPr lang="vi-VN">
                    <a:noFill/>
                  </a:rPr>
                  <a:t> </a:t>
                </a:r>
              </a:p>
            </p:txBody>
          </p:sp>
        </mc:Fallback>
      </mc:AlternateContent>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26</a:t>
            </a:fld>
            <a:endParaRPr lang="vi-VN"/>
          </a:p>
        </p:txBody>
      </p:sp>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b="1" smtClean="0">
                <a:solidFill>
                  <a:schemeClr val="accent6">
                    <a:lumMod val="75000"/>
                  </a:schemeClr>
                </a:solidFill>
                <a:ea typeface="+mj-ea"/>
                <a:cs typeface="Arial" pitchFamily="34" charset="0"/>
              </a:rPr>
              <a:t>2.1 Đánh giá tính khả thi kinh tế</a:t>
            </a:r>
          </a:p>
          <a:p>
            <a:pPr marL="3175" lvl="1"/>
            <a:r>
              <a:rPr lang="vi-VN" sz="1200" smtClean="0">
                <a:solidFill>
                  <a:schemeClr val="tx2"/>
                </a:solidFill>
                <a:cs typeface="Arial" pitchFamily="34" charset="0"/>
              </a:rPr>
              <a:t>2.2 Đánh giá tính khả thi </a:t>
            </a:r>
            <a:r>
              <a:rPr lang="vi-VN" sz="1200">
                <a:solidFill>
                  <a:schemeClr val="tx2"/>
                </a:solidFill>
                <a:cs typeface="Arial" pitchFamily="34" charset="0"/>
              </a:rPr>
              <a:t>kỹ thuật</a:t>
            </a:r>
          </a:p>
          <a:p>
            <a:pPr marL="3175" lvl="1"/>
            <a:r>
              <a:rPr lang="vi-VN" sz="1200" smtClean="0">
                <a:solidFill>
                  <a:schemeClr val="tx2"/>
                </a:solidFill>
                <a:cs typeface="Arial" pitchFamily="34" charset="0"/>
              </a:rPr>
              <a:t>2.3 Đánh giá tính khả thi </a:t>
            </a:r>
            <a:r>
              <a:rPr lang="vi-VN" sz="1200">
                <a:solidFill>
                  <a:schemeClr val="tx2"/>
                </a:solidFill>
                <a:cs typeface="Arial" pitchFamily="34" charset="0"/>
              </a:rPr>
              <a:t>hoạt động</a:t>
            </a:r>
          </a:p>
          <a:p>
            <a:pPr marL="3175" lvl="1"/>
            <a:r>
              <a:rPr lang="vi-VN" sz="1200" smtClean="0">
                <a:solidFill>
                  <a:schemeClr val="tx2"/>
                </a:solidFill>
                <a:cs typeface="Arial" pitchFamily="34" charset="0"/>
              </a:rPr>
              <a:t>2.4 Đánh giá tính khả thi khác</a:t>
            </a:r>
            <a:endParaRPr lang="vi-VN" sz="1200">
              <a:solidFill>
                <a:schemeClr val="tx2"/>
              </a:solidFill>
              <a:cs typeface="Arial" pitchFamily="34" charset="0"/>
            </a:endParaRPr>
          </a:p>
          <a:p>
            <a:pPr marL="3175" lvl="1"/>
            <a:endParaRPr lang="vi-VN" sz="1200" b="1">
              <a:solidFill>
                <a:schemeClr val="accent6">
                  <a:lumMod val="75000"/>
                </a:schemeClr>
              </a:solidFill>
              <a:ea typeface="+mj-ea"/>
              <a:cs typeface="Arial" pitchFamily="34" charset="0"/>
            </a:endParaRPr>
          </a:p>
        </p:txBody>
      </p:sp>
      <p:sp>
        <p:nvSpPr>
          <p:cNvPr id="10"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Các yếu tố đánh giá</a:t>
            </a:r>
            <a:endParaRPr lang="en-US" sz="1300" b="1">
              <a:solidFill>
                <a:schemeClr val="accent6">
                  <a:lumMod val="75000"/>
                </a:schemeClr>
              </a:solidFill>
              <a:latin typeface="Calibri (Body)"/>
              <a:ea typeface="+mj-ea"/>
              <a:cs typeface="Arial" pitchFamily="34" charset="0"/>
            </a:endParaRP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90038793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indent="0" algn="just">
              <a:spcAft>
                <a:spcPts val="683"/>
              </a:spcAft>
              <a:buClr>
                <a:srgbClr val="FF0066"/>
              </a:buClr>
              <a:buNone/>
            </a:pPr>
            <a:r>
              <a:rPr lang="en-US" sz="2000">
                <a:solidFill>
                  <a:schemeClr val="tx2">
                    <a:lumMod val="75000"/>
                  </a:schemeClr>
                </a:solidFill>
                <a:latin typeface="Calibri" pitchFamily="34" charset="0"/>
                <a:cs typeface="Calibri" pitchFamily="34" charset="0"/>
              </a:rPr>
              <a:t>B3. Đánh giá mối quan hệ giữa lợi nhuận và chi phí của dự án</a:t>
            </a:r>
            <a:endParaRPr lang="vi-VN" sz="2000">
              <a:solidFill>
                <a:schemeClr val="tx2">
                  <a:lumMod val="75000"/>
                </a:schemeClr>
              </a:solidFill>
              <a:latin typeface="Calibri" pitchFamily="34" charset="0"/>
              <a:cs typeface="Calibri" pitchFamily="34" charset="0"/>
            </a:endParaRPr>
          </a:p>
          <a:p>
            <a:pPr lvl="1" algn="just">
              <a:spcAft>
                <a:spcPts val="600"/>
              </a:spcAft>
              <a:buClr>
                <a:srgbClr val="FF0066"/>
              </a:buClr>
            </a:pPr>
            <a:endParaRPr lang="en-US" sz="16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27</a:t>
            </a:fld>
            <a:endParaRPr lang="vi-VN"/>
          </a:p>
        </p:txBody>
      </p:sp>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b="1" smtClean="0">
                <a:solidFill>
                  <a:schemeClr val="accent6">
                    <a:lumMod val="75000"/>
                  </a:schemeClr>
                </a:solidFill>
                <a:ea typeface="+mj-ea"/>
                <a:cs typeface="Arial" pitchFamily="34" charset="0"/>
              </a:rPr>
              <a:t>2.1 Đánh giá tính khả thi kinh tế</a:t>
            </a:r>
          </a:p>
          <a:p>
            <a:pPr marL="3175" lvl="1"/>
            <a:r>
              <a:rPr lang="vi-VN" sz="1200" smtClean="0">
                <a:solidFill>
                  <a:schemeClr val="tx2"/>
                </a:solidFill>
                <a:cs typeface="Arial" pitchFamily="34" charset="0"/>
              </a:rPr>
              <a:t>2.2 Đánh giá tính khả thi </a:t>
            </a:r>
            <a:r>
              <a:rPr lang="vi-VN" sz="1200">
                <a:solidFill>
                  <a:schemeClr val="tx2"/>
                </a:solidFill>
                <a:cs typeface="Arial" pitchFamily="34" charset="0"/>
              </a:rPr>
              <a:t>kỹ thuật</a:t>
            </a:r>
          </a:p>
          <a:p>
            <a:pPr marL="3175" lvl="1"/>
            <a:r>
              <a:rPr lang="vi-VN" sz="1200" smtClean="0">
                <a:solidFill>
                  <a:schemeClr val="tx2"/>
                </a:solidFill>
                <a:cs typeface="Arial" pitchFamily="34" charset="0"/>
              </a:rPr>
              <a:t>2.3 Đánh giá tính khả thi </a:t>
            </a:r>
            <a:r>
              <a:rPr lang="vi-VN" sz="1200">
                <a:solidFill>
                  <a:schemeClr val="tx2"/>
                </a:solidFill>
                <a:cs typeface="Arial" pitchFamily="34" charset="0"/>
              </a:rPr>
              <a:t>hoạt động</a:t>
            </a:r>
          </a:p>
          <a:p>
            <a:pPr marL="3175" lvl="1"/>
            <a:r>
              <a:rPr lang="vi-VN" sz="1200" smtClean="0">
                <a:solidFill>
                  <a:schemeClr val="tx2"/>
                </a:solidFill>
                <a:cs typeface="Arial" pitchFamily="34" charset="0"/>
              </a:rPr>
              <a:t>2.4 Đánh giá tính khả thi khác</a:t>
            </a:r>
            <a:endParaRPr lang="vi-VN" sz="1200">
              <a:solidFill>
                <a:schemeClr val="tx2"/>
              </a:solidFill>
              <a:cs typeface="Arial" pitchFamily="34" charset="0"/>
            </a:endParaRPr>
          </a:p>
          <a:p>
            <a:pPr marL="3175" lvl="1"/>
            <a:endParaRPr lang="vi-VN" sz="1200" b="1">
              <a:solidFill>
                <a:schemeClr val="accent6">
                  <a:lumMod val="75000"/>
                </a:schemeClr>
              </a:solidFill>
              <a:ea typeface="+mj-ea"/>
              <a:cs typeface="Arial" pitchFamily="34" charset="0"/>
            </a:endParaRPr>
          </a:p>
        </p:txBody>
      </p:sp>
      <p:sp>
        <p:nvSpPr>
          <p:cNvPr id="10"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Các yếu tố đánh giá</a:t>
            </a:r>
            <a:endParaRPr lang="en-US" sz="1300" b="1">
              <a:solidFill>
                <a:schemeClr val="accent6">
                  <a:lumMod val="75000"/>
                </a:schemeClr>
              </a:solidFill>
              <a:latin typeface="Calibri (Body)"/>
              <a:ea typeface="+mj-ea"/>
              <a:cs typeface="Arial" pitchFamily="34" charset="0"/>
            </a:endParaRPr>
          </a:p>
          <a:p>
            <a:pPr marL="180975" lvl="1"/>
            <a:endParaRPr lang="en-US" sz="1200" smtClean="0">
              <a:solidFill>
                <a:schemeClr val="accent1">
                  <a:lumMod val="75000"/>
                </a:schemeClr>
              </a:solidFill>
              <a:ea typeface="+mj-ea"/>
              <a:cs typeface="Arial"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0964" y="1628800"/>
            <a:ext cx="6218063" cy="4817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9561287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indent="0" algn="just">
              <a:spcAft>
                <a:spcPts val="683"/>
              </a:spcAft>
              <a:buClr>
                <a:srgbClr val="FF0066"/>
              </a:buClr>
              <a:buNone/>
            </a:pPr>
            <a:r>
              <a:rPr lang="en-US" sz="2000">
                <a:solidFill>
                  <a:schemeClr val="tx2">
                    <a:lumMod val="75000"/>
                  </a:schemeClr>
                </a:solidFill>
                <a:latin typeface="Calibri" pitchFamily="34" charset="0"/>
                <a:cs typeface="Calibri" pitchFamily="34" charset="0"/>
              </a:rPr>
              <a:t>B3. Đánh giá mối quan hệ giữa lợi nhuận và chi phí của dự án</a:t>
            </a:r>
            <a:endParaRPr lang="vi-VN" sz="2000">
              <a:solidFill>
                <a:schemeClr val="tx2">
                  <a:lumMod val="75000"/>
                </a:schemeClr>
              </a:solidFill>
              <a:latin typeface="Calibri" pitchFamily="34" charset="0"/>
              <a:cs typeface="Calibri" pitchFamily="34" charset="0"/>
            </a:endParaRPr>
          </a:p>
          <a:p>
            <a:pPr lvl="1" algn="just">
              <a:spcAft>
                <a:spcPts val="600"/>
              </a:spcAft>
              <a:buClr>
                <a:srgbClr val="FF0066"/>
              </a:buClr>
            </a:pPr>
            <a:r>
              <a:rPr lang="en-US" sz="1600" smtClean="0">
                <a:solidFill>
                  <a:schemeClr val="accent2">
                    <a:lumMod val="50000"/>
                  </a:schemeClr>
                </a:solidFill>
                <a:latin typeface="Calibri" pitchFamily="34" charset="0"/>
                <a:cs typeface="Calibri" pitchFamily="34" charset="0"/>
              </a:rPr>
              <a:t>Tỷ </a:t>
            </a:r>
            <a:r>
              <a:rPr lang="en-US" sz="1600">
                <a:solidFill>
                  <a:schemeClr val="accent2">
                    <a:lumMod val="50000"/>
                  </a:schemeClr>
                </a:solidFill>
                <a:latin typeface="Calibri" pitchFamily="34" charset="0"/>
                <a:cs typeface="Calibri" pitchFamily="34" charset="0"/>
              </a:rPr>
              <a:t>lệ hoàn trả vốn đầu tư - Return on Investment (ROI): Tỷ lệ giữa toàn bộ lợi nhuận chia cho chi phí của dự </a:t>
            </a:r>
            <a:r>
              <a:rPr lang="en-US" sz="1600" smtClean="0">
                <a:solidFill>
                  <a:schemeClr val="accent2">
                    <a:lumMod val="50000"/>
                  </a:schemeClr>
                </a:solidFill>
                <a:latin typeface="Calibri" pitchFamily="34" charset="0"/>
                <a:cs typeface="Calibri" pitchFamily="34" charset="0"/>
              </a:rPr>
              <a:t>án.</a:t>
            </a:r>
          </a:p>
          <a:p>
            <a:pPr lvl="1" algn="just">
              <a:spcAft>
                <a:spcPts val="600"/>
              </a:spcAft>
              <a:buClr>
                <a:srgbClr val="FF0066"/>
              </a:buClr>
            </a:pPr>
            <a:r>
              <a:rPr lang="en-US" sz="1600" smtClean="0">
                <a:solidFill>
                  <a:schemeClr val="accent2">
                    <a:lumMod val="50000"/>
                  </a:schemeClr>
                </a:solidFill>
                <a:latin typeface="Calibri" pitchFamily="34" charset="0"/>
                <a:cs typeface="Calibri" pitchFamily="34" charset="0"/>
              </a:rPr>
              <a:t>Điểm </a:t>
            </a:r>
            <a:r>
              <a:rPr lang="en-US" sz="1600">
                <a:solidFill>
                  <a:schemeClr val="accent2">
                    <a:lumMod val="50000"/>
                  </a:schemeClr>
                </a:solidFill>
                <a:latin typeface="Calibri" pitchFamily="34" charset="0"/>
                <a:cs typeface="Calibri" pitchFamily="34" charset="0"/>
              </a:rPr>
              <a:t>hòa vốn - Break-Even Point: Toàn bộ thời gian yêu cầu để cân bằng giữa chi phí và lợi nhuận của một dự án đầu tư</a:t>
            </a:r>
          </a:p>
          <a:p>
            <a:pPr lvl="1" algn="just">
              <a:spcAft>
                <a:spcPts val="600"/>
              </a:spcAft>
              <a:buClr>
                <a:srgbClr val="FF0066"/>
              </a:buClr>
            </a:pPr>
            <a:endParaRPr lang="en-US" sz="16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28</a:t>
            </a:fld>
            <a:endParaRPr lang="vi-VN"/>
          </a:p>
        </p:txBody>
      </p:sp>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b="1" smtClean="0">
                <a:solidFill>
                  <a:schemeClr val="accent6">
                    <a:lumMod val="75000"/>
                  </a:schemeClr>
                </a:solidFill>
                <a:ea typeface="+mj-ea"/>
                <a:cs typeface="Arial" pitchFamily="34" charset="0"/>
              </a:rPr>
              <a:t>2.1 Đánh giá tính khả thi kinh tế</a:t>
            </a:r>
          </a:p>
          <a:p>
            <a:pPr marL="3175" lvl="1"/>
            <a:r>
              <a:rPr lang="vi-VN" sz="1200" smtClean="0">
                <a:solidFill>
                  <a:schemeClr val="tx2"/>
                </a:solidFill>
                <a:cs typeface="Arial" pitchFamily="34" charset="0"/>
              </a:rPr>
              <a:t>2.2 Đánh giá tính khả thi </a:t>
            </a:r>
            <a:r>
              <a:rPr lang="vi-VN" sz="1200">
                <a:solidFill>
                  <a:schemeClr val="tx2"/>
                </a:solidFill>
                <a:cs typeface="Arial" pitchFamily="34" charset="0"/>
              </a:rPr>
              <a:t>kỹ </a:t>
            </a:r>
            <a:r>
              <a:rPr lang="vi-VN" sz="1200" smtClean="0">
                <a:solidFill>
                  <a:schemeClr val="tx2"/>
                </a:solidFill>
                <a:cs typeface="Arial" pitchFamily="34" charset="0"/>
              </a:rPr>
              <a:t>thuật</a:t>
            </a:r>
          </a:p>
          <a:p>
            <a:pPr marL="3175" lvl="1"/>
            <a:r>
              <a:rPr lang="vi-VN" sz="1200" smtClean="0">
                <a:solidFill>
                  <a:schemeClr val="tx2"/>
                </a:solidFill>
                <a:cs typeface="Arial" pitchFamily="34" charset="0"/>
              </a:rPr>
              <a:t>2.3 Đánh giá tính khả thi </a:t>
            </a:r>
            <a:r>
              <a:rPr lang="vi-VN" sz="1200">
                <a:solidFill>
                  <a:schemeClr val="tx2"/>
                </a:solidFill>
                <a:cs typeface="Arial" pitchFamily="34" charset="0"/>
              </a:rPr>
              <a:t>hoạt động</a:t>
            </a:r>
          </a:p>
          <a:p>
            <a:pPr marL="3175" lvl="1"/>
            <a:r>
              <a:rPr lang="vi-VN" sz="1200" smtClean="0">
                <a:solidFill>
                  <a:schemeClr val="tx2"/>
                </a:solidFill>
                <a:cs typeface="Arial" pitchFamily="34" charset="0"/>
              </a:rPr>
              <a:t>2.4 Đánh giá tính khả thi khác</a:t>
            </a:r>
            <a:endParaRPr lang="vi-VN" sz="1200">
              <a:solidFill>
                <a:schemeClr val="tx2"/>
              </a:solidFill>
              <a:cs typeface="Arial" pitchFamily="34" charset="0"/>
            </a:endParaRPr>
          </a:p>
          <a:p>
            <a:pPr marL="3175" lvl="1"/>
            <a:endParaRPr lang="vi-VN" sz="1200" b="1">
              <a:solidFill>
                <a:schemeClr val="accent6">
                  <a:lumMod val="75000"/>
                </a:schemeClr>
              </a:solidFill>
              <a:ea typeface="+mj-ea"/>
              <a:cs typeface="Arial" pitchFamily="34" charset="0"/>
            </a:endParaRPr>
          </a:p>
        </p:txBody>
      </p:sp>
      <p:sp>
        <p:nvSpPr>
          <p:cNvPr id="10"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Các yếu tố đánh giá</a:t>
            </a:r>
            <a:endParaRPr lang="en-US" sz="1300" b="1">
              <a:solidFill>
                <a:schemeClr val="accent6">
                  <a:lumMod val="75000"/>
                </a:schemeClr>
              </a:solidFill>
              <a:latin typeface="Calibri (Body)"/>
              <a:ea typeface="+mj-ea"/>
              <a:cs typeface="Arial" pitchFamily="34" charset="0"/>
            </a:endParaRPr>
          </a:p>
          <a:p>
            <a:pPr marL="180975" lvl="1"/>
            <a:endParaRPr lang="en-US" sz="1200" smtClean="0">
              <a:solidFill>
                <a:schemeClr val="accent1">
                  <a:lumMod val="75000"/>
                </a:schemeClr>
              </a:solidFill>
              <a:ea typeface="+mj-ea"/>
              <a:cs typeface="Arial" pitchFamily="34"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9204" y="3140968"/>
            <a:ext cx="3905250" cy="240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0886829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Đánh </a:t>
            </a:r>
            <a:r>
              <a:rPr lang="vi-VN" sz="2000">
                <a:solidFill>
                  <a:schemeClr val="accent2">
                    <a:lumMod val="50000"/>
                  </a:schemeClr>
                </a:solidFill>
                <a:latin typeface="Calibri" pitchFamily="34" charset="0"/>
                <a:cs typeface="Calibri" pitchFamily="34" charset="0"/>
              </a:rPr>
              <a:t>giá sự hiểu biết của nhóm phát </a:t>
            </a:r>
            <a:r>
              <a:rPr lang="vi-VN" sz="2000" smtClean="0">
                <a:solidFill>
                  <a:schemeClr val="accent2">
                    <a:lumMod val="50000"/>
                  </a:schemeClr>
                </a:solidFill>
                <a:latin typeface="Calibri" pitchFamily="34" charset="0"/>
                <a:cs typeface="Calibri" pitchFamily="34" charset="0"/>
              </a:rPr>
              <a:t>triển về </a:t>
            </a:r>
            <a:r>
              <a:rPr lang="vi-VN" sz="2000">
                <a:solidFill>
                  <a:schemeClr val="accent2">
                    <a:lumMod val="50000"/>
                  </a:schemeClr>
                </a:solidFill>
                <a:latin typeface="Calibri" pitchFamily="34" charset="0"/>
                <a:cs typeface="Calibri" pitchFamily="34" charset="0"/>
              </a:rPr>
              <a:t>khả năng phần cứng, phần mềm </a:t>
            </a:r>
            <a:r>
              <a:rPr lang="vi-VN" sz="2000" smtClean="0">
                <a:solidFill>
                  <a:schemeClr val="accent2">
                    <a:lumMod val="50000"/>
                  </a:schemeClr>
                </a:solidFill>
                <a:latin typeface="Calibri" pitchFamily="34" charset="0"/>
                <a:cs typeface="Calibri" pitchFamily="34" charset="0"/>
              </a:rPr>
              <a:t>và môi </a:t>
            </a:r>
            <a:r>
              <a:rPr lang="vi-VN" sz="2000">
                <a:solidFill>
                  <a:schemeClr val="accent2">
                    <a:lumMod val="50000"/>
                  </a:schemeClr>
                </a:solidFill>
                <a:latin typeface="Calibri" pitchFamily="34" charset="0"/>
                <a:cs typeface="Calibri" pitchFamily="34" charset="0"/>
              </a:rPr>
              <a:t>trường hoạt động của HTTT tương lai</a:t>
            </a:r>
            <a:r>
              <a:rPr lang="vi-VN" sz="2000" smtClean="0">
                <a:solidFill>
                  <a:schemeClr val="accent2">
                    <a:lumMod val="50000"/>
                  </a:schemeClr>
                </a:solidFill>
                <a:latin typeface="Calibri" pitchFamily="34" charset="0"/>
                <a:cs typeface="Calibri" pitchFamily="34" charset="0"/>
              </a:rPr>
              <a:t>, bao </a:t>
            </a:r>
            <a:r>
              <a:rPr lang="vi-VN" sz="2000">
                <a:solidFill>
                  <a:schemeClr val="accent2">
                    <a:lumMod val="50000"/>
                  </a:schemeClr>
                </a:solidFill>
                <a:latin typeface="Calibri" pitchFamily="34" charset="0"/>
                <a:cs typeface="Calibri" pitchFamily="34" charset="0"/>
              </a:rPr>
              <a:t>gồm:</a:t>
            </a:r>
          </a:p>
          <a:p>
            <a:pPr marL="714375" lvl="1" indent="-193675"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Độ </a:t>
            </a:r>
            <a:r>
              <a:rPr lang="vi-VN" sz="1800">
                <a:solidFill>
                  <a:schemeClr val="accent2">
                    <a:lumMod val="50000"/>
                  </a:schemeClr>
                </a:solidFill>
                <a:latin typeface="Calibri" pitchFamily="34" charset="0"/>
                <a:cs typeface="Calibri" pitchFamily="34" charset="0"/>
              </a:rPr>
              <a:t>lớn hệ </a:t>
            </a:r>
            <a:r>
              <a:rPr lang="vi-VN" sz="1800" smtClean="0">
                <a:solidFill>
                  <a:schemeClr val="accent2">
                    <a:lumMod val="50000"/>
                  </a:schemeClr>
                </a:solidFill>
                <a:latin typeface="Calibri" pitchFamily="34" charset="0"/>
                <a:cs typeface="Calibri" pitchFamily="34" charset="0"/>
              </a:rPr>
              <a:t>thống.</a:t>
            </a:r>
          </a:p>
          <a:p>
            <a:pPr marL="714375" lvl="1" indent="-193675"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Độ </a:t>
            </a:r>
            <a:r>
              <a:rPr lang="vi-VN" sz="1800">
                <a:solidFill>
                  <a:schemeClr val="accent2">
                    <a:lumMod val="50000"/>
                  </a:schemeClr>
                </a:solidFill>
                <a:latin typeface="Calibri" pitchFamily="34" charset="0"/>
                <a:cs typeface="Calibri" pitchFamily="34" charset="0"/>
              </a:rPr>
              <a:t>phức tạp của hệ </a:t>
            </a:r>
            <a:r>
              <a:rPr lang="vi-VN" sz="1800" smtClean="0">
                <a:solidFill>
                  <a:schemeClr val="accent2">
                    <a:lumMod val="50000"/>
                  </a:schemeClr>
                </a:solidFill>
                <a:latin typeface="Calibri" pitchFamily="34" charset="0"/>
                <a:cs typeface="Calibri" pitchFamily="34" charset="0"/>
              </a:rPr>
              <a:t>thống</a:t>
            </a:r>
          </a:p>
          <a:p>
            <a:pPr marL="714375" lvl="1" indent="-193675"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Kinh </a:t>
            </a:r>
            <a:r>
              <a:rPr lang="vi-VN" sz="1800">
                <a:solidFill>
                  <a:schemeClr val="accent2">
                    <a:lumMod val="50000"/>
                  </a:schemeClr>
                </a:solidFill>
                <a:latin typeface="Calibri" pitchFamily="34" charset="0"/>
                <a:cs typeface="Calibri" pitchFamily="34" charset="0"/>
              </a:rPr>
              <a:t>nghiệm của nhóm triển khai (nhóm </a:t>
            </a:r>
            <a:r>
              <a:rPr lang="vi-VN" sz="1800" smtClean="0">
                <a:solidFill>
                  <a:schemeClr val="accent2">
                    <a:lumMod val="50000"/>
                  </a:schemeClr>
                </a:solidFill>
                <a:latin typeface="Calibri" pitchFamily="34" charset="0"/>
                <a:cs typeface="Calibri" pitchFamily="34" charset="0"/>
              </a:rPr>
              <a:t>phát triển </a:t>
            </a:r>
            <a:r>
              <a:rPr lang="vi-VN" sz="1800">
                <a:solidFill>
                  <a:schemeClr val="accent2">
                    <a:lumMod val="50000"/>
                  </a:schemeClr>
                </a:solidFill>
                <a:latin typeface="Calibri" pitchFamily="34" charset="0"/>
                <a:cs typeface="Calibri" pitchFamily="34" charset="0"/>
              </a:rPr>
              <a:t>và người dùng) </a:t>
            </a:r>
            <a:r>
              <a:rPr lang="vi-VN" sz="1800" smtClean="0">
                <a:solidFill>
                  <a:schemeClr val="accent2">
                    <a:lumMod val="50000"/>
                  </a:schemeClr>
                </a:solidFill>
                <a:latin typeface="Calibri" pitchFamily="34" charset="0"/>
                <a:cs typeface="Calibri" pitchFamily="34" charset="0"/>
              </a:rPr>
              <a:t>đối với </a:t>
            </a:r>
            <a:r>
              <a:rPr lang="vi-VN" sz="1800">
                <a:solidFill>
                  <a:schemeClr val="accent2">
                    <a:lumMod val="50000"/>
                  </a:schemeClr>
                </a:solidFill>
                <a:latin typeface="Calibri" pitchFamily="34" charset="0"/>
                <a:cs typeface="Calibri" pitchFamily="34" charset="0"/>
              </a:rPr>
              <a:t>các hệ thống </a:t>
            </a:r>
            <a:r>
              <a:rPr lang="vi-VN" sz="1800" smtClean="0">
                <a:solidFill>
                  <a:schemeClr val="accent2">
                    <a:lumMod val="50000"/>
                  </a:schemeClr>
                </a:solidFill>
                <a:latin typeface="Calibri" pitchFamily="34" charset="0"/>
                <a:cs typeface="Calibri" pitchFamily="34" charset="0"/>
              </a:rPr>
              <a:t>tương tự.</a:t>
            </a:r>
            <a:endParaRPr lang="vi-VN" sz="1800">
              <a:solidFill>
                <a:schemeClr val="accent2">
                  <a:lumMod val="50000"/>
                </a:schemeClr>
              </a:solidFill>
              <a:latin typeface="Calibri" pitchFamily="34" charset="0"/>
              <a:cs typeface="Calibri" pitchFamily="34" charset="0"/>
            </a:endParaRPr>
          </a:p>
          <a:p>
            <a:pPr marL="390392" lvl="1" indent="-390392" algn="just">
              <a:spcAft>
                <a:spcPts val="683"/>
              </a:spcAft>
              <a:buClr>
                <a:srgbClr val="FF0066"/>
              </a:buClr>
              <a:buFont typeface="Symbol" pitchFamily="18" charset="2"/>
              <a:buChar char="¨"/>
            </a:pPr>
            <a:r>
              <a:rPr lang="vi-VN" sz="2000">
                <a:solidFill>
                  <a:schemeClr val="accent2">
                    <a:lumMod val="50000"/>
                  </a:schemeClr>
                </a:solidFill>
                <a:latin typeface="Calibri" pitchFamily="34" charset="0"/>
                <a:cs typeface="Calibri" pitchFamily="34" charset="0"/>
              </a:rPr>
              <a:t>Một số luật </a:t>
            </a:r>
            <a:r>
              <a:rPr lang="vi-VN" sz="2000" smtClean="0">
                <a:solidFill>
                  <a:schemeClr val="accent2">
                    <a:lumMod val="50000"/>
                  </a:schemeClr>
                </a:solidFill>
                <a:latin typeface="Calibri" pitchFamily="34" charset="0"/>
                <a:cs typeface="Calibri" pitchFamily="34" charset="0"/>
              </a:rPr>
              <a:t>đánh giá:</a:t>
            </a:r>
            <a:endParaRPr lang="vi-VN" sz="2000">
              <a:solidFill>
                <a:schemeClr val="accent2">
                  <a:lumMod val="50000"/>
                </a:schemeClr>
              </a:solidFill>
              <a:latin typeface="Calibri" pitchFamily="34" charset="0"/>
              <a:cs typeface="Calibri" pitchFamily="34" charset="0"/>
            </a:endParaRPr>
          </a:p>
          <a:p>
            <a:pPr marL="711200" lvl="1" indent="-168275"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Các </a:t>
            </a:r>
            <a:r>
              <a:rPr lang="vi-VN" sz="1800">
                <a:solidFill>
                  <a:schemeClr val="accent2">
                    <a:lumMod val="50000"/>
                  </a:schemeClr>
                </a:solidFill>
                <a:latin typeface="Calibri" pitchFamily="34" charset="0"/>
                <a:cs typeface="Calibri" pitchFamily="34" charset="0"/>
              </a:rPr>
              <a:t>dự án </a:t>
            </a:r>
            <a:r>
              <a:rPr lang="vi-VN" sz="1800" smtClean="0">
                <a:solidFill>
                  <a:schemeClr val="accent2">
                    <a:lumMod val="50000"/>
                  </a:schemeClr>
                </a:solidFill>
                <a:latin typeface="Calibri" pitchFamily="34" charset="0"/>
                <a:cs typeface="Calibri" pitchFamily="34" charset="0"/>
              </a:rPr>
              <a:t>nhỏ </a:t>
            </a:r>
            <a:r>
              <a:rPr lang="vi-VN" sz="1800">
                <a:solidFill>
                  <a:schemeClr val="accent2">
                    <a:lumMod val="50000"/>
                  </a:schemeClr>
                </a:solidFill>
                <a:latin typeface="Calibri" pitchFamily="34" charset="0"/>
                <a:cs typeface="Calibri" pitchFamily="34" charset="0"/>
              </a:rPr>
              <a:t>thì ít </a:t>
            </a:r>
            <a:r>
              <a:rPr lang="vi-VN" sz="1800" smtClean="0">
                <a:solidFill>
                  <a:schemeClr val="accent2">
                    <a:lumMod val="50000"/>
                  </a:schemeClr>
                </a:solidFill>
                <a:latin typeface="Calibri" pitchFamily="34" charset="0"/>
                <a:cs typeface="Calibri" pitchFamily="34" charset="0"/>
              </a:rPr>
              <a:t>rủi </a:t>
            </a:r>
            <a:r>
              <a:rPr lang="vi-VN" sz="1800">
                <a:solidFill>
                  <a:schemeClr val="accent2">
                    <a:lumMod val="50000"/>
                  </a:schemeClr>
                </a:solidFill>
                <a:latin typeface="Calibri" pitchFamily="34" charset="0"/>
                <a:cs typeface="Calibri" pitchFamily="34" charset="0"/>
              </a:rPr>
              <a:t>ro hơn các dự án </a:t>
            </a:r>
            <a:r>
              <a:rPr lang="vi-VN" sz="1800" smtClean="0">
                <a:solidFill>
                  <a:schemeClr val="accent2">
                    <a:lumMod val="50000"/>
                  </a:schemeClr>
                </a:solidFill>
                <a:latin typeface="Calibri" pitchFamily="34" charset="0"/>
                <a:cs typeface="Calibri" pitchFamily="34" charset="0"/>
              </a:rPr>
              <a:t>lớn.</a:t>
            </a:r>
          </a:p>
          <a:p>
            <a:pPr marL="806450" lvl="1" indent="-285750"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Một </a:t>
            </a:r>
            <a:r>
              <a:rPr lang="vi-VN" sz="1800">
                <a:solidFill>
                  <a:schemeClr val="accent2">
                    <a:lumMod val="50000"/>
                  </a:schemeClr>
                </a:solidFill>
                <a:latin typeface="Calibri" pitchFamily="34" charset="0"/>
                <a:cs typeface="Calibri" pitchFamily="34" charset="0"/>
              </a:rPr>
              <a:t>hệ thống có các yêu cầu </a:t>
            </a:r>
            <a:r>
              <a:rPr lang="vi-VN" sz="1800" smtClean="0">
                <a:solidFill>
                  <a:schemeClr val="accent2">
                    <a:lumMod val="50000"/>
                  </a:schemeClr>
                </a:solidFill>
                <a:latin typeface="Calibri" pitchFamily="34" charset="0"/>
                <a:cs typeface="Calibri" pitchFamily="34" charset="0"/>
              </a:rPr>
              <a:t>rõ ràng và có cấu trúc </a:t>
            </a:r>
            <a:r>
              <a:rPr lang="vi-VN" sz="1800">
                <a:solidFill>
                  <a:schemeClr val="accent2">
                    <a:lumMod val="50000"/>
                  </a:schemeClr>
                </a:solidFill>
                <a:latin typeface="Calibri" pitchFamily="34" charset="0"/>
                <a:cs typeface="Calibri" pitchFamily="34" charset="0"/>
              </a:rPr>
              <a:t>cao sẽ ít </a:t>
            </a:r>
            <a:r>
              <a:rPr lang="vi-VN" sz="1800" smtClean="0">
                <a:solidFill>
                  <a:schemeClr val="accent2">
                    <a:lumMod val="50000"/>
                  </a:schemeClr>
                </a:solidFill>
                <a:latin typeface="Calibri" pitchFamily="34" charset="0"/>
                <a:cs typeface="Calibri" pitchFamily="34" charset="0"/>
              </a:rPr>
              <a:t>rủi </a:t>
            </a:r>
            <a:r>
              <a:rPr lang="vi-VN" sz="1800">
                <a:solidFill>
                  <a:schemeClr val="accent2">
                    <a:lumMod val="50000"/>
                  </a:schemeClr>
                </a:solidFill>
                <a:latin typeface="Calibri" pitchFamily="34" charset="0"/>
                <a:cs typeface="Calibri" pitchFamily="34" charset="0"/>
              </a:rPr>
              <a:t>ro hơn </a:t>
            </a:r>
            <a:r>
              <a:rPr lang="vi-VN" sz="1800" smtClean="0">
                <a:solidFill>
                  <a:schemeClr val="accent2">
                    <a:lumMod val="50000"/>
                  </a:schemeClr>
                </a:solidFill>
                <a:latin typeface="Calibri" pitchFamily="34" charset="0"/>
                <a:cs typeface="Calibri" pitchFamily="34" charset="0"/>
              </a:rPr>
              <a:t>hệ thống </a:t>
            </a:r>
            <a:r>
              <a:rPr lang="vi-VN" sz="1800">
                <a:solidFill>
                  <a:schemeClr val="accent2">
                    <a:lumMod val="50000"/>
                  </a:schemeClr>
                </a:solidFill>
                <a:latin typeface="Calibri" pitchFamily="34" charset="0"/>
                <a:cs typeface="Calibri" pitchFamily="34" charset="0"/>
              </a:rPr>
              <a:t>có yêu cầu </a:t>
            </a:r>
            <a:r>
              <a:rPr lang="vi-VN" sz="1800" smtClean="0">
                <a:solidFill>
                  <a:schemeClr val="accent2">
                    <a:lumMod val="50000"/>
                  </a:schemeClr>
                </a:solidFill>
                <a:latin typeface="Calibri" pitchFamily="34" charset="0"/>
                <a:cs typeface="Calibri" pitchFamily="34" charset="0"/>
              </a:rPr>
              <a:t>không </a:t>
            </a:r>
            <a:r>
              <a:rPr lang="vi-VN" sz="1800">
                <a:solidFill>
                  <a:schemeClr val="accent2">
                    <a:lumMod val="50000"/>
                  </a:schemeClr>
                </a:solidFill>
                <a:latin typeface="Calibri" pitchFamily="34" charset="0"/>
                <a:cs typeface="Calibri" pitchFamily="34" charset="0"/>
              </a:rPr>
              <a:t>rõ ràng hoặc </a:t>
            </a:r>
            <a:r>
              <a:rPr lang="vi-VN" sz="1800" smtClean="0">
                <a:solidFill>
                  <a:schemeClr val="accent2">
                    <a:lumMod val="50000"/>
                  </a:schemeClr>
                </a:solidFill>
                <a:latin typeface="Calibri" pitchFamily="34" charset="0"/>
                <a:cs typeface="Calibri" pitchFamily="34" charset="0"/>
              </a:rPr>
              <a:t>chỉ được </a:t>
            </a:r>
            <a:r>
              <a:rPr lang="vi-VN" sz="1800">
                <a:solidFill>
                  <a:schemeClr val="accent2">
                    <a:lumMod val="50000"/>
                  </a:schemeClr>
                </a:solidFill>
                <a:latin typeface="Calibri" pitchFamily="34" charset="0"/>
                <a:cs typeface="Calibri" pitchFamily="34" charset="0"/>
              </a:rPr>
              <a:t>thẩm định bởi một cá </a:t>
            </a:r>
            <a:r>
              <a:rPr lang="vi-VN" sz="1800" smtClean="0">
                <a:solidFill>
                  <a:schemeClr val="accent2">
                    <a:lumMod val="50000"/>
                  </a:schemeClr>
                </a:solidFill>
                <a:latin typeface="Calibri" pitchFamily="34" charset="0"/>
                <a:cs typeface="Calibri" pitchFamily="34" charset="0"/>
              </a:rPr>
              <a:t>nhân.</a:t>
            </a:r>
          </a:p>
          <a:p>
            <a:pPr marL="806450" lvl="1" indent="-285750"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Sử </a:t>
            </a:r>
            <a:r>
              <a:rPr lang="vi-VN" sz="1800">
                <a:solidFill>
                  <a:schemeClr val="accent2">
                    <a:lumMod val="50000"/>
                  </a:schemeClr>
                </a:solidFill>
                <a:latin typeface="Calibri" pitchFamily="34" charset="0"/>
                <a:cs typeface="Calibri" pitchFamily="34" charset="0"/>
              </a:rPr>
              <a:t>dụng công nghệ phổ biến và chuẩn hoá sẽ ít </a:t>
            </a:r>
            <a:r>
              <a:rPr lang="vi-VN" sz="1800" smtClean="0">
                <a:solidFill>
                  <a:schemeClr val="accent2">
                    <a:lumMod val="50000"/>
                  </a:schemeClr>
                </a:solidFill>
                <a:latin typeface="Calibri" pitchFamily="34" charset="0"/>
                <a:cs typeface="Calibri" pitchFamily="34" charset="0"/>
              </a:rPr>
              <a:t>rủi ro hơn </a:t>
            </a:r>
            <a:r>
              <a:rPr lang="vi-VN" sz="1800">
                <a:solidFill>
                  <a:schemeClr val="accent2">
                    <a:lumMod val="50000"/>
                  </a:schemeClr>
                </a:solidFill>
                <a:latin typeface="Calibri" pitchFamily="34" charset="0"/>
                <a:cs typeface="Calibri" pitchFamily="34" charset="0"/>
              </a:rPr>
              <a:t>việc sử dụng công nghệ mới và không </a:t>
            </a:r>
            <a:r>
              <a:rPr lang="vi-VN" sz="1800" smtClean="0">
                <a:solidFill>
                  <a:schemeClr val="accent2">
                    <a:lumMod val="50000"/>
                  </a:schemeClr>
                </a:solidFill>
                <a:latin typeface="Calibri" pitchFamily="34" charset="0"/>
                <a:cs typeface="Calibri" pitchFamily="34" charset="0"/>
              </a:rPr>
              <a:t>chuẩn hóa.</a:t>
            </a:r>
          </a:p>
          <a:p>
            <a:pPr marL="806450" lvl="1" indent="-285750"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Dự </a:t>
            </a:r>
            <a:r>
              <a:rPr lang="vi-VN" sz="1800">
                <a:solidFill>
                  <a:schemeClr val="accent2">
                    <a:lumMod val="50000"/>
                  </a:schemeClr>
                </a:solidFill>
                <a:latin typeface="Calibri" pitchFamily="34" charset="0"/>
                <a:cs typeface="Calibri" pitchFamily="34" charset="0"/>
              </a:rPr>
              <a:t>án ít </a:t>
            </a:r>
            <a:r>
              <a:rPr lang="vi-VN" sz="1800" smtClean="0">
                <a:solidFill>
                  <a:schemeClr val="accent2">
                    <a:lumMod val="50000"/>
                  </a:schemeClr>
                </a:solidFill>
                <a:latin typeface="Calibri" pitchFamily="34" charset="0"/>
                <a:cs typeface="Calibri" pitchFamily="34" charset="0"/>
              </a:rPr>
              <a:t>rủi </a:t>
            </a:r>
            <a:r>
              <a:rPr lang="vi-VN" sz="1800">
                <a:solidFill>
                  <a:schemeClr val="accent2">
                    <a:lumMod val="50000"/>
                  </a:schemeClr>
                </a:solidFill>
                <a:latin typeface="Calibri" pitchFamily="34" charset="0"/>
                <a:cs typeface="Calibri" pitchFamily="34" charset="0"/>
              </a:rPr>
              <a:t>ro hơn khi nhóm người dùng quen </a:t>
            </a:r>
            <a:r>
              <a:rPr lang="vi-VN" sz="1800" smtClean="0">
                <a:solidFill>
                  <a:schemeClr val="accent2">
                    <a:lumMod val="50000"/>
                  </a:schemeClr>
                </a:solidFill>
                <a:latin typeface="Calibri" pitchFamily="34" charset="0"/>
                <a:cs typeface="Calibri" pitchFamily="34" charset="0"/>
              </a:rPr>
              <a:t>thuộc với </a:t>
            </a:r>
            <a:r>
              <a:rPr lang="vi-VN" sz="1800">
                <a:solidFill>
                  <a:schemeClr val="accent2">
                    <a:lumMod val="50000"/>
                  </a:schemeClr>
                </a:solidFill>
                <a:latin typeface="Calibri" pitchFamily="34" charset="0"/>
                <a:cs typeface="Calibri" pitchFamily="34" charset="0"/>
              </a:rPr>
              <a:t>tiến trình phát triển hệ thống và </a:t>
            </a:r>
            <a:r>
              <a:rPr lang="vi-VN" sz="1800" smtClean="0">
                <a:solidFill>
                  <a:schemeClr val="accent2">
                    <a:lumMod val="50000"/>
                  </a:schemeClr>
                </a:solidFill>
                <a:latin typeface="Calibri" pitchFamily="34" charset="0"/>
                <a:cs typeface="Calibri" pitchFamily="34" charset="0"/>
              </a:rPr>
              <a:t>lĩnh </a:t>
            </a:r>
            <a:r>
              <a:rPr lang="vi-VN" sz="1800">
                <a:solidFill>
                  <a:schemeClr val="accent2">
                    <a:lumMod val="50000"/>
                  </a:schemeClr>
                </a:solidFill>
                <a:latin typeface="Calibri" pitchFamily="34" charset="0"/>
                <a:cs typeface="Calibri" pitchFamily="34" charset="0"/>
              </a:rPr>
              <a:t>vực </a:t>
            </a:r>
            <a:r>
              <a:rPr lang="vi-VN" sz="1800" smtClean="0">
                <a:solidFill>
                  <a:schemeClr val="accent2">
                    <a:lumMod val="50000"/>
                  </a:schemeClr>
                </a:solidFill>
                <a:latin typeface="Calibri" pitchFamily="34" charset="0"/>
                <a:cs typeface="Calibri" pitchFamily="34" charset="0"/>
              </a:rPr>
              <a:t>ứng dụng.</a:t>
            </a: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29</a:t>
            </a:fld>
            <a:endParaRPr lang="vi-VN"/>
          </a:p>
        </p:txBody>
      </p:sp>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a:solidFill>
                  <a:schemeClr val="tx2"/>
                </a:solidFill>
                <a:cs typeface="Arial" pitchFamily="34" charset="0"/>
              </a:rPr>
              <a:t>2.1 Đánh giá tính khả thi kinh tế</a:t>
            </a:r>
          </a:p>
          <a:p>
            <a:pPr marL="3175" lvl="1"/>
            <a:r>
              <a:rPr lang="vi-VN" sz="1200" b="1">
                <a:solidFill>
                  <a:schemeClr val="accent6">
                    <a:lumMod val="75000"/>
                  </a:schemeClr>
                </a:solidFill>
                <a:cs typeface="Arial" pitchFamily="34" charset="0"/>
              </a:rPr>
              <a:t>2.2 Đánh giá tính khả thi kỹ thuật</a:t>
            </a:r>
          </a:p>
          <a:p>
            <a:pPr marL="3175" lvl="1"/>
            <a:r>
              <a:rPr lang="vi-VN" sz="1200">
                <a:solidFill>
                  <a:schemeClr val="tx2"/>
                </a:solidFill>
                <a:cs typeface="Arial" pitchFamily="34" charset="0"/>
              </a:rPr>
              <a:t>2.3 Đánh giá tính khả thi hoạt động</a:t>
            </a:r>
          </a:p>
          <a:p>
            <a:pPr marL="3175" lvl="1"/>
            <a:r>
              <a:rPr lang="vi-VN" sz="1200" smtClean="0">
                <a:solidFill>
                  <a:schemeClr val="tx2"/>
                </a:solidFill>
                <a:cs typeface="Arial" pitchFamily="34" charset="0"/>
              </a:rPr>
              <a:t>2.4 Đánh giá tính khả thi khác</a:t>
            </a:r>
            <a:endParaRPr lang="vi-VN" sz="1200">
              <a:solidFill>
                <a:schemeClr val="tx2"/>
              </a:solidFill>
              <a:cs typeface="Arial" pitchFamily="34" charset="0"/>
            </a:endParaRPr>
          </a:p>
          <a:p>
            <a:pPr marL="3175" lvl="1"/>
            <a:endParaRPr lang="vi-VN" sz="1200" b="1">
              <a:solidFill>
                <a:schemeClr val="accent6">
                  <a:lumMod val="75000"/>
                </a:schemeClr>
              </a:solidFill>
              <a:ea typeface="+mj-ea"/>
              <a:cs typeface="Arial" pitchFamily="34" charset="0"/>
            </a:endParaRPr>
          </a:p>
        </p:txBody>
      </p:sp>
      <p:sp>
        <p:nvSpPr>
          <p:cNvPr id="10"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Các yếu tố đánh giá</a:t>
            </a:r>
            <a:endParaRPr lang="en-US" sz="1300" b="1">
              <a:solidFill>
                <a:schemeClr val="accent6">
                  <a:lumMod val="75000"/>
                </a:schemeClr>
              </a:solidFill>
              <a:latin typeface="Calibri (Body)"/>
              <a:ea typeface="+mj-ea"/>
              <a:cs typeface="Arial" pitchFamily="34" charset="0"/>
            </a:endParaRP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131108774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en-US" sz="2000" smtClean="0">
                <a:solidFill>
                  <a:schemeClr val="accent2">
                    <a:lumMod val="50000"/>
                  </a:schemeClr>
                </a:solidFill>
                <a:latin typeface="Calibri" pitchFamily="34" charset="0"/>
                <a:cs typeface="Calibri" pitchFamily="34" charset="0"/>
              </a:rPr>
              <a:t>Mục </a:t>
            </a:r>
            <a:r>
              <a:rPr lang="en-US" sz="2000">
                <a:solidFill>
                  <a:schemeClr val="accent2">
                    <a:lumMod val="50000"/>
                  </a:schemeClr>
                </a:solidFill>
                <a:latin typeface="Calibri" pitchFamily="34" charset="0"/>
                <a:cs typeface="Calibri" pitchFamily="34" charset="0"/>
              </a:rPr>
              <a:t>tiêu của đánh giá tính khả thi hoạt động là tìm hiểu mức độ mà hệ thống đề xuất có thể giải quyết các vấn đề nghiệp vụ phù hợp với môi trường kinh doanh hiện tại và các hoạt động hàng ngày của hệ </a:t>
            </a:r>
            <a:r>
              <a:rPr lang="en-US" sz="2000" smtClean="0">
                <a:solidFill>
                  <a:schemeClr val="accent2">
                    <a:lumMod val="50000"/>
                  </a:schemeClr>
                </a:solidFill>
                <a:latin typeface="Calibri" pitchFamily="34" charset="0"/>
                <a:cs typeface="Calibri" pitchFamily="34" charset="0"/>
              </a:rPr>
              <a:t>thống.</a:t>
            </a:r>
            <a:endParaRPr lang="en-US" sz="20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30</a:t>
            </a:fld>
            <a:endParaRPr lang="vi-VN"/>
          </a:p>
        </p:txBody>
      </p:sp>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a:solidFill>
                  <a:schemeClr val="tx2"/>
                </a:solidFill>
                <a:cs typeface="Arial" pitchFamily="34" charset="0"/>
              </a:rPr>
              <a:t>2.1 Đánh giá tính khả thi kinh tế</a:t>
            </a:r>
          </a:p>
          <a:p>
            <a:pPr marL="3175" lvl="1"/>
            <a:r>
              <a:rPr lang="vi-VN" sz="1200">
                <a:solidFill>
                  <a:schemeClr val="tx2"/>
                </a:solidFill>
                <a:cs typeface="Arial" pitchFamily="34" charset="0"/>
              </a:rPr>
              <a:t>2.2 Đánh giá tính khả thi kỹ thuật</a:t>
            </a:r>
          </a:p>
          <a:p>
            <a:pPr marL="3175" lvl="1"/>
            <a:r>
              <a:rPr lang="vi-VN" sz="1200" b="1">
                <a:solidFill>
                  <a:schemeClr val="accent6">
                    <a:lumMod val="75000"/>
                  </a:schemeClr>
                </a:solidFill>
                <a:cs typeface="Arial" pitchFamily="34" charset="0"/>
              </a:rPr>
              <a:t>2.3 Đánh giá tính khả thi</a:t>
            </a:r>
            <a:r>
              <a:rPr lang="vi-VN" sz="1200" smtClean="0">
                <a:solidFill>
                  <a:schemeClr val="tx2"/>
                </a:solidFill>
                <a:cs typeface="Arial" pitchFamily="34" charset="0"/>
              </a:rPr>
              <a:t> </a:t>
            </a:r>
            <a:r>
              <a:rPr lang="vi-VN" sz="1200" b="1">
                <a:solidFill>
                  <a:schemeClr val="accent6">
                    <a:lumMod val="75000"/>
                  </a:schemeClr>
                </a:solidFill>
                <a:cs typeface="Arial" pitchFamily="34" charset="0"/>
              </a:rPr>
              <a:t>hoạt động</a:t>
            </a:r>
          </a:p>
          <a:p>
            <a:pPr marL="3175" lvl="1"/>
            <a:r>
              <a:rPr lang="vi-VN" sz="1200" smtClean="0">
                <a:solidFill>
                  <a:schemeClr val="tx2"/>
                </a:solidFill>
                <a:cs typeface="Arial" pitchFamily="34" charset="0"/>
              </a:rPr>
              <a:t>2.4 Đánh giá tính khả thi khác</a:t>
            </a:r>
            <a:endParaRPr lang="vi-VN" sz="1200">
              <a:solidFill>
                <a:schemeClr val="tx2"/>
              </a:solidFill>
              <a:cs typeface="Arial" pitchFamily="34" charset="0"/>
            </a:endParaRPr>
          </a:p>
          <a:p>
            <a:pPr marL="3175" lvl="1"/>
            <a:endParaRPr lang="vi-VN" sz="1200" b="1">
              <a:solidFill>
                <a:schemeClr val="accent6">
                  <a:lumMod val="75000"/>
                </a:schemeClr>
              </a:solidFill>
              <a:ea typeface="+mj-ea"/>
              <a:cs typeface="Arial" pitchFamily="34" charset="0"/>
            </a:endParaRPr>
          </a:p>
        </p:txBody>
      </p:sp>
      <p:sp>
        <p:nvSpPr>
          <p:cNvPr id="10"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Các yếu tố đánh giá</a:t>
            </a:r>
            <a:endParaRPr lang="en-US" sz="1300" b="1">
              <a:solidFill>
                <a:schemeClr val="accent6">
                  <a:lumMod val="75000"/>
                </a:schemeClr>
              </a:solidFill>
              <a:latin typeface="Calibri (Body)"/>
              <a:ea typeface="+mj-ea"/>
              <a:cs typeface="Arial" pitchFamily="34" charset="0"/>
            </a:endParaRP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2491142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1. </a:t>
            </a:r>
            <a:r>
              <a:rPr lang="vi-VN" sz="1600">
                <a:solidFill>
                  <a:schemeClr val="accent1">
                    <a:lumMod val="75000"/>
                  </a:schemeClr>
                </a:solidFill>
                <a:latin typeface="+mn-lt"/>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3. Đánh giá tính khả thi hệ thống</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4. </a:t>
            </a:r>
            <a:r>
              <a:rPr lang="en-US" sz="1600">
                <a:solidFill>
                  <a:schemeClr val="accent1">
                    <a:lumMod val="75000"/>
                  </a:schemeClr>
                </a:solidFill>
                <a:latin typeface="+mn-lt"/>
                <a:cs typeface="Arial" pitchFamily="34" charset="0"/>
              </a:rPr>
              <a:t>Xây dựng kế hoạch dự án cơ sở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Đánh giá </a:t>
            </a:r>
            <a:r>
              <a:rPr lang="vi-VN" sz="2000">
                <a:solidFill>
                  <a:schemeClr val="accent2">
                    <a:lumMod val="50000"/>
                  </a:schemeClr>
                </a:solidFill>
                <a:latin typeface="Calibri" pitchFamily="34" charset="0"/>
                <a:cs typeface="Calibri" pitchFamily="34" charset="0"/>
              </a:rPr>
              <a:t>khả thi về lịch thực hiện</a:t>
            </a:r>
            <a:r>
              <a:rPr lang="vi-VN" sz="2000" smtClean="0">
                <a:solidFill>
                  <a:schemeClr val="accent2">
                    <a:lumMod val="50000"/>
                  </a:schemeClr>
                </a:solidFill>
                <a:latin typeface="Calibri" pitchFamily="34" charset="0"/>
                <a:cs typeface="Calibri" pitchFamily="34" charset="0"/>
              </a:rPr>
              <a:t>: Khung </a:t>
            </a:r>
            <a:r>
              <a:rPr lang="vi-VN" sz="2000">
                <a:solidFill>
                  <a:schemeClr val="accent2">
                    <a:lumMod val="50000"/>
                  </a:schemeClr>
                </a:solidFill>
                <a:latin typeface="Calibri" pitchFamily="34" charset="0"/>
                <a:cs typeface="Calibri" pitchFamily="34" charset="0"/>
              </a:rPr>
              <a:t>thời </a:t>
            </a:r>
            <a:r>
              <a:rPr lang="vi-VN" sz="2000" smtClean="0">
                <a:solidFill>
                  <a:schemeClr val="accent2">
                    <a:lumMod val="50000"/>
                  </a:schemeClr>
                </a:solidFill>
                <a:latin typeface="Calibri" pitchFamily="34" charset="0"/>
                <a:cs typeface="Calibri" pitchFamily="34" charset="0"/>
              </a:rPr>
              <a:t>gian hoàn </a:t>
            </a:r>
            <a:r>
              <a:rPr lang="vi-VN" sz="2000">
                <a:solidFill>
                  <a:schemeClr val="accent2">
                    <a:lumMod val="50000"/>
                  </a:schemeClr>
                </a:solidFill>
                <a:latin typeface="Calibri" pitchFamily="34" charset="0"/>
                <a:cs typeface="Calibri" pitchFamily="34" charset="0"/>
              </a:rPr>
              <a:t>thành hệ thống phù hợp với </a:t>
            </a:r>
            <a:r>
              <a:rPr lang="vi-VN" sz="2000" smtClean="0">
                <a:solidFill>
                  <a:schemeClr val="accent2">
                    <a:lumMod val="50000"/>
                  </a:schemeClr>
                </a:solidFill>
                <a:latin typeface="Calibri" pitchFamily="34" charset="0"/>
                <a:cs typeface="Calibri" pitchFamily="34" charset="0"/>
              </a:rPr>
              <a:t>thời mốc </a:t>
            </a:r>
            <a:r>
              <a:rPr lang="vi-VN" sz="2000">
                <a:solidFill>
                  <a:schemeClr val="accent2">
                    <a:lumMod val="50000"/>
                  </a:schemeClr>
                </a:solidFill>
                <a:latin typeface="Calibri" pitchFamily="34" charset="0"/>
                <a:cs typeface="Calibri" pitchFamily="34" charset="0"/>
              </a:rPr>
              <a:t>thời gian của đơn </a:t>
            </a:r>
            <a:r>
              <a:rPr lang="vi-VN" sz="2000" smtClean="0">
                <a:solidFill>
                  <a:schemeClr val="accent2">
                    <a:lumMod val="50000"/>
                  </a:schemeClr>
                </a:solidFill>
                <a:latin typeface="Calibri" pitchFamily="34" charset="0"/>
                <a:cs typeface="Calibri" pitchFamily="34" charset="0"/>
              </a:rPr>
              <a:t>vị.</a:t>
            </a:r>
          </a:p>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Đánh giá khả </a:t>
            </a:r>
            <a:r>
              <a:rPr lang="vi-VN" sz="2000">
                <a:solidFill>
                  <a:schemeClr val="accent2">
                    <a:lumMod val="50000"/>
                  </a:schemeClr>
                </a:solidFill>
                <a:latin typeface="Calibri" pitchFamily="34" charset="0"/>
                <a:cs typeface="Calibri" pitchFamily="34" charset="0"/>
              </a:rPr>
              <a:t>thi hợp đồng và hợp </a:t>
            </a:r>
            <a:r>
              <a:rPr lang="vi-VN" sz="2000" smtClean="0">
                <a:solidFill>
                  <a:schemeClr val="accent2">
                    <a:lumMod val="50000"/>
                  </a:schemeClr>
                </a:solidFill>
                <a:latin typeface="Calibri" pitchFamily="34" charset="0"/>
                <a:cs typeface="Calibri" pitchFamily="34" charset="0"/>
              </a:rPr>
              <a:t>luật gồm:</a:t>
            </a:r>
          </a:p>
          <a:p>
            <a:pPr marL="741207" lvl="1" indent="-285750"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Bản quyền</a:t>
            </a:r>
            <a:r>
              <a:rPr lang="vi-VN" sz="1800">
                <a:solidFill>
                  <a:schemeClr val="accent2">
                    <a:lumMod val="50000"/>
                  </a:schemeClr>
                </a:solidFill>
                <a:latin typeface="Calibri" pitchFamily="34" charset="0"/>
                <a:cs typeface="Calibri" pitchFamily="34" charset="0"/>
              </a:rPr>
              <a:t> </a:t>
            </a:r>
            <a:r>
              <a:rPr lang="vi-VN" sz="1800" smtClean="0">
                <a:solidFill>
                  <a:schemeClr val="accent2">
                    <a:lumMod val="50000"/>
                  </a:schemeClr>
                </a:solidFill>
                <a:latin typeface="Calibri" pitchFamily="34" charset="0"/>
                <a:cs typeface="Calibri" pitchFamily="34" charset="0"/>
              </a:rPr>
              <a:t>tác giả</a:t>
            </a:r>
          </a:p>
          <a:p>
            <a:pPr marL="741207" lvl="1" indent="-285750"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Luật </a:t>
            </a:r>
            <a:r>
              <a:rPr lang="vi-VN" sz="1800">
                <a:solidFill>
                  <a:schemeClr val="accent2">
                    <a:lumMod val="50000"/>
                  </a:schemeClr>
                </a:solidFill>
                <a:latin typeface="Calibri" pitchFamily="34" charset="0"/>
                <a:cs typeface="Calibri" pitchFamily="34" charset="0"/>
              </a:rPr>
              <a:t>lao </a:t>
            </a:r>
            <a:r>
              <a:rPr lang="vi-VN" sz="1800" smtClean="0">
                <a:solidFill>
                  <a:schemeClr val="accent2">
                    <a:lumMod val="50000"/>
                  </a:schemeClr>
                </a:solidFill>
                <a:latin typeface="Calibri" pitchFamily="34" charset="0"/>
                <a:cs typeface="Calibri" pitchFamily="34" charset="0"/>
              </a:rPr>
              <a:t>động</a:t>
            </a:r>
          </a:p>
          <a:p>
            <a:pPr marL="741207" lvl="1" indent="-285750"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Luật </a:t>
            </a:r>
            <a:r>
              <a:rPr lang="vi-VN" sz="1800">
                <a:solidFill>
                  <a:schemeClr val="accent2">
                    <a:lumMod val="50000"/>
                  </a:schemeClr>
                </a:solidFill>
                <a:latin typeface="Calibri" pitchFamily="34" charset="0"/>
                <a:cs typeface="Calibri" pitchFamily="34" charset="0"/>
              </a:rPr>
              <a:t>chống độc </a:t>
            </a:r>
            <a:r>
              <a:rPr lang="vi-VN" sz="1800" smtClean="0">
                <a:solidFill>
                  <a:schemeClr val="accent2">
                    <a:lumMod val="50000"/>
                  </a:schemeClr>
                </a:solidFill>
                <a:latin typeface="Calibri" pitchFamily="34" charset="0"/>
                <a:cs typeface="Calibri" pitchFamily="34" charset="0"/>
              </a:rPr>
              <a:t>quyền</a:t>
            </a:r>
          </a:p>
          <a:p>
            <a:pPr marL="741207" lvl="1" indent="-285750"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Các </a:t>
            </a:r>
            <a:r>
              <a:rPr lang="vi-VN" sz="1800">
                <a:solidFill>
                  <a:schemeClr val="accent2">
                    <a:lumMod val="50000"/>
                  </a:schemeClr>
                </a:solidFill>
                <a:latin typeface="Calibri" pitchFamily="34" charset="0"/>
                <a:cs typeface="Calibri" pitchFamily="34" charset="0"/>
              </a:rPr>
              <a:t>điệu lệ </a:t>
            </a:r>
            <a:r>
              <a:rPr lang="vi-VN" sz="1800" smtClean="0">
                <a:solidFill>
                  <a:schemeClr val="accent2">
                    <a:lumMod val="50000"/>
                  </a:schemeClr>
                </a:solidFill>
                <a:latin typeface="Calibri" pitchFamily="34" charset="0"/>
                <a:cs typeface="Calibri" pitchFamily="34" charset="0"/>
              </a:rPr>
              <a:t>thương mại </a:t>
            </a:r>
            <a:r>
              <a:rPr lang="vi-VN" sz="1800">
                <a:solidFill>
                  <a:schemeClr val="accent2">
                    <a:lumMod val="50000"/>
                  </a:schemeClr>
                </a:solidFill>
                <a:latin typeface="Calibri" pitchFamily="34" charset="0"/>
                <a:cs typeface="Calibri" pitchFamily="34" charset="0"/>
              </a:rPr>
              <a:t>nước ngoài </a:t>
            </a:r>
            <a:r>
              <a:rPr lang="vi-VN" sz="1800" smtClean="0">
                <a:solidFill>
                  <a:schemeClr val="accent2">
                    <a:lumMod val="50000"/>
                  </a:schemeClr>
                </a:solidFill>
                <a:latin typeface="Calibri" pitchFamily="34" charset="0"/>
                <a:cs typeface="Calibri" pitchFamily="34" charset="0"/>
              </a:rPr>
              <a:t>(ví </a:t>
            </a:r>
            <a:r>
              <a:rPr lang="vi-VN" sz="1800">
                <a:solidFill>
                  <a:schemeClr val="accent2">
                    <a:lumMod val="50000"/>
                  </a:schemeClr>
                </a:solidFill>
                <a:latin typeface="Calibri" pitchFamily="34" charset="0"/>
                <a:cs typeface="Calibri" pitchFamily="34" charset="0"/>
              </a:rPr>
              <a:t>dụ, một số quốc gia hạn chế quyền truy cập vào dữ liệu nhân viên của các tập đoàn nước </a:t>
            </a:r>
            <a:r>
              <a:rPr lang="vi-VN" sz="1800" smtClean="0">
                <a:solidFill>
                  <a:schemeClr val="accent2">
                    <a:lumMod val="50000"/>
                  </a:schemeClr>
                </a:solidFill>
                <a:latin typeface="Calibri" pitchFamily="34" charset="0"/>
                <a:cs typeface="Calibri" pitchFamily="34" charset="0"/>
              </a:rPr>
              <a:t>ngoài)</a:t>
            </a:r>
          </a:p>
          <a:p>
            <a:pPr marL="741207" lvl="1" indent="-285750"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Các báo </a:t>
            </a:r>
            <a:r>
              <a:rPr lang="vi-VN" sz="1800">
                <a:solidFill>
                  <a:schemeClr val="accent2">
                    <a:lumMod val="50000"/>
                  </a:schemeClr>
                </a:solidFill>
                <a:latin typeface="Calibri" pitchFamily="34" charset="0"/>
                <a:cs typeface="Calibri" pitchFamily="34" charset="0"/>
              </a:rPr>
              <a:t>cáo </a:t>
            </a:r>
            <a:r>
              <a:rPr lang="vi-VN" sz="1800" smtClean="0">
                <a:solidFill>
                  <a:schemeClr val="accent2">
                    <a:lumMod val="50000"/>
                  </a:schemeClr>
                </a:solidFill>
                <a:latin typeface="Calibri" pitchFamily="34" charset="0"/>
                <a:cs typeface="Calibri" pitchFamily="34" charset="0"/>
              </a:rPr>
              <a:t>tài chính tiêu chuẩn</a:t>
            </a:r>
          </a:p>
          <a:p>
            <a:pPr marL="741207" lvl="1" indent="-285750"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Điều lệ hợp đồng...</a:t>
            </a:r>
            <a:endParaRPr lang="vi-VN" sz="18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31</a:t>
            </a:fld>
            <a:endParaRPr lang="vi-VN"/>
          </a:p>
        </p:txBody>
      </p:sp>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3175" lvl="1"/>
            <a:r>
              <a:rPr lang="vi-VN" sz="1200">
                <a:solidFill>
                  <a:schemeClr val="tx2"/>
                </a:solidFill>
                <a:cs typeface="Arial" pitchFamily="34" charset="0"/>
              </a:rPr>
              <a:t>2.1 Đánh giá tính khả thi kinh tế</a:t>
            </a:r>
          </a:p>
          <a:p>
            <a:pPr marL="3175" lvl="1"/>
            <a:r>
              <a:rPr lang="vi-VN" sz="1200">
                <a:solidFill>
                  <a:schemeClr val="tx2"/>
                </a:solidFill>
                <a:cs typeface="Arial" pitchFamily="34" charset="0"/>
              </a:rPr>
              <a:t>2.2 Đánh giá tính khả thi kỹ </a:t>
            </a:r>
            <a:r>
              <a:rPr lang="vi-VN" sz="1200" smtClean="0">
                <a:solidFill>
                  <a:schemeClr val="tx2"/>
                </a:solidFill>
                <a:cs typeface="Arial" pitchFamily="34" charset="0"/>
              </a:rPr>
              <a:t>thuật</a:t>
            </a:r>
            <a:endParaRPr lang="vi-VN" sz="1200">
              <a:solidFill>
                <a:schemeClr val="tx2"/>
              </a:solidFill>
              <a:cs typeface="Arial" pitchFamily="34" charset="0"/>
            </a:endParaRPr>
          </a:p>
          <a:p>
            <a:pPr marL="3175" lvl="1"/>
            <a:r>
              <a:rPr lang="vi-VN" sz="1200">
                <a:solidFill>
                  <a:schemeClr val="tx2"/>
                </a:solidFill>
                <a:cs typeface="Arial" pitchFamily="34" charset="0"/>
              </a:rPr>
              <a:t>2.3 Đánh giá tính khả </a:t>
            </a:r>
            <a:r>
              <a:rPr lang="vi-VN" sz="1200" smtClean="0">
                <a:solidFill>
                  <a:schemeClr val="tx2"/>
                </a:solidFill>
                <a:cs typeface="Arial" pitchFamily="34" charset="0"/>
              </a:rPr>
              <a:t>thi</a:t>
            </a:r>
            <a:r>
              <a:rPr lang="en-US" sz="1200" smtClean="0">
                <a:solidFill>
                  <a:schemeClr val="tx2"/>
                </a:solidFill>
                <a:cs typeface="Arial" pitchFamily="34" charset="0"/>
              </a:rPr>
              <a:t> </a:t>
            </a:r>
            <a:r>
              <a:rPr lang="vi-VN" sz="1200">
                <a:solidFill>
                  <a:schemeClr val="tx2"/>
                </a:solidFill>
                <a:cs typeface="Arial" pitchFamily="34" charset="0"/>
              </a:rPr>
              <a:t>hoạt động</a:t>
            </a:r>
          </a:p>
          <a:p>
            <a:pPr marL="3175" lvl="1"/>
            <a:r>
              <a:rPr lang="vi-VN" sz="1200" b="1">
                <a:solidFill>
                  <a:schemeClr val="accent6">
                    <a:lumMod val="75000"/>
                  </a:schemeClr>
                </a:solidFill>
                <a:ea typeface="+mj-ea"/>
                <a:cs typeface="Arial" pitchFamily="34" charset="0"/>
              </a:rPr>
              <a:t>2.4 Đánh giá tính khả thi khác</a:t>
            </a:r>
          </a:p>
          <a:p>
            <a:pPr marL="3175" lvl="1"/>
            <a:endParaRPr lang="vi-VN" sz="1200" b="1">
              <a:solidFill>
                <a:schemeClr val="accent6">
                  <a:lumMod val="75000"/>
                </a:schemeClr>
              </a:solidFill>
              <a:ea typeface="+mj-ea"/>
              <a:cs typeface="Arial" pitchFamily="34" charset="0"/>
            </a:endParaRPr>
          </a:p>
        </p:txBody>
      </p:sp>
      <p:sp>
        <p:nvSpPr>
          <p:cNvPr id="10" name="Title 1"/>
          <p:cNvSpPr txBox="1">
            <a:spLocks/>
          </p:cNvSpPr>
          <p:nvPr/>
        </p:nvSpPr>
        <p:spPr>
          <a:xfrm>
            <a:off x="4567436" y="0"/>
            <a:ext cx="2371006" cy="1080000"/>
          </a:xfrm>
          <a:prstGeom prst="rect">
            <a:avLst/>
          </a:prstGeom>
          <a:solidFill>
            <a:schemeClr val="accent5">
              <a:lumMod val="60000"/>
              <a:lumOff val="40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300">
                <a:solidFill>
                  <a:schemeClr val="accent1">
                    <a:lumMod val="75000"/>
                  </a:schemeClr>
                </a:solidFill>
                <a:ea typeface="+mj-ea"/>
                <a:cs typeface="Arial" pitchFamily="34" charset="0"/>
              </a:rPr>
              <a:t>1. Định nghĩa</a:t>
            </a:r>
            <a:endParaRPr lang="vi-VN" sz="1300">
              <a:solidFill>
                <a:schemeClr val="accent1">
                  <a:lumMod val="75000"/>
                </a:schemeClr>
              </a:solidFill>
              <a:ea typeface="+mj-ea"/>
              <a:cs typeface="Arial" pitchFamily="34" charset="0"/>
            </a:endParaRPr>
          </a:p>
          <a:p>
            <a:pPr marL="0" lvl="1"/>
            <a:r>
              <a:rPr lang="en-US" sz="1300" b="1" smtClean="0">
                <a:solidFill>
                  <a:schemeClr val="accent6">
                    <a:lumMod val="75000"/>
                  </a:schemeClr>
                </a:solidFill>
                <a:latin typeface="Calibri (Body)"/>
                <a:ea typeface="+mj-ea"/>
                <a:cs typeface="Arial" pitchFamily="34" charset="0"/>
              </a:rPr>
              <a:t>2. Các yếu tố đánh giá</a:t>
            </a:r>
            <a:endParaRPr lang="en-US" sz="1300" b="1">
              <a:solidFill>
                <a:schemeClr val="accent6">
                  <a:lumMod val="75000"/>
                </a:schemeClr>
              </a:solidFill>
              <a:latin typeface="Calibri (Body)"/>
              <a:ea typeface="+mj-ea"/>
              <a:cs typeface="Arial" pitchFamily="34" charset="0"/>
            </a:endParaRPr>
          </a:p>
          <a:p>
            <a:pPr marL="180975" lvl="1"/>
            <a:endParaRPr lang="en-US" sz="1200" smtClean="0">
              <a:solidFill>
                <a:schemeClr val="accent1">
                  <a:lumMod val="75000"/>
                </a:schemeClr>
              </a:solidFill>
              <a:ea typeface="+mj-ea"/>
              <a:cs typeface="Arial" pitchFamily="34" charset="0"/>
            </a:endParaRPr>
          </a:p>
        </p:txBody>
      </p:sp>
    </p:spTree>
    <p:extLst>
      <p:ext uri="{BB962C8B-B14F-4D97-AF65-F5344CB8AC3E}">
        <p14:creationId xmlns:p14="http://schemas.microsoft.com/office/powerpoint/2010/main" val="142719980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Body)"/>
                <a:cs typeface="Arial" pitchFamily="34" charset="0"/>
              </a:rPr>
              <a:t>1. </a:t>
            </a:r>
            <a:r>
              <a:rPr lang="vi-VN" sz="1600">
                <a:solidFill>
                  <a:schemeClr val="accent1">
                    <a:lumMod val="75000"/>
                  </a:schemeClr>
                </a:solidFill>
                <a:latin typeface="Calibri (Body)"/>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Đánh giá tính khả thi hệ thống</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4. Xây dựng kế hoạch dự án cơ sở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Tất </a:t>
            </a:r>
            <a:r>
              <a:rPr lang="vi-VN" sz="2000">
                <a:solidFill>
                  <a:schemeClr val="accent2">
                    <a:lumMod val="50000"/>
                  </a:schemeClr>
                </a:solidFill>
                <a:latin typeface="Calibri" pitchFamily="34" charset="0"/>
                <a:cs typeface="Calibri" pitchFamily="34" charset="0"/>
              </a:rPr>
              <a:t>cả các thông tin thu thập được trong quá trình </a:t>
            </a:r>
            <a:r>
              <a:rPr lang="vi-VN" sz="2000" smtClean="0">
                <a:solidFill>
                  <a:schemeClr val="accent2">
                    <a:lumMod val="50000"/>
                  </a:schemeClr>
                </a:solidFill>
                <a:latin typeface="Calibri" pitchFamily="34" charset="0"/>
                <a:cs typeface="Calibri" pitchFamily="34" charset="0"/>
              </a:rPr>
              <a:t>Khởi động và </a:t>
            </a:r>
            <a:r>
              <a:rPr lang="vi-VN" sz="2000">
                <a:solidFill>
                  <a:schemeClr val="accent2">
                    <a:lumMod val="50000"/>
                  </a:schemeClr>
                </a:solidFill>
                <a:latin typeface="Calibri" pitchFamily="34" charset="0"/>
                <a:cs typeface="Calibri" pitchFamily="34" charset="0"/>
              </a:rPr>
              <a:t>lập kế hoạch dự án được thu thập và tổ chức thành một tài liệu gọi là kế hoạch dự án cơ </a:t>
            </a:r>
            <a:r>
              <a:rPr lang="vi-VN" sz="2000" smtClean="0">
                <a:solidFill>
                  <a:schemeClr val="accent2">
                    <a:lumMod val="50000"/>
                  </a:schemeClr>
                </a:solidFill>
                <a:latin typeface="Calibri" pitchFamily="34" charset="0"/>
                <a:cs typeface="Calibri" pitchFamily="34" charset="0"/>
              </a:rPr>
              <a:t>sở (BPP). </a:t>
            </a:r>
          </a:p>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Sau khi </a:t>
            </a:r>
            <a:r>
              <a:rPr lang="vi-VN" sz="2000">
                <a:solidFill>
                  <a:schemeClr val="accent2">
                    <a:lumMod val="50000"/>
                  </a:schemeClr>
                </a:solidFill>
                <a:latin typeface="Calibri" pitchFamily="34" charset="0"/>
                <a:cs typeface="Calibri" pitchFamily="34" charset="0"/>
              </a:rPr>
              <a:t>BPP được hoàn thành, </a:t>
            </a:r>
            <a:r>
              <a:rPr lang="vi-VN" sz="2000" smtClean="0">
                <a:solidFill>
                  <a:schemeClr val="accent2">
                    <a:lumMod val="50000"/>
                  </a:schemeClr>
                </a:solidFill>
                <a:latin typeface="Calibri" pitchFamily="34" charset="0"/>
                <a:cs typeface="Calibri" pitchFamily="34" charset="0"/>
              </a:rPr>
              <a:t>một đánh </a:t>
            </a:r>
            <a:r>
              <a:rPr lang="vi-VN" sz="2000">
                <a:solidFill>
                  <a:schemeClr val="accent2">
                    <a:lumMod val="50000"/>
                  </a:schemeClr>
                </a:solidFill>
                <a:latin typeface="Calibri" pitchFamily="34" charset="0"/>
                <a:cs typeface="Calibri" pitchFamily="34" charset="0"/>
              </a:rPr>
              <a:t>giá chính thức của dự án </a:t>
            </a:r>
            <a:r>
              <a:rPr lang="vi-VN" sz="2000" smtClean="0">
                <a:solidFill>
                  <a:schemeClr val="accent2">
                    <a:lumMod val="50000"/>
                  </a:schemeClr>
                </a:solidFill>
                <a:latin typeface="Calibri" pitchFamily="34" charset="0"/>
                <a:cs typeface="Calibri" pitchFamily="34" charset="0"/>
              </a:rPr>
              <a:t>sẽ </a:t>
            </a:r>
            <a:r>
              <a:rPr lang="vi-VN" sz="2000">
                <a:solidFill>
                  <a:schemeClr val="accent2">
                    <a:lumMod val="50000"/>
                  </a:schemeClr>
                </a:solidFill>
                <a:latin typeface="Calibri" pitchFamily="34" charset="0"/>
                <a:cs typeface="Calibri" pitchFamily="34" charset="0"/>
              </a:rPr>
              <a:t>được </a:t>
            </a:r>
            <a:r>
              <a:rPr lang="vi-VN" sz="2000" smtClean="0">
                <a:solidFill>
                  <a:schemeClr val="accent2">
                    <a:lumMod val="50000"/>
                  </a:schemeClr>
                </a:solidFill>
                <a:latin typeface="Calibri" pitchFamily="34" charset="0"/>
                <a:cs typeface="Calibri" pitchFamily="34" charset="0"/>
              </a:rPr>
              <a:t>triển khai với </a:t>
            </a:r>
            <a:r>
              <a:rPr lang="vi-VN" sz="2000">
                <a:solidFill>
                  <a:schemeClr val="accent2">
                    <a:lumMod val="50000"/>
                  </a:schemeClr>
                </a:solidFill>
                <a:latin typeface="Calibri" pitchFamily="34" charset="0"/>
                <a:cs typeface="Calibri" pitchFamily="34" charset="0"/>
              </a:rPr>
              <a:t>khách hàng. </a:t>
            </a:r>
            <a:endParaRPr lang="vi-VN" sz="2000" smtClean="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Mục đích của BPP là </a:t>
            </a:r>
            <a:r>
              <a:rPr lang="vi-VN" sz="2000">
                <a:solidFill>
                  <a:schemeClr val="accent2">
                    <a:lumMod val="50000"/>
                  </a:schemeClr>
                </a:solidFill>
                <a:latin typeface="Calibri" pitchFamily="34" charset="0"/>
                <a:cs typeface="Calibri" pitchFamily="34" charset="0"/>
              </a:rPr>
              <a:t>xác minh tất cả các thông tin và các giả định trong kế hoạch ban đầu trước khi </a:t>
            </a:r>
            <a:r>
              <a:rPr lang="vi-VN" sz="2000" smtClean="0">
                <a:solidFill>
                  <a:schemeClr val="accent2">
                    <a:lumMod val="50000"/>
                  </a:schemeClr>
                </a:solidFill>
                <a:latin typeface="Calibri" pitchFamily="34" charset="0"/>
                <a:cs typeface="Calibri" pitchFamily="34" charset="0"/>
              </a:rPr>
              <a:t>thực hiện dự </a:t>
            </a:r>
            <a:r>
              <a:rPr lang="vi-VN" sz="2000">
                <a:solidFill>
                  <a:schemeClr val="accent2">
                    <a:lumMod val="50000"/>
                  </a:schemeClr>
                </a:solidFill>
                <a:latin typeface="Calibri" pitchFamily="34" charset="0"/>
                <a:cs typeface="Calibri" pitchFamily="34" charset="0"/>
              </a:rPr>
              <a:t>án. </a:t>
            </a:r>
            <a:endParaRPr lang="vi-VN" sz="2000" smtClean="0">
              <a:solidFill>
                <a:schemeClr val="accent2">
                  <a:lumMod val="50000"/>
                </a:schemeClr>
              </a:solidFill>
              <a:latin typeface="Calibri" pitchFamily="34" charset="0"/>
              <a:cs typeface="Calibri" pitchFamily="34" charset="0"/>
            </a:endParaRPr>
          </a:p>
          <a:p>
            <a:pPr algn="just">
              <a:spcAft>
                <a:spcPts val="683"/>
              </a:spcAft>
              <a:buClr>
                <a:srgbClr val="FF0066"/>
              </a:buClr>
              <a:buFont typeface="Symbol" pitchFamily="18" charset="2"/>
              <a:buChar char="¨"/>
            </a:pPr>
            <a:r>
              <a:rPr lang="vi-VN" sz="2000" smtClean="0">
                <a:solidFill>
                  <a:schemeClr val="accent2">
                    <a:lumMod val="50000"/>
                  </a:schemeClr>
                </a:solidFill>
                <a:latin typeface="Calibri" pitchFamily="34" charset="0"/>
                <a:cs typeface="Calibri" pitchFamily="34" charset="0"/>
              </a:rPr>
              <a:t>Một </a:t>
            </a:r>
            <a:r>
              <a:rPr lang="vi-VN" sz="2000">
                <a:solidFill>
                  <a:schemeClr val="accent2">
                    <a:lumMod val="50000"/>
                  </a:schemeClr>
                </a:solidFill>
                <a:latin typeface="Calibri" pitchFamily="34" charset="0"/>
                <a:cs typeface="Calibri" pitchFamily="34" charset="0"/>
              </a:rPr>
              <a:t>phác thảo của </a:t>
            </a:r>
            <a:r>
              <a:rPr lang="vi-VN" sz="2000" smtClean="0">
                <a:solidFill>
                  <a:schemeClr val="accent2">
                    <a:lumMod val="50000"/>
                  </a:schemeClr>
                </a:solidFill>
                <a:latin typeface="Calibri" pitchFamily="34" charset="0"/>
                <a:cs typeface="Calibri" pitchFamily="34" charset="0"/>
              </a:rPr>
              <a:t>Kế </a:t>
            </a:r>
            <a:r>
              <a:rPr lang="vi-VN" sz="2000">
                <a:solidFill>
                  <a:schemeClr val="accent2">
                    <a:lumMod val="50000"/>
                  </a:schemeClr>
                </a:solidFill>
                <a:latin typeface="Calibri" pitchFamily="34" charset="0"/>
                <a:cs typeface="Calibri" pitchFamily="34" charset="0"/>
              </a:rPr>
              <a:t>hoạch dự án cơ </a:t>
            </a:r>
            <a:r>
              <a:rPr lang="vi-VN" sz="2000" smtClean="0">
                <a:solidFill>
                  <a:schemeClr val="accent2">
                    <a:lumMod val="50000"/>
                  </a:schemeClr>
                </a:solidFill>
                <a:latin typeface="Calibri" pitchFamily="34" charset="0"/>
                <a:cs typeface="Calibri" pitchFamily="34" charset="0"/>
              </a:rPr>
              <a:t>sở gồm </a:t>
            </a:r>
            <a:r>
              <a:rPr lang="vi-VN" sz="2000">
                <a:solidFill>
                  <a:schemeClr val="accent2">
                    <a:lumMod val="50000"/>
                  </a:schemeClr>
                </a:solidFill>
                <a:latin typeface="Calibri" pitchFamily="34" charset="0"/>
                <a:cs typeface="Calibri" pitchFamily="34" charset="0"/>
              </a:rPr>
              <a:t>bốn phần chính</a:t>
            </a:r>
            <a:r>
              <a:rPr lang="vi-VN" sz="2000" smtClean="0">
                <a:solidFill>
                  <a:schemeClr val="accent2">
                    <a:lumMod val="50000"/>
                  </a:schemeClr>
                </a:solidFill>
                <a:latin typeface="Calibri" pitchFamily="34" charset="0"/>
                <a:cs typeface="Calibri" pitchFamily="34" charset="0"/>
              </a:rPr>
              <a:t>:</a:t>
            </a:r>
          </a:p>
          <a:p>
            <a:pPr marL="741207" lvl="1" indent="-285750"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Giới thiệu</a:t>
            </a:r>
          </a:p>
          <a:p>
            <a:pPr marL="741207" lvl="1" indent="-285750"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Mô tả hệ thống</a:t>
            </a:r>
          </a:p>
          <a:p>
            <a:pPr marL="741207" lvl="1" indent="-285750"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Đánh giá tính khả thi</a:t>
            </a:r>
          </a:p>
          <a:p>
            <a:pPr marL="741207" lvl="1" indent="-285750" algn="just">
              <a:spcAft>
                <a:spcPts val="683"/>
              </a:spcAft>
              <a:buClr>
                <a:srgbClr val="FF0066"/>
              </a:buClr>
              <a:buFontTx/>
              <a:buChar char="-"/>
            </a:pPr>
            <a:r>
              <a:rPr lang="vi-VN" sz="1800" smtClean="0">
                <a:solidFill>
                  <a:schemeClr val="accent2">
                    <a:lumMod val="50000"/>
                  </a:schemeClr>
                </a:solidFill>
                <a:latin typeface="Calibri" pitchFamily="34" charset="0"/>
                <a:cs typeface="Calibri" pitchFamily="34" charset="0"/>
              </a:rPr>
              <a:t>Các vấn đề quản lý.</a:t>
            </a:r>
          </a:p>
          <a:p>
            <a:pPr marL="741207" lvl="1" indent="-285750" algn="just">
              <a:spcAft>
                <a:spcPts val="683"/>
              </a:spcAft>
              <a:buClr>
                <a:srgbClr val="FF0066"/>
              </a:buClr>
              <a:buFontTx/>
              <a:buChar char="-"/>
            </a:pPr>
            <a:endParaRPr lang="vi-VN" sz="16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32</a:t>
            </a:fld>
            <a:endParaRPr lang="vi-VN"/>
          </a:p>
        </p:txBody>
      </p:sp>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b="1">
                <a:solidFill>
                  <a:schemeClr val="accent6">
                    <a:lumMod val="75000"/>
                  </a:schemeClr>
                </a:solidFill>
                <a:cs typeface="Arial" pitchFamily="34" charset="0"/>
              </a:rPr>
              <a:t>1. Giới thiệu</a:t>
            </a:r>
            <a:endParaRPr lang="vi-VN" sz="1600" b="1">
              <a:solidFill>
                <a:schemeClr val="accent6">
                  <a:lumMod val="75000"/>
                </a:schemeClr>
              </a:solidFill>
              <a:cs typeface="Arial" pitchFamily="34" charset="0"/>
            </a:endParaRPr>
          </a:p>
          <a:p>
            <a:pPr marL="0" lvl="1"/>
            <a:r>
              <a:rPr lang="en-US" sz="1600">
                <a:solidFill>
                  <a:schemeClr val="tx2"/>
                </a:solidFill>
                <a:cs typeface="Arial" pitchFamily="34" charset="0"/>
              </a:rPr>
              <a:t>2. </a:t>
            </a:r>
            <a:r>
              <a:rPr lang="en-US" sz="1600" smtClean="0">
                <a:solidFill>
                  <a:schemeClr val="tx2"/>
                </a:solidFill>
                <a:cs typeface="Arial" pitchFamily="34" charset="0"/>
              </a:rPr>
              <a:t>Cấu trúc tài liệu</a:t>
            </a:r>
            <a:endParaRPr lang="en-US" sz="1600">
              <a:solidFill>
                <a:schemeClr val="tx2"/>
              </a:solidFill>
              <a:cs typeface="Arial" pitchFamily="34" charset="0"/>
            </a:endParaRPr>
          </a:p>
          <a:p>
            <a:pPr marL="3175" lvl="1"/>
            <a:endParaRPr lang="vi-VN" sz="1200" b="1">
              <a:solidFill>
                <a:schemeClr val="accent6">
                  <a:lumMod val="75000"/>
                </a:schemeClr>
              </a:solidFill>
              <a:ea typeface="+mj-ea"/>
              <a:cs typeface="Arial" pitchFamily="34" charset="0"/>
            </a:endParaRPr>
          </a:p>
        </p:txBody>
      </p:sp>
    </p:spTree>
    <p:extLst>
      <p:ext uri="{BB962C8B-B14F-4D97-AF65-F5344CB8AC3E}">
        <p14:creationId xmlns:p14="http://schemas.microsoft.com/office/powerpoint/2010/main" val="168134897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Body)"/>
                <a:cs typeface="Arial" pitchFamily="34" charset="0"/>
              </a:rPr>
              <a:t>1. </a:t>
            </a:r>
            <a:r>
              <a:rPr lang="vi-VN" sz="1600">
                <a:solidFill>
                  <a:schemeClr val="accent1">
                    <a:lumMod val="75000"/>
                  </a:schemeClr>
                </a:solidFill>
                <a:latin typeface="Calibri (Body)"/>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Đánh giá tính khả thi hệ thống</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4. Xây dựng kế hoạch dự án cơ sở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lvl="1" indent="0" algn="just">
              <a:spcAft>
                <a:spcPts val="683"/>
              </a:spcAft>
              <a:buClr>
                <a:srgbClr val="FF0066"/>
              </a:buClr>
              <a:buNone/>
            </a:pPr>
            <a:endParaRPr lang="vi-VN" sz="16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33</a:t>
            </a:fld>
            <a:endParaRPr lang="vi-VN"/>
          </a:p>
        </p:txBody>
      </p:sp>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cs typeface="Arial" pitchFamily="34" charset="0"/>
              </a:rPr>
              <a:t>1. </a:t>
            </a:r>
            <a:r>
              <a:rPr lang="en-US" sz="1600" smtClean="0">
                <a:solidFill>
                  <a:schemeClr val="tx2"/>
                </a:solidFill>
                <a:cs typeface="Arial" pitchFamily="34" charset="0"/>
              </a:rPr>
              <a:t>Giới thiệu</a:t>
            </a:r>
            <a:endParaRPr lang="vi-VN" sz="1600">
              <a:solidFill>
                <a:schemeClr val="tx2"/>
              </a:solidFill>
              <a:cs typeface="Arial" pitchFamily="34" charset="0"/>
            </a:endParaRPr>
          </a:p>
          <a:p>
            <a:pPr marL="0" lvl="1"/>
            <a:r>
              <a:rPr lang="en-US" sz="1600" b="1">
                <a:solidFill>
                  <a:schemeClr val="accent6">
                    <a:lumMod val="75000"/>
                  </a:schemeClr>
                </a:solidFill>
                <a:cs typeface="Arial" pitchFamily="34" charset="0"/>
              </a:rPr>
              <a:t>2. </a:t>
            </a:r>
            <a:r>
              <a:rPr lang="en-US" sz="1600" b="1" smtClean="0">
                <a:solidFill>
                  <a:schemeClr val="accent6">
                    <a:lumMod val="75000"/>
                  </a:schemeClr>
                </a:solidFill>
                <a:cs typeface="Arial" pitchFamily="34" charset="0"/>
              </a:rPr>
              <a:t>Cấu trúc tài liệu</a:t>
            </a:r>
            <a:endParaRPr lang="en-US" sz="1600" b="1">
              <a:solidFill>
                <a:schemeClr val="accent6">
                  <a:lumMod val="75000"/>
                </a:schemeClr>
              </a:solidFill>
              <a:cs typeface="Arial" pitchFamily="34" charset="0"/>
            </a:endParaRPr>
          </a:p>
          <a:p>
            <a:pPr marL="3175" lvl="1"/>
            <a:endParaRPr lang="vi-VN" sz="1200" b="1">
              <a:solidFill>
                <a:schemeClr val="accent6">
                  <a:lumMod val="75000"/>
                </a:schemeClr>
              </a:solidFill>
              <a:ea typeface="+mj-ea"/>
              <a:cs typeface="Arial" pitchFamily="34" charset="0"/>
            </a:endParaRPr>
          </a:p>
        </p:txBody>
      </p:sp>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625" y="1447800"/>
            <a:ext cx="790575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3862109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7159724" cy="1080000"/>
          </a:xfrm>
          <a:solidFill>
            <a:schemeClr val="accent1">
              <a:lumMod val="20000"/>
              <a:lumOff val="80000"/>
            </a:schemeClr>
          </a:solidFill>
        </p:spPr>
        <p:txBody>
          <a:bodyPr>
            <a:normAutofit fontScale="90000"/>
          </a:bodyPr>
          <a:lstStyle/>
          <a:p>
            <a:pPr algn="l">
              <a:spcAft>
                <a:spcPts val="683"/>
              </a:spcAft>
            </a:pP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en-US" sz="1600" smtClean="0">
                <a:solidFill>
                  <a:schemeClr val="accent1">
                    <a:lumMod val="75000"/>
                  </a:schemeClr>
                </a:solidFill>
                <a:latin typeface="+mn-lt"/>
                <a:cs typeface="Arial" pitchFamily="34" charset="0"/>
              </a:rPr>
              <a:t/>
            </a:r>
            <a:br>
              <a:rPr lang="en-US" sz="1600" smtClean="0">
                <a:solidFill>
                  <a:schemeClr val="accent1">
                    <a:lumMod val="75000"/>
                  </a:schemeClr>
                </a:solidFill>
                <a:latin typeface="+mn-lt"/>
                <a:cs typeface="Arial" pitchFamily="34" charset="0"/>
              </a:rPr>
            </a:br>
            <a:r>
              <a:rPr lang="en-US" sz="1600">
                <a:solidFill>
                  <a:schemeClr val="accent1">
                    <a:lumMod val="75000"/>
                  </a:schemeClr>
                </a:solidFill>
                <a:latin typeface="Calibri (Body)"/>
                <a:cs typeface="Arial" pitchFamily="34" charset="0"/>
              </a:rPr>
              <a:t>1. </a:t>
            </a:r>
            <a:r>
              <a:rPr lang="vi-VN" sz="1600">
                <a:solidFill>
                  <a:schemeClr val="accent1">
                    <a:lumMod val="75000"/>
                  </a:schemeClr>
                </a:solidFill>
                <a:latin typeface="Calibri (Body)"/>
                <a:cs typeface="Arial" pitchFamily="34" charset="0"/>
              </a:rPr>
              <a:t>Xác định và lựa chọn dự án</a:t>
            </a:r>
            <a:r>
              <a:rPr lang="en-US" sz="1600">
                <a:solidFill>
                  <a:schemeClr val="accent2">
                    <a:lumMod val="50000"/>
                  </a:schemeClr>
                </a:solidFill>
                <a:latin typeface="Calibri" pitchFamily="34" charset="0"/>
                <a:cs typeface="Calibri" pitchFamily="34" charset="0"/>
              </a:rPr>
              <a:t/>
            </a:r>
            <a:br>
              <a:rPr lang="en-US" sz="1600">
                <a:solidFill>
                  <a:schemeClr val="accent2">
                    <a:lumMod val="50000"/>
                  </a:schemeClr>
                </a:solidFill>
                <a:latin typeface="Calibri" pitchFamily="34" charset="0"/>
                <a:cs typeface="Calibri" pitchFamily="34" charset="0"/>
              </a:rPr>
            </a:br>
            <a:r>
              <a:rPr lang="en-US" sz="1600">
                <a:solidFill>
                  <a:schemeClr val="accent1">
                    <a:lumMod val="75000"/>
                  </a:schemeClr>
                </a:solidFill>
                <a:latin typeface="+mn-lt"/>
                <a:cs typeface="Arial" pitchFamily="34" charset="0"/>
              </a:rPr>
              <a:t>2. Khởi động và lập kế hoạch dự án</a:t>
            </a:r>
            <a:br>
              <a:rPr lang="en-US" sz="1600">
                <a:solidFill>
                  <a:schemeClr val="accent1">
                    <a:lumMod val="75000"/>
                  </a:schemeClr>
                </a:solidFill>
                <a:latin typeface="+mn-lt"/>
                <a:cs typeface="Arial" pitchFamily="34" charset="0"/>
              </a:rPr>
            </a:br>
            <a:r>
              <a:rPr lang="en-US" sz="1600">
                <a:solidFill>
                  <a:schemeClr val="accent1">
                    <a:lumMod val="75000"/>
                  </a:schemeClr>
                </a:solidFill>
                <a:latin typeface="+mn-lt"/>
                <a:cs typeface="Arial" pitchFamily="34" charset="0"/>
              </a:rPr>
              <a:t>3. Đánh giá tính khả thi hệ thống</a:t>
            </a:r>
            <a:br>
              <a:rPr lang="en-US" sz="1600">
                <a:solidFill>
                  <a:schemeClr val="accent1">
                    <a:lumMod val="75000"/>
                  </a:schemeClr>
                </a:solidFill>
                <a:latin typeface="+mn-lt"/>
                <a:cs typeface="Arial" pitchFamily="34" charset="0"/>
              </a:rPr>
            </a:br>
            <a:r>
              <a:rPr lang="en-US" sz="1600" b="1">
                <a:solidFill>
                  <a:schemeClr val="accent6">
                    <a:lumMod val="75000"/>
                  </a:schemeClr>
                </a:solidFill>
                <a:latin typeface="Calibri (Body)"/>
                <a:cs typeface="Arial" pitchFamily="34" charset="0"/>
              </a:rPr>
              <a:t>4. Xây dựng kế hoạch dự án cơ sở  </a:t>
            </a:r>
            <a:r>
              <a:rPr lang="en-US" sz="1600">
                <a:solidFill>
                  <a:schemeClr val="accent1">
                    <a:lumMod val="75000"/>
                  </a:schemeClr>
                </a:solidFill>
                <a:latin typeface="+mn-lt"/>
                <a:cs typeface="Arial" pitchFamily="34" charset="0"/>
              </a:rPr>
              <a:t/>
            </a:r>
            <a:br>
              <a:rPr lang="en-US" sz="1600">
                <a:solidFill>
                  <a:schemeClr val="accent1">
                    <a:lumMod val="75000"/>
                  </a:schemeClr>
                </a:solidFill>
                <a:latin typeface="+mn-lt"/>
                <a:cs typeface="Arial" pitchFamily="34" charset="0"/>
              </a:rPr>
            </a:br>
            <a:r>
              <a:rPr lang="vi-VN" sz="1600">
                <a:solidFill>
                  <a:schemeClr val="accent1">
                    <a:lumMod val="75000"/>
                  </a:schemeClr>
                </a:solidFill>
                <a:latin typeface="+mn-lt"/>
                <a:cs typeface="Arial" pitchFamily="34" charset="0"/>
              </a:rPr>
              <a:t/>
            </a:r>
            <a:br>
              <a:rPr lang="vi-VN" sz="1600">
                <a:solidFill>
                  <a:schemeClr val="accent1">
                    <a:lumMod val="75000"/>
                  </a:schemeClr>
                </a:solidFill>
                <a:latin typeface="+mn-lt"/>
                <a:cs typeface="Arial" pitchFamily="34" charset="0"/>
              </a:rPr>
            </a:br>
            <a:r>
              <a:rPr lang="vi-VN" sz="1600" smtClean="0">
                <a:solidFill>
                  <a:schemeClr val="accent1">
                    <a:lumMod val="75000"/>
                  </a:schemeClr>
                </a:solidFill>
                <a:latin typeface="+mn-lt"/>
                <a:cs typeface="Arial" pitchFamily="34" charset="0"/>
              </a:rPr>
              <a:t/>
            </a:r>
            <a:br>
              <a:rPr lang="vi-VN" sz="1600" smtClean="0">
                <a:solidFill>
                  <a:schemeClr val="accent1">
                    <a:lumMod val="75000"/>
                  </a:schemeClr>
                </a:solidFill>
                <a:latin typeface="+mn-lt"/>
                <a:cs typeface="Arial" pitchFamily="34" charset="0"/>
              </a:rPr>
            </a:br>
            <a:endParaRPr lang="vi-VN" sz="1600">
              <a:solidFill>
                <a:schemeClr val="accent1">
                  <a:lumMod val="75000"/>
                </a:schemeClr>
              </a:solidFill>
              <a:latin typeface="+mn-lt"/>
              <a:cs typeface="Arial" pitchFamily="34" charset="0"/>
            </a:endParaRPr>
          </a:p>
        </p:txBody>
      </p:sp>
      <p:sp>
        <p:nvSpPr>
          <p:cNvPr id="3" name="Content Placeholder 2"/>
          <p:cNvSpPr>
            <a:spLocks noGrp="1"/>
          </p:cNvSpPr>
          <p:nvPr>
            <p:ph idx="1"/>
          </p:nvPr>
        </p:nvSpPr>
        <p:spPr>
          <a:xfrm>
            <a:off x="318964" y="1196752"/>
            <a:ext cx="9478053" cy="5661247"/>
          </a:xfrm>
        </p:spPr>
        <p:txBody>
          <a:bodyPr>
            <a:normAutofit/>
          </a:bodyPr>
          <a:lstStyle/>
          <a:p>
            <a:pPr marL="0" lvl="1" indent="0" algn="just">
              <a:spcAft>
                <a:spcPts val="683"/>
              </a:spcAft>
              <a:buClr>
                <a:srgbClr val="FF0066"/>
              </a:buClr>
              <a:buNone/>
            </a:pPr>
            <a:endParaRPr lang="vi-VN" sz="1600">
              <a:solidFill>
                <a:schemeClr val="accent2">
                  <a:lumMod val="50000"/>
                </a:schemeClr>
              </a:solidFill>
              <a:latin typeface="Calibri" pitchFamily="34" charset="0"/>
              <a:cs typeface="Calibri" pitchFamily="34" charset="0"/>
            </a:endParaRPr>
          </a:p>
        </p:txBody>
      </p:sp>
      <p:cxnSp>
        <p:nvCxnSpPr>
          <p:cNvPr id="4" name="Straight Connector 3"/>
          <p:cNvCxnSpPr/>
          <p:nvPr/>
        </p:nvCxnSpPr>
        <p:spPr>
          <a:xfrm>
            <a:off x="390970" y="1092778"/>
            <a:ext cx="9478053"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427808B0-DB8A-471C-82EF-CF06681341D9}" type="slidenum">
              <a:rPr lang="vi-VN" smtClean="0"/>
              <a:t>34</a:t>
            </a:fld>
            <a:endParaRPr lang="vi-VN"/>
          </a:p>
        </p:txBody>
      </p:sp>
      <p:sp>
        <p:nvSpPr>
          <p:cNvPr id="9" name="Title 1"/>
          <p:cNvSpPr txBox="1">
            <a:spLocks/>
          </p:cNvSpPr>
          <p:nvPr/>
        </p:nvSpPr>
        <p:spPr>
          <a:xfrm>
            <a:off x="6920905" y="0"/>
            <a:ext cx="3384000" cy="1080000"/>
          </a:xfrm>
          <a:prstGeom prst="rect">
            <a:avLst/>
          </a:prstGeom>
          <a:solidFill>
            <a:schemeClr val="accent1">
              <a:lumMod val="75000"/>
            </a:schemeClr>
          </a:solidFill>
        </p:spPr>
        <p:txBody>
          <a:bodyPr vert="horz" lIns="104104" tIns="52052" rIns="104104" bIns="52052" rtlCol="0" anchor="ctr">
            <a:normAutofit/>
          </a:bodyPr>
          <a:lstStyle>
            <a:lvl1pPr algn="ctr" defTabSz="1041044" rtl="0" eaLnBrk="1" latinLnBrk="0" hangingPunct="1">
              <a:spcBef>
                <a:spcPct val="0"/>
              </a:spcBef>
              <a:buNone/>
              <a:defRPr sz="5000" kern="1200">
                <a:solidFill>
                  <a:schemeClr val="tx1"/>
                </a:solidFill>
                <a:latin typeface="+mj-lt"/>
                <a:ea typeface="+mj-ea"/>
                <a:cs typeface="+mj-cs"/>
              </a:defRPr>
            </a:lvl1pPr>
          </a:lstStyle>
          <a:p>
            <a:pPr marL="0" lvl="1"/>
            <a:r>
              <a:rPr lang="en-US" sz="1600">
                <a:solidFill>
                  <a:schemeClr val="tx2"/>
                </a:solidFill>
                <a:cs typeface="Arial" pitchFamily="34" charset="0"/>
              </a:rPr>
              <a:t>1. </a:t>
            </a:r>
            <a:r>
              <a:rPr lang="en-US" sz="1600" smtClean="0">
                <a:solidFill>
                  <a:schemeClr val="tx2"/>
                </a:solidFill>
                <a:cs typeface="Arial" pitchFamily="34" charset="0"/>
              </a:rPr>
              <a:t>Giới thiệu</a:t>
            </a:r>
            <a:endParaRPr lang="vi-VN" sz="1600">
              <a:solidFill>
                <a:schemeClr val="tx2"/>
              </a:solidFill>
              <a:cs typeface="Arial" pitchFamily="34" charset="0"/>
            </a:endParaRPr>
          </a:p>
          <a:p>
            <a:pPr marL="0" lvl="1"/>
            <a:r>
              <a:rPr lang="en-US" sz="1600" b="1">
                <a:solidFill>
                  <a:schemeClr val="accent6">
                    <a:lumMod val="75000"/>
                  </a:schemeClr>
                </a:solidFill>
                <a:cs typeface="Arial" pitchFamily="34" charset="0"/>
              </a:rPr>
              <a:t>2. </a:t>
            </a:r>
            <a:r>
              <a:rPr lang="en-US" sz="1600" b="1" smtClean="0">
                <a:solidFill>
                  <a:schemeClr val="accent6">
                    <a:lumMod val="75000"/>
                  </a:schemeClr>
                </a:solidFill>
                <a:cs typeface="Arial" pitchFamily="34" charset="0"/>
              </a:rPr>
              <a:t>Cấu trúc tài liệu</a:t>
            </a:r>
            <a:endParaRPr lang="en-US" sz="1600" b="1">
              <a:solidFill>
                <a:schemeClr val="accent6">
                  <a:lumMod val="75000"/>
                </a:schemeClr>
              </a:solidFill>
              <a:cs typeface="Arial" pitchFamily="34" charset="0"/>
            </a:endParaRPr>
          </a:p>
          <a:p>
            <a:pPr marL="3175" lvl="1"/>
            <a:endParaRPr lang="vi-VN" sz="1200" b="1">
              <a:solidFill>
                <a:schemeClr val="accent6">
                  <a:lumMod val="75000"/>
                </a:schemeClr>
              </a:solidFill>
              <a:ea typeface="+mj-ea"/>
              <a:cs typeface="Arial" pitchFamily="34"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0344" y="1340768"/>
            <a:ext cx="7867650" cy="439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6005860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vi-VN"/>
          </a:p>
        </p:txBody>
      </p:sp>
      <p:sp>
        <p:nvSpPr>
          <p:cNvPr id="4" name="Slide Number Placeholder 3"/>
          <p:cNvSpPr>
            <a:spLocks noGrp="1"/>
          </p:cNvSpPr>
          <p:nvPr>
            <p:ph type="sldNum" sz="quarter" idx="12"/>
          </p:nvPr>
        </p:nvSpPr>
        <p:spPr/>
        <p:txBody>
          <a:bodyPr/>
          <a:lstStyle/>
          <a:p>
            <a:fld id="{427808B0-DB8A-471C-82EF-CF06681341D9}" type="slidenum">
              <a:rPr lang="vi-VN" smtClean="0"/>
              <a:t>35</a:t>
            </a:fld>
            <a:endParaRPr lang="vi-VN"/>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6169" y="1836016"/>
            <a:ext cx="5583051" cy="265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88971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
      <a:dk1>
        <a:sysClr val="windowText" lastClr="000000"/>
      </a:dk1>
      <a:lt1>
        <a:srgbClr val="FFFFFF"/>
      </a:lt1>
      <a:dk2>
        <a:srgbClr val="FFFFFF"/>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22195</TotalTime>
  <Words>5086</Words>
  <Application>Microsoft Office PowerPoint</Application>
  <PresentationFormat>35mm Slides</PresentationFormat>
  <Paragraphs>420</Paragraphs>
  <Slides>35</Slides>
  <Notes>2</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PowerPoint Presentation</vt:lpstr>
      <vt:lpstr>Chương 2: Lựa chọn và lập kế hoạch phát triển hệ thống</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   1. Xác định và lựa chọn dự án 2. Khởi động và lập kế hoạch dự án 3. Đánh giá tính khả thi hệ thống 4. Xây dựng kế hoạch dự án cơ sở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KỸ THUẬT KHAI PHÁ MẪU DẪY VÀ MẪU THỨ TỰ BỘ PHẬN TRONG KHAI PHÁ QUY TRÌNH</dc:title>
  <dc:creator>LAMNHUNG</dc:creator>
  <cp:lastModifiedBy>Hong Nhung</cp:lastModifiedBy>
  <cp:revision>1496</cp:revision>
  <dcterms:created xsi:type="dcterms:W3CDTF">2014-03-12T02:40:35Z</dcterms:created>
  <dcterms:modified xsi:type="dcterms:W3CDTF">2018-01-17T01:55:59Z</dcterms:modified>
</cp:coreProperties>
</file>