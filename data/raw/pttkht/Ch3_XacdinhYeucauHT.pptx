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6858000" cx="10287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1">
          <p15:clr>
            <a:srgbClr val="A4A3A4"/>
          </p15:clr>
        </p15:guide>
        <p15:guide id="2" pos="32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63" roundtripDataSignature="AMtx7mgwpzBVyTDHQbk0CHwuNfLqStBF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3BB3CCF-3F74-46F8-803E-CAE57455B906}">
  <a:tblStyle styleId="{43BB3CCF-3F74-46F8-803E-CAE57455B90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1" orient="horz"/>
        <p:guide pos="32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1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2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2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3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3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 name="Google Shape;403;p3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3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p3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3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3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3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4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4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0" name="Google Shape;490;p4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4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p4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4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4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4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p4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4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5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5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5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p5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9" name="Google Shape;619;p5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5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5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8"/>
          <p:cNvSpPr txBox="1"/>
          <p:nvPr>
            <p:ph type="ctrTitle"/>
          </p:nvPr>
        </p:nvSpPr>
        <p:spPr>
          <a:xfrm>
            <a:off x="771525" y="2130430"/>
            <a:ext cx="8743950" cy="1470025"/>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8"/>
          <p:cNvSpPr txBox="1"/>
          <p:nvPr>
            <p:ph idx="1" type="subTitle"/>
          </p:nvPr>
        </p:nvSpPr>
        <p:spPr>
          <a:xfrm>
            <a:off x="1543050" y="3886200"/>
            <a:ext cx="7200900" cy="1752600"/>
          </a:xfrm>
          <a:prstGeom prst="rect">
            <a:avLst/>
          </a:prstGeom>
          <a:noFill/>
          <a:ln>
            <a:noFill/>
          </a:ln>
        </p:spPr>
        <p:txBody>
          <a:bodyPr anchorCtr="0" anchor="t" bIns="52050" lIns="104100" spcFirstLastPara="1" rIns="104100" wrap="square" tIns="52050">
            <a:normAutofit/>
          </a:bodyPr>
          <a:lstStyle>
            <a:lvl1pPr lvl="0" algn="ctr">
              <a:spcBef>
                <a:spcPts val="720"/>
              </a:spcBef>
              <a:spcAft>
                <a:spcPts val="0"/>
              </a:spcAft>
              <a:buClr>
                <a:srgbClr val="888888"/>
              </a:buClr>
              <a:buSzPts val="3600"/>
              <a:buNone/>
              <a:defRPr>
                <a:solidFill>
                  <a:srgbClr val="888888"/>
                </a:solidFill>
              </a:defRPr>
            </a:lvl1pPr>
            <a:lvl2pPr lvl="1" algn="ctr">
              <a:spcBef>
                <a:spcPts val="640"/>
              </a:spcBef>
              <a:spcAft>
                <a:spcPts val="0"/>
              </a:spcAft>
              <a:buClr>
                <a:srgbClr val="888888"/>
              </a:buClr>
              <a:buSzPts val="3200"/>
              <a:buNone/>
              <a:defRPr>
                <a:solidFill>
                  <a:srgbClr val="888888"/>
                </a:solidFill>
              </a:defRPr>
            </a:lvl2pPr>
            <a:lvl3pPr lvl="2" algn="ctr">
              <a:spcBef>
                <a:spcPts val="540"/>
              </a:spcBef>
              <a:spcAft>
                <a:spcPts val="0"/>
              </a:spcAft>
              <a:buClr>
                <a:srgbClr val="888888"/>
              </a:buClr>
              <a:buSzPts val="2700"/>
              <a:buNone/>
              <a:defRPr>
                <a:solidFill>
                  <a:srgbClr val="888888"/>
                </a:solidFill>
              </a:defRPr>
            </a:lvl3pPr>
            <a:lvl4pPr lvl="3" algn="ctr">
              <a:spcBef>
                <a:spcPts val="460"/>
              </a:spcBef>
              <a:spcAft>
                <a:spcPts val="0"/>
              </a:spcAft>
              <a:buClr>
                <a:srgbClr val="888888"/>
              </a:buClr>
              <a:buSzPts val="2300"/>
              <a:buNone/>
              <a:defRPr>
                <a:solidFill>
                  <a:srgbClr val="888888"/>
                </a:solidFill>
              </a:defRPr>
            </a:lvl4pPr>
            <a:lvl5pPr lvl="4" algn="ctr">
              <a:spcBef>
                <a:spcPts val="460"/>
              </a:spcBef>
              <a:spcAft>
                <a:spcPts val="0"/>
              </a:spcAft>
              <a:buClr>
                <a:srgbClr val="888888"/>
              </a:buClr>
              <a:buSzPts val="2300"/>
              <a:buNone/>
              <a:defRPr>
                <a:solidFill>
                  <a:srgbClr val="888888"/>
                </a:solidFill>
              </a:defRPr>
            </a:lvl5pPr>
            <a:lvl6pPr lvl="5" algn="ctr">
              <a:spcBef>
                <a:spcPts val="460"/>
              </a:spcBef>
              <a:spcAft>
                <a:spcPts val="0"/>
              </a:spcAft>
              <a:buClr>
                <a:srgbClr val="888888"/>
              </a:buClr>
              <a:buSzPts val="2300"/>
              <a:buNone/>
              <a:defRPr>
                <a:solidFill>
                  <a:srgbClr val="888888"/>
                </a:solidFill>
              </a:defRPr>
            </a:lvl6pPr>
            <a:lvl7pPr lvl="6" algn="ctr">
              <a:spcBef>
                <a:spcPts val="460"/>
              </a:spcBef>
              <a:spcAft>
                <a:spcPts val="0"/>
              </a:spcAft>
              <a:buClr>
                <a:srgbClr val="888888"/>
              </a:buClr>
              <a:buSzPts val="2300"/>
              <a:buNone/>
              <a:defRPr>
                <a:solidFill>
                  <a:srgbClr val="888888"/>
                </a:solidFill>
              </a:defRPr>
            </a:lvl7pPr>
            <a:lvl8pPr lvl="7" algn="ctr">
              <a:spcBef>
                <a:spcPts val="460"/>
              </a:spcBef>
              <a:spcAft>
                <a:spcPts val="0"/>
              </a:spcAft>
              <a:buClr>
                <a:srgbClr val="888888"/>
              </a:buClr>
              <a:buSzPts val="2300"/>
              <a:buNone/>
              <a:defRPr>
                <a:solidFill>
                  <a:srgbClr val="888888"/>
                </a:solidFill>
              </a:defRPr>
            </a:lvl8pPr>
            <a:lvl9pPr lvl="8" algn="ctr">
              <a:spcBef>
                <a:spcPts val="460"/>
              </a:spcBef>
              <a:spcAft>
                <a:spcPts val="0"/>
              </a:spcAft>
              <a:buClr>
                <a:srgbClr val="888888"/>
              </a:buClr>
              <a:buSzPts val="2300"/>
              <a:buNone/>
              <a:defRPr>
                <a:solidFill>
                  <a:srgbClr val="888888"/>
                </a:solidFill>
              </a:defRPr>
            </a:lvl9pPr>
          </a:lstStyle>
          <a:p/>
        </p:txBody>
      </p:sp>
      <p:sp>
        <p:nvSpPr>
          <p:cNvPr id="18" name="Google Shape;18;p58"/>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8"/>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9"/>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9"/>
          <p:cNvSpPr txBox="1"/>
          <p:nvPr>
            <p:ph idx="1" type="body"/>
          </p:nvPr>
        </p:nvSpPr>
        <p:spPr>
          <a:xfrm>
            <a:off x="514350" y="1600204"/>
            <a:ext cx="9258300" cy="4525963"/>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9"/>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9"/>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0"/>
          <p:cNvSpPr txBox="1"/>
          <p:nvPr>
            <p:ph type="title"/>
          </p:nvPr>
        </p:nvSpPr>
        <p:spPr>
          <a:xfrm>
            <a:off x="812602" y="4406901"/>
            <a:ext cx="8743950" cy="1362074"/>
          </a:xfrm>
          <a:prstGeom prst="rect">
            <a:avLst/>
          </a:prstGeom>
          <a:noFill/>
          <a:ln>
            <a:noFill/>
          </a:ln>
        </p:spPr>
        <p:txBody>
          <a:bodyPr anchorCtr="0" anchor="t" bIns="52050" lIns="104100" spcFirstLastPara="1" rIns="104100" wrap="square" tIns="52050">
            <a:normAutofit/>
          </a:bodyPr>
          <a:lstStyle>
            <a:lvl1pPr lvl="0" algn="l">
              <a:spcBef>
                <a:spcPts val="0"/>
              </a:spcBef>
              <a:spcAft>
                <a:spcPts val="0"/>
              </a:spcAft>
              <a:buClr>
                <a:schemeClr val="dk1"/>
              </a:buClr>
              <a:buSzPts val="4600"/>
              <a:buFont typeface="Calibri"/>
              <a:buNone/>
              <a:defRPr b="1" sz="4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0"/>
          <p:cNvSpPr txBox="1"/>
          <p:nvPr>
            <p:ph idx="1" type="body"/>
          </p:nvPr>
        </p:nvSpPr>
        <p:spPr>
          <a:xfrm>
            <a:off x="812602" y="2906715"/>
            <a:ext cx="8743950" cy="1500187"/>
          </a:xfrm>
          <a:prstGeom prst="rect">
            <a:avLst/>
          </a:prstGeom>
          <a:noFill/>
          <a:ln>
            <a:noFill/>
          </a:ln>
        </p:spPr>
        <p:txBody>
          <a:bodyPr anchorCtr="0" anchor="b" bIns="52050" lIns="104100" spcFirstLastPara="1" rIns="104100" wrap="square" tIns="52050">
            <a:normAutofit/>
          </a:bodyPr>
          <a:lstStyle>
            <a:lvl1pPr indent="-228600" lvl="0" marL="457200" algn="l">
              <a:spcBef>
                <a:spcPts val="460"/>
              </a:spcBef>
              <a:spcAft>
                <a:spcPts val="0"/>
              </a:spcAft>
              <a:buClr>
                <a:srgbClr val="888888"/>
              </a:buClr>
              <a:buSzPts val="2300"/>
              <a:buNone/>
              <a:defRPr sz="2300">
                <a:solidFill>
                  <a:srgbClr val="888888"/>
                </a:solidFill>
              </a:defRPr>
            </a:lvl1pPr>
            <a:lvl2pPr indent="-228600" lvl="1" marL="914400" algn="l">
              <a:spcBef>
                <a:spcPts val="400"/>
              </a:spcBef>
              <a:spcAft>
                <a:spcPts val="0"/>
              </a:spcAft>
              <a:buClr>
                <a:srgbClr val="888888"/>
              </a:buClr>
              <a:buSzPts val="2000"/>
              <a:buNone/>
              <a:defRPr sz="2000">
                <a:solidFill>
                  <a:srgbClr val="888888"/>
                </a:solidFill>
              </a:defRPr>
            </a:lvl2pPr>
            <a:lvl3pPr indent="-228600" lvl="2" marL="1371600" algn="l">
              <a:spcBef>
                <a:spcPts val="360"/>
              </a:spcBef>
              <a:spcAft>
                <a:spcPts val="0"/>
              </a:spcAft>
              <a:buClr>
                <a:srgbClr val="888888"/>
              </a:buClr>
              <a:buSzPts val="1800"/>
              <a:buNone/>
              <a:defRPr sz="1800">
                <a:solidFill>
                  <a:srgbClr val="888888"/>
                </a:solidFill>
              </a:defRPr>
            </a:lvl3pPr>
            <a:lvl4pPr indent="-228600" lvl="3" marL="1828800" algn="l">
              <a:spcBef>
                <a:spcPts val="320"/>
              </a:spcBef>
              <a:spcAft>
                <a:spcPts val="0"/>
              </a:spcAft>
              <a:buClr>
                <a:srgbClr val="888888"/>
              </a:buClr>
              <a:buSzPts val="1600"/>
              <a:buNone/>
              <a:defRPr sz="1600">
                <a:solidFill>
                  <a:srgbClr val="888888"/>
                </a:solidFill>
              </a:defRPr>
            </a:lvl4pPr>
            <a:lvl5pPr indent="-228600" lvl="4" marL="2286000" algn="l">
              <a:spcBef>
                <a:spcPts val="320"/>
              </a:spcBef>
              <a:spcAft>
                <a:spcPts val="0"/>
              </a:spcAft>
              <a:buClr>
                <a:srgbClr val="888888"/>
              </a:buClr>
              <a:buSzPts val="1600"/>
              <a:buNone/>
              <a:defRPr sz="1600">
                <a:solidFill>
                  <a:srgbClr val="888888"/>
                </a:solidFill>
              </a:defRPr>
            </a:lvl5pPr>
            <a:lvl6pPr indent="-228600" lvl="5" marL="2743200" algn="l">
              <a:spcBef>
                <a:spcPts val="320"/>
              </a:spcBef>
              <a:spcAft>
                <a:spcPts val="0"/>
              </a:spcAft>
              <a:buClr>
                <a:srgbClr val="888888"/>
              </a:buClr>
              <a:buSzPts val="1600"/>
              <a:buNone/>
              <a:defRPr sz="1600">
                <a:solidFill>
                  <a:srgbClr val="888888"/>
                </a:solidFill>
              </a:defRPr>
            </a:lvl6pPr>
            <a:lvl7pPr indent="-228600" lvl="6" marL="3200400" algn="l">
              <a:spcBef>
                <a:spcPts val="320"/>
              </a:spcBef>
              <a:spcAft>
                <a:spcPts val="0"/>
              </a:spcAft>
              <a:buClr>
                <a:srgbClr val="888888"/>
              </a:buClr>
              <a:buSzPts val="1600"/>
              <a:buNone/>
              <a:defRPr sz="1600">
                <a:solidFill>
                  <a:srgbClr val="888888"/>
                </a:solidFill>
              </a:defRPr>
            </a:lvl7pPr>
            <a:lvl8pPr indent="-228600" lvl="7" marL="3657600" algn="l">
              <a:spcBef>
                <a:spcPts val="320"/>
              </a:spcBef>
              <a:spcAft>
                <a:spcPts val="0"/>
              </a:spcAft>
              <a:buClr>
                <a:srgbClr val="888888"/>
              </a:buClr>
              <a:buSzPts val="1600"/>
              <a:buNone/>
              <a:defRPr sz="1600">
                <a:solidFill>
                  <a:srgbClr val="888888"/>
                </a:solidFill>
              </a:defRPr>
            </a:lvl8pPr>
            <a:lvl9pPr indent="-228600" lvl="8" marL="4114800" algn="l">
              <a:spcBef>
                <a:spcPts val="320"/>
              </a:spcBef>
              <a:spcAft>
                <a:spcPts val="0"/>
              </a:spcAft>
              <a:buClr>
                <a:srgbClr val="888888"/>
              </a:buClr>
              <a:buSzPts val="1600"/>
              <a:buNone/>
              <a:defRPr sz="1600">
                <a:solidFill>
                  <a:srgbClr val="888888"/>
                </a:solidFill>
              </a:defRPr>
            </a:lvl9pPr>
          </a:lstStyle>
          <a:p/>
        </p:txBody>
      </p:sp>
      <p:sp>
        <p:nvSpPr>
          <p:cNvPr id="30" name="Google Shape;30;p60"/>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0"/>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1"/>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1"/>
          <p:cNvSpPr txBox="1"/>
          <p:nvPr>
            <p:ph idx="1" type="body"/>
          </p:nvPr>
        </p:nvSpPr>
        <p:spPr>
          <a:xfrm>
            <a:off x="514350" y="1600204"/>
            <a:ext cx="4543425" cy="4525963"/>
          </a:xfrm>
          <a:prstGeom prst="rect">
            <a:avLst/>
          </a:prstGeom>
          <a:noFill/>
          <a:ln>
            <a:noFill/>
          </a:ln>
        </p:spPr>
        <p:txBody>
          <a:bodyPr anchorCtr="0" anchor="t" bIns="52050" lIns="104100" spcFirstLastPara="1" rIns="104100" wrap="square" tIns="52050">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74650" lvl="2" marL="1371600" algn="l">
              <a:spcBef>
                <a:spcPts val="460"/>
              </a:spcBef>
              <a:spcAft>
                <a:spcPts val="0"/>
              </a:spcAft>
              <a:buClr>
                <a:schemeClr val="dk1"/>
              </a:buClr>
              <a:buSzPts val="2300"/>
              <a:buChar char="•"/>
              <a:defRPr sz="23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6" name="Google Shape;36;p61"/>
          <p:cNvSpPr txBox="1"/>
          <p:nvPr>
            <p:ph idx="2" type="body"/>
          </p:nvPr>
        </p:nvSpPr>
        <p:spPr>
          <a:xfrm>
            <a:off x="5229225" y="1600204"/>
            <a:ext cx="4543425" cy="4525963"/>
          </a:xfrm>
          <a:prstGeom prst="rect">
            <a:avLst/>
          </a:prstGeom>
          <a:noFill/>
          <a:ln>
            <a:noFill/>
          </a:ln>
        </p:spPr>
        <p:txBody>
          <a:bodyPr anchorCtr="0" anchor="t" bIns="52050" lIns="104100" spcFirstLastPara="1" rIns="104100" wrap="square" tIns="52050">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74650" lvl="2" marL="1371600" algn="l">
              <a:spcBef>
                <a:spcPts val="460"/>
              </a:spcBef>
              <a:spcAft>
                <a:spcPts val="0"/>
              </a:spcAft>
              <a:buClr>
                <a:schemeClr val="dk1"/>
              </a:buClr>
              <a:buSzPts val="2300"/>
              <a:buChar char="•"/>
              <a:defRPr sz="23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7" name="Google Shape;37;p61"/>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1"/>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2"/>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2"/>
          <p:cNvSpPr txBox="1"/>
          <p:nvPr>
            <p:ph idx="1" type="body"/>
          </p:nvPr>
        </p:nvSpPr>
        <p:spPr>
          <a:xfrm>
            <a:off x="514351" y="1535115"/>
            <a:ext cx="4545211" cy="639762"/>
          </a:xfrm>
          <a:prstGeom prst="rect">
            <a:avLst/>
          </a:prstGeom>
          <a:noFill/>
          <a:ln>
            <a:noFill/>
          </a:ln>
        </p:spPr>
        <p:txBody>
          <a:bodyPr anchorCtr="0" anchor="b" bIns="52050" lIns="104100" spcFirstLastPara="1" rIns="104100" wrap="square" tIns="52050">
            <a:normAutofit/>
          </a:bodyPr>
          <a:lstStyle>
            <a:lvl1pPr indent="-228600" lvl="0" marL="457200" algn="l">
              <a:spcBef>
                <a:spcPts val="540"/>
              </a:spcBef>
              <a:spcAft>
                <a:spcPts val="0"/>
              </a:spcAft>
              <a:buClr>
                <a:schemeClr val="dk1"/>
              </a:buClr>
              <a:buSzPts val="2700"/>
              <a:buNone/>
              <a:defRPr b="1" sz="2700"/>
            </a:lvl1pPr>
            <a:lvl2pPr indent="-228600" lvl="1" marL="914400" algn="l">
              <a:spcBef>
                <a:spcPts val="460"/>
              </a:spcBef>
              <a:spcAft>
                <a:spcPts val="0"/>
              </a:spcAft>
              <a:buClr>
                <a:schemeClr val="dk1"/>
              </a:buClr>
              <a:buSzPts val="2300"/>
              <a:buNone/>
              <a:defRPr b="1" sz="2300"/>
            </a:lvl2pPr>
            <a:lvl3pPr indent="-228600" lvl="2" marL="1371600" algn="l">
              <a:spcBef>
                <a:spcPts val="400"/>
              </a:spcBef>
              <a:spcAft>
                <a:spcPts val="0"/>
              </a:spcAft>
              <a:buClr>
                <a:schemeClr val="dk1"/>
              </a:buClr>
              <a:buSzPts val="2000"/>
              <a:buNone/>
              <a:defRPr b="1" sz="2000"/>
            </a:lvl3pPr>
            <a:lvl4pPr indent="-228600" lvl="3" marL="1828800" algn="l">
              <a:spcBef>
                <a:spcPts val="360"/>
              </a:spcBef>
              <a:spcAft>
                <a:spcPts val="0"/>
              </a:spcAft>
              <a:buClr>
                <a:schemeClr val="dk1"/>
              </a:buClr>
              <a:buSzPts val="1800"/>
              <a:buNone/>
              <a:defRPr b="1" sz="1800"/>
            </a:lvl4pPr>
            <a:lvl5pPr indent="-228600" lvl="4" marL="2286000" algn="l">
              <a:spcBef>
                <a:spcPts val="360"/>
              </a:spcBef>
              <a:spcAft>
                <a:spcPts val="0"/>
              </a:spcAft>
              <a:buClr>
                <a:schemeClr val="dk1"/>
              </a:buClr>
              <a:buSzPts val="1800"/>
              <a:buNone/>
              <a:defRPr b="1" sz="1800"/>
            </a:lvl5pPr>
            <a:lvl6pPr indent="-228600" lvl="5" marL="2743200" algn="l">
              <a:spcBef>
                <a:spcPts val="360"/>
              </a:spcBef>
              <a:spcAft>
                <a:spcPts val="0"/>
              </a:spcAft>
              <a:buClr>
                <a:schemeClr val="dk1"/>
              </a:buClr>
              <a:buSzPts val="1800"/>
              <a:buNone/>
              <a:defRPr b="1" sz="1800"/>
            </a:lvl6pPr>
            <a:lvl7pPr indent="-228600" lvl="6" marL="3200400" algn="l">
              <a:spcBef>
                <a:spcPts val="360"/>
              </a:spcBef>
              <a:spcAft>
                <a:spcPts val="0"/>
              </a:spcAft>
              <a:buClr>
                <a:schemeClr val="dk1"/>
              </a:buClr>
              <a:buSzPts val="1800"/>
              <a:buNone/>
              <a:defRPr b="1" sz="1800"/>
            </a:lvl7pPr>
            <a:lvl8pPr indent="-228600" lvl="7" marL="3657600" algn="l">
              <a:spcBef>
                <a:spcPts val="360"/>
              </a:spcBef>
              <a:spcAft>
                <a:spcPts val="0"/>
              </a:spcAft>
              <a:buClr>
                <a:schemeClr val="dk1"/>
              </a:buClr>
              <a:buSzPts val="1800"/>
              <a:buNone/>
              <a:defRPr b="1" sz="1800"/>
            </a:lvl8pPr>
            <a:lvl9pPr indent="-228600" lvl="8" marL="4114800" algn="l">
              <a:spcBef>
                <a:spcPts val="360"/>
              </a:spcBef>
              <a:spcAft>
                <a:spcPts val="0"/>
              </a:spcAft>
              <a:buClr>
                <a:schemeClr val="dk1"/>
              </a:buClr>
              <a:buSzPts val="1800"/>
              <a:buNone/>
              <a:defRPr b="1" sz="1800"/>
            </a:lvl9pPr>
          </a:lstStyle>
          <a:p/>
        </p:txBody>
      </p:sp>
      <p:sp>
        <p:nvSpPr>
          <p:cNvPr id="43" name="Google Shape;43;p62"/>
          <p:cNvSpPr txBox="1"/>
          <p:nvPr>
            <p:ph idx="2" type="body"/>
          </p:nvPr>
        </p:nvSpPr>
        <p:spPr>
          <a:xfrm>
            <a:off x="514351" y="2174876"/>
            <a:ext cx="4545211" cy="3951288"/>
          </a:xfrm>
          <a:prstGeom prst="rect">
            <a:avLst/>
          </a:prstGeom>
          <a:noFill/>
          <a:ln>
            <a:noFill/>
          </a:ln>
        </p:spPr>
        <p:txBody>
          <a:bodyPr anchorCtr="0" anchor="t" bIns="52050" lIns="104100" spcFirstLastPara="1" rIns="104100" wrap="square" tIns="52050">
            <a:normAutofit/>
          </a:bodyPr>
          <a:lstStyle>
            <a:lvl1pPr indent="-400050" lvl="0" marL="457200" algn="l">
              <a:spcBef>
                <a:spcPts val="540"/>
              </a:spcBef>
              <a:spcAft>
                <a:spcPts val="0"/>
              </a:spcAft>
              <a:buClr>
                <a:schemeClr val="dk1"/>
              </a:buClr>
              <a:buSzPts val="2700"/>
              <a:buChar char="•"/>
              <a:defRPr sz="2700"/>
            </a:lvl1pPr>
            <a:lvl2pPr indent="-374650" lvl="1" marL="914400" algn="l">
              <a:spcBef>
                <a:spcPts val="460"/>
              </a:spcBef>
              <a:spcAft>
                <a:spcPts val="0"/>
              </a:spcAft>
              <a:buClr>
                <a:schemeClr val="dk1"/>
              </a:buClr>
              <a:buSzPts val="2300"/>
              <a:buChar char="–"/>
              <a:defRPr sz="23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62"/>
          <p:cNvSpPr txBox="1"/>
          <p:nvPr>
            <p:ph idx="3" type="body"/>
          </p:nvPr>
        </p:nvSpPr>
        <p:spPr>
          <a:xfrm>
            <a:off x="5225658" y="1535115"/>
            <a:ext cx="4546998" cy="639762"/>
          </a:xfrm>
          <a:prstGeom prst="rect">
            <a:avLst/>
          </a:prstGeom>
          <a:noFill/>
          <a:ln>
            <a:noFill/>
          </a:ln>
        </p:spPr>
        <p:txBody>
          <a:bodyPr anchorCtr="0" anchor="b" bIns="52050" lIns="104100" spcFirstLastPara="1" rIns="104100" wrap="square" tIns="52050">
            <a:normAutofit/>
          </a:bodyPr>
          <a:lstStyle>
            <a:lvl1pPr indent="-228600" lvl="0" marL="457200" algn="l">
              <a:spcBef>
                <a:spcPts val="540"/>
              </a:spcBef>
              <a:spcAft>
                <a:spcPts val="0"/>
              </a:spcAft>
              <a:buClr>
                <a:schemeClr val="dk1"/>
              </a:buClr>
              <a:buSzPts val="2700"/>
              <a:buNone/>
              <a:defRPr b="1" sz="2700"/>
            </a:lvl1pPr>
            <a:lvl2pPr indent="-228600" lvl="1" marL="914400" algn="l">
              <a:spcBef>
                <a:spcPts val="460"/>
              </a:spcBef>
              <a:spcAft>
                <a:spcPts val="0"/>
              </a:spcAft>
              <a:buClr>
                <a:schemeClr val="dk1"/>
              </a:buClr>
              <a:buSzPts val="2300"/>
              <a:buNone/>
              <a:defRPr b="1" sz="2300"/>
            </a:lvl2pPr>
            <a:lvl3pPr indent="-228600" lvl="2" marL="1371600" algn="l">
              <a:spcBef>
                <a:spcPts val="400"/>
              </a:spcBef>
              <a:spcAft>
                <a:spcPts val="0"/>
              </a:spcAft>
              <a:buClr>
                <a:schemeClr val="dk1"/>
              </a:buClr>
              <a:buSzPts val="2000"/>
              <a:buNone/>
              <a:defRPr b="1" sz="2000"/>
            </a:lvl3pPr>
            <a:lvl4pPr indent="-228600" lvl="3" marL="1828800" algn="l">
              <a:spcBef>
                <a:spcPts val="360"/>
              </a:spcBef>
              <a:spcAft>
                <a:spcPts val="0"/>
              </a:spcAft>
              <a:buClr>
                <a:schemeClr val="dk1"/>
              </a:buClr>
              <a:buSzPts val="1800"/>
              <a:buNone/>
              <a:defRPr b="1" sz="1800"/>
            </a:lvl4pPr>
            <a:lvl5pPr indent="-228600" lvl="4" marL="2286000" algn="l">
              <a:spcBef>
                <a:spcPts val="360"/>
              </a:spcBef>
              <a:spcAft>
                <a:spcPts val="0"/>
              </a:spcAft>
              <a:buClr>
                <a:schemeClr val="dk1"/>
              </a:buClr>
              <a:buSzPts val="1800"/>
              <a:buNone/>
              <a:defRPr b="1" sz="1800"/>
            </a:lvl5pPr>
            <a:lvl6pPr indent="-228600" lvl="5" marL="2743200" algn="l">
              <a:spcBef>
                <a:spcPts val="360"/>
              </a:spcBef>
              <a:spcAft>
                <a:spcPts val="0"/>
              </a:spcAft>
              <a:buClr>
                <a:schemeClr val="dk1"/>
              </a:buClr>
              <a:buSzPts val="1800"/>
              <a:buNone/>
              <a:defRPr b="1" sz="1800"/>
            </a:lvl6pPr>
            <a:lvl7pPr indent="-228600" lvl="6" marL="3200400" algn="l">
              <a:spcBef>
                <a:spcPts val="360"/>
              </a:spcBef>
              <a:spcAft>
                <a:spcPts val="0"/>
              </a:spcAft>
              <a:buClr>
                <a:schemeClr val="dk1"/>
              </a:buClr>
              <a:buSzPts val="1800"/>
              <a:buNone/>
              <a:defRPr b="1" sz="1800"/>
            </a:lvl7pPr>
            <a:lvl8pPr indent="-228600" lvl="7" marL="3657600" algn="l">
              <a:spcBef>
                <a:spcPts val="360"/>
              </a:spcBef>
              <a:spcAft>
                <a:spcPts val="0"/>
              </a:spcAft>
              <a:buClr>
                <a:schemeClr val="dk1"/>
              </a:buClr>
              <a:buSzPts val="1800"/>
              <a:buNone/>
              <a:defRPr b="1" sz="1800"/>
            </a:lvl8pPr>
            <a:lvl9pPr indent="-228600" lvl="8" marL="4114800" algn="l">
              <a:spcBef>
                <a:spcPts val="360"/>
              </a:spcBef>
              <a:spcAft>
                <a:spcPts val="0"/>
              </a:spcAft>
              <a:buClr>
                <a:schemeClr val="dk1"/>
              </a:buClr>
              <a:buSzPts val="1800"/>
              <a:buNone/>
              <a:defRPr b="1" sz="1800"/>
            </a:lvl9pPr>
          </a:lstStyle>
          <a:p/>
        </p:txBody>
      </p:sp>
      <p:sp>
        <p:nvSpPr>
          <p:cNvPr id="45" name="Google Shape;45;p62"/>
          <p:cNvSpPr txBox="1"/>
          <p:nvPr>
            <p:ph idx="4" type="body"/>
          </p:nvPr>
        </p:nvSpPr>
        <p:spPr>
          <a:xfrm>
            <a:off x="5225658" y="2174876"/>
            <a:ext cx="4546998" cy="3951288"/>
          </a:xfrm>
          <a:prstGeom prst="rect">
            <a:avLst/>
          </a:prstGeom>
          <a:noFill/>
          <a:ln>
            <a:noFill/>
          </a:ln>
        </p:spPr>
        <p:txBody>
          <a:bodyPr anchorCtr="0" anchor="t" bIns="52050" lIns="104100" spcFirstLastPara="1" rIns="104100" wrap="square" tIns="52050">
            <a:normAutofit/>
          </a:bodyPr>
          <a:lstStyle>
            <a:lvl1pPr indent="-400050" lvl="0" marL="457200" algn="l">
              <a:spcBef>
                <a:spcPts val="540"/>
              </a:spcBef>
              <a:spcAft>
                <a:spcPts val="0"/>
              </a:spcAft>
              <a:buClr>
                <a:schemeClr val="dk1"/>
              </a:buClr>
              <a:buSzPts val="2700"/>
              <a:buChar char="•"/>
              <a:defRPr sz="2700"/>
            </a:lvl1pPr>
            <a:lvl2pPr indent="-374650" lvl="1" marL="914400" algn="l">
              <a:spcBef>
                <a:spcPts val="460"/>
              </a:spcBef>
              <a:spcAft>
                <a:spcPts val="0"/>
              </a:spcAft>
              <a:buClr>
                <a:schemeClr val="dk1"/>
              </a:buClr>
              <a:buSzPts val="2300"/>
              <a:buChar char="–"/>
              <a:defRPr sz="23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6" name="Google Shape;46;p62"/>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2"/>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3"/>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3"/>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3"/>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64"/>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4"/>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5"/>
          <p:cNvSpPr txBox="1"/>
          <p:nvPr>
            <p:ph type="title"/>
          </p:nvPr>
        </p:nvSpPr>
        <p:spPr>
          <a:xfrm>
            <a:off x="514355" y="273049"/>
            <a:ext cx="3384352" cy="1162050"/>
          </a:xfrm>
          <a:prstGeom prst="rect">
            <a:avLst/>
          </a:prstGeom>
          <a:noFill/>
          <a:ln>
            <a:noFill/>
          </a:ln>
        </p:spPr>
        <p:txBody>
          <a:bodyPr anchorCtr="0" anchor="b" bIns="52050" lIns="104100" spcFirstLastPara="1" rIns="104100" wrap="square" tIns="52050">
            <a:normAutofit/>
          </a:bodyPr>
          <a:lstStyle>
            <a:lvl1pPr lvl="0" algn="l">
              <a:spcBef>
                <a:spcPts val="0"/>
              </a:spcBef>
              <a:spcAft>
                <a:spcPts val="0"/>
              </a:spcAft>
              <a:buClr>
                <a:schemeClr val="dk1"/>
              </a:buClr>
              <a:buSzPts val="2300"/>
              <a:buFont typeface="Calibri"/>
              <a:buNone/>
              <a:defRPr b="1"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5"/>
          <p:cNvSpPr txBox="1"/>
          <p:nvPr>
            <p:ph idx="1" type="body"/>
          </p:nvPr>
        </p:nvSpPr>
        <p:spPr>
          <a:xfrm>
            <a:off x="4021932" y="273052"/>
            <a:ext cx="5750718" cy="5853114"/>
          </a:xfrm>
          <a:prstGeom prst="rect">
            <a:avLst/>
          </a:prstGeom>
          <a:noFill/>
          <a:ln>
            <a:noFill/>
          </a:ln>
        </p:spPr>
        <p:txBody>
          <a:bodyPr anchorCtr="0" anchor="t" bIns="52050" lIns="104100" spcFirstLastPara="1" rIns="104100" wrap="square" tIns="52050">
            <a:normAutofit/>
          </a:bodyPr>
          <a:lstStyle>
            <a:lvl1pPr indent="-457200" lvl="0" marL="457200" algn="l">
              <a:spcBef>
                <a:spcPts val="720"/>
              </a:spcBef>
              <a:spcAft>
                <a:spcPts val="0"/>
              </a:spcAft>
              <a:buClr>
                <a:schemeClr val="dk1"/>
              </a:buClr>
              <a:buSzPts val="3600"/>
              <a:buChar char="•"/>
              <a:defRPr sz="36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74650" lvl="3" marL="1828800" algn="l">
              <a:spcBef>
                <a:spcPts val="460"/>
              </a:spcBef>
              <a:spcAft>
                <a:spcPts val="0"/>
              </a:spcAft>
              <a:buClr>
                <a:schemeClr val="dk1"/>
              </a:buClr>
              <a:buSzPts val="2300"/>
              <a:buChar char="–"/>
              <a:defRPr sz="2300"/>
            </a:lvl4pPr>
            <a:lvl5pPr indent="-374650" lvl="4" marL="2286000" algn="l">
              <a:spcBef>
                <a:spcPts val="460"/>
              </a:spcBef>
              <a:spcAft>
                <a:spcPts val="0"/>
              </a:spcAft>
              <a:buClr>
                <a:schemeClr val="dk1"/>
              </a:buClr>
              <a:buSzPts val="2300"/>
              <a:buChar char="»"/>
              <a:defRPr sz="2300"/>
            </a:lvl5pPr>
            <a:lvl6pPr indent="-374650" lvl="5" marL="2743200" algn="l">
              <a:spcBef>
                <a:spcPts val="460"/>
              </a:spcBef>
              <a:spcAft>
                <a:spcPts val="0"/>
              </a:spcAft>
              <a:buClr>
                <a:schemeClr val="dk1"/>
              </a:buClr>
              <a:buSzPts val="2300"/>
              <a:buChar char="•"/>
              <a:defRPr sz="2300"/>
            </a:lvl6pPr>
            <a:lvl7pPr indent="-374650" lvl="6" marL="3200400" algn="l">
              <a:spcBef>
                <a:spcPts val="460"/>
              </a:spcBef>
              <a:spcAft>
                <a:spcPts val="0"/>
              </a:spcAft>
              <a:buClr>
                <a:schemeClr val="dk1"/>
              </a:buClr>
              <a:buSzPts val="2300"/>
              <a:buChar char="•"/>
              <a:defRPr sz="2300"/>
            </a:lvl7pPr>
            <a:lvl8pPr indent="-374650" lvl="7" marL="3657600" algn="l">
              <a:spcBef>
                <a:spcPts val="460"/>
              </a:spcBef>
              <a:spcAft>
                <a:spcPts val="0"/>
              </a:spcAft>
              <a:buClr>
                <a:schemeClr val="dk1"/>
              </a:buClr>
              <a:buSzPts val="2300"/>
              <a:buChar char="•"/>
              <a:defRPr sz="2300"/>
            </a:lvl8pPr>
            <a:lvl9pPr indent="-374650" lvl="8" marL="4114800" algn="l">
              <a:spcBef>
                <a:spcPts val="460"/>
              </a:spcBef>
              <a:spcAft>
                <a:spcPts val="0"/>
              </a:spcAft>
              <a:buClr>
                <a:schemeClr val="dk1"/>
              </a:buClr>
              <a:buSzPts val="2300"/>
              <a:buChar char="•"/>
              <a:defRPr sz="2300"/>
            </a:lvl9pPr>
          </a:lstStyle>
          <a:p/>
        </p:txBody>
      </p:sp>
      <p:sp>
        <p:nvSpPr>
          <p:cNvPr id="61" name="Google Shape;61;p65"/>
          <p:cNvSpPr txBox="1"/>
          <p:nvPr>
            <p:ph idx="2" type="body"/>
          </p:nvPr>
        </p:nvSpPr>
        <p:spPr>
          <a:xfrm>
            <a:off x="514355" y="1435102"/>
            <a:ext cx="3384352" cy="4691062"/>
          </a:xfrm>
          <a:prstGeom prst="rect">
            <a:avLst/>
          </a:prstGeom>
          <a:noFill/>
          <a:ln>
            <a:noFill/>
          </a:ln>
        </p:spPr>
        <p:txBody>
          <a:bodyPr anchorCtr="0" anchor="t" bIns="52050" lIns="104100" spcFirstLastPara="1" rIns="104100" wrap="square" tIns="52050">
            <a:normAutofit/>
          </a:bodyPr>
          <a:lstStyle>
            <a:lvl1pPr indent="-228600" lvl="0" marL="457200" algn="l">
              <a:spcBef>
                <a:spcPts val="320"/>
              </a:spcBef>
              <a:spcAft>
                <a:spcPts val="0"/>
              </a:spcAft>
              <a:buClr>
                <a:schemeClr val="dk1"/>
              </a:buClr>
              <a:buSzPts val="1600"/>
              <a:buNone/>
              <a:defRPr sz="1600"/>
            </a:lvl1pPr>
            <a:lvl2pPr indent="-228600" lvl="1" marL="914400" algn="l">
              <a:spcBef>
                <a:spcPts val="280"/>
              </a:spcBef>
              <a:spcAft>
                <a:spcPts val="0"/>
              </a:spcAft>
              <a:buClr>
                <a:schemeClr val="dk1"/>
              </a:buClr>
              <a:buSzPts val="1400"/>
              <a:buNone/>
              <a:defRPr sz="1400"/>
            </a:lvl2pPr>
            <a:lvl3pPr indent="-228600" lvl="2" marL="1371600" algn="l">
              <a:spcBef>
                <a:spcPts val="22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2" name="Google Shape;62;p65"/>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5"/>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6"/>
          <p:cNvSpPr txBox="1"/>
          <p:nvPr>
            <p:ph type="title"/>
          </p:nvPr>
        </p:nvSpPr>
        <p:spPr>
          <a:xfrm>
            <a:off x="2016324" y="4800601"/>
            <a:ext cx="6172200" cy="566738"/>
          </a:xfrm>
          <a:prstGeom prst="rect">
            <a:avLst/>
          </a:prstGeom>
          <a:noFill/>
          <a:ln>
            <a:noFill/>
          </a:ln>
        </p:spPr>
        <p:txBody>
          <a:bodyPr anchorCtr="0" anchor="b" bIns="52050" lIns="104100" spcFirstLastPara="1" rIns="104100" wrap="square" tIns="52050">
            <a:normAutofit/>
          </a:bodyPr>
          <a:lstStyle>
            <a:lvl1pPr lvl="0" algn="l">
              <a:spcBef>
                <a:spcPts val="0"/>
              </a:spcBef>
              <a:spcAft>
                <a:spcPts val="0"/>
              </a:spcAft>
              <a:buClr>
                <a:schemeClr val="dk1"/>
              </a:buClr>
              <a:buSzPts val="2300"/>
              <a:buFont typeface="Calibri"/>
              <a:buNone/>
              <a:defRPr b="1"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6"/>
          <p:cNvSpPr/>
          <p:nvPr>
            <p:ph idx="2" type="pic"/>
          </p:nvPr>
        </p:nvSpPr>
        <p:spPr>
          <a:xfrm>
            <a:off x="2016324" y="612775"/>
            <a:ext cx="6172200" cy="4114800"/>
          </a:xfrm>
          <a:prstGeom prst="rect">
            <a:avLst/>
          </a:prstGeom>
          <a:noFill/>
          <a:ln>
            <a:noFill/>
          </a:ln>
        </p:spPr>
      </p:sp>
      <p:sp>
        <p:nvSpPr>
          <p:cNvPr id="68" name="Google Shape;68;p66"/>
          <p:cNvSpPr txBox="1"/>
          <p:nvPr>
            <p:ph idx="1" type="body"/>
          </p:nvPr>
        </p:nvSpPr>
        <p:spPr>
          <a:xfrm>
            <a:off x="2016324" y="5367341"/>
            <a:ext cx="6172200" cy="804863"/>
          </a:xfrm>
          <a:prstGeom prst="rect">
            <a:avLst/>
          </a:prstGeom>
          <a:noFill/>
          <a:ln>
            <a:noFill/>
          </a:ln>
        </p:spPr>
        <p:txBody>
          <a:bodyPr anchorCtr="0" anchor="t" bIns="52050" lIns="104100" spcFirstLastPara="1" rIns="104100" wrap="square" tIns="52050">
            <a:normAutofit/>
          </a:bodyPr>
          <a:lstStyle>
            <a:lvl1pPr indent="-228600" lvl="0" marL="457200" algn="l">
              <a:spcBef>
                <a:spcPts val="320"/>
              </a:spcBef>
              <a:spcAft>
                <a:spcPts val="0"/>
              </a:spcAft>
              <a:buClr>
                <a:schemeClr val="dk1"/>
              </a:buClr>
              <a:buSzPts val="1600"/>
              <a:buNone/>
              <a:defRPr sz="1600"/>
            </a:lvl1pPr>
            <a:lvl2pPr indent="-228600" lvl="1" marL="914400" algn="l">
              <a:spcBef>
                <a:spcPts val="280"/>
              </a:spcBef>
              <a:spcAft>
                <a:spcPts val="0"/>
              </a:spcAft>
              <a:buClr>
                <a:schemeClr val="dk1"/>
              </a:buClr>
              <a:buSzPts val="1400"/>
              <a:buNone/>
              <a:defRPr sz="1400"/>
            </a:lvl2pPr>
            <a:lvl3pPr indent="-228600" lvl="2" marL="1371600" algn="l">
              <a:spcBef>
                <a:spcPts val="22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9" name="Google Shape;69;p66"/>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6"/>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7"/>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7"/>
          <p:cNvSpPr txBox="1"/>
          <p:nvPr>
            <p:ph idx="1" type="body"/>
          </p:nvPr>
        </p:nvSpPr>
        <p:spPr>
          <a:xfrm rot="5400000">
            <a:off x="2880519" y="-765965"/>
            <a:ext cx="4525963" cy="9258300"/>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67"/>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7"/>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8"/>
          <p:cNvSpPr txBox="1"/>
          <p:nvPr>
            <p:ph type="title"/>
          </p:nvPr>
        </p:nvSpPr>
        <p:spPr>
          <a:xfrm rot="5400000">
            <a:off x="5689599" y="2043115"/>
            <a:ext cx="5851526" cy="2314575"/>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8"/>
          <p:cNvSpPr txBox="1"/>
          <p:nvPr>
            <p:ph idx="1" type="body"/>
          </p:nvPr>
        </p:nvSpPr>
        <p:spPr>
          <a:xfrm rot="5400000">
            <a:off x="974725" y="-185735"/>
            <a:ext cx="5851526" cy="6772275"/>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68"/>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8"/>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7"/>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marR="0" rtl="0" algn="ctr">
              <a:spcBef>
                <a:spcPts val="0"/>
              </a:spcBef>
              <a:spcAft>
                <a:spcPts val="0"/>
              </a:spcAft>
              <a:buClr>
                <a:schemeClr val="dk1"/>
              </a:buClr>
              <a:buSzPts val="5000"/>
              <a:buFont typeface="Calibri"/>
              <a:buNone/>
              <a:defRPr b="0" i="0" sz="5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7"/>
          <p:cNvSpPr txBox="1"/>
          <p:nvPr>
            <p:ph idx="1" type="body"/>
          </p:nvPr>
        </p:nvSpPr>
        <p:spPr>
          <a:xfrm>
            <a:off x="514350" y="1600204"/>
            <a:ext cx="9258300" cy="4525963"/>
          </a:xfrm>
          <a:prstGeom prst="rect">
            <a:avLst/>
          </a:prstGeom>
          <a:noFill/>
          <a:ln>
            <a:noFill/>
          </a:ln>
        </p:spPr>
        <p:txBody>
          <a:bodyPr anchorCtr="0" anchor="t" bIns="52050" lIns="104100" spcFirstLastPara="1" rIns="104100" wrap="square" tIns="52050">
            <a:normAutofit/>
          </a:bodyPr>
          <a:lstStyle>
            <a:lvl1pPr indent="-457200" lvl="0" marL="457200" marR="0" rtl="0" algn="l">
              <a:spcBef>
                <a:spcPts val="72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1pPr>
            <a:lvl2pPr indent="-431800" lvl="1" marL="9144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2pPr>
            <a:lvl3pPr indent="-400050" lvl="2" marL="13716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3pPr>
            <a:lvl4pPr indent="-374650" lvl="3" marL="18288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4pPr>
            <a:lvl5pPr indent="-374650" lvl="4" marL="22860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5pPr>
            <a:lvl6pPr indent="-374650" lvl="5" marL="27432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6pPr>
            <a:lvl7pPr indent="-374650" lvl="6" marL="32004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7pPr>
            <a:lvl8pPr indent="-374650" lvl="7" marL="36576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8pPr>
            <a:lvl9pPr indent="-374650" lvl="8" marL="41148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9pPr>
          </a:lstStyle>
          <a:p/>
        </p:txBody>
      </p:sp>
      <p:sp>
        <p:nvSpPr>
          <p:cNvPr id="12" name="Google Shape;12;p57"/>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marR="0" rtl="0" algn="l">
              <a:spcBef>
                <a:spcPts val="0"/>
              </a:spcBef>
              <a:spcAft>
                <a:spcPts val="0"/>
              </a:spcAft>
              <a:buSzPts val="1400"/>
              <a:buNone/>
              <a:defRPr b="0" i="0" sz="14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13" name="Google Shape;13;p57"/>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marR="0" rtl="0" algn="ctr">
              <a:spcBef>
                <a:spcPts val="0"/>
              </a:spcBef>
              <a:spcAft>
                <a:spcPts val="0"/>
              </a:spcAft>
              <a:buSzPts val="1400"/>
              <a:buNone/>
              <a:defRPr b="0" i="0" sz="14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14" name="Google Shape;14;p5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marR="0" rtl="0" algn="r">
              <a:spcBef>
                <a:spcPts val="0"/>
              </a:spcBef>
              <a:buNone/>
              <a:defRPr b="0" i="0" sz="1400" u="none" cap="none" strike="noStrike">
                <a:solidFill>
                  <a:srgbClr val="888888"/>
                </a:solidFill>
                <a:latin typeface="Calibri"/>
                <a:ea typeface="Calibri"/>
                <a:cs typeface="Calibri"/>
                <a:sym typeface="Calibri"/>
              </a:defRPr>
            </a:lvl1pPr>
            <a:lvl2pPr indent="0" lvl="1" marL="0" marR="0" rtl="0" algn="r">
              <a:spcBef>
                <a:spcPts val="0"/>
              </a:spcBef>
              <a:buNone/>
              <a:defRPr b="0" i="0" sz="1400" u="none" cap="none" strike="noStrike">
                <a:solidFill>
                  <a:srgbClr val="888888"/>
                </a:solidFill>
                <a:latin typeface="Calibri"/>
                <a:ea typeface="Calibri"/>
                <a:cs typeface="Calibri"/>
                <a:sym typeface="Calibri"/>
              </a:defRPr>
            </a:lvl2pPr>
            <a:lvl3pPr indent="0" lvl="2" marL="0" marR="0" rtl="0" algn="r">
              <a:spcBef>
                <a:spcPts val="0"/>
              </a:spcBef>
              <a:buNone/>
              <a:defRPr b="0" i="0" sz="1400" u="none" cap="none" strike="noStrike">
                <a:solidFill>
                  <a:srgbClr val="888888"/>
                </a:solidFill>
                <a:latin typeface="Calibri"/>
                <a:ea typeface="Calibri"/>
                <a:cs typeface="Calibri"/>
                <a:sym typeface="Calibri"/>
              </a:defRPr>
            </a:lvl3pPr>
            <a:lvl4pPr indent="0" lvl="3" marL="0" marR="0" rtl="0" algn="r">
              <a:spcBef>
                <a:spcPts val="0"/>
              </a:spcBef>
              <a:buNone/>
              <a:defRPr b="0" i="0" sz="1400" u="none" cap="none" strike="noStrike">
                <a:solidFill>
                  <a:srgbClr val="888888"/>
                </a:solidFill>
                <a:latin typeface="Calibri"/>
                <a:ea typeface="Calibri"/>
                <a:cs typeface="Calibri"/>
                <a:sym typeface="Calibri"/>
              </a:defRPr>
            </a:lvl4pPr>
            <a:lvl5pPr indent="0" lvl="4" marL="0" marR="0" rtl="0" algn="r">
              <a:spcBef>
                <a:spcPts val="0"/>
              </a:spcBef>
              <a:buNone/>
              <a:defRPr b="0" i="0" sz="1400" u="none" cap="none" strike="noStrike">
                <a:solidFill>
                  <a:srgbClr val="888888"/>
                </a:solidFill>
                <a:latin typeface="Calibri"/>
                <a:ea typeface="Calibri"/>
                <a:cs typeface="Calibri"/>
                <a:sym typeface="Calibri"/>
              </a:defRPr>
            </a:lvl5pPr>
            <a:lvl6pPr indent="0" lvl="5" marL="0" marR="0" rtl="0" algn="r">
              <a:spcBef>
                <a:spcPts val="0"/>
              </a:spcBef>
              <a:buNone/>
              <a:defRPr b="0" i="0" sz="1400" u="none" cap="none" strike="noStrike">
                <a:solidFill>
                  <a:srgbClr val="888888"/>
                </a:solidFill>
                <a:latin typeface="Calibri"/>
                <a:ea typeface="Calibri"/>
                <a:cs typeface="Calibri"/>
                <a:sym typeface="Calibri"/>
              </a:defRPr>
            </a:lvl6pPr>
            <a:lvl7pPr indent="0" lvl="6" marL="0" marR="0" rtl="0" algn="r">
              <a:spcBef>
                <a:spcPts val="0"/>
              </a:spcBef>
              <a:buNone/>
              <a:defRPr b="0" i="0" sz="1400" u="none" cap="none" strike="noStrike">
                <a:solidFill>
                  <a:srgbClr val="888888"/>
                </a:solidFill>
                <a:latin typeface="Calibri"/>
                <a:ea typeface="Calibri"/>
                <a:cs typeface="Calibri"/>
                <a:sym typeface="Calibri"/>
              </a:defRPr>
            </a:lvl7pPr>
            <a:lvl8pPr indent="0" lvl="7" marL="0" marR="0" rtl="0" algn="r">
              <a:spcBef>
                <a:spcPts val="0"/>
              </a:spcBef>
              <a:buNone/>
              <a:defRPr b="0" i="0" sz="1400" u="none" cap="none" strike="noStrike">
                <a:solidFill>
                  <a:srgbClr val="888888"/>
                </a:solidFill>
                <a:latin typeface="Calibri"/>
                <a:ea typeface="Calibri"/>
                <a:cs typeface="Calibri"/>
                <a:sym typeface="Calibri"/>
              </a:defRPr>
            </a:lvl8pPr>
            <a:lvl9pPr indent="0" lvl="8" marL="0" marR="0" rtl="0" algn="r">
              <a:spcBef>
                <a:spcPts val="0"/>
              </a:spcBef>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8.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1.png"/><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7.png"/><Relationship Id="rId4" Type="http://schemas.openxmlformats.org/officeDocument/2006/relationships/image" Target="../media/image25.png"/><Relationship Id="rId5" Type="http://schemas.openxmlformats.org/officeDocument/2006/relationships/image" Target="../media/image20.png"/><Relationship Id="rId6"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318964" y="476672"/>
            <a:ext cx="9361040" cy="864096"/>
          </a:xfrm>
          <a:prstGeom prst="rect">
            <a:avLst/>
          </a:prstGeom>
          <a:noFill/>
          <a:ln>
            <a:noFill/>
          </a:ln>
        </p:spPr>
        <p:txBody>
          <a:bodyPr anchorCtr="0" anchor="t" bIns="52050" lIns="104100" spcFirstLastPara="1" rIns="104100" wrap="square" tIns="52050">
            <a:normAutofit/>
          </a:bodyPr>
          <a:lstStyle/>
          <a:p>
            <a:pPr indent="0" lvl="0" marL="0" marR="0" rtl="0" algn="ctr">
              <a:spcBef>
                <a:spcPts val="0"/>
              </a:spcBef>
              <a:spcAft>
                <a:spcPts val="0"/>
              </a:spcAft>
              <a:buClr>
                <a:srgbClr val="888888"/>
              </a:buClr>
              <a:buSzPts val="2000"/>
              <a:buFont typeface="Arial"/>
              <a:buNone/>
            </a:pPr>
            <a:r>
              <a:t/>
            </a:r>
            <a:endParaRPr b="1" i="0" sz="2000" u="none" cap="none" strike="noStrike">
              <a:solidFill>
                <a:srgbClr val="E36C09"/>
              </a:solidFill>
              <a:latin typeface="Calibri"/>
              <a:ea typeface="Calibri"/>
              <a:cs typeface="Calibri"/>
              <a:sym typeface="Calibri"/>
            </a:endParaRPr>
          </a:p>
          <a:p>
            <a:pPr indent="0" lvl="0" marL="0" marR="0" rtl="0" algn="ctr">
              <a:spcBef>
                <a:spcPts val="400"/>
              </a:spcBef>
              <a:spcAft>
                <a:spcPts val="0"/>
              </a:spcAft>
              <a:buClr>
                <a:srgbClr val="366092"/>
              </a:buClr>
              <a:buSzPts val="2000"/>
              <a:buFont typeface="Arial"/>
              <a:buNone/>
            </a:pPr>
            <a:r>
              <a:rPr b="1" i="0" lang="en-US" sz="2000" u="none" cap="none" strike="noStrike">
                <a:solidFill>
                  <a:srgbClr val="366092"/>
                </a:solidFill>
                <a:latin typeface="Calibri"/>
                <a:ea typeface="Calibri"/>
                <a:cs typeface="Calibri"/>
                <a:sym typeface="Calibri"/>
              </a:rPr>
              <a:t>PHÁT TRIỂN HỆ THỐNG THÔNG TIN KINH TẾ</a:t>
            </a:r>
            <a:endParaRPr b="1" i="0" sz="2000" u="none" cap="none" strike="noStrike">
              <a:solidFill>
                <a:srgbClr val="366092"/>
              </a:solidFill>
              <a:latin typeface="Calibri"/>
              <a:ea typeface="Calibri"/>
              <a:cs typeface="Calibri"/>
              <a:sym typeface="Calibri"/>
            </a:endParaRPr>
          </a:p>
        </p:txBody>
      </p:sp>
      <p:pic>
        <p:nvPicPr>
          <p:cNvPr descr="C:\Users\LAMNHUNG\Desktop\LogoMIS.jpg" id="90" name="Google Shape;90;p1"/>
          <p:cNvPicPr preferRelativeResize="0"/>
          <p:nvPr/>
        </p:nvPicPr>
        <p:blipFill rotWithShape="1">
          <a:blip r:embed="rId3">
            <a:alphaModFix/>
          </a:blip>
          <a:srcRect b="0" l="0" r="0" t="0"/>
          <a:stretch/>
        </p:blipFill>
        <p:spPr>
          <a:xfrm>
            <a:off x="292350" y="188640"/>
            <a:ext cx="1682798" cy="1478608"/>
          </a:xfrm>
          <a:prstGeom prst="rect">
            <a:avLst/>
          </a:prstGeom>
          <a:noFill/>
          <a:ln>
            <a:noFill/>
          </a:ln>
        </p:spPr>
      </p:pic>
      <p:grpSp>
        <p:nvGrpSpPr>
          <p:cNvPr id="91" name="Google Shape;91;p1"/>
          <p:cNvGrpSpPr/>
          <p:nvPr/>
        </p:nvGrpSpPr>
        <p:grpSpPr>
          <a:xfrm>
            <a:off x="823021" y="2421942"/>
            <a:ext cx="8208910" cy="1078011"/>
            <a:chOff x="1" y="1054"/>
            <a:chExt cx="8208911" cy="1078011"/>
          </a:xfrm>
        </p:grpSpPr>
        <p:sp>
          <p:nvSpPr>
            <p:cNvPr id="92" name="Google Shape;92;p1"/>
            <p:cNvSpPr/>
            <p:nvPr/>
          </p:nvSpPr>
          <p:spPr>
            <a:xfrm rot="5400000">
              <a:off x="-161701" y="162756"/>
              <a:ext cx="1078011" cy="754607"/>
            </a:xfrm>
            <a:prstGeom prst="chevron">
              <a:avLst>
                <a:gd fmla="val 50000" name="adj"/>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txBox="1"/>
            <p:nvPr/>
          </p:nvSpPr>
          <p:spPr>
            <a:xfrm>
              <a:off x="2" y="378358"/>
              <a:ext cx="754607" cy="32340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dk1"/>
                </a:buClr>
                <a:buSzPts val="2000"/>
                <a:buFont typeface="Calibri"/>
                <a:buNone/>
              </a:pPr>
              <a:r>
                <a:t/>
              </a:r>
              <a:endParaRPr b="1" i="0" sz="2000" u="none" cap="none" strike="noStrike">
                <a:solidFill>
                  <a:srgbClr val="FF0066"/>
                </a:solidFill>
                <a:latin typeface="Arial"/>
                <a:ea typeface="Arial"/>
                <a:cs typeface="Arial"/>
                <a:sym typeface="Arial"/>
              </a:endParaRPr>
            </a:p>
            <a:p>
              <a:pPr indent="0" lvl="0" marL="0" marR="0" rtl="0" algn="ctr">
                <a:lnSpc>
                  <a:spcPct val="90000"/>
                </a:lnSpc>
                <a:spcBef>
                  <a:spcPts val="700"/>
                </a:spcBef>
                <a:spcAft>
                  <a:spcPts val="0"/>
                </a:spcAft>
                <a:buClr>
                  <a:srgbClr val="FF0066"/>
                </a:buClr>
                <a:buSzPts val="2000"/>
                <a:buFont typeface="Arial"/>
                <a:buNone/>
              </a:pPr>
              <a:r>
                <a:rPr b="1" i="0" lang="en-US" sz="2000" u="none" cap="none" strike="noStrike">
                  <a:solidFill>
                    <a:srgbClr val="FF0066"/>
                  </a:solidFill>
                  <a:latin typeface="Arial"/>
                  <a:ea typeface="Arial"/>
                  <a:cs typeface="Arial"/>
                  <a:sym typeface="Arial"/>
                </a:rPr>
                <a:t>Phần 2</a:t>
              </a:r>
              <a:endParaRPr b="1" i="0" sz="2000" u="none" cap="none" strike="noStrike">
                <a:solidFill>
                  <a:srgbClr val="FF0066"/>
                </a:solidFill>
                <a:latin typeface="Arial"/>
                <a:ea typeface="Arial"/>
                <a:cs typeface="Arial"/>
                <a:sym typeface="Arial"/>
              </a:endParaRPr>
            </a:p>
          </p:txBody>
        </p:sp>
        <p:sp>
          <p:nvSpPr>
            <p:cNvPr id="94" name="Google Shape;94;p1"/>
            <p:cNvSpPr/>
            <p:nvPr/>
          </p:nvSpPr>
          <p:spPr>
            <a:xfrm rot="5400000">
              <a:off x="4131222" y="-3375559"/>
              <a:ext cx="701075" cy="7454304"/>
            </a:xfrm>
            <a:prstGeom prst="round2SameRect">
              <a:avLst>
                <a:gd fmla="val 16667" name="adj1"/>
                <a:gd fmla="val 0" name="adj2"/>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
            <p:cNvSpPr txBox="1"/>
            <p:nvPr/>
          </p:nvSpPr>
          <p:spPr>
            <a:xfrm>
              <a:off x="754608" y="35279"/>
              <a:ext cx="7420080" cy="632627"/>
            </a:xfrm>
            <a:prstGeom prst="rect">
              <a:avLst/>
            </a:prstGeom>
            <a:noFill/>
            <a:ln>
              <a:noFill/>
            </a:ln>
          </p:spPr>
          <p:txBody>
            <a:bodyPr anchorCtr="0" anchor="ctr" bIns="15225" lIns="170675" spcFirstLastPara="1" rIns="15225" wrap="square" tIns="15225">
              <a:noAutofit/>
            </a:bodyPr>
            <a:lstStyle/>
            <a:p>
              <a:pPr indent="-76200" lvl="1" marL="228600" marR="0" rtl="0" algn="l">
                <a:lnSpc>
                  <a:spcPct val="9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a:p>
              <a:pPr indent="-285750" lvl="1" marL="285750" marR="0" rtl="0" algn="l">
                <a:lnSpc>
                  <a:spcPct val="90000"/>
                </a:lnSpc>
                <a:spcBef>
                  <a:spcPts val="360"/>
                </a:spcBef>
                <a:spcAft>
                  <a:spcPts val="0"/>
                </a:spcAft>
                <a:buClr>
                  <a:srgbClr val="632423"/>
                </a:buClr>
                <a:buSzPts val="2800"/>
                <a:buFont typeface="Calibri"/>
                <a:buChar char="•"/>
              </a:pPr>
              <a:r>
                <a:rPr b="0" i="0" lang="en-US" sz="2800" u="none" cap="none" strike="noStrike">
                  <a:solidFill>
                    <a:srgbClr val="632423"/>
                  </a:solidFill>
                  <a:latin typeface="Calibri"/>
                  <a:ea typeface="Calibri"/>
                  <a:cs typeface="Calibri"/>
                  <a:sym typeface="Calibri"/>
                </a:rPr>
                <a:t>Phân tích hệ thống</a:t>
              </a:r>
              <a:endParaRPr b="0" i="0" sz="2800" u="none" cap="none" strike="noStrike">
                <a:solidFill>
                  <a:srgbClr val="632423"/>
                </a:solidFill>
                <a:latin typeface="Calibri"/>
                <a:ea typeface="Calibri"/>
                <a:cs typeface="Calibri"/>
                <a:sym typeface="Calibri"/>
              </a:endParaRPr>
            </a:p>
            <a:p>
              <a:pPr indent="-101600" lvl="2" marL="457200" marR="0" rtl="0" algn="l">
                <a:lnSpc>
                  <a:spcPct val="90000"/>
                </a:lnSpc>
                <a:spcBef>
                  <a:spcPts val="420"/>
                </a:spcBef>
                <a:spcAft>
                  <a:spcPts val="0"/>
                </a:spcAft>
                <a:buClr>
                  <a:schemeClr val="dk1"/>
                </a:buClr>
                <a:buSzPts val="2000"/>
                <a:buFont typeface="Calibri"/>
                <a:buNone/>
              </a:pPr>
              <a:r>
                <a:t/>
              </a:r>
              <a:endParaRPr b="1" i="0" sz="2000" u="none" cap="none" strike="noStrike">
                <a:solidFill>
                  <a:srgbClr val="FF0066"/>
                </a:solidFill>
                <a:latin typeface="Arial"/>
                <a:ea typeface="Arial"/>
                <a:cs typeface="Arial"/>
                <a:sym typeface="Arial"/>
              </a:endParaRPr>
            </a:p>
          </p:txBody>
        </p:sp>
      </p:grpSp>
      <p:cxnSp>
        <p:nvCxnSpPr>
          <p:cNvPr id="96" name="Google Shape;96;p1"/>
          <p:cNvCxnSpPr/>
          <p:nvPr/>
        </p:nvCxnSpPr>
        <p:spPr>
          <a:xfrm>
            <a:off x="1586533" y="2420888"/>
            <a:ext cx="0" cy="3456384"/>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97" name="Google Shape;97;p1"/>
          <p:cNvSpPr txBox="1"/>
          <p:nvPr/>
        </p:nvSpPr>
        <p:spPr>
          <a:xfrm>
            <a:off x="1687116" y="3251027"/>
            <a:ext cx="8208912" cy="1838965"/>
          </a:xfrm>
          <a:prstGeom prst="rect">
            <a:avLst/>
          </a:prstGeom>
          <a:noFill/>
          <a:ln>
            <a:noFill/>
          </a:ln>
        </p:spPr>
        <p:txBody>
          <a:bodyPr anchorCtr="0" anchor="t" bIns="45700" lIns="91425" spcFirstLastPara="1" rIns="91425" wrap="square" tIns="45700">
            <a:spAutoFit/>
          </a:bodyPr>
          <a:lstStyle/>
          <a:p>
            <a:pPr indent="-152400" lvl="0" marL="0" marR="0" rtl="0" algn="just">
              <a:spcBef>
                <a:spcPts val="0"/>
              </a:spcBef>
              <a:spcAft>
                <a:spcPts val="0"/>
              </a:spcAft>
              <a:buClr>
                <a:srgbClr val="FF0066"/>
              </a:buClr>
              <a:buSzPts val="2400"/>
              <a:buFont typeface="Noto Sans Symbols"/>
              <a:buChar char="♦"/>
            </a:pPr>
            <a:r>
              <a:rPr b="1" i="0" lang="en-US" sz="2400" u="none" cap="none" strike="noStrike">
                <a:solidFill>
                  <a:srgbClr val="FF0066"/>
                </a:solidFill>
                <a:latin typeface="Calibri"/>
                <a:ea typeface="Calibri"/>
                <a:cs typeface="Calibri"/>
                <a:sym typeface="Calibri"/>
              </a:rPr>
              <a:t>Chương 3: Xác định yêu cầu hệ thống</a:t>
            </a:r>
            <a:endParaRPr/>
          </a:p>
          <a:p>
            <a:pPr indent="-152400" lvl="0" marL="0" marR="0" rtl="0" algn="just">
              <a:spcBef>
                <a:spcPts val="683"/>
              </a:spcBef>
              <a:spcAft>
                <a:spcPts val="0"/>
              </a:spcAft>
              <a:buClr>
                <a:srgbClr val="FF0066"/>
              </a:buClr>
              <a:buSzPts val="2400"/>
              <a:buFont typeface="Noto Sans Symbols"/>
              <a:buChar char="♦"/>
            </a:pPr>
            <a:r>
              <a:rPr b="0" i="0" lang="en-US" sz="2400" u="none" cap="none" strike="noStrike">
                <a:solidFill>
                  <a:srgbClr val="632423"/>
                </a:solidFill>
                <a:latin typeface="Calibri"/>
                <a:ea typeface="Calibri"/>
                <a:cs typeface="Calibri"/>
                <a:sym typeface="Calibri"/>
              </a:rPr>
              <a:t>Chương 4: Mô hình nghiệp vụ</a:t>
            </a:r>
            <a:endParaRPr/>
          </a:p>
          <a:p>
            <a:pPr indent="-152400" lvl="0" marL="0" marR="0" rtl="0" algn="just">
              <a:spcBef>
                <a:spcPts val="683"/>
              </a:spcBef>
              <a:spcAft>
                <a:spcPts val="0"/>
              </a:spcAft>
              <a:buClr>
                <a:srgbClr val="FF0066"/>
              </a:buClr>
              <a:buSzPts val="2400"/>
              <a:buFont typeface="Noto Sans Symbols"/>
              <a:buChar char="♦"/>
            </a:pPr>
            <a:r>
              <a:rPr b="0" i="0" lang="en-US" sz="2400" u="none" cap="none" strike="noStrike">
                <a:solidFill>
                  <a:srgbClr val="632423"/>
                </a:solidFill>
                <a:latin typeface="Calibri"/>
                <a:ea typeface="Calibri"/>
                <a:cs typeface="Calibri"/>
                <a:sym typeface="Calibri"/>
              </a:rPr>
              <a:t>Chương 5: Mô hình dữ liệu quan niệm</a:t>
            </a:r>
            <a:endParaRPr b="1" i="0" sz="2400" u="none" cap="none" strike="noStrike">
              <a:solidFill>
                <a:srgbClr val="FF0066"/>
              </a:solidFill>
              <a:latin typeface="Calibri"/>
              <a:ea typeface="Calibri"/>
              <a:cs typeface="Calibri"/>
              <a:sym typeface="Calibri"/>
            </a:endParaRPr>
          </a:p>
          <a:p>
            <a:pPr indent="0" lvl="0" marL="0" marR="0" rtl="0" algn="just">
              <a:spcBef>
                <a:spcPts val="683"/>
              </a:spcBef>
              <a:spcAft>
                <a:spcPts val="0"/>
              </a:spcAft>
              <a:buClr>
                <a:srgbClr val="FF0066"/>
              </a:buClr>
              <a:buSzPts val="2400"/>
              <a:buFont typeface="Noto Sans Symbols"/>
              <a:buNone/>
            </a:pPr>
            <a:r>
              <a:t/>
            </a:r>
            <a:endParaRPr b="0" i="0" sz="2400" u="none" cap="none" strike="noStrike">
              <a:solidFill>
                <a:srgbClr val="632423"/>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444978" y="130623"/>
            <a:ext cx="9084645" cy="778099"/>
          </a:xfrm>
          <a:prstGeom prst="rect">
            <a:avLst/>
          </a:prstGeom>
          <a:solidFill>
            <a:schemeClr val="lt2"/>
          </a:solidFill>
          <a:ln>
            <a:noFill/>
          </a:ln>
        </p:spPr>
        <p:txBody>
          <a:bodyPr anchorCtr="0" anchor="ctr" bIns="52050" lIns="104100" spcFirstLastPara="1" rIns="104100" wrap="square" tIns="52050">
            <a:normAutofit/>
          </a:bodyPr>
          <a:lstStyle/>
          <a:p>
            <a:pPr indent="0" lvl="0" marL="0" rtl="0" algn="just">
              <a:spcBef>
                <a:spcPts val="0"/>
              </a:spcBef>
              <a:spcAft>
                <a:spcPts val="0"/>
              </a:spcAft>
              <a:buClr>
                <a:srgbClr val="E36C09"/>
              </a:buClr>
              <a:buSzPts val="2800"/>
              <a:buFont typeface="Arial"/>
              <a:buNone/>
            </a:pPr>
            <a:r>
              <a:rPr lang="en-US" sz="2800">
                <a:solidFill>
                  <a:srgbClr val="E36C09"/>
                </a:solidFill>
                <a:latin typeface="Arial"/>
                <a:ea typeface="Arial"/>
                <a:cs typeface="Arial"/>
                <a:sym typeface="Arial"/>
              </a:rPr>
              <a:t>Chương 3: Xác định yêu cầu hệ thống</a:t>
            </a:r>
            <a:endParaRPr baseline="30000" sz="2800">
              <a:solidFill>
                <a:srgbClr val="E36C09"/>
              </a:solidFill>
              <a:latin typeface="Arial"/>
              <a:ea typeface="Arial"/>
              <a:cs typeface="Arial"/>
              <a:sym typeface="Arial"/>
            </a:endParaRPr>
          </a:p>
        </p:txBody>
      </p:sp>
      <p:sp>
        <p:nvSpPr>
          <p:cNvPr id="104" name="Google Shape;104;p2"/>
          <p:cNvSpPr txBox="1"/>
          <p:nvPr>
            <p:ph idx="1" type="body"/>
          </p:nvPr>
        </p:nvSpPr>
        <p:spPr>
          <a:xfrm>
            <a:off x="444980" y="1039523"/>
            <a:ext cx="9408681" cy="5044452"/>
          </a:xfrm>
          <a:prstGeom prst="rect">
            <a:avLst/>
          </a:prstGeom>
          <a:noFill/>
          <a:ln>
            <a:noFill/>
          </a:ln>
        </p:spPr>
        <p:txBody>
          <a:bodyPr anchorCtr="0" anchor="t" bIns="52050" lIns="104100" spcFirstLastPara="1" rIns="104100" wrap="square" tIns="52050">
            <a:normAutofit/>
          </a:bodyPr>
          <a:lstStyle/>
          <a:p>
            <a:pPr indent="-457200" lvl="0" marL="457200" rtl="0" algn="just">
              <a:spcBef>
                <a:spcPts val="0"/>
              </a:spcBef>
              <a:spcAft>
                <a:spcPts val="0"/>
              </a:spcAft>
              <a:buClr>
                <a:srgbClr val="FF0066"/>
              </a:buClr>
              <a:buSzPts val="2400"/>
              <a:buAutoNum type="arabicPeriod"/>
            </a:pPr>
            <a:r>
              <a:rPr lang="en-US" sz="2400">
                <a:solidFill>
                  <a:srgbClr val="632423"/>
                </a:solidFill>
                <a:latin typeface="Calibri"/>
                <a:ea typeface="Calibri"/>
                <a:cs typeface="Calibri"/>
                <a:sym typeface="Calibri"/>
              </a:rPr>
              <a:t>Tổng quan về xác định yêu cầu hệ thống</a:t>
            </a:r>
            <a:endParaRPr sz="2400">
              <a:solidFill>
                <a:srgbClr val="632423"/>
              </a:solidFill>
              <a:latin typeface="Calibri"/>
              <a:ea typeface="Calibri"/>
              <a:cs typeface="Calibri"/>
              <a:sym typeface="Calibri"/>
            </a:endParaRPr>
          </a:p>
          <a:p>
            <a:pPr indent="-457200" lvl="0" marL="457200" rtl="0" algn="just">
              <a:spcBef>
                <a:spcPts val="1163"/>
              </a:spcBef>
              <a:spcAft>
                <a:spcPts val="0"/>
              </a:spcAft>
              <a:buClr>
                <a:srgbClr val="FF0066"/>
              </a:buClr>
              <a:buSzPts val="2400"/>
              <a:buAutoNum type="arabicPeriod"/>
            </a:pPr>
            <a:r>
              <a:rPr lang="en-US" sz="2400">
                <a:solidFill>
                  <a:srgbClr val="632423"/>
                </a:solidFill>
              </a:rPr>
              <a:t>Các phương pháp xác định yêu cầu truyền thống</a:t>
            </a:r>
            <a:endParaRPr/>
          </a:p>
          <a:p>
            <a:pPr indent="-457200" lvl="0" marL="457200" rtl="0" algn="just">
              <a:spcBef>
                <a:spcPts val="1163"/>
              </a:spcBef>
              <a:spcAft>
                <a:spcPts val="0"/>
              </a:spcAft>
              <a:buClr>
                <a:srgbClr val="FF0066"/>
              </a:buClr>
              <a:buSzPts val="2400"/>
              <a:buAutoNum type="arabicPeriod"/>
            </a:pPr>
            <a:r>
              <a:rPr lang="en-US" sz="2400">
                <a:solidFill>
                  <a:srgbClr val="632423"/>
                </a:solidFill>
              </a:rPr>
              <a:t>Các phương pháp xác định yêu cầu hiện đại </a:t>
            </a:r>
            <a:endParaRPr/>
          </a:p>
          <a:p>
            <a:pPr indent="-457200" lvl="0" marL="457200" rtl="0" algn="just">
              <a:spcBef>
                <a:spcPts val="1163"/>
              </a:spcBef>
              <a:spcAft>
                <a:spcPts val="0"/>
              </a:spcAft>
              <a:buClr>
                <a:srgbClr val="FF0066"/>
              </a:buClr>
              <a:buSzPts val="2400"/>
              <a:buAutoNum type="arabicPeriod"/>
            </a:pPr>
            <a:r>
              <a:rPr lang="en-US" sz="2400">
                <a:solidFill>
                  <a:srgbClr val="632423"/>
                </a:solidFill>
              </a:rPr>
              <a:t>Phân tích kết quả khảo sát</a:t>
            </a:r>
            <a:endParaRPr sz="2400">
              <a:solidFill>
                <a:srgbClr val="632423"/>
              </a:solidFill>
            </a:endParaRPr>
          </a:p>
          <a:p>
            <a:pPr indent="0" lvl="0" marL="0" rtl="0" algn="just">
              <a:spcBef>
                <a:spcPts val="1163"/>
              </a:spcBef>
              <a:spcAft>
                <a:spcPts val="0"/>
              </a:spcAft>
              <a:buClr>
                <a:srgbClr val="FF0066"/>
              </a:buClr>
              <a:buSzPts val="2400"/>
              <a:buNone/>
            </a:pPr>
            <a:r>
              <a:t/>
            </a:r>
            <a:endParaRPr sz="2400">
              <a:solidFill>
                <a:srgbClr val="632423"/>
              </a:solidFill>
            </a:endParaRPr>
          </a:p>
        </p:txBody>
      </p:sp>
      <p:cxnSp>
        <p:nvCxnSpPr>
          <p:cNvPr id="105" name="Google Shape;105;p2"/>
          <p:cNvCxnSpPr/>
          <p:nvPr/>
        </p:nvCxnSpPr>
        <p:spPr>
          <a:xfrm>
            <a:off x="444978" y="908720"/>
            <a:ext cx="9478053" cy="0"/>
          </a:xfrm>
          <a:prstGeom prst="straightConnector1">
            <a:avLst/>
          </a:prstGeom>
          <a:noFill/>
          <a:ln cap="flat" cmpd="sng" w="50800">
            <a:solidFill>
              <a:srgbClr val="E36C09"/>
            </a:solidFill>
            <a:prstDash val="solid"/>
            <a:round/>
            <a:headEnd len="sm" w="sm" type="none"/>
            <a:tailEnd len="sm" w="sm" type="none"/>
          </a:ln>
        </p:spPr>
      </p:cxnSp>
      <p:sp>
        <p:nvSpPr>
          <p:cNvPr id="106" name="Google Shape;106;p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12" name="Google Shape;112;p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Xác định yêu cầu hệ thống là hoạt động đầu tiên trong giai đoạn phân tích hệ thống, mục đích là tìm hiểu hệ thống hiện tại và xây dựng các nhu cầu cho hệ thống trong tương lai.</a:t>
            </a:r>
            <a:r>
              <a:rPr lang="en-US" sz="1800">
                <a:solidFill>
                  <a:srgbClr val="632423"/>
                </a:solidFill>
                <a:latin typeface="Calibri"/>
                <a:ea typeface="Calibri"/>
                <a:cs typeface="Calibri"/>
                <a:sym typeface="Calibri"/>
              </a:rPr>
              <a:t> </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Khi xác định yêu cầu hệ thống chúng ta xem xét các khía cạnh sau của tổ chức:</a:t>
            </a:r>
            <a:endParaRPr/>
          </a:p>
          <a:p>
            <a:pPr indent="-325325" lvl="1" marL="845848"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Cơ cấu tổ chức</a:t>
            </a:r>
            <a:endParaRPr/>
          </a:p>
          <a:p>
            <a:pPr indent="-325325" lvl="1" marL="845848"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Mô hình quản lý</a:t>
            </a:r>
            <a:endParaRPr/>
          </a:p>
          <a:p>
            <a:pPr indent="-325325" lvl="1" marL="845848"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Nghiệp vụ hoạt động</a:t>
            </a:r>
            <a:endParaRPr/>
          </a:p>
        </p:txBody>
      </p:sp>
      <p:cxnSp>
        <p:nvCxnSpPr>
          <p:cNvPr id="113" name="Google Shape;113;p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14" name="Google Shape;114;p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15" name="Google Shape;115;p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Mục đích</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Hướng tiếp cận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 yếu tố quan trọng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thông tin cần xác định</a:t>
            </a:r>
            <a:endParaRPr/>
          </a:p>
        </p:txBody>
      </p:sp>
      <p:pic>
        <p:nvPicPr>
          <p:cNvPr id="116" name="Google Shape;116;p3"/>
          <p:cNvPicPr preferRelativeResize="0"/>
          <p:nvPr/>
        </p:nvPicPr>
        <p:blipFill rotWithShape="1">
          <a:blip r:embed="rId3">
            <a:alphaModFix/>
          </a:blip>
          <a:srcRect b="0" l="0" r="0" t="0"/>
          <a:stretch/>
        </p:blipFill>
        <p:spPr>
          <a:xfrm>
            <a:off x="3487316" y="3356992"/>
            <a:ext cx="4373289" cy="316041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22" name="Google Shape;122;p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Mỗi tổ chức đều có những đặc trưng và sự phức tạp riêng trong các mối quan hệ giữa các bộ phận bên trong cũng như những mối quan hệ với môi trường bên ngoài. </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Việc tiếp cận tổ chức cần tiến hành một cách khoa học. Có hai cách tiếp cận thường được sử dụng: </a:t>
            </a:r>
            <a:r>
              <a:rPr lang="en-US" sz="1800">
                <a:solidFill>
                  <a:srgbClr val="632423"/>
                </a:solidFill>
                <a:latin typeface="Calibri"/>
                <a:ea typeface="Calibri"/>
                <a:cs typeface="Calibri"/>
                <a:sym typeface="Calibri"/>
              </a:rPr>
              <a:t>Tiếp cận từ trên xuống (top down) và tiếp cận từ dưới lên (bottom up)</a:t>
            </a:r>
            <a:r>
              <a:rPr lang="en-US" sz="2000">
                <a:solidFill>
                  <a:srgbClr val="632423"/>
                </a:solidFill>
                <a:latin typeface="Calibri"/>
                <a:ea typeface="Calibri"/>
                <a:cs typeface="Calibri"/>
                <a:sym typeface="Calibri"/>
              </a:rPr>
              <a:t>.</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Cách tiếp cận từ trên xuống phù hợp với quá trình nhận thức, khả năng tiếp nhận của con người và phù hợp với quá trình khảo sát, nội dung như sau :</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Về tổ chức: bắt đầu từ bộ phận cao nhất (ban giám đốc) đến các bộ phận thấp nhất (các tổ công tác, tổ sản xuất).</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Về quản lý: bắt đầu từ nhà quản lý cao nhất (giám đốc) đến người thực hiện cụ thể (nhân viên).</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Về nghiệp vụ: bắt đầu từ nhiệm vụ chung nhất (nhiệm vụ chiến lược) đến công việc cụ thể tại mỗi bộ phận làm việc.</a:t>
            </a:r>
            <a:endParaRPr sz="1800">
              <a:solidFill>
                <a:srgbClr val="632423"/>
              </a:solidFill>
              <a:latin typeface="Calibri"/>
              <a:ea typeface="Calibri"/>
              <a:cs typeface="Calibri"/>
              <a:sym typeface="Calibri"/>
            </a:endParaRPr>
          </a:p>
        </p:txBody>
      </p:sp>
      <p:cxnSp>
        <p:nvCxnSpPr>
          <p:cNvPr id="123" name="Google Shape;123;p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24" name="Google Shape;124;p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25" name="Google Shape;125;p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Mục đích</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Hướng tiếp cận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 yếu tố quan trọng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thông tin cần xác định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31" name="Google Shape;131;p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Việc xác định yêu cầu hệ thống có tính chất quan trọng, ảnh hưởng rất nhiều tới sự thành công của dự án, do đó công việc này đòi hỏi người phân tích phải có các yếu tố sau: </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Xông xáo (cần hỏi mọi điều)</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Chủ động (cần tìm giải pháp cho mọi vấn đề hay cơ hội kinh doanh)</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Sự nghi ngờ (xem mọi hoạt động đều có những hạn chế, giải pháp có thể là không khả thi..)</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Chú ý đến mọi chi tiết (mọi sự kiện, sự vật liên quan cần được ghi nhận)</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Khả năng đặt ngược vấn đề... </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 kết quả thu thu thập cần được trình bày theo các mẫu và chuẩn mực nhất định. Các đơn vị phát triển phần mềm thường có các mẫu và các chuẩn riêng cho mình để thu thập và biểu diễn thông tin.</a:t>
            </a:r>
            <a:endParaRPr sz="2000">
              <a:solidFill>
                <a:srgbClr val="632423"/>
              </a:solidFill>
              <a:latin typeface="Calibri"/>
              <a:ea typeface="Calibri"/>
              <a:cs typeface="Calibri"/>
              <a:sym typeface="Calibri"/>
            </a:endParaRPr>
          </a:p>
        </p:txBody>
      </p:sp>
      <p:cxnSp>
        <p:nvCxnSpPr>
          <p:cNvPr id="132" name="Google Shape;132;p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33" name="Google Shape;133;p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34" name="Google Shape;134;p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Mục đích</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Hướng tiếp cận</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Các yếu tố quan trọng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Các thông tin cần xác định</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40" name="Google Shape;140;p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Trong quá trình xác định yêu cầu hệ thống chúng ta cần thu thập các thông tin sau:</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Sơ đồ tổ chức và vai trò nhiệm vụ của từng phòng ban.</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Danh mục các công việc cần thực hiện của mỗi phòng ban.</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Quy trình thực hiện của từng công việc cụ thể.</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 sổ sách, biểu mẫu, chứng từ, công thức tính toán liên quan</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 báo cáo </a:t>
            </a:r>
            <a:endParaRPr sz="18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Văn bản, chính sách quy định các hoạt động trong các lĩnh vực đặc thù</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Nguồn lực tài nguyên (cán bộ, trang thiết bị, các phần mềm nếu có).</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 hạn chế cần phải thay đổi của hệ thống.</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Sự mong đợi về hệ thống mới của người dùng...</a:t>
            </a:r>
            <a:endParaRPr/>
          </a:p>
        </p:txBody>
      </p:sp>
      <p:cxnSp>
        <p:nvCxnSpPr>
          <p:cNvPr id="141" name="Google Shape;141;p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42" name="Google Shape;142;p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43" name="Google Shape;143;p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Mục đích</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Hướng tiếp cận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Các yếu tố quan trọng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Các thông tin cần xác định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49" name="Google Shape;149;p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Phỏng vấn là phương pháp hỏi trực tiếp người có liên quan để thu thập thông tin, đây là cách đơn giản và quan trọng nhất để thu thập thông tin về một tổ chức. </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Hiệu quả của phương pháp phỏng vấn phụ thuộc vào các yếu tố sau:   </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Sự chuẩn bị. </a:t>
            </a:r>
            <a:endParaRPr sz="18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Chất lượng câu hỏi và phương pháp ghi chép.</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Kinh nghiệm và khả năng giao tiếp của người phỏng vấn.</a:t>
            </a:r>
            <a:endParaRPr/>
          </a:p>
        </p:txBody>
      </p:sp>
      <p:cxnSp>
        <p:nvCxnSpPr>
          <p:cNvPr id="150" name="Google Shape;150;p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51" name="Google Shape;151;p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52" name="Google Shape;152;p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Phỏng vấn</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Phân tích thủ tục và tài liệu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58" name="Google Shape;158;p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0" marL="0" rtl="0" algn="just">
              <a:spcBef>
                <a:spcPts val="0"/>
              </a:spcBef>
              <a:spcAft>
                <a:spcPts val="0"/>
              </a:spcAft>
              <a:buClr>
                <a:srgbClr val="FF0066"/>
              </a:buClr>
              <a:buSzPts val="2000"/>
              <a:buNone/>
            </a:pPr>
            <a:r>
              <a:rPr lang="en-US" sz="2000">
                <a:solidFill>
                  <a:srgbClr val="FF0066"/>
                </a:solidFill>
                <a:latin typeface="Calibri"/>
                <a:ea typeface="Calibri"/>
                <a:cs typeface="Calibri"/>
                <a:sym typeface="Calibri"/>
              </a:rPr>
              <a:t>Chuẩn bị phỏng vấn: </a:t>
            </a:r>
            <a:endParaRPr/>
          </a:p>
          <a:p>
            <a:pPr indent="-390392" lvl="0"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Để phỏng vấn một người hay một nhóm người ta cần phải làm quen lần đầu, sau đó hẹn gặp để phỏng vấn họ. Nội dung hẹn gặp thường bao gồm: thời gian, địa điểm, nội dung dự kiến.</a:t>
            </a:r>
            <a:endParaRPr/>
          </a:p>
          <a:p>
            <a:pPr indent="-390392" lvl="0"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Chuẩn bị trước Bảng kế hoạch phỏng vấn:</a:t>
            </a:r>
            <a:endParaRPr/>
          </a:p>
          <a:p>
            <a:pPr indent="0" lvl="0"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59" name="Google Shape;159;p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60" name="Google Shape;160;p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61" name="Google Shape;161;p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Phỏng vấn</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Phân tích thủ tục và tài liệu </a:t>
            </a:r>
            <a:endParaRPr/>
          </a:p>
        </p:txBody>
      </p:sp>
      <p:pic>
        <p:nvPicPr>
          <p:cNvPr id="162" name="Google Shape;162;p8"/>
          <p:cNvPicPr preferRelativeResize="0"/>
          <p:nvPr/>
        </p:nvPicPr>
        <p:blipFill rotWithShape="1">
          <a:blip r:embed="rId3">
            <a:alphaModFix/>
          </a:blip>
          <a:srcRect b="0" l="0" r="0" t="0"/>
          <a:stretch/>
        </p:blipFill>
        <p:spPr>
          <a:xfrm>
            <a:off x="1615108" y="2778120"/>
            <a:ext cx="5731510" cy="404939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68" name="Google Shape;168;p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0" marL="0" rtl="0" algn="just">
              <a:spcBef>
                <a:spcPts val="0"/>
              </a:spcBef>
              <a:spcAft>
                <a:spcPts val="0"/>
              </a:spcAft>
              <a:buClr>
                <a:srgbClr val="FF0066"/>
              </a:buClr>
              <a:buSzPts val="2000"/>
              <a:buNone/>
            </a:pPr>
            <a:r>
              <a:rPr lang="en-US" sz="2000">
                <a:solidFill>
                  <a:srgbClr val="FF0066"/>
                </a:solidFill>
                <a:latin typeface="Calibri"/>
                <a:ea typeface="Calibri"/>
                <a:cs typeface="Calibri"/>
                <a:sym typeface="Calibri"/>
              </a:rPr>
              <a:t>Lựa chọn câu hỏi: </a:t>
            </a:r>
            <a:endParaRPr/>
          </a:p>
          <a:p>
            <a:pPr indent="-390392" lvl="0"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Khi phỏng vấn thường sử dụng hai loại câu hỏi: câu hỏi đóng và câu hỏi mở. </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Câu hỏi đóng: gồm một tập các câu hỏi có nhiều đáp án cho trước để người được hỏi lựa chọn trả lời. Phỏng vấn đóng có tác dụng hạn chế phạm vi muốn hỏi và tập trung vào các vấn đề quan trọng. </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Câu hỏi mở: gồm một tập các câu hỏi cho phép người được hỏi tự trả lời và phát biểu giải thích theo quan điểm của mình. Câu hỏi mở thích hợp cho việc mô tả các chức năng của hệ thống hiện tại và định hướng cho các chức năng của ứng dụng mới sắp được đề ra. </a:t>
            </a:r>
            <a:endParaRPr/>
          </a:p>
          <a:p>
            <a:pPr indent="0" lvl="1" marL="804863" rtl="0" algn="just">
              <a:spcBef>
                <a:spcPts val="983"/>
              </a:spcBef>
              <a:spcAft>
                <a:spcPts val="0"/>
              </a:spcAft>
              <a:buClr>
                <a:srgbClr val="FF0066"/>
              </a:buClr>
              <a:buSzPts val="1500"/>
              <a:buNone/>
            </a:pPr>
            <a:r>
              <a:rPr lang="en-US" sz="1500">
                <a:solidFill>
                  <a:srgbClr val="632423"/>
                </a:solidFill>
                <a:latin typeface="Calibri"/>
                <a:ea typeface="Calibri"/>
                <a:cs typeface="Calibri"/>
                <a:sym typeface="Calibri"/>
              </a:rPr>
              <a:t>Ví dụ: “Ông có thể nói cho tôi biết ông phải thực hiện những công việc gì? Các bước thực hiện như thế nào?...”, “Ông cần quản lý những thông tin gì của các nhân viên trong công ty?”, “Ông có thể mô tả kết quả cần đạt được về...”… </a:t>
            </a:r>
            <a:endParaRPr/>
          </a:p>
          <a:p>
            <a:pPr indent="-390392" lvl="0"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Trong quá trình phỏng vấn có thể kết hợp sử dụng đồng thời cả câu hỏi đóng và câu hỏi mở.</a:t>
            </a:r>
            <a:endParaRPr sz="2000">
              <a:solidFill>
                <a:srgbClr val="632423"/>
              </a:solidFill>
              <a:latin typeface="Calibri"/>
              <a:ea typeface="Calibri"/>
              <a:cs typeface="Calibri"/>
              <a:sym typeface="Calibri"/>
            </a:endParaRPr>
          </a:p>
        </p:txBody>
      </p:sp>
      <p:cxnSp>
        <p:nvCxnSpPr>
          <p:cNvPr id="169" name="Google Shape;169;p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70" name="Google Shape;170;p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71" name="Google Shape;171;p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Phỏng vấn</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Phân tích thủ tục và tài liệu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77" name="Google Shape;177;p1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0" marL="0" rtl="0" algn="just">
              <a:spcBef>
                <a:spcPts val="0"/>
              </a:spcBef>
              <a:spcAft>
                <a:spcPts val="0"/>
              </a:spcAft>
              <a:buClr>
                <a:srgbClr val="FF0066"/>
              </a:buClr>
              <a:buSzPts val="2000"/>
              <a:buNone/>
            </a:pPr>
            <a:r>
              <a:rPr lang="en-US" sz="2000">
                <a:solidFill>
                  <a:srgbClr val="FF0066"/>
                </a:solidFill>
                <a:latin typeface="Calibri"/>
                <a:ea typeface="Calibri"/>
                <a:cs typeface="Calibri"/>
                <a:sym typeface="Calibri"/>
              </a:rPr>
              <a:t>Tiến hành phỏng vấn: </a:t>
            </a:r>
            <a:endParaRPr/>
          </a:p>
          <a:p>
            <a:pPr indent="-390392" lvl="0"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Phỏng vấn nên tiến hành theo nhóm, ít nhất có hai người. Khi phỏng vấn một người hỏi, một người ghi. </a:t>
            </a:r>
            <a:endParaRPr/>
          </a:p>
          <a:p>
            <a:pPr indent="-390392" lvl="0" marL="390392"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Trong quá trình phỏng vấn phải chú ý tới các vấn đề sau:</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Luôn chú ý vào câu trả lời của người được phỏng vấn, có thể ghi âm nếu được đồng ý.</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Luôn bám sát các trình bày và phát triển chi tiết nó.</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Luôn cung cấp các thông tin phản hồi, ví dụ: “Cho phép tôi trình bày lại điều ông vừa nói...”.</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Tìm hiểu cho đến cùng những vấn đề chưa được rõ.</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Phải có kế hoạch kết thúc cuộc phỏng vấn.</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Khi kết thúc tóm tắt lại nội dung cuộc phỏng vấn và yêu cầu người được phỏng vấn xác nhận lại.</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Xác nhận lại lịch làm việc của các buổi phỏng vấn tiếp theo (nếu có).</a:t>
            </a:r>
            <a:endParaRPr/>
          </a:p>
          <a:p>
            <a:pPr indent="-325325" lvl="1" marL="845848"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Các thông tin của cuộc phỏng vấn phải được tổng hợp lại trong vòng 48h.</a:t>
            </a:r>
            <a:endParaRPr sz="1600">
              <a:solidFill>
                <a:srgbClr val="632423"/>
              </a:solidFill>
              <a:latin typeface="Calibri"/>
              <a:ea typeface="Calibri"/>
              <a:cs typeface="Calibri"/>
              <a:sym typeface="Calibri"/>
            </a:endParaRPr>
          </a:p>
        </p:txBody>
      </p:sp>
      <p:cxnSp>
        <p:nvCxnSpPr>
          <p:cNvPr id="178" name="Google Shape;178;p1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79" name="Google Shape;179;p1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80" name="Google Shape;180;p1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Phỏng vấn</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Phân tích thủ tục và tài liệu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86" name="Google Shape;186;p1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0" lvl="0" marL="0" rtl="0" algn="just">
              <a:spcBef>
                <a:spcPts val="0"/>
              </a:spcBef>
              <a:spcAft>
                <a:spcPts val="0"/>
              </a:spcAft>
              <a:buClr>
                <a:srgbClr val="FF0066"/>
              </a:buClr>
              <a:buSzPts val="2000"/>
              <a:buNone/>
            </a:pPr>
            <a:r>
              <a:rPr lang="en-US" sz="2000">
                <a:solidFill>
                  <a:srgbClr val="FF0066"/>
                </a:solidFill>
                <a:latin typeface="Calibri"/>
                <a:ea typeface="Calibri"/>
                <a:cs typeface="Calibri"/>
                <a:sym typeface="Calibri"/>
              </a:rPr>
              <a:t>Mẫu bảng câu hỏi và ghi nhận trả lời: </a:t>
            </a:r>
            <a:endParaRPr/>
          </a:p>
        </p:txBody>
      </p:sp>
      <p:cxnSp>
        <p:nvCxnSpPr>
          <p:cNvPr id="187" name="Google Shape;187;p1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88" name="Google Shape;188;p1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89" name="Google Shape;189;p1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Phỏng vấn</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Phân tích thủ tục và tài liệu </a:t>
            </a:r>
            <a:endParaRPr/>
          </a:p>
        </p:txBody>
      </p:sp>
      <p:pic>
        <p:nvPicPr>
          <p:cNvPr id="190" name="Google Shape;190;p11"/>
          <p:cNvPicPr preferRelativeResize="0"/>
          <p:nvPr/>
        </p:nvPicPr>
        <p:blipFill rotWithShape="1">
          <a:blip r:embed="rId3">
            <a:alphaModFix/>
          </a:blip>
          <a:srcRect b="0" l="0" r="0" t="0"/>
          <a:stretch/>
        </p:blipFill>
        <p:spPr>
          <a:xfrm>
            <a:off x="895028" y="1628800"/>
            <a:ext cx="6934200" cy="50405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96" name="Google Shape;196;p1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Quan sát là hoạt động người quan sát ngồi một chỗ ghi chép hoặc dùng máy ghi hình ghi lại các hoạt động, các bước xử lý công việc của người dùng đối với hệ thống. </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Quan sát được dùng trong trường hợp muốn bổ sung và chính xác hóa các thông tin, vì khi phỏng vấn, người được phỏng vấn có thể không nhớ hết mọi điều họ biết, đặc biệt những sự kiện ít xảy ra và các câu trả lời cũng mang tính chủ quan nên có thể bị bỏ qua nhiều chi tiết. </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Người quan sát có thể nhận được sự hiểu biết tốt về môi trường công tác hiện tại, có thể tập trung vào vấn đề và hiểu rõ hơn các hoạt động, các thao tác cũng như các chức năng dù lớn hay nhỏ của hệ thống.</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Phương pháp quan sát tốn nhiều thời gian và với ý nghĩ là đang bị quan sát có thể làm thay đổi thói quen thường ngày của người bị quan sát.</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Để quan sát có hiệu quả, nên xác định các hoạt động cần quan sát và thời gian cần thiết cho việc quan sát. </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Đồng thời, hãy xin sự chấp thuận của cả người quản lý và cá nhân được quan sát trước khi tiến hành quan sát.</a:t>
            </a:r>
            <a:endParaRPr sz="1800">
              <a:solidFill>
                <a:srgbClr val="632423"/>
              </a:solidFill>
              <a:latin typeface="Calibri"/>
              <a:ea typeface="Calibri"/>
              <a:cs typeface="Calibri"/>
              <a:sym typeface="Calibri"/>
            </a:endParaRPr>
          </a:p>
        </p:txBody>
      </p:sp>
      <p:cxnSp>
        <p:nvCxnSpPr>
          <p:cNvPr id="197" name="Google Shape;197;p1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98" name="Google Shape;198;p1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99" name="Google Shape;199;p1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Phỏng vấn</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Phân tích thủ tục và tài liệu</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05" name="Google Shape;205;p1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Điều tra bằng bảng hỏi là một phương pháp xác định yêu cầu bổ trợ cho các phương pháp khác, nhằm thăm dò dư luận, thu thập các ý kiến, quan điểm một cách rộng rãi liên quan đến hoạt động chung và việc phát triển hệ thống thông tin của tổ chức. </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Nội dung điều tra thường hạn chế trong một số vấn đề nhất định như:</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Những khó khăn và nguyên nhân mà tổ chức đang gặp phải.</a:t>
            </a:r>
            <a:endParaRPr sz="18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Nhu cầu phát triển HTTT trong tổ chức.</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Những mong muốn về HTTT trong tương lai.</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Những khó khăn khi triển khai một HTTT trong tổ chức…</a:t>
            </a:r>
            <a:endParaRPr sz="1800">
              <a:solidFill>
                <a:srgbClr val="632423"/>
              </a:solidFill>
              <a:latin typeface="Calibri"/>
              <a:ea typeface="Calibri"/>
              <a:cs typeface="Calibri"/>
              <a:sym typeface="Calibri"/>
            </a:endParaRPr>
          </a:p>
        </p:txBody>
      </p:sp>
      <p:cxnSp>
        <p:nvCxnSpPr>
          <p:cNvPr id="206" name="Google Shape;206;p1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07" name="Google Shape;207;p1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08" name="Google Shape;208;p1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Phỏng vấn</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Bảng câu hỏi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Phân tích thủ tục và tài liệu</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14" name="Google Shape;214;p1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Nội dung bảng hỏi thường gồm 3 phần:</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Phần tiêu đề: Gồm số thứ tự phiếu, tên bảng hỏi và mục đích của bảng hỏi.</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Phần câu hỏi: Gồm các câu hỏi được sắp xếp và bố trí theo từng phần nội dung riêng biệt cần khảo sát. </a:t>
            </a:r>
            <a:endParaRPr/>
          </a:p>
          <a:p>
            <a:pPr indent="-260261" lvl="2" marL="1301306"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Các câu hỏi thăm dò thường ở dạng câu hỏi đóng có sẵn các phương án trả lời cũng như quy định số lượng các câu trả lời, người được hỏi chỉ cần đánh dấu vào những mục mà họ chọn. </a:t>
            </a:r>
            <a:endParaRPr/>
          </a:p>
          <a:p>
            <a:pPr indent="-260261" lvl="2" marL="1301306"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Trong một số trường hợp các phương án trả lời có thể ở dạng mở để người được hỏi trả lời theo ý kiến của riêng mình, ví dụ phương án trả lời là: </a:t>
            </a:r>
            <a:r>
              <a:rPr i="1" lang="en-US" sz="1600">
                <a:solidFill>
                  <a:srgbClr val="632423"/>
                </a:solidFill>
                <a:latin typeface="Calibri"/>
                <a:ea typeface="Calibri"/>
                <a:cs typeface="Calibri"/>
                <a:sym typeface="Calibri"/>
              </a:rPr>
              <a:t>Ý kiến khác</a:t>
            </a:r>
            <a:endParaRPr/>
          </a:p>
          <a:p>
            <a:pPr indent="-325325" lvl="1" marL="845848"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Phần thông tin của đối tượng được hỏi: Gồm các câu hỏi để phân loại người được hỏi theo các nhóm nghề nghiệp, giới tính, độ tuổi...</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Phương pháp bảng hỏi có ưu điểm nhanh, chi phí thấp, dễ tổng hợp kết quả nhưng độ chính xác thấp.</a:t>
            </a:r>
            <a:endParaRPr/>
          </a:p>
        </p:txBody>
      </p:sp>
      <p:cxnSp>
        <p:nvCxnSpPr>
          <p:cNvPr id="215" name="Google Shape;215;p1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16" name="Google Shape;216;p1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17" name="Google Shape;217;p1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Phỏng vấn</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Bảng câu hỏi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Phân tích thủ tục và tài liệu</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23" name="Google Shape;223;p1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Phân tích các tài liệu có sẵn của tổ chức là hoạt động không thể thiếu khi khảo sát hệ thống, giúp tăng cường các kết quả nhận được và khám phá thêm những chi tiết trong hoạt động của hệ thống hiện tại.</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Một số tài liệu quan trọng giúp ích trong quá trình xác định yêu cầu hệ thống:</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Văn bản quy trình thực hiện công việc.</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Biểu mẫu.</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Báo cáo.</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Văn bản mô tả hệ thống thông tin hiện thời (nếu có).</a:t>
            </a:r>
            <a:endParaRPr sz="1800">
              <a:solidFill>
                <a:srgbClr val="632423"/>
              </a:solidFill>
              <a:latin typeface="Calibri"/>
              <a:ea typeface="Calibri"/>
              <a:cs typeface="Calibri"/>
              <a:sym typeface="Calibri"/>
            </a:endParaRPr>
          </a:p>
          <a:p>
            <a:pPr indent="-223725" lvl="1" marL="845848" rtl="0" algn="just">
              <a:spcBef>
                <a:spcPts val="1003"/>
              </a:spcBef>
              <a:spcAft>
                <a:spcPts val="0"/>
              </a:spcAft>
              <a:buClr>
                <a:srgbClr val="FF0066"/>
              </a:buClr>
              <a:buSzPts val="1600"/>
              <a:buFont typeface="Noto Sans Symbols"/>
              <a:buNone/>
            </a:pPr>
            <a:r>
              <a:t/>
            </a:r>
            <a:endParaRPr sz="1600">
              <a:solidFill>
                <a:srgbClr val="632423"/>
              </a:solidFill>
              <a:latin typeface="Calibri"/>
              <a:ea typeface="Calibri"/>
              <a:cs typeface="Calibri"/>
              <a:sym typeface="Calibri"/>
            </a:endParaRPr>
          </a:p>
        </p:txBody>
      </p:sp>
      <p:cxnSp>
        <p:nvCxnSpPr>
          <p:cNvPr id="224" name="Google Shape;224;p1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25" name="Google Shape;225;p1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26" name="Google Shape;226;p1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Phỏng vấn</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Phân tích thủ tục và tài liệu</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32" name="Google Shape;232;p1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Văn bản quy trình thực hiện công việc:</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i="1" lang="en-US" sz="1800">
                <a:solidFill>
                  <a:srgbClr val="632423"/>
                </a:solidFill>
                <a:latin typeface="Calibri"/>
                <a:ea typeface="Calibri"/>
                <a:cs typeface="Calibri"/>
                <a:sym typeface="Calibri"/>
              </a:rPr>
              <a:t>Văn bản quy trình thực hiện công việc </a:t>
            </a:r>
            <a:r>
              <a:rPr lang="en-US" sz="1800">
                <a:solidFill>
                  <a:srgbClr val="632423"/>
                </a:solidFill>
                <a:latin typeface="Calibri"/>
                <a:ea typeface="Calibri"/>
                <a:cs typeface="Calibri"/>
                <a:sym typeface="Calibri"/>
              </a:rPr>
              <a:t>cho một cá nhân hoặc một nhóm đối tượng, mô tả các bước cần phải thực hiện của một công việc cụ thể bao gồm cả dữ liệu, thông tin đầu vào và thông tin đầu ra.</a:t>
            </a:r>
            <a:endParaRPr/>
          </a:p>
          <a:p>
            <a:pPr indent="-285750" lvl="2" marL="126173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Đôi khi phân tích thủ tục bằng văn bản cho thấy sự chồng chéo giữa hai hoặc nhiều công việc. </a:t>
            </a:r>
            <a:endParaRPr/>
          </a:p>
          <a:p>
            <a:pPr indent="-285750" lvl="2" marL="126173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Vấn đề thứ hai là thủ tục có thể bị thiếu thông tin thực hiện.</a:t>
            </a:r>
            <a:endParaRPr/>
          </a:p>
          <a:p>
            <a:pPr indent="-285750" lvl="2" marL="126173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Vấn đề thứ ba là thủ tục có thể đã bị lạc hậu so với thực tế, ta có thể nhận ra trong cuộc phỏng vấn người có trách nhiệm thực hiện các nhiệm vụ được mô tả trong thủ tục. </a:t>
            </a:r>
            <a:endParaRPr/>
          </a:p>
          <a:p>
            <a:pPr indent="-285750" lvl="2" marL="1261730"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Vấn đề thứ tư là các thông tin trong thủ tục có thể mâu thuẫn với thông tin thu thập được từ các cuộc phỏng vấn, bảng hỏi và quan sát về cách thức tổ chức các hoạt động. </a:t>
            </a:r>
            <a:endParaRPr sz="16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Các vấn đề này phải được đưa ra để thảo luận trước khi thiết kế hệ thống, cần thiết có thể thiết kế lại tổ chức để hệ thống thông tin có thể đạt được lợi ích đầy đủ của nó. </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Công việc này thuộc về trách nhiệm của các nhà quản lý nhưng ta có thể tư vấn dựa trên sự hiểu biết của ta về tổ chức.</a:t>
            </a:r>
            <a:endParaRPr/>
          </a:p>
        </p:txBody>
      </p:sp>
      <p:cxnSp>
        <p:nvCxnSpPr>
          <p:cNvPr id="233" name="Google Shape;233;p1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34" name="Google Shape;234;p1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35" name="Google Shape;235;p1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Phỏng vấn</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Phân tích thủ tục và tài liệu</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41" name="Google Shape;241;p1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Biểu mẫu:</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i="1" lang="en-US" sz="1800">
                <a:solidFill>
                  <a:srgbClr val="632423"/>
                </a:solidFill>
                <a:latin typeface="Calibri"/>
                <a:ea typeface="Calibri"/>
                <a:cs typeface="Calibri"/>
                <a:sym typeface="Calibri"/>
              </a:rPr>
              <a:t>Biểu mẫu </a:t>
            </a:r>
            <a:r>
              <a:rPr lang="en-US" sz="1800">
                <a:solidFill>
                  <a:srgbClr val="632423"/>
                </a:solidFill>
                <a:latin typeface="Calibri"/>
                <a:ea typeface="Calibri"/>
                <a:cs typeface="Calibri"/>
                <a:sym typeface="Calibri"/>
              </a:rPr>
              <a:t>được sử dụng cho tất cả các chức năng kinh doanh, từ việc ghi nhận các hóa đơn thanh toán đến việc liệt kê danh sách các hàng hóa đã được xuất xưởng…</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Biểu mẫu rất quan trọng để hiểu một hệ thống vì nó chỉ rõ những luồng dữ liệu vào và ra, cho phép ta xác định các đặc điểm dữ liệu thực tế được sử dụng bởi ứng dụng. </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Mỗi biểu mẫu có thể tương ứng với một màn hình máy tính mà hệ thống sẽ tạo ra cho người dùng để nhập và bảo trì dữ liệu hoặc để hiển thị trực tuyến.</a:t>
            </a:r>
            <a:endParaRPr/>
          </a:p>
        </p:txBody>
      </p:sp>
      <p:cxnSp>
        <p:nvCxnSpPr>
          <p:cNvPr id="242" name="Google Shape;242;p1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43" name="Google Shape;243;p1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44" name="Google Shape;244;p1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Phỏng vấn</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Phân tích thủ tục và tài liệu</a:t>
            </a:r>
            <a:endParaRPr/>
          </a:p>
        </p:txBody>
      </p:sp>
      <p:pic>
        <p:nvPicPr>
          <p:cNvPr id="245" name="Google Shape;245;p17"/>
          <p:cNvPicPr preferRelativeResize="0"/>
          <p:nvPr/>
        </p:nvPicPr>
        <p:blipFill rotWithShape="1">
          <a:blip r:embed="rId3">
            <a:alphaModFix/>
          </a:blip>
          <a:srcRect b="0" l="0" r="0" t="0"/>
          <a:stretch/>
        </p:blipFill>
        <p:spPr>
          <a:xfrm>
            <a:off x="3631332" y="3692649"/>
            <a:ext cx="5734050" cy="3162300"/>
          </a:xfrm>
          <a:prstGeom prst="rect">
            <a:avLst/>
          </a:prstGeom>
          <a:noFill/>
          <a:ln>
            <a:noFill/>
          </a:ln>
        </p:spPr>
      </p:pic>
      <p:sp>
        <p:nvSpPr>
          <p:cNvPr id="246" name="Google Shape;246;p17"/>
          <p:cNvSpPr/>
          <p:nvPr/>
        </p:nvSpPr>
        <p:spPr>
          <a:xfrm>
            <a:off x="390972" y="3861048"/>
            <a:ext cx="3096344" cy="2742802"/>
          </a:xfrm>
          <a:prstGeom prst="rect">
            <a:avLst/>
          </a:prstGeom>
          <a:noFill/>
          <a:ln>
            <a:noFill/>
          </a:ln>
        </p:spPr>
        <p:txBody>
          <a:bodyPr anchorCtr="0" anchor="t" bIns="45700" lIns="91425" spcFirstLastPara="1" rIns="91425" wrap="square" tIns="45700">
            <a:spAutoFit/>
          </a:bodyPr>
          <a:lstStyle/>
          <a:p>
            <a:pPr indent="0" lvl="2" marL="22225" marR="0" rtl="0" algn="just">
              <a:spcBef>
                <a:spcPts val="0"/>
              </a:spcBef>
              <a:spcAft>
                <a:spcPts val="0"/>
              </a:spcAft>
              <a:buNone/>
            </a:pPr>
            <a:r>
              <a:rPr b="0" i="0" lang="en-US" sz="1600" u="none" cap="none" strike="noStrike">
                <a:solidFill>
                  <a:srgbClr val="632423"/>
                </a:solidFill>
                <a:latin typeface="Calibri"/>
                <a:ea typeface="Calibri"/>
                <a:cs typeface="Calibri"/>
                <a:sym typeface="Calibri"/>
              </a:rPr>
              <a:t>Ví dụ trong hoá đơn mẫu sau ta có thể xác định các dữ liệu như:</a:t>
            </a:r>
            <a:endParaRPr/>
          </a:p>
          <a:p>
            <a:pPr indent="-342900" lvl="2" marL="365125" marR="0" rtl="0" algn="just">
              <a:spcBef>
                <a:spcPts val="1003"/>
              </a:spcBef>
              <a:spcAft>
                <a:spcPts val="0"/>
              </a:spcAft>
              <a:buClr>
                <a:srgbClr val="FF0066"/>
              </a:buClr>
              <a:buSzPts val="1600"/>
              <a:buFont typeface="Arial"/>
              <a:buChar char="•"/>
            </a:pPr>
            <a:r>
              <a:rPr b="0" i="0" lang="en-US" sz="1600" u="none" cap="none" strike="noStrike">
                <a:solidFill>
                  <a:srgbClr val="632423"/>
                </a:solidFill>
                <a:latin typeface="Calibri"/>
                <a:ea typeface="Calibri"/>
                <a:cs typeface="Calibri"/>
                <a:sym typeface="Calibri"/>
              </a:rPr>
              <a:t>số hóa đơn, </a:t>
            </a:r>
            <a:endParaRPr/>
          </a:p>
          <a:p>
            <a:pPr indent="-342900" lvl="2" marL="365125" marR="0" rtl="0" algn="just">
              <a:spcBef>
                <a:spcPts val="320"/>
              </a:spcBef>
              <a:spcAft>
                <a:spcPts val="0"/>
              </a:spcAft>
              <a:buClr>
                <a:srgbClr val="FF0066"/>
              </a:buClr>
              <a:buSzPts val="1600"/>
              <a:buFont typeface="Arial"/>
              <a:buChar char="•"/>
            </a:pPr>
            <a:r>
              <a:rPr b="0" i="0" lang="en-US" sz="1600" u="none" cap="none" strike="noStrike">
                <a:solidFill>
                  <a:srgbClr val="632423"/>
                </a:solidFill>
                <a:latin typeface="Calibri"/>
                <a:ea typeface="Calibri"/>
                <a:cs typeface="Calibri"/>
                <a:sym typeface="Calibri"/>
              </a:rPr>
              <a:t>ngày mua, </a:t>
            </a:r>
            <a:endParaRPr/>
          </a:p>
          <a:p>
            <a:pPr indent="-342900" lvl="2" marL="365125" marR="0" rtl="0" algn="just">
              <a:spcBef>
                <a:spcPts val="320"/>
              </a:spcBef>
              <a:spcAft>
                <a:spcPts val="0"/>
              </a:spcAft>
              <a:buClr>
                <a:srgbClr val="FF0066"/>
              </a:buClr>
              <a:buSzPts val="1600"/>
              <a:buFont typeface="Arial"/>
              <a:buChar char="•"/>
            </a:pPr>
            <a:r>
              <a:rPr b="0" i="0" lang="en-US" sz="1600" u="none" cap="none" strike="noStrike">
                <a:solidFill>
                  <a:srgbClr val="632423"/>
                </a:solidFill>
                <a:latin typeface="Calibri"/>
                <a:ea typeface="Calibri"/>
                <a:cs typeface="Calibri"/>
                <a:sym typeface="Calibri"/>
              </a:rPr>
              <a:t>địa chỉ khách hàng,</a:t>
            </a:r>
            <a:endParaRPr/>
          </a:p>
          <a:p>
            <a:pPr indent="-342900" lvl="2" marL="365125" marR="0" rtl="0" algn="just">
              <a:spcBef>
                <a:spcPts val="320"/>
              </a:spcBef>
              <a:spcAft>
                <a:spcPts val="0"/>
              </a:spcAft>
              <a:buClr>
                <a:srgbClr val="FF0066"/>
              </a:buClr>
              <a:buSzPts val="1600"/>
              <a:buFont typeface="Arial"/>
              <a:buChar char="•"/>
            </a:pPr>
            <a:r>
              <a:rPr b="0" i="0" lang="en-US" sz="1600" u="none" cap="none" strike="noStrike">
                <a:solidFill>
                  <a:srgbClr val="632423"/>
                </a:solidFill>
                <a:latin typeface="Calibri"/>
                <a:ea typeface="Calibri"/>
                <a:cs typeface="Calibri"/>
                <a:sym typeface="Calibri"/>
              </a:rPr>
              <a:t>số lượng hàng đặt mua, </a:t>
            </a:r>
            <a:endParaRPr/>
          </a:p>
          <a:p>
            <a:pPr indent="-342900" lvl="2" marL="365125" marR="0" rtl="0" algn="just">
              <a:spcBef>
                <a:spcPts val="320"/>
              </a:spcBef>
              <a:spcAft>
                <a:spcPts val="0"/>
              </a:spcAft>
              <a:buClr>
                <a:srgbClr val="FF0066"/>
              </a:buClr>
              <a:buSzPts val="1600"/>
              <a:buFont typeface="Arial"/>
              <a:buChar char="•"/>
            </a:pPr>
            <a:r>
              <a:rPr b="0" i="0" lang="en-US" sz="1600" u="none" cap="none" strike="noStrike">
                <a:solidFill>
                  <a:srgbClr val="632423"/>
                </a:solidFill>
                <a:latin typeface="Calibri"/>
                <a:ea typeface="Calibri"/>
                <a:cs typeface="Calibri"/>
                <a:sym typeface="Calibri"/>
              </a:rPr>
              <a:t>mô tả, </a:t>
            </a:r>
            <a:endParaRPr/>
          </a:p>
          <a:p>
            <a:pPr indent="-342900" lvl="2" marL="365125" marR="0" rtl="0" algn="just">
              <a:spcBef>
                <a:spcPts val="320"/>
              </a:spcBef>
              <a:spcAft>
                <a:spcPts val="0"/>
              </a:spcAft>
              <a:buClr>
                <a:srgbClr val="FF0066"/>
              </a:buClr>
              <a:buSzPts val="1600"/>
              <a:buFont typeface="Arial"/>
              <a:buChar char="•"/>
            </a:pPr>
            <a:r>
              <a:rPr b="0" i="0" lang="en-US" sz="1600" u="none" cap="none" strike="noStrike">
                <a:solidFill>
                  <a:srgbClr val="632423"/>
                </a:solidFill>
                <a:latin typeface="Calibri"/>
                <a:ea typeface="Calibri"/>
                <a:cs typeface="Calibri"/>
                <a:sym typeface="Calibri"/>
              </a:rPr>
              <a:t>tỷ giá,</a:t>
            </a:r>
            <a:endParaRPr/>
          </a:p>
          <a:p>
            <a:pPr indent="-342900" lvl="2" marL="365125" marR="0" rtl="0" algn="just">
              <a:spcBef>
                <a:spcPts val="320"/>
              </a:spcBef>
              <a:spcAft>
                <a:spcPts val="0"/>
              </a:spcAft>
              <a:buClr>
                <a:srgbClr val="FF0066"/>
              </a:buClr>
              <a:buSzPts val="1600"/>
              <a:buFont typeface="Arial"/>
              <a:buChar char="•"/>
            </a:pPr>
            <a:r>
              <a:rPr b="0" i="0" lang="en-US" sz="1600" u="none" cap="none" strike="noStrike">
                <a:solidFill>
                  <a:srgbClr val="632423"/>
                </a:solidFill>
                <a:latin typeface="Calibri"/>
                <a:ea typeface="Calibri"/>
                <a:cs typeface="Calibri"/>
                <a:sym typeface="Calibri"/>
              </a:rPr>
              <a:t>số tiền...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52" name="Google Shape;252;p1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Báo cáo:</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Báo cáo là đầu ra chính của một số hệ thống, từ các thông tin trên bản báo cáo cho phép ta đi ngược lại để xác định các dữ liệu cần phải có để tạo ra báo cáo</a:t>
            </a:r>
            <a:r>
              <a:rPr lang="en-US" sz="1800"/>
              <a:t>. </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Ví dụ báo cáo tài chính lưu chuyển tiền mặt:</a:t>
            </a:r>
            <a:endParaRPr/>
          </a:p>
        </p:txBody>
      </p:sp>
      <p:cxnSp>
        <p:nvCxnSpPr>
          <p:cNvPr id="253" name="Google Shape;253;p1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54" name="Google Shape;254;p1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55" name="Google Shape;255;p1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Phỏng vấn</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Phân tích thủ tục và tài liệu</a:t>
            </a:r>
            <a:endParaRPr/>
          </a:p>
        </p:txBody>
      </p:sp>
      <p:pic>
        <p:nvPicPr>
          <p:cNvPr id="256" name="Google Shape;256;p18"/>
          <p:cNvPicPr preferRelativeResize="0"/>
          <p:nvPr/>
        </p:nvPicPr>
        <p:blipFill rotWithShape="1">
          <a:blip r:embed="rId3">
            <a:alphaModFix/>
          </a:blip>
          <a:srcRect b="0" l="0" r="0" t="0"/>
          <a:stretch/>
        </p:blipFill>
        <p:spPr>
          <a:xfrm>
            <a:off x="2191172" y="2780928"/>
            <a:ext cx="5657850" cy="3876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62" name="Google Shape;262;p1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Văn bản mô tả hệ thống thông tin hiện thời:</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Nếu hệ thống hiện tại đã được quản lý trên máy tính thì bản tài liệu mô tả các thiết kế và cách thức hoạt động của hệ thống sẽ vô cùng hữu ích, ví dụ như: </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Sơ đồ,  </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từ điển dữ liệu, </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hướng dẫn sử dụng…</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Tuy nhiên không phải một hệ thống nào cũng có đầy đủ các bản tài liệu mô tả này, hơn nữa chúng có thể đã lạc hậu so với hiện tại.</a:t>
            </a:r>
            <a:endParaRPr/>
          </a:p>
        </p:txBody>
      </p:sp>
      <p:cxnSp>
        <p:nvCxnSpPr>
          <p:cNvPr id="263" name="Google Shape;263;p1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64" name="Google Shape;264;p1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65" name="Google Shape;265;p1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Phỏng vấn</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Quan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Bảng câu hỏi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Phân tích thủ tục và tài liệu</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71" name="Google Shape;271;p2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Ý tưởng chính của Thiết kế ứng dụng liên kết - Joint Application Design là triệu tập đồng thời người sử dụng, các nhà quản lý, các nhà phân tích hệ thống… cùng tham gia vào việc phân tích hệ thống hiện thời. </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Mục đích để thảo luận và thu thập yêu cầu thông tin của hệ thống một cách liên tục và toàn diện từ những người chủ chốt trong hệ thống. </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Xác định những vấn đề đồng thuận và bất đồng trong hệ thống.</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Cùng đưa ra các giải pháp giải quyết sự bất đồng.</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Hệ thống cuối cùng nhận được sự thống nhất cao.</a:t>
            </a:r>
            <a:endParaRPr sz="1800">
              <a:solidFill>
                <a:srgbClr val="632423"/>
              </a:solidFill>
              <a:latin typeface="Calibri"/>
              <a:ea typeface="Calibri"/>
              <a:cs typeface="Calibri"/>
              <a:sym typeface="Calibri"/>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Phiên làm việc JAD thường được tổ chức ở một nơi tách bịêt, có thể kéo dài từ một buổi đến một tuần và gồm một số phiên làm việc. </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Chi phí tốn kém và cần nhiều thời gian của những người tham gia.</a:t>
            </a:r>
            <a:endParaRPr/>
          </a:p>
        </p:txBody>
      </p:sp>
      <p:cxnSp>
        <p:nvCxnSpPr>
          <p:cNvPr id="272" name="Google Shape;272;p2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73" name="Google Shape;273;p2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74" name="Google Shape;274;p2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Thiết kế ứng dụng liên kết -JAD </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Bản mẫu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Tái cấu trúc quy trình nghiệp vụ</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80" name="Google Shape;280;p2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Thành phần tham gia vào phiên làm việc của JAD:</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Người lãnh đạo phiên JAD: Những người tổ chức và điều hành JAD, điều hành chương trình, giải quyết xung đột và tổng hợp ý tưởng.</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Người dùng: Những người sử dụng chủ chốt của hệ thống, hiểu rõ những yêu cầu mà hệ thống cần.</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Nhà quản lý: Cung cấp định hướng cho hệ thống mới và những tác động của hệ thống lên tổ chức.</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Nhà tài trợ : Những người tài trợ cho các phiên làm việc.</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Nhà phân tích hệ thống và các kỹ thuật viên và đội ngũ phát triển hệ thống.</a:t>
            </a:r>
            <a:endParaRPr/>
          </a:p>
        </p:txBody>
      </p:sp>
      <p:cxnSp>
        <p:nvCxnSpPr>
          <p:cNvPr id="281" name="Google Shape;281;p2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82" name="Google Shape;282;p2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83" name="Google Shape;283;p2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Thiết kế ứng dụng liên kết -JAD </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Bản mẫu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Tái cấu trúc quy trình nghiệp vụ</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89" name="Google Shape;289;p2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JAD thường tiến hành trong phòng đặc biệt có các công cụ nghe, nhìn và biểu diễn thông tin như máy tính, máy chiếu, bảng, biểu đồ…</a:t>
            </a:r>
            <a:endParaRPr/>
          </a:p>
        </p:txBody>
      </p:sp>
      <p:cxnSp>
        <p:nvCxnSpPr>
          <p:cNvPr id="290" name="Google Shape;290;p2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91" name="Google Shape;291;p2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2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Thiết kế ứng dụng liên kết -JAD </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Bản mẫu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Tái cấu trúc quy trình nghiệp vụ</a:t>
            </a:r>
            <a:endParaRPr/>
          </a:p>
        </p:txBody>
      </p:sp>
      <p:pic>
        <p:nvPicPr>
          <p:cNvPr id="293" name="Google Shape;293;p22"/>
          <p:cNvPicPr preferRelativeResize="0"/>
          <p:nvPr/>
        </p:nvPicPr>
        <p:blipFill rotWithShape="1">
          <a:blip r:embed="rId3">
            <a:alphaModFix/>
          </a:blip>
          <a:srcRect b="0" l="0" r="0" t="0"/>
          <a:stretch/>
        </p:blipFill>
        <p:spPr>
          <a:xfrm>
            <a:off x="1327076" y="1988840"/>
            <a:ext cx="6962775" cy="46672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99" name="Google Shape;299;p2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Nội dung phiên làm việc của JAD:</a:t>
            </a:r>
            <a:endParaRPr sz="2000">
              <a:solidFill>
                <a:srgbClr val="632423"/>
              </a:solidFill>
              <a:latin typeface="Calibri"/>
              <a:ea typeface="Calibri"/>
              <a:cs typeface="Calibri"/>
              <a:sym typeface="Calibri"/>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Khi bắt đầu chương trình làm việc lãnh đạo phiên JAD đặt vấn đề, người sử dụng trình bày thực trạng hệ thống hiện thời, những người khác hỏi và thảo luận, những nhà kỹ thuật lưu lại thông tin trên máy giúp lãnh đạo JAD có điều kiện hướng dẫn cuộc họp và đưa ra những kết luận khi cần thiết. </a:t>
            </a:r>
            <a:endParaRPr/>
          </a:p>
          <a:p>
            <a:pPr indent="-325325" lvl="1" marL="845848" rtl="0" algn="just">
              <a:spcBef>
                <a:spcPts val="1043"/>
              </a:spcBef>
              <a:spcAft>
                <a:spcPts val="0"/>
              </a:spcAft>
              <a:buClr>
                <a:srgbClr val="FF0066"/>
              </a:buClr>
              <a:buSzPts val="1800"/>
              <a:buFont typeface="Noto Sans Symbols"/>
              <a:buChar char="−"/>
            </a:pPr>
            <a:r>
              <a:rPr lang="en-US" sz="1800">
                <a:solidFill>
                  <a:srgbClr val="632423"/>
                </a:solidFill>
                <a:latin typeface="Calibri"/>
                <a:ea typeface="Calibri"/>
                <a:cs typeface="Calibri"/>
                <a:sym typeface="Calibri"/>
              </a:rPr>
              <a:t>Kết quả sau khi kết thúc JAD là một tâp tài liệu chi tiết báo cáo về những hoạt động của hệ thống hiện thời và những vấn đề có liên quan đến những hệ thống thay thế.</a:t>
            </a:r>
            <a:endParaRPr sz="1800">
              <a:solidFill>
                <a:srgbClr val="632423"/>
              </a:solidFill>
              <a:latin typeface="Calibri"/>
              <a:ea typeface="Calibri"/>
              <a:cs typeface="Calibri"/>
              <a:sym typeface="Calibri"/>
            </a:endParaRPr>
          </a:p>
        </p:txBody>
      </p:sp>
      <p:cxnSp>
        <p:nvCxnSpPr>
          <p:cNvPr id="300" name="Google Shape;300;p2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01" name="Google Shape;301;p2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02" name="Google Shape;302;p2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Thiết kế ứng dụng liên kết -JAD </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Bản mẫu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Tái cấu trúc quy trình nghiệp vụ</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08" name="Google Shape;308;p2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Phương pháp bản mẫu là một quá trình lặp mà ở đó nhà phân tích cùng tham gia vào quá trình phát triển và xây dựng lại bản mẫu của HTTT mỗi khi có thông tin phản hồi từ người sử dụng.</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Phương pháp bản mẫu được thực hiện khi:</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Yêu cầu người dùng không rõ ràng.</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 thiết kế quá phức tạp, cần xây dựng mẫu để đánh giá một cách đầy đủ.</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Các nhà phân tích và người dùng từng có vấn đề trong giao tiếp và hiểu lầm về các yêu cầu.</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Có các công cụ hỗ trợ để xây dựng bản mẫu. </a:t>
            </a:r>
            <a:endParaRPr/>
          </a:p>
        </p:txBody>
      </p:sp>
      <p:cxnSp>
        <p:nvCxnSpPr>
          <p:cNvPr id="309" name="Google Shape;309;p2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10" name="Google Shape;310;p2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11" name="Google Shape;311;p2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Thiết kế ứng dụng liên kết -JAD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Bản mẫu</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Tái cấu trúc quy trình nghiệp vụ</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17" name="Google Shape;317;p2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Báo cáo thảo luận.  </a:t>
            </a:r>
            <a:endParaRPr/>
          </a:p>
          <a:p>
            <a:pPr indent="0" lvl="0" marL="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318" name="Google Shape;318;p2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19" name="Google Shape;319;p2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20" name="Google Shape;320;p2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Thiết kế ứng dụng liên kết -JAD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Bản mẫu</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Tái cấu trúc quy trình nghiệp vụ</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26" name="Google Shape;326;p2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 yêu cầu hệ thống thu thập được thường ở dạng dữ liệu thô, rời rạc nên trước khi đưa vào phân tích cần phải được xử lý và hoàn thiện lại.</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Liệt kê các quy trình hoạt động của hệ thống.</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Với mỗi quy trình thực hiện việc phân loại, sắp xếp dữ liệu theo thứ tự hoạt động làm cho nó trở nên đầy đủ, chính xác, gọn gàng dễ kiểm tra và dễ theo dõi. </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Phát hiện những chỗ thiếu để bổ sung, những chỗ sai để sửa đổi.</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Quá trình này thường được lặp lại nhiều lần và tiến hành song song với các hoạt động xác định yêu cầu.</a:t>
            </a:r>
            <a:endParaRPr/>
          </a:p>
        </p:txBody>
      </p:sp>
      <p:cxnSp>
        <p:nvCxnSpPr>
          <p:cNvPr id="327" name="Google Shape;327;p2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28" name="Google Shape;328;p2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29" name="Google Shape;329;p2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Xử lý sơ bộ kết quả khảo sát </a:t>
            </a:r>
            <a:endParaRPr b="1" i="0" sz="16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35" name="Google Shape;335;p2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Tổng hợp kết quả khảo sát là quá trình mô tả lại các hoạt động của từng quy trình theo mối liên hệ chặt chẽ với nhau.</a:t>
            </a:r>
            <a:endParaRPr/>
          </a:p>
          <a:p>
            <a:pPr indent="-390392" lvl="0" marL="390392" rtl="0" algn="just">
              <a:spcBef>
                <a:spcPts val="1083"/>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Với mỗi quy trình cụ thể, ta xác định:</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Bản mô tả tổng quát về quy trình thực hiện.</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Bản mô tả các bước thực hiện trong quy trình.</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Bản mô tả biểu mẫu, dữ liệu liên quan tới các bước thực hiện.</a:t>
            </a:r>
            <a:endParaRPr/>
          </a:p>
        </p:txBody>
      </p:sp>
      <p:cxnSp>
        <p:nvCxnSpPr>
          <p:cNvPr id="336" name="Google Shape;336;p2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37" name="Google Shape;337;p2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38" name="Google Shape;338;p2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44" name="Google Shape;344;p2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Bản mô tả tổng quát về quy trình thực hiện:</a:t>
            </a:r>
            <a:endParaRPr/>
          </a:p>
        </p:txBody>
      </p:sp>
      <p:cxnSp>
        <p:nvCxnSpPr>
          <p:cNvPr id="345" name="Google Shape;345;p2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46" name="Google Shape;346;p2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47" name="Google Shape;347;p2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graphicFrame>
        <p:nvGraphicFramePr>
          <p:cNvPr id="348" name="Google Shape;348;p28"/>
          <p:cNvGraphicFramePr/>
          <p:nvPr/>
        </p:nvGraphicFramePr>
        <p:xfrm>
          <a:off x="534988" y="1604417"/>
          <a:ext cx="3000000" cy="3000000"/>
        </p:xfrm>
        <a:graphic>
          <a:graphicData uri="http://schemas.openxmlformats.org/drawingml/2006/table">
            <a:tbl>
              <a:tblPr>
                <a:noFill/>
                <a:tableStyleId>{43BB3CCF-3F74-46F8-803E-CAE57455B906}</a:tableStyleId>
              </a:tblPr>
              <a:tblGrid>
                <a:gridCol w="4074200"/>
                <a:gridCol w="4566750"/>
              </a:tblGrid>
              <a:tr h="282225">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Mô tả tổng quát quy trình</a:t>
                      </a:r>
                      <a:r>
                        <a:rPr lang="en-US" sz="1400" u="none" cap="none" strike="noStrike">
                          <a:latin typeface="Times New Roman"/>
                          <a:ea typeface="Times New Roman"/>
                          <a:cs typeface="Times New Roman"/>
                          <a:sym typeface="Times New Roman"/>
                        </a:rPr>
                        <a:t> </a:t>
                      </a:r>
                      <a:r>
                        <a:rPr b="1" i="1" lang="en-US" sz="1400" u="none" cap="none" strike="noStrike">
                          <a:latin typeface="Times New Roman"/>
                          <a:ea typeface="Times New Roman"/>
                          <a:cs typeface="Times New Roman"/>
                          <a:sym typeface="Times New Roman"/>
                        </a:rPr>
                        <a:t>Nhận và thẩm định hồ sơ vay vốn mua ôtô</a:t>
                      </a:r>
                      <a:endParaRPr i="1"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141125">
                <a:tc>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Người lập bảng</a:t>
                      </a:r>
                      <a:r>
                        <a:rPr lang="en-US" sz="1400" u="none" cap="none" strike="noStrike">
                          <a:latin typeface="Times New Roman"/>
                          <a:ea typeface="Times New Roman"/>
                          <a:cs typeface="Times New Roman"/>
                          <a:sym typeface="Times New Roman"/>
                        </a:rPr>
                        <a:t>: Nguyễn Cao Kỳ Duyên</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i="1" lang="en-US" sz="1400" u="none" cap="none" strike="noStrike">
                          <a:latin typeface="Times New Roman"/>
                          <a:ea typeface="Times New Roman"/>
                          <a:cs typeface="Times New Roman"/>
                          <a:sym typeface="Times New Roman"/>
                        </a:rPr>
                        <a:t>Ngày lập bảng</a:t>
                      </a:r>
                      <a:r>
                        <a:rPr lang="en-US" sz="1400" u="none" cap="none" strike="noStrike">
                          <a:latin typeface="Times New Roman"/>
                          <a:ea typeface="Times New Roman"/>
                          <a:cs typeface="Times New Roman"/>
                          <a:sym typeface="Times New Roman"/>
                        </a:rPr>
                        <a:t>: 20/01/2015</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82225">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Đối tượng thực hiện</a:t>
                      </a:r>
                      <a:r>
                        <a:rPr lang="en-US" sz="1400" u="none" cap="none" strike="noStrike">
                          <a:latin typeface="Times New Roman"/>
                          <a:ea typeface="Times New Roman"/>
                          <a:cs typeface="Times New Roman"/>
                          <a:sym typeface="Times New Roman"/>
                        </a:rPr>
                        <a:t>: Khách hàng, Nhân viên tín dụng, Nhân viên thẩm định, Trưởng phòng thẩm định.</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33375">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Điều kiện bắt đầu</a:t>
                      </a:r>
                      <a:r>
                        <a:rPr lang="en-US" sz="1400" u="none" cap="none" strike="noStrike">
                          <a:latin typeface="Times New Roman"/>
                          <a:ea typeface="Times New Roman"/>
                          <a:cs typeface="Times New Roman"/>
                          <a:sym typeface="Times New Roman"/>
                        </a:rPr>
                        <a:t>: </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Khách hàng đề nghị vay vốn mua ô tô.</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717850">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Thông tin đầu vào: </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Giấy đề nghị vay vốn.</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Bản cam kết.</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Biên nhận phần tiền trả trước.</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33375">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Kết quả đầu ra: </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Báo cáo thẩm định đồng ý hay không đồng ý cho vay.</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910100">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Nơi sử dụng:</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Khách hàng.</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Phòng tín dụng.</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Phòng thẩm định.</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Phòng kế toán.</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33375">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Tần suất: </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05 lượt/1 ngày.</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858975">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Quy tắc:</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Khách hàng chỉ được vay không quá 50% giá trị xe.</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Hồ sơ vay vốn có giá trị &gt;500.000.000đ phải do Phó giám đốc chi nhánh phê duyệt.</a:t>
                      </a:r>
                      <a:endParaRPr sz="1400" u="none" cap="none" strike="noStrike">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400"/>
                        <a:buFont typeface="Times New Roman"/>
                        <a:buChar char="-"/>
                      </a:pPr>
                      <a:r>
                        <a:rPr lang="en-US" sz="1400" u="none" cap="none" strike="noStrike">
                          <a:latin typeface="Times New Roman"/>
                          <a:ea typeface="Times New Roman"/>
                          <a:cs typeface="Times New Roman"/>
                          <a:sym typeface="Times New Roman"/>
                        </a:rPr>
                        <a:t>Khách hàng không được trả nợ trước kỳ hạn.</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33375">
                <a:tc gridSpan="2">
                  <a:txBody>
                    <a:bodyPr/>
                    <a:lstStyle/>
                    <a:p>
                      <a:pPr indent="0" lvl="0" marL="0" marR="0" rtl="0" algn="just">
                        <a:lnSpc>
                          <a:spcPct val="100000"/>
                        </a:lnSpc>
                        <a:spcBef>
                          <a:spcPts val="0"/>
                        </a:spcBef>
                        <a:spcAft>
                          <a:spcPts val="0"/>
                        </a:spcAft>
                        <a:buNone/>
                      </a:pPr>
                      <a:r>
                        <a:rPr i="1" lang="en-US" sz="1400" u="none" cap="none" strike="noStrike">
                          <a:latin typeface="Times New Roman"/>
                          <a:ea typeface="Times New Roman"/>
                          <a:cs typeface="Times New Roman"/>
                          <a:sym typeface="Times New Roman"/>
                        </a:rPr>
                        <a:t>Ghi chú: </a:t>
                      </a:r>
                      <a:r>
                        <a:rPr lang="en-US" sz="1400" u="none" cap="none" strike="noStrike">
                          <a:latin typeface="Times New Roman"/>
                          <a:ea typeface="Times New Roman"/>
                          <a:cs typeface="Times New Roman"/>
                          <a:sym typeface="Times New Roman"/>
                        </a:rPr>
                        <a:t> </a:t>
                      </a:r>
                      <a:endParaRPr sz="1400" u="none" cap="none" strike="noStrike">
                        <a:latin typeface="Arial"/>
                        <a:ea typeface="Arial"/>
                        <a:cs typeface="Arial"/>
                        <a:sym typeface="Arial"/>
                      </a:endParaRPr>
                    </a:p>
                  </a:txBody>
                  <a:tcPr marT="0" marB="0" marR="46025" marL="460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54" name="Google Shape;354;p2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Bản mô tả các bước thực hiện trong quy trình.</a:t>
            </a:r>
            <a:endParaRPr/>
          </a:p>
        </p:txBody>
      </p:sp>
      <p:cxnSp>
        <p:nvCxnSpPr>
          <p:cNvPr id="355" name="Google Shape;355;p2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56" name="Google Shape;356;p2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57" name="Google Shape;357;p2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graphicFrame>
        <p:nvGraphicFramePr>
          <p:cNvPr id="358" name="Google Shape;358;p29"/>
          <p:cNvGraphicFramePr/>
          <p:nvPr/>
        </p:nvGraphicFramePr>
        <p:xfrm>
          <a:off x="318964" y="1706478"/>
          <a:ext cx="3000000" cy="3000000"/>
        </p:xfrm>
        <a:graphic>
          <a:graphicData uri="http://schemas.openxmlformats.org/drawingml/2006/table">
            <a:tbl>
              <a:tblPr>
                <a:noFill/>
                <a:tableStyleId>{43BB3CCF-3F74-46F8-803E-CAE57455B906}</a:tableStyleId>
              </a:tblPr>
              <a:tblGrid>
                <a:gridCol w="826675"/>
                <a:gridCol w="1333550"/>
                <a:gridCol w="4392500"/>
                <a:gridCol w="2592275"/>
              </a:tblGrid>
              <a:tr h="123975">
                <a:tc gridSpan="4">
                  <a:txBody>
                    <a:bodyPr/>
                    <a:lstStyle/>
                    <a:p>
                      <a:pPr indent="0" lvl="0" marL="0" marR="0" rtl="0" algn="just">
                        <a:lnSpc>
                          <a:spcPct val="115000"/>
                        </a:lnSpc>
                        <a:spcBef>
                          <a:spcPts val="0"/>
                        </a:spcBef>
                        <a:spcAft>
                          <a:spcPts val="0"/>
                        </a:spcAft>
                        <a:buNone/>
                      </a:pPr>
                      <a:r>
                        <a:rPr i="1" lang="en-US" sz="1400" u="none" cap="none" strike="noStrike">
                          <a:latin typeface="Times New Roman"/>
                          <a:ea typeface="Times New Roman"/>
                          <a:cs typeface="Times New Roman"/>
                          <a:sym typeface="Times New Roman"/>
                        </a:rPr>
                        <a:t>Mô tả các bước thực hiện quy trình </a:t>
                      </a:r>
                      <a:r>
                        <a:rPr b="1" i="1" lang="en-US" sz="1400" u="none" cap="none" strike="noStrike">
                          <a:latin typeface="Times New Roman"/>
                          <a:ea typeface="Times New Roman"/>
                          <a:cs typeface="Times New Roman"/>
                          <a:sym typeface="Times New Roman"/>
                        </a:rPr>
                        <a:t>Nhận và thẩm định hồ sơ vay vốn mua ôtô</a:t>
                      </a:r>
                      <a:endParaRPr sz="1400" u="none" cap="none" strike="noStrike">
                        <a:latin typeface="Arial"/>
                        <a:ea typeface="Arial"/>
                        <a:cs typeface="Arial"/>
                        <a:sym typeface="Arial"/>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hMerge="1"/>
              </a:tr>
              <a:tr h="285450">
                <a:tc gridSpan="4">
                  <a:txBody>
                    <a:bodyPr/>
                    <a:lstStyle/>
                    <a:p>
                      <a:pPr indent="0" lvl="0" marL="0" marR="0" rtl="0" algn="just">
                        <a:lnSpc>
                          <a:spcPct val="115000"/>
                        </a:lnSpc>
                        <a:spcBef>
                          <a:spcPts val="0"/>
                        </a:spcBef>
                        <a:spcAft>
                          <a:spcPts val="0"/>
                        </a:spcAft>
                        <a:buNone/>
                      </a:pPr>
                      <a:r>
                        <a:rPr i="1" lang="en-US" sz="1400" u="none" cap="none" strike="noStrike">
                          <a:latin typeface="Times New Roman"/>
                          <a:ea typeface="Times New Roman"/>
                          <a:cs typeface="Times New Roman"/>
                          <a:sym typeface="Times New Roman"/>
                        </a:rPr>
                        <a:t>Người lập bảng</a:t>
                      </a:r>
                      <a:r>
                        <a:rPr lang="en-US" sz="1400" u="none" cap="none" strike="noStrike">
                          <a:latin typeface="Times New Roman"/>
                          <a:ea typeface="Times New Roman"/>
                          <a:cs typeface="Times New Roman"/>
                          <a:sym typeface="Times New Roman"/>
                        </a:rPr>
                        <a:t>: Nguyễn Cao Kỳ Duyên		</a:t>
                      </a:r>
                      <a:r>
                        <a:rPr i="1" lang="en-US" sz="1400" u="none" cap="none" strike="noStrike">
                          <a:latin typeface="Times New Roman"/>
                          <a:ea typeface="Times New Roman"/>
                          <a:cs typeface="Times New Roman"/>
                          <a:sym typeface="Times New Roman"/>
                        </a:rPr>
                        <a:t>Ngày lập bảng</a:t>
                      </a:r>
                      <a:r>
                        <a:rPr lang="en-US" sz="1400" u="none" cap="none" strike="noStrike">
                          <a:latin typeface="Times New Roman"/>
                          <a:ea typeface="Times New Roman"/>
                          <a:cs typeface="Times New Roman"/>
                          <a:sym typeface="Times New Roman"/>
                        </a:rPr>
                        <a:t>: 20/01/2015</a:t>
                      </a:r>
                      <a:endParaRPr sz="1400" u="none" cap="none" strike="noStrike">
                        <a:latin typeface="Arial"/>
                        <a:ea typeface="Arial"/>
                        <a:cs typeface="Arial"/>
                        <a:sym typeface="Arial"/>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hMerge="1"/>
              </a:tr>
              <a:tr h="276225">
                <a:tc>
                  <a:txBody>
                    <a:bodyPr/>
                    <a:lstStyle/>
                    <a:p>
                      <a:pPr indent="0" lvl="0" marL="0" marR="0" rtl="0" algn="ctr">
                        <a:lnSpc>
                          <a:spcPct val="115000"/>
                        </a:lnSpc>
                        <a:spcBef>
                          <a:spcPts val="0"/>
                        </a:spcBef>
                        <a:spcAft>
                          <a:spcPts val="0"/>
                        </a:spcAft>
                        <a:buNone/>
                      </a:pPr>
                      <a:r>
                        <a:rPr b="1" lang="en-US" sz="1400" u="none" cap="none" strike="noStrike">
                          <a:latin typeface="Times New Roman"/>
                          <a:ea typeface="Times New Roman"/>
                          <a:cs typeface="Times New Roman"/>
                          <a:sym typeface="Times New Roman"/>
                        </a:rPr>
                        <a:t>STT</a:t>
                      </a:r>
                      <a:endParaRPr sz="1400" u="none" cap="none" strike="noStrike">
                        <a:latin typeface="Times New Roman"/>
                        <a:ea typeface="Times New Roman"/>
                        <a:cs typeface="Times New Roman"/>
                        <a:sym typeface="Times New Roman"/>
                      </a:endParaRPr>
                    </a:p>
                  </a:txBody>
                  <a:tcPr marT="0" marB="0" marR="35175" marL="351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400" u="none" cap="none" strike="noStrike">
                          <a:latin typeface="Times New Roman"/>
                          <a:ea typeface="Times New Roman"/>
                          <a:cs typeface="Times New Roman"/>
                          <a:sym typeface="Times New Roman"/>
                        </a:rPr>
                        <a:t>Người thực hiện</a:t>
                      </a:r>
                      <a:endParaRPr sz="1400" u="none" cap="none" strike="noStrike">
                        <a:latin typeface="Times New Roman"/>
                        <a:ea typeface="Times New Roman"/>
                        <a:cs typeface="Times New Roman"/>
                        <a:sym typeface="Times New Roman"/>
                      </a:endParaRPr>
                    </a:p>
                  </a:txBody>
                  <a:tcPr marT="0" marB="0" marR="35175" marL="351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400" u="none" cap="none" strike="noStrike">
                          <a:latin typeface="Times New Roman"/>
                          <a:ea typeface="Times New Roman"/>
                          <a:cs typeface="Times New Roman"/>
                          <a:sym typeface="Times New Roman"/>
                        </a:rPr>
                        <a:t>Nội dung thực hiện</a:t>
                      </a:r>
                      <a:endParaRPr sz="1400" u="none" cap="none" strike="noStrike">
                        <a:latin typeface="Times New Roman"/>
                        <a:ea typeface="Times New Roman"/>
                        <a:cs typeface="Times New Roman"/>
                        <a:sym typeface="Times New Roman"/>
                      </a:endParaRPr>
                    </a:p>
                  </a:txBody>
                  <a:tcPr marT="0" marB="0" marR="35175" marL="351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400" u="none" cap="none" strike="noStrike">
                          <a:latin typeface="Times New Roman"/>
                          <a:ea typeface="Times New Roman"/>
                          <a:cs typeface="Times New Roman"/>
                          <a:sym typeface="Times New Roman"/>
                        </a:rPr>
                        <a:t>Biểu mẫu liên quan</a:t>
                      </a:r>
                      <a:endParaRPr sz="1400" u="none" cap="none" strike="noStrike">
                        <a:latin typeface="Times New Roman"/>
                        <a:ea typeface="Times New Roman"/>
                        <a:cs typeface="Times New Roman"/>
                        <a:sym typeface="Times New Roman"/>
                      </a:endParaRPr>
                    </a:p>
                  </a:txBody>
                  <a:tcPr marT="0" marB="0" marR="35175" marL="351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35150">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HĐ1</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Khách hàng</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Khách hàng có nhu cầu vay vốn mua ôtô tại ngân hàng Vietcombank, đến nộp hồ sơ tại phòng tín dụng. </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-B1: Giấy đề nghị vay vốn.</a:t>
                      </a:r>
                      <a:endParaRPr/>
                    </a:p>
                    <a:p>
                      <a:pPr indent="0" lvl="0" marL="0" marR="0" rtl="0" algn="just">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-B2: Bản cam kết.</a:t>
                      </a:r>
                      <a:endParaRPr sz="1400" u="none" cap="none" strike="noStrike">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-B3: Biên nhận phần tiền trả trước.</a:t>
                      </a:r>
                      <a:endParaRPr sz="1400" u="none" cap="none" strike="noStrike">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-Các giấy tờ tùy thân.</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900">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HĐ2</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NV tín dụng</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Kiểm tra tính hợp lệ của hồ sơ vay vốn. Nếu hợp lệ chuyển sang HĐ3, ngược lại kết thúc quy trình.</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 </a:t>
                      </a:r>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HĐ3</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NV tín dụng</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Nhận hồ sơ và lập phiếu tiếp nhận hồ sơ cho khách hàng.</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-B4: Phiếu tiếp nhận.</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HĐ4</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NV tín dụng</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Lưu trữ hồ sơ khách hàng và chuyển hồ sơ vay vốn của khách hàng sang bộ phận thẩm định.</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 -B1: Giấy đề nghị vay vốn.</a:t>
                      </a:r>
                      <a:endParaRPr/>
                    </a:p>
                    <a:p>
                      <a:pPr indent="0" lvl="0" marL="0" marR="0" rtl="0" algn="just">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-B2: Bản cam kết.</a:t>
                      </a:r>
                      <a:endParaRPr sz="1400" u="none" cap="none" strike="noStrike">
                        <a:latin typeface="Times New Roman"/>
                        <a:ea typeface="Times New Roman"/>
                        <a:cs typeface="Times New Roman"/>
                        <a:sym typeface="Times New Roman"/>
                      </a:endParaRPr>
                    </a:p>
                    <a:p>
                      <a:pPr indent="0" lvl="0" marL="0" marR="0" rtl="0" algn="just">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-B3: Biên nhận phần tiền trả trước.</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HĐ5</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NV thẩm định</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Tiến hành thẩm định hồ sơ vay vốn; Lập Báo cáo thẩm định khách hàng và chuyển cho Trưởng phòng.</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-B5: Báo cáo thẩm định khách hàng.</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HĐ6</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Trưởng phòng thẩm định</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Phê duyệt thẩm định khoản vay và chuyển phê duyệt cho nhân viên thẩm định.</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 </a:t>
                      </a:r>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900">
                <a:tc>
                  <a:txBody>
                    <a:bodyPr/>
                    <a:lstStyle/>
                    <a:p>
                      <a:pPr indent="0" lvl="0" marL="0" marR="0" rtl="0" algn="l">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HĐ7</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NV thẩm định</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Chuyển báo cáo thẩm định về phòng tín dụng. </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 </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64" name="Google Shape;364;p3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các bước thực hiện trong quy trình.</a:t>
            </a:r>
            <a:endParaRPr/>
          </a:p>
        </p:txBody>
      </p:sp>
      <p:cxnSp>
        <p:nvCxnSpPr>
          <p:cNvPr id="365" name="Google Shape;365;p3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66" name="Google Shape;366;p3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67" name="Google Shape;367;p3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graphicFrame>
        <p:nvGraphicFramePr>
          <p:cNvPr id="368" name="Google Shape;368;p30"/>
          <p:cNvGraphicFramePr/>
          <p:nvPr/>
        </p:nvGraphicFramePr>
        <p:xfrm>
          <a:off x="679004" y="1696953"/>
          <a:ext cx="3000000" cy="3000000"/>
        </p:xfrm>
        <a:graphic>
          <a:graphicData uri="http://schemas.openxmlformats.org/drawingml/2006/table">
            <a:tbl>
              <a:tblPr>
                <a:noFill/>
                <a:tableStyleId>{43BB3CCF-3F74-46F8-803E-CAE57455B906}</a:tableStyleId>
              </a:tblPr>
              <a:tblGrid>
                <a:gridCol w="768100"/>
                <a:gridCol w="1537150"/>
                <a:gridCol w="4067200"/>
                <a:gridCol w="2124475"/>
              </a:tblGrid>
              <a:tr h="123975">
                <a:tc gridSpan="4">
                  <a:txBody>
                    <a:bodyPr/>
                    <a:lstStyle/>
                    <a:p>
                      <a:pPr indent="0" lvl="0" marL="0" marR="0" rtl="0" algn="just">
                        <a:lnSpc>
                          <a:spcPct val="115000"/>
                        </a:lnSpc>
                        <a:spcBef>
                          <a:spcPts val="0"/>
                        </a:spcBef>
                        <a:spcAft>
                          <a:spcPts val="0"/>
                        </a:spcAft>
                        <a:buNone/>
                      </a:pPr>
                      <a:r>
                        <a:rPr i="1" lang="en-US" sz="1400" u="none" cap="none" strike="noStrike">
                          <a:latin typeface="Times New Roman"/>
                          <a:ea typeface="Times New Roman"/>
                          <a:cs typeface="Times New Roman"/>
                          <a:sym typeface="Times New Roman"/>
                        </a:rPr>
                        <a:t>Mô tả các bước thực hiện quy trình </a:t>
                      </a:r>
                      <a:r>
                        <a:rPr b="1" i="1" lang="en-US" sz="1400" u="none" cap="none" strike="noStrike">
                          <a:latin typeface="Times New Roman"/>
                          <a:ea typeface="Times New Roman"/>
                          <a:cs typeface="Times New Roman"/>
                          <a:sym typeface="Times New Roman"/>
                        </a:rPr>
                        <a:t>Nhận và thẩm định hồ sơ vay vốn mua ôtô</a:t>
                      </a:r>
                      <a:endParaRPr sz="1400" u="none" cap="none" strike="noStrike">
                        <a:latin typeface="Arial"/>
                        <a:ea typeface="Arial"/>
                        <a:cs typeface="Arial"/>
                        <a:sym typeface="Arial"/>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hMerge="1"/>
              </a:tr>
              <a:tr h="285450">
                <a:tc gridSpan="4">
                  <a:txBody>
                    <a:bodyPr/>
                    <a:lstStyle/>
                    <a:p>
                      <a:pPr indent="0" lvl="0" marL="0" marR="0" rtl="0" algn="just">
                        <a:lnSpc>
                          <a:spcPct val="115000"/>
                        </a:lnSpc>
                        <a:spcBef>
                          <a:spcPts val="0"/>
                        </a:spcBef>
                        <a:spcAft>
                          <a:spcPts val="0"/>
                        </a:spcAft>
                        <a:buNone/>
                      </a:pPr>
                      <a:r>
                        <a:rPr i="1" lang="en-US" sz="1400" u="none" cap="none" strike="noStrike">
                          <a:latin typeface="Times New Roman"/>
                          <a:ea typeface="Times New Roman"/>
                          <a:cs typeface="Times New Roman"/>
                          <a:sym typeface="Times New Roman"/>
                        </a:rPr>
                        <a:t>Người lập bảng</a:t>
                      </a:r>
                      <a:r>
                        <a:rPr lang="en-US" sz="1400" u="none" cap="none" strike="noStrike">
                          <a:latin typeface="Times New Roman"/>
                          <a:ea typeface="Times New Roman"/>
                          <a:cs typeface="Times New Roman"/>
                          <a:sym typeface="Times New Roman"/>
                        </a:rPr>
                        <a:t>: Nguyễn Cao Kỳ Duyên		</a:t>
                      </a:r>
                      <a:r>
                        <a:rPr i="1" lang="en-US" sz="1400" u="none" cap="none" strike="noStrike">
                          <a:latin typeface="Times New Roman"/>
                          <a:ea typeface="Times New Roman"/>
                          <a:cs typeface="Times New Roman"/>
                          <a:sym typeface="Times New Roman"/>
                        </a:rPr>
                        <a:t>Ngày lập bảng</a:t>
                      </a:r>
                      <a:r>
                        <a:rPr lang="en-US" sz="1400" u="none" cap="none" strike="noStrike">
                          <a:latin typeface="Times New Roman"/>
                          <a:ea typeface="Times New Roman"/>
                          <a:cs typeface="Times New Roman"/>
                          <a:sym typeface="Times New Roman"/>
                        </a:rPr>
                        <a:t>: 20/01/2015</a:t>
                      </a:r>
                      <a:endParaRPr sz="1400" u="none" cap="none" strike="noStrike">
                        <a:latin typeface="Arial"/>
                        <a:ea typeface="Arial"/>
                        <a:cs typeface="Arial"/>
                        <a:sym typeface="Arial"/>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hMerge="1"/>
              </a:tr>
              <a:tr h="276225">
                <a:tc>
                  <a:txBody>
                    <a:bodyPr/>
                    <a:lstStyle/>
                    <a:p>
                      <a:pPr indent="0" lvl="0" marL="0" marR="0" rtl="0" algn="ctr">
                        <a:lnSpc>
                          <a:spcPct val="115000"/>
                        </a:lnSpc>
                        <a:spcBef>
                          <a:spcPts val="0"/>
                        </a:spcBef>
                        <a:spcAft>
                          <a:spcPts val="0"/>
                        </a:spcAft>
                        <a:buNone/>
                      </a:pPr>
                      <a:r>
                        <a:rPr b="1" lang="en-US" sz="1400" u="none" cap="none" strike="noStrike">
                          <a:latin typeface="Times New Roman"/>
                          <a:ea typeface="Times New Roman"/>
                          <a:cs typeface="Times New Roman"/>
                          <a:sym typeface="Times New Roman"/>
                        </a:rPr>
                        <a:t>STT</a:t>
                      </a:r>
                      <a:endParaRPr sz="1400" u="none" cap="none" strike="noStrike">
                        <a:latin typeface="Times New Roman"/>
                        <a:ea typeface="Times New Roman"/>
                        <a:cs typeface="Times New Roman"/>
                        <a:sym typeface="Times New Roman"/>
                      </a:endParaRPr>
                    </a:p>
                  </a:txBody>
                  <a:tcPr marT="0" marB="0" marR="35175" marL="351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400" u="none" cap="none" strike="noStrike">
                          <a:latin typeface="Times New Roman"/>
                          <a:ea typeface="Times New Roman"/>
                          <a:cs typeface="Times New Roman"/>
                          <a:sym typeface="Times New Roman"/>
                        </a:rPr>
                        <a:t>Người thực hiện</a:t>
                      </a:r>
                      <a:endParaRPr sz="1400" u="none" cap="none" strike="noStrike">
                        <a:latin typeface="Times New Roman"/>
                        <a:ea typeface="Times New Roman"/>
                        <a:cs typeface="Times New Roman"/>
                        <a:sym typeface="Times New Roman"/>
                      </a:endParaRPr>
                    </a:p>
                  </a:txBody>
                  <a:tcPr marT="0" marB="0" marR="35175" marL="351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400" u="none" cap="none" strike="noStrike">
                          <a:latin typeface="Times New Roman"/>
                          <a:ea typeface="Times New Roman"/>
                          <a:cs typeface="Times New Roman"/>
                          <a:sym typeface="Times New Roman"/>
                        </a:rPr>
                        <a:t>Nội dung thực hiện</a:t>
                      </a:r>
                      <a:endParaRPr sz="1400" u="none" cap="none" strike="noStrike">
                        <a:latin typeface="Times New Roman"/>
                        <a:ea typeface="Times New Roman"/>
                        <a:cs typeface="Times New Roman"/>
                        <a:sym typeface="Times New Roman"/>
                      </a:endParaRPr>
                    </a:p>
                  </a:txBody>
                  <a:tcPr marT="0" marB="0" marR="35175" marL="351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b="1" lang="en-US" sz="1400" u="none" cap="none" strike="noStrike">
                          <a:latin typeface="Times New Roman"/>
                          <a:ea typeface="Times New Roman"/>
                          <a:cs typeface="Times New Roman"/>
                          <a:sym typeface="Times New Roman"/>
                        </a:rPr>
                        <a:t>Biểu mẫu liên quan</a:t>
                      </a:r>
                      <a:endParaRPr sz="1400" u="none" cap="none" strike="noStrike">
                        <a:latin typeface="Times New Roman"/>
                        <a:ea typeface="Times New Roman"/>
                        <a:cs typeface="Times New Roman"/>
                        <a:sym typeface="Times New Roman"/>
                      </a:endParaRPr>
                    </a:p>
                  </a:txBody>
                  <a:tcPr marT="0" marB="0" marR="35175" marL="35175"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HĐ8</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Trưởng phòng tín dụng</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u="none" cap="none" strike="noStrike">
                          <a:latin typeface="Times New Roman"/>
                          <a:ea typeface="Times New Roman"/>
                          <a:cs typeface="Times New Roman"/>
                          <a:sym typeface="Times New Roman"/>
                        </a:rPr>
                        <a:t>Kiểm tra báo cáo thẩm định, nếu số tiền vay ≤500 triệu thì chuyển sang HĐ 9, ngược lại chuyển sang HĐ10.</a:t>
                      </a:r>
                      <a:endParaRPr sz="1400" u="none" cap="none" strike="noStrike">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t/>
                      </a:r>
                      <a:endParaRPr sz="2000"/>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a:latin typeface="Times New Roman"/>
                          <a:ea typeface="Times New Roman"/>
                          <a:cs typeface="Times New Roman"/>
                          <a:sym typeface="Times New Roman"/>
                        </a:rPr>
                        <a:t>HĐ9</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Trưởng phòng tín</a:t>
                      </a:r>
                      <a:r>
                        <a:rPr lang="en-US" sz="1400">
                          <a:latin typeface="Times New Roman"/>
                          <a:ea typeface="Times New Roman"/>
                          <a:cs typeface="Times New Roman"/>
                          <a:sym typeface="Times New Roman"/>
                        </a:rPr>
                        <a:t> dụng</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Phê duyệt khoản vay của khách hàng. Chuyển cho Nhân viên tín dụng và chuyển sang HĐ12.</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-B5: Báo cáo thẩm định khách hàng.</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a:latin typeface="Times New Roman"/>
                          <a:ea typeface="Times New Roman"/>
                          <a:cs typeface="Times New Roman"/>
                          <a:sym typeface="Times New Roman"/>
                        </a:rPr>
                        <a:t>HĐ10</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Trưởng phòng tín</a:t>
                      </a:r>
                      <a:r>
                        <a:rPr lang="en-US" sz="1400">
                          <a:latin typeface="Times New Roman"/>
                          <a:ea typeface="Times New Roman"/>
                          <a:cs typeface="Times New Roman"/>
                          <a:sym typeface="Times New Roman"/>
                        </a:rPr>
                        <a:t> dụng</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Chuyển báo cáo thẩm định cho Phó giám đốc chi nhánh phê duyệt.</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a:latin typeface="Times New Roman"/>
                          <a:ea typeface="Times New Roman"/>
                          <a:cs typeface="Times New Roman"/>
                          <a:sym typeface="Times New Roman"/>
                        </a:rPr>
                        <a:t>HĐ11</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PGĐ chi nhánh</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Phê duyệt khoản vay của khách hàng. Chuyển cho Nhân viên tín dụng và chuyển sang HĐ12.</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-B5: Báo cáo thẩm định khách hàng.</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71900">
                <a:tc>
                  <a:txBody>
                    <a:bodyPr/>
                    <a:lstStyle/>
                    <a:p>
                      <a:pPr indent="0" lvl="0" marL="0" marR="0" rtl="0" algn="l">
                        <a:lnSpc>
                          <a:spcPct val="115000"/>
                        </a:lnSpc>
                        <a:spcBef>
                          <a:spcPts val="0"/>
                        </a:spcBef>
                        <a:spcAft>
                          <a:spcPts val="0"/>
                        </a:spcAft>
                        <a:buNone/>
                      </a:pPr>
                      <a:r>
                        <a:rPr lang="en-US" sz="1400">
                          <a:latin typeface="Times New Roman"/>
                          <a:ea typeface="Times New Roman"/>
                          <a:cs typeface="Times New Roman"/>
                          <a:sym typeface="Times New Roman"/>
                        </a:rPr>
                        <a:t>HĐ12</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NV tín dụng</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Kiểm tra nội dung phê duyệt khoản vay, nếu được phê duyệt thì chuyển sang HĐ13, ngược lại chuyển sang HĐ14.</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a:latin typeface="Times New Roman"/>
                          <a:ea typeface="Times New Roman"/>
                          <a:cs typeface="Times New Roman"/>
                          <a:sym typeface="Times New Roman"/>
                        </a:rPr>
                        <a:t>HĐ13</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NV tín dụng</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Viết thông báo chấp nhận khoản vay gửi cho khách hàng và kết thúc quy trình.</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-B6: Thông báo đồng ý.</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47925">
                <a:tc>
                  <a:txBody>
                    <a:bodyPr/>
                    <a:lstStyle/>
                    <a:p>
                      <a:pPr indent="0" lvl="0" marL="0" marR="0" rtl="0" algn="l">
                        <a:lnSpc>
                          <a:spcPct val="115000"/>
                        </a:lnSpc>
                        <a:spcBef>
                          <a:spcPts val="0"/>
                        </a:spcBef>
                        <a:spcAft>
                          <a:spcPts val="0"/>
                        </a:spcAft>
                        <a:buNone/>
                      </a:pPr>
                      <a:r>
                        <a:rPr lang="en-US" sz="1400">
                          <a:latin typeface="Times New Roman"/>
                          <a:ea typeface="Times New Roman"/>
                          <a:cs typeface="Times New Roman"/>
                          <a:sym typeface="Times New Roman"/>
                        </a:rPr>
                        <a:t>HĐ14</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NV tín dụng</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Viết thông báo từ chối khoản vay gửi cho khách hàng và kết thúc quy trình.</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400">
                          <a:latin typeface="Times New Roman"/>
                          <a:ea typeface="Times New Roman"/>
                          <a:cs typeface="Times New Roman"/>
                          <a:sym typeface="Times New Roman"/>
                        </a:rPr>
                        <a:t>-B7: Thông báo từ chối.</a:t>
                      </a:r>
                      <a:endParaRPr sz="1400">
                        <a:latin typeface="Times New Roman"/>
                        <a:ea typeface="Times New Roman"/>
                        <a:cs typeface="Times New Roman"/>
                        <a:sym typeface="Times New Roman"/>
                      </a:endParaRPr>
                    </a:p>
                  </a:txBody>
                  <a:tcPr marT="0" marB="0" marR="35175" marL="351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74" name="Google Shape;374;p3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Bản mô tả biểu mẫu, dữ liệu liên quan - </a:t>
            </a:r>
            <a:r>
              <a:rPr lang="en-US" sz="1800">
                <a:solidFill>
                  <a:srgbClr val="632423"/>
                </a:solidFill>
                <a:latin typeface="Calibri"/>
                <a:ea typeface="Calibri"/>
                <a:cs typeface="Calibri"/>
                <a:sym typeface="Calibri"/>
              </a:rPr>
              <a:t>B1: Giấy đề nghị vay vốn</a:t>
            </a:r>
            <a:endParaRPr sz="1800">
              <a:solidFill>
                <a:srgbClr val="632423"/>
              </a:solidFill>
              <a:latin typeface="Calibri"/>
              <a:ea typeface="Calibri"/>
              <a:cs typeface="Calibri"/>
              <a:sym typeface="Calibri"/>
            </a:endParaRPr>
          </a:p>
        </p:txBody>
      </p:sp>
      <p:cxnSp>
        <p:nvCxnSpPr>
          <p:cNvPr id="375" name="Google Shape;375;p3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76" name="Google Shape;376;p3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77" name="Google Shape;377;p3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pic>
        <p:nvPicPr>
          <p:cNvPr id="378" name="Google Shape;378;p31"/>
          <p:cNvPicPr preferRelativeResize="0"/>
          <p:nvPr/>
        </p:nvPicPr>
        <p:blipFill rotWithShape="1">
          <a:blip r:embed="rId3">
            <a:alphaModFix/>
          </a:blip>
          <a:srcRect b="0" l="0" r="0" t="0"/>
          <a:stretch/>
        </p:blipFill>
        <p:spPr>
          <a:xfrm>
            <a:off x="390972" y="1672233"/>
            <a:ext cx="8928992" cy="4953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84" name="Google Shape;384;p3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 </a:t>
            </a:r>
            <a:r>
              <a:rPr lang="en-US" sz="1800">
                <a:solidFill>
                  <a:srgbClr val="7F7F7F"/>
                </a:solidFill>
                <a:latin typeface="Calibri"/>
                <a:ea typeface="Calibri"/>
                <a:cs typeface="Calibri"/>
                <a:sym typeface="Calibri"/>
              </a:rPr>
              <a:t>B1: Giấy đề nghị vay vốn</a:t>
            </a:r>
            <a:endParaRPr sz="1800">
              <a:solidFill>
                <a:srgbClr val="7F7F7F"/>
              </a:solidFill>
              <a:latin typeface="Calibri"/>
              <a:ea typeface="Calibri"/>
              <a:cs typeface="Calibri"/>
              <a:sym typeface="Calibri"/>
            </a:endParaRPr>
          </a:p>
        </p:txBody>
      </p:sp>
      <p:cxnSp>
        <p:nvCxnSpPr>
          <p:cNvPr id="385" name="Google Shape;385;p3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86" name="Google Shape;386;p3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87" name="Google Shape;387;p3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pic>
        <p:nvPicPr>
          <p:cNvPr id="388" name="Google Shape;388;p32"/>
          <p:cNvPicPr preferRelativeResize="0"/>
          <p:nvPr/>
        </p:nvPicPr>
        <p:blipFill rotWithShape="1">
          <a:blip r:embed="rId3">
            <a:alphaModFix/>
          </a:blip>
          <a:srcRect b="0" l="0" r="0" t="0"/>
          <a:stretch/>
        </p:blipFill>
        <p:spPr>
          <a:xfrm>
            <a:off x="390972" y="1700808"/>
            <a:ext cx="9145016" cy="1876425"/>
          </a:xfrm>
          <a:prstGeom prst="rect">
            <a:avLst/>
          </a:prstGeom>
          <a:noFill/>
          <a:ln>
            <a:noFill/>
          </a:ln>
        </p:spPr>
      </p:pic>
      <p:pic>
        <p:nvPicPr>
          <p:cNvPr id="389" name="Google Shape;389;p32"/>
          <p:cNvPicPr preferRelativeResize="0"/>
          <p:nvPr/>
        </p:nvPicPr>
        <p:blipFill rotWithShape="1">
          <a:blip r:embed="rId4">
            <a:alphaModFix/>
          </a:blip>
          <a:srcRect b="0" l="0" r="0" t="0"/>
          <a:stretch/>
        </p:blipFill>
        <p:spPr>
          <a:xfrm>
            <a:off x="390971" y="3645024"/>
            <a:ext cx="9145017" cy="2457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95" name="Google Shape;395;p3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 </a:t>
            </a:r>
            <a:r>
              <a:rPr lang="en-US" sz="1800">
                <a:solidFill>
                  <a:srgbClr val="7F7F7F"/>
                </a:solidFill>
                <a:latin typeface="Calibri"/>
                <a:ea typeface="Calibri"/>
                <a:cs typeface="Calibri"/>
                <a:sym typeface="Calibri"/>
              </a:rPr>
              <a:t>B1: Giấy đề nghị vay vốn</a:t>
            </a:r>
            <a:endParaRPr sz="1800">
              <a:solidFill>
                <a:srgbClr val="7F7F7F"/>
              </a:solidFill>
              <a:latin typeface="Calibri"/>
              <a:ea typeface="Calibri"/>
              <a:cs typeface="Calibri"/>
              <a:sym typeface="Calibri"/>
            </a:endParaRPr>
          </a:p>
        </p:txBody>
      </p:sp>
      <p:cxnSp>
        <p:nvCxnSpPr>
          <p:cNvPr id="396" name="Google Shape;396;p3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97" name="Google Shape;397;p3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98" name="Google Shape;398;p3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pic>
        <p:nvPicPr>
          <p:cNvPr id="399" name="Google Shape;399;p33"/>
          <p:cNvPicPr preferRelativeResize="0"/>
          <p:nvPr/>
        </p:nvPicPr>
        <p:blipFill rotWithShape="1">
          <a:blip r:embed="rId3">
            <a:alphaModFix/>
          </a:blip>
          <a:srcRect b="0" l="0" r="0" t="0"/>
          <a:stretch/>
        </p:blipFill>
        <p:spPr>
          <a:xfrm>
            <a:off x="390971" y="1700808"/>
            <a:ext cx="9289033" cy="1800200"/>
          </a:xfrm>
          <a:prstGeom prst="rect">
            <a:avLst/>
          </a:prstGeom>
          <a:noFill/>
          <a:ln>
            <a:noFill/>
          </a:ln>
        </p:spPr>
      </p:pic>
      <p:pic>
        <p:nvPicPr>
          <p:cNvPr id="400" name="Google Shape;400;p33"/>
          <p:cNvPicPr preferRelativeResize="0"/>
          <p:nvPr/>
        </p:nvPicPr>
        <p:blipFill rotWithShape="1">
          <a:blip r:embed="rId4">
            <a:alphaModFix/>
          </a:blip>
          <a:srcRect b="0" l="0" r="0" t="0"/>
          <a:stretch/>
        </p:blipFill>
        <p:spPr>
          <a:xfrm>
            <a:off x="371946" y="3645024"/>
            <a:ext cx="9308058" cy="26289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06" name="Google Shape;406;p3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 </a:t>
            </a:r>
            <a:r>
              <a:rPr lang="en-US" sz="1800">
                <a:solidFill>
                  <a:srgbClr val="7F7F7F"/>
                </a:solidFill>
                <a:latin typeface="Calibri"/>
                <a:ea typeface="Calibri"/>
                <a:cs typeface="Calibri"/>
                <a:sym typeface="Calibri"/>
              </a:rPr>
              <a:t>B1: Giấy đề nghị vay vốn</a:t>
            </a:r>
            <a:endParaRPr sz="1800">
              <a:solidFill>
                <a:srgbClr val="7F7F7F"/>
              </a:solidFill>
              <a:latin typeface="Calibri"/>
              <a:ea typeface="Calibri"/>
              <a:cs typeface="Calibri"/>
              <a:sym typeface="Calibri"/>
            </a:endParaRPr>
          </a:p>
        </p:txBody>
      </p:sp>
      <p:cxnSp>
        <p:nvCxnSpPr>
          <p:cNvPr id="407" name="Google Shape;407;p3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08" name="Google Shape;408;p3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09" name="Google Shape;409;p3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pic>
        <p:nvPicPr>
          <p:cNvPr id="410" name="Google Shape;410;p34"/>
          <p:cNvPicPr preferRelativeResize="0"/>
          <p:nvPr/>
        </p:nvPicPr>
        <p:blipFill rotWithShape="1">
          <a:blip r:embed="rId3">
            <a:alphaModFix/>
          </a:blip>
          <a:srcRect b="0" l="0" r="0" t="0"/>
          <a:stretch/>
        </p:blipFill>
        <p:spPr>
          <a:xfrm>
            <a:off x="390972" y="1844824"/>
            <a:ext cx="9289786" cy="295232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16" name="Google Shape;416;p3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632423"/>
                </a:solidFill>
                <a:latin typeface="Calibri"/>
                <a:ea typeface="Calibri"/>
                <a:cs typeface="Calibri"/>
                <a:sym typeface="Calibri"/>
              </a:rPr>
              <a:t>- B2: Bản cam kết</a:t>
            </a:r>
            <a:endParaRPr sz="1800">
              <a:solidFill>
                <a:srgbClr val="632423"/>
              </a:solidFill>
              <a:latin typeface="Calibri"/>
              <a:ea typeface="Calibri"/>
              <a:cs typeface="Calibri"/>
              <a:sym typeface="Calibri"/>
            </a:endParaRPr>
          </a:p>
        </p:txBody>
      </p:sp>
      <p:cxnSp>
        <p:nvCxnSpPr>
          <p:cNvPr id="417" name="Google Shape;417;p3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18" name="Google Shape;418;p3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19" name="Google Shape;419;p3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pic>
        <p:nvPicPr>
          <p:cNvPr id="420" name="Google Shape;420;p35"/>
          <p:cNvPicPr preferRelativeResize="0"/>
          <p:nvPr/>
        </p:nvPicPr>
        <p:blipFill rotWithShape="1">
          <a:blip r:embed="rId3">
            <a:alphaModFix/>
          </a:blip>
          <a:srcRect b="0" l="0" r="0" t="0"/>
          <a:stretch/>
        </p:blipFill>
        <p:spPr>
          <a:xfrm>
            <a:off x="967036" y="1628800"/>
            <a:ext cx="8064896" cy="507111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26" name="Google Shape;426;p3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632423"/>
                </a:solidFill>
                <a:latin typeface="Calibri"/>
                <a:ea typeface="Calibri"/>
                <a:cs typeface="Calibri"/>
                <a:sym typeface="Calibri"/>
              </a:rPr>
              <a:t>– B3: Biên nhận phần tiền trả trước</a:t>
            </a:r>
            <a:endParaRPr sz="1800">
              <a:solidFill>
                <a:srgbClr val="632423"/>
              </a:solidFill>
              <a:latin typeface="Calibri"/>
              <a:ea typeface="Calibri"/>
              <a:cs typeface="Calibri"/>
              <a:sym typeface="Calibri"/>
            </a:endParaRPr>
          </a:p>
        </p:txBody>
      </p:sp>
      <p:cxnSp>
        <p:nvCxnSpPr>
          <p:cNvPr id="427" name="Google Shape;427;p3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28" name="Google Shape;428;p3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29" name="Google Shape;429;p3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pic>
        <p:nvPicPr>
          <p:cNvPr id="430" name="Google Shape;430;p36"/>
          <p:cNvPicPr preferRelativeResize="0"/>
          <p:nvPr/>
        </p:nvPicPr>
        <p:blipFill rotWithShape="1">
          <a:blip r:embed="rId3">
            <a:alphaModFix/>
          </a:blip>
          <a:srcRect b="0" l="0" r="0" t="0"/>
          <a:stretch/>
        </p:blipFill>
        <p:spPr>
          <a:xfrm>
            <a:off x="390971" y="1700808"/>
            <a:ext cx="8562007" cy="345638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36" name="Google Shape;436;p3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632423"/>
                </a:solidFill>
                <a:latin typeface="Calibri"/>
                <a:ea typeface="Calibri"/>
                <a:cs typeface="Calibri"/>
                <a:sym typeface="Calibri"/>
              </a:rPr>
              <a:t>– B4: Phiếu tiếp nhận hồ sơ</a:t>
            </a:r>
            <a:endParaRPr sz="1800">
              <a:solidFill>
                <a:srgbClr val="632423"/>
              </a:solidFill>
              <a:latin typeface="Calibri"/>
              <a:ea typeface="Calibri"/>
              <a:cs typeface="Calibri"/>
              <a:sym typeface="Calibri"/>
            </a:endParaRPr>
          </a:p>
        </p:txBody>
      </p:sp>
      <p:cxnSp>
        <p:nvCxnSpPr>
          <p:cNvPr id="437" name="Google Shape;437;p3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38" name="Google Shape;438;p3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39" name="Google Shape;439;p3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
        <p:nvSpPr>
          <p:cNvPr id="440" name="Google Shape;440;p37"/>
          <p:cNvSpPr/>
          <p:nvPr/>
        </p:nvSpPr>
        <p:spPr>
          <a:xfrm>
            <a:off x="0" y="0"/>
            <a:ext cx="10287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id="441" name="Google Shape;441;p37"/>
          <p:cNvPicPr preferRelativeResize="0"/>
          <p:nvPr/>
        </p:nvPicPr>
        <p:blipFill rotWithShape="1">
          <a:blip r:embed="rId3">
            <a:alphaModFix/>
          </a:blip>
          <a:srcRect b="0" l="0" r="0" t="0"/>
          <a:stretch/>
        </p:blipFill>
        <p:spPr>
          <a:xfrm>
            <a:off x="390972" y="1700807"/>
            <a:ext cx="8568952" cy="463495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47" name="Google Shape;447;p3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7F7F7F"/>
                </a:solidFill>
                <a:latin typeface="Calibri"/>
                <a:ea typeface="Calibri"/>
                <a:cs typeface="Calibri"/>
                <a:sym typeface="Calibri"/>
              </a:rPr>
              <a:t>– B4: Phiếu tiếp nhận hồ sơ (Danh mục hồ sơ)</a:t>
            </a:r>
            <a:endParaRPr sz="1800">
              <a:solidFill>
                <a:srgbClr val="7F7F7F"/>
              </a:solidFill>
              <a:latin typeface="Calibri"/>
              <a:ea typeface="Calibri"/>
              <a:cs typeface="Calibri"/>
              <a:sym typeface="Calibri"/>
            </a:endParaRPr>
          </a:p>
        </p:txBody>
      </p:sp>
      <p:cxnSp>
        <p:nvCxnSpPr>
          <p:cNvPr id="448" name="Google Shape;448;p3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49" name="Google Shape;449;p3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50" name="Google Shape;450;p3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
        <p:nvSpPr>
          <p:cNvPr id="451" name="Google Shape;451;p38"/>
          <p:cNvSpPr/>
          <p:nvPr/>
        </p:nvSpPr>
        <p:spPr>
          <a:xfrm>
            <a:off x="0" y="0"/>
            <a:ext cx="10287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id="452" name="Google Shape;452;p38"/>
          <p:cNvPicPr preferRelativeResize="0"/>
          <p:nvPr/>
        </p:nvPicPr>
        <p:blipFill rotWithShape="1">
          <a:blip r:embed="rId3">
            <a:alphaModFix/>
          </a:blip>
          <a:srcRect b="0" l="0" r="0" t="0"/>
          <a:stretch/>
        </p:blipFill>
        <p:spPr>
          <a:xfrm>
            <a:off x="405854" y="3249935"/>
            <a:ext cx="9130133" cy="3170425"/>
          </a:xfrm>
          <a:prstGeom prst="rect">
            <a:avLst/>
          </a:prstGeom>
          <a:noFill/>
          <a:ln>
            <a:noFill/>
          </a:ln>
        </p:spPr>
      </p:pic>
      <p:pic>
        <p:nvPicPr>
          <p:cNvPr id="453" name="Google Shape;453;p38"/>
          <p:cNvPicPr preferRelativeResize="0"/>
          <p:nvPr/>
        </p:nvPicPr>
        <p:blipFill rotWithShape="1">
          <a:blip r:embed="rId4">
            <a:alphaModFix/>
          </a:blip>
          <a:srcRect b="0" l="0" r="0" t="0"/>
          <a:stretch/>
        </p:blipFill>
        <p:spPr>
          <a:xfrm>
            <a:off x="390972" y="1844824"/>
            <a:ext cx="9145016" cy="13906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59" name="Google Shape;459;p3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7F7F7F"/>
                </a:solidFill>
                <a:latin typeface="Calibri"/>
                <a:ea typeface="Calibri"/>
                <a:cs typeface="Calibri"/>
                <a:sym typeface="Calibri"/>
              </a:rPr>
              <a:t>– B4: Phiếu tiếp nhận hồ sơ (Danh mục hồ sơ)</a:t>
            </a:r>
            <a:endParaRPr sz="1800">
              <a:solidFill>
                <a:srgbClr val="7F7F7F"/>
              </a:solidFill>
              <a:latin typeface="Calibri"/>
              <a:ea typeface="Calibri"/>
              <a:cs typeface="Calibri"/>
              <a:sym typeface="Calibri"/>
            </a:endParaRPr>
          </a:p>
          <a:p>
            <a:pPr indent="-276092" lvl="0" marL="390392" rtl="0" algn="just">
              <a:spcBef>
                <a:spcPts val="1043"/>
              </a:spcBef>
              <a:spcAft>
                <a:spcPts val="0"/>
              </a:spcAft>
              <a:buClr>
                <a:srgbClr val="FF0066"/>
              </a:buClr>
              <a:buSzPts val="1800"/>
              <a:buFont typeface="Noto Sans Symbols"/>
              <a:buNone/>
            </a:pPr>
            <a:r>
              <a:t/>
            </a:r>
            <a:endParaRPr sz="1800">
              <a:solidFill>
                <a:srgbClr val="7F7F7F"/>
              </a:solidFill>
              <a:latin typeface="Calibri"/>
              <a:ea typeface="Calibri"/>
              <a:cs typeface="Calibri"/>
              <a:sym typeface="Calibri"/>
            </a:endParaRPr>
          </a:p>
        </p:txBody>
      </p:sp>
      <p:cxnSp>
        <p:nvCxnSpPr>
          <p:cNvPr id="460" name="Google Shape;460;p3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61" name="Google Shape;461;p3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62" name="Google Shape;462;p3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
        <p:nvSpPr>
          <p:cNvPr id="463" name="Google Shape;463;p39"/>
          <p:cNvSpPr/>
          <p:nvPr/>
        </p:nvSpPr>
        <p:spPr>
          <a:xfrm>
            <a:off x="0" y="0"/>
            <a:ext cx="10287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id="464" name="Google Shape;464;p39"/>
          <p:cNvPicPr preferRelativeResize="0"/>
          <p:nvPr/>
        </p:nvPicPr>
        <p:blipFill rotWithShape="1">
          <a:blip r:embed="rId3">
            <a:alphaModFix/>
          </a:blip>
          <a:srcRect b="0" l="0" r="0" t="0"/>
          <a:stretch/>
        </p:blipFill>
        <p:spPr>
          <a:xfrm>
            <a:off x="390972" y="1844824"/>
            <a:ext cx="9073008" cy="2376264"/>
          </a:xfrm>
          <a:prstGeom prst="rect">
            <a:avLst/>
          </a:prstGeom>
          <a:noFill/>
          <a:ln>
            <a:noFill/>
          </a:ln>
        </p:spPr>
      </p:pic>
      <p:pic>
        <p:nvPicPr>
          <p:cNvPr id="465" name="Google Shape;465;p39"/>
          <p:cNvPicPr preferRelativeResize="0"/>
          <p:nvPr/>
        </p:nvPicPr>
        <p:blipFill rotWithShape="1">
          <a:blip r:embed="rId4">
            <a:alphaModFix/>
          </a:blip>
          <a:srcRect b="0" l="0" r="0" t="0"/>
          <a:stretch/>
        </p:blipFill>
        <p:spPr>
          <a:xfrm>
            <a:off x="390972" y="4188879"/>
            <a:ext cx="9073008" cy="225181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71" name="Google Shape;471;p4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632423"/>
                </a:solidFill>
                <a:latin typeface="Calibri"/>
                <a:ea typeface="Calibri"/>
                <a:cs typeface="Calibri"/>
                <a:sym typeface="Calibri"/>
              </a:rPr>
              <a:t>– B5: Báo cáo thẩm định khách hàng</a:t>
            </a:r>
            <a:endParaRPr sz="1800">
              <a:solidFill>
                <a:srgbClr val="632423"/>
              </a:solidFill>
              <a:latin typeface="Calibri"/>
              <a:ea typeface="Calibri"/>
              <a:cs typeface="Calibri"/>
              <a:sym typeface="Calibri"/>
            </a:endParaRPr>
          </a:p>
          <a:p>
            <a:pPr indent="-276092" lvl="0" marL="390392" rtl="0" algn="just">
              <a:spcBef>
                <a:spcPts val="1043"/>
              </a:spcBef>
              <a:spcAft>
                <a:spcPts val="0"/>
              </a:spcAft>
              <a:buClr>
                <a:srgbClr val="FF0066"/>
              </a:buClr>
              <a:buSzPts val="1800"/>
              <a:buFont typeface="Noto Sans Symbols"/>
              <a:buNone/>
            </a:pPr>
            <a:r>
              <a:t/>
            </a:r>
            <a:endParaRPr sz="1800">
              <a:solidFill>
                <a:srgbClr val="7F7F7F"/>
              </a:solidFill>
              <a:latin typeface="Calibri"/>
              <a:ea typeface="Calibri"/>
              <a:cs typeface="Calibri"/>
              <a:sym typeface="Calibri"/>
            </a:endParaRPr>
          </a:p>
        </p:txBody>
      </p:sp>
      <p:cxnSp>
        <p:nvCxnSpPr>
          <p:cNvPr id="472" name="Google Shape;472;p4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73" name="Google Shape;473;p4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74" name="Google Shape;474;p4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
        <p:nvSpPr>
          <p:cNvPr id="475" name="Google Shape;475;p40"/>
          <p:cNvSpPr/>
          <p:nvPr/>
        </p:nvSpPr>
        <p:spPr>
          <a:xfrm>
            <a:off x="0" y="0"/>
            <a:ext cx="10287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id="476" name="Google Shape;476;p40"/>
          <p:cNvPicPr preferRelativeResize="0"/>
          <p:nvPr/>
        </p:nvPicPr>
        <p:blipFill rotWithShape="1">
          <a:blip r:embed="rId3">
            <a:alphaModFix/>
          </a:blip>
          <a:srcRect b="0" l="0" r="0" t="0"/>
          <a:stretch/>
        </p:blipFill>
        <p:spPr>
          <a:xfrm>
            <a:off x="390972" y="1700807"/>
            <a:ext cx="7992888" cy="46551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82" name="Google Shape;482;p4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7F7F7F"/>
                </a:solidFill>
                <a:latin typeface="Calibri"/>
                <a:ea typeface="Calibri"/>
                <a:cs typeface="Calibri"/>
                <a:sym typeface="Calibri"/>
              </a:rPr>
              <a:t>– B5: Báo cáo thẩm định khách hàng</a:t>
            </a:r>
            <a:endParaRPr sz="1800">
              <a:solidFill>
                <a:srgbClr val="7F7F7F"/>
              </a:solidFill>
              <a:latin typeface="Calibri"/>
              <a:ea typeface="Calibri"/>
              <a:cs typeface="Calibri"/>
              <a:sym typeface="Calibri"/>
            </a:endParaRPr>
          </a:p>
          <a:p>
            <a:pPr indent="-276092" lvl="0" marL="390392" rtl="0" algn="just">
              <a:spcBef>
                <a:spcPts val="1043"/>
              </a:spcBef>
              <a:spcAft>
                <a:spcPts val="0"/>
              </a:spcAft>
              <a:buClr>
                <a:srgbClr val="FF0066"/>
              </a:buClr>
              <a:buSzPts val="1800"/>
              <a:buFont typeface="Noto Sans Symbols"/>
              <a:buNone/>
            </a:pPr>
            <a:r>
              <a:t/>
            </a:r>
            <a:endParaRPr sz="1800">
              <a:solidFill>
                <a:srgbClr val="7F7F7F"/>
              </a:solidFill>
              <a:latin typeface="Calibri"/>
              <a:ea typeface="Calibri"/>
              <a:cs typeface="Calibri"/>
              <a:sym typeface="Calibri"/>
            </a:endParaRPr>
          </a:p>
        </p:txBody>
      </p:sp>
      <p:cxnSp>
        <p:nvCxnSpPr>
          <p:cNvPr id="483" name="Google Shape;483;p4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84" name="Google Shape;484;p4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85" name="Google Shape;485;p4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
        <p:nvSpPr>
          <p:cNvPr id="486" name="Google Shape;486;p41"/>
          <p:cNvSpPr/>
          <p:nvPr/>
        </p:nvSpPr>
        <p:spPr>
          <a:xfrm>
            <a:off x="0" y="0"/>
            <a:ext cx="10287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pic>
        <p:nvPicPr>
          <p:cNvPr id="487" name="Google Shape;487;p41"/>
          <p:cNvPicPr preferRelativeResize="0"/>
          <p:nvPr/>
        </p:nvPicPr>
        <p:blipFill rotWithShape="1">
          <a:blip r:embed="rId3">
            <a:alphaModFix/>
          </a:blip>
          <a:srcRect b="0" l="0" r="0" t="0"/>
          <a:stretch/>
        </p:blipFill>
        <p:spPr>
          <a:xfrm>
            <a:off x="679003" y="1700808"/>
            <a:ext cx="8858765" cy="460851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493" name="Google Shape;493;p4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632423"/>
                </a:solidFill>
                <a:latin typeface="Calibri"/>
                <a:ea typeface="Calibri"/>
                <a:cs typeface="Calibri"/>
                <a:sym typeface="Calibri"/>
              </a:rPr>
              <a:t>– B6: Thông báo đồng ý</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Hồ sơ đề nghị vay vốn</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Số tiền cho vay</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Lãi suất cho vay</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Thời hạn vay</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Phương thức trả nợ gốc và lãi</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Thời gian hẹn làm việc</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Ngày thông báo</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Người ký</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Ghi chú</a:t>
            </a:r>
            <a:endParaRPr sz="1800">
              <a:solidFill>
                <a:srgbClr val="632423"/>
              </a:solidFill>
              <a:latin typeface="Calibri"/>
              <a:ea typeface="Calibri"/>
              <a:cs typeface="Calibri"/>
              <a:sym typeface="Calibri"/>
            </a:endParaRPr>
          </a:p>
        </p:txBody>
      </p:sp>
      <p:cxnSp>
        <p:nvCxnSpPr>
          <p:cNvPr id="494" name="Google Shape;494;p4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495" name="Google Shape;495;p4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496" name="Google Shape;496;p4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
        <p:nvSpPr>
          <p:cNvPr id="497" name="Google Shape;497;p42"/>
          <p:cNvSpPr/>
          <p:nvPr/>
        </p:nvSpPr>
        <p:spPr>
          <a:xfrm>
            <a:off x="0" y="0"/>
            <a:ext cx="10287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03" name="Google Shape;503;p4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Bản mô tả biểu mẫu, dữ liệu liên quan </a:t>
            </a:r>
            <a:r>
              <a:rPr lang="en-US" sz="1800">
                <a:solidFill>
                  <a:srgbClr val="632423"/>
                </a:solidFill>
                <a:latin typeface="Calibri"/>
                <a:ea typeface="Calibri"/>
                <a:cs typeface="Calibri"/>
                <a:sym typeface="Calibri"/>
              </a:rPr>
              <a:t>– B7: Thông báo từ chối</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Hồ sơ đề nghị vay vốn</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Lý do từ chối</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Thời gian hẹn làm việc (nếu có)</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Ngày thông báo</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Người ký</a:t>
            </a:r>
            <a:endParaRPr/>
          </a:p>
          <a:p>
            <a:pPr indent="-285750" lvl="1" marL="741207" rtl="0" algn="just">
              <a:spcBef>
                <a:spcPts val="1043"/>
              </a:spcBef>
              <a:spcAft>
                <a:spcPts val="0"/>
              </a:spcAft>
              <a:buClr>
                <a:srgbClr val="FF0066"/>
              </a:buClr>
              <a:buSzPts val="1800"/>
              <a:buFont typeface="Calibri"/>
              <a:buChar char="-"/>
            </a:pPr>
            <a:r>
              <a:rPr lang="en-US" sz="1800">
                <a:solidFill>
                  <a:srgbClr val="632423"/>
                </a:solidFill>
                <a:latin typeface="Calibri"/>
                <a:ea typeface="Calibri"/>
                <a:cs typeface="Calibri"/>
                <a:sym typeface="Calibri"/>
              </a:rPr>
              <a:t>Ghi chú</a:t>
            </a:r>
            <a:endParaRPr sz="1800">
              <a:solidFill>
                <a:srgbClr val="632423"/>
              </a:solidFill>
              <a:latin typeface="Calibri"/>
              <a:ea typeface="Calibri"/>
              <a:cs typeface="Calibri"/>
              <a:sym typeface="Calibri"/>
            </a:endParaRPr>
          </a:p>
        </p:txBody>
      </p:sp>
      <p:cxnSp>
        <p:nvCxnSpPr>
          <p:cNvPr id="504" name="Google Shape;504;p4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05" name="Google Shape;505;p4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06" name="Google Shape;506;p4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Mô hình hóa kết quả khảo sát</a:t>
            </a:r>
            <a:endParaRPr/>
          </a:p>
        </p:txBody>
      </p:sp>
      <p:sp>
        <p:nvSpPr>
          <p:cNvPr id="507" name="Google Shape;507;p43"/>
          <p:cNvSpPr/>
          <p:nvPr/>
        </p:nvSpPr>
        <p:spPr>
          <a:xfrm>
            <a:off x="0" y="0"/>
            <a:ext cx="10287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4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13" name="Google Shape;513;p4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Mô hình hóa kết quả khảo sát có nhiệm vụ mô tả lại các hoạt động của từng quy trình nghiệp vụ dưới dạng biểu đồ hoạt động một cách trực quan.</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Biểu đồ hoạt động theo phương pháp hướng cấu trúc.</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Biểu đồ hoạt động theo phương pháp hướng đối tượng.</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514" name="Google Shape;514;p4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15" name="Google Shape;515;p4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16" name="Google Shape;516;p4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Xử lý sơ bộ kết quả khảo sát </a:t>
            </a:r>
            <a:endParaRPr b="0" i="0" sz="16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Mô hình hóa kết quả khảo sát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22" name="Google Shape;522;p4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Ký hiệu:</a:t>
            </a:r>
            <a:endParaRPr/>
          </a:p>
          <a:p>
            <a:pPr indent="-263392" lvl="0"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p:txBody>
      </p:sp>
      <p:cxnSp>
        <p:nvCxnSpPr>
          <p:cNvPr id="523" name="Google Shape;523;p4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24" name="Google Shape;524;p4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25" name="Google Shape;525;p4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1. Biểu đồ hoạt động hướng cấu trúc</a:t>
            </a:r>
            <a:endParaRPr b="1" i="0" sz="1400" u="none" cap="none" strike="noStrike">
              <a:solidFill>
                <a:srgbClr val="E36C09"/>
              </a:solidFill>
              <a:latin typeface="Calibri"/>
              <a:ea typeface="Calibri"/>
              <a:cs typeface="Calibri"/>
              <a:sym typeface="Calibri"/>
            </a:endParaRPr>
          </a:p>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2. Biểu đồ hoạt động hướng đối tượng</a:t>
            </a:r>
            <a:endParaRPr/>
          </a:p>
        </p:txBody>
      </p:sp>
      <p:sp>
        <p:nvSpPr>
          <p:cNvPr id="526" name="Google Shape;526;p45"/>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527" name="Google Shape;527;p45"/>
          <p:cNvPicPr preferRelativeResize="0"/>
          <p:nvPr/>
        </p:nvPicPr>
        <p:blipFill rotWithShape="1">
          <a:blip r:embed="rId3">
            <a:alphaModFix/>
          </a:blip>
          <a:srcRect b="0" l="0" r="0" t="0"/>
          <a:stretch/>
        </p:blipFill>
        <p:spPr>
          <a:xfrm>
            <a:off x="866775" y="1847850"/>
            <a:ext cx="8553450" cy="31623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4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33" name="Google Shape;533;p4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Ý nghĩa của biểu đồ hoạt động:</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Là một phương tiện mô tả các dòng nghiệp vụ khi phát triển mô hình nghiệp vụ của bài toán.</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Cho phép thể hiện nội dung các hoạt động của hệ thống theo luồng dịch chuyển từ hành động này sang hành động khác, bao gồm:</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Sự dịch chuyển tuần tự, </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rẽ nhánh theo điều kiện,</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rẽ nhánh song song. </a:t>
            </a:r>
            <a:endParaRPr sz="1600">
              <a:solidFill>
                <a:srgbClr val="632423"/>
              </a:solidFill>
              <a:latin typeface="Calibri"/>
              <a:ea typeface="Calibri"/>
              <a:cs typeface="Calibri"/>
              <a:sym typeface="Calibri"/>
            </a:endParaRPr>
          </a:p>
        </p:txBody>
      </p:sp>
      <p:cxnSp>
        <p:nvCxnSpPr>
          <p:cNvPr id="534" name="Google Shape;534;p4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35" name="Google Shape;535;p4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36" name="Google Shape;536;p4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537" name="Google Shape;537;p46"/>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43" name="Google Shape;543;p4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 ký hiệu trong biểu đồ hoạt động:</a:t>
            </a:r>
            <a:endParaRPr/>
          </a:p>
          <a:p>
            <a:pPr indent="-285750" lvl="1" marL="741207" rtl="0" algn="just">
              <a:spcBef>
                <a:spcPts val="1043"/>
              </a:spcBef>
              <a:spcAft>
                <a:spcPts val="0"/>
              </a:spcAft>
              <a:buClr>
                <a:srgbClr val="FF0066"/>
              </a:buClr>
              <a:buSzPts val="1800"/>
              <a:buChar char="–"/>
            </a:pPr>
            <a:r>
              <a:rPr i="1" lang="en-US" sz="1800">
                <a:solidFill>
                  <a:srgbClr val="632423"/>
                </a:solidFill>
                <a:latin typeface="Calibri"/>
                <a:ea typeface="Calibri"/>
                <a:cs typeface="Calibri"/>
                <a:sym typeface="Calibri"/>
              </a:rPr>
              <a:t>Trạng thái bắt đầu</a:t>
            </a:r>
            <a:r>
              <a:rPr lang="en-US" sz="1800">
                <a:solidFill>
                  <a:srgbClr val="632423"/>
                </a:solidFill>
                <a:latin typeface="Calibri"/>
                <a:ea typeface="Calibri"/>
                <a:cs typeface="Calibri"/>
                <a:sym typeface="Calibri"/>
              </a:rPr>
              <a:t>: trong biểu đồ chỉ có một trạng thái bắt đầu, được biểu diễn dưới dạng một hình tròn đặc </a:t>
            </a:r>
            <a:endParaRPr/>
          </a:p>
          <a:p>
            <a:pPr indent="-285750" lvl="1" marL="741207" rtl="0" algn="just">
              <a:spcBef>
                <a:spcPts val="1043"/>
              </a:spcBef>
              <a:spcAft>
                <a:spcPts val="0"/>
              </a:spcAft>
              <a:buClr>
                <a:srgbClr val="FF0066"/>
              </a:buClr>
              <a:buSzPts val="1800"/>
              <a:buChar char="–"/>
            </a:pPr>
            <a:r>
              <a:rPr i="1" lang="en-US" sz="1800">
                <a:solidFill>
                  <a:srgbClr val="632423"/>
                </a:solidFill>
                <a:latin typeface="Calibri"/>
                <a:ea typeface="Calibri"/>
                <a:cs typeface="Calibri"/>
                <a:sym typeface="Calibri"/>
              </a:rPr>
              <a:t>Trạng thái kết thúc</a:t>
            </a:r>
            <a:r>
              <a:rPr lang="en-US" sz="1800">
                <a:solidFill>
                  <a:srgbClr val="632423"/>
                </a:solidFill>
                <a:latin typeface="Calibri"/>
                <a:ea typeface="Calibri"/>
                <a:cs typeface="Calibri"/>
                <a:sym typeface="Calibri"/>
              </a:rPr>
              <a:t>: có thể có một hoặc nhiều trạng thái kết thúc, được biểu diễn bằng một hình tròn đặc có viền </a:t>
            </a:r>
            <a:endParaRPr sz="1800">
              <a:solidFill>
                <a:srgbClr val="632423"/>
              </a:solidFill>
              <a:latin typeface="Calibri"/>
              <a:ea typeface="Calibri"/>
              <a:cs typeface="Calibri"/>
              <a:sym typeface="Calibri"/>
            </a:endParaRPr>
          </a:p>
          <a:p>
            <a:pPr indent="-285750" lvl="1" marL="741207" rtl="0" algn="just">
              <a:spcBef>
                <a:spcPts val="1043"/>
              </a:spcBef>
              <a:spcAft>
                <a:spcPts val="0"/>
              </a:spcAft>
              <a:buClr>
                <a:srgbClr val="FF0066"/>
              </a:buClr>
              <a:buSzPts val="1800"/>
              <a:buChar char="–"/>
            </a:pPr>
            <a:r>
              <a:rPr i="1" lang="en-US" sz="1800">
                <a:solidFill>
                  <a:srgbClr val="632423"/>
                </a:solidFill>
                <a:latin typeface="Calibri"/>
                <a:ea typeface="Calibri"/>
                <a:cs typeface="Calibri"/>
                <a:sym typeface="Calibri"/>
              </a:rPr>
              <a:t>Hoạt động</a:t>
            </a:r>
            <a:r>
              <a:rPr lang="en-US" sz="1800">
                <a:solidFill>
                  <a:srgbClr val="632423"/>
                </a:solidFill>
                <a:latin typeface="Calibri"/>
                <a:ea typeface="Calibri"/>
                <a:cs typeface="Calibri"/>
                <a:sym typeface="Calibri"/>
              </a:rPr>
              <a:t>: là một công việc cần được thực hiện, có thể lớn hay nhỏ, xảy ra trong một khoảng thời gian ngắn hay dài. Ký hiệu của hoạt động là một hình chữ nhật được bo tròn ở hai đầu, bên trong có chứa tên hoạt động.</a:t>
            </a:r>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85750" lvl="1" marL="741207" rtl="0" algn="just">
              <a:spcBef>
                <a:spcPts val="1043"/>
              </a:spcBef>
              <a:spcAft>
                <a:spcPts val="0"/>
              </a:spcAft>
              <a:buClr>
                <a:srgbClr val="FF0066"/>
              </a:buClr>
              <a:buSzPts val="1800"/>
              <a:buChar char="–"/>
            </a:pPr>
            <a:r>
              <a:rPr i="1" lang="en-US" sz="1800">
                <a:solidFill>
                  <a:srgbClr val="632423"/>
                </a:solidFill>
                <a:latin typeface="Calibri"/>
                <a:ea typeface="Calibri"/>
                <a:cs typeface="Calibri"/>
                <a:sym typeface="Calibri"/>
              </a:rPr>
              <a:t>Sự dịch chuyển: </a:t>
            </a:r>
            <a:r>
              <a:rPr lang="en-US" sz="1800">
                <a:solidFill>
                  <a:srgbClr val="632423"/>
                </a:solidFill>
                <a:latin typeface="Calibri"/>
                <a:ea typeface="Calibri"/>
                <a:cs typeface="Calibri"/>
                <a:sym typeface="Calibri"/>
              </a:rPr>
              <a:t>là sự chuyển tiếp từ hành động này sang hành động khác, được biểu diễn bằng một đường mũi tên nối các hoạt động với nhau.</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544" name="Google Shape;544;p4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45" name="Google Shape;545;p4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46" name="Google Shape;546;p4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547" name="Google Shape;547;p47"/>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548" name="Google Shape;548;p47"/>
          <p:cNvPicPr preferRelativeResize="0"/>
          <p:nvPr/>
        </p:nvPicPr>
        <p:blipFill rotWithShape="1">
          <a:blip r:embed="rId3">
            <a:alphaModFix/>
          </a:blip>
          <a:srcRect b="0" l="0" r="0" t="0"/>
          <a:stretch/>
        </p:blipFill>
        <p:spPr>
          <a:xfrm>
            <a:off x="2911252" y="2060848"/>
            <a:ext cx="123825" cy="133350"/>
          </a:xfrm>
          <a:prstGeom prst="rect">
            <a:avLst/>
          </a:prstGeom>
          <a:noFill/>
          <a:ln>
            <a:noFill/>
          </a:ln>
        </p:spPr>
      </p:pic>
      <p:pic>
        <p:nvPicPr>
          <p:cNvPr id="549" name="Google Shape;549;p47"/>
          <p:cNvPicPr preferRelativeResize="0"/>
          <p:nvPr/>
        </p:nvPicPr>
        <p:blipFill rotWithShape="1">
          <a:blip r:embed="rId4">
            <a:alphaModFix/>
          </a:blip>
          <a:srcRect b="0" l="0" r="0" t="0"/>
          <a:stretch/>
        </p:blipFill>
        <p:spPr>
          <a:xfrm>
            <a:off x="3199284" y="2708920"/>
            <a:ext cx="171450" cy="171450"/>
          </a:xfrm>
          <a:prstGeom prst="rect">
            <a:avLst/>
          </a:prstGeom>
          <a:noFill/>
          <a:ln>
            <a:noFill/>
          </a:ln>
        </p:spPr>
      </p:pic>
      <p:pic>
        <p:nvPicPr>
          <p:cNvPr id="550" name="Google Shape;550;p47"/>
          <p:cNvPicPr preferRelativeResize="0"/>
          <p:nvPr/>
        </p:nvPicPr>
        <p:blipFill rotWithShape="1">
          <a:blip r:embed="rId5">
            <a:alphaModFix/>
          </a:blip>
          <a:srcRect b="0" l="0" r="0" t="0"/>
          <a:stretch/>
        </p:blipFill>
        <p:spPr>
          <a:xfrm>
            <a:off x="3529012" y="4005064"/>
            <a:ext cx="1076325" cy="381000"/>
          </a:xfrm>
          <a:prstGeom prst="rect">
            <a:avLst/>
          </a:prstGeom>
          <a:noFill/>
          <a:ln>
            <a:noFill/>
          </a:ln>
        </p:spPr>
      </p:pic>
      <p:pic>
        <p:nvPicPr>
          <p:cNvPr id="551" name="Google Shape;551;p47"/>
          <p:cNvPicPr preferRelativeResize="0"/>
          <p:nvPr/>
        </p:nvPicPr>
        <p:blipFill rotWithShape="1">
          <a:blip r:embed="rId6">
            <a:alphaModFix/>
          </a:blip>
          <a:srcRect b="0" l="0" r="0" t="0"/>
          <a:stretch/>
        </p:blipFill>
        <p:spPr>
          <a:xfrm>
            <a:off x="3179093" y="5229200"/>
            <a:ext cx="2809875" cy="3810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57" name="Google Shape;557;p4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Các ký hiệu trong biểu đồ hoạt động:</a:t>
            </a:r>
            <a:endParaRPr/>
          </a:p>
          <a:p>
            <a:pPr indent="-285750" lvl="1" marL="741207" rtl="0" algn="just">
              <a:spcBef>
                <a:spcPts val="1043"/>
              </a:spcBef>
              <a:spcAft>
                <a:spcPts val="0"/>
              </a:spcAft>
              <a:buClr>
                <a:srgbClr val="FF0066"/>
              </a:buClr>
              <a:buSzPts val="1800"/>
              <a:buChar char="–"/>
            </a:pPr>
            <a:r>
              <a:rPr i="1" lang="en-US" sz="1800">
                <a:solidFill>
                  <a:srgbClr val="632423"/>
                </a:solidFill>
                <a:latin typeface="Calibri"/>
                <a:ea typeface="Calibri"/>
                <a:cs typeface="Calibri"/>
                <a:sym typeface="Calibri"/>
              </a:rPr>
              <a:t>Điểm quyết định</a:t>
            </a:r>
            <a:r>
              <a:rPr lang="en-US" sz="1800">
                <a:solidFill>
                  <a:srgbClr val="632423"/>
                </a:solidFill>
                <a:latin typeface="Calibri"/>
                <a:ea typeface="Calibri"/>
                <a:cs typeface="Calibri"/>
                <a:sym typeface="Calibri"/>
              </a:rPr>
              <a:t>: là điểm trên dòng công việc mà tại đó hoạt động tiếp theo có thể rẽ nhánh theo các hướng khác nhau tuỳ thuộc vào điều kiện thực hiện. </a:t>
            </a:r>
            <a:endParaRPr/>
          </a:p>
          <a:p>
            <a:pPr indent="0" lvl="1" marL="711200" rtl="0" algn="just">
              <a:spcBef>
                <a:spcPts val="1043"/>
              </a:spcBef>
              <a:spcAft>
                <a:spcPts val="0"/>
              </a:spcAft>
              <a:buClr>
                <a:srgbClr val="FF0066"/>
              </a:buClr>
              <a:buSzPts val="1800"/>
              <a:buNone/>
            </a:pPr>
            <a:r>
              <a:rPr lang="en-US" sz="1800">
                <a:solidFill>
                  <a:srgbClr val="632423"/>
                </a:solidFill>
                <a:latin typeface="Calibri"/>
                <a:ea typeface="Calibri"/>
                <a:cs typeface="Calibri"/>
                <a:sym typeface="Calibri"/>
              </a:rPr>
              <a:t>Điểm quyết định được ký hiệu bằng một hình thoi có một hoặc nhiều đầu vào, hai hoặc nhiều đầu ra.</a:t>
            </a:r>
            <a:endParaRPr/>
          </a:p>
          <a:p>
            <a:pPr indent="0" lvl="1" marL="711200"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45545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558" name="Google Shape;558;p4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59" name="Google Shape;559;p4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60" name="Google Shape;560;p4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561" name="Google Shape;561;p48"/>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562" name="Google Shape;562;p48"/>
          <p:cNvPicPr preferRelativeResize="0"/>
          <p:nvPr/>
        </p:nvPicPr>
        <p:blipFill rotWithShape="1">
          <a:blip r:embed="rId3">
            <a:alphaModFix/>
          </a:blip>
          <a:srcRect b="0" l="0" r="0" t="0"/>
          <a:stretch/>
        </p:blipFill>
        <p:spPr>
          <a:xfrm>
            <a:off x="2864396" y="3068960"/>
            <a:ext cx="2838450" cy="14192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68" name="Google Shape;568;p4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Các ký hiệu trong biểu đồ hoạt động:</a:t>
            </a:r>
            <a:endParaRPr/>
          </a:p>
          <a:p>
            <a:pPr indent="-285750" lvl="1" marL="741207" rtl="0" algn="just">
              <a:spcBef>
                <a:spcPts val="1043"/>
              </a:spcBef>
              <a:spcAft>
                <a:spcPts val="0"/>
              </a:spcAft>
              <a:buClr>
                <a:srgbClr val="FF0066"/>
              </a:buClr>
              <a:buSzPts val="1800"/>
              <a:buChar char="–"/>
            </a:pPr>
            <a:r>
              <a:rPr i="1" lang="en-US" sz="1800">
                <a:solidFill>
                  <a:srgbClr val="632423"/>
                </a:solidFill>
                <a:latin typeface="Calibri"/>
                <a:ea typeface="Calibri"/>
                <a:cs typeface="Calibri"/>
                <a:sym typeface="Calibri"/>
              </a:rPr>
              <a:t>Thanh đồng bộ hoá</a:t>
            </a:r>
            <a:r>
              <a:rPr lang="en-US" sz="1800">
                <a:solidFill>
                  <a:srgbClr val="632423"/>
                </a:solidFill>
                <a:latin typeface="Calibri"/>
                <a:ea typeface="Calibri"/>
                <a:cs typeface="Calibri"/>
                <a:sym typeface="Calibri"/>
              </a:rPr>
              <a:t>: dùng để mở hay đóng các nhánh thực hiện song song. </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Mở các nhánh song song: được thực hiện khi có một dịch chuyển vào và nhiều dịch chuyển ra – ta gọi đó là một chạc. </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Đóng các nhánh song song: được thực hiện khi có nhiều dịch chuyển vào và một dịch chuyển ra – ta gọi đó là một chụm. Chụm chỉ có thể được tạo ra khi mọi nhánh vào nó đều đã được thực hiện hoàn tất.</a:t>
            </a:r>
            <a:endParaRPr sz="1600">
              <a:solidFill>
                <a:srgbClr val="632423"/>
              </a:solidFill>
              <a:latin typeface="Calibri"/>
              <a:ea typeface="Calibri"/>
              <a:cs typeface="Calibri"/>
              <a:sym typeface="Calibri"/>
            </a:endParaRPr>
          </a:p>
          <a:p>
            <a:pPr indent="0" lvl="1" marL="71120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45545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569" name="Google Shape;569;p4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70" name="Google Shape;570;p4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71" name="Google Shape;571;p4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572" name="Google Shape;572;p49"/>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573" name="Google Shape;573;p49"/>
          <p:cNvPicPr preferRelativeResize="0"/>
          <p:nvPr/>
        </p:nvPicPr>
        <p:blipFill rotWithShape="1">
          <a:blip r:embed="rId3">
            <a:alphaModFix/>
          </a:blip>
          <a:srcRect b="0" l="0" r="0" t="0"/>
          <a:stretch/>
        </p:blipFill>
        <p:spPr>
          <a:xfrm>
            <a:off x="2839244" y="3645024"/>
            <a:ext cx="2647950" cy="2400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79" name="Google Shape;579;p5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Các ký hiệu trong biểu đồ hoạt động:</a:t>
            </a:r>
            <a:endParaRPr/>
          </a:p>
          <a:p>
            <a:pPr indent="-285750" lvl="1" marL="741207" rtl="0" algn="just">
              <a:spcBef>
                <a:spcPts val="1043"/>
              </a:spcBef>
              <a:spcAft>
                <a:spcPts val="0"/>
              </a:spcAft>
              <a:buClr>
                <a:srgbClr val="FF0066"/>
              </a:buClr>
              <a:buSzPts val="1800"/>
              <a:buChar char="–"/>
            </a:pPr>
            <a:r>
              <a:rPr i="1" lang="en-US" sz="1800">
                <a:solidFill>
                  <a:srgbClr val="632423"/>
                </a:solidFill>
                <a:latin typeface="Calibri"/>
                <a:ea typeface="Calibri"/>
                <a:cs typeface="Calibri"/>
                <a:sym typeface="Calibri"/>
              </a:rPr>
              <a:t>Phân tuyến</a:t>
            </a:r>
            <a:r>
              <a:rPr lang="en-US" sz="1800">
                <a:solidFill>
                  <a:srgbClr val="632423"/>
                </a:solidFill>
                <a:latin typeface="Calibri"/>
                <a:ea typeface="Calibri"/>
                <a:cs typeface="Calibri"/>
                <a:sym typeface="Calibri"/>
              </a:rPr>
              <a:t>: biểu đồ hoạt động có thể được phân thành nhiều tuyến khác nhau.</a:t>
            </a:r>
            <a:endParaRPr sz="1800">
              <a:solidFill>
                <a:srgbClr val="632423"/>
              </a:solidFill>
              <a:latin typeface="Calibri"/>
              <a:ea typeface="Calibri"/>
              <a:cs typeface="Calibri"/>
              <a:sym typeface="Calibri"/>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Mỗi hoạt động phải được đặt gọn trong một tuyến. </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Mỗi tuyến dành cho một hoặc một số đối tượng thực hiện.</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Các dịch chuyển có thể đổi tuyến tự do.</a:t>
            </a:r>
            <a:endParaRPr sz="1600">
              <a:solidFill>
                <a:srgbClr val="632423"/>
              </a:solidFill>
              <a:latin typeface="Calibri"/>
              <a:ea typeface="Calibri"/>
              <a:cs typeface="Calibri"/>
              <a:sym typeface="Calibri"/>
            </a:endParaRPr>
          </a:p>
          <a:p>
            <a:pPr indent="0" lvl="1" marL="71120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45545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580" name="Google Shape;580;p5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81" name="Google Shape;581;p5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82" name="Google Shape;582;p5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583" name="Google Shape;583;p50"/>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584" name="Google Shape;584;p50"/>
          <p:cNvPicPr preferRelativeResize="0"/>
          <p:nvPr/>
        </p:nvPicPr>
        <p:blipFill rotWithShape="1">
          <a:blip r:embed="rId3">
            <a:alphaModFix/>
          </a:blip>
          <a:srcRect b="0" l="0" r="0" t="0"/>
          <a:stretch/>
        </p:blipFill>
        <p:spPr>
          <a:xfrm>
            <a:off x="2911252" y="3356992"/>
            <a:ext cx="2895600" cy="20478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590" name="Google Shape;590;p5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Cách xây dựng biểu đồ hoạt động:</a:t>
            </a:r>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Đối với từng quy trình nghiệp vụ ta dựa vào </a:t>
            </a:r>
            <a:r>
              <a:rPr i="1" lang="en-US" sz="1800">
                <a:solidFill>
                  <a:srgbClr val="632423"/>
                </a:solidFill>
                <a:latin typeface="Calibri"/>
                <a:ea typeface="Calibri"/>
                <a:cs typeface="Calibri"/>
                <a:sym typeface="Calibri"/>
              </a:rPr>
              <a:t>Bản mô tả các bước thực hiện trong quy trình </a:t>
            </a:r>
            <a:r>
              <a:rPr lang="en-US" sz="1800">
                <a:solidFill>
                  <a:srgbClr val="632423"/>
                </a:solidFill>
                <a:latin typeface="Calibri"/>
                <a:ea typeface="Calibri"/>
                <a:cs typeface="Calibri"/>
                <a:sym typeface="Calibri"/>
              </a:rPr>
              <a:t>và thực hiện các bước sau:</a:t>
            </a:r>
            <a:endParaRPr sz="1800">
              <a:solidFill>
                <a:srgbClr val="632423"/>
              </a:solidFill>
              <a:latin typeface="Calibri"/>
              <a:ea typeface="Calibri"/>
              <a:cs typeface="Calibri"/>
              <a:sym typeface="Calibri"/>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Xác định tất cả các hoạt động của các đối tượng tương tác với hệ thống – thường là các động từ.</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Xác định các bước thực hiện các hành động và điều kiện thực hiện hành động (nếu có) của các đối tượng.</a:t>
            </a:r>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Mô tả quy trình thông qua tập các ký hiệu của biểu đồ hoạt động để tạo ra một biểu đồ hoạt động.</a:t>
            </a:r>
            <a:endParaRPr sz="1600">
              <a:solidFill>
                <a:srgbClr val="632423"/>
              </a:solidFill>
              <a:latin typeface="Calibri"/>
              <a:ea typeface="Calibri"/>
              <a:cs typeface="Calibri"/>
              <a:sym typeface="Calibri"/>
            </a:endParaRPr>
          </a:p>
          <a:p>
            <a:pPr indent="0" lvl="1" marL="71120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45545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591" name="Google Shape;591;p5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592" name="Google Shape;592;p5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593" name="Google Shape;593;p5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594" name="Google Shape;594;p51"/>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00" name="Google Shape;600;p5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Vẽ biểu đồ hoạt động trong Rational Rose</a:t>
            </a:r>
            <a:endParaRPr sz="2000">
              <a:solidFill>
                <a:srgbClr val="632423"/>
              </a:solidFill>
              <a:latin typeface="Calibri"/>
              <a:ea typeface="Calibri"/>
              <a:cs typeface="Calibri"/>
              <a:sym typeface="Calibri"/>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Khởi động Rational Rose, kích chuột phải tại </a:t>
            </a:r>
            <a:r>
              <a:rPr i="1" lang="en-US" sz="1800">
                <a:solidFill>
                  <a:srgbClr val="632423"/>
                </a:solidFill>
                <a:latin typeface="Calibri"/>
                <a:ea typeface="Calibri"/>
                <a:cs typeface="Calibri"/>
                <a:sym typeface="Calibri"/>
              </a:rPr>
              <a:t>Use Case View/New/Activity Diagram</a:t>
            </a:r>
            <a:r>
              <a:rPr lang="en-US" sz="1800">
                <a:solidFill>
                  <a:srgbClr val="632423"/>
                </a:solidFill>
                <a:latin typeface="Calibri"/>
                <a:ea typeface="Calibri"/>
                <a:cs typeface="Calibri"/>
                <a:sym typeface="Calibri"/>
              </a:rPr>
              <a:t>.</a:t>
            </a:r>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Xuất hiện một biểu đồ hoạt động mới có tên là </a:t>
            </a:r>
            <a:r>
              <a:rPr i="1" lang="en-US" sz="1600">
                <a:solidFill>
                  <a:srgbClr val="632423"/>
                </a:solidFill>
                <a:latin typeface="Calibri"/>
                <a:ea typeface="Calibri"/>
                <a:cs typeface="Calibri"/>
                <a:sym typeface="Calibri"/>
              </a:rPr>
              <a:t>New Diagram</a:t>
            </a:r>
            <a:r>
              <a:rPr lang="en-US" sz="1600">
                <a:solidFill>
                  <a:srgbClr val="632423"/>
                </a:solidFill>
                <a:latin typeface="Calibri"/>
                <a:ea typeface="Calibri"/>
                <a:cs typeface="Calibri"/>
                <a:sym typeface="Calibri"/>
              </a:rPr>
              <a:t>, đặt lại tên cho biểu đồ, ví dụ: </a:t>
            </a:r>
            <a:r>
              <a:rPr i="1" lang="en-US" sz="1600">
                <a:solidFill>
                  <a:srgbClr val="632423"/>
                </a:solidFill>
                <a:latin typeface="Calibri"/>
                <a:ea typeface="Calibri"/>
                <a:cs typeface="Calibri"/>
                <a:sym typeface="Calibri"/>
              </a:rPr>
              <a:t>Tuyendung</a:t>
            </a:r>
            <a:endParaRPr i="1" sz="16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71120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45545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601" name="Google Shape;601;p5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02" name="Google Shape;602;p5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603" name="Google Shape;603;p5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604" name="Google Shape;604;p52"/>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605" name="Google Shape;605;p52"/>
          <p:cNvPicPr preferRelativeResize="0"/>
          <p:nvPr/>
        </p:nvPicPr>
        <p:blipFill rotWithShape="1">
          <a:blip r:embed="rId3">
            <a:alphaModFix/>
          </a:blip>
          <a:srcRect b="0" l="0" r="0" t="0"/>
          <a:stretch/>
        </p:blipFill>
        <p:spPr>
          <a:xfrm>
            <a:off x="2191172" y="2204864"/>
            <a:ext cx="5495925" cy="26765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5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11" name="Google Shape;611;p5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Vẽ biểu đồ hoạt động trong Rational Rose</a:t>
            </a:r>
            <a:endParaRPr sz="2000">
              <a:solidFill>
                <a:srgbClr val="7F7F7F"/>
              </a:solidFill>
              <a:latin typeface="Calibri"/>
              <a:ea typeface="Calibri"/>
              <a:cs typeface="Calibri"/>
              <a:sym typeface="Calibri"/>
            </a:endParaRPr>
          </a:p>
          <a:p>
            <a:pPr indent="-285750" lvl="1" marL="741207" rtl="0" algn="just">
              <a:spcBef>
                <a:spcPts val="1043"/>
              </a:spcBef>
              <a:spcAft>
                <a:spcPts val="0"/>
              </a:spcAft>
              <a:buClr>
                <a:srgbClr val="FF0066"/>
              </a:buClr>
              <a:buSzPts val="1800"/>
              <a:buChar char="–"/>
            </a:pPr>
            <a:r>
              <a:rPr lang="en-US" sz="1800">
                <a:solidFill>
                  <a:srgbClr val="632423"/>
                </a:solidFill>
                <a:latin typeface="Calibri"/>
                <a:ea typeface="Calibri"/>
                <a:cs typeface="Calibri"/>
                <a:sym typeface="Calibri"/>
              </a:rPr>
              <a:t>Kích đúp vào tên biểu đồ, xuất hiện cửa sổ </a:t>
            </a:r>
            <a:r>
              <a:rPr i="1" lang="en-US" sz="1800">
                <a:solidFill>
                  <a:srgbClr val="632423"/>
                </a:solidFill>
                <a:latin typeface="Calibri"/>
                <a:ea typeface="Calibri"/>
                <a:cs typeface="Calibri"/>
                <a:sym typeface="Calibri"/>
              </a:rPr>
              <a:t>Activity Diagram: Use Case View/Tuyendung </a:t>
            </a:r>
            <a:r>
              <a:rPr lang="en-US" sz="1800">
                <a:solidFill>
                  <a:srgbClr val="632423"/>
                </a:solidFill>
                <a:latin typeface="Calibri"/>
                <a:ea typeface="Calibri"/>
                <a:cs typeface="Calibri"/>
                <a:sym typeface="Calibri"/>
              </a:rPr>
              <a:t>và hộp công cụ chứa các điều khiển được sử dụng trong biểu đồ hoạt động.</a:t>
            </a:r>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285750" lvl="2" marL="1196664" rtl="0" algn="just">
              <a:spcBef>
                <a:spcPts val="1003"/>
              </a:spcBef>
              <a:spcAft>
                <a:spcPts val="0"/>
              </a:spcAft>
              <a:buClr>
                <a:srgbClr val="FF0066"/>
              </a:buClr>
              <a:buSzPts val="1600"/>
              <a:buChar char="•"/>
            </a:pPr>
            <a:r>
              <a:rPr lang="en-US" sz="1600">
                <a:solidFill>
                  <a:srgbClr val="632423"/>
                </a:solidFill>
                <a:latin typeface="Calibri"/>
                <a:ea typeface="Calibri"/>
                <a:cs typeface="Calibri"/>
                <a:sym typeface="Calibri"/>
              </a:rPr>
              <a:t>Chọn các điều khiển cần thiết trên hộp công cụ, kích trái chuột vào vùng màn hình diagram tại vị trí thích hợp để đặt điều khiển.</a:t>
            </a:r>
            <a:endParaRPr sz="1600">
              <a:solidFill>
                <a:srgbClr val="632423"/>
              </a:solidFill>
              <a:latin typeface="Calibri"/>
              <a:ea typeface="Calibri"/>
              <a:cs typeface="Calibri"/>
              <a:sym typeface="Calibri"/>
            </a:endParaRPr>
          </a:p>
          <a:p>
            <a:pPr indent="-184150" lvl="2" marL="1196664"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71120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45545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612" name="Google Shape;612;p5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13" name="Google Shape;613;p5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614" name="Google Shape;614;p5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615" name="Google Shape;615;p53"/>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616" name="Google Shape;616;p53"/>
          <p:cNvPicPr preferRelativeResize="0"/>
          <p:nvPr/>
        </p:nvPicPr>
        <p:blipFill rotWithShape="1">
          <a:blip r:embed="rId3">
            <a:alphaModFix/>
          </a:blip>
          <a:srcRect b="0" l="0" r="0" t="0"/>
          <a:stretch/>
        </p:blipFill>
        <p:spPr>
          <a:xfrm>
            <a:off x="2191172" y="2348880"/>
            <a:ext cx="5676900" cy="31527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22" name="Google Shape;622;p5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7F7F7F"/>
                </a:solidFill>
                <a:latin typeface="Calibri"/>
                <a:ea typeface="Calibri"/>
                <a:cs typeface="Calibri"/>
                <a:sym typeface="Calibri"/>
              </a:rPr>
              <a:t>Vẽ biểu đồ hoạt động trong Rational Rose</a:t>
            </a:r>
            <a:endParaRPr sz="2000">
              <a:solidFill>
                <a:srgbClr val="7F7F7F"/>
              </a:solidFill>
              <a:latin typeface="Calibri"/>
              <a:ea typeface="Calibri"/>
              <a:cs typeface="Calibri"/>
              <a:sym typeface="Calibri"/>
            </a:endParaRPr>
          </a:p>
          <a:p>
            <a:pPr indent="-285750" lvl="1" marL="741207" rtl="0" algn="just">
              <a:spcBef>
                <a:spcPts val="1043"/>
              </a:spcBef>
              <a:spcAft>
                <a:spcPts val="0"/>
              </a:spcAft>
              <a:buClr>
                <a:srgbClr val="FF0066"/>
              </a:buClr>
              <a:buSzPts val="1800"/>
              <a:buChar char="–"/>
            </a:pPr>
            <a:r>
              <a:rPr i="1" lang="en-US" sz="1800">
                <a:solidFill>
                  <a:srgbClr val="632423"/>
                </a:solidFill>
                <a:latin typeface="Calibri"/>
                <a:ea typeface="Calibri"/>
                <a:cs typeface="Calibri"/>
                <a:sym typeface="Calibri"/>
              </a:rPr>
              <a:t>Đặt tên hoạt động</a:t>
            </a:r>
            <a:r>
              <a:rPr lang="en-US" sz="1800">
                <a:solidFill>
                  <a:srgbClr val="632423"/>
                </a:solidFill>
                <a:latin typeface="Calibri"/>
                <a:ea typeface="Calibri"/>
                <a:cs typeface="Calibri"/>
                <a:sym typeface="Calibri"/>
              </a:rPr>
              <a:t>: kích phải chuột tại hoạt động, chọn Open Specification và gõ tên cho hoạt động tại ô Name, ví dụ: </a:t>
            </a:r>
            <a:r>
              <a:rPr i="1" lang="en-US" sz="1800">
                <a:solidFill>
                  <a:srgbClr val="632423"/>
                </a:solidFill>
                <a:latin typeface="Calibri"/>
                <a:ea typeface="Calibri"/>
                <a:cs typeface="Calibri"/>
                <a:sym typeface="Calibri"/>
              </a:rPr>
              <a:t>Thông báo tuyển dụng </a:t>
            </a:r>
            <a:r>
              <a:rPr lang="en-US" sz="1800">
                <a:solidFill>
                  <a:srgbClr val="632423"/>
                </a:solidFill>
                <a:latin typeface="Calibri"/>
                <a:ea typeface="Calibri"/>
                <a:cs typeface="Calibri"/>
                <a:sym typeface="Calibri"/>
              </a:rPr>
              <a:t>rồi chọn OK.</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2" marL="709613" rtl="0" algn="just">
              <a:spcBef>
                <a:spcPts val="1043"/>
              </a:spcBef>
              <a:spcAft>
                <a:spcPts val="0"/>
              </a:spcAft>
              <a:buClr>
                <a:srgbClr val="FF0066"/>
              </a:buClr>
              <a:buSzPts val="1800"/>
              <a:buNone/>
            </a:pPr>
            <a:r>
              <a:rPr lang="en-US" sz="1800">
                <a:solidFill>
                  <a:srgbClr val="632423"/>
                </a:solidFill>
                <a:latin typeface="Calibri"/>
                <a:ea typeface="Calibri"/>
                <a:cs typeface="Calibri"/>
                <a:sym typeface="Calibri"/>
              </a:rPr>
              <a:t>Chú ý: để hiển thị tiếng việt cho các điều khiển, ta kích chọn các điều khiển rồi chọn font </a:t>
            </a:r>
            <a:r>
              <a:rPr i="1" lang="en-US" sz="1800">
                <a:solidFill>
                  <a:srgbClr val="632423"/>
                </a:solidFill>
                <a:latin typeface="Calibri"/>
                <a:ea typeface="Calibri"/>
                <a:cs typeface="Calibri"/>
                <a:sym typeface="Calibri"/>
              </a:rPr>
              <a:t>.VNTime </a:t>
            </a:r>
            <a:r>
              <a:rPr lang="en-US" sz="1800">
                <a:solidFill>
                  <a:srgbClr val="632423"/>
                </a:solidFill>
                <a:latin typeface="Calibri"/>
                <a:ea typeface="Calibri"/>
                <a:cs typeface="Calibri"/>
                <a:sym typeface="Calibri"/>
              </a:rPr>
              <a:t>tại menu Format.</a:t>
            </a:r>
            <a:endParaRPr sz="1800">
              <a:solidFill>
                <a:srgbClr val="632423"/>
              </a:solidFill>
              <a:latin typeface="Calibri"/>
              <a:ea typeface="Calibri"/>
              <a:cs typeface="Calibri"/>
              <a:sym typeface="Calibri"/>
            </a:endParaRPr>
          </a:p>
          <a:p>
            <a:pPr indent="-184150" lvl="2" marL="1196664"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171450" lvl="1" marL="74120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a:p>
            <a:pPr indent="0" lvl="1" marL="71120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45545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623" name="Google Shape;623;p5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24" name="Google Shape;624;p5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625" name="Google Shape;625;p5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626" name="Google Shape;626;p54"/>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627" name="Google Shape;627;p54"/>
          <p:cNvPicPr preferRelativeResize="0"/>
          <p:nvPr/>
        </p:nvPicPr>
        <p:blipFill rotWithShape="1">
          <a:blip r:embed="rId3">
            <a:alphaModFix/>
          </a:blip>
          <a:srcRect b="0" l="0" r="0" t="0"/>
          <a:stretch/>
        </p:blipFill>
        <p:spPr>
          <a:xfrm>
            <a:off x="2191172" y="2420888"/>
            <a:ext cx="4914900" cy="31051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Tổng quan về xác định yêu cầu hệ thống</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phương pháp xác định yêu cầu truyền thống</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Các phương pháp xác định yêu cầu hiện đại</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Phân tích kết quả khảo sát  </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633" name="Google Shape;633;p5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0" marL="390392" rtl="0" algn="just">
              <a:spcBef>
                <a:spcPts val="0"/>
              </a:spcBef>
              <a:spcAft>
                <a:spcPts val="0"/>
              </a:spcAft>
              <a:buClr>
                <a:srgbClr val="FF0066"/>
              </a:buClr>
              <a:buSzPts val="2000"/>
              <a:buFont typeface="Noto Sans Symbols"/>
              <a:buChar char="♦"/>
            </a:pPr>
            <a:r>
              <a:rPr lang="en-US" sz="2000">
                <a:solidFill>
                  <a:srgbClr val="632423"/>
                </a:solidFill>
                <a:latin typeface="Calibri"/>
                <a:ea typeface="Calibri"/>
                <a:cs typeface="Calibri"/>
                <a:sym typeface="Calibri"/>
              </a:rPr>
              <a:t>Minh họa vẽ biểu đồ hoạt động quy trình </a:t>
            </a:r>
            <a:r>
              <a:rPr i="1" lang="en-US" sz="2000">
                <a:solidFill>
                  <a:srgbClr val="632423"/>
                </a:solidFill>
                <a:latin typeface="Calibri"/>
                <a:ea typeface="Calibri"/>
                <a:cs typeface="Calibri"/>
                <a:sym typeface="Calibri"/>
              </a:rPr>
              <a:t>Nhận và thẩm định hồ sơ vay vốn mua ôtô</a:t>
            </a:r>
            <a:endParaRPr i="1" sz="2000">
              <a:solidFill>
                <a:srgbClr val="632423"/>
              </a:solidFill>
              <a:latin typeface="Calibri"/>
              <a:ea typeface="Calibri"/>
              <a:cs typeface="Calibri"/>
              <a:sym typeface="Calibri"/>
            </a:endParaRPr>
          </a:p>
          <a:p>
            <a:pPr indent="-263392" lvl="0"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711200" rtl="0" algn="just">
              <a:spcBef>
                <a:spcPts val="1003"/>
              </a:spcBef>
              <a:spcAft>
                <a:spcPts val="0"/>
              </a:spcAft>
              <a:buClr>
                <a:srgbClr val="FF0066"/>
              </a:buClr>
              <a:buSzPts val="1600"/>
              <a:buNone/>
            </a:pPr>
            <a:r>
              <a:t/>
            </a:r>
            <a:endParaRPr sz="1600">
              <a:solidFill>
                <a:srgbClr val="632423"/>
              </a:solidFill>
              <a:latin typeface="Calibri"/>
              <a:ea typeface="Calibri"/>
              <a:cs typeface="Calibri"/>
              <a:sym typeface="Calibri"/>
            </a:endParaRPr>
          </a:p>
          <a:p>
            <a:pPr indent="0" lvl="1" marL="455457" rtl="0" algn="just">
              <a:spcBef>
                <a:spcPts val="1043"/>
              </a:spcBef>
              <a:spcAft>
                <a:spcPts val="0"/>
              </a:spcAft>
              <a:buClr>
                <a:srgbClr val="FF0066"/>
              </a:buClr>
              <a:buSzPts val="1800"/>
              <a:buNone/>
            </a:pPr>
            <a:r>
              <a:t/>
            </a:r>
            <a:endParaRPr sz="1800">
              <a:solidFill>
                <a:srgbClr val="632423"/>
              </a:solidFill>
              <a:latin typeface="Calibri"/>
              <a:ea typeface="Calibri"/>
              <a:cs typeface="Calibri"/>
              <a:sym typeface="Calibri"/>
            </a:endParaRPr>
          </a:p>
        </p:txBody>
      </p:sp>
      <p:cxnSp>
        <p:nvCxnSpPr>
          <p:cNvPr id="634" name="Google Shape;634;p5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635" name="Google Shape;635;p5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636" name="Google Shape;636;p5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400" u="none" cap="none" strike="noStrike">
                <a:solidFill>
                  <a:schemeClr val="dk2"/>
                </a:solidFill>
                <a:latin typeface="Calibri"/>
                <a:ea typeface="Calibri"/>
                <a:cs typeface="Calibri"/>
                <a:sym typeface="Calibri"/>
              </a:rPr>
              <a:t>1. Biểu đồ hoạt động hướng cấu trúc</a:t>
            </a:r>
            <a:endParaRPr b="0" i="0" sz="1400" u="none" cap="none" strike="noStrike">
              <a:solidFill>
                <a:schemeClr val="dk2"/>
              </a:solidFill>
              <a:latin typeface="Calibri"/>
              <a:ea typeface="Calibri"/>
              <a:cs typeface="Calibri"/>
              <a:sym typeface="Calibri"/>
            </a:endParaRPr>
          </a:p>
          <a:p>
            <a:pPr indent="0" lvl="1" marL="0" marR="0" rtl="0" algn="l">
              <a:spcBef>
                <a:spcPts val="0"/>
              </a:spcBef>
              <a:spcAft>
                <a:spcPts val="0"/>
              </a:spcAft>
              <a:buNone/>
            </a:pPr>
            <a:r>
              <a:rPr b="1" i="0" lang="en-US" sz="1400" u="none" cap="none" strike="noStrike">
                <a:solidFill>
                  <a:srgbClr val="E36C09"/>
                </a:solidFill>
                <a:latin typeface="Calibri"/>
                <a:ea typeface="Calibri"/>
                <a:cs typeface="Calibri"/>
                <a:sym typeface="Calibri"/>
              </a:rPr>
              <a:t>2. Biểu đồ hoạt động hướng đối tượng</a:t>
            </a:r>
            <a:endParaRPr/>
          </a:p>
        </p:txBody>
      </p:sp>
      <p:sp>
        <p:nvSpPr>
          <p:cNvPr id="637" name="Google Shape;637;p55"/>
          <p:cNvSpPr txBox="1"/>
          <p:nvPr/>
        </p:nvSpPr>
        <p:spPr>
          <a:xfrm>
            <a:off x="4495428" y="0"/>
            <a:ext cx="2443014" cy="1080000"/>
          </a:xfrm>
          <a:prstGeom prst="rect">
            <a:avLst/>
          </a:prstGeom>
          <a:solidFill>
            <a:srgbClr val="92CCDC"/>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1. Xử lý sơ bộ kết quả khảo sát</a:t>
            </a:r>
            <a:endParaRPr b="0" i="0" sz="1300" u="none" cap="none" strike="noStrike">
              <a:solidFill>
                <a:srgbClr val="366092"/>
              </a:solidFill>
              <a:latin typeface="Calibri"/>
              <a:ea typeface="Calibri"/>
              <a:cs typeface="Calibri"/>
              <a:sym typeface="Calibri"/>
            </a:endParaRPr>
          </a:p>
          <a:p>
            <a:pPr indent="0" lvl="1" marL="0" marR="0" rtl="0" algn="l">
              <a:spcBef>
                <a:spcPts val="0"/>
              </a:spcBef>
              <a:spcAft>
                <a:spcPts val="0"/>
              </a:spcAft>
              <a:buNone/>
            </a:pPr>
            <a:r>
              <a:rPr b="0" i="0" lang="en-US" sz="1300" u="none" cap="none" strike="noStrike">
                <a:solidFill>
                  <a:srgbClr val="366092"/>
                </a:solidFill>
                <a:latin typeface="Calibri"/>
                <a:ea typeface="Calibri"/>
                <a:cs typeface="Calibri"/>
                <a:sym typeface="Calibri"/>
              </a:rPr>
              <a:t>2. Tổng hợp kết quả khảo sát</a:t>
            </a:r>
            <a:endParaRPr/>
          </a:p>
          <a:p>
            <a:pPr indent="0" lvl="1" marL="0" marR="0" rtl="0" algn="l">
              <a:spcBef>
                <a:spcPts val="0"/>
              </a:spcBef>
              <a:spcAft>
                <a:spcPts val="0"/>
              </a:spcAft>
              <a:buNone/>
            </a:pPr>
            <a:r>
              <a:rPr b="1" i="0" lang="en-US" sz="1300" u="none" cap="none" strike="noStrike">
                <a:solidFill>
                  <a:srgbClr val="E36C09"/>
                </a:solidFill>
                <a:latin typeface="Calibri"/>
                <a:ea typeface="Calibri"/>
                <a:cs typeface="Calibri"/>
                <a:sym typeface="Calibri"/>
              </a:rPr>
              <a:t>3. Mô hình hóa KQ khảo sát</a:t>
            </a:r>
            <a:endParaRPr/>
          </a:p>
          <a:p>
            <a:pPr indent="0" lvl="1" marL="180975" marR="0" rtl="0" algn="l">
              <a:spcBef>
                <a:spcPts val="0"/>
              </a:spcBef>
              <a:spcAft>
                <a:spcPts val="0"/>
              </a:spcAft>
              <a:buNone/>
            </a:pPr>
            <a:r>
              <a:t/>
            </a:r>
            <a:endParaRPr b="0" i="0" sz="1200" u="none" cap="none" strike="noStrike">
              <a:solidFill>
                <a:srgbClr val="366092"/>
              </a:solidFill>
              <a:latin typeface="Calibri"/>
              <a:ea typeface="Calibri"/>
              <a:cs typeface="Calibri"/>
              <a:sym typeface="Calibri"/>
            </a:endParaRPr>
          </a:p>
        </p:txBody>
      </p:sp>
      <p:pic>
        <p:nvPicPr>
          <p:cNvPr id="638" name="Google Shape;638;p55"/>
          <p:cNvPicPr preferRelativeResize="0"/>
          <p:nvPr/>
        </p:nvPicPr>
        <p:blipFill rotWithShape="1">
          <a:blip r:embed="rId3">
            <a:alphaModFix/>
          </a:blip>
          <a:srcRect b="0" l="0" r="0" t="0"/>
          <a:stretch/>
        </p:blipFill>
        <p:spPr>
          <a:xfrm>
            <a:off x="1710506" y="1772816"/>
            <a:ext cx="5610225" cy="48196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6"/>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p>
            <a:pPr indent="0" lvl="0" marL="0" rtl="0" algn="ctr">
              <a:spcBef>
                <a:spcPts val="0"/>
              </a:spcBef>
              <a:spcAft>
                <a:spcPts val="0"/>
              </a:spcAft>
              <a:buClr>
                <a:schemeClr val="dk1"/>
              </a:buClr>
              <a:buSzPts val="5000"/>
              <a:buFont typeface="Calibri"/>
              <a:buNone/>
            </a:pPr>
            <a:r>
              <a:t/>
            </a:r>
            <a:endParaRPr/>
          </a:p>
        </p:txBody>
      </p:sp>
      <p:sp>
        <p:nvSpPr>
          <p:cNvPr id="644" name="Google Shape;644;p5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pic>
        <p:nvPicPr>
          <p:cNvPr id="645" name="Google Shape;645;p56"/>
          <p:cNvPicPr preferRelativeResize="0"/>
          <p:nvPr/>
        </p:nvPicPr>
        <p:blipFill rotWithShape="1">
          <a:blip r:embed="rId3">
            <a:alphaModFix/>
          </a:blip>
          <a:srcRect b="0" l="0" r="0" t="0"/>
          <a:stretch/>
        </p:blipFill>
        <p:spPr>
          <a:xfrm>
            <a:off x="2146169" y="1836016"/>
            <a:ext cx="5583051" cy="2654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2014-03-12T02:40:35Z</dcterms:created>
  <dc:creator>LAMNHUNG</dc:creator>
</cp:coreProperties>
</file>