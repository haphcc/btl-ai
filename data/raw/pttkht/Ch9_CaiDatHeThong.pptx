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16"/>
  </p:notesMasterIdLst>
  <p:sldIdLst>
    <p:sldId id="305" r:id="rId2"/>
    <p:sldId id="308" r:id="rId3"/>
    <p:sldId id="309" r:id="rId4"/>
    <p:sldId id="311" r:id="rId5"/>
    <p:sldId id="312" r:id="rId6"/>
    <p:sldId id="313" r:id="rId7"/>
    <p:sldId id="314" r:id="rId8"/>
    <p:sldId id="315" r:id="rId9"/>
    <p:sldId id="316" r:id="rId10"/>
    <p:sldId id="317" r:id="rId11"/>
    <p:sldId id="318" r:id="rId12"/>
    <p:sldId id="319" r:id="rId13"/>
    <p:sldId id="320" r:id="rId14"/>
    <p:sldId id="265" r:id="rId15"/>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1" autoAdjust="0"/>
    <p:restoredTop sz="99623" autoAdjust="0"/>
  </p:normalViewPr>
  <p:slideViewPr>
    <p:cSldViewPr>
      <p:cViewPr>
        <p:scale>
          <a:sx n="50" d="100"/>
          <a:sy n="50" d="100"/>
        </p:scale>
        <p:origin x="-204" y="-486"/>
      </p:cViewPr>
      <p:guideLst>
        <p:guide orient="horz" pos="2161"/>
        <p:guide pos="3240"/>
      </p:guideLst>
    </p:cSldViewPr>
  </p:slideViewPr>
  <p:outlineViewPr>
    <p:cViewPr>
      <p:scale>
        <a:sx n="33" d="100"/>
        <a:sy n="33" d="100"/>
      </p:scale>
      <p:origin x="0" y="5047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3B086-1834-404D-BF86-D7E3742DB3C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vi-VN"/>
        </a:p>
      </dgm:t>
    </dgm:pt>
    <dgm:pt modelId="{0260F488-0856-4885-BE6A-D1B3BB6C6BDE}">
      <dgm:prSet phldrT="[Text]" custT="1"/>
      <dgm:spPr/>
      <dgm:t>
        <a:bodyPr/>
        <a:lstStyle/>
        <a:p>
          <a:endParaRPr lang="en-US" sz="2000" b="1" kern="1200" smtClean="0">
            <a:solidFill>
              <a:srgbClr val="FF0066"/>
            </a:solidFill>
            <a:latin typeface="Arial" pitchFamily="34" charset="0"/>
            <a:ea typeface="+mn-ea"/>
            <a:cs typeface="Arial" pitchFamily="34" charset="0"/>
          </a:endParaRPr>
        </a:p>
        <a:p>
          <a:r>
            <a:rPr lang="en-US" sz="2000" b="1" kern="1200" smtClean="0">
              <a:solidFill>
                <a:srgbClr val="FF0066"/>
              </a:solidFill>
              <a:latin typeface="Arial" pitchFamily="34" charset="0"/>
              <a:ea typeface="+mn-ea"/>
              <a:cs typeface="Arial" pitchFamily="34" charset="0"/>
            </a:rPr>
            <a:t>Phần 4</a:t>
          </a:r>
          <a:endParaRPr lang="vi-VN" sz="2000" b="1" kern="1200">
            <a:solidFill>
              <a:srgbClr val="FF0066"/>
            </a:solidFill>
            <a:latin typeface="Arial" pitchFamily="34" charset="0"/>
            <a:ea typeface="+mn-ea"/>
            <a:cs typeface="Arial" pitchFamily="34" charset="0"/>
          </a:endParaRPr>
        </a:p>
      </dgm:t>
    </dgm:pt>
    <dgm:pt modelId="{95040FC8-2CD3-4491-88A6-2B8A429D6FC9}" type="parTrans" cxnId="{A4ACD94A-AD73-41D7-B516-A082DD498B79}">
      <dgm:prSet/>
      <dgm:spPr/>
      <dgm:t>
        <a:bodyPr/>
        <a:lstStyle/>
        <a:p>
          <a:endParaRPr lang="vi-VN"/>
        </a:p>
      </dgm:t>
    </dgm:pt>
    <dgm:pt modelId="{3EC7BCE0-88DB-4C58-B4EE-49B0B146E157}" type="sibTrans" cxnId="{A4ACD94A-AD73-41D7-B516-A082DD498B79}">
      <dgm:prSet/>
      <dgm:spPr/>
      <dgm:t>
        <a:bodyPr/>
        <a:lstStyle/>
        <a:p>
          <a:endParaRPr lang="vi-VN"/>
        </a:p>
      </dgm:t>
    </dgm:pt>
    <dgm:pt modelId="{778B28D7-5046-4E74-90E6-28410FAC41E4}">
      <dgm:prSet phldrT="[Text]" custT="1"/>
      <dgm:spPr/>
      <dgm:t>
        <a:bodyPr/>
        <a:lstStyle/>
        <a:p>
          <a:r>
            <a:rPr lang="en-US" sz="2800" b="0" kern="1200" smtClean="0">
              <a:solidFill>
                <a:schemeClr val="accent2">
                  <a:lumMod val="50000"/>
                </a:schemeClr>
              </a:solidFill>
              <a:latin typeface="+mn-lt"/>
              <a:ea typeface="+mn-ea"/>
              <a:cs typeface="Arial" pitchFamily="34" charset="0"/>
            </a:rPr>
            <a:t>Triển khai và vận hành hệ thống</a:t>
          </a:r>
          <a:endParaRPr lang="vi-VN" sz="2800" b="0" kern="1200">
            <a:solidFill>
              <a:schemeClr val="accent2">
                <a:lumMod val="50000"/>
              </a:schemeClr>
            </a:solidFill>
            <a:latin typeface="+mn-lt"/>
            <a:ea typeface="+mn-ea"/>
            <a:cs typeface="Arial" pitchFamily="34" charset="0"/>
          </a:endParaRPr>
        </a:p>
      </dgm:t>
    </dgm:pt>
    <dgm:pt modelId="{EE6295D5-D397-4CAE-B69A-ABD00BC2ED9E}" type="parTrans" cxnId="{A1656E6D-38D8-49C0-B402-C2F46C097650}">
      <dgm:prSet/>
      <dgm:spPr/>
      <dgm:t>
        <a:bodyPr/>
        <a:lstStyle/>
        <a:p>
          <a:endParaRPr lang="vi-VN"/>
        </a:p>
      </dgm:t>
    </dgm:pt>
    <dgm:pt modelId="{91E317F6-05BD-4692-AD76-BDF81928F364}" type="sibTrans" cxnId="{A1656E6D-38D8-49C0-B402-C2F46C097650}">
      <dgm:prSet/>
      <dgm:spPr/>
      <dgm:t>
        <a:bodyPr/>
        <a:lstStyle/>
        <a:p>
          <a:endParaRPr lang="vi-VN"/>
        </a:p>
      </dgm:t>
    </dgm:pt>
    <dgm:pt modelId="{E798BC6D-45BE-44CB-8CC8-DB9C1471CA3C}">
      <dgm:prSet phldrT="[Text]" custT="1"/>
      <dgm:spPr/>
      <dgm:t>
        <a:bodyPr/>
        <a:lstStyle/>
        <a:p>
          <a:endParaRPr lang="vi-VN" sz="2000" b="1" kern="1200">
            <a:solidFill>
              <a:srgbClr val="FF0066"/>
            </a:solidFill>
            <a:latin typeface="Arial" pitchFamily="34" charset="0"/>
            <a:ea typeface="+mn-ea"/>
            <a:cs typeface="Arial" pitchFamily="34" charset="0"/>
          </a:endParaRPr>
        </a:p>
      </dgm:t>
    </dgm:pt>
    <dgm:pt modelId="{0BAFAAA6-8B3D-4D7C-B198-6A51A840F645}" type="parTrans" cxnId="{EE78EB2D-9633-458C-AA1E-B32BDFB24DD5}">
      <dgm:prSet/>
      <dgm:spPr/>
      <dgm:t>
        <a:bodyPr/>
        <a:lstStyle/>
        <a:p>
          <a:endParaRPr lang="vi-VN"/>
        </a:p>
      </dgm:t>
    </dgm:pt>
    <dgm:pt modelId="{C607F695-BB60-4E06-8B4C-02CFB151F2E8}" type="sibTrans" cxnId="{EE78EB2D-9633-458C-AA1E-B32BDFB24DD5}">
      <dgm:prSet/>
      <dgm:spPr/>
      <dgm:t>
        <a:bodyPr/>
        <a:lstStyle/>
        <a:p>
          <a:endParaRPr lang="vi-VN"/>
        </a:p>
      </dgm:t>
    </dgm:pt>
    <dgm:pt modelId="{3F099641-3016-4E36-A57C-08492461DA9E}">
      <dgm:prSet phldrT="[Text]" custT="1"/>
      <dgm:spPr/>
      <dgm:t>
        <a:bodyPr/>
        <a:lstStyle/>
        <a:p>
          <a:endParaRPr lang="vi-VN" sz="2400" kern="1200">
            <a:solidFill>
              <a:srgbClr val="FF0000"/>
            </a:solidFill>
            <a:latin typeface="+mn-lt"/>
            <a:ea typeface="+mn-ea"/>
            <a:cs typeface="Arial" pitchFamily="34" charset="0"/>
          </a:endParaRPr>
        </a:p>
      </dgm:t>
    </dgm:pt>
    <dgm:pt modelId="{1DE74F0F-71C3-427F-9BA8-88247CBD5315}" type="parTrans" cxnId="{15526149-690E-448A-A6B4-6D77B868B3D5}">
      <dgm:prSet/>
      <dgm:spPr/>
      <dgm:t>
        <a:bodyPr/>
        <a:lstStyle/>
        <a:p>
          <a:endParaRPr lang="vi-VN"/>
        </a:p>
      </dgm:t>
    </dgm:pt>
    <dgm:pt modelId="{BCB2569F-AD56-4492-872D-7BFEBE5F40D9}" type="sibTrans" cxnId="{15526149-690E-448A-A6B4-6D77B868B3D5}">
      <dgm:prSet/>
      <dgm:spPr/>
      <dgm:t>
        <a:bodyPr/>
        <a:lstStyle/>
        <a:p>
          <a:endParaRPr lang="vi-VN"/>
        </a:p>
      </dgm:t>
    </dgm:pt>
    <dgm:pt modelId="{83E18DC7-CA2C-4F21-AAB9-8F7C3D2CC03D}" type="pres">
      <dgm:prSet presAssocID="{2323B086-1834-404D-BF86-D7E3742DB3C6}" presName="linearFlow" presStyleCnt="0">
        <dgm:presLayoutVars>
          <dgm:dir/>
          <dgm:animLvl val="lvl"/>
          <dgm:resizeHandles val="exact"/>
        </dgm:presLayoutVars>
      </dgm:prSet>
      <dgm:spPr/>
      <dgm:t>
        <a:bodyPr/>
        <a:lstStyle/>
        <a:p>
          <a:endParaRPr lang="vi-VN"/>
        </a:p>
      </dgm:t>
    </dgm:pt>
    <dgm:pt modelId="{8CA3D8D9-C5D3-4B07-96B2-D57EB897391D}" type="pres">
      <dgm:prSet presAssocID="{0260F488-0856-4885-BE6A-D1B3BB6C6BDE}" presName="composite" presStyleCnt="0"/>
      <dgm:spPr/>
    </dgm:pt>
    <dgm:pt modelId="{2CC43149-30BB-41CF-A3CF-A8E9DA4C7E65}" type="pres">
      <dgm:prSet presAssocID="{0260F488-0856-4885-BE6A-D1B3BB6C6BDE}" presName="parentText" presStyleLbl="alignNode1" presStyleIdx="0" presStyleCnt="1">
        <dgm:presLayoutVars>
          <dgm:chMax val="1"/>
          <dgm:bulletEnabled val="1"/>
        </dgm:presLayoutVars>
      </dgm:prSet>
      <dgm:spPr/>
      <dgm:t>
        <a:bodyPr/>
        <a:lstStyle/>
        <a:p>
          <a:endParaRPr lang="vi-VN"/>
        </a:p>
      </dgm:t>
    </dgm:pt>
    <dgm:pt modelId="{FF0FE9B2-91E4-4688-AED9-7B41985CEB42}" type="pres">
      <dgm:prSet presAssocID="{0260F488-0856-4885-BE6A-D1B3BB6C6BDE}" presName="descendantText" presStyleLbl="alignAcc1" presStyleIdx="0" presStyleCnt="1">
        <dgm:presLayoutVars>
          <dgm:bulletEnabled val="1"/>
        </dgm:presLayoutVars>
      </dgm:prSet>
      <dgm:spPr/>
      <dgm:t>
        <a:bodyPr/>
        <a:lstStyle/>
        <a:p>
          <a:endParaRPr lang="vi-VN"/>
        </a:p>
      </dgm:t>
    </dgm:pt>
  </dgm:ptLst>
  <dgm:cxnLst>
    <dgm:cxn modelId="{ED16B1B1-B2FA-452A-8068-03E202D762B7}" type="presOf" srcId="{0260F488-0856-4885-BE6A-D1B3BB6C6BDE}" destId="{2CC43149-30BB-41CF-A3CF-A8E9DA4C7E65}" srcOrd="0" destOrd="0" presId="urn:microsoft.com/office/officeart/2005/8/layout/chevron2"/>
    <dgm:cxn modelId="{DC233F7C-E2CD-46C8-913A-2D8316E14C77}" type="presOf" srcId="{3F099641-3016-4E36-A57C-08492461DA9E}" destId="{FF0FE9B2-91E4-4688-AED9-7B41985CEB42}" srcOrd="0" destOrd="0" presId="urn:microsoft.com/office/officeart/2005/8/layout/chevron2"/>
    <dgm:cxn modelId="{586B4421-3B3B-455E-8291-AED72CCB3309}" type="presOf" srcId="{2323B086-1834-404D-BF86-D7E3742DB3C6}" destId="{83E18DC7-CA2C-4F21-AAB9-8F7C3D2CC03D}" srcOrd="0" destOrd="0" presId="urn:microsoft.com/office/officeart/2005/8/layout/chevron2"/>
    <dgm:cxn modelId="{A4ACD94A-AD73-41D7-B516-A082DD498B79}" srcId="{2323B086-1834-404D-BF86-D7E3742DB3C6}" destId="{0260F488-0856-4885-BE6A-D1B3BB6C6BDE}" srcOrd="0" destOrd="0" parTransId="{95040FC8-2CD3-4491-88A6-2B8A429D6FC9}" sibTransId="{3EC7BCE0-88DB-4C58-B4EE-49B0B146E157}"/>
    <dgm:cxn modelId="{EE78EB2D-9633-458C-AA1E-B32BDFB24DD5}" srcId="{778B28D7-5046-4E74-90E6-28410FAC41E4}" destId="{E798BC6D-45BE-44CB-8CC8-DB9C1471CA3C}" srcOrd="0" destOrd="0" parTransId="{0BAFAAA6-8B3D-4D7C-B198-6A51A840F645}" sibTransId="{C607F695-BB60-4E06-8B4C-02CFB151F2E8}"/>
    <dgm:cxn modelId="{6DE84731-F6EF-4749-A872-FE4A1BC18207}" type="presOf" srcId="{778B28D7-5046-4E74-90E6-28410FAC41E4}" destId="{FF0FE9B2-91E4-4688-AED9-7B41985CEB42}" srcOrd="0" destOrd="1" presId="urn:microsoft.com/office/officeart/2005/8/layout/chevron2"/>
    <dgm:cxn modelId="{A1656E6D-38D8-49C0-B402-C2F46C097650}" srcId="{0260F488-0856-4885-BE6A-D1B3BB6C6BDE}" destId="{778B28D7-5046-4E74-90E6-28410FAC41E4}" srcOrd="1" destOrd="0" parTransId="{EE6295D5-D397-4CAE-B69A-ABD00BC2ED9E}" sibTransId="{91E317F6-05BD-4692-AD76-BDF81928F364}"/>
    <dgm:cxn modelId="{C0C00E7F-A580-4DCC-8B5B-D6A24A51D0B7}" type="presOf" srcId="{E798BC6D-45BE-44CB-8CC8-DB9C1471CA3C}" destId="{FF0FE9B2-91E4-4688-AED9-7B41985CEB42}" srcOrd="0" destOrd="2" presId="urn:microsoft.com/office/officeart/2005/8/layout/chevron2"/>
    <dgm:cxn modelId="{15526149-690E-448A-A6B4-6D77B868B3D5}" srcId="{0260F488-0856-4885-BE6A-D1B3BB6C6BDE}" destId="{3F099641-3016-4E36-A57C-08492461DA9E}" srcOrd="0" destOrd="0" parTransId="{1DE74F0F-71C3-427F-9BA8-88247CBD5315}" sibTransId="{BCB2569F-AD56-4492-872D-7BFEBE5F40D9}"/>
    <dgm:cxn modelId="{9CFC73CC-BF3B-446C-81EA-AD7479BA8295}" type="presParOf" srcId="{83E18DC7-CA2C-4F21-AAB9-8F7C3D2CC03D}" destId="{8CA3D8D9-C5D3-4B07-96B2-D57EB897391D}" srcOrd="0" destOrd="0" presId="urn:microsoft.com/office/officeart/2005/8/layout/chevron2"/>
    <dgm:cxn modelId="{9BEC2CBB-52C6-408D-BACA-F185D766632F}" type="presParOf" srcId="{8CA3D8D9-C5D3-4B07-96B2-D57EB897391D}" destId="{2CC43149-30BB-41CF-A3CF-A8E9DA4C7E65}" srcOrd="0" destOrd="0" presId="urn:microsoft.com/office/officeart/2005/8/layout/chevron2"/>
    <dgm:cxn modelId="{89C75657-4537-4EB9-8F76-464CDC33E1BE}" type="presParOf" srcId="{8CA3D8D9-C5D3-4B07-96B2-D57EB897391D}" destId="{FF0FE9B2-91E4-4688-AED9-7B41985CEB4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43149-30BB-41CF-A3CF-A8E9DA4C7E65}">
      <dsp:nvSpPr>
        <dsp:cNvPr id="0" name=""/>
        <dsp:cNvSpPr/>
      </dsp:nvSpPr>
      <dsp:spPr>
        <a:xfrm rot="5400000">
          <a:off x="-161701" y="162756"/>
          <a:ext cx="1078011" cy="75460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b="1" kern="1200" smtClean="0">
            <a:solidFill>
              <a:srgbClr val="FF0066"/>
            </a:solidFill>
            <a:latin typeface="Arial" pitchFamily="34" charset="0"/>
            <a:ea typeface="+mn-ea"/>
            <a:cs typeface="Arial" pitchFamily="34" charset="0"/>
          </a:endParaRPr>
        </a:p>
        <a:p>
          <a:pPr lvl="0" algn="ctr" defTabSz="889000">
            <a:lnSpc>
              <a:spcPct val="90000"/>
            </a:lnSpc>
            <a:spcBef>
              <a:spcPct val="0"/>
            </a:spcBef>
            <a:spcAft>
              <a:spcPct val="35000"/>
            </a:spcAft>
          </a:pPr>
          <a:r>
            <a:rPr lang="en-US" sz="2000" b="1" kern="1200" smtClean="0">
              <a:solidFill>
                <a:srgbClr val="FF0066"/>
              </a:solidFill>
              <a:latin typeface="Arial" pitchFamily="34" charset="0"/>
              <a:ea typeface="+mn-ea"/>
              <a:cs typeface="Arial" pitchFamily="34" charset="0"/>
            </a:rPr>
            <a:t>Phần 4</a:t>
          </a:r>
          <a:endParaRPr lang="vi-VN" sz="2000" b="1" kern="1200">
            <a:solidFill>
              <a:srgbClr val="FF0066"/>
            </a:solidFill>
            <a:latin typeface="Arial" pitchFamily="34" charset="0"/>
            <a:ea typeface="+mn-ea"/>
            <a:cs typeface="Arial" pitchFamily="34" charset="0"/>
          </a:endParaRPr>
        </a:p>
      </dsp:txBody>
      <dsp:txXfrm rot="-5400000">
        <a:off x="2" y="378358"/>
        <a:ext cx="754607" cy="323404"/>
      </dsp:txXfrm>
    </dsp:sp>
    <dsp:sp modelId="{FF0FE9B2-91E4-4688-AED9-7B41985CEB42}">
      <dsp:nvSpPr>
        <dsp:cNvPr id="0" name=""/>
        <dsp:cNvSpPr/>
      </dsp:nvSpPr>
      <dsp:spPr>
        <a:xfrm rot="5400000">
          <a:off x="4131222" y="-3375559"/>
          <a:ext cx="701075" cy="745430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endParaRPr lang="vi-VN" sz="2400" kern="1200">
            <a:solidFill>
              <a:srgbClr val="FF0000"/>
            </a:solidFill>
            <a:latin typeface="+mn-lt"/>
            <a:ea typeface="+mn-ea"/>
            <a:cs typeface="Arial" pitchFamily="34" charset="0"/>
          </a:endParaRPr>
        </a:p>
        <a:p>
          <a:pPr marL="285750" lvl="1" indent="-285750" algn="l" defTabSz="1244600">
            <a:lnSpc>
              <a:spcPct val="90000"/>
            </a:lnSpc>
            <a:spcBef>
              <a:spcPct val="0"/>
            </a:spcBef>
            <a:spcAft>
              <a:spcPct val="15000"/>
            </a:spcAft>
            <a:buChar char="••"/>
          </a:pPr>
          <a:r>
            <a:rPr lang="en-US" sz="2800" b="0" kern="1200" smtClean="0">
              <a:solidFill>
                <a:schemeClr val="accent2">
                  <a:lumMod val="50000"/>
                </a:schemeClr>
              </a:solidFill>
              <a:latin typeface="+mn-lt"/>
              <a:ea typeface="+mn-ea"/>
              <a:cs typeface="Arial" pitchFamily="34" charset="0"/>
            </a:rPr>
            <a:t>Triển khai và vận hành hệ thống</a:t>
          </a:r>
          <a:endParaRPr lang="vi-VN" sz="2800" b="0" kern="1200">
            <a:solidFill>
              <a:schemeClr val="accent2">
                <a:lumMod val="50000"/>
              </a:schemeClr>
            </a:solidFill>
            <a:latin typeface="+mn-lt"/>
            <a:ea typeface="+mn-ea"/>
            <a:cs typeface="Arial" pitchFamily="34" charset="0"/>
          </a:endParaRPr>
        </a:p>
        <a:p>
          <a:pPr marL="457200" lvl="2" indent="-228600" algn="l" defTabSz="889000">
            <a:lnSpc>
              <a:spcPct val="90000"/>
            </a:lnSpc>
            <a:spcBef>
              <a:spcPct val="0"/>
            </a:spcBef>
            <a:spcAft>
              <a:spcPct val="15000"/>
            </a:spcAft>
            <a:buChar char="••"/>
          </a:pPr>
          <a:endParaRPr lang="vi-VN" sz="2000" b="1" kern="1200">
            <a:solidFill>
              <a:srgbClr val="FF0066"/>
            </a:solidFill>
            <a:latin typeface="Arial" pitchFamily="34" charset="0"/>
            <a:ea typeface="+mn-ea"/>
            <a:cs typeface="Arial" pitchFamily="34" charset="0"/>
          </a:endParaRPr>
        </a:p>
      </dsp:txBody>
      <dsp:txXfrm rot="-5400000">
        <a:off x="754608" y="35279"/>
        <a:ext cx="7420080" cy="6326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08/05/2015</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07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22992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602" y="4406901"/>
            <a:ext cx="8743950" cy="1362074"/>
          </a:xfrm>
        </p:spPr>
        <p:txBody>
          <a:bodyPr anchor="t"/>
          <a:lstStyle>
            <a:lvl1pPr algn="l">
              <a:defRPr sz="4600" b="1" cap="all"/>
            </a:lvl1pPr>
          </a:lstStyle>
          <a:p>
            <a:r>
              <a:rPr lang="en-US" smtClean="0"/>
              <a:t>Click to edit Master title style</a:t>
            </a:r>
            <a:endParaRPr lang="vi-VN"/>
          </a:p>
        </p:txBody>
      </p:sp>
      <p:sp>
        <p:nvSpPr>
          <p:cNvPr id="3" name="Text Placeholder 2"/>
          <p:cNvSpPr>
            <a:spLocks noGrp="1"/>
          </p:cNvSpPr>
          <p:nvPr>
            <p:ph type="body" idx="1"/>
          </p:nvPr>
        </p:nvSpPr>
        <p:spPr>
          <a:xfrm>
            <a:off x="812602" y="2906715"/>
            <a:ext cx="8743950" cy="1500187"/>
          </a:xfrm>
        </p:spPr>
        <p:txBody>
          <a:bodyPr anchor="b"/>
          <a:lstStyle>
            <a:lvl1pPr marL="0" indent="0">
              <a:buNone/>
              <a:defRPr sz="2300">
                <a:solidFill>
                  <a:schemeClr val="tx1">
                    <a:tint val="75000"/>
                  </a:schemeClr>
                </a:solidFill>
              </a:defRPr>
            </a:lvl1pPr>
            <a:lvl2pPr marL="520522" indent="0">
              <a:buNone/>
              <a:defRPr sz="2000">
                <a:solidFill>
                  <a:schemeClr val="tx1">
                    <a:tint val="75000"/>
                  </a:schemeClr>
                </a:solidFill>
              </a:defRPr>
            </a:lvl2pPr>
            <a:lvl3pPr marL="1041044" indent="0">
              <a:buNone/>
              <a:defRPr sz="1800">
                <a:solidFill>
                  <a:schemeClr val="tx1">
                    <a:tint val="75000"/>
                  </a:schemeClr>
                </a:solidFill>
              </a:defRPr>
            </a:lvl3pPr>
            <a:lvl4pPr marL="1561567" indent="0">
              <a:buNone/>
              <a:defRPr sz="1600">
                <a:solidFill>
                  <a:schemeClr val="tx1">
                    <a:tint val="75000"/>
                  </a:schemeClr>
                </a:solidFill>
              </a:defRPr>
            </a:lvl4pPr>
            <a:lvl5pPr marL="2082089" indent="0">
              <a:buNone/>
              <a:defRPr sz="1600">
                <a:solidFill>
                  <a:schemeClr val="tx1">
                    <a:tint val="75000"/>
                  </a:schemeClr>
                </a:solidFill>
              </a:defRPr>
            </a:lvl5pPr>
            <a:lvl6pPr marL="2602611" indent="0">
              <a:buNone/>
              <a:defRPr sz="1600">
                <a:solidFill>
                  <a:schemeClr val="tx1">
                    <a:tint val="75000"/>
                  </a:schemeClr>
                </a:solidFill>
              </a:defRPr>
            </a:lvl6pPr>
            <a:lvl7pPr marL="3123133" indent="0">
              <a:buNone/>
              <a:defRPr sz="1600">
                <a:solidFill>
                  <a:schemeClr val="tx1">
                    <a:tint val="75000"/>
                  </a:schemeClr>
                </a:solidFill>
              </a:defRPr>
            </a:lvl7pPr>
            <a:lvl8pPr marL="3643655" indent="0">
              <a:buNone/>
              <a:defRPr sz="1600">
                <a:solidFill>
                  <a:schemeClr val="tx1">
                    <a:tint val="75000"/>
                  </a:schemeClr>
                </a:solidFill>
              </a:defRPr>
            </a:lvl8pPr>
            <a:lvl9pPr marL="4164178"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A986E9-8493-42BF-A7C6-EE1810E96B4A}"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56819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514350"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5229225"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8905EEE2-896C-48F9-8D0D-2D5367FD7444}" type="datetime1">
              <a:rPr lang="vi-VN" smtClean="0"/>
              <a:t>08/05/2015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94924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514351" y="1535115"/>
            <a:ext cx="4545211"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14351" y="2174876"/>
            <a:ext cx="4545211"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5225658" y="1535115"/>
            <a:ext cx="4546998"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225658" y="2174876"/>
            <a:ext cx="4546998"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5856DFF7-F5D1-4741-9AFA-644592F6D88E}" type="datetime1">
              <a:rPr lang="vi-VN" smtClean="0"/>
              <a:t>08/05/2015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2213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C57A1E72-38A2-4A3B-AB45-23AF396AC866}" type="datetime1">
              <a:rPr lang="vi-VN" smtClean="0"/>
              <a:t>08/05/2015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06964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6D5F-F7C9-4605-8742-978114C0C04F}" type="datetime1">
              <a:rPr lang="vi-VN" smtClean="0"/>
              <a:t>08/05/2015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4098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5" y="273049"/>
            <a:ext cx="3384352" cy="1162050"/>
          </a:xfrm>
        </p:spPr>
        <p:txBody>
          <a:bodyPr anchor="b"/>
          <a:lstStyle>
            <a:lvl1pPr algn="l">
              <a:defRPr sz="2300" b="1"/>
            </a:lvl1pPr>
          </a:lstStyle>
          <a:p>
            <a:r>
              <a:rPr lang="en-US" smtClean="0"/>
              <a:t>Click to edit Master title style</a:t>
            </a:r>
            <a:endParaRPr lang="vi-VN"/>
          </a:p>
        </p:txBody>
      </p:sp>
      <p:sp>
        <p:nvSpPr>
          <p:cNvPr id="3" name="Content Placeholder 2"/>
          <p:cNvSpPr>
            <a:spLocks noGrp="1"/>
          </p:cNvSpPr>
          <p:nvPr>
            <p:ph idx="1"/>
          </p:nvPr>
        </p:nvSpPr>
        <p:spPr>
          <a:xfrm>
            <a:off x="4021932" y="273052"/>
            <a:ext cx="5750718" cy="5853114"/>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514355" y="1435102"/>
            <a:ext cx="3384352" cy="4691062"/>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E4ECAA-2B71-4DBD-B6F6-516935394A84}" type="datetime1">
              <a:rPr lang="vi-VN" smtClean="0"/>
              <a:t>08/05/2015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33817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324" y="4800601"/>
            <a:ext cx="6172200" cy="566738"/>
          </a:xfrm>
        </p:spPr>
        <p:txBody>
          <a:bodyPr anchor="b"/>
          <a:lstStyle>
            <a:lvl1pPr algn="l">
              <a:defRPr sz="2300" b="1"/>
            </a:lvl1pPr>
          </a:lstStyle>
          <a:p>
            <a:r>
              <a:rPr lang="en-US" smtClean="0"/>
              <a:t>Click to edit Master title style</a:t>
            </a:r>
            <a:endParaRPr lang="vi-VN"/>
          </a:p>
        </p:txBody>
      </p:sp>
      <p:sp>
        <p:nvSpPr>
          <p:cNvPr id="3" name="Picture Placeholder 2"/>
          <p:cNvSpPr>
            <a:spLocks noGrp="1"/>
          </p:cNvSpPr>
          <p:nvPr>
            <p:ph type="pic" idx="1"/>
          </p:nvPr>
        </p:nvSpPr>
        <p:spPr>
          <a:xfrm>
            <a:off x="2016324" y="612775"/>
            <a:ext cx="6172200" cy="4114800"/>
          </a:xfrm>
        </p:spPr>
        <p:txBody>
          <a:bodyPr/>
          <a:lstStyle>
            <a:lvl1pPr marL="0" indent="0">
              <a:buNone/>
              <a:defRPr sz="3600"/>
            </a:lvl1pPr>
            <a:lvl2pPr marL="520522" indent="0">
              <a:buNone/>
              <a:defRPr sz="3200"/>
            </a:lvl2pPr>
            <a:lvl3pPr marL="1041044" indent="0">
              <a:buNone/>
              <a:defRPr sz="2700"/>
            </a:lvl3pPr>
            <a:lvl4pPr marL="1561567" indent="0">
              <a:buNone/>
              <a:defRPr sz="2300"/>
            </a:lvl4pPr>
            <a:lvl5pPr marL="2082089" indent="0">
              <a:buNone/>
              <a:defRPr sz="2300"/>
            </a:lvl5pPr>
            <a:lvl6pPr marL="2602611" indent="0">
              <a:buNone/>
              <a:defRPr sz="2300"/>
            </a:lvl6pPr>
            <a:lvl7pPr marL="3123133" indent="0">
              <a:buNone/>
              <a:defRPr sz="2300"/>
            </a:lvl7pPr>
            <a:lvl8pPr marL="3643655" indent="0">
              <a:buNone/>
              <a:defRPr sz="2300"/>
            </a:lvl8pPr>
            <a:lvl9pPr marL="4164178" indent="0">
              <a:buNone/>
              <a:defRPr sz="2300"/>
            </a:lvl9pPr>
          </a:lstStyle>
          <a:p>
            <a:endParaRPr lang="vi-VN"/>
          </a:p>
        </p:txBody>
      </p:sp>
      <p:sp>
        <p:nvSpPr>
          <p:cNvPr id="4" name="Text Placeholder 3"/>
          <p:cNvSpPr>
            <a:spLocks noGrp="1"/>
          </p:cNvSpPr>
          <p:nvPr>
            <p:ph type="body" sz="half" idx="2"/>
          </p:nvPr>
        </p:nvSpPr>
        <p:spPr>
          <a:xfrm>
            <a:off x="2016324" y="5367341"/>
            <a:ext cx="6172200" cy="804863"/>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922D38-52F4-4CE8-B612-A0183E7BB4FA}" type="datetime1">
              <a:rPr lang="vi-VN" smtClean="0"/>
              <a:t>08/05/2015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6282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D1B7337-33BE-4CEB-929A-F70E3D8A92E3}"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3649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8075" y="274639"/>
            <a:ext cx="2314575" cy="5851526"/>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514350" y="274639"/>
            <a:ext cx="6772275" cy="585152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DB2FD150-B1FB-4C8E-A2A2-B559A2168736}"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17851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274641"/>
            <a:ext cx="9258300" cy="1143001"/>
          </a:xfrm>
          <a:prstGeom prst="rect">
            <a:avLst/>
          </a:prstGeom>
        </p:spPr>
        <p:txBody>
          <a:bodyPr vert="horz" lIns="104104" tIns="52052" rIns="104104" bIns="52052" rtlCol="0" anchor="ctr">
            <a:normAutofit/>
          </a:bodyPr>
          <a:lstStyle/>
          <a:p>
            <a:r>
              <a:rPr lang="en-US" smtClean="0"/>
              <a:t>Click to edit Master title style</a:t>
            </a:r>
            <a:endParaRPr lang="vi-VN"/>
          </a:p>
        </p:txBody>
      </p:sp>
      <p:sp>
        <p:nvSpPr>
          <p:cNvPr id="3" name="Text Placeholder 2"/>
          <p:cNvSpPr>
            <a:spLocks noGrp="1"/>
          </p:cNvSpPr>
          <p:nvPr>
            <p:ph type="body" idx="1"/>
          </p:nvPr>
        </p:nvSpPr>
        <p:spPr>
          <a:xfrm>
            <a:off x="514350" y="1600204"/>
            <a:ext cx="9258300" cy="4525963"/>
          </a:xfrm>
          <a:prstGeom prst="rect">
            <a:avLst/>
          </a:prstGeom>
        </p:spPr>
        <p:txBody>
          <a:bodyPr vert="horz" lIns="104104" tIns="52052" rIns="104104" bIns="5205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2"/>
          </p:nvPr>
        </p:nvSpPr>
        <p:spPr>
          <a:xfrm>
            <a:off x="514350" y="6356353"/>
            <a:ext cx="2400300" cy="365125"/>
          </a:xfrm>
          <a:prstGeom prst="rect">
            <a:avLst/>
          </a:prstGeom>
        </p:spPr>
        <p:txBody>
          <a:bodyPr vert="horz" lIns="104104" tIns="52052" rIns="104104" bIns="52052" rtlCol="0" anchor="ctr"/>
          <a:lstStyle>
            <a:lvl1pPr algn="l">
              <a:defRPr sz="1400">
                <a:solidFill>
                  <a:schemeClr val="tx1">
                    <a:tint val="75000"/>
                  </a:schemeClr>
                </a:solidFill>
              </a:defRPr>
            </a:lvl1pPr>
          </a:lstStyle>
          <a:p>
            <a:fld id="{84FABED4-1AAC-45BE-A710-67DA055BC055}" type="datetime1">
              <a:rPr lang="vi-VN" smtClean="0"/>
              <a:t>08/05/2015</a:t>
            </a:fld>
            <a:endParaRPr lang="vi-VN"/>
          </a:p>
        </p:txBody>
      </p:sp>
      <p:sp>
        <p:nvSpPr>
          <p:cNvPr id="5" name="Footer Placeholder 4"/>
          <p:cNvSpPr>
            <a:spLocks noGrp="1"/>
          </p:cNvSpPr>
          <p:nvPr>
            <p:ph type="ftr" sz="quarter" idx="3"/>
          </p:nvPr>
        </p:nvSpPr>
        <p:spPr>
          <a:xfrm>
            <a:off x="3514725" y="6356353"/>
            <a:ext cx="3257550" cy="365125"/>
          </a:xfrm>
          <a:prstGeom prst="rect">
            <a:avLst/>
          </a:prstGeom>
        </p:spPr>
        <p:txBody>
          <a:bodyPr vert="horz" lIns="104104" tIns="52052" rIns="104104" bIns="52052" rtlCol="0" anchor="ctr"/>
          <a:lstStyle>
            <a:lvl1pPr algn="ctr">
              <a:defRPr sz="14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7372350" y="6356353"/>
            <a:ext cx="2400300" cy="365125"/>
          </a:xfrm>
          <a:prstGeom prst="rect">
            <a:avLst/>
          </a:prstGeom>
        </p:spPr>
        <p:txBody>
          <a:bodyPr vert="horz" lIns="104104" tIns="52052" rIns="104104" bIns="52052" rtlCol="0" anchor="ctr"/>
          <a:lstStyle>
            <a:lvl1pPr algn="r">
              <a:defRPr sz="1400">
                <a:solidFill>
                  <a:schemeClr val="tx1">
                    <a:tint val="75000"/>
                  </a:schemeClr>
                </a:solidFil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72794710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1041044" rtl="0" eaLnBrk="1" latinLnBrk="0" hangingPunct="1">
        <a:spcBef>
          <a:spcPct val="0"/>
        </a:spcBef>
        <a:buNone/>
        <a:defRPr sz="5000" kern="1200">
          <a:solidFill>
            <a:schemeClr val="tx1"/>
          </a:solidFill>
          <a:latin typeface="+mj-lt"/>
          <a:ea typeface="+mj-ea"/>
          <a:cs typeface="+mj-cs"/>
        </a:defRPr>
      </a:lvl1pPr>
    </p:titleStyle>
    <p:body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6"/>
          <p:cNvSpPr txBox="1">
            <a:spLocks/>
          </p:cNvSpPr>
          <p:nvPr/>
        </p:nvSpPr>
        <p:spPr>
          <a:xfrm>
            <a:off x="318964" y="476672"/>
            <a:ext cx="9361040" cy="864096"/>
          </a:xfrm>
          <a:prstGeom prst="rect">
            <a:avLst/>
          </a:prstGeom>
        </p:spPr>
        <p:txBody>
          <a:bodyPr vert="horz" lIns="104104" tIns="52052" rIns="104104" bIns="52052" rtlCol="0">
            <a:normAutofit/>
          </a:bodyPr>
          <a:lstStyle>
            <a:lvl1pPr marL="0" indent="0" algn="ctr" defTabSz="1041044" rtl="0" eaLnBrk="1" latinLnBrk="0" hangingPunct="1">
              <a:spcBef>
                <a:spcPct val="20000"/>
              </a:spcBef>
              <a:buFont typeface="Arial" pitchFamily="34" charset="0"/>
              <a:buNone/>
              <a:defRPr sz="3600" kern="1200">
                <a:solidFill>
                  <a:schemeClr val="tx1">
                    <a:tint val="75000"/>
                  </a:schemeClr>
                </a:solidFill>
                <a:latin typeface="+mn-lt"/>
                <a:ea typeface="+mn-ea"/>
                <a:cs typeface="+mn-cs"/>
              </a:defRPr>
            </a:lvl1pPr>
            <a:lvl2pPr marL="520522" indent="0" algn="ctr" defTabSz="1041044"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2pPr>
            <a:lvl3pPr marL="1041044" indent="0" algn="ctr" defTabSz="1041044"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3pPr>
            <a:lvl4pPr marL="1561567"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4pPr>
            <a:lvl5pPr marL="2082089"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5pPr>
            <a:lvl6pPr marL="2602611"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6pPr>
            <a:lvl7pPr marL="3123133"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7pPr>
            <a:lvl8pPr marL="3643655"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8pPr>
            <a:lvl9pPr marL="4164178"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9pPr>
          </a:lstStyle>
          <a:p>
            <a:endParaRPr lang="en-US" sz="2000" b="1" smtClean="0">
              <a:solidFill>
                <a:schemeClr val="accent6">
                  <a:lumMod val="75000"/>
                </a:schemeClr>
              </a:solidFill>
            </a:endParaRPr>
          </a:p>
          <a:p>
            <a:r>
              <a:rPr lang="en-US" sz="2000" b="1" smtClean="0">
                <a:solidFill>
                  <a:schemeClr val="accent1">
                    <a:lumMod val="75000"/>
                  </a:schemeClr>
                </a:solidFill>
              </a:rPr>
              <a:t>PHÁT TRIỂN HỆ THỐNG THÔNG TIN KINH TẾ</a:t>
            </a:r>
            <a:endParaRPr lang="vi-VN" sz="2000" b="1">
              <a:solidFill>
                <a:schemeClr val="accent1">
                  <a:lumMod val="75000"/>
                </a:schemeClr>
              </a:solidFill>
            </a:endParaRPr>
          </a:p>
        </p:txBody>
      </p:sp>
      <p:pic>
        <p:nvPicPr>
          <p:cNvPr id="1026" name="Picture 2" descr="C:\Users\LAMNHUNG\Desktop\LogoMI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350" y="188640"/>
            <a:ext cx="1682798" cy="1478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 12"/>
          <p:cNvGraphicFramePr/>
          <p:nvPr>
            <p:extLst>
              <p:ext uri="{D42A27DB-BD31-4B8C-83A1-F6EECF244321}">
                <p14:modId xmlns:p14="http://schemas.microsoft.com/office/powerpoint/2010/main" val="2732610723"/>
              </p:ext>
            </p:extLst>
          </p:nvPr>
        </p:nvGraphicFramePr>
        <p:xfrm>
          <a:off x="823020" y="2420888"/>
          <a:ext cx="8208912" cy="10801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6" name="Straight Connector 15"/>
          <p:cNvCxnSpPr/>
          <p:nvPr/>
        </p:nvCxnSpPr>
        <p:spPr>
          <a:xfrm>
            <a:off x="1586533" y="2420888"/>
            <a:ext cx="0" cy="3456384"/>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87116" y="3251027"/>
            <a:ext cx="8208912" cy="1379865"/>
          </a:xfrm>
          <a:prstGeom prst="rect">
            <a:avLst/>
          </a:prstGeom>
          <a:noFill/>
          <a:effectLst/>
        </p:spPr>
        <p:txBody>
          <a:bodyPr wrap="square" rtlCol="0">
            <a:spAutoFit/>
          </a:bodyPr>
          <a:lstStyle/>
          <a:p>
            <a:pPr algn="just">
              <a:spcAft>
                <a:spcPts val="683"/>
              </a:spcAft>
              <a:buClr>
                <a:srgbClr val="FF0066"/>
              </a:buClr>
              <a:buFont typeface="Symbol" pitchFamily="18" charset="2"/>
              <a:buChar char="¨"/>
            </a:pPr>
            <a:r>
              <a:rPr lang="en-US" sz="2400">
                <a:solidFill>
                  <a:schemeClr val="accent2">
                    <a:lumMod val="50000"/>
                  </a:schemeClr>
                </a:solidFill>
                <a:cs typeface="Arial" pitchFamily="34" charset="0"/>
              </a:rPr>
              <a:t>Chương 8: Kiểm thử hệ thống</a:t>
            </a:r>
          </a:p>
          <a:p>
            <a:pPr algn="just">
              <a:spcAft>
                <a:spcPts val="683"/>
              </a:spcAft>
              <a:buClr>
                <a:srgbClr val="FF0066"/>
              </a:buClr>
              <a:buFont typeface="Symbol" pitchFamily="18" charset="2"/>
              <a:buChar char="¨"/>
            </a:pPr>
            <a:r>
              <a:rPr lang="en-US" sz="2400" b="1">
                <a:solidFill>
                  <a:srgbClr val="FF0066"/>
                </a:solidFill>
                <a:cs typeface="Arial" pitchFamily="34" charset="0"/>
              </a:rPr>
              <a:t>Chương 9: Cài đặt hệ thống</a:t>
            </a:r>
          </a:p>
          <a:p>
            <a:pPr algn="just">
              <a:spcAft>
                <a:spcPts val="683"/>
              </a:spcAft>
              <a:buClr>
                <a:srgbClr val="FF0066"/>
              </a:buClr>
              <a:buFont typeface="Symbol" pitchFamily="18" charset="2"/>
              <a:buChar char="¨"/>
            </a:pPr>
            <a:r>
              <a:rPr lang="en-US" sz="2400" smtClean="0">
                <a:solidFill>
                  <a:schemeClr val="accent2">
                    <a:lumMod val="50000"/>
                  </a:schemeClr>
                </a:solidFill>
                <a:cs typeface="Arial" pitchFamily="34" charset="0"/>
              </a:rPr>
              <a:t>Chương 10: Bảo trì hệ thống</a:t>
            </a:r>
          </a:p>
        </p:txBody>
      </p:sp>
    </p:spTree>
    <p:extLst>
      <p:ext uri="{BB962C8B-B14F-4D97-AF65-F5344CB8AC3E}">
        <p14:creationId xmlns:p14="http://schemas.microsoft.com/office/powerpoint/2010/main" val="3821289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978" y="130623"/>
            <a:ext cx="9842022" cy="778099"/>
          </a:xfrm>
          <a:solidFill>
            <a:schemeClr val="bg2"/>
          </a:solidFill>
        </p:spPr>
        <p:txBody>
          <a:bodyPr>
            <a:normAutofit/>
          </a:bodyPr>
          <a:lstStyle/>
          <a:p>
            <a:pPr algn="just"/>
            <a:r>
              <a:rPr lang="en-US" sz="2800">
                <a:solidFill>
                  <a:schemeClr val="accent6">
                    <a:lumMod val="75000"/>
                  </a:schemeClr>
                </a:solidFill>
                <a:latin typeface="Arial" pitchFamily="34" charset="0"/>
                <a:cs typeface="Arial" pitchFamily="34" charset="0"/>
              </a:rPr>
              <a:t>Chương </a:t>
            </a:r>
            <a:r>
              <a:rPr lang="en-US" sz="2800" smtClean="0">
                <a:solidFill>
                  <a:schemeClr val="accent6">
                    <a:lumMod val="75000"/>
                  </a:schemeClr>
                </a:solidFill>
                <a:latin typeface="Arial" pitchFamily="34" charset="0"/>
                <a:cs typeface="Arial" pitchFamily="34" charset="0"/>
              </a:rPr>
              <a:t>9: Cài đặt hệ thống</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444980" y="1039523"/>
            <a:ext cx="9408681" cy="5044452"/>
          </a:xfrm>
        </p:spPr>
        <p:txBody>
          <a:bodyPr>
            <a:normAutofit/>
          </a:bodyPr>
          <a:lstStyle/>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Các phương pháp cài đặt hệ thống</a:t>
            </a:r>
          </a:p>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Tài liệu người dùng</a:t>
            </a:r>
          </a:p>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Huấn luyện và hỗ trợ người dùng</a:t>
            </a:r>
          </a:p>
          <a:p>
            <a:pPr marL="0" indent="0" algn="just">
              <a:spcAft>
                <a:spcPts val="683"/>
              </a:spcAft>
              <a:buClr>
                <a:srgbClr val="FF0066"/>
              </a:buClr>
              <a:buNone/>
            </a:pPr>
            <a:endParaRPr lang="vi-VN"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Tree>
    <p:extLst>
      <p:ext uri="{BB962C8B-B14F-4D97-AF65-F5344CB8AC3E}">
        <p14:creationId xmlns:p14="http://schemas.microsoft.com/office/powerpoint/2010/main" val="488066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87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a:t>
            </a:r>
            <a:r>
              <a:rPr lang="en-US" sz="1600" b="1" smtClean="0">
                <a:solidFill>
                  <a:schemeClr val="accent6">
                    <a:lumMod val="75000"/>
                  </a:schemeClr>
                </a:solidFill>
                <a:latin typeface="Calibri (Body)"/>
                <a:cs typeface="Arial" pitchFamily="34" charset="0"/>
              </a:rPr>
              <a:t>. Các phương pháp cài đặt hệ thống</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a:t>
            </a:r>
            <a:r>
              <a:rPr lang="en-US" sz="1600">
                <a:solidFill>
                  <a:schemeClr val="accent1">
                    <a:lumMod val="75000"/>
                  </a:schemeClr>
                </a:solidFill>
                <a:latin typeface="Calibri" pitchFamily="34" charset="0"/>
                <a:cs typeface="Calibri" pitchFamily="34" charset="0"/>
              </a:rPr>
              <a:t>. </a:t>
            </a:r>
            <a:r>
              <a:rPr lang="vi-VN" sz="1600">
                <a:solidFill>
                  <a:schemeClr val="accent1">
                    <a:lumMod val="75000"/>
                  </a:schemeClr>
                </a:solidFill>
                <a:latin typeface="Calibri" pitchFamily="34" charset="0"/>
                <a:cs typeface="Calibri" pitchFamily="34" charset="0"/>
              </a:rPr>
              <a:t>Tài liệu người dùng</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lnSpcReduction="10000"/>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Cài đặt </a:t>
            </a:r>
            <a:r>
              <a:rPr lang="vi-VN" sz="2400">
                <a:solidFill>
                  <a:schemeClr val="accent2">
                    <a:lumMod val="50000"/>
                  </a:schemeClr>
                </a:solidFill>
                <a:latin typeface="Calibri" pitchFamily="34" charset="0"/>
                <a:cs typeface="Calibri" pitchFamily="34" charset="0"/>
              </a:rPr>
              <a:t>hệ thống liên quan đến tất cả các khía cạnh của việc sử dụng hệ thống mới trong môi trường hoạt động của tổ chức, để có thể hỗ trợ tốt nhất cho công việc vận hành hệ thống nhiều công ty sử dụng phương pháp bàn trợ giúp – help desk</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Một </a:t>
            </a:r>
            <a:r>
              <a:rPr lang="vi-VN" sz="2400">
                <a:solidFill>
                  <a:schemeClr val="accent2">
                    <a:lumMod val="50000"/>
                  </a:schemeClr>
                </a:solidFill>
                <a:latin typeface="Calibri" pitchFamily="34" charset="0"/>
                <a:cs typeface="Calibri" pitchFamily="34" charset="0"/>
              </a:rPr>
              <a:t>bàn trợ giúp bao gồm: con người có chuyên môn kỹ thuật, hệ thống máy tính, hướng dẫn sử dụng và các tài nguyên cần thiết khác để giải quyết các vấn đề phát sinh và giải đáp chính xác nhất cho các câu hỏi của người sử dụng</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Có </a:t>
            </a:r>
            <a:r>
              <a:rPr lang="vi-VN" sz="2400">
                <a:solidFill>
                  <a:schemeClr val="accent2">
                    <a:lumMod val="50000"/>
                  </a:schemeClr>
                </a:solidFill>
                <a:latin typeface="Calibri" pitchFamily="34" charset="0"/>
                <a:cs typeface="Calibri" pitchFamily="34" charset="0"/>
              </a:rPr>
              <a:t>nhiều phương pháp vận hành hệ thống như</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811213"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Chuyển </a:t>
            </a:r>
            <a:r>
              <a:rPr lang="vi-VN" sz="2200">
                <a:solidFill>
                  <a:schemeClr val="accent2">
                    <a:lumMod val="50000"/>
                  </a:schemeClr>
                </a:solidFill>
                <a:latin typeface="Calibri" pitchFamily="34" charset="0"/>
                <a:cs typeface="Calibri" pitchFamily="34" charset="0"/>
              </a:rPr>
              <a:t>đổi trực tiếp - </a:t>
            </a:r>
            <a:r>
              <a:rPr lang="vi-VN" sz="2200">
                <a:solidFill>
                  <a:schemeClr val="accent2">
                    <a:lumMod val="50000"/>
                  </a:schemeClr>
                </a:solidFill>
                <a:latin typeface="Calibri" pitchFamily="34" charset="0"/>
                <a:cs typeface="Calibri" pitchFamily="34" charset="0"/>
              </a:rPr>
              <a:t>Direct </a:t>
            </a:r>
            <a:r>
              <a:rPr lang="vi-VN" sz="2200" smtClean="0">
                <a:solidFill>
                  <a:schemeClr val="accent2">
                    <a:lumMod val="50000"/>
                  </a:schemeClr>
                </a:solidFill>
                <a:latin typeface="Calibri" pitchFamily="34" charset="0"/>
                <a:cs typeface="Calibri" pitchFamily="34" charset="0"/>
              </a:rPr>
              <a:t>conversion.</a:t>
            </a:r>
          </a:p>
          <a:p>
            <a:pPr marL="811213"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Tiếp </a:t>
            </a:r>
            <a:r>
              <a:rPr lang="vi-VN" sz="2200">
                <a:solidFill>
                  <a:schemeClr val="accent2">
                    <a:lumMod val="50000"/>
                  </a:schemeClr>
                </a:solidFill>
                <a:latin typeface="Calibri" pitchFamily="34" charset="0"/>
                <a:cs typeface="Calibri" pitchFamily="34" charset="0"/>
              </a:rPr>
              <a:t>cận từng phần - The phase </a:t>
            </a:r>
            <a:r>
              <a:rPr lang="vi-VN" sz="2200">
                <a:solidFill>
                  <a:schemeClr val="accent2">
                    <a:lumMod val="50000"/>
                  </a:schemeClr>
                </a:solidFill>
                <a:latin typeface="Calibri" pitchFamily="34" charset="0"/>
                <a:cs typeface="Calibri" pitchFamily="34" charset="0"/>
              </a:rPr>
              <a:t>in </a:t>
            </a:r>
            <a:r>
              <a:rPr lang="vi-VN" sz="2200" smtClean="0">
                <a:solidFill>
                  <a:schemeClr val="accent2">
                    <a:lumMod val="50000"/>
                  </a:schemeClr>
                </a:solidFill>
                <a:latin typeface="Calibri" pitchFamily="34" charset="0"/>
                <a:cs typeface="Calibri" pitchFamily="34" charset="0"/>
              </a:rPr>
              <a:t>approach.</a:t>
            </a:r>
          </a:p>
          <a:p>
            <a:pPr marL="811213"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Khởi </a:t>
            </a:r>
            <a:r>
              <a:rPr lang="vi-VN" sz="2200">
                <a:solidFill>
                  <a:schemeClr val="accent2">
                    <a:lumMod val="50000"/>
                  </a:schemeClr>
                </a:solidFill>
                <a:latin typeface="Calibri" pitchFamily="34" charset="0"/>
                <a:cs typeface="Calibri" pitchFamily="34" charset="0"/>
              </a:rPr>
              <a:t>động thử nghiệm - Pilot </a:t>
            </a:r>
            <a:r>
              <a:rPr lang="vi-VN" sz="2200">
                <a:solidFill>
                  <a:schemeClr val="accent2">
                    <a:lumMod val="50000"/>
                  </a:schemeClr>
                </a:solidFill>
                <a:latin typeface="Calibri" pitchFamily="34" charset="0"/>
                <a:cs typeface="Calibri" pitchFamily="34" charset="0"/>
              </a:rPr>
              <a:t>start </a:t>
            </a:r>
            <a:r>
              <a:rPr lang="vi-VN" sz="2200" smtClean="0">
                <a:solidFill>
                  <a:schemeClr val="accent2">
                    <a:lumMod val="50000"/>
                  </a:schemeClr>
                </a:solidFill>
                <a:latin typeface="Calibri" pitchFamily="34" charset="0"/>
                <a:cs typeface="Calibri" pitchFamily="34" charset="0"/>
              </a:rPr>
              <a:t>up.</a:t>
            </a:r>
          </a:p>
          <a:p>
            <a:pPr marL="811213"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Khởi </a:t>
            </a:r>
            <a:r>
              <a:rPr lang="vi-VN" sz="2200">
                <a:solidFill>
                  <a:schemeClr val="accent2">
                    <a:lumMod val="50000"/>
                  </a:schemeClr>
                </a:solidFill>
                <a:latin typeface="Calibri" pitchFamily="34" charset="0"/>
                <a:cs typeface="Calibri" pitchFamily="34" charset="0"/>
              </a:rPr>
              <a:t>động song song - Parallel start up.</a:t>
            </a:r>
          </a:p>
          <a:p>
            <a:pPr marL="1318879" lvl="3" indent="-342900" algn="just">
              <a:spcAft>
                <a:spcPts val="683"/>
              </a:spcAft>
              <a:buClr>
                <a:srgbClr val="FF0066"/>
              </a:buClr>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Tree>
    <p:extLst>
      <p:ext uri="{BB962C8B-B14F-4D97-AF65-F5344CB8AC3E}">
        <p14:creationId xmlns:p14="http://schemas.microsoft.com/office/powerpoint/2010/main" val="38872771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a:t>
            </a:r>
            <a:r>
              <a:rPr lang="en-US" sz="1600" b="1" smtClean="0">
                <a:solidFill>
                  <a:schemeClr val="accent6">
                    <a:lumMod val="75000"/>
                  </a:schemeClr>
                </a:solidFill>
                <a:latin typeface="Calibri (Body)"/>
                <a:cs typeface="Arial" pitchFamily="34" charset="0"/>
              </a:rPr>
              <a:t>. Các phương pháp cài đặt hệ thống</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a:t>
            </a:r>
            <a:r>
              <a:rPr lang="en-US" sz="1600">
                <a:solidFill>
                  <a:schemeClr val="accent1">
                    <a:lumMod val="75000"/>
                  </a:schemeClr>
                </a:solidFill>
                <a:latin typeface="Calibri" pitchFamily="34" charset="0"/>
                <a:cs typeface="Calibri" pitchFamily="34" charset="0"/>
              </a:rPr>
              <a:t>. </a:t>
            </a:r>
            <a:r>
              <a:rPr lang="vi-VN" sz="1600">
                <a:solidFill>
                  <a:schemeClr val="accent1">
                    <a:lumMod val="75000"/>
                  </a:schemeClr>
                </a:solidFill>
                <a:latin typeface="Calibri" pitchFamily="34" charset="0"/>
                <a:cs typeface="Calibri" pitchFamily="34" charset="0"/>
              </a:rPr>
              <a:t>Tài liệu người dùng</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Phương </a:t>
            </a:r>
            <a:r>
              <a:rPr lang="vi-VN" sz="2400">
                <a:solidFill>
                  <a:schemeClr val="accent2">
                    <a:lumMod val="50000"/>
                  </a:schemeClr>
                </a:solidFill>
                <a:latin typeface="Calibri" pitchFamily="34" charset="0"/>
                <a:cs typeface="Calibri" pitchFamily="34" charset="0"/>
              </a:rPr>
              <a:t>pháp này thay thế hoàn toàn hệ thống cũ bằng hệ thống mới, tuy nhiên điều này sẽ gây ra những rủi ro nhất định nếu hệ thống mới vận hành không được thuận lợi.</a:t>
            </a:r>
          </a:p>
          <a:p>
            <a:pPr marL="360363" lvl="1" indent="-360363" algn="just">
              <a:spcAft>
                <a:spcPts val="683"/>
              </a:spcAft>
              <a:buClr>
                <a:srgbClr val="FF0066"/>
              </a:buClr>
              <a:buFont typeface="Symbol" pitchFamily="18" charset="2"/>
              <a:buChar char="¨"/>
            </a:pPr>
            <a:endParaRPr lang="vi-VN" sz="2400" smtClean="0">
              <a:solidFill>
                <a:schemeClr val="accent2">
                  <a:lumMod val="50000"/>
                </a:schemeClr>
              </a:solidFill>
              <a:latin typeface="Calibri" pitchFamily="34" charset="0"/>
              <a:cs typeface="Calibri" pitchFamily="34" charset="0"/>
            </a:endParaRPr>
          </a:p>
          <a:p>
            <a:pPr marL="975979" lvl="3" indent="0" algn="just">
              <a:spcAft>
                <a:spcPts val="683"/>
              </a:spcAft>
              <a:buClr>
                <a:srgbClr val="FF0066"/>
              </a:buClr>
              <a:buNone/>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4</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smtClean="0">
                <a:solidFill>
                  <a:schemeClr val="accent6">
                    <a:lumMod val="75000"/>
                  </a:schemeClr>
                </a:solidFill>
                <a:ea typeface="+mj-ea"/>
                <a:cs typeface="Arial" pitchFamily="34" charset="0"/>
              </a:rPr>
              <a:t>. Chuyển đổi trực tiếp </a:t>
            </a:r>
            <a:endParaRPr lang="en-US"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a:t>
            </a:r>
            <a:r>
              <a:rPr lang="en-US" sz="1600" smtClean="0">
                <a:solidFill>
                  <a:schemeClr val="tx2"/>
                </a:solidFill>
                <a:ea typeface="+mj-ea"/>
                <a:cs typeface="Arial" pitchFamily="34" charset="0"/>
              </a:rPr>
              <a:t>Tiếp cận từng phần</a:t>
            </a:r>
            <a:endParaRPr lang="en-US" sz="1600" smtClean="0">
              <a:solidFill>
                <a:schemeClr val="tx2"/>
              </a:solidFill>
              <a:ea typeface="+mj-ea"/>
              <a:cs typeface="Arial" pitchFamily="34" charset="0"/>
            </a:endParaRPr>
          </a:p>
          <a:p>
            <a:pPr marL="0" lvl="1"/>
            <a:r>
              <a:rPr lang="en-US" sz="1600" smtClean="0">
                <a:solidFill>
                  <a:schemeClr val="tx2"/>
                </a:solidFill>
                <a:ea typeface="+mj-ea"/>
                <a:cs typeface="Arial" pitchFamily="34" charset="0"/>
              </a:rPr>
              <a:t>3. </a:t>
            </a:r>
            <a:r>
              <a:rPr lang="en-US" sz="1600" smtClean="0">
                <a:solidFill>
                  <a:schemeClr val="tx2"/>
                </a:solidFill>
                <a:ea typeface="+mj-ea"/>
                <a:cs typeface="Arial" pitchFamily="34" charset="0"/>
              </a:rPr>
              <a:t>Khởi động thử nghiệm</a:t>
            </a:r>
          </a:p>
          <a:p>
            <a:pPr marL="0" lvl="1"/>
            <a:r>
              <a:rPr lang="en-US" sz="1600" smtClean="0">
                <a:solidFill>
                  <a:schemeClr val="tx2"/>
                </a:solidFill>
                <a:ea typeface="+mj-ea"/>
                <a:cs typeface="Arial" pitchFamily="34" charset="0"/>
              </a:rPr>
              <a:t>4. Khởi động song song</a:t>
            </a:r>
            <a:endParaRPr lang="en-US" sz="1600" smtClean="0">
              <a:solidFill>
                <a:schemeClr val="tx2"/>
              </a:solidFill>
              <a:ea typeface="+mj-ea"/>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1737" y="2708920"/>
            <a:ext cx="5756522" cy="1858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03084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a:t>
            </a:r>
            <a:r>
              <a:rPr lang="en-US" sz="1600" b="1" smtClean="0">
                <a:solidFill>
                  <a:schemeClr val="accent6">
                    <a:lumMod val="75000"/>
                  </a:schemeClr>
                </a:solidFill>
                <a:latin typeface="Calibri (Body)"/>
                <a:cs typeface="Arial" pitchFamily="34" charset="0"/>
              </a:rPr>
              <a:t>. Các phương pháp cài đặt hệ thống</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a:t>
            </a:r>
            <a:r>
              <a:rPr lang="en-US" sz="1600">
                <a:solidFill>
                  <a:schemeClr val="accent1">
                    <a:lumMod val="75000"/>
                  </a:schemeClr>
                </a:solidFill>
                <a:latin typeface="Calibri" pitchFamily="34" charset="0"/>
                <a:cs typeface="Calibri" pitchFamily="34" charset="0"/>
              </a:rPr>
              <a:t>. </a:t>
            </a:r>
            <a:r>
              <a:rPr lang="vi-VN" sz="1600">
                <a:solidFill>
                  <a:schemeClr val="accent1">
                    <a:lumMod val="75000"/>
                  </a:schemeClr>
                </a:solidFill>
                <a:latin typeface="Calibri" pitchFamily="34" charset="0"/>
                <a:cs typeface="Calibri" pitchFamily="34" charset="0"/>
              </a:rPr>
              <a:t>Tài liệu người dùng</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a:solidFill>
                  <a:schemeClr val="accent2">
                    <a:lumMod val="50000"/>
                  </a:schemeClr>
                </a:solidFill>
                <a:latin typeface="Calibri" pitchFamily="34" charset="0"/>
                <a:cs typeface="Calibri" pitchFamily="34" charset="0"/>
              </a:rPr>
              <a:t>Đ</a:t>
            </a:r>
            <a:r>
              <a:rPr lang="vi-VN" sz="2400" smtClean="0">
                <a:solidFill>
                  <a:schemeClr val="accent2">
                    <a:lumMod val="50000"/>
                  </a:schemeClr>
                </a:solidFill>
                <a:latin typeface="Calibri" pitchFamily="34" charset="0"/>
                <a:cs typeface="Calibri" pitchFamily="34" charset="0"/>
              </a:rPr>
              <a:t>ây </a:t>
            </a:r>
            <a:r>
              <a:rPr lang="vi-VN" sz="2400">
                <a:solidFill>
                  <a:schemeClr val="accent2">
                    <a:lumMod val="50000"/>
                  </a:schemeClr>
                </a:solidFill>
                <a:latin typeface="Calibri" pitchFamily="34" charset="0"/>
                <a:cs typeface="Calibri" pitchFamily="34" charset="0"/>
              </a:rPr>
              <a:t>là phương pháp phổ biến được nhiều tổ chức </a:t>
            </a:r>
            <a:r>
              <a:rPr lang="vi-VN" sz="2400">
                <a:solidFill>
                  <a:schemeClr val="accent2">
                    <a:lumMod val="50000"/>
                  </a:schemeClr>
                </a:solidFill>
                <a:latin typeface="Calibri" pitchFamily="34" charset="0"/>
                <a:cs typeface="Calibri" pitchFamily="34" charset="0"/>
              </a:rPr>
              <a:t>áp </a:t>
            </a:r>
            <a:r>
              <a:rPr lang="vi-VN" sz="2400" smtClean="0">
                <a:solidFill>
                  <a:schemeClr val="accent2">
                    <a:lumMod val="50000"/>
                  </a:schemeClr>
                </a:solidFill>
                <a:latin typeface="Calibri" pitchFamily="34" charset="0"/>
                <a:cs typeface="Calibri" pitchFamily="34" charset="0"/>
              </a:rPr>
              <a:t>dụng.</a:t>
            </a: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Theo phương </a:t>
            </a:r>
            <a:r>
              <a:rPr lang="vi-VN" sz="2400">
                <a:solidFill>
                  <a:schemeClr val="accent2">
                    <a:lumMod val="50000"/>
                  </a:schemeClr>
                </a:solidFill>
                <a:latin typeface="Calibri" pitchFamily="34" charset="0"/>
                <a:cs typeface="Calibri" pitchFamily="34" charset="0"/>
              </a:rPr>
              <a:t>pháp này các thành phần của hệ thống mới được đưa vào hoạt động từ từ theo từng giai đoạn, trong khi các thành phần của hệ thống cũ được loại bỏ dần dần</a:t>
            </a:r>
            <a:r>
              <a:rPr lang="vi-VN" sz="2400">
                <a:solidFill>
                  <a:schemeClr val="accent2">
                    <a:lumMod val="50000"/>
                  </a:schemeClr>
                </a:solidFill>
                <a:latin typeface="Calibri" pitchFamily="34" charset="0"/>
                <a:cs typeface="Calibri" pitchFamily="34" charset="0"/>
              </a:rPr>
              <a:t>. </a:t>
            </a:r>
            <a:r>
              <a:rPr lang="vi-VN" sz="2400" smtClean="0">
                <a:solidFill>
                  <a:schemeClr val="accent2">
                    <a:lumMod val="50000"/>
                  </a:schemeClr>
                </a:solidFill>
                <a:latin typeface="Calibri" pitchFamily="34" charset="0"/>
                <a:cs typeface="Calibri" pitchFamily="34" charset="0"/>
              </a:rPr>
              <a:t>Khi </a:t>
            </a:r>
            <a:r>
              <a:rPr lang="vi-VN" sz="2400">
                <a:solidFill>
                  <a:schemeClr val="accent2">
                    <a:lumMod val="50000"/>
                  </a:schemeClr>
                </a:solidFill>
                <a:latin typeface="Calibri" pitchFamily="34" charset="0"/>
                <a:cs typeface="Calibri" pitchFamily="34" charset="0"/>
              </a:rPr>
              <a:t>tất cả mọi người tin tưởng rằng hệ thống mới đã được thực hiện như dự kiến thì hệ thống cũ sẽ bị loại bỏ hoàn toàn</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Trong </a:t>
            </a:r>
            <a:r>
              <a:rPr lang="vi-VN" sz="2400">
                <a:solidFill>
                  <a:schemeClr val="accent2">
                    <a:lumMod val="50000"/>
                  </a:schemeClr>
                </a:solidFill>
                <a:latin typeface="Calibri" pitchFamily="34" charset="0"/>
                <a:cs typeface="Calibri" pitchFamily="34" charset="0"/>
              </a:rPr>
              <a:t>một số trường hợp, việc tiếp cận từng phần có thể mất vài tháng hoặc vài năm.</a:t>
            </a:r>
          </a:p>
          <a:p>
            <a:pPr marL="360363" lvl="1" indent="-360363" algn="just">
              <a:spcAft>
                <a:spcPts val="683"/>
              </a:spcAft>
              <a:buClr>
                <a:srgbClr val="FF0066"/>
              </a:buClr>
              <a:buFont typeface="Symbol" pitchFamily="18" charset="2"/>
              <a:buChar char="¨"/>
            </a:pPr>
            <a:endParaRPr lang="vi-VN" sz="240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endParaRPr lang="vi-VN" sz="2400" smtClean="0">
              <a:solidFill>
                <a:schemeClr val="accent2">
                  <a:lumMod val="50000"/>
                </a:schemeClr>
              </a:solidFill>
              <a:latin typeface="Calibri" pitchFamily="34" charset="0"/>
              <a:cs typeface="Calibri" pitchFamily="34" charset="0"/>
            </a:endParaRPr>
          </a:p>
          <a:p>
            <a:pPr marL="975979" lvl="3" indent="0" algn="just">
              <a:spcAft>
                <a:spcPts val="683"/>
              </a:spcAft>
              <a:buClr>
                <a:srgbClr val="FF0066"/>
              </a:buClr>
              <a:buNone/>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Chuyển đổi trực tiếp </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Tiếp cận từng phần</a:t>
            </a:r>
          </a:p>
          <a:p>
            <a:pPr marL="0" lvl="1"/>
            <a:r>
              <a:rPr lang="en-US" sz="1600" smtClean="0">
                <a:solidFill>
                  <a:schemeClr val="tx2"/>
                </a:solidFill>
                <a:ea typeface="+mj-ea"/>
                <a:cs typeface="Arial" pitchFamily="34" charset="0"/>
              </a:rPr>
              <a:t>3. </a:t>
            </a:r>
            <a:r>
              <a:rPr lang="en-US" sz="1600" smtClean="0">
                <a:solidFill>
                  <a:schemeClr val="tx2"/>
                </a:solidFill>
                <a:ea typeface="+mj-ea"/>
                <a:cs typeface="Arial" pitchFamily="34" charset="0"/>
              </a:rPr>
              <a:t>Khởi động thử nghiệm</a:t>
            </a:r>
          </a:p>
          <a:p>
            <a:pPr marL="0" lvl="1"/>
            <a:r>
              <a:rPr lang="en-US" sz="1600" smtClean="0">
                <a:solidFill>
                  <a:schemeClr val="tx2"/>
                </a:solidFill>
                <a:ea typeface="+mj-ea"/>
                <a:cs typeface="Arial" pitchFamily="34" charset="0"/>
              </a:rPr>
              <a:t>4. Khởi động song song</a:t>
            </a:r>
            <a:endParaRPr lang="en-US" sz="1600" smtClean="0">
              <a:solidFill>
                <a:schemeClr val="tx2"/>
              </a:solidFill>
              <a:ea typeface="+mj-ea"/>
              <a:cs typeface="Arial"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5268" y="4725144"/>
            <a:ext cx="4612676"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85726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a:t>
            </a:r>
            <a:r>
              <a:rPr lang="en-US" sz="1600" b="1" smtClean="0">
                <a:solidFill>
                  <a:schemeClr val="accent6">
                    <a:lumMod val="75000"/>
                  </a:schemeClr>
                </a:solidFill>
                <a:latin typeface="Calibri (Body)"/>
                <a:cs typeface="Arial" pitchFamily="34" charset="0"/>
              </a:rPr>
              <a:t>. Các phương pháp cài đặt hệ thống</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a:t>
            </a:r>
            <a:r>
              <a:rPr lang="en-US" sz="1600">
                <a:solidFill>
                  <a:schemeClr val="accent1">
                    <a:lumMod val="75000"/>
                  </a:schemeClr>
                </a:solidFill>
                <a:latin typeface="Calibri" pitchFamily="34" charset="0"/>
                <a:cs typeface="Calibri" pitchFamily="34" charset="0"/>
              </a:rPr>
              <a:t>. </a:t>
            </a:r>
            <a:r>
              <a:rPr lang="vi-VN" sz="1600">
                <a:solidFill>
                  <a:schemeClr val="accent1">
                    <a:lumMod val="75000"/>
                  </a:schemeClr>
                </a:solidFill>
                <a:latin typeface="Calibri" pitchFamily="34" charset="0"/>
                <a:cs typeface="Calibri" pitchFamily="34" charset="0"/>
              </a:rPr>
              <a:t>Tài liệu người dùng</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Phương </a:t>
            </a:r>
            <a:r>
              <a:rPr lang="vi-VN" sz="2400">
                <a:solidFill>
                  <a:schemeClr val="accent2">
                    <a:lumMod val="50000"/>
                  </a:schemeClr>
                </a:solidFill>
                <a:latin typeface="Calibri" pitchFamily="34" charset="0"/>
                <a:cs typeface="Calibri" pitchFamily="34" charset="0"/>
              </a:rPr>
              <a:t>pháp này chỉ khởi động hệ thống mới cho một nhóm người sử dụng chứ không phải tất cả người dùng trong tổ chức</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811213"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Ví </a:t>
            </a:r>
            <a:r>
              <a:rPr lang="vi-VN" sz="2200">
                <a:solidFill>
                  <a:schemeClr val="accent2">
                    <a:lumMod val="50000"/>
                  </a:schemeClr>
                </a:solidFill>
                <a:latin typeface="Calibri" pitchFamily="34" charset="0"/>
                <a:cs typeface="Calibri" pitchFamily="34" charset="0"/>
              </a:rPr>
              <a:t>dụ, một công ty sản xuất với nhiều cửa hàng bán lẻ trên khắp đất nước có thể sử dụng phương pháp khởi động thử nghiệm để cài đặt hệ thống kiểm soát hàng tồn kho mới tại một trong những cửa hàng bán lẻ</a:t>
            </a:r>
            <a:r>
              <a:rPr lang="vi-VN" sz="2200">
                <a:solidFill>
                  <a:schemeClr val="accent2">
                    <a:lumMod val="50000"/>
                  </a:schemeClr>
                </a:solidFill>
                <a:latin typeface="Calibri" pitchFamily="34" charset="0"/>
                <a:cs typeface="Calibri" pitchFamily="34" charset="0"/>
              </a:rPr>
              <a:t>. </a:t>
            </a:r>
            <a:endParaRPr lang="vi-VN" sz="2200" smtClean="0">
              <a:solidFill>
                <a:schemeClr val="accent2">
                  <a:lumMod val="50000"/>
                </a:schemeClr>
              </a:solidFill>
              <a:latin typeface="Calibri" pitchFamily="34" charset="0"/>
              <a:cs typeface="Calibri" pitchFamily="34" charset="0"/>
            </a:endParaRPr>
          </a:p>
          <a:p>
            <a:pPr marL="811213"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Khi </a:t>
            </a:r>
            <a:r>
              <a:rPr lang="vi-VN" sz="2200">
                <a:solidFill>
                  <a:schemeClr val="accent2">
                    <a:lumMod val="50000"/>
                  </a:schemeClr>
                </a:solidFill>
                <a:latin typeface="Calibri" pitchFamily="34" charset="0"/>
                <a:cs typeface="Calibri" pitchFamily="34" charset="0"/>
              </a:rPr>
              <a:t>ứng dụng tại cửa hàng bán lẻ này chạy ổn định và không có vấn đề phát sinh thì hệ thống kiểm soát hàng tồn kho mới được thực hiện tại các cửa hàng bán lẻ khác.</a:t>
            </a:r>
          </a:p>
          <a:p>
            <a:pPr marL="360363" lvl="1" indent="-360363" algn="just">
              <a:spcAft>
                <a:spcPts val="683"/>
              </a:spcAft>
              <a:buClr>
                <a:srgbClr val="FF0066"/>
              </a:buClr>
              <a:buFont typeface="Symbol" pitchFamily="18" charset="2"/>
              <a:buChar char="¨"/>
            </a:pPr>
            <a:endParaRPr lang="vi-VN" sz="2400" smtClean="0">
              <a:solidFill>
                <a:schemeClr val="accent2">
                  <a:lumMod val="50000"/>
                </a:schemeClr>
              </a:solidFill>
              <a:latin typeface="Calibri" pitchFamily="34" charset="0"/>
              <a:cs typeface="Calibri" pitchFamily="34" charset="0"/>
            </a:endParaRPr>
          </a:p>
          <a:p>
            <a:pPr marL="975979" lvl="3" indent="0" algn="just">
              <a:spcAft>
                <a:spcPts val="683"/>
              </a:spcAft>
              <a:buClr>
                <a:srgbClr val="FF0066"/>
              </a:buClr>
              <a:buNone/>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Chuyển đổi trực tiếp </a:t>
            </a:r>
            <a:endParaRPr lang="en-US" sz="1600">
              <a:solidFill>
                <a:schemeClr val="tx2"/>
              </a:solidFill>
              <a:ea typeface="+mj-ea"/>
              <a:cs typeface="Arial" pitchFamily="34" charset="0"/>
            </a:endParaRPr>
          </a:p>
          <a:p>
            <a:pPr marL="0" lvl="1"/>
            <a:r>
              <a:rPr lang="en-US" sz="1600">
                <a:solidFill>
                  <a:schemeClr val="tx2"/>
                </a:solidFill>
                <a:ea typeface="+mj-ea"/>
                <a:cs typeface="Arial" pitchFamily="34" charset="0"/>
              </a:rPr>
              <a:t>2. Tiếp cận từng phần</a:t>
            </a:r>
          </a:p>
          <a:p>
            <a:pPr marL="0" lvl="1"/>
            <a:r>
              <a:rPr lang="en-US" sz="1600" b="1">
                <a:solidFill>
                  <a:schemeClr val="accent6">
                    <a:lumMod val="75000"/>
                  </a:schemeClr>
                </a:solidFill>
                <a:ea typeface="+mj-ea"/>
                <a:cs typeface="Arial" pitchFamily="34" charset="0"/>
              </a:rPr>
              <a:t>3. Khởi động thử nghiệm</a:t>
            </a:r>
          </a:p>
          <a:p>
            <a:pPr marL="0" lvl="1"/>
            <a:r>
              <a:rPr lang="en-US" sz="1600" smtClean="0">
                <a:solidFill>
                  <a:schemeClr val="tx2"/>
                </a:solidFill>
                <a:ea typeface="+mj-ea"/>
                <a:cs typeface="Arial" pitchFamily="34" charset="0"/>
              </a:rPr>
              <a:t>4. Khởi động song song</a:t>
            </a:r>
            <a:endParaRPr lang="en-US" sz="1600" smtClean="0">
              <a:solidFill>
                <a:schemeClr val="tx2"/>
              </a:solidFill>
              <a:ea typeface="+mj-ea"/>
              <a:cs typeface="Arial"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3260" y="4365104"/>
            <a:ext cx="4392488" cy="2147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6748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a:t>
            </a:r>
            <a:r>
              <a:rPr lang="en-US" sz="1600" b="1" smtClean="0">
                <a:solidFill>
                  <a:schemeClr val="accent6">
                    <a:lumMod val="75000"/>
                  </a:schemeClr>
                </a:solidFill>
                <a:latin typeface="Calibri (Body)"/>
                <a:cs typeface="Arial" pitchFamily="34" charset="0"/>
              </a:rPr>
              <a:t>. Các phương pháp cài đặt hệ thống</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a:t>
            </a:r>
            <a:r>
              <a:rPr lang="en-US" sz="1600">
                <a:solidFill>
                  <a:schemeClr val="accent1">
                    <a:lumMod val="75000"/>
                  </a:schemeClr>
                </a:solidFill>
                <a:latin typeface="Calibri" pitchFamily="34" charset="0"/>
                <a:cs typeface="Calibri" pitchFamily="34" charset="0"/>
              </a:rPr>
              <a:t>. </a:t>
            </a:r>
            <a:r>
              <a:rPr lang="vi-VN" sz="1600">
                <a:solidFill>
                  <a:schemeClr val="accent1">
                    <a:lumMod val="75000"/>
                  </a:schemeClr>
                </a:solidFill>
                <a:latin typeface="Calibri" pitchFamily="34" charset="0"/>
                <a:cs typeface="Calibri" pitchFamily="34" charset="0"/>
              </a:rPr>
              <a:t>Tài liệu người dùng</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Phương </a:t>
            </a:r>
            <a:r>
              <a:rPr lang="vi-VN" sz="2400">
                <a:solidFill>
                  <a:schemeClr val="accent2">
                    <a:lumMod val="50000"/>
                  </a:schemeClr>
                </a:solidFill>
                <a:latin typeface="Calibri" pitchFamily="34" charset="0"/>
                <a:cs typeface="Calibri" pitchFamily="34" charset="0"/>
              </a:rPr>
              <a:t>pháp này tiến hành việc chạy cả hai hệ thống cũ và mới trong một khoảng thời gian</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Đầu </a:t>
            </a:r>
            <a:r>
              <a:rPr lang="vi-VN" sz="2400">
                <a:solidFill>
                  <a:schemeClr val="accent2">
                    <a:lumMod val="50000"/>
                  </a:schemeClr>
                </a:solidFill>
                <a:latin typeface="Calibri" pitchFamily="34" charset="0"/>
                <a:cs typeface="Calibri" pitchFamily="34" charset="0"/>
              </a:rPr>
              <a:t>ra của hệ thống mới được so sánh chặt chẽ với đầu ra của hệ thống cũ và bất kỳ một sự khác biệt nào cũng được phân tích xem xét</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Khi </a:t>
            </a:r>
            <a:r>
              <a:rPr lang="vi-VN" sz="2400">
                <a:solidFill>
                  <a:schemeClr val="accent2">
                    <a:lumMod val="50000"/>
                  </a:schemeClr>
                </a:solidFill>
                <a:latin typeface="Calibri" pitchFamily="34" charset="0"/>
                <a:cs typeface="Calibri" pitchFamily="34" charset="0"/>
              </a:rPr>
              <a:t>người sử dụng cảm thấy hài lòng với các hoạt động của hệ thống mới thì hệ thống cũ được loại bỏ.</a:t>
            </a:r>
          </a:p>
          <a:p>
            <a:pPr marL="360363" lvl="1" indent="-360363" algn="just">
              <a:spcAft>
                <a:spcPts val="683"/>
              </a:spcAft>
              <a:buClr>
                <a:srgbClr val="FF0066"/>
              </a:buClr>
              <a:buFont typeface="Symbol" pitchFamily="18" charset="2"/>
              <a:buChar char="¨"/>
            </a:pPr>
            <a:endParaRPr lang="vi-VN" sz="2400" smtClean="0">
              <a:solidFill>
                <a:schemeClr val="accent2">
                  <a:lumMod val="50000"/>
                </a:schemeClr>
              </a:solidFill>
              <a:latin typeface="Calibri" pitchFamily="34" charset="0"/>
              <a:cs typeface="Calibri" pitchFamily="34" charset="0"/>
            </a:endParaRPr>
          </a:p>
          <a:p>
            <a:pPr marL="975979" lvl="3" indent="0" algn="just">
              <a:spcAft>
                <a:spcPts val="683"/>
              </a:spcAft>
              <a:buClr>
                <a:srgbClr val="FF0066"/>
              </a:buClr>
              <a:buNone/>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Chuyển đổi trực tiếp </a:t>
            </a:r>
            <a:endParaRPr lang="en-US" sz="1600">
              <a:solidFill>
                <a:schemeClr val="tx2"/>
              </a:solidFill>
              <a:ea typeface="+mj-ea"/>
              <a:cs typeface="Arial" pitchFamily="34" charset="0"/>
            </a:endParaRPr>
          </a:p>
          <a:p>
            <a:pPr marL="0" lvl="1"/>
            <a:r>
              <a:rPr lang="en-US" sz="1600">
                <a:solidFill>
                  <a:schemeClr val="tx2"/>
                </a:solidFill>
                <a:ea typeface="+mj-ea"/>
                <a:cs typeface="Arial" pitchFamily="34" charset="0"/>
              </a:rPr>
              <a:t>2. Tiếp cận từng phần</a:t>
            </a:r>
          </a:p>
          <a:p>
            <a:pPr marL="0" lvl="1"/>
            <a:r>
              <a:rPr lang="en-US" sz="1600">
                <a:solidFill>
                  <a:schemeClr val="tx2"/>
                </a:solidFill>
                <a:ea typeface="+mj-ea"/>
                <a:cs typeface="Arial" pitchFamily="34" charset="0"/>
              </a:rPr>
              <a:t>3. Khởi động thử nghiệm</a:t>
            </a:r>
          </a:p>
          <a:p>
            <a:pPr marL="0" lvl="1"/>
            <a:r>
              <a:rPr lang="en-US" sz="1600" b="1">
                <a:solidFill>
                  <a:schemeClr val="accent6">
                    <a:lumMod val="75000"/>
                  </a:schemeClr>
                </a:solidFill>
                <a:ea typeface="+mj-ea"/>
                <a:cs typeface="Arial" pitchFamily="34" charset="0"/>
              </a:rPr>
              <a:t>4. Khởi động song song</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244" y="4005064"/>
            <a:ext cx="4815535"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174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Các phương pháp cài đặt hệ thống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Tài liệu người dùng</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Ghi nhận thông tin chi tiết về các đặc tả thiết kế hệ thống, cách thức làm việc bên trong hệ thống và chức năng của nó.</a:t>
            </a:r>
          </a:p>
          <a:p>
            <a:pPr marL="360363" lvl="1" indent="-360363" algn="just">
              <a:spcAft>
                <a:spcPts val="683"/>
              </a:spcAft>
              <a:buClr>
                <a:srgbClr val="FF0066"/>
              </a:buClr>
              <a:buFont typeface="Symbol" pitchFamily="18" charset="2"/>
              <a:buChar char="¨"/>
            </a:pPr>
            <a:r>
              <a:rPr lang="vi-VN" sz="2400" i="1" smtClean="0">
                <a:solidFill>
                  <a:schemeClr val="accent2">
                    <a:lumMod val="50000"/>
                  </a:schemeClr>
                </a:solidFill>
                <a:latin typeface="Calibri" pitchFamily="34" charset="0"/>
                <a:cs typeface="Calibri" pitchFamily="34" charset="0"/>
              </a:rPr>
              <a:t>Tài liệu nội bộ</a:t>
            </a:r>
            <a:r>
              <a:rPr lang="vi-VN" sz="2400" smtClean="0">
                <a:solidFill>
                  <a:schemeClr val="accent2">
                    <a:lumMod val="50000"/>
                  </a:schemeClr>
                </a:solidFill>
                <a:latin typeface="Calibri" pitchFamily="34" charset="0"/>
                <a:cs typeface="Calibri" pitchFamily="34" charset="0"/>
              </a:rPr>
              <a:t>: chứa một phần mã nguồn chương trình, nó có thể được sinh ra trong lúc biên dịch.</a:t>
            </a:r>
          </a:p>
          <a:p>
            <a:pPr marL="360363" lvl="1" indent="-360363" algn="just">
              <a:spcAft>
                <a:spcPts val="683"/>
              </a:spcAft>
              <a:buClr>
                <a:srgbClr val="FF0066"/>
              </a:buClr>
              <a:buFont typeface="Symbol" pitchFamily="18" charset="2"/>
              <a:buChar char="¨"/>
            </a:pPr>
            <a:r>
              <a:rPr lang="vi-VN" sz="2400" i="1" smtClean="0">
                <a:solidFill>
                  <a:schemeClr val="accent2">
                    <a:lumMod val="50000"/>
                  </a:schemeClr>
                </a:solidFill>
                <a:latin typeface="Calibri" pitchFamily="34" charset="0"/>
                <a:cs typeface="Calibri" pitchFamily="34" charset="0"/>
              </a:rPr>
              <a:t>Tài liệu bên ngoài</a:t>
            </a:r>
            <a:r>
              <a:rPr lang="vi-VN" sz="2400" smtClean="0">
                <a:solidFill>
                  <a:schemeClr val="accent2">
                    <a:lumMod val="50000"/>
                  </a:schemeClr>
                </a:solidFill>
                <a:latin typeface="Calibri" pitchFamily="34" charset="0"/>
                <a:cs typeface="Calibri" pitchFamily="34" charset="0"/>
              </a:rPr>
              <a:t>: bao gồm các biểu đồ có cấu trúc như biểu đồ luồng dữ liệu, biểu đồ quan hệ thực thể hoặc biểu đồ ca sử dụng, biểu đồ lớp...</a:t>
            </a:r>
          </a:p>
          <a:p>
            <a:pPr marL="0" lvl="1" indent="0" algn="just">
              <a:spcAft>
                <a:spcPts val="683"/>
              </a:spcAft>
              <a:buClr>
                <a:srgbClr val="FF0066"/>
              </a:buClr>
              <a:buNone/>
            </a:pPr>
            <a:r>
              <a:rPr lang="vi-VN" sz="2400" smtClean="0">
                <a:solidFill>
                  <a:schemeClr val="accent2">
                    <a:lumMod val="50000"/>
                  </a:schemeClr>
                </a:solidFill>
                <a:latin typeface="Calibri" pitchFamily="34" charset="0"/>
                <a:cs typeface="Calibri" pitchFamily="34" charset="0"/>
                <a:sym typeface="Wingdings" pitchFamily="2" charset="2"/>
              </a:rPr>
              <a:t> Tài liệu này được dùng cho giai đoạn bảo trì hệ thống.</a:t>
            </a:r>
            <a:endParaRPr lang="vi-VN" sz="2400" smtClean="0">
              <a:solidFill>
                <a:schemeClr val="accent2">
                  <a:lumMod val="50000"/>
                </a:schemeClr>
              </a:solidFill>
              <a:latin typeface="Calibri" pitchFamily="34" charset="0"/>
              <a:cs typeface="Calibri" pitchFamily="34" charset="0"/>
            </a:endParaRPr>
          </a:p>
          <a:p>
            <a:pPr marL="360363" lvl="1" indent="-360363" algn="just">
              <a:spcAft>
                <a:spcPts val="683"/>
              </a:spcAft>
              <a:buClr>
                <a:srgbClr val="FF0066"/>
              </a:buClr>
              <a:buFont typeface="Symbol" pitchFamily="18" charset="2"/>
              <a:buChar char="¨"/>
            </a:pPr>
            <a:endParaRPr lang="vi-VN" sz="2400" smtClean="0">
              <a:solidFill>
                <a:schemeClr val="accent2">
                  <a:lumMod val="50000"/>
                </a:schemeClr>
              </a:solidFill>
              <a:latin typeface="Calibri" pitchFamily="34" charset="0"/>
              <a:cs typeface="Calibri" pitchFamily="34" charset="0"/>
            </a:endParaRPr>
          </a:p>
          <a:p>
            <a:pPr marL="975979" lvl="3" indent="0" algn="just">
              <a:spcAft>
                <a:spcPts val="683"/>
              </a:spcAft>
              <a:buClr>
                <a:srgbClr val="FF0066"/>
              </a:buClr>
              <a:buNone/>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Tài liệu hệ thống </a:t>
            </a:r>
            <a:endParaRPr lang="en-US" sz="1600" b="1">
              <a:solidFill>
                <a:schemeClr val="accent6">
                  <a:lumMod val="75000"/>
                </a:schemeClr>
              </a:solidFill>
              <a:ea typeface="+mj-ea"/>
              <a:cs typeface="Arial" pitchFamily="34" charset="0"/>
            </a:endParaRPr>
          </a:p>
          <a:p>
            <a:pPr marL="0" lvl="1"/>
            <a:r>
              <a:rPr lang="en-US" sz="1600">
                <a:solidFill>
                  <a:schemeClr val="tx2"/>
                </a:solidFill>
                <a:ea typeface="+mj-ea"/>
                <a:cs typeface="Arial" pitchFamily="34" charset="0"/>
              </a:rPr>
              <a:t>2</a:t>
            </a:r>
            <a:r>
              <a:rPr lang="en-US" sz="1600">
                <a:solidFill>
                  <a:schemeClr val="tx2"/>
                </a:solidFill>
                <a:ea typeface="+mj-ea"/>
                <a:cs typeface="Arial" pitchFamily="34" charset="0"/>
              </a:rPr>
              <a:t>. </a:t>
            </a:r>
            <a:r>
              <a:rPr lang="en-US" sz="1600" smtClean="0">
                <a:solidFill>
                  <a:schemeClr val="tx2"/>
                </a:solidFill>
                <a:ea typeface="+mj-ea"/>
                <a:cs typeface="Arial" pitchFamily="34" charset="0"/>
              </a:rPr>
              <a:t>Tài liệu người dùng</a:t>
            </a:r>
            <a:endParaRPr lang="en-US" sz="1600">
              <a:solidFill>
                <a:schemeClr val="tx2"/>
              </a:solidFill>
              <a:ea typeface="+mj-ea"/>
              <a:cs typeface="Arial" pitchFamily="34" charset="0"/>
            </a:endParaRPr>
          </a:p>
        </p:txBody>
      </p:sp>
    </p:spTree>
    <p:extLst>
      <p:ext uri="{BB962C8B-B14F-4D97-AF65-F5344CB8AC3E}">
        <p14:creationId xmlns:p14="http://schemas.microsoft.com/office/powerpoint/2010/main" val="24153336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Các phương pháp cài đặt hệ thống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Tài liệu người dùng</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Huấn luyện và hỗ trợ </a:t>
            </a:r>
            <a:r>
              <a:rPr lang="vi-VN" sz="1600">
                <a:solidFill>
                  <a:schemeClr val="accent1">
                    <a:lumMod val="75000"/>
                  </a:schemeClr>
                </a:solidFill>
                <a:latin typeface="Calibri" pitchFamily="34" charset="0"/>
                <a:cs typeface="Calibri" pitchFamily="34" charset="0"/>
              </a:rPr>
              <a:t>người </a:t>
            </a:r>
            <a:r>
              <a:rPr lang="vi-VN" sz="1600" smtClean="0">
                <a:solidFill>
                  <a:schemeClr val="accent1">
                    <a:lumMod val="75000"/>
                  </a:schemeClr>
                </a:solidFill>
                <a:latin typeface="Calibri" pitchFamily="34" charset="0"/>
                <a:cs typeface="Calibri"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Chứa những thông tin về cách thức hoạt động của hệ thống cũng như cách thức sử dụng hệ thống đó.</a:t>
            </a:r>
          </a:p>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Tài liệu người dùng bao gồm các loại sau:</a:t>
            </a:r>
          </a:p>
          <a:p>
            <a:pPr marL="895350"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Tài liệu hướng dẫn sử dụng</a:t>
            </a:r>
          </a:p>
          <a:p>
            <a:pPr marL="895350"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Tài liệu hướng dẫn cài đặt</a:t>
            </a:r>
          </a:p>
          <a:p>
            <a:pPr marL="895350" lvl="1" indent="-342900" algn="just">
              <a:spcAft>
                <a:spcPts val="683"/>
              </a:spcAft>
              <a:buClr>
                <a:srgbClr val="FF0066"/>
              </a:buClr>
            </a:pPr>
            <a:r>
              <a:rPr lang="vi-VN" sz="2200" smtClean="0">
                <a:solidFill>
                  <a:schemeClr val="accent2">
                    <a:lumMod val="50000"/>
                  </a:schemeClr>
                </a:solidFill>
                <a:latin typeface="Calibri" pitchFamily="34" charset="0"/>
                <a:cs typeface="Calibri" pitchFamily="34" charset="0"/>
              </a:rPr>
              <a:t>Tài liệu hướng dẫn quản trị</a:t>
            </a:r>
          </a:p>
          <a:p>
            <a:pPr marL="975979" lvl="3" indent="0" algn="just">
              <a:spcAft>
                <a:spcPts val="683"/>
              </a:spcAft>
              <a:buClr>
                <a:srgbClr val="FF0066"/>
              </a:buClr>
              <a:buNone/>
            </a:pPr>
            <a:endParaRPr lang="en-US" sz="15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a:t>
            </a:r>
            <a:r>
              <a:rPr lang="en-US" sz="1600">
                <a:solidFill>
                  <a:schemeClr val="tx2"/>
                </a:solidFill>
                <a:ea typeface="+mj-ea"/>
                <a:cs typeface="Arial" pitchFamily="34" charset="0"/>
              </a:rPr>
              <a:t>Tài liệu hệ thống </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a:t>
            </a:r>
            <a:r>
              <a:rPr lang="en-US" sz="1600" b="1">
                <a:solidFill>
                  <a:schemeClr val="accent6">
                    <a:lumMod val="75000"/>
                  </a:schemeClr>
                </a:solidFill>
                <a:ea typeface="+mj-ea"/>
                <a:cs typeface="Arial" pitchFamily="34" charset="0"/>
              </a:rPr>
              <a:t>Tài liệu người dùng</a:t>
            </a:r>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9417183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87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Các phương pháp cài đặt hệ thống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Tài liệu người dùng</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Huấn luyện và hỗ trợ người </a:t>
            </a:r>
            <a:r>
              <a:rPr lang="vi-VN" sz="1600" b="1">
                <a:solidFill>
                  <a:schemeClr val="accent6">
                    <a:lumMod val="75000"/>
                  </a:schemeClr>
                </a:solidFill>
                <a:latin typeface="Calibri (Body)"/>
                <a:cs typeface="Arial"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Đào </a:t>
            </a:r>
            <a:r>
              <a:rPr lang="vi-VN" sz="2400">
                <a:solidFill>
                  <a:schemeClr val="accent2">
                    <a:lumMod val="50000"/>
                  </a:schemeClr>
                </a:solidFill>
                <a:latin typeface="Calibri" pitchFamily="34" charset="0"/>
                <a:cs typeface="Calibri" pitchFamily="34" charset="0"/>
              </a:rPr>
              <a:t>tạo và hỗ </a:t>
            </a:r>
            <a:r>
              <a:rPr lang="vi-VN" sz="2400">
                <a:solidFill>
                  <a:schemeClr val="accent2">
                    <a:lumMod val="50000"/>
                  </a:schemeClr>
                </a:solidFill>
                <a:latin typeface="Calibri" pitchFamily="34" charset="0"/>
                <a:cs typeface="Calibri" pitchFamily="34" charset="0"/>
              </a:rPr>
              <a:t>trợ </a:t>
            </a:r>
            <a:r>
              <a:rPr lang="vi-VN" sz="2400" smtClean="0">
                <a:solidFill>
                  <a:schemeClr val="accent2">
                    <a:lumMod val="50000"/>
                  </a:schemeClr>
                </a:solidFill>
                <a:latin typeface="Calibri" pitchFamily="34" charset="0"/>
                <a:cs typeface="Calibri" pitchFamily="34" charset="0"/>
              </a:rPr>
              <a:t>người dùng rất </a:t>
            </a:r>
            <a:r>
              <a:rPr lang="vi-VN" sz="2400">
                <a:solidFill>
                  <a:schemeClr val="accent2">
                    <a:lumMod val="50000"/>
                  </a:schemeClr>
                </a:solidFill>
                <a:latin typeface="Calibri" pitchFamily="34" charset="0"/>
                <a:cs typeface="Calibri" pitchFamily="34" charset="0"/>
              </a:rPr>
              <a:t>quan trọng cho sự thành công của một hệ thống </a:t>
            </a:r>
            <a:r>
              <a:rPr lang="vi-VN" sz="2400">
                <a:solidFill>
                  <a:schemeClr val="accent2">
                    <a:lumMod val="50000"/>
                  </a:schemeClr>
                </a:solidFill>
                <a:latin typeface="Calibri" pitchFamily="34" charset="0"/>
                <a:cs typeface="Calibri" pitchFamily="34" charset="0"/>
              </a:rPr>
              <a:t>thông </a:t>
            </a:r>
            <a:r>
              <a:rPr lang="vi-VN" sz="2400" smtClean="0">
                <a:solidFill>
                  <a:schemeClr val="accent2">
                    <a:lumMod val="50000"/>
                  </a:schemeClr>
                </a:solidFill>
                <a:latin typeface="Calibri" pitchFamily="34" charset="0"/>
                <a:cs typeface="Calibri" pitchFamily="34" charset="0"/>
              </a:rPr>
              <a:t>tin</a:t>
            </a:r>
            <a:r>
              <a:rPr lang="vi-VN" sz="2400">
                <a:solidFill>
                  <a:schemeClr val="accent2">
                    <a:lumMod val="50000"/>
                  </a:schemeClr>
                </a:solidFill>
                <a:latin typeface="Calibri" pitchFamily="34" charset="0"/>
                <a:cs typeface="Calibri" pitchFamily="34" charset="0"/>
              </a:rPr>
              <a:t> </a:t>
            </a:r>
            <a:r>
              <a:rPr lang="vi-VN" sz="2400" smtClean="0">
                <a:solidFill>
                  <a:schemeClr val="accent2">
                    <a:lumMod val="50000"/>
                  </a:schemeClr>
                </a:solidFill>
                <a:latin typeface="Calibri" pitchFamily="34" charset="0"/>
                <a:cs typeface="Calibri" pitchFamily="34" charset="0"/>
              </a:rPr>
              <a:t>nhằm đảm bảo người sử dụng nắm được và sử dụng thành thạo tất cả các chức năng mà hệ thống hỗ trợ các công việc hàng ngày của họ.</a:t>
            </a: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 Khái niệm</a:t>
            </a:r>
          </a:p>
          <a:p>
            <a:pPr marL="0" lvl="1"/>
            <a:r>
              <a:rPr lang="en-US" sz="1600" smtClean="0">
                <a:solidFill>
                  <a:schemeClr val="tx2"/>
                </a:solidFill>
                <a:cs typeface="Arial" pitchFamily="34" charset="0"/>
              </a:rPr>
              <a:t>2. Phương pháp đào tạo</a:t>
            </a:r>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4672590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Các phương pháp cài đặt hệ thống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Tài liệu người dùng</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Huấn luyện và hỗ trợ người </a:t>
            </a:r>
            <a:r>
              <a:rPr lang="vi-VN" sz="1600" b="1">
                <a:solidFill>
                  <a:schemeClr val="accent6">
                    <a:lumMod val="75000"/>
                  </a:schemeClr>
                </a:solidFill>
                <a:latin typeface="Calibri (Body)"/>
                <a:cs typeface="Arial"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Học trực tiếp</a:t>
            </a:r>
          </a:p>
          <a:p>
            <a:pPr marL="990600" lvl="1" indent="-342900" algn="just">
              <a:spcAft>
                <a:spcPts val="683"/>
              </a:spcAft>
              <a:buClr>
                <a:srgbClr val="FF0066"/>
              </a:buClr>
            </a:pPr>
            <a:r>
              <a:rPr lang="vi-VN" sz="2400" smtClean="0">
                <a:solidFill>
                  <a:schemeClr val="accent2">
                    <a:lumMod val="50000"/>
                  </a:schemeClr>
                </a:solidFill>
                <a:latin typeface="Calibri" pitchFamily="34" charset="0"/>
                <a:cs typeface="Calibri" pitchFamily="34" charset="0"/>
              </a:rPr>
              <a:t>Khóa </a:t>
            </a:r>
            <a:r>
              <a:rPr lang="vi-VN" sz="2400">
                <a:solidFill>
                  <a:schemeClr val="accent2">
                    <a:lumMod val="50000"/>
                  </a:schemeClr>
                </a:solidFill>
                <a:latin typeface="Calibri" pitchFamily="34" charset="0"/>
                <a:cs typeface="Calibri" pitchFamily="34" charset="0"/>
              </a:rPr>
              <a:t>học </a:t>
            </a:r>
            <a:r>
              <a:rPr lang="vi-VN" sz="2400" smtClean="0">
                <a:solidFill>
                  <a:schemeClr val="accent2">
                    <a:lumMod val="50000"/>
                  </a:schemeClr>
                </a:solidFill>
                <a:latin typeface="Calibri" pitchFamily="34" charset="0"/>
                <a:cs typeface="Calibri" pitchFamily="34" charset="0"/>
              </a:rPr>
              <a:t>được tổ chức tại một địa điểm xác định và do đội ngũ giảng viên trực tiếp giảng dạy.</a:t>
            </a:r>
          </a:p>
          <a:p>
            <a:pPr marL="990600" lvl="1" indent="-342900" algn="just">
              <a:spcAft>
                <a:spcPts val="683"/>
              </a:spcAft>
              <a:buClr>
                <a:srgbClr val="FF0066"/>
              </a:buClr>
            </a:pPr>
            <a:r>
              <a:rPr lang="vi-VN" sz="2400" smtClean="0">
                <a:solidFill>
                  <a:schemeClr val="accent2">
                    <a:lumMod val="50000"/>
                  </a:schemeClr>
                </a:solidFill>
                <a:latin typeface="Calibri" pitchFamily="34" charset="0"/>
                <a:cs typeface="Calibri" pitchFamily="34" charset="0"/>
              </a:rPr>
              <a:t>Khóa học thường được thiết kế riêng cho từng loại đối tượng người học.</a:t>
            </a:r>
          </a:p>
          <a:p>
            <a:pPr marL="990600" lvl="1" indent="-342900" algn="just">
              <a:spcAft>
                <a:spcPts val="683"/>
              </a:spcAft>
              <a:buClr>
                <a:srgbClr val="FF0066"/>
              </a:buClr>
            </a:pPr>
            <a:endParaRPr lang="vi-VN" sz="2400" smtClean="0">
              <a:solidFill>
                <a:schemeClr val="accent2">
                  <a:lumMod val="50000"/>
                </a:schemeClr>
              </a:solidFill>
              <a:latin typeface="Calibri" pitchFamily="34" charset="0"/>
              <a:cs typeface="Calibri" pitchFamily="34" charset="0"/>
            </a:endParaRPr>
          </a:p>
          <a:p>
            <a:pPr marL="990600" lvl="1" indent="-342900" algn="just">
              <a:spcAft>
                <a:spcPts val="683"/>
              </a:spcAft>
              <a:buClr>
                <a:srgbClr val="FF0066"/>
              </a:buClr>
            </a:pPr>
            <a:endParaRPr lang="vi-VN" sz="24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cs typeface="Arial" pitchFamily="34" charset="0"/>
              </a:rPr>
              <a:t>1. Khái niệm</a:t>
            </a:r>
          </a:p>
          <a:p>
            <a:pPr marL="0" lvl="1"/>
            <a:r>
              <a:rPr lang="en-US" sz="1600" b="1">
                <a:solidFill>
                  <a:schemeClr val="accent6">
                    <a:lumMod val="75000"/>
                  </a:schemeClr>
                </a:solidFill>
                <a:ea typeface="+mj-ea"/>
                <a:cs typeface="Arial" pitchFamily="34" charset="0"/>
              </a:rPr>
              <a:t>2. Phương pháp đào tạo</a:t>
            </a:r>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10103977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Các phương pháp cài đặt hệ thống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Tài liệu người dùng</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Huấn luyện và hỗ trợ người </a:t>
            </a:r>
            <a:r>
              <a:rPr lang="vi-VN" sz="1600" b="1">
                <a:solidFill>
                  <a:schemeClr val="accent6">
                    <a:lumMod val="75000"/>
                  </a:schemeClr>
                </a:solidFill>
                <a:latin typeface="Calibri (Body)"/>
                <a:cs typeface="Arial"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E-learning</a:t>
            </a:r>
          </a:p>
          <a:p>
            <a:pPr marL="990600" lvl="1" indent="-342900" algn="just">
              <a:spcAft>
                <a:spcPts val="683"/>
              </a:spcAft>
              <a:buClr>
                <a:srgbClr val="FF0066"/>
              </a:buClr>
            </a:pPr>
            <a:r>
              <a:rPr lang="vi-VN" sz="2400">
                <a:solidFill>
                  <a:schemeClr val="accent2">
                    <a:lumMod val="50000"/>
                  </a:schemeClr>
                </a:solidFill>
                <a:latin typeface="Calibri" pitchFamily="34" charset="0"/>
                <a:cs typeface="Calibri" pitchFamily="34" charset="0"/>
              </a:rPr>
              <a:t>Khóa học E-learning có thể được gửi qua Internet hoặc </a:t>
            </a:r>
            <a:r>
              <a:rPr lang="vi-VN" sz="2400">
                <a:solidFill>
                  <a:schemeClr val="accent2">
                    <a:lumMod val="50000"/>
                  </a:schemeClr>
                </a:solidFill>
                <a:latin typeface="Calibri" pitchFamily="34" charset="0"/>
                <a:cs typeface="Calibri" pitchFamily="34" charset="0"/>
              </a:rPr>
              <a:t>qua </a:t>
            </a:r>
            <a:r>
              <a:rPr lang="vi-VN" sz="2400" smtClean="0">
                <a:solidFill>
                  <a:schemeClr val="accent2">
                    <a:lumMod val="50000"/>
                  </a:schemeClr>
                </a:solidFill>
                <a:latin typeface="Calibri" pitchFamily="34" charset="0"/>
                <a:cs typeface="Calibri" pitchFamily="34" charset="0"/>
              </a:rPr>
              <a:t>mạng intranet trong công ty. </a:t>
            </a:r>
          </a:p>
          <a:p>
            <a:pPr marL="990600" lvl="1" indent="-342900" algn="just">
              <a:spcAft>
                <a:spcPts val="683"/>
              </a:spcAft>
              <a:buClr>
                <a:srgbClr val="FF0066"/>
              </a:buClr>
            </a:pPr>
            <a:r>
              <a:rPr lang="vi-VN" sz="2400" smtClean="0">
                <a:solidFill>
                  <a:schemeClr val="accent2">
                    <a:lumMod val="50000"/>
                  </a:schemeClr>
                </a:solidFill>
                <a:latin typeface="Calibri" pitchFamily="34" charset="0"/>
                <a:cs typeface="Calibri" pitchFamily="34" charset="0"/>
              </a:rPr>
              <a:t>Chi phí đào tạo E-learning tương </a:t>
            </a:r>
            <a:r>
              <a:rPr lang="vi-VN" sz="2400">
                <a:solidFill>
                  <a:schemeClr val="accent2">
                    <a:lumMod val="50000"/>
                  </a:schemeClr>
                </a:solidFill>
                <a:latin typeface="Calibri" pitchFamily="34" charset="0"/>
                <a:cs typeface="Calibri" pitchFamily="34" charset="0"/>
              </a:rPr>
              <a:t>đối </a:t>
            </a:r>
            <a:r>
              <a:rPr lang="vi-VN" sz="2400" smtClean="0">
                <a:solidFill>
                  <a:schemeClr val="accent2">
                    <a:lumMod val="50000"/>
                  </a:schemeClr>
                </a:solidFill>
                <a:latin typeface="Calibri" pitchFamily="34" charset="0"/>
                <a:cs typeface="Calibri" pitchFamily="34" charset="0"/>
              </a:rPr>
              <a:t>thấp so với </a:t>
            </a:r>
            <a:r>
              <a:rPr lang="vi-VN" sz="2400">
                <a:solidFill>
                  <a:schemeClr val="accent2">
                    <a:lumMod val="50000"/>
                  </a:schemeClr>
                </a:solidFill>
                <a:latin typeface="Calibri" pitchFamily="34" charset="0"/>
                <a:cs typeface="Calibri" pitchFamily="34" charset="0"/>
              </a:rPr>
              <a:t>đào tạo lớp học </a:t>
            </a:r>
            <a:r>
              <a:rPr lang="vi-VN" sz="2400">
                <a:solidFill>
                  <a:schemeClr val="accent2">
                    <a:lumMod val="50000"/>
                  </a:schemeClr>
                </a:solidFill>
                <a:latin typeface="Calibri" pitchFamily="34" charset="0"/>
                <a:cs typeface="Calibri" pitchFamily="34" charset="0"/>
              </a:rPr>
              <a:t>truyền </a:t>
            </a:r>
            <a:r>
              <a:rPr lang="vi-VN" sz="2400" smtClean="0">
                <a:solidFill>
                  <a:schemeClr val="accent2">
                    <a:lumMod val="50000"/>
                  </a:schemeClr>
                </a:solidFill>
                <a:latin typeface="Calibri" pitchFamily="34" charset="0"/>
                <a:cs typeface="Calibri" pitchFamily="34" charset="0"/>
              </a:rPr>
              <a:t>thống  </a:t>
            </a:r>
            <a:r>
              <a:rPr lang="vi-VN" sz="2400">
                <a:solidFill>
                  <a:schemeClr val="accent2">
                    <a:lumMod val="50000"/>
                  </a:schemeClr>
                </a:solidFill>
                <a:latin typeface="Calibri" pitchFamily="34" charset="0"/>
                <a:cs typeface="Calibri" pitchFamily="34" charset="0"/>
              </a:rPr>
              <a:t>và </a:t>
            </a:r>
            <a:r>
              <a:rPr lang="vi-VN" sz="2400" smtClean="0">
                <a:solidFill>
                  <a:schemeClr val="accent2">
                    <a:lumMod val="50000"/>
                  </a:schemeClr>
                </a:solidFill>
                <a:latin typeface="Calibri" pitchFamily="34" charset="0"/>
                <a:cs typeface="Calibri" pitchFamily="34" charset="0"/>
              </a:rPr>
              <a:t>có </a:t>
            </a:r>
            <a:r>
              <a:rPr lang="vi-VN" sz="2400">
                <a:solidFill>
                  <a:schemeClr val="accent2">
                    <a:lumMod val="50000"/>
                  </a:schemeClr>
                </a:solidFill>
                <a:latin typeface="Calibri" pitchFamily="34" charset="0"/>
                <a:cs typeface="Calibri" pitchFamily="34" charset="0"/>
              </a:rPr>
              <a:t>lợi </a:t>
            </a:r>
            <a:r>
              <a:rPr lang="vi-VN" sz="2400">
                <a:solidFill>
                  <a:schemeClr val="accent2">
                    <a:lumMod val="50000"/>
                  </a:schemeClr>
                </a:solidFill>
                <a:latin typeface="Calibri" pitchFamily="34" charset="0"/>
                <a:cs typeface="Calibri" pitchFamily="34" charset="0"/>
              </a:rPr>
              <a:t>thế </a:t>
            </a:r>
            <a:r>
              <a:rPr lang="vi-VN" sz="2400" smtClean="0">
                <a:solidFill>
                  <a:schemeClr val="accent2">
                    <a:lumMod val="50000"/>
                  </a:schemeClr>
                </a:solidFill>
                <a:latin typeface="Calibri" pitchFamily="34" charset="0"/>
                <a:cs typeface="Calibri" pitchFamily="34" charset="0"/>
              </a:rPr>
              <a:t>luôn sẵn sàng bất </a:t>
            </a:r>
            <a:r>
              <a:rPr lang="vi-VN" sz="2400">
                <a:solidFill>
                  <a:schemeClr val="accent2">
                    <a:lumMod val="50000"/>
                  </a:schemeClr>
                </a:solidFill>
                <a:latin typeface="Calibri" pitchFamily="34" charset="0"/>
                <a:cs typeface="Calibri" pitchFamily="34" charset="0"/>
              </a:rPr>
              <a:t>cứ lúc nào từ bất cứ nơi đâu</a:t>
            </a:r>
            <a:r>
              <a:rPr lang="vi-VN" sz="2400">
                <a:solidFill>
                  <a:schemeClr val="accent2">
                    <a:lumMod val="50000"/>
                  </a:schemeClr>
                </a:solidFill>
                <a:latin typeface="Calibri" pitchFamily="34" charset="0"/>
                <a:cs typeface="Calibri" pitchFamily="34" charset="0"/>
              </a:rPr>
              <a:t>. </a:t>
            </a:r>
            <a:endParaRPr lang="vi-VN" sz="2400" smtClean="0">
              <a:solidFill>
                <a:schemeClr val="accent2">
                  <a:lumMod val="50000"/>
                </a:schemeClr>
              </a:solidFill>
              <a:latin typeface="Calibri" pitchFamily="34" charset="0"/>
              <a:cs typeface="Calibri" pitchFamily="34" charset="0"/>
            </a:endParaRPr>
          </a:p>
          <a:p>
            <a:pPr marL="990600" lvl="1" indent="-342900" algn="just">
              <a:spcAft>
                <a:spcPts val="683"/>
              </a:spcAft>
              <a:buClr>
                <a:srgbClr val="FF0066"/>
              </a:buClr>
            </a:pPr>
            <a:r>
              <a:rPr lang="vi-VN" sz="2400" smtClean="0">
                <a:solidFill>
                  <a:schemeClr val="accent2">
                    <a:lumMod val="50000"/>
                  </a:schemeClr>
                </a:solidFill>
                <a:latin typeface="Calibri" pitchFamily="34" charset="0"/>
                <a:cs typeface="Calibri" pitchFamily="34" charset="0"/>
              </a:rPr>
              <a:t>Học viên có </a:t>
            </a:r>
            <a:r>
              <a:rPr lang="vi-VN" sz="2400">
                <a:solidFill>
                  <a:schemeClr val="accent2">
                    <a:lumMod val="50000"/>
                  </a:schemeClr>
                </a:solidFill>
                <a:latin typeface="Calibri" pitchFamily="34" charset="0"/>
                <a:cs typeface="Calibri" pitchFamily="34" charset="0"/>
              </a:rPr>
              <a:t>thể </a:t>
            </a:r>
            <a:r>
              <a:rPr lang="vi-VN" sz="2400" smtClean="0">
                <a:solidFill>
                  <a:schemeClr val="accent2">
                    <a:lumMod val="50000"/>
                  </a:schemeClr>
                </a:solidFill>
                <a:latin typeface="Calibri" pitchFamily="34" charset="0"/>
                <a:cs typeface="Calibri" pitchFamily="34" charset="0"/>
              </a:rPr>
              <a:t>chủ động bố trí thời gian theo học và học </a:t>
            </a:r>
            <a:r>
              <a:rPr lang="vi-VN" sz="2400">
                <a:solidFill>
                  <a:schemeClr val="accent2">
                    <a:lumMod val="50000"/>
                  </a:schemeClr>
                </a:solidFill>
                <a:latin typeface="Calibri" pitchFamily="34" charset="0"/>
                <a:cs typeface="Calibri" pitchFamily="34" charset="0"/>
              </a:rPr>
              <a:t>theo </a:t>
            </a:r>
            <a:r>
              <a:rPr lang="vi-VN" sz="2400" smtClean="0">
                <a:solidFill>
                  <a:schemeClr val="accent2">
                    <a:lumMod val="50000"/>
                  </a:schemeClr>
                </a:solidFill>
                <a:latin typeface="Calibri" pitchFamily="34" charset="0"/>
                <a:cs typeface="Calibri" pitchFamily="34" charset="0"/>
              </a:rPr>
              <a:t>tốc </a:t>
            </a:r>
            <a:r>
              <a:rPr lang="vi-VN" sz="2400">
                <a:solidFill>
                  <a:schemeClr val="accent2">
                    <a:lumMod val="50000"/>
                  </a:schemeClr>
                </a:solidFill>
                <a:latin typeface="Calibri" pitchFamily="34" charset="0"/>
                <a:cs typeface="Calibri" pitchFamily="34" charset="0"/>
              </a:rPr>
              <a:t>độ </a:t>
            </a:r>
            <a:r>
              <a:rPr lang="vi-VN" sz="2400" smtClean="0">
                <a:solidFill>
                  <a:schemeClr val="accent2">
                    <a:lumMod val="50000"/>
                  </a:schemeClr>
                </a:solidFill>
                <a:latin typeface="Calibri" pitchFamily="34" charset="0"/>
                <a:cs typeface="Calibri" pitchFamily="34" charset="0"/>
              </a:rPr>
              <a:t>riêng của mình.</a:t>
            </a:r>
          </a:p>
          <a:p>
            <a:pPr marL="990600" lvl="1" indent="-342900" algn="just">
              <a:spcAft>
                <a:spcPts val="683"/>
              </a:spcAft>
              <a:buClr>
                <a:srgbClr val="FF0066"/>
              </a:buClr>
            </a:pPr>
            <a:r>
              <a:rPr lang="vi-VN" sz="2400" smtClean="0">
                <a:solidFill>
                  <a:schemeClr val="accent2">
                    <a:lumMod val="50000"/>
                  </a:schemeClr>
                </a:solidFill>
                <a:latin typeface="Calibri" pitchFamily="34" charset="0"/>
                <a:cs typeface="Calibri" pitchFamily="34" charset="0"/>
              </a:rPr>
              <a:t>Hệ </a:t>
            </a:r>
            <a:r>
              <a:rPr lang="vi-VN" sz="2400">
                <a:solidFill>
                  <a:schemeClr val="accent2">
                    <a:lumMod val="50000"/>
                  </a:schemeClr>
                </a:solidFill>
                <a:latin typeface="Calibri" pitchFamily="34" charset="0"/>
                <a:cs typeface="Calibri" pitchFamily="34" charset="0"/>
              </a:rPr>
              <a:t>thống </a:t>
            </a:r>
            <a:r>
              <a:rPr lang="vi-VN" sz="2400">
                <a:solidFill>
                  <a:schemeClr val="accent2">
                    <a:lumMod val="50000"/>
                  </a:schemeClr>
                </a:solidFill>
                <a:latin typeface="Calibri" pitchFamily="34" charset="0"/>
                <a:cs typeface="Calibri" pitchFamily="34" charset="0"/>
              </a:rPr>
              <a:t>E-learning </a:t>
            </a:r>
            <a:r>
              <a:rPr lang="vi-VN" sz="2400" smtClean="0">
                <a:solidFill>
                  <a:schemeClr val="accent2">
                    <a:lumMod val="50000"/>
                  </a:schemeClr>
                </a:solidFill>
                <a:latin typeface="Calibri" pitchFamily="34" charset="0"/>
                <a:cs typeface="Calibri" pitchFamily="34" charset="0"/>
              </a:rPr>
              <a:t>cung cấp bài giảng trực quan sinh động thông qua các sách </a:t>
            </a:r>
            <a:r>
              <a:rPr lang="vi-VN" sz="2400">
                <a:solidFill>
                  <a:schemeClr val="accent2">
                    <a:lumMod val="50000"/>
                  </a:schemeClr>
                </a:solidFill>
                <a:latin typeface="Calibri" pitchFamily="34" charset="0"/>
                <a:cs typeface="Calibri" pitchFamily="34" charset="0"/>
              </a:rPr>
              <a:t>điện </a:t>
            </a:r>
            <a:r>
              <a:rPr lang="vi-VN" sz="2400" smtClean="0">
                <a:solidFill>
                  <a:schemeClr val="accent2">
                    <a:lumMod val="50000"/>
                  </a:schemeClr>
                </a:solidFill>
                <a:latin typeface="Calibri" pitchFamily="34" charset="0"/>
                <a:cs typeface="Calibri" pitchFamily="34" charset="0"/>
              </a:rPr>
              <a:t>tử hoặc tệp video.</a:t>
            </a:r>
          </a:p>
          <a:p>
            <a:pPr marL="990600" lvl="1" indent="-342900" algn="just">
              <a:spcAft>
                <a:spcPts val="683"/>
              </a:spcAft>
              <a:buClr>
                <a:srgbClr val="FF0066"/>
              </a:buClr>
            </a:pPr>
            <a:r>
              <a:rPr lang="vi-VN" sz="2400" smtClean="0">
                <a:solidFill>
                  <a:schemeClr val="accent2">
                    <a:lumMod val="50000"/>
                  </a:schemeClr>
                </a:solidFill>
                <a:latin typeface="Calibri" pitchFamily="34" charset="0"/>
                <a:cs typeface="Calibri" pitchFamily="34" charset="0"/>
              </a:rPr>
              <a:t>Hạn chế của phương pháp là không có tương tác trực tiếp giữa người học và người dạy. </a:t>
            </a:r>
            <a:endParaRPr lang="vi-VN" sz="24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cs typeface="Arial" pitchFamily="34" charset="0"/>
              </a:rPr>
              <a:t>1. Khái niệm</a:t>
            </a:r>
          </a:p>
          <a:p>
            <a:pPr marL="0" lvl="1"/>
            <a:r>
              <a:rPr lang="en-US" sz="1600" b="1">
                <a:solidFill>
                  <a:schemeClr val="accent6">
                    <a:lumMod val="75000"/>
                  </a:schemeClr>
                </a:solidFill>
                <a:ea typeface="+mj-ea"/>
                <a:cs typeface="Arial" pitchFamily="34" charset="0"/>
              </a:rPr>
              <a:t>2. Phương pháp đào tạo</a:t>
            </a:r>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1222179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Các phương pháp cài đặt hệ thống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Tài liệu người dùng</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Huấn luyện và hỗ trợ người </a:t>
            </a:r>
            <a:r>
              <a:rPr lang="vi-VN" sz="1600" b="1">
                <a:solidFill>
                  <a:schemeClr val="accent6">
                    <a:lumMod val="75000"/>
                  </a:schemeClr>
                </a:solidFill>
                <a:latin typeface="Calibri (Body)"/>
                <a:cs typeface="Arial" pitchFamily="34" charset="0"/>
              </a:rPr>
              <a:t>dùng</a:t>
            </a:r>
            <a:r>
              <a:rPr lang="en-US" sz="1600">
                <a:solidFill>
                  <a:schemeClr val="accent1">
                    <a:lumMod val="75000"/>
                  </a:schemeClr>
                </a:solidFill>
                <a:latin typeface="Calibri" pitchFamily="34" charset="0"/>
                <a:cs typeface="Calibri" pitchFamily="34" charset="0"/>
              </a:rPr>
              <a:t/>
            </a:r>
            <a:br>
              <a:rPr lang="en-US"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60363" lvl="1" indent="-360363"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Học kết hợp giữa đào tạo truyền thống và đào tạo E-learning</a:t>
            </a: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cs typeface="Arial" pitchFamily="34" charset="0"/>
              </a:rPr>
              <a:t>1. Khái niệm</a:t>
            </a:r>
          </a:p>
          <a:p>
            <a:pPr marL="0" lvl="1"/>
            <a:r>
              <a:rPr lang="en-US" sz="1600" b="1">
                <a:solidFill>
                  <a:schemeClr val="accent6">
                    <a:lumMod val="75000"/>
                  </a:schemeClr>
                </a:solidFill>
                <a:ea typeface="+mj-ea"/>
                <a:cs typeface="Arial" pitchFamily="34" charset="0"/>
              </a:rPr>
              <a:t>2. Phương pháp đào tạo</a:t>
            </a:r>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20340560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14</a:t>
            </a:fld>
            <a:endParaRPr lang="vi-V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ysClr val="windowText" lastClr="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32021</TotalTime>
  <Words>1091</Words>
  <Application>Microsoft Office PowerPoint</Application>
  <PresentationFormat>35mm Slides</PresentationFormat>
  <Paragraphs>110</Paragraphs>
  <Slides>14</Slides>
  <Notes>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Chương 9: Cài đặt hệ thống</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  1. Các phương pháp cài đặt hệ thống 2. Tài liệu người dùng 3. Huấn luyện và hỗ trợ người dùng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LAMNHUNG</dc:creator>
  <cp:lastModifiedBy>LAMNHUNG</cp:lastModifiedBy>
  <cp:revision>2225</cp:revision>
  <dcterms:created xsi:type="dcterms:W3CDTF">2014-03-12T02:40:35Z</dcterms:created>
  <dcterms:modified xsi:type="dcterms:W3CDTF">2015-05-08T07:41:56Z</dcterms:modified>
</cp:coreProperties>
</file>