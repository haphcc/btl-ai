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5"/>
  </p:notesMasterIdLst>
  <p:sldIdLst>
    <p:sldId id="305" r:id="rId2"/>
    <p:sldId id="299" r:id="rId3"/>
    <p:sldId id="307" r:id="rId4"/>
    <p:sldId id="303" r:id="rId5"/>
    <p:sldId id="308" r:id="rId6"/>
    <p:sldId id="306" r:id="rId7"/>
    <p:sldId id="312" r:id="rId8"/>
    <p:sldId id="310" r:id="rId9"/>
    <p:sldId id="311" r:id="rId10"/>
    <p:sldId id="313" r:id="rId11"/>
    <p:sldId id="314" r:id="rId12"/>
    <p:sldId id="318" r:id="rId13"/>
    <p:sldId id="315" r:id="rId14"/>
    <p:sldId id="319" r:id="rId15"/>
    <p:sldId id="317" r:id="rId16"/>
    <p:sldId id="336" r:id="rId17"/>
    <p:sldId id="334" r:id="rId18"/>
    <p:sldId id="335" r:id="rId19"/>
    <p:sldId id="333" r:id="rId20"/>
    <p:sldId id="320" r:id="rId21"/>
    <p:sldId id="321" r:id="rId22"/>
    <p:sldId id="322" r:id="rId23"/>
    <p:sldId id="323" r:id="rId24"/>
    <p:sldId id="326" r:id="rId25"/>
    <p:sldId id="324" r:id="rId26"/>
    <p:sldId id="325" r:id="rId27"/>
    <p:sldId id="327" r:id="rId28"/>
    <p:sldId id="328" r:id="rId29"/>
    <p:sldId id="329" r:id="rId30"/>
    <p:sldId id="330" r:id="rId31"/>
    <p:sldId id="331" r:id="rId32"/>
    <p:sldId id="332" r:id="rId33"/>
    <p:sldId id="265" r:id="rId34"/>
  </p:sldIdLst>
  <p:sldSz cx="10287000" cy="6858000" type="35mm"/>
  <p:notesSz cx="6858000" cy="9144000"/>
  <p:defaultText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2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00FF"/>
    <a:srgbClr val="0D8E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18" autoAdjust="0"/>
    <p:restoredTop sz="96092" autoAdjust="0"/>
  </p:normalViewPr>
  <p:slideViewPr>
    <p:cSldViewPr>
      <p:cViewPr varScale="1">
        <p:scale>
          <a:sx n="62" d="100"/>
          <a:sy n="62" d="100"/>
        </p:scale>
        <p:origin x="668" y="44"/>
      </p:cViewPr>
      <p:guideLst>
        <p:guide orient="horz" pos="2161"/>
        <p:guide pos="3240"/>
      </p:guideLst>
    </p:cSldViewPr>
  </p:slideViewPr>
  <p:outlineViewPr>
    <p:cViewPr>
      <p:scale>
        <a:sx n="33" d="100"/>
        <a:sy n="33" d="100"/>
      </p:scale>
      <p:origin x="42" y="15264"/>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23B086-1834-404D-BF86-D7E3742DB3C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vi-VN"/>
        </a:p>
      </dgm:t>
    </dgm:pt>
    <dgm:pt modelId="{0260F488-0856-4885-BE6A-D1B3BB6C6BDE}">
      <dgm:prSet phldrT="[Text]" custT="1"/>
      <dgm:spPr/>
      <dgm:t>
        <a:bodyPr/>
        <a:lstStyle/>
        <a:p>
          <a:endParaRPr lang="en-US" sz="2000" b="1" kern="1200" smtClean="0">
            <a:solidFill>
              <a:srgbClr val="FF0066"/>
            </a:solidFill>
            <a:latin typeface="Arial" pitchFamily="34" charset="0"/>
            <a:ea typeface="+mn-ea"/>
            <a:cs typeface="Arial" pitchFamily="34" charset="0"/>
          </a:endParaRPr>
        </a:p>
        <a:p>
          <a:r>
            <a:rPr lang="en-US" sz="2000" b="1" kern="1200" smtClean="0">
              <a:solidFill>
                <a:srgbClr val="FF0066"/>
              </a:solidFill>
              <a:latin typeface="Arial" pitchFamily="34" charset="0"/>
              <a:ea typeface="+mn-ea"/>
              <a:cs typeface="Arial" pitchFamily="34" charset="0"/>
            </a:rPr>
            <a:t>Phần 1</a:t>
          </a:r>
          <a:endParaRPr lang="vi-VN" sz="2000" b="1" kern="1200">
            <a:solidFill>
              <a:srgbClr val="FF0066"/>
            </a:solidFill>
            <a:latin typeface="Arial" pitchFamily="34" charset="0"/>
            <a:ea typeface="+mn-ea"/>
            <a:cs typeface="Arial" pitchFamily="34" charset="0"/>
          </a:endParaRPr>
        </a:p>
      </dgm:t>
    </dgm:pt>
    <dgm:pt modelId="{95040FC8-2CD3-4491-88A6-2B8A429D6FC9}" type="parTrans" cxnId="{A4ACD94A-AD73-41D7-B516-A082DD498B79}">
      <dgm:prSet/>
      <dgm:spPr/>
      <dgm:t>
        <a:bodyPr/>
        <a:lstStyle/>
        <a:p>
          <a:endParaRPr lang="vi-VN"/>
        </a:p>
      </dgm:t>
    </dgm:pt>
    <dgm:pt modelId="{3EC7BCE0-88DB-4C58-B4EE-49B0B146E157}" type="sibTrans" cxnId="{A4ACD94A-AD73-41D7-B516-A082DD498B79}">
      <dgm:prSet/>
      <dgm:spPr/>
      <dgm:t>
        <a:bodyPr/>
        <a:lstStyle/>
        <a:p>
          <a:endParaRPr lang="vi-VN"/>
        </a:p>
      </dgm:t>
    </dgm:pt>
    <dgm:pt modelId="{778B28D7-5046-4E74-90E6-28410FAC41E4}">
      <dgm:prSet phldrT="[Text]" custT="1"/>
      <dgm:spPr/>
      <dgm:t>
        <a:bodyPr/>
        <a:lstStyle/>
        <a:p>
          <a:r>
            <a:rPr lang="en-US" sz="2800" b="0" kern="1200" smtClean="0">
              <a:solidFill>
                <a:schemeClr val="accent2">
                  <a:lumMod val="50000"/>
                </a:schemeClr>
              </a:solidFill>
              <a:latin typeface="+mn-lt"/>
              <a:ea typeface="+mn-ea"/>
              <a:cs typeface="Arial" pitchFamily="34" charset="0"/>
            </a:rPr>
            <a:t>Tổng quan về phát triển hệ thống thông tin</a:t>
          </a:r>
          <a:endParaRPr lang="vi-VN" sz="2800" b="0" kern="1200">
            <a:solidFill>
              <a:schemeClr val="accent2">
                <a:lumMod val="50000"/>
              </a:schemeClr>
            </a:solidFill>
            <a:latin typeface="+mn-lt"/>
            <a:ea typeface="+mn-ea"/>
            <a:cs typeface="Arial" pitchFamily="34" charset="0"/>
          </a:endParaRPr>
        </a:p>
      </dgm:t>
    </dgm:pt>
    <dgm:pt modelId="{EE6295D5-D397-4CAE-B69A-ABD00BC2ED9E}" type="parTrans" cxnId="{A1656E6D-38D8-49C0-B402-C2F46C097650}">
      <dgm:prSet/>
      <dgm:spPr/>
      <dgm:t>
        <a:bodyPr/>
        <a:lstStyle/>
        <a:p>
          <a:endParaRPr lang="vi-VN"/>
        </a:p>
      </dgm:t>
    </dgm:pt>
    <dgm:pt modelId="{91E317F6-05BD-4692-AD76-BDF81928F364}" type="sibTrans" cxnId="{A1656E6D-38D8-49C0-B402-C2F46C097650}">
      <dgm:prSet/>
      <dgm:spPr/>
      <dgm:t>
        <a:bodyPr/>
        <a:lstStyle/>
        <a:p>
          <a:endParaRPr lang="vi-VN"/>
        </a:p>
      </dgm:t>
    </dgm:pt>
    <dgm:pt modelId="{E798BC6D-45BE-44CB-8CC8-DB9C1471CA3C}">
      <dgm:prSet phldrT="[Text]" custT="1"/>
      <dgm:spPr/>
      <dgm:t>
        <a:bodyPr/>
        <a:lstStyle/>
        <a:p>
          <a:endParaRPr lang="vi-VN" sz="2000" b="1" kern="1200">
            <a:solidFill>
              <a:srgbClr val="FF0066"/>
            </a:solidFill>
            <a:latin typeface="Arial" pitchFamily="34" charset="0"/>
            <a:ea typeface="+mn-ea"/>
            <a:cs typeface="Arial" pitchFamily="34" charset="0"/>
          </a:endParaRPr>
        </a:p>
      </dgm:t>
    </dgm:pt>
    <dgm:pt modelId="{0BAFAAA6-8B3D-4D7C-B198-6A51A840F645}" type="parTrans" cxnId="{EE78EB2D-9633-458C-AA1E-B32BDFB24DD5}">
      <dgm:prSet/>
      <dgm:spPr/>
      <dgm:t>
        <a:bodyPr/>
        <a:lstStyle/>
        <a:p>
          <a:endParaRPr lang="vi-VN"/>
        </a:p>
      </dgm:t>
    </dgm:pt>
    <dgm:pt modelId="{C607F695-BB60-4E06-8B4C-02CFB151F2E8}" type="sibTrans" cxnId="{EE78EB2D-9633-458C-AA1E-B32BDFB24DD5}">
      <dgm:prSet/>
      <dgm:spPr/>
      <dgm:t>
        <a:bodyPr/>
        <a:lstStyle/>
        <a:p>
          <a:endParaRPr lang="vi-VN"/>
        </a:p>
      </dgm:t>
    </dgm:pt>
    <dgm:pt modelId="{3F099641-3016-4E36-A57C-08492461DA9E}">
      <dgm:prSet phldrT="[Text]" custT="1"/>
      <dgm:spPr/>
      <dgm:t>
        <a:bodyPr/>
        <a:lstStyle/>
        <a:p>
          <a:endParaRPr lang="vi-VN" sz="2400" kern="1200">
            <a:solidFill>
              <a:srgbClr val="FF0000"/>
            </a:solidFill>
            <a:latin typeface="+mn-lt"/>
            <a:ea typeface="+mn-ea"/>
            <a:cs typeface="Arial" pitchFamily="34" charset="0"/>
          </a:endParaRPr>
        </a:p>
      </dgm:t>
    </dgm:pt>
    <dgm:pt modelId="{1DE74F0F-71C3-427F-9BA8-88247CBD5315}" type="parTrans" cxnId="{15526149-690E-448A-A6B4-6D77B868B3D5}">
      <dgm:prSet/>
      <dgm:spPr/>
      <dgm:t>
        <a:bodyPr/>
        <a:lstStyle/>
        <a:p>
          <a:endParaRPr lang="vi-VN"/>
        </a:p>
      </dgm:t>
    </dgm:pt>
    <dgm:pt modelId="{BCB2569F-AD56-4492-872D-7BFEBE5F40D9}" type="sibTrans" cxnId="{15526149-690E-448A-A6B4-6D77B868B3D5}">
      <dgm:prSet/>
      <dgm:spPr/>
      <dgm:t>
        <a:bodyPr/>
        <a:lstStyle/>
        <a:p>
          <a:endParaRPr lang="vi-VN"/>
        </a:p>
      </dgm:t>
    </dgm:pt>
    <dgm:pt modelId="{83E18DC7-CA2C-4F21-AAB9-8F7C3D2CC03D}" type="pres">
      <dgm:prSet presAssocID="{2323B086-1834-404D-BF86-D7E3742DB3C6}" presName="linearFlow" presStyleCnt="0">
        <dgm:presLayoutVars>
          <dgm:dir/>
          <dgm:animLvl val="lvl"/>
          <dgm:resizeHandles val="exact"/>
        </dgm:presLayoutVars>
      </dgm:prSet>
      <dgm:spPr/>
      <dgm:t>
        <a:bodyPr/>
        <a:lstStyle/>
        <a:p>
          <a:endParaRPr lang="vi-VN"/>
        </a:p>
      </dgm:t>
    </dgm:pt>
    <dgm:pt modelId="{8CA3D8D9-C5D3-4B07-96B2-D57EB897391D}" type="pres">
      <dgm:prSet presAssocID="{0260F488-0856-4885-BE6A-D1B3BB6C6BDE}" presName="composite" presStyleCnt="0"/>
      <dgm:spPr/>
    </dgm:pt>
    <dgm:pt modelId="{2CC43149-30BB-41CF-A3CF-A8E9DA4C7E65}" type="pres">
      <dgm:prSet presAssocID="{0260F488-0856-4885-BE6A-D1B3BB6C6BDE}" presName="parentText" presStyleLbl="alignNode1" presStyleIdx="0" presStyleCnt="1">
        <dgm:presLayoutVars>
          <dgm:chMax val="1"/>
          <dgm:bulletEnabled val="1"/>
        </dgm:presLayoutVars>
      </dgm:prSet>
      <dgm:spPr/>
      <dgm:t>
        <a:bodyPr/>
        <a:lstStyle/>
        <a:p>
          <a:endParaRPr lang="vi-VN"/>
        </a:p>
      </dgm:t>
    </dgm:pt>
    <dgm:pt modelId="{FF0FE9B2-91E4-4688-AED9-7B41985CEB42}" type="pres">
      <dgm:prSet presAssocID="{0260F488-0856-4885-BE6A-D1B3BB6C6BDE}" presName="descendantText" presStyleLbl="alignAcc1" presStyleIdx="0" presStyleCnt="1">
        <dgm:presLayoutVars>
          <dgm:bulletEnabled val="1"/>
        </dgm:presLayoutVars>
      </dgm:prSet>
      <dgm:spPr/>
      <dgm:t>
        <a:bodyPr/>
        <a:lstStyle/>
        <a:p>
          <a:endParaRPr lang="vi-VN"/>
        </a:p>
      </dgm:t>
    </dgm:pt>
  </dgm:ptLst>
  <dgm:cxnLst>
    <dgm:cxn modelId="{ED16B1B1-B2FA-452A-8068-03E202D762B7}" type="presOf" srcId="{0260F488-0856-4885-BE6A-D1B3BB6C6BDE}" destId="{2CC43149-30BB-41CF-A3CF-A8E9DA4C7E65}" srcOrd="0" destOrd="0" presId="urn:microsoft.com/office/officeart/2005/8/layout/chevron2"/>
    <dgm:cxn modelId="{DC233F7C-E2CD-46C8-913A-2D8316E14C77}" type="presOf" srcId="{3F099641-3016-4E36-A57C-08492461DA9E}" destId="{FF0FE9B2-91E4-4688-AED9-7B41985CEB42}" srcOrd="0" destOrd="0" presId="urn:microsoft.com/office/officeart/2005/8/layout/chevron2"/>
    <dgm:cxn modelId="{586B4421-3B3B-455E-8291-AED72CCB3309}" type="presOf" srcId="{2323B086-1834-404D-BF86-D7E3742DB3C6}" destId="{83E18DC7-CA2C-4F21-AAB9-8F7C3D2CC03D}" srcOrd="0" destOrd="0" presId="urn:microsoft.com/office/officeart/2005/8/layout/chevron2"/>
    <dgm:cxn modelId="{A4ACD94A-AD73-41D7-B516-A082DD498B79}" srcId="{2323B086-1834-404D-BF86-D7E3742DB3C6}" destId="{0260F488-0856-4885-BE6A-D1B3BB6C6BDE}" srcOrd="0" destOrd="0" parTransId="{95040FC8-2CD3-4491-88A6-2B8A429D6FC9}" sibTransId="{3EC7BCE0-88DB-4C58-B4EE-49B0B146E157}"/>
    <dgm:cxn modelId="{EE78EB2D-9633-458C-AA1E-B32BDFB24DD5}" srcId="{778B28D7-5046-4E74-90E6-28410FAC41E4}" destId="{E798BC6D-45BE-44CB-8CC8-DB9C1471CA3C}" srcOrd="0" destOrd="0" parTransId="{0BAFAAA6-8B3D-4D7C-B198-6A51A840F645}" sibTransId="{C607F695-BB60-4E06-8B4C-02CFB151F2E8}"/>
    <dgm:cxn modelId="{6DE84731-F6EF-4749-A872-FE4A1BC18207}" type="presOf" srcId="{778B28D7-5046-4E74-90E6-28410FAC41E4}" destId="{FF0FE9B2-91E4-4688-AED9-7B41985CEB42}" srcOrd="0" destOrd="1" presId="urn:microsoft.com/office/officeart/2005/8/layout/chevron2"/>
    <dgm:cxn modelId="{A1656E6D-38D8-49C0-B402-C2F46C097650}" srcId="{0260F488-0856-4885-BE6A-D1B3BB6C6BDE}" destId="{778B28D7-5046-4E74-90E6-28410FAC41E4}" srcOrd="1" destOrd="0" parTransId="{EE6295D5-D397-4CAE-B69A-ABD00BC2ED9E}" sibTransId="{91E317F6-05BD-4692-AD76-BDF81928F364}"/>
    <dgm:cxn modelId="{C0C00E7F-A580-4DCC-8B5B-D6A24A51D0B7}" type="presOf" srcId="{E798BC6D-45BE-44CB-8CC8-DB9C1471CA3C}" destId="{FF0FE9B2-91E4-4688-AED9-7B41985CEB42}" srcOrd="0" destOrd="2" presId="urn:microsoft.com/office/officeart/2005/8/layout/chevron2"/>
    <dgm:cxn modelId="{15526149-690E-448A-A6B4-6D77B868B3D5}" srcId="{0260F488-0856-4885-BE6A-D1B3BB6C6BDE}" destId="{3F099641-3016-4E36-A57C-08492461DA9E}" srcOrd="0" destOrd="0" parTransId="{1DE74F0F-71C3-427F-9BA8-88247CBD5315}" sibTransId="{BCB2569F-AD56-4492-872D-7BFEBE5F40D9}"/>
    <dgm:cxn modelId="{9CFC73CC-BF3B-446C-81EA-AD7479BA8295}" type="presParOf" srcId="{83E18DC7-CA2C-4F21-AAB9-8F7C3D2CC03D}" destId="{8CA3D8D9-C5D3-4B07-96B2-D57EB897391D}" srcOrd="0" destOrd="0" presId="urn:microsoft.com/office/officeart/2005/8/layout/chevron2"/>
    <dgm:cxn modelId="{9BEC2CBB-52C6-408D-BACA-F185D766632F}" type="presParOf" srcId="{8CA3D8D9-C5D3-4B07-96B2-D57EB897391D}" destId="{2CC43149-30BB-41CF-A3CF-A8E9DA4C7E65}" srcOrd="0" destOrd="0" presId="urn:microsoft.com/office/officeart/2005/8/layout/chevron2"/>
    <dgm:cxn modelId="{89C75657-4537-4EB9-8F76-464CDC33E1BE}" type="presParOf" srcId="{8CA3D8D9-C5D3-4B07-96B2-D57EB897391D}" destId="{FF0FE9B2-91E4-4688-AED9-7B41985CEB4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B18B16-63FD-4731-BEA9-D1205F7F641D}" type="doc">
      <dgm:prSet loTypeId="urn:microsoft.com/office/officeart/2005/8/layout/radial5" loCatId="cycle" qsTypeId="urn:microsoft.com/office/officeart/2005/8/quickstyle/3d6" qsCatId="3D" csTypeId="urn:microsoft.com/office/officeart/2005/8/colors/colorful5" csCatId="colorful" phldr="1"/>
      <dgm:spPr/>
      <dgm:t>
        <a:bodyPr/>
        <a:lstStyle/>
        <a:p>
          <a:endParaRPr lang="vi-VN"/>
        </a:p>
      </dgm:t>
    </dgm:pt>
    <dgm:pt modelId="{972ABE0C-207C-4ACA-B619-EF38C1A4BABD}">
      <dgm:prSet phldrT="[Text]"/>
      <dgm:spPr/>
      <dgm:t>
        <a:bodyPr/>
        <a:lstStyle/>
        <a:p>
          <a:r>
            <a:rPr lang="vi-VN" b="1" smtClean="0"/>
            <a:t>Infomation Systems</a:t>
          </a:r>
          <a:endParaRPr lang="vi-VN" b="1"/>
        </a:p>
      </dgm:t>
    </dgm:pt>
    <dgm:pt modelId="{914B6259-04C5-4732-A9F4-FD850D1E8DE0}" type="parTrans" cxnId="{85AC684A-8277-4722-B496-EDE9E75C167B}">
      <dgm:prSet/>
      <dgm:spPr/>
      <dgm:t>
        <a:bodyPr/>
        <a:lstStyle/>
        <a:p>
          <a:endParaRPr lang="vi-VN"/>
        </a:p>
      </dgm:t>
    </dgm:pt>
    <dgm:pt modelId="{EF11377A-ACDC-429D-95C3-6F252F6BEBC3}" type="sibTrans" cxnId="{85AC684A-8277-4722-B496-EDE9E75C167B}">
      <dgm:prSet/>
      <dgm:spPr/>
      <dgm:t>
        <a:bodyPr/>
        <a:lstStyle/>
        <a:p>
          <a:endParaRPr lang="vi-VN"/>
        </a:p>
      </dgm:t>
    </dgm:pt>
    <dgm:pt modelId="{BE57A27E-9D56-45AE-BADD-2D27ECE5AC46}">
      <dgm:prSet phldrT="[Text]"/>
      <dgm:spPr/>
      <dgm:t>
        <a:bodyPr/>
        <a:lstStyle/>
        <a:p>
          <a:r>
            <a:rPr lang="vi-VN" smtClean="0"/>
            <a:t>People</a:t>
          </a:r>
          <a:endParaRPr lang="vi-VN"/>
        </a:p>
      </dgm:t>
    </dgm:pt>
    <dgm:pt modelId="{1BC48871-AC63-4F2F-9F8E-BE97443AEDF8}" type="parTrans" cxnId="{E6FB832D-9F86-4DC4-BE66-13AACAB10E82}">
      <dgm:prSet/>
      <dgm:spPr/>
      <dgm:t>
        <a:bodyPr/>
        <a:lstStyle/>
        <a:p>
          <a:endParaRPr lang="vi-VN"/>
        </a:p>
      </dgm:t>
    </dgm:pt>
    <dgm:pt modelId="{D3D8B619-16C5-43F5-B480-D30E8B3B5F3A}" type="sibTrans" cxnId="{E6FB832D-9F86-4DC4-BE66-13AACAB10E82}">
      <dgm:prSet/>
      <dgm:spPr/>
      <dgm:t>
        <a:bodyPr/>
        <a:lstStyle/>
        <a:p>
          <a:endParaRPr lang="vi-VN"/>
        </a:p>
      </dgm:t>
    </dgm:pt>
    <dgm:pt modelId="{2377DD6B-683D-4368-8990-B445C262B58E}">
      <dgm:prSet phldrT="[Text]"/>
      <dgm:spPr/>
      <dgm:t>
        <a:bodyPr/>
        <a:lstStyle/>
        <a:p>
          <a:r>
            <a:rPr lang="en-US" smtClean="0"/>
            <a:t>Quy trình</a:t>
          </a:r>
          <a:endParaRPr lang="vi-VN"/>
        </a:p>
      </dgm:t>
    </dgm:pt>
    <dgm:pt modelId="{45196D02-3F6E-4ACD-9E64-5E5C2373E8F5}" type="parTrans" cxnId="{A12B8408-D7EE-42E0-94BB-D036AE880E6B}">
      <dgm:prSet/>
      <dgm:spPr/>
      <dgm:t>
        <a:bodyPr/>
        <a:lstStyle/>
        <a:p>
          <a:endParaRPr lang="vi-VN"/>
        </a:p>
      </dgm:t>
    </dgm:pt>
    <dgm:pt modelId="{F1DAA24A-490E-47C5-8D2C-A022644E16BE}" type="sibTrans" cxnId="{A12B8408-D7EE-42E0-94BB-D036AE880E6B}">
      <dgm:prSet/>
      <dgm:spPr/>
      <dgm:t>
        <a:bodyPr/>
        <a:lstStyle/>
        <a:p>
          <a:endParaRPr lang="vi-VN"/>
        </a:p>
      </dgm:t>
    </dgm:pt>
    <dgm:pt modelId="{354ABA15-322F-4438-A894-B547678A7B96}">
      <dgm:prSet phldrT="[Text]"/>
      <dgm:spPr/>
      <dgm:t>
        <a:bodyPr/>
        <a:lstStyle/>
        <a:p>
          <a:r>
            <a:rPr lang="vi-VN" smtClean="0"/>
            <a:t>Software</a:t>
          </a:r>
          <a:endParaRPr lang="vi-VN"/>
        </a:p>
      </dgm:t>
    </dgm:pt>
    <dgm:pt modelId="{F84C81B7-8F97-42D9-A08E-E08F672483FD}" type="parTrans" cxnId="{D85F54E7-FF3C-4EBE-BFBD-2BAEAE8B3838}">
      <dgm:prSet/>
      <dgm:spPr/>
      <dgm:t>
        <a:bodyPr/>
        <a:lstStyle/>
        <a:p>
          <a:endParaRPr lang="vi-VN"/>
        </a:p>
      </dgm:t>
    </dgm:pt>
    <dgm:pt modelId="{4738140D-CCD7-41EE-81CC-F1BDF8D9BD8E}" type="sibTrans" cxnId="{D85F54E7-FF3C-4EBE-BFBD-2BAEAE8B3838}">
      <dgm:prSet/>
      <dgm:spPr/>
      <dgm:t>
        <a:bodyPr/>
        <a:lstStyle/>
        <a:p>
          <a:endParaRPr lang="vi-VN"/>
        </a:p>
      </dgm:t>
    </dgm:pt>
    <dgm:pt modelId="{2A48F0C6-8BAB-42E6-B408-5E6408B06799}">
      <dgm:prSet phldrT="[Text]"/>
      <dgm:spPr/>
      <dgm:t>
        <a:bodyPr/>
        <a:lstStyle/>
        <a:p>
          <a:r>
            <a:rPr lang="vi-VN" smtClean="0"/>
            <a:t>Hardware</a:t>
          </a:r>
          <a:endParaRPr lang="vi-VN"/>
        </a:p>
      </dgm:t>
    </dgm:pt>
    <dgm:pt modelId="{30E95F8F-19BC-46BE-919A-F22A53D035D0}" type="parTrans" cxnId="{99DC57F2-2448-447E-A2AA-463C63BA5D88}">
      <dgm:prSet/>
      <dgm:spPr/>
      <dgm:t>
        <a:bodyPr/>
        <a:lstStyle/>
        <a:p>
          <a:endParaRPr lang="vi-VN"/>
        </a:p>
      </dgm:t>
    </dgm:pt>
    <dgm:pt modelId="{10C47B78-4691-45AC-A0CC-DC7E4F10DAE3}" type="sibTrans" cxnId="{99DC57F2-2448-447E-A2AA-463C63BA5D88}">
      <dgm:prSet/>
      <dgm:spPr/>
      <dgm:t>
        <a:bodyPr/>
        <a:lstStyle/>
        <a:p>
          <a:endParaRPr lang="vi-VN"/>
        </a:p>
      </dgm:t>
    </dgm:pt>
    <dgm:pt modelId="{EB29D280-5ECA-4646-9C53-6FB858757214}">
      <dgm:prSet phldrT="[Text]"/>
      <dgm:spPr/>
      <dgm:t>
        <a:bodyPr/>
        <a:lstStyle/>
        <a:p>
          <a:r>
            <a:rPr lang="vi-VN" smtClean="0"/>
            <a:t>Data</a:t>
          </a:r>
          <a:endParaRPr lang="vi-VN"/>
        </a:p>
      </dgm:t>
    </dgm:pt>
    <dgm:pt modelId="{90A8081E-7C48-43F5-B1BC-E971D35E7286}" type="parTrans" cxnId="{55929684-27AE-4DCB-85FC-7536DB6222D1}">
      <dgm:prSet/>
      <dgm:spPr/>
      <dgm:t>
        <a:bodyPr/>
        <a:lstStyle/>
        <a:p>
          <a:endParaRPr lang="vi-VN"/>
        </a:p>
      </dgm:t>
    </dgm:pt>
    <dgm:pt modelId="{54DB9E01-C69F-4803-A64F-97AC8ACE0BBC}" type="sibTrans" cxnId="{55929684-27AE-4DCB-85FC-7536DB6222D1}">
      <dgm:prSet/>
      <dgm:spPr/>
      <dgm:t>
        <a:bodyPr/>
        <a:lstStyle/>
        <a:p>
          <a:endParaRPr lang="vi-VN"/>
        </a:p>
      </dgm:t>
    </dgm:pt>
    <dgm:pt modelId="{0F7688CD-62EE-4A52-99CC-2410F59A92F0}" type="pres">
      <dgm:prSet presAssocID="{C9B18B16-63FD-4731-BEA9-D1205F7F641D}" presName="Name0" presStyleCnt="0">
        <dgm:presLayoutVars>
          <dgm:chMax val="1"/>
          <dgm:dir/>
          <dgm:animLvl val="ctr"/>
          <dgm:resizeHandles val="exact"/>
        </dgm:presLayoutVars>
      </dgm:prSet>
      <dgm:spPr/>
      <dgm:t>
        <a:bodyPr/>
        <a:lstStyle/>
        <a:p>
          <a:endParaRPr lang="vi-VN"/>
        </a:p>
      </dgm:t>
    </dgm:pt>
    <dgm:pt modelId="{12E5D0F6-D663-4209-B3A5-533FF24D5E21}" type="pres">
      <dgm:prSet presAssocID="{972ABE0C-207C-4ACA-B619-EF38C1A4BABD}" presName="centerShape" presStyleLbl="node0" presStyleIdx="0" presStyleCnt="1" custScaleX="147219"/>
      <dgm:spPr/>
      <dgm:t>
        <a:bodyPr/>
        <a:lstStyle/>
        <a:p>
          <a:endParaRPr lang="vi-VN"/>
        </a:p>
      </dgm:t>
    </dgm:pt>
    <dgm:pt modelId="{6DA78B39-FC09-4E73-8AA1-A192F5B4773D}" type="pres">
      <dgm:prSet presAssocID="{1BC48871-AC63-4F2F-9F8E-BE97443AEDF8}" presName="parTrans" presStyleLbl="sibTrans2D1" presStyleIdx="0" presStyleCnt="5" custAng="10800000"/>
      <dgm:spPr/>
      <dgm:t>
        <a:bodyPr/>
        <a:lstStyle/>
        <a:p>
          <a:endParaRPr lang="vi-VN"/>
        </a:p>
      </dgm:t>
    </dgm:pt>
    <dgm:pt modelId="{633D3CC1-C0A8-408E-B6BC-138E0202B956}" type="pres">
      <dgm:prSet presAssocID="{1BC48871-AC63-4F2F-9F8E-BE97443AEDF8}" presName="connectorText" presStyleLbl="sibTrans2D1" presStyleIdx="0" presStyleCnt="5"/>
      <dgm:spPr/>
      <dgm:t>
        <a:bodyPr/>
        <a:lstStyle/>
        <a:p>
          <a:endParaRPr lang="vi-VN"/>
        </a:p>
      </dgm:t>
    </dgm:pt>
    <dgm:pt modelId="{4267B0E3-F9CD-4B50-A96D-2C6E06E414AC}" type="pres">
      <dgm:prSet presAssocID="{BE57A27E-9D56-45AE-BADD-2D27ECE5AC46}" presName="node" presStyleLbl="node1" presStyleIdx="0" presStyleCnt="5" custScaleX="124273" custScaleY="66873" custRadScaleRad="100108" custRadScaleInc="0">
        <dgm:presLayoutVars>
          <dgm:bulletEnabled val="1"/>
        </dgm:presLayoutVars>
      </dgm:prSet>
      <dgm:spPr/>
      <dgm:t>
        <a:bodyPr/>
        <a:lstStyle/>
        <a:p>
          <a:endParaRPr lang="vi-VN"/>
        </a:p>
      </dgm:t>
    </dgm:pt>
    <dgm:pt modelId="{A8D9D943-13F7-4C89-9ABD-266BD2E5A5E1}" type="pres">
      <dgm:prSet presAssocID="{45196D02-3F6E-4ACD-9E64-5E5C2373E8F5}" presName="parTrans" presStyleLbl="sibTrans2D1" presStyleIdx="1" presStyleCnt="5" custAng="10035962"/>
      <dgm:spPr/>
      <dgm:t>
        <a:bodyPr/>
        <a:lstStyle/>
        <a:p>
          <a:endParaRPr lang="vi-VN"/>
        </a:p>
      </dgm:t>
    </dgm:pt>
    <dgm:pt modelId="{A2C17460-0680-4D8E-9ACC-A2FF27EABB69}" type="pres">
      <dgm:prSet presAssocID="{45196D02-3F6E-4ACD-9E64-5E5C2373E8F5}" presName="connectorText" presStyleLbl="sibTrans2D1" presStyleIdx="1" presStyleCnt="5"/>
      <dgm:spPr/>
      <dgm:t>
        <a:bodyPr/>
        <a:lstStyle/>
        <a:p>
          <a:endParaRPr lang="vi-VN"/>
        </a:p>
      </dgm:t>
    </dgm:pt>
    <dgm:pt modelId="{08E3A803-B41D-466F-8F1F-7B2D1553FD4D}" type="pres">
      <dgm:prSet presAssocID="{2377DD6B-683D-4368-8990-B445C262B58E}" presName="node" presStyleLbl="node1" presStyleIdx="1" presStyleCnt="5" custScaleX="131368" custScaleY="64382" custRadScaleRad="130744" custRadScaleInc="9471">
        <dgm:presLayoutVars>
          <dgm:bulletEnabled val="1"/>
        </dgm:presLayoutVars>
      </dgm:prSet>
      <dgm:spPr/>
      <dgm:t>
        <a:bodyPr/>
        <a:lstStyle/>
        <a:p>
          <a:endParaRPr lang="vi-VN"/>
        </a:p>
      </dgm:t>
    </dgm:pt>
    <dgm:pt modelId="{91C6FC9B-2D52-40A9-9D07-7BB43C3460AD}" type="pres">
      <dgm:prSet presAssocID="{F84C81B7-8F97-42D9-A08E-E08F672483FD}" presName="parTrans" presStyleLbl="sibTrans2D1" presStyleIdx="2" presStyleCnt="5" custAng="10669819"/>
      <dgm:spPr/>
      <dgm:t>
        <a:bodyPr/>
        <a:lstStyle/>
        <a:p>
          <a:endParaRPr lang="vi-VN"/>
        </a:p>
      </dgm:t>
    </dgm:pt>
    <dgm:pt modelId="{0C2666E5-12FB-434D-A810-2307179DA248}" type="pres">
      <dgm:prSet presAssocID="{F84C81B7-8F97-42D9-A08E-E08F672483FD}" presName="connectorText" presStyleLbl="sibTrans2D1" presStyleIdx="2" presStyleCnt="5"/>
      <dgm:spPr/>
      <dgm:t>
        <a:bodyPr/>
        <a:lstStyle/>
        <a:p>
          <a:endParaRPr lang="vi-VN"/>
        </a:p>
      </dgm:t>
    </dgm:pt>
    <dgm:pt modelId="{B1B4CE8B-B7E4-4D29-8E7C-C26EF203F60A}" type="pres">
      <dgm:prSet presAssocID="{354ABA15-322F-4438-A894-B547678A7B96}" presName="node" presStyleLbl="node1" presStyleIdx="2" presStyleCnt="5" custScaleX="120717" custScaleY="66673" custRadScaleRad="157622" custRadScaleInc="-56734">
        <dgm:presLayoutVars>
          <dgm:bulletEnabled val="1"/>
        </dgm:presLayoutVars>
      </dgm:prSet>
      <dgm:spPr/>
      <dgm:t>
        <a:bodyPr/>
        <a:lstStyle/>
        <a:p>
          <a:endParaRPr lang="vi-VN"/>
        </a:p>
      </dgm:t>
    </dgm:pt>
    <dgm:pt modelId="{168D6564-8D03-4040-BF31-EA8D65E2D9E4}" type="pres">
      <dgm:prSet presAssocID="{30E95F8F-19BC-46BE-919A-F22A53D035D0}" presName="parTrans" presStyleLbl="sibTrans2D1" presStyleIdx="3" presStyleCnt="5" custAng="10526914"/>
      <dgm:spPr/>
      <dgm:t>
        <a:bodyPr/>
        <a:lstStyle/>
        <a:p>
          <a:endParaRPr lang="vi-VN"/>
        </a:p>
      </dgm:t>
    </dgm:pt>
    <dgm:pt modelId="{F007B466-76F0-42B3-A5D5-1EA1C1798748}" type="pres">
      <dgm:prSet presAssocID="{30E95F8F-19BC-46BE-919A-F22A53D035D0}" presName="connectorText" presStyleLbl="sibTrans2D1" presStyleIdx="3" presStyleCnt="5"/>
      <dgm:spPr/>
      <dgm:t>
        <a:bodyPr/>
        <a:lstStyle/>
        <a:p>
          <a:endParaRPr lang="vi-VN"/>
        </a:p>
      </dgm:t>
    </dgm:pt>
    <dgm:pt modelId="{9911A81A-262F-429E-93C9-931AE346533F}" type="pres">
      <dgm:prSet presAssocID="{2A48F0C6-8BAB-42E6-B408-5E6408B06799}" presName="node" presStyleLbl="node1" presStyleIdx="3" presStyleCnt="5" custScaleX="115734" custScaleY="63215" custRadScaleRad="141683" custRadScaleInc="39292">
        <dgm:presLayoutVars>
          <dgm:bulletEnabled val="1"/>
        </dgm:presLayoutVars>
      </dgm:prSet>
      <dgm:spPr/>
      <dgm:t>
        <a:bodyPr/>
        <a:lstStyle/>
        <a:p>
          <a:endParaRPr lang="vi-VN"/>
        </a:p>
      </dgm:t>
    </dgm:pt>
    <dgm:pt modelId="{4130BBE6-50FE-4F86-87BB-F8925405672B}" type="pres">
      <dgm:prSet presAssocID="{90A8081E-7C48-43F5-B1BC-E971D35E7286}" presName="parTrans" presStyleLbl="sibTrans2D1" presStyleIdx="4" presStyleCnt="5" custAng="11038565"/>
      <dgm:spPr/>
      <dgm:t>
        <a:bodyPr/>
        <a:lstStyle/>
        <a:p>
          <a:endParaRPr lang="vi-VN"/>
        </a:p>
      </dgm:t>
    </dgm:pt>
    <dgm:pt modelId="{989C2A37-ED1F-4EB2-A73F-A99B9F240D21}" type="pres">
      <dgm:prSet presAssocID="{90A8081E-7C48-43F5-B1BC-E971D35E7286}" presName="connectorText" presStyleLbl="sibTrans2D1" presStyleIdx="4" presStyleCnt="5"/>
      <dgm:spPr/>
      <dgm:t>
        <a:bodyPr/>
        <a:lstStyle/>
        <a:p>
          <a:endParaRPr lang="vi-VN"/>
        </a:p>
      </dgm:t>
    </dgm:pt>
    <dgm:pt modelId="{5E853FDA-FCC9-47D6-9391-34A4C822FFD0}" type="pres">
      <dgm:prSet presAssocID="{EB29D280-5ECA-4646-9C53-6FB858757214}" presName="node" presStyleLbl="node1" presStyleIdx="4" presStyleCnt="5" custScaleX="119217" custScaleY="62830" custRadScaleRad="150824" custRadScaleInc="-14363">
        <dgm:presLayoutVars>
          <dgm:bulletEnabled val="1"/>
        </dgm:presLayoutVars>
      </dgm:prSet>
      <dgm:spPr/>
      <dgm:t>
        <a:bodyPr/>
        <a:lstStyle/>
        <a:p>
          <a:endParaRPr lang="vi-VN"/>
        </a:p>
      </dgm:t>
    </dgm:pt>
  </dgm:ptLst>
  <dgm:cxnLst>
    <dgm:cxn modelId="{41008ECC-C14F-4454-8914-F3734F144D6E}" type="presOf" srcId="{2A48F0C6-8BAB-42E6-B408-5E6408B06799}" destId="{9911A81A-262F-429E-93C9-931AE346533F}" srcOrd="0" destOrd="0" presId="urn:microsoft.com/office/officeart/2005/8/layout/radial5"/>
    <dgm:cxn modelId="{010BDA3A-1CFA-420E-A5EC-CCB95F4ED51F}" type="presOf" srcId="{1BC48871-AC63-4F2F-9F8E-BE97443AEDF8}" destId="{633D3CC1-C0A8-408E-B6BC-138E0202B956}" srcOrd="1" destOrd="0" presId="urn:microsoft.com/office/officeart/2005/8/layout/radial5"/>
    <dgm:cxn modelId="{F77D2B3C-AA86-46F7-9214-A46E7C4CBF98}" type="presOf" srcId="{354ABA15-322F-4438-A894-B547678A7B96}" destId="{B1B4CE8B-B7E4-4D29-8E7C-C26EF203F60A}" srcOrd="0" destOrd="0" presId="urn:microsoft.com/office/officeart/2005/8/layout/radial5"/>
    <dgm:cxn modelId="{6DB587CF-1C54-4AC2-9324-F8806A70C251}" type="presOf" srcId="{30E95F8F-19BC-46BE-919A-F22A53D035D0}" destId="{F007B466-76F0-42B3-A5D5-1EA1C1798748}" srcOrd="1" destOrd="0" presId="urn:microsoft.com/office/officeart/2005/8/layout/radial5"/>
    <dgm:cxn modelId="{8EF7A45D-0E92-4E20-87DA-794DF2BAF9B4}" type="presOf" srcId="{45196D02-3F6E-4ACD-9E64-5E5C2373E8F5}" destId="{A8D9D943-13F7-4C89-9ABD-266BD2E5A5E1}" srcOrd="0" destOrd="0" presId="urn:microsoft.com/office/officeart/2005/8/layout/radial5"/>
    <dgm:cxn modelId="{A12B8408-D7EE-42E0-94BB-D036AE880E6B}" srcId="{972ABE0C-207C-4ACA-B619-EF38C1A4BABD}" destId="{2377DD6B-683D-4368-8990-B445C262B58E}" srcOrd="1" destOrd="0" parTransId="{45196D02-3F6E-4ACD-9E64-5E5C2373E8F5}" sibTransId="{F1DAA24A-490E-47C5-8D2C-A022644E16BE}"/>
    <dgm:cxn modelId="{D85F54E7-FF3C-4EBE-BFBD-2BAEAE8B3838}" srcId="{972ABE0C-207C-4ACA-B619-EF38C1A4BABD}" destId="{354ABA15-322F-4438-A894-B547678A7B96}" srcOrd="2" destOrd="0" parTransId="{F84C81B7-8F97-42D9-A08E-E08F672483FD}" sibTransId="{4738140D-CCD7-41EE-81CC-F1BDF8D9BD8E}"/>
    <dgm:cxn modelId="{85AC684A-8277-4722-B496-EDE9E75C167B}" srcId="{C9B18B16-63FD-4731-BEA9-D1205F7F641D}" destId="{972ABE0C-207C-4ACA-B619-EF38C1A4BABD}" srcOrd="0" destOrd="0" parTransId="{914B6259-04C5-4732-A9F4-FD850D1E8DE0}" sibTransId="{EF11377A-ACDC-429D-95C3-6F252F6BEBC3}"/>
    <dgm:cxn modelId="{7B1046A5-DF5E-4C17-BF31-EA32F07FF61A}" type="presOf" srcId="{BE57A27E-9D56-45AE-BADD-2D27ECE5AC46}" destId="{4267B0E3-F9CD-4B50-A96D-2C6E06E414AC}" srcOrd="0" destOrd="0" presId="urn:microsoft.com/office/officeart/2005/8/layout/radial5"/>
    <dgm:cxn modelId="{30466563-52B0-498E-AED5-0AA48E3CCDFB}" type="presOf" srcId="{C9B18B16-63FD-4731-BEA9-D1205F7F641D}" destId="{0F7688CD-62EE-4A52-99CC-2410F59A92F0}" srcOrd="0" destOrd="0" presId="urn:microsoft.com/office/officeart/2005/8/layout/radial5"/>
    <dgm:cxn modelId="{1F06D10A-AA80-40D5-B643-86E55FE93509}" type="presOf" srcId="{972ABE0C-207C-4ACA-B619-EF38C1A4BABD}" destId="{12E5D0F6-D663-4209-B3A5-533FF24D5E21}" srcOrd="0" destOrd="0" presId="urn:microsoft.com/office/officeart/2005/8/layout/radial5"/>
    <dgm:cxn modelId="{1E3547BC-D2C5-4B8F-AAA5-EA2471614C9A}" type="presOf" srcId="{EB29D280-5ECA-4646-9C53-6FB858757214}" destId="{5E853FDA-FCC9-47D6-9391-34A4C822FFD0}" srcOrd="0" destOrd="0" presId="urn:microsoft.com/office/officeart/2005/8/layout/radial5"/>
    <dgm:cxn modelId="{53AC3108-EA72-482C-8159-ADF95D9989E5}" type="presOf" srcId="{90A8081E-7C48-43F5-B1BC-E971D35E7286}" destId="{989C2A37-ED1F-4EB2-A73F-A99B9F240D21}" srcOrd="1" destOrd="0" presId="urn:microsoft.com/office/officeart/2005/8/layout/radial5"/>
    <dgm:cxn modelId="{274887E6-70D0-4450-A260-C9CF883E6CF7}" type="presOf" srcId="{F84C81B7-8F97-42D9-A08E-E08F672483FD}" destId="{0C2666E5-12FB-434D-A810-2307179DA248}" srcOrd="1" destOrd="0" presId="urn:microsoft.com/office/officeart/2005/8/layout/radial5"/>
    <dgm:cxn modelId="{E6FB832D-9F86-4DC4-BE66-13AACAB10E82}" srcId="{972ABE0C-207C-4ACA-B619-EF38C1A4BABD}" destId="{BE57A27E-9D56-45AE-BADD-2D27ECE5AC46}" srcOrd="0" destOrd="0" parTransId="{1BC48871-AC63-4F2F-9F8E-BE97443AEDF8}" sibTransId="{D3D8B619-16C5-43F5-B480-D30E8B3B5F3A}"/>
    <dgm:cxn modelId="{5354AEB9-EEF9-4F5A-A146-5D9276574B0F}" type="presOf" srcId="{2377DD6B-683D-4368-8990-B445C262B58E}" destId="{08E3A803-B41D-466F-8F1F-7B2D1553FD4D}" srcOrd="0" destOrd="0" presId="urn:microsoft.com/office/officeart/2005/8/layout/radial5"/>
    <dgm:cxn modelId="{99DC57F2-2448-447E-A2AA-463C63BA5D88}" srcId="{972ABE0C-207C-4ACA-B619-EF38C1A4BABD}" destId="{2A48F0C6-8BAB-42E6-B408-5E6408B06799}" srcOrd="3" destOrd="0" parTransId="{30E95F8F-19BC-46BE-919A-F22A53D035D0}" sibTransId="{10C47B78-4691-45AC-A0CC-DC7E4F10DAE3}"/>
    <dgm:cxn modelId="{0C043451-169D-4DAE-9A9E-C3C6A569A169}" type="presOf" srcId="{F84C81B7-8F97-42D9-A08E-E08F672483FD}" destId="{91C6FC9B-2D52-40A9-9D07-7BB43C3460AD}" srcOrd="0" destOrd="0" presId="urn:microsoft.com/office/officeart/2005/8/layout/radial5"/>
    <dgm:cxn modelId="{A691FB76-45EE-4C23-AF61-8D02C699310A}" type="presOf" srcId="{1BC48871-AC63-4F2F-9F8E-BE97443AEDF8}" destId="{6DA78B39-FC09-4E73-8AA1-A192F5B4773D}" srcOrd="0" destOrd="0" presId="urn:microsoft.com/office/officeart/2005/8/layout/radial5"/>
    <dgm:cxn modelId="{86781491-DD39-4B9A-A6E1-0A2FE416BBE6}" type="presOf" srcId="{90A8081E-7C48-43F5-B1BC-E971D35E7286}" destId="{4130BBE6-50FE-4F86-87BB-F8925405672B}" srcOrd="0" destOrd="0" presId="urn:microsoft.com/office/officeart/2005/8/layout/radial5"/>
    <dgm:cxn modelId="{B3B241EA-A665-4F9F-8161-0E98F9975A74}" type="presOf" srcId="{30E95F8F-19BC-46BE-919A-F22A53D035D0}" destId="{168D6564-8D03-4040-BF31-EA8D65E2D9E4}" srcOrd="0" destOrd="0" presId="urn:microsoft.com/office/officeart/2005/8/layout/radial5"/>
    <dgm:cxn modelId="{AF38781B-CE82-4A82-A888-91DF04AC2E24}" type="presOf" srcId="{45196D02-3F6E-4ACD-9E64-5E5C2373E8F5}" destId="{A2C17460-0680-4D8E-9ACC-A2FF27EABB69}" srcOrd="1" destOrd="0" presId="urn:microsoft.com/office/officeart/2005/8/layout/radial5"/>
    <dgm:cxn modelId="{55929684-27AE-4DCB-85FC-7536DB6222D1}" srcId="{972ABE0C-207C-4ACA-B619-EF38C1A4BABD}" destId="{EB29D280-5ECA-4646-9C53-6FB858757214}" srcOrd="4" destOrd="0" parTransId="{90A8081E-7C48-43F5-B1BC-E971D35E7286}" sibTransId="{54DB9E01-C69F-4803-A64F-97AC8ACE0BBC}"/>
    <dgm:cxn modelId="{22968980-597C-422C-BDF8-7B894F47293D}" type="presParOf" srcId="{0F7688CD-62EE-4A52-99CC-2410F59A92F0}" destId="{12E5D0F6-D663-4209-B3A5-533FF24D5E21}" srcOrd="0" destOrd="0" presId="urn:microsoft.com/office/officeart/2005/8/layout/radial5"/>
    <dgm:cxn modelId="{0DBBCACF-6F59-4659-9090-7E522B0365C8}" type="presParOf" srcId="{0F7688CD-62EE-4A52-99CC-2410F59A92F0}" destId="{6DA78B39-FC09-4E73-8AA1-A192F5B4773D}" srcOrd="1" destOrd="0" presId="urn:microsoft.com/office/officeart/2005/8/layout/radial5"/>
    <dgm:cxn modelId="{50D01882-017A-4A52-B4D7-ABCC1A4972F9}" type="presParOf" srcId="{6DA78B39-FC09-4E73-8AA1-A192F5B4773D}" destId="{633D3CC1-C0A8-408E-B6BC-138E0202B956}" srcOrd="0" destOrd="0" presId="urn:microsoft.com/office/officeart/2005/8/layout/radial5"/>
    <dgm:cxn modelId="{8FC1D95D-88F8-4E23-9D85-C5D9A0B79B53}" type="presParOf" srcId="{0F7688CD-62EE-4A52-99CC-2410F59A92F0}" destId="{4267B0E3-F9CD-4B50-A96D-2C6E06E414AC}" srcOrd="2" destOrd="0" presId="urn:microsoft.com/office/officeart/2005/8/layout/radial5"/>
    <dgm:cxn modelId="{3D97BA81-C15E-40D6-9B54-1A37EFF13D1E}" type="presParOf" srcId="{0F7688CD-62EE-4A52-99CC-2410F59A92F0}" destId="{A8D9D943-13F7-4C89-9ABD-266BD2E5A5E1}" srcOrd="3" destOrd="0" presId="urn:microsoft.com/office/officeart/2005/8/layout/radial5"/>
    <dgm:cxn modelId="{7D986FE4-C0B3-4699-994B-2A8D45A96A95}" type="presParOf" srcId="{A8D9D943-13F7-4C89-9ABD-266BD2E5A5E1}" destId="{A2C17460-0680-4D8E-9ACC-A2FF27EABB69}" srcOrd="0" destOrd="0" presId="urn:microsoft.com/office/officeart/2005/8/layout/radial5"/>
    <dgm:cxn modelId="{EDAACB33-4E99-4A4F-904F-B6CB9E8B7542}" type="presParOf" srcId="{0F7688CD-62EE-4A52-99CC-2410F59A92F0}" destId="{08E3A803-B41D-466F-8F1F-7B2D1553FD4D}" srcOrd="4" destOrd="0" presId="urn:microsoft.com/office/officeart/2005/8/layout/radial5"/>
    <dgm:cxn modelId="{DB4E7F6C-0129-444A-ADA1-FE652F2201C6}" type="presParOf" srcId="{0F7688CD-62EE-4A52-99CC-2410F59A92F0}" destId="{91C6FC9B-2D52-40A9-9D07-7BB43C3460AD}" srcOrd="5" destOrd="0" presId="urn:microsoft.com/office/officeart/2005/8/layout/radial5"/>
    <dgm:cxn modelId="{38CD86A4-309C-4D58-A3A9-82D8C7F8BE4D}" type="presParOf" srcId="{91C6FC9B-2D52-40A9-9D07-7BB43C3460AD}" destId="{0C2666E5-12FB-434D-A810-2307179DA248}" srcOrd="0" destOrd="0" presId="urn:microsoft.com/office/officeart/2005/8/layout/radial5"/>
    <dgm:cxn modelId="{9E341732-3587-493A-9D26-68B6C4944913}" type="presParOf" srcId="{0F7688CD-62EE-4A52-99CC-2410F59A92F0}" destId="{B1B4CE8B-B7E4-4D29-8E7C-C26EF203F60A}" srcOrd="6" destOrd="0" presId="urn:microsoft.com/office/officeart/2005/8/layout/radial5"/>
    <dgm:cxn modelId="{9A0EC337-63C3-4796-BF39-8530D411ACEB}" type="presParOf" srcId="{0F7688CD-62EE-4A52-99CC-2410F59A92F0}" destId="{168D6564-8D03-4040-BF31-EA8D65E2D9E4}" srcOrd="7" destOrd="0" presId="urn:microsoft.com/office/officeart/2005/8/layout/radial5"/>
    <dgm:cxn modelId="{52CE140D-5938-46BE-A072-89D11D25A8A5}" type="presParOf" srcId="{168D6564-8D03-4040-BF31-EA8D65E2D9E4}" destId="{F007B466-76F0-42B3-A5D5-1EA1C1798748}" srcOrd="0" destOrd="0" presId="urn:microsoft.com/office/officeart/2005/8/layout/radial5"/>
    <dgm:cxn modelId="{E7F7A007-813C-4D44-A305-14E327A502C3}" type="presParOf" srcId="{0F7688CD-62EE-4A52-99CC-2410F59A92F0}" destId="{9911A81A-262F-429E-93C9-931AE346533F}" srcOrd="8" destOrd="0" presId="urn:microsoft.com/office/officeart/2005/8/layout/radial5"/>
    <dgm:cxn modelId="{2185B713-7632-4F44-9E67-67E26AD52260}" type="presParOf" srcId="{0F7688CD-62EE-4A52-99CC-2410F59A92F0}" destId="{4130BBE6-50FE-4F86-87BB-F8925405672B}" srcOrd="9" destOrd="0" presId="urn:microsoft.com/office/officeart/2005/8/layout/radial5"/>
    <dgm:cxn modelId="{1278C1C8-DFA0-4EB9-972A-A3024AF72490}" type="presParOf" srcId="{4130BBE6-50FE-4F86-87BB-F8925405672B}" destId="{989C2A37-ED1F-4EB2-A73F-A99B9F240D21}" srcOrd="0" destOrd="0" presId="urn:microsoft.com/office/officeart/2005/8/layout/radial5"/>
    <dgm:cxn modelId="{5D5D7661-8D27-429B-8DC3-E3AA04A316B2}" type="presParOf" srcId="{0F7688CD-62EE-4A52-99CC-2410F59A92F0}" destId="{5E853FDA-FCC9-47D6-9391-34A4C822FFD0}" srcOrd="10"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43149-30BB-41CF-A3CF-A8E9DA4C7E65}">
      <dsp:nvSpPr>
        <dsp:cNvPr id="0" name=""/>
        <dsp:cNvSpPr/>
      </dsp:nvSpPr>
      <dsp:spPr>
        <a:xfrm rot="5400000">
          <a:off x="-161701" y="162756"/>
          <a:ext cx="1078011" cy="75460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b="1" kern="1200" smtClean="0">
            <a:solidFill>
              <a:srgbClr val="FF0066"/>
            </a:solidFill>
            <a:latin typeface="Arial" pitchFamily="34" charset="0"/>
            <a:ea typeface="+mn-ea"/>
            <a:cs typeface="Arial" pitchFamily="34" charset="0"/>
          </a:endParaRPr>
        </a:p>
        <a:p>
          <a:pPr lvl="0" algn="ctr" defTabSz="889000">
            <a:lnSpc>
              <a:spcPct val="90000"/>
            </a:lnSpc>
            <a:spcBef>
              <a:spcPct val="0"/>
            </a:spcBef>
            <a:spcAft>
              <a:spcPct val="35000"/>
            </a:spcAft>
          </a:pPr>
          <a:r>
            <a:rPr lang="en-US" sz="2000" b="1" kern="1200" smtClean="0">
              <a:solidFill>
                <a:srgbClr val="FF0066"/>
              </a:solidFill>
              <a:latin typeface="Arial" pitchFamily="34" charset="0"/>
              <a:ea typeface="+mn-ea"/>
              <a:cs typeface="Arial" pitchFamily="34" charset="0"/>
            </a:rPr>
            <a:t>Phần 1</a:t>
          </a:r>
          <a:endParaRPr lang="vi-VN" sz="2000" b="1" kern="1200">
            <a:solidFill>
              <a:srgbClr val="FF0066"/>
            </a:solidFill>
            <a:latin typeface="Arial" pitchFamily="34" charset="0"/>
            <a:ea typeface="+mn-ea"/>
            <a:cs typeface="Arial" pitchFamily="34" charset="0"/>
          </a:endParaRPr>
        </a:p>
      </dsp:txBody>
      <dsp:txXfrm rot="-5400000">
        <a:off x="2" y="378358"/>
        <a:ext cx="754607" cy="323404"/>
      </dsp:txXfrm>
    </dsp:sp>
    <dsp:sp modelId="{FF0FE9B2-91E4-4688-AED9-7B41985CEB42}">
      <dsp:nvSpPr>
        <dsp:cNvPr id="0" name=""/>
        <dsp:cNvSpPr/>
      </dsp:nvSpPr>
      <dsp:spPr>
        <a:xfrm rot="5400000">
          <a:off x="4131222" y="-3375559"/>
          <a:ext cx="701075" cy="745430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endParaRPr lang="vi-VN" sz="2400" kern="1200">
            <a:solidFill>
              <a:srgbClr val="FF0000"/>
            </a:solidFill>
            <a:latin typeface="+mn-lt"/>
            <a:ea typeface="+mn-ea"/>
            <a:cs typeface="Arial" pitchFamily="34" charset="0"/>
          </a:endParaRPr>
        </a:p>
        <a:p>
          <a:pPr marL="285750" lvl="1" indent="-285750" algn="l" defTabSz="1244600">
            <a:lnSpc>
              <a:spcPct val="90000"/>
            </a:lnSpc>
            <a:spcBef>
              <a:spcPct val="0"/>
            </a:spcBef>
            <a:spcAft>
              <a:spcPct val="15000"/>
            </a:spcAft>
            <a:buChar char="••"/>
          </a:pPr>
          <a:r>
            <a:rPr lang="en-US" sz="2800" b="0" kern="1200" smtClean="0">
              <a:solidFill>
                <a:schemeClr val="accent2">
                  <a:lumMod val="50000"/>
                </a:schemeClr>
              </a:solidFill>
              <a:latin typeface="+mn-lt"/>
              <a:ea typeface="+mn-ea"/>
              <a:cs typeface="Arial" pitchFamily="34" charset="0"/>
            </a:rPr>
            <a:t>Tổng quan về phát triển hệ thống thông tin</a:t>
          </a:r>
          <a:endParaRPr lang="vi-VN" sz="2800" b="0" kern="1200">
            <a:solidFill>
              <a:schemeClr val="accent2">
                <a:lumMod val="50000"/>
              </a:schemeClr>
            </a:solidFill>
            <a:latin typeface="+mn-lt"/>
            <a:ea typeface="+mn-ea"/>
            <a:cs typeface="Arial" pitchFamily="34" charset="0"/>
          </a:endParaRPr>
        </a:p>
        <a:p>
          <a:pPr marL="457200" lvl="2" indent="-228600" algn="l" defTabSz="889000">
            <a:lnSpc>
              <a:spcPct val="90000"/>
            </a:lnSpc>
            <a:spcBef>
              <a:spcPct val="0"/>
            </a:spcBef>
            <a:spcAft>
              <a:spcPct val="15000"/>
            </a:spcAft>
            <a:buChar char="••"/>
          </a:pPr>
          <a:endParaRPr lang="vi-VN" sz="2000" b="1" kern="1200">
            <a:solidFill>
              <a:srgbClr val="FF0066"/>
            </a:solidFill>
            <a:latin typeface="Arial" pitchFamily="34" charset="0"/>
            <a:ea typeface="+mn-ea"/>
            <a:cs typeface="Arial" pitchFamily="34" charset="0"/>
          </a:endParaRPr>
        </a:p>
      </dsp:txBody>
      <dsp:txXfrm rot="-5400000">
        <a:off x="754608" y="35279"/>
        <a:ext cx="7420080" cy="6326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E5D0F6-D663-4209-B3A5-533FF24D5E21}">
      <dsp:nvSpPr>
        <dsp:cNvPr id="0" name=""/>
        <dsp:cNvSpPr/>
      </dsp:nvSpPr>
      <dsp:spPr>
        <a:xfrm>
          <a:off x="2218310" y="1600604"/>
          <a:ext cx="1445858" cy="982114"/>
        </a:xfrm>
        <a:prstGeom prst="ellipse">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vi-VN" sz="1500" b="1" kern="1200" smtClean="0"/>
            <a:t>Infomation Systems</a:t>
          </a:r>
          <a:endParaRPr lang="vi-VN" sz="1500" b="1" kern="1200"/>
        </a:p>
      </dsp:txBody>
      <dsp:txXfrm>
        <a:off x="2430051" y="1744431"/>
        <a:ext cx="1022376" cy="694460"/>
      </dsp:txXfrm>
    </dsp:sp>
    <dsp:sp modelId="{6DA78B39-FC09-4E73-8AA1-A192F5B4773D}">
      <dsp:nvSpPr>
        <dsp:cNvPr id="0" name=""/>
        <dsp:cNvSpPr/>
      </dsp:nvSpPr>
      <dsp:spPr>
        <a:xfrm rot="5400000">
          <a:off x="2760700" y="1083266"/>
          <a:ext cx="361078" cy="373834"/>
        </a:xfrm>
        <a:prstGeom prst="rightArrow">
          <a:avLst>
            <a:gd name="adj1" fmla="val 60000"/>
            <a:gd name="adj2" fmla="val 50000"/>
          </a:avLst>
        </a:prstGeom>
        <a:solidFill>
          <a:schemeClr val="accent5">
            <a:hueOff val="0"/>
            <a:satOff val="0"/>
            <a:lumOff val="0"/>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vi-VN" sz="1200" kern="1200"/>
        </a:p>
      </dsp:txBody>
      <dsp:txXfrm>
        <a:off x="2814862" y="1103872"/>
        <a:ext cx="252755" cy="224300"/>
      </dsp:txXfrm>
    </dsp:sp>
    <dsp:sp modelId="{4267B0E3-F9CD-4B50-A96D-2C6E06E414AC}">
      <dsp:nvSpPr>
        <dsp:cNvPr id="0" name=""/>
        <dsp:cNvSpPr/>
      </dsp:nvSpPr>
      <dsp:spPr>
        <a:xfrm>
          <a:off x="2258040" y="184046"/>
          <a:ext cx="1366397" cy="735277"/>
        </a:xfrm>
        <a:prstGeom prst="ellipse">
          <a:avLst/>
        </a:prstGeom>
        <a:solidFill>
          <a:schemeClr val="accent5">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vi-VN" sz="1500" kern="1200" smtClean="0"/>
            <a:t>People</a:t>
          </a:r>
          <a:endParaRPr lang="vi-VN" sz="1500" kern="1200"/>
        </a:p>
      </dsp:txBody>
      <dsp:txXfrm>
        <a:off x="2458144" y="291725"/>
        <a:ext cx="966189" cy="519919"/>
      </dsp:txXfrm>
    </dsp:sp>
    <dsp:sp modelId="{A8D9D943-13F7-4C89-9ABD-266BD2E5A5E1}">
      <dsp:nvSpPr>
        <dsp:cNvPr id="0" name=""/>
        <dsp:cNvSpPr/>
      </dsp:nvSpPr>
      <dsp:spPr>
        <a:xfrm rot="9160536">
          <a:off x="3750077" y="1649046"/>
          <a:ext cx="346951" cy="373834"/>
        </a:xfrm>
        <a:prstGeom prst="rightArrow">
          <a:avLst>
            <a:gd name="adj1" fmla="val 60000"/>
            <a:gd name="adj2" fmla="val 50000"/>
          </a:avLst>
        </a:prstGeom>
        <a:solidFill>
          <a:schemeClr val="accent5">
            <a:hueOff val="-2483469"/>
            <a:satOff val="9953"/>
            <a:lumOff val="2157"/>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vi-VN" sz="1200" kern="1200"/>
        </a:p>
      </dsp:txBody>
      <dsp:txXfrm>
        <a:off x="3848355" y="1699924"/>
        <a:ext cx="242866" cy="224300"/>
      </dsp:txXfrm>
    </dsp:sp>
    <dsp:sp modelId="{08E3A803-B41D-466F-8F1F-7B2D1553FD4D}">
      <dsp:nvSpPr>
        <dsp:cNvPr id="0" name=""/>
        <dsp:cNvSpPr/>
      </dsp:nvSpPr>
      <dsp:spPr>
        <a:xfrm>
          <a:off x="4165429" y="1231066"/>
          <a:ext cx="1444408" cy="707888"/>
        </a:xfrm>
        <a:prstGeom prst="ellipse">
          <a:avLst/>
        </a:prstGeom>
        <a:solidFill>
          <a:schemeClr val="accent5">
            <a:hueOff val="-2483469"/>
            <a:satOff val="9953"/>
            <a:lumOff val="2157"/>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smtClean="0"/>
            <a:t>Quy trình</a:t>
          </a:r>
          <a:endParaRPr lang="vi-VN" sz="1500" kern="1200"/>
        </a:p>
      </dsp:txBody>
      <dsp:txXfrm>
        <a:off x="4376958" y="1334734"/>
        <a:ext cx="1021350" cy="500552"/>
      </dsp:txXfrm>
    </dsp:sp>
    <dsp:sp modelId="{91C6FC9B-2D52-40A9-9D07-7BB43C3460AD}">
      <dsp:nvSpPr>
        <dsp:cNvPr id="0" name=""/>
        <dsp:cNvSpPr/>
      </dsp:nvSpPr>
      <dsp:spPr>
        <a:xfrm rot="12684365">
          <a:off x="3638344" y="2595211"/>
          <a:ext cx="686171" cy="373834"/>
        </a:xfrm>
        <a:prstGeom prst="rightArrow">
          <a:avLst>
            <a:gd name="adj1" fmla="val 60000"/>
            <a:gd name="adj2" fmla="val 50000"/>
          </a:avLst>
        </a:prstGeom>
        <a:solidFill>
          <a:schemeClr val="accent5">
            <a:hueOff val="-4966938"/>
            <a:satOff val="19906"/>
            <a:lumOff val="4314"/>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vi-VN" sz="1200" kern="1200"/>
        </a:p>
      </dsp:txBody>
      <dsp:txXfrm>
        <a:off x="3742279" y="2699199"/>
        <a:ext cx="574021" cy="224300"/>
      </dsp:txXfrm>
    </dsp:sp>
    <dsp:sp modelId="{B1B4CE8B-B7E4-4D29-8E7C-C26EF203F60A}">
      <dsp:nvSpPr>
        <dsp:cNvPr id="0" name=""/>
        <dsp:cNvSpPr/>
      </dsp:nvSpPr>
      <dsp:spPr>
        <a:xfrm>
          <a:off x="4297761" y="3066089"/>
          <a:ext cx="1327299" cy="733078"/>
        </a:xfrm>
        <a:prstGeom prst="ellipse">
          <a:avLst/>
        </a:prstGeom>
        <a:solidFill>
          <a:schemeClr val="accent5">
            <a:hueOff val="-4966938"/>
            <a:satOff val="19906"/>
            <a:lumOff val="4314"/>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vi-VN" sz="1500" kern="1200" smtClean="0"/>
            <a:t>Software</a:t>
          </a:r>
          <a:endParaRPr lang="vi-VN" sz="1500" kern="1200"/>
        </a:p>
      </dsp:txBody>
      <dsp:txXfrm>
        <a:off x="4492139" y="3173446"/>
        <a:ext cx="938543" cy="518364"/>
      </dsp:txXfrm>
    </dsp:sp>
    <dsp:sp modelId="{168D6564-8D03-4040-BF31-EA8D65E2D9E4}">
      <dsp:nvSpPr>
        <dsp:cNvPr id="0" name=""/>
        <dsp:cNvSpPr/>
      </dsp:nvSpPr>
      <dsp:spPr>
        <a:xfrm rot="18935621">
          <a:off x="1763915" y="2637282"/>
          <a:ext cx="599630" cy="373834"/>
        </a:xfrm>
        <a:prstGeom prst="rightArrow">
          <a:avLst>
            <a:gd name="adj1" fmla="val 60000"/>
            <a:gd name="adj2" fmla="val 50000"/>
          </a:avLst>
        </a:prstGeom>
        <a:solidFill>
          <a:schemeClr val="accent5">
            <a:hueOff val="-7450407"/>
            <a:satOff val="29858"/>
            <a:lumOff val="6471"/>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vi-VN" sz="1200" kern="1200"/>
        </a:p>
      </dsp:txBody>
      <dsp:txXfrm rot="10800000">
        <a:off x="1779930" y="2751287"/>
        <a:ext cx="487480" cy="224300"/>
      </dsp:txXfrm>
    </dsp:sp>
    <dsp:sp modelId="{9911A81A-262F-429E-93C9-931AE346533F}">
      <dsp:nvSpPr>
        <dsp:cNvPr id="0" name=""/>
        <dsp:cNvSpPr/>
      </dsp:nvSpPr>
      <dsp:spPr>
        <a:xfrm>
          <a:off x="631823" y="3140875"/>
          <a:ext cx="1272510" cy="695057"/>
        </a:xfrm>
        <a:prstGeom prst="ellipse">
          <a:avLst/>
        </a:prstGeom>
        <a:solidFill>
          <a:schemeClr val="accent5">
            <a:hueOff val="-7450407"/>
            <a:satOff val="29858"/>
            <a:lumOff val="6471"/>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vi-VN" sz="1500" kern="1200" smtClean="0"/>
            <a:t>Hardware</a:t>
          </a:r>
          <a:endParaRPr lang="vi-VN" sz="1500" kern="1200"/>
        </a:p>
      </dsp:txBody>
      <dsp:txXfrm>
        <a:off x="818178" y="3242664"/>
        <a:ext cx="899800" cy="491479"/>
      </dsp:txXfrm>
    </dsp:sp>
    <dsp:sp modelId="{4130BBE6-50FE-4F86-87BB-F8925405672B}">
      <dsp:nvSpPr>
        <dsp:cNvPr id="0" name=""/>
        <dsp:cNvSpPr/>
      </dsp:nvSpPr>
      <dsp:spPr>
        <a:xfrm rot="1008324">
          <a:off x="1517821" y="1640942"/>
          <a:ext cx="530066" cy="373834"/>
        </a:xfrm>
        <a:prstGeom prst="rightArrow">
          <a:avLst>
            <a:gd name="adj1" fmla="val 60000"/>
            <a:gd name="adj2" fmla="val 50000"/>
          </a:avLst>
        </a:prstGeom>
        <a:solidFill>
          <a:schemeClr val="accent5">
            <a:hueOff val="-9933876"/>
            <a:satOff val="39811"/>
            <a:lumOff val="8628"/>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vi-VN" sz="1200" kern="1200"/>
        </a:p>
      </dsp:txBody>
      <dsp:txXfrm rot="10800000">
        <a:off x="1520216" y="1699496"/>
        <a:ext cx="417916" cy="224300"/>
      </dsp:txXfrm>
    </dsp:sp>
    <dsp:sp modelId="{5E853FDA-FCC9-47D6-9391-34A4C822FFD0}">
      <dsp:nvSpPr>
        <dsp:cNvPr id="0" name=""/>
        <dsp:cNvSpPr/>
      </dsp:nvSpPr>
      <dsp:spPr>
        <a:xfrm>
          <a:off x="23608" y="1231066"/>
          <a:ext cx="1310806" cy="690823"/>
        </a:xfrm>
        <a:prstGeom prst="ellipse">
          <a:avLst/>
        </a:prstGeom>
        <a:solidFill>
          <a:schemeClr val="accent5">
            <a:hueOff val="-9933876"/>
            <a:satOff val="39811"/>
            <a:lumOff val="8628"/>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vi-VN" sz="1500" kern="1200" smtClean="0"/>
            <a:t>Data</a:t>
          </a:r>
          <a:endParaRPr lang="vi-VN" sz="1500" kern="1200"/>
        </a:p>
      </dsp:txBody>
      <dsp:txXfrm>
        <a:off x="215571" y="1332235"/>
        <a:ext cx="926880" cy="48848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583693-2DF8-4331-9992-1E94EDAA209F}" type="datetimeFigureOut">
              <a:rPr lang="vi-VN" smtClean="0"/>
              <a:t>10/07/2023</a:t>
            </a:fld>
            <a:endParaRPr lang="vi-VN"/>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B7DE39-524D-47F3-9B19-31A9B31B8792}" type="slidenum">
              <a:rPr lang="vi-VN" smtClean="0"/>
              <a:t>‹#›</a:t>
            </a:fld>
            <a:endParaRPr lang="vi-VN"/>
          </a:p>
        </p:txBody>
      </p:sp>
    </p:spTree>
    <p:extLst>
      <p:ext uri="{BB962C8B-B14F-4D97-AF65-F5344CB8AC3E}">
        <p14:creationId xmlns:p14="http://schemas.microsoft.com/office/powerpoint/2010/main" val="2226779658"/>
      </p:ext>
    </p:extLst>
  </p:cSld>
  <p:clrMap bg1="lt1" tx1="dk1" bg2="lt2" tx2="dk2" accent1="accent1" accent2="accent2" accent3="accent3" accent4="accent4" accent5="accent5" accent6="accent6" hlink="hlink" folHlink="folHlink"/>
  <p:notesStyle>
    <a:lvl1pPr marL="0" algn="l" defTabSz="1041044" rtl="0" eaLnBrk="1" latinLnBrk="0" hangingPunct="1">
      <a:defRPr sz="1400" kern="1200">
        <a:solidFill>
          <a:schemeClr val="tx1"/>
        </a:solidFill>
        <a:latin typeface="+mn-lt"/>
        <a:ea typeface="+mn-ea"/>
        <a:cs typeface="+mn-cs"/>
      </a:defRPr>
    </a:lvl1pPr>
    <a:lvl2pPr marL="520522" algn="l" defTabSz="1041044" rtl="0" eaLnBrk="1" latinLnBrk="0" hangingPunct="1">
      <a:defRPr sz="1400" kern="1200">
        <a:solidFill>
          <a:schemeClr val="tx1"/>
        </a:solidFill>
        <a:latin typeface="+mn-lt"/>
        <a:ea typeface="+mn-ea"/>
        <a:cs typeface="+mn-cs"/>
      </a:defRPr>
    </a:lvl2pPr>
    <a:lvl3pPr marL="1041044" algn="l" defTabSz="1041044" rtl="0" eaLnBrk="1" latinLnBrk="0" hangingPunct="1">
      <a:defRPr sz="1400" kern="1200">
        <a:solidFill>
          <a:schemeClr val="tx1"/>
        </a:solidFill>
        <a:latin typeface="+mn-lt"/>
        <a:ea typeface="+mn-ea"/>
        <a:cs typeface="+mn-cs"/>
      </a:defRPr>
    </a:lvl3pPr>
    <a:lvl4pPr marL="1561567" algn="l" defTabSz="1041044" rtl="0" eaLnBrk="1" latinLnBrk="0" hangingPunct="1">
      <a:defRPr sz="1400" kern="1200">
        <a:solidFill>
          <a:schemeClr val="tx1"/>
        </a:solidFill>
        <a:latin typeface="+mn-lt"/>
        <a:ea typeface="+mn-ea"/>
        <a:cs typeface="+mn-cs"/>
      </a:defRPr>
    </a:lvl4pPr>
    <a:lvl5pPr marL="2082089" algn="l" defTabSz="1041044" rtl="0" eaLnBrk="1" latinLnBrk="0" hangingPunct="1">
      <a:defRPr sz="1400" kern="1200">
        <a:solidFill>
          <a:schemeClr val="tx1"/>
        </a:solidFill>
        <a:latin typeface="+mn-lt"/>
        <a:ea typeface="+mn-ea"/>
        <a:cs typeface="+mn-cs"/>
      </a:defRPr>
    </a:lvl5pPr>
    <a:lvl6pPr marL="2602611" algn="l" defTabSz="1041044" rtl="0" eaLnBrk="1" latinLnBrk="0" hangingPunct="1">
      <a:defRPr sz="1400" kern="1200">
        <a:solidFill>
          <a:schemeClr val="tx1"/>
        </a:solidFill>
        <a:latin typeface="+mn-lt"/>
        <a:ea typeface="+mn-ea"/>
        <a:cs typeface="+mn-cs"/>
      </a:defRPr>
    </a:lvl6pPr>
    <a:lvl7pPr marL="3123133" algn="l" defTabSz="1041044" rtl="0" eaLnBrk="1" latinLnBrk="0" hangingPunct="1">
      <a:defRPr sz="1400" kern="1200">
        <a:solidFill>
          <a:schemeClr val="tx1"/>
        </a:solidFill>
        <a:latin typeface="+mn-lt"/>
        <a:ea typeface="+mn-ea"/>
        <a:cs typeface="+mn-cs"/>
      </a:defRPr>
    </a:lvl7pPr>
    <a:lvl8pPr marL="3643655" algn="l" defTabSz="1041044" rtl="0" eaLnBrk="1" latinLnBrk="0" hangingPunct="1">
      <a:defRPr sz="1400" kern="1200">
        <a:solidFill>
          <a:schemeClr val="tx1"/>
        </a:solidFill>
        <a:latin typeface="+mn-lt"/>
        <a:ea typeface="+mn-ea"/>
        <a:cs typeface="+mn-cs"/>
      </a:defRPr>
    </a:lvl8pPr>
    <a:lvl9pPr marL="4164178" algn="l" defTabSz="104104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a:t>
            </a:fld>
            <a:endParaRPr lang="vi-VN"/>
          </a:p>
        </p:txBody>
      </p:sp>
    </p:spTree>
    <p:extLst>
      <p:ext uri="{BB962C8B-B14F-4D97-AF65-F5344CB8AC3E}">
        <p14:creationId xmlns:p14="http://schemas.microsoft.com/office/powerpoint/2010/main" val="398170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29</a:t>
            </a:fld>
            <a:endParaRPr lang="vi-VN"/>
          </a:p>
        </p:txBody>
      </p:sp>
    </p:spTree>
    <p:extLst>
      <p:ext uri="{BB962C8B-B14F-4D97-AF65-F5344CB8AC3E}">
        <p14:creationId xmlns:p14="http://schemas.microsoft.com/office/powerpoint/2010/main" val="3377577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30</a:t>
            </a:fld>
            <a:endParaRPr lang="vi-VN"/>
          </a:p>
        </p:txBody>
      </p:sp>
    </p:spTree>
    <p:extLst>
      <p:ext uri="{BB962C8B-B14F-4D97-AF65-F5344CB8AC3E}">
        <p14:creationId xmlns:p14="http://schemas.microsoft.com/office/powerpoint/2010/main" val="3377577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31</a:t>
            </a:fld>
            <a:endParaRPr lang="vi-VN"/>
          </a:p>
        </p:txBody>
      </p:sp>
    </p:spTree>
    <p:extLst>
      <p:ext uri="{BB962C8B-B14F-4D97-AF65-F5344CB8AC3E}">
        <p14:creationId xmlns:p14="http://schemas.microsoft.com/office/powerpoint/2010/main" val="337757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32</a:t>
            </a:fld>
            <a:endParaRPr lang="vi-VN"/>
          </a:p>
        </p:txBody>
      </p:sp>
    </p:spTree>
    <p:extLst>
      <p:ext uri="{BB962C8B-B14F-4D97-AF65-F5344CB8AC3E}">
        <p14:creationId xmlns:p14="http://schemas.microsoft.com/office/powerpoint/2010/main" val="3377577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130430"/>
            <a:ext cx="874395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543050" y="3886200"/>
            <a:ext cx="7200900" cy="1752600"/>
          </a:xfrm>
        </p:spPr>
        <p:txBody>
          <a:bodyPr/>
          <a:lstStyle>
            <a:lvl1pPr marL="0" indent="0" algn="ctr">
              <a:buNone/>
              <a:defRPr>
                <a:solidFill>
                  <a:schemeClr val="tx1">
                    <a:tint val="75000"/>
                  </a:schemeClr>
                </a:solidFill>
              </a:defRPr>
            </a:lvl1pPr>
            <a:lvl2pPr marL="520522" indent="0" algn="ctr">
              <a:buNone/>
              <a:defRPr>
                <a:solidFill>
                  <a:schemeClr val="tx1">
                    <a:tint val="75000"/>
                  </a:schemeClr>
                </a:solidFill>
              </a:defRPr>
            </a:lvl2pPr>
            <a:lvl3pPr marL="1041044" indent="0" algn="ctr">
              <a:buNone/>
              <a:defRPr>
                <a:solidFill>
                  <a:schemeClr val="tx1">
                    <a:tint val="75000"/>
                  </a:schemeClr>
                </a:solidFill>
              </a:defRPr>
            </a:lvl3pPr>
            <a:lvl4pPr marL="1561567" indent="0" algn="ctr">
              <a:buNone/>
              <a:defRPr>
                <a:solidFill>
                  <a:schemeClr val="tx1">
                    <a:tint val="75000"/>
                  </a:schemeClr>
                </a:solidFill>
              </a:defRPr>
            </a:lvl4pPr>
            <a:lvl5pPr marL="2082089" indent="0" algn="ctr">
              <a:buNone/>
              <a:defRPr>
                <a:solidFill>
                  <a:schemeClr val="tx1">
                    <a:tint val="75000"/>
                  </a:schemeClr>
                </a:solidFill>
              </a:defRPr>
            </a:lvl5pPr>
            <a:lvl6pPr marL="2602611" indent="0" algn="ctr">
              <a:buNone/>
              <a:defRPr>
                <a:solidFill>
                  <a:schemeClr val="tx1">
                    <a:tint val="75000"/>
                  </a:schemeClr>
                </a:solidFill>
              </a:defRPr>
            </a:lvl6pPr>
            <a:lvl7pPr marL="3123133" indent="0" algn="ctr">
              <a:buNone/>
              <a:defRPr>
                <a:solidFill>
                  <a:schemeClr val="tx1">
                    <a:tint val="75000"/>
                  </a:schemeClr>
                </a:solidFill>
              </a:defRPr>
            </a:lvl7pPr>
            <a:lvl8pPr marL="3643655" indent="0" algn="ctr">
              <a:buNone/>
              <a:defRPr>
                <a:solidFill>
                  <a:schemeClr val="tx1">
                    <a:tint val="75000"/>
                  </a:schemeClr>
                </a:solidFill>
              </a:defRPr>
            </a:lvl8pPr>
            <a:lvl9pPr marL="4164178"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1FC93F78-42A9-4A2C-9821-0BA1A20C3D26}" type="datetime1">
              <a:rPr lang="vi-VN" smtClean="0"/>
              <a:t>10/07/2023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077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F07B9503-6DD9-4446-8B71-644EDCABD314}" type="datetime1">
              <a:rPr lang="vi-VN" smtClean="0"/>
              <a:t>10/07/2023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22992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602" y="4406901"/>
            <a:ext cx="8743950" cy="1362074"/>
          </a:xfrm>
        </p:spPr>
        <p:txBody>
          <a:bodyPr anchor="t"/>
          <a:lstStyle>
            <a:lvl1pPr algn="l">
              <a:defRPr sz="4600" b="1" cap="all"/>
            </a:lvl1pPr>
          </a:lstStyle>
          <a:p>
            <a:r>
              <a:rPr lang="en-US" smtClean="0"/>
              <a:t>Click to edit Master title style</a:t>
            </a:r>
            <a:endParaRPr lang="vi-VN"/>
          </a:p>
        </p:txBody>
      </p:sp>
      <p:sp>
        <p:nvSpPr>
          <p:cNvPr id="3" name="Text Placeholder 2"/>
          <p:cNvSpPr>
            <a:spLocks noGrp="1"/>
          </p:cNvSpPr>
          <p:nvPr>
            <p:ph type="body" idx="1"/>
          </p:nvPr>
        </p:nvSpPr>
        <p:spPr>
          <a:xfrm>
            <a:off x="812602" y="2906715"/>
            <a:ext cx="8743950" cy="1500187"/>
          </a:xfrm>
        </p:spPr>
        <p:txBody>
          <a:bodyPr anchor="b"/>
          <a:lstStyle>
            <a:lvl1pPr marL="0" indent="0">
              <a:buNone/>
              <a:defRPr sz="2300">
                <a:solidFill>
                  <a:schemeClr val="tx1">
                    <a:tint val="75000"/>
                  </a:schemeClr>
                </a:solidFill>
              </a:defRPr>
            </a:lvl1pPr>
            <a:lvl2pPr marL="520522" indent="0">
              <a:buNone/>
              <a:defRPr sz="2000">
                <a:solidFill>
                  <a:schemeClr val="tx1">
                    <a:tint val="75000"/>
                  </a:schemeClr>
                </a:solidFill>
              </a:defRPr>
            </a:lvl2pPr>
            <a:lvl3pPr marL="1041044" indent="0">
              <a:buNone/>
              <a:defRPr sz="1800">
                <a:solidFill>
                  <a:schemeClr val="tx1">
                    <a:tint val="75000"/>
                  </a:schemeClr>
                </a:solidFill>
              </a:defRPr>
            </a:lvl3pPr>
            <a:lvl4pPr marL="1561567" indent="0">
              <a:buNone/>
              <a:defRPr sz="1600">
                <a:solidFill>
                  <a:schemeClr val="tx1">
                    <a:tint val="75000"/>
                  </a:schemeClr>
                </a:solidFill>
              </a:defRPr>
            </a:lvl4pPr>
            <a:lvl5pPr marL="2082089" indent="0">
              <a:buNone/>
              <a:defRPr sz="1600">
                <a:solidFill>
                  <a:schemeClr val="tx1">
                    <a:tint val="75000"/>
                  </a:schemeClr>
                </a:solidFill>
              </a:defRPr>
            </a:lvl5pPr>
            <a:lvl6pPr marL="2602611" indent="0">
              <a:buNone/>
              <a:defRPr sz="1600">
                <a:solidFill>
                  <a:schemeClr val="tx1">
                    <a:tint val="75000"/>
                  </a:schemeClr>
                </a:solidFill>
              </a:defRPr>
            </a:lvl6pPr>
            <a:lvl7pPr marL="3123133" indent="0">
              <a:buNone/>
              <a:defRPr sz="1600">
                <a:solidFill>
                  <a:schemeClr val="tx1">
                    <a:tint val="75000"/>
                  </a:schemeClr>
                </a:solidFill>
              </a:defRPr>
            </a:lvl7pPr>
            <a:lvl8pPr marL="3643655" indent="0">
              <a:buNone/>
              <a:defRPr sz="1600">
                <a:solidFill>
                  <a:schemeClr val="tx1">
                    <a:tint val="75000"/>
                  </a:schemeClr>
                </a:solidFill>
              </a:defRPr>
            </a:lvl8pPr>
            <a:lvl9pPr marL="4164178"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A986E9-8493-42BF-A7C6-EE1810E96B4A}" type="datetime1">
              <a:rPr lang="vi-VN" smtClean="0"/>
              <a:t>10/07/2023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568194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514350"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5229225"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8905EEE2-896C-48F9-8D0D-2D5367FD7444}" type="datetime1">
              <a:rPr lang="vi-VN" smtClean="0"/>
              <a:t>10/07/2023</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949242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514351" y="1535115"/>
            <a:ext cx="4545211"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14351" y="2174876"/>
            <a:ext cx="4545211"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5225658" y="1535115"/>
            <a:ext cx="4546998"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225658" y="2174876"/>
            <a:ext cx="4546998"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5856DFF7-F5D1-4741-9AFA-644592F6D88E}" type="datetime1">
              <a:rPr lang="vi-VN" smtClean="0"/>
              <a:t>10/07/2023</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22139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C57A1E72-38A2-4A3B-AB45-23AF396AC866}" type="datetime1">
              <a:rPr lang="vi-VN" smtClean="0"/>
              <a:t>10/07/2023</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069642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C66D5F-F7C9-4605-8742-978114C0C04F}" type="datetime1">
              <a:rPr lang="vi-VN" smtClean="0"/>
              <a:t>10/07/2023</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4098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5" y="273049"/>
            <a:ext cx="3384352" cy="1162050"/>
          </a:xfrm>
        </p:spPr>
        <p:txBody>
          <a:bodyPr anchor="b"/>
          <a:lstStyle>
            <a:lvl1pPr algn="l">
              <a:defRPr sz="2300" b="1"/>
            </a:lvl1pPr>
          </a:lstStyle>
          <a:p>
            <a:r>
              <a:rPr lang="en-US" smtClean="0"/>
              <a:t>Click to edit Master title style</a:t>
            </a:r>
            <a:endParaRPr lang="vi-VN"/>
          </a:p>
        </p:txBody>
      </p:sp>
      <p:sp>
        <p:nvSpPr>
          <p:cNvPr id="3" name="Content Placeholder 2"/>
          <p:cNvSpPr>
            <a:spLocks noGrp="1"/>
          </p:cNvSpPr>
          <p:nvPr>
            <p:ph idx="1"/>
          </p:nvPr>
        </p:nvSpPr>
        <p:spPr>
          <a:xfrm>
            <a:off x="4021932" y="273052"/>
            <a:ext cx="5750718" cy="5853114"/>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514355" y="1435102"/>
            <a:ext cx="3384352" cy="4691062"/>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E4ECAA-2B71-4DBD-B6F6-516935394A84}" type="datetime1">
              <a:rPr lang="vi-VN" smtClean="0"/>
              <a:t>10/07/2023</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33817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6324" y="4800601"/>
            <a:ext cx="6172200" cy="566738"/>
          </a:xfrm>
        </p:spPr>
        <p:txBody>
          <a:bodyPr anchor="b"/>
          <a:lstStyle>
            <a:lvl1pPr algn="l">
              <a:defRPr sz="2300" b="1"/>
            </a:lvl1pPr>
          </a:lstStyle>
          <a:p>
            <a:r>
              <a:rPr lang="en-US" smtClean="0"/>
              <a:t>Click to edit Master title style</a:t>
            </a:r>
            <a:endParaRPr lang="vi-VN"/>
          </a:p>
        </p:txBody>
      </p:sp>
      <p:sp>
        <p:nvSpPr>
          <p:cNvPr id="3" name="Picture Placeholder 2"/>
          <p:cNvSpPr>
            <a:spLocks noGrp="1"/>
          </p:cNvSpPr>
          <p:nvPr>
            <p:ph type="pic" idx="1"/>
          </p:nvPr>
        </p:nvSpPr>
        <p:spPr>
          <a:xfrm>
            <a:off x="2016324" y="612775"/>
            <a:ext cx="6172200" cy="4114800"/>
          </a:xfrm>
        </p:spPr>
        <p:txBody>
          <a:bodyPr/>
          <a:lstStyle>
            <a:lvl1pPr marL="0" indent="0">
              <a:buNone/>
              <a:defRPr sz="3600"/>
            </a:lvl1pPr>
            <a:lvl2pPr marL="520522" indent="0">
              <a:buNone/>
              <a:defRPr sz="3200"/>
            </a:lvl2pPr>
            <a:lvl3pPr marL="1041044" indent="0">
              <a:buNone/>
              <a:defRPr sz="2700"/>
            </a:lvl3pPr>
            <a:lvl4pPr marL="1561567" indent="0">
              <a:buNone/>
              <a:defRPr sz="2300"/>
            </a:lvl4pPr>
            <a:lvl5pPr marL="2082089" indent="0">
              <a:buNone/>
              <a:defRPr sz="2300"/>
            </a:lvl5pPr>
            <a:lvl6pPr marL="2602611" indent="0">
              <a:buNone/>
              <a:defRPr sz="2300"/>
            </a:lvl6pPr>
            <a:lvl7pPr marL="3123133" indent="0">
              <a:buNone/>
              <a:defRPr sz="2300"/>
            </a:lvl7pPr>
            <a:lvl8pPr marL="3643655" indent="0">
              <a:buNone/>
              <a:defRPr sz="2300"/>
            </a:lvl8pPr>
            <a:lvl9pPr marL="4164178" indent="0">
              <a:buNone/>
              <a:defRPr sz="2300"/>
            </a:lvl9pPr>
          </a:lstStyle>
          <a:p>
            <a:endParaRPr lang="vi-VN"/>
          </a:p>
        </p:txBody>
      </p:sp>
      <p:sp>
        <p:nvSpPr>
          <p:cNvPr id="4" name="Text Placeholder 3"/>
          <p:cNvSpPr>
            <a:spLocks noGrp="1"/>
          </p:cNvSpPr>
          <p:nvPr>
            <p:ph type="body" sz="half" idx="2"/>
          </p:nvPr>
        </p:nvSpPr>
        <p:spPr>
          <a:xfrm>
            <a:off x="2016324" y="5367341"/>
            <a:ext cx="6172200" cy="804863"/>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922D38-52F4-4CE8-B612-A0183E7BB4FA}" type="datetime1">
              <a:rPr lang="vi-VN" smtClean="0"/>
              <a:t>10/07/2023</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6282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FD1B7337-33BE-4CEB-929A-F70E3D8A92E3}" type="datetime1">
              <a:rPr lang="vi-VN" smtClean="0"/>
              <a:t>10/07/2023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3649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58075" y="274639"/>
            <a:ext cx="2314575" cy="5851526"/>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514350" y="274639"/>
            <a:ext cx="6772275" cy="585152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DB2FD150-B1FB-4C8E-A2A2-B559A2168736}" type="datetime1">
              <a:rPr lang="vi-VN" smtClean="0"/>
              <a:t>10/07/2023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17851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274641"/>
            <a:ext cx="9258300" cy="1143001"/>
          </a:xfrm>
          <a:prstGeom prst="rect">
            <a:avLst/>
          </a:prstGeom>
        </p:spPr>
        <p:txBody>
          <a:bodyPr vert="horz" lIns="104104" tIns="52052" rIns="104104" bIns="52052" rtlCol="0" anchor="ctr">
            <a:normAutofit/>
          </a:bodyPr>
          <a:lstStyle/>
          <a:p>
            <a:r>
              <a:rPr lang="en-US" smtClean="0"/>
              <a:t>Click to edit Master title style</a:t>
            </a:r>
            <a:endParaRPr lang="vi-VN"/>
          </a:p>
        </p:txBody>
      </p:sp>
      <p:sp>
        <p:nvSpPr>
          <p:cNvPr id="3" name="Text Placeholder 2"/>
          <p:cNvSpPr>
            <a:spLocks noGrp="1"/>
          </p:cNvSpPr>
          <p:nvPr>
            <p:ph type="body" idx="1"/>
          </p:nvPr>
        </p:nvSpPr>
        <p:spPr>
          <a:xfrm>
            <a:off x="514350" y="1600204"/>
            <a:ext cx="9258300" cy="4525963"/>
          </a:xfrm>
          <a:prstGeom prst="rect">
            <a:avLst/>
          </a:prstGeom>
        </p:spPr>
        <p:txBody>
          <a:bodyPr vert="horz" lIns="104104" tIns="52052" rIns="104104" bIns="5205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2"/>
          </p:nvPr>
        </p:nvSpPr>
        <p:spPr>
          <a:xfrm>
            <a:off x="514350" y="6356353"/>
            <a:ext cx="2400300" cy="365125"/>
          </a:xfrm>
          <a:prstGeom prst="rect">
            <a:avLst/>
          </a:prstGeom>
        </p:spPr>
        <p:txBody>
          <a:bodyPr vert="horz" lIns="104104" tIns="52052" rIns="104104" bIns="52052" rtlCol="0" anchor="ctr"/>
          <a:lstStyle>
            <a:lvl1pPr algn="l">
              <a:defRPr sz="1400">
                <a:solidFill>
                  <a:schemeClr val="tx1">
                    <a:tint val="75000"/>
                  </a:schemeClr>
                </a:solidFill>
              </a:defRPr>
            </a:lvl1pPr>
          </a:lstStyle>
          <a:p>
            <a:fld id="{84FABED4-1AAC-45BE-A710-67DA055BC055}" type="datetime1">
              <a:rPr lang="vi-VN" smtClean="0"/>
              <a:t>10/07/2023</a:t>
            </a:fld>
            <a:endParaRPr lang="vi-VN"/>
          </a:p>
        </p:txBody>
      </p:sp>
      <p:sp>
        <p:nvSpPr>
          <p:cNvPr id="5" name="Footer Placeholder 4"/>
          <p:cNvSpPr>
            <a:spLocks noGrp="1"/>
          </p:cNvSpPr>
          <p:nvPr>
            <p:ph type="ftr" sz="quarter" idx="3"/>
          </p:nvPr>
        </p:nvSpPr>
        <p:spPr>
          <a:xfrm>
            <a:off x="3514725" y="6356353"/>
            <a:ext cx="3257550" cy="365125"/>
          </a:xfrm>
          <a:prstGeom prst="rect">
            <a:avLst/>
          </a:prstGeom>
        </p:spPr>
        <p:txBody>
          <a:bodyPr vert="horz" lIns="104104" tIns="52052" rIns="104104" bIns="52052" rtlCol="0" anchor="ctr"/>
          <a:lstStyle>
            <a:lvl1pPr algn="ctr">
              <a:defRPr sz="14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7372350" y="6356353"/>
            <a:ext cx="2400300" cy="365125"/>
          </a:xfrm>
          <a:prstGeom prst="rect">
            <a:avLst/>
          </a:prstGeom>
        </p:spPr>
        <p:txBody>
          <a:bodyPr vert="horz" lIns="104104" tIns="52052" rIns="104104" bIns="52052" rtlCol="0" anchor="ctr"/>
          <a:lstStyle>
            <a:lvl1pPr algn="r">
              <a:defRPr sz="1400">
                <a:solidFill>
                  <a:schemeClr val="tx1">
                    <a:tint val="75000"/>
                  </a:schemeClr>
                </a:solidFill>
              </a:defRPr>
            </a:lvl1pPr>
          </a:lstStyle>
          <a:p>
            <a:fld id="{427808B0-DB8A-471C-82EF-CF06681341D9}" type="slidenum">
              <a:rPr lang="vi-VN" smtClean="0"/>
              <a:t>‹#›</a:t>
            </a:fld>
            <a:endParaRPr lang="vi-VN"/>
          </a:p>
        </p:txBody>
      </p:sp>
    </p:spTree>
    <p:extLst>
      <p:ext uri="{BB962C8B-B14F-4D97-AF65-F5344CB8AC3E}">
        <p14:creationId xmlns:p14="http://schemas.microsoft.com/office/powerpoint/2010/main" val="72794710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1041044" rtl="0" eaLnBrk="1" latinLnBrk="0" hangingPunct="1">
        <a:spcBef>
          <a:spcPct val="0"/>
        </a:spcBef>
        <a:buNone/>
        <a:defRPr sz="5000" kern="1200">
          <a:solidFill>
            <a:schemeClr val="tx1"/>
          </a:solidFill>
          <a:latin typeface="+mj-lt"/>
          <a:ea typeface="+mj-ea"/>
          <a:cs typeface="+mj-cs"/>
        </a:defRPr>
      </a:lvl1pPr>
    </p:titleStyle>
    <p:body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6"/>
          <p:cNvSpPr txBox="1">
            <a:spLocks/>
          </p:cNvSpPr>
          <p:nvPr/>
        </p:nvSpPr>
        <p:spPr>
          <a:xfrm>
            <a:off x="318964" y="476672"/>
            <a:ext cx="9361040" cy="864096"/>
          </a:xfrm>
          <a:prstGeom prst="rect">
            <a:avLst/>
          </a:prstGeom>
        </p:spPr>
        <p:txBody>
          <a:bodyPr vert="horz" lIns="104104" tIns="52052" rIns="104104" bIns="52052" rtlCol="0">
            <a:normAutofit/>
          </a:bodyPr>
          <a:lstStyle>
            <a:lvl1pPr marL="0" indent="0" algn="ctr" defTabSz="1041044" rtl="0" eaLnBrk="1" latinLnBrk="0" hangingPunct="1">
              <a:spcBef>
                <a:spcPct val="20000"/>
              </a:spcBef>
              <a:buFont typeface="Arial" pitchFamily="34" charset="0"/>
              <a:buNone/>
              <a:defRPr sz="3600" kern="1200">
                <a:solidFill>
                  <a:schemeClr val="tx1">
                    <a:tint val="75000"/>
                  </a:schemeClr>
                </a:solidFill>
                <a:latin typeface="+mn-lt"/>
                <a:ea typeface="+mn-ea"/>
                <a:cs typeface="+mn-cs"/>
              </a:defRPr>
            </a:lvl1pPr>
            <a:lvl2pPr marL="520522" indent="0" algn="ctr" defTabSz="1041044"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2pPr>
            <a:lvl3pPr marL="1041044" indent="0" algn="ctr" defTabSz="1041044"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3pPr>
            <a:lvl4pPr marL="1561567"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4pPr>
            <a:lvl5pPr marL="2082089"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5pPr>
            <a:lvl6pPr marL="2602611"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6pPr>
            <a:lvl7pPr marL="3123133"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7pPr>
            <a:lvl8pPr marL="3643655"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8pPr>
            <a:lvl9pPr marL="4164178"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9pPr>
          </a:lstStyle>
          <a:p>
            <a:endParaRPr lang="en-US" sz="2000" b="1" smtClean="0">
              <a:solidFill>
                <a:schemeClr val="accent6">
                  <a:lumMod val="75000"/>
                </a:schemeClr>
              </a:solidFill>
            </a:endParaRPr>
          </a:p>
          <a:p>
            <a:r>
              <a:rPr lang="en-US" sz="2000" b="1" smtClean="0">
                <a:solidFill>
                  <a:schemeClr val="accent1">
                    <a:lumMod val="75000"/>
                  </a:schemeClr>
                </a:solidFill>
              </a:rPr>
              <a:t>PHÁT TRIỂN HỆ THỐNG THÔNG TIN KINH TẾ</a:t>
            </a:r>
            <a:endParaRPr lang="vi-VN" sz="2000" b="1">
              <a:solidFill>
                <a:schemeClr val="accent1">
                  <a:lumMod val="75000"/>
                </a:schemeClr>
              </a:solidFill>
            </a:endParaRPr>
          </a:p>
        </p:txBody>
      </p:sp>
      <p:pic>
        <p:nvPicPr>
          <p:cNvPr id="1026" name="Picture 2" descr="C:\Users\LAMNHUNG\Desktop\LogoMI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350" y="188640"/>
            <a:ext cx="1682798" cy="14786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Diagram 12"/>
          <p:cNvGraphicFramePr/>
          <p:nvPr>
            <p:extLst>
              <p:ext uri="{D42A27DB-BD31-4B8C-83A1-F6EECF244321}">
                <p14:modId xmlns:p14="http://schemas.microsoft.com/office/powerpoint/2010/main" val="2620269412"/>
              </p:ext>
            </p:extLst>
          </p:nvPr>
        </p:nvGraphicFramePr>
        <p:xfrm>
          <a:off x="823020" y="2420888"/>
          <a:ext cx="8208912" cy="10801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16" name="Straight Connector 15"/>
          <p:cNvCxnSpPr/>
          <p:nvPr/>
        </p:nvCxnSpPr>
        <p:spPr>
          <a:xfrm>
            <a:off x="1586533" y="2420888"/>
            <a:ext cx="0" cy="3456384"/>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87116" y="3251027"/>
            <a:ext cx="8208912" cy="920765"/>
          </a:xfrm>
          <a:prstGeom prst="rect">
            <a:avLst/>
          </a:prstGeom>
          <a:noFill/>
          <a:effectLst/>
        </p:spPr>
        <p:txBody>
          <a:bodyPr wrap="square" rtlCol="0">
            <a:spAutoFit/>
          </a:bodyPr>
          <a:lstStyle/>
          <a:p>
            <a:pPr algn="just">
              <a:spcAft>
                <a:spcPts val="683"/>
              </a:spcAft>
              <a:buClr>
                <a:srgbClr val="FF0066"/>
              </a:buClr>
              <a:buFont typeface="Symbol" pitchFamily="18" charset="2"/>
              <a:buChar char="¨"/>
            </a:pPr>
            <a:r>
              <a:rPr lang="en-US" sz="2400" b="1" smtClean="0">
                <a:solidFill>
                  <a:srgbClr val="FF0066"/>
                </a:solidFill>
                <a:cs typeface="Arial" pitchFamily="34" charset="0"/>
              </a:rPr>
              <a:t>Chương 1: Môi trường phát triển hệ thống</a:t>
            </a:r>
          </a:p>
          <a:p>
            <a:pPr algn="just">
              <a:spcAft>
                <a:spcPts val="683"/>
              </a:spcAft>
              <a:buClr>
                <a:srgbClr val="FF0066"/>
              </a:buClr>
              <a:buFont typeface="Symbol" pitchFamily="18" charset="2"/>
              <a:buChar char="¨"/>
            </a:pPr>
            <a:r>
              <a:rPr lang="en-US" sz="2400" smtClean="0">
                <a:solidFill>
                  <a:schemeClr val="accent2">
                    <a:lumMod val="50000"/>
                  </a:schemeClr>
                </a:solidFill>
                <a:cs typeface="Arial" pitchFamily="34" charset="0"/>
              </a:rPr>
              <a:t>Chương 2: Lựa chọn và lập kế hoạch phát triển hệ thống</a:t>
            </a:r>
          </a:p>
        </p:txBody>
      </p:sp>
    </p:spTree>
    <p:extLst>
      <p:ext uri="{BB962C8B-B14F-4D97-AF65-F5344CB8AC3E}">
        <p14:creationId xmlns:p14="http://schemas.microsoft.com/office/powerpoint/2010/main" val="38212893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978" y="130623"/>
            <a:ext cx="9084645" cy="778099"/>
          </a:xfrm>
          <a:solidFill>
            <a:schemeClr val="bg2"/>
          </a:solidFill>
        </p:spPr>
        <p:txBody>
          <a:bodyPr>
            <a:normAutofit/>
          </a:bodyPr>
          <a:lstStyle/>
          <a:p>
            <a:pPr algn="just"/>
            <a:r>
              <a:rPr lang="en-US" sz="2800" smtClean="0">
                <a:solidFill>
                  <a:schemeClr val="accent6">
                    <a:lumMod val="75000"/>
                  </a:schemeClr>
                </a:solidFill>
                <a:latin typeface="Arial" pitchFamily="34" charset="0"/>
                <a:cs typeface="Arial" pitchFamily="34" charset="0"/>
              </a:rPr>
              <a:t>Chương 1: Môi trường phát triển hệ thống</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444980" y="1039523"/>
            <a:ext cx="9408681" cy="5044452"/>
          </a:xfrm>
        </p:spPr>
        <p:txBody>
          <a:bodyPr>
            <a:normAutofit/>
          </a:bodyPr>
          <a:lstStyle/>
          <a:p>
            <a:pPr marL="0" indent="0" algn="just">
              <a:spcAft>
                <a:spcPts val="683"/>
              </a:spcAft>
              <a:buClr>
                <a:srgbClr val="FF0066"/>
              </a:buClr>
              <a:buNone/>
            </a:pPr>
            <a:r>
              <a:rPr lang="en-US" sz="2400" smtClean="0">
                <a:solidFill>
                  <a:srgbClr val="FF0000"/>
                </a:solidFill>
                <a:cs typeface="Arial" pitchFamily="34" charset="0"/>
              </a:rPr>
              <a:t>1. </a:t>
            </a:r>
            <a:r>
              <a:rPr lang="en-US" sz="2400" smtClean="0">
                <a:solidFill>
                  <a:schemeClr val="accent2">
                    <a:lumMod val="50000"/>
                  </a:schemeClr>
                </a:solidFill>
                <a:cs typeface="Arial" pitchFamily="34" charset="0"/>
              </a:rPr>
              <a:t>Định nghĩa hệ thống thông tin</a:t>
            </a:r>
          </a:p>
          <a:p>
            <a:pPr marL="0" indent="0" algn="just">
              <a:spcAft>
                <a:spcPts val="683"/>
              </a:spcAft>
              <a:buClr>
                <a:srgbClr val="FF0066"/>
              </a:buClr>
              <a:buNone/>
            </a:pPr>
            <a:r>
              <a:rPr lang="en-US" sz="2400" smtClean="0">
                <a:solidFill>
                  <a:srgbClr val="FF0000"/>
                </a:solidFill>
                <a:cs typeface="Arial" pitchFamily="34" charset="0"/>
              </a:rPr>
              <a:t>2. </a:t>
            </a:r>
            <a:r>
              <a:rPr lang="en-US" sz="2400" smtClean="0">
                <a:solidFill>
                  <a:schemeClr val="accent2">
                    <a:lumMod val="50000"/>
                  </a:schemeClr>
                </a:solidFill>
                <a:cs typeface="Arial" pitchFamily="34" charset="0"/>
              </a:rPr>
              <a:t>Vai </a:t>
            </a:r>
            <a:r>
              <a:rPr lang="en-US" sz="2400">
                <a:solidFill>
                  <a:schemeClr val="accent2">
                    <a:lumMod val="50000"/>
                  </a:schemeClr>
                </a:solidFill>
                <a:cs typeface="Arial" pitchFamily="34" charset="0"/>
              </a:rPr>
              <a:t>trò của phát triển hệ thống thông </a:t>
            </a:r>
            <a:r>
              <a:rPr lang="en-US" sz="2400" smtClean="0">
                <a:solidFill>
                  <a:schemeClr val="accent2">
                    <a:lumMod val="50000"/>
                  </a:schemeClr>
                </a:solidFill>
                <a:cs typeface="Arial" pitchFamily="34" charset="0"/>
              </a:rPr>
              <a:t>tin</a:t>
            </a:r>
          </a:p>
          <a:p>
            <a:pPr marL="0" indent="0" algn="just">
              <a:spcAft>
                <a:spcPts val="683"/>
              </a:spcAft>
              <a:buClr>
                <a:srgbClr val="FF0066"/>
              </a:buClr>
              <a:buNone/>
            </a:pPr>
            <a:r>
              <a:rPr lang="en-US" sz="2400" smtClean="0">
                <a:solidFill>
                  <a:srgbClr val="FF0000"/>
                </a:solidFill>
                <a:cs typeface="Arial" pitchFamily="34" charset="0"/>
              </a:rPr>
              <a:t>3. </a:t>
            </a:r>
            <a:r>
              <a:rPr lang="en-US" sz="2400" smtClean="0">
                <a:solidFill>
                  <a:schemeClr val="accent2">
                    <a:lumMod val="50000"/>
                  </a:schemeClr>
                </a:solidFill>
                <a:cs typeface="Arial" pitchFamily="34" charset="0"/>
              </a:rPr>
              <a:t>Các </a:t>
            </a:r>
            <a:r>
              <a:rPr lang="en-US" sz="2400">
                <a:solidFill>
                  <a:schemeClr val="accent2">
                    <a:lumMod val="50000"/>
                  </a:schemeClr>
                </a:solidFill>
                <a:cs typeface="Arial" pitchFamily="34" charset="0"/>
              </a:rPr>
              <a:t>cách tiếp cận trong phát triển hệ thống thông tin </a:t>
            </a:r>
            <a:endParaRPr lang="en-US" sz="2400" smtClean="0">
              <a:solidFill>
                <a:schemeClr val="accent2">
                  <a:lumMod val="50000"/>
                </a:schemeClr>
              </a:solidFill>
              <a:cs typeface="Arial" pitchFamily="34" charset="0"/>
            </a:endParaRPr>
          </a:p>
          <a:p>
            <a:pPr marL="0" indent="0" algn="just">
              <a:spcAft>
                <a:spcPts val="683"/>
              </a:spcAft>
              <a:buClr>
                <a:srgbClr val="FF0066"/>
              </a:buClr>
              <a:buNone/>
            </a:pPr>
            <a:r>
              <a:rPr lang="en-US" sz="2400" smtClean="0">
                <a:solidFill>
                  <a:srgbClr val="FF0000"/>
                </a:solidFill>
                <a:cs typeface="Arial" pitchFamily="34" charset="0"/>
              </a:rPr>
              <a:t>4. </a:t>
            </a:r>
            <a:r>
              <a:rPr lang="en-US" sz="2400" smtClean="0">
                <a:solidFill>
                  <a:schemeClr val="accent2">
                    <a:lumMod val="50000"/>
                  </a:schemeClr>
                </a:solidFill>
                <a:cs typeface="Arial" pitchFamily="34" charset="0"/>
              </a:rPr>
              <a:t>Vòng </a:t>
            </a:r>
            <a:r>
              <a:rPr lang="en-US" sz="2400">
                <a:solidFill>
                  <a:schemeClr val="accent2">
                    <a:lumMod val="50000"/>
                  </a:schemeClr>
                </a:solidFill>
                <a:cs typeface="Arial" pitchFamily="34" charset="0"/>
              </a:rPr>
              <a:t>đời phát triển hệ thống thông tin </a:t>
            </a:r>
            <a:endParaRPr lang="en-US" sz="2400" smtClean="0">
              <a:solidFill>
                <a:schemeClr val="accent2">
                  <a:lumMod val="50000"/>
                </a:schemeClr>
              </a:solidFill>
              <a:cs typeface="Arial" pitchFamily="34" charset="0"/>
            </a:endParaRPr>
          </a:p>
          <a:p>
            <a:pPr marL="0" indent="0" algn="just">
              <a:spcAft>
                <a:spcPts val="683"/>
              </a:spcAft>
              <a:buClr>
                <a:srgbClr val="FF0066"/>
              </a:buClr>
              <a:buNone/>
            </a:pPr>
            <a:r>
              <a:rPr lang="en-US" sz="2400" smtClean="0">
                <a:solidFill>
                  <a:srgbClr val="FF0000"/>
                </a:solidFill>
                <a:cs typeface="Arial" pitchFamily="34" charset="0"/>
              </a:rPr>
              <a:t>5. </a:t>
            </a:r>
            <a:r>
              <a:rPr lang="en-US" sz="2400" smtClean="0">
                <a:solidFill>
                  <a:schemeClr val="accent2">
                    <a:lumMod val="50000"/>
                  </a:schemeClr>
                </a:solidFill>
                <a:cs typeface="Arial" pitchFamily="34" charset="0"/>
              </a:rPr>
              <a:t>Các </a:t>
            </a:r>
            <a:r>
              <a:rPr lang="en-US" sz="2400">
                <a:solidFill>
                  <a:schemeClr val="accent2">
                    <a:lumMod val="50000"/>
                  </a:schemeClr>
                </a:solidFill>
                <a:cs typeface="Arial" pitchFamily="34" charset="0"/>
              </a:rPr>
              <a:t>phương pháp phát triển hệ thống thông tin</a:t>
            </a:r>
            <a:endParaRPr lang="vi-VN" sz="24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a:t>
            </a:fld>
            <a:endParaRPr lang="vi-VN"/>
          </a:p>
        </p:txBody>
      </p:sp>
    </p:spTree>
    <p:extLst>
      <p:ext uri="{BB962C8B-B14F-4D97-AF65-F5344CB8AC3E}">
        <p14:creationId xmlns:p14="http://schemas.microsoft.com/office/powerpoint/2010/main" val="25612852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b="1" smtClean="0">
                <a:solidFill>
                  <a:schemeClr val="accent6">
                    <a:lumMod val="75000"/>
                  </a:schemeClr>
                </a:solidFill>
                <a:latin typeface="+mn-lt"/>
                <a:cs typeface="Arial" pitchFamily="34" charset="0"/>
              </a:rPr>
              <a:t>1. Định </a:t>
            </a:r>
            <a:r>
              <a:rPr lang="en-US" sz="1600" b="1">
                <a:solidFill>
                  <a:schemeClr val="accent6">
                    <a:lumMod val="75000"/>
                  </a:schemeClr>
                </a:solidFill>
                <a:latin typeface="+mn-lt"/>
                <a:cs typeface="Arial" pitchFamily="34" charset="0"/>
              </a:rPr>
              <a:t>nghĩa hệ thống thông tin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Các cách tiếp cận trong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en-US" sz="2000" smtClean="0">
                <a:solidFill>
                  <a:srgbClr val="FF0066"/>
                </a:solidFill>
                <a:latin typeface="Calibri" pitchFamily="34" charset="0"/>
                <a:cs typeface="Calibri" pitchFamily="34" charset="0"/>
              </a:rPr>
              <a:t>Hệ thống: </a:t>
            </a:r>
            <a:r>
              <a:rPr lang="en-US" sz="2000" smtClean="0">
                <a:solidFill>
                  <a:schemeClr val="accent2">
                    <a:lumMod val="50000"/>
                  </a:schemeClr>
                </a:solidFill>
                <a:latin typeface="Calibri" pitchFamily="34" charset="0"/>
                <a:cs typeface="Calibri" pitchFamily="34" charset="0"/>
              </a:rPr>
              <a:t>là một tập hợp bao gồm nhiều phần tử </a:t>
            </a:r>
            <a:r>
              <a:rPr lang="en-US" sz="2000">
                <a:solidFill>
                  <a:schemeClr val="accent2">
                    <a:lumMod val="50000"/>
                  </a:schemeClr>
                </a:solidFill>
                <a:latin typeface="Calibri" pitchFamily="34" charset="0"/>
                <a:cs typeface="Calibri" pitchFamily="34" charset="0"/>
              </a:rPr>
              <a:t>như: con người, máy móc, dữ liệu, các quy tắc, quy trình xử lý… có mối quan hệ ràng buộc lẫn nhau và cùng hoạt động hướng tới một mục đích chung. </a:t>
            </a: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Ví dụ: Hệ thống pháp luật, Hệ thống giáo dục, Hệ thống cơ khí…</a:t>
            </a: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a:t>
            </a:fld>
            <a:endParaRPr lang="vi-VN"/>
          </a:p>
        </p:txBody>
      </p:sp>
      <p:sp>
        <p:nvSpPr>
          <p:cNvPr id="8" name="Title 1"/>
          <p:cNvSpPr txBox="1">
            <a:spLocks/>
          </p:cNvSpPr>
          <p:nvPr/>
        </p:nvSpPr>
        <p:spPr>
          <a:xfrm>
            <a:off x="6920905"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b="1" smtClean="0">
                <a:solidFill>
                  <a:schemeClr val="accent6">
                    <a:lumMod val="75000"/>
                  </a:schemeClr>
                </a:solidFill>
                <a:latin typeface="+mn-lt"/>
                <a:cs typeface="Arial" pitchFamily="34" charset="0"/>
              </a:rPr>
              <a:t>1. Hệ thống</a:t>
            </a:r>
          </a:p>
          <a:p>
            <a:pPr algn="just"/>
            <a:r>
              <a:rPr lang="en-US" sz="1600" smtClean="0">
                <a:solidFill>
                  <a:schemeClr val="tx2"/>
                </a:solidFill>
                <a:latin typeface="+mn-lt"/>
                <a:cs typeface="Arial" pitchFamily="34" charset="0"/>
              </a:rPr>
              <a:t>2. Hệ thống thông tin</a:t>
            </a:r>
          </a:p>
          <a:p>
            <a:pPr algn="just"/>
            <a:r>
              <a:rPr lang="en-US" sz="1600" smtClean="0">
                <a:solidFill>
                  <a:schemeClr val="tx2"/>
                </a:solidFill>
                <a:latin typeface="+mn-lt"/>
                <a:cs typeface="Arial" pitchFamily="34" charset="0"/>
              </a:rPr>
              <a:t>3. Hệ thống thông tin quản lý</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3180" y="3068960"/>
            <a:ext cx="4657725"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99267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b="1" smtClean="0">
                <a:solidFill>
                  <a:schemeClr val="accent6">
                    <a:lumMod val="75000"/>
                  </a:schemeClr>
                </a:solidFill>
                <a:latin typeface="+mn-lt"/>
                <a:cs typeface="Arial" pitchFamily="34" charset="0"/>
              </a:rPr>
              <a:t>1. Định </a:t>
            </a:r>
            <a:r>
              <a:rPr lang="en-US" sz="1600" b="1">
                <a:solidFill>
                  <a:schemeClr val="accent6">
                    <a:lumMod val="75000"/>
                  </a:schemeClr>
                </a:solidFill>
                <a:latin typeface="+mn-lt"/>
                <a:cs typeface="Arial" pitchFamily="34" charset="0"/>
              </a:rPr>
              <a:t>nghĩa hệ thống thông tin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Các cách tiếp cận trong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en-US" sz="2000" smtClean="0">
                <a:solidFill>
                  <a:srgbClr val="FF0066"/>
                </a:solidFill>
                <a:latin typeface="Calibri" pitchFamily="34" charset="0"/>
                <a:cs typeface="Calibri" pitchFamily="34" charset="0"/>
              </a:rPr>
              <a:t>Hệ thống thông tin:</a:t>
            </a:r>
            <a:r>
              <a:rPr lang="en-US" sz="2000" smtClean="0">
                <a:solidFill>
                  <a:schemeClr val="accent2">
                    <a:lumMod val="50000"/>
                  </a:schemeClr>
                </a:solidFill>
                <a:latin typeface="Calibri" pitchFamily="34" charset="0"/>
                <a:cs typeface="Calibri" pitchFamily="34" charset="0"/>
              </a:rPr>
              <a:t> là</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một hệ thống </a:t>
            </a:r>
            <a:r>
              <a:rPr lang="vi-VN" sz="2000" smtClean="0">
                <a:solidFill>
                  <a:schemeClr val="accent2">
                    <a:lumMod val="50000"/>
                  </a:schemeClr>
                </a:solidFill>
                <a:latin typeface="Calibri" pitchFamily="34" charset="0"/>
                <a:cs typeface="Calibri" pitchFamily="34" charset="0"/>
              </a:rPr>
              <a:t>gồm tập hợp các phần tử như con người, phần cứng, phần mềm, </a:t>
            </a:r>
            <a:r>
              <a:rPr lang="en-US" sz="2000" smtClean="0">
                <a:solidFill>
                  <a:schemeClr val="accent2">
                    <a:lumMod val="50000"/>
                  </a:schemeClr>
                </a:solidFill>
                <a:latin typeface="Calibri" pitchFamily="34" charset="0"/>
                <a:cs typeface="Calibri" pitchFamily="34" charset="0"/>
              </a:rPr>
              <a:t>quy trình</a:t>
            </a:r>
            <a:r>
              <a:rPr lang="en-US" sz="2000" smtClean="0">
                <a:solidFill>
                  <a:schemeClr val="accent2">
                    <a:lumMod val="50000"/>
                  </a:schemeClr>
                </a:solidFill>
                <a:latin typeface="Calibri" pitchFamily="34" charset="0"/>
                <a:cs typeface="Calibri" pitchFamily="34" charset="0"/>
              </a:rPr>
              <a:t>, </a:t>
            </a:r>
            <a:r>
              <a:rPr lang="en-US" sz="2000" smtClean="0">
                <a:solidFill>
                  <a:schemeClr val="accent2">
                    <a:lumMod val="50000"/>
                  </a:schemeClr>
                </a:solidFill>
                <a:latin typeface="Calibri" pitchFamily="34" charset="0"/>
                <a:cs typeface="Calibri" pitchFamily="34" charset="0"/>
              </a:rPr>
              <a:t>dữ liệu</a:t>
            </a:r>
            <a:r>
              <a:rPr lang="vi-VN" sz="2000" smtClean="0">
                <a:solidFill>
                  <a:schemeClr val="accent2">
                    <a:lumMod val="50000"/>
                  </a:schemeClr>
                </a:solidFill>
                <a:latin typeface="Calibri" pitchFamily="34" charset="0"/>
                <a:cs typeface="Calibri" pitchFamily="34" charset="0"/>
              </a:rPr>
              <a:t>... được xây dựng để thu </a:t>
            </a:r>
            <a:r>
              <a:rPr lang="vi-VN" sz="2000">
                <a:solidFill>
                  <a:schemeClr val="accent2">
                    <a:lumMod val="50000"/>
                  </a:schemeClr>
                </a:solidFill>
                <a:latin typeface="Calibri" pitchFamily="34" charset="0"/>
                <a:cs typeface="Calibri" pitchFamily="34" charset="0"/>
              </a:rPr>
              <a:t>thập, </a:t>
            </a:r>
            <a:r>
              <a:rPr lang="vi-VN" sz="2000" smtClean="0">
                <a:solidFill>
                  <a:schemeClr val="accent2">
                    <a:lumMod val="50000"/>
                  </a:schemeClr>
                </a:solidFill>
                <a:latin typeface="Calibri" pitchFamily="34" charset="0"/>
                <a:cs typeface="Calibri" pitchFamily="34" charset="0"/>
              </a:rPr>
              <a:t>lưu </a:t>
            </a:r>
            <a:r>
              <a:rPr lang="vi-VN" sz="2000">
                <a:solidFill>
                  <a:schemeClr val="accent2">
                    <a:lumMod val="50000"/>
                  </a:schemeClr>
                </a:solidFill>
                <a:latin typeface="Calibri" pitchFamily="34" charset="0"/>
                <a:cs typeface="Calibri" pitchFamily="34" charset="0"/>
              </a:rPr>
              <a:t>trữ, </a:t>
            </a:r>
            <a:r>
              <a:rPr lang="vi-VN" sz="2000" smtClean="0">
                <a:solidFill>
                  <a:schemeClr val="accent2">
                    <a:lumMod val="50000"/>
                  </a:schemeClr>
                </a:solidFill>
                <a:latin typeface="Calibri" pitchFamily="34" charset="0"/>
                <a:cs typeface="Calibri" pitchFamily="34" charset="0"/>
              </a:rPr>
              <a:t>xử lý </a:t>
            </a:r>
            <a:r>
              <a:rPr lang="vi-VN" sz="2000">
                <a:solidFill>
                  <a:schemeClr val="accent2">
                    <a:lumMod val="50000"/>
                  </a:schemeClr>
                </a:solidFill>
                <a:latin typeface="Calibri" pitchFamily="34" charset="0"/>
                <a:cs typeface="Calibri" pitchFamily="34" charset="0"/>
              </a:rPr>
              <a:t>và </a:t>
            </a:r>
            <a:r>
              <a:rPr lang="vi-VN" sz="2000" smtClean="0">
                <a:solidFill>
                  <a:schemeClr val="accent2">
                    <a:lumMod val="50000"/>
                  </a:schemeClr>
                </a:solidFill>
                <a:latin typeface="Calibri" pitchFamily="34" charset="0"/>
                <a:cs typeface="Calibri" pitchFamily="34" charset="0"/>
              </a:rPr>
              <a:t>khai thác thông </a:t>
            </a:r>
            <a:r>
              <a:rPr lang="vi-VN" sz="2000">
                <a:solidFill>
                  <a:schemeClr val="accent2">
                    <a:lumMod val="50000"/>
                  </a:schemeClr>
                </a:solidFill>
                <a:latin typeface="Calibri" pitchFamily="34" charset="0"/>
                <a:cs typeface="Calibri" pitchFamily="34" charset="0"/>
              </a:rPr>
              <a:t>tin </a:t>
            </a:r>
            <a:r>
              <a:rPr lang="vi-VN" sz="2000" smtClean="0">
                <a:solidFill>
                  <a:schemeClr val="accent2">
                    <a:lumMod val="50000"/>
                  </a:schemeClr>
                </a:solidFill>
                <a:latin typeface="Calibri" pitchFamily="34" charset="0"/>
                <a:cs typeface="Calibri" pitchFamily="34" charset="0"/>
              </a:rPr>
              <a:t>nhằm phục vụ cho các hoạt động của tổ chức. </a:t>
            </a: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4</a:t>
            </a:fld>
            <a:endParaRPr lang="vi-VN"/>
          </a:p>
        </p:txBody>
      </p:sp>
      <p:sp>
        <p:nvSpPr>
          <p:cNvPr id="6" name="AutoShape 5" descr="https://www.credibanco.com/App_Themes/General/images_en/information_system.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graphicFrame>
        <p:nvGraphicFramePr>
          <p:cNvPr id="7" name="Diagram 6"/>
          <p:cNvGraphicFramePr/>
          <p:nvPr>
            <p:extLst>
              <p:ext uri="{D42A27DB-BD31-4B8C-83A1-F6EECF244321}">
                <p14:modId xmlns:p14="http://schemas.microsoft.com/office/powerpoint/2010/main" val="1803928479"/>
              </p:ext>
            </p:extLst>
          </p:nvPr>
        </p:nvGraphicFramePr>
        <p:xfrm>
          <a:off x="1543100" y="2276872"/>
          <a:ext cx="5949280" cy="38884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itle 1"/>
          <p:cNvSpPr txBox="1">
            <a:spLocks/>
          </p:cNvSpPr>
          <p:nvPr/>
        </p:nvSpPr>
        <p:spPr>
          <a:xfrm>
            <a:off x="6920905"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Hệ thống</a:t>
            </a:r>
          </a:p>
          <a:p>
            <a:pPr algn="just"/>
            <a:r>
              <a:rPr lang="en-US" sz="1600" b="1">
                <a:solidFill>
                  <a:schemeClr val="accent6">
                    <a:lumMod val="75000"/>
                  </a:schemeClr>
                </a:solidFill>
                <a:latin typeface="+mn-lt"/>
                <a:cs typeface="Arial" pitchFamily="34" charset="0"/>
              </a:rPr>
              <a:t>2. Hệ thống thông tin</a:t>
            </a:r>
          </a:p>
          <a:p>
            <a:pPr algn="just"/>
            <a:r>
              <a:rPr lang="en-US" sz="1600" smtClean="0">
                <a:solidFill>
                  <a:schemeClr val="tx2"/>
                </a:solidFill>
                <a:latin typeface="+mn-lt"/>
                <a:cs typeface="Arial" pitchFamily="34" charset="0"/>
              </a:rPr>
              <a:t>3. Hệ thống thông tin quản lý</a:t>
            </a:r>
          </a:p>
        </p:txBody>
      </p:sp>
    </p:spTree>
    <p:extLst>
      <p:ext uri="{BB962C8B-B14F-4D97-AF65-F5344CB8AC3E}">
        <p14:creationId xmlns:p14="http://schemas.microsoft.com/office/powerpoint/2010/main" val="290721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b="1" smtClean="0">
                <a:solidFill>
                  <a:schemeClr val="accent6">
                    <a:lumMod val="75000"/>
                  </a:schemeClr>
                </a:solidFill>
                <a:latin typeface="+mn-lt"/>
                <a:cs typeface="Arial" pitchFamily="34" charset="0"/>
              </a:rPr>
              <a:t>1. Định </a:t>
            </a:r>
            <a:r>
              <a:rPr lang="en-US" sz="1600" b="1">
                <a:solidFill>
                  <a:schemeClr val="accent6">
                    <a:lumMod val="75000"/>
                  </a:schemeClr>
                </a:solidFill>
                <a:latin typeface="+mn-lt"/>
                <a:cs typeface="Arial" pitchFamily="34" charset="0"/>
              </a:rPr>
              <a:t>nghĩa hệ thống thông tin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Các cách tiếp cận trong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rgbClr val="FF0066"/>
                </a:solidFill>
                <a:latin typeface="Calibri" pitchFamily="34" charset="0"/>
                <a:cs typeface="Calibri" pitchFamily="34" charset="0"/>
              </a:rPr>
              <a:t>Hệ thống thông tin quản lý:</a:t>
            </a:r>
            <a:r>
              <a:rPr lang="vi-VN" sz="2000">
                <a:solidFill>
                  <a:schemeClr val="accent2">
                    <a:lumMod val="50000"/>
                  </a:schemeClr>
                </a:solidFill>
                <a:latin typeface="Calibri" pitchFamily="34" charset="0"/>
                <a:cs typeface="Calibri" pitchFamily="34" charset="0"/>
              </a:rPr>
              <a:t> là sự phát triển và sử dụng HTTT có hiệu quả </a:t>
            </a:r>
            <a:r>
              <a:rPr lang="vi-VN" sz="2000" smtClean="0">
                <a:solidFill>
                  <a:schemeClr val="accent2">
                    <a:lumMod val="50000"/>
                  </a:schemeClr>
                </a:solidFill>
                <a:latin typeface="Calibri" pitchFamily="34" charset="0"/>
                <a:cs typeface="Calibri" pitchFamily="34" charset="0"/>
              </a:rPr>
              <a:t>trong </a:t>
            </a:r>
            <a:r>
              <a:rPr lang="vi-VN" sz="2000">
                <a:solidFill>
                  <a:schemeClr val="accent2">
                    <a:lumMod val="50000"/>
                  </a:schemeClr>
                </a:solidFill>
                <a:latin typeface="Calibri" pitchFamily="34" charset="0"/>
                <a:cs typeface="Calibri" pitchFamily="34" charset="0"/>
              </a:rPr>
              <a:t>công tác quản lý </a:t>
            </a:r>
            <a:r>
              <a:rPr lang="vi-VN" sz="2000" smtClean="0">
                <a:solidFill>
                  <a:schemeClr val="accent2">
                    <a:lumMod val="50000"/>
                  </a:schemeClr>
                </a:solidFill>
                <a:latin typeface="Calibri" pitchFamily="34" charset="0"/>
                <a:cs typeface="Calibri" pitchFamily="34" charset="0"/>
              </a:rPr>
              <a:t>điều hành tổng thể các hoạt động của một </a:t>
            </a:r>
            <a:r>
              <a:rPr lang="vi-VN" sz="2000">
                <a:solidFill>
                  <a:schemeClr val="accent2">
                    <a:lumMod val="50000"/>
                  </a:schemeClr>
                </a:solidFill>
                <a:latin typeface="Calibri" pitchFamily="34" charset="0"/>
                <a:cs typeface="Calibri" pitchFamily="34" charset="0"/>
              </a:rPr>
              <a:t>tổ </a:t>
            </a:r>
            <a:r>
              <a:rPr lang="vi-VN" sz="2000" smtClean="0">
                <a:solidFill>
                  <a:schemeClr val="accent2">
                    <a:lumMod val="50000"/>
                  </a:schemeClr>
                </a:solidFill>
                <a:latin typeface="Calibri" pitchFamily="34" charset="0"/>
                <a:cs typeface="Calibri" pitchFamily="34" charset="0"/>
              </a:rPr>
              <a:t>chức.</a:t>
            </a:r>
          </a:p>
          <a:p>
            <a:pPr lvl="1"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Thành phần quan trọng nhất của HTTT quản lý là một cơ sở dữ liệu hợp nhất chứa các thông tin phản ánh cấu trúc nội tại của hệ thống và các thông tin về các hoạt động diễn ra trong hệ thống.</a:t>
            </a:r>
          </a:p>
          <a:p>
            <a:pPr lvl="1" algn="just">
              <a:spcAft>
                <a:spcPts val="683"/>
              </a:spcAft>
              <a:buClr>
                <a:srgbClr val="FF0066"/>
              </a:buClr>
              <a:buFont typeface="Symbol" pitchFamily="18" charset="2"/>
              <a:buChar char="¨"/>
            </a:pPr>
            <a:r>
              <a:rPr lang="vi-VN" sz="1800">
                <a:solidFill>
                  <a:schemeClr val="accent2">
                    <a:lumMod val="50000"/>
                  </a:schemeClr>
                </a:solidFill>
                <a:latin typeface="Calibri" pitchFamily="34" charset="0"/>
                <a:cs typeface="Calibri" pitchFamily="34" charset="0"/>
              </a:rPr>
              <a:t>Ví dụ: HTTT quản lý nhân sự trong một cơ quan </a:t>
            </a:r>
            <a:r>
              <a:rPr lang="vi-VN" sz="1800" smtClean="0">
                <a:solidFill>
                  <a:schemeClr val="accent2">
                    <a:lumMod val="50000"/>
                  </a:schemeClr>
                </a:solidFill>
                <a:latin typeface="Calibri" pitchFamily="34" charset="0"/>
                <a:cs typeface="Calibri" pitchFamily="34" charset="0"/>
              </a:rPr>
              <a:t>lưu giữ </a:t>
            </a:r>
            <a:r>
              <a:rPr lang="vi-VN" sz="1800">
                <a:solidFill>
                  <a:schemeClr val="accent2">
                    <a:lumMod val="50000"/>
                  </a:schemeClr>
                </a:solidFill>
                <a:latin typeface="Calibri" pitchFamily="34" charset="0"/>
                <a:cs typeface="Calibri" pitchFamily="34" charset="0"/>
              </a:rPr>
              <a:t>các thông tin </a:t>
            </a:r>
            <a:r>
              <a:rPr lang="vi-VN" sz="1800" smtClean="0">
                <a:solidFill>
                  <a:schemeClr val="accent2">
                    <a:lumMod val="50000"/>
                  </a:schemeClr>
                </a:solidFill>
                <a:latin typeface="Calibri" pitchFamily="34" charset="0"/>
                <a:cs typeface="Calibri" pitchFamily="34" charset="0"/>
              </a:rPr>
              <a:t>về lý lịch của nhân viên, quá trình đào tạo, quá trình công tác </a:t>
            </a:r>
            <a:r>
              <a:rPr lang="vi-VN" sz="1800">
                <a:solidFill>
                  <a:schemeClr val="accent2">
                    <a:lumMod val="50000"/>
                  </a:schemeClr>
                </a:solidFill>
                <a:latin typeface="Calibri" pitchFamily="34" charset="0"/>
                <a:cs typeface="Calibri" pitchFamily="34" charset="0"/>
              </a:rPr>
              <a:t>v.v… nhằm phục vụ mục đích quản lý </a:t>
            </a:r>
            <a:r>
              <a:rPr lang="vi-VN" sz="1800" smtClean="0">
                <a:solidFill>
                  <a:schemeClr val="accent2">
                    <a:lumMod val="50000"/>
                  </a:schemeClr>
                </a:solidFill>
                <a:latin typeface="Calibri" pitchFamily="34" charset="0"/>
                <a:cs typeface="Calibri" pitchFamily="34" charset="0"/>
              </a:rPr>
              <a:t>nhân viên </a:t>
            </a:r>
            <a:r>
              <a:rPr lang="vi-VN" sz="1800">
                <a:solidFill>
                  <a:schemeClr val="accent2">
                    <a:lumMod val="50000"/>
                  </a:schemeClr>
                </a:solidFill>
                <a:latin typeface="Calibri" pitchFamily="34" charset="0"/>
                <a:cs typeface="Calibri" pitchFamily="34" charset="0"/>
              </a:rPr>
              <a:t>dễ </a:t>
            </a:r>
            <a:r>
              <a:rPr lang="vi-VN" sz="1800" smtClean="0">
                <a:solidFill>
                  <a:schemeClr val="accent2">
                    <a:lumMod val="50000"/>
                  </a:schemeClr>
                </a:solidFill>
                <a:latin typeface="Calibri" pitchFamily="34" charset="0"/>
                <a:cs typeface="Calibri" pitchFamily="34" charset="0"/>
              </a:rPr>
              <a:t>dàng</a:t>
            </a:r>
            <a:r>
              <a:rPr lang="vi-VN" sz="1800">
                <a:solidFill>
                  <a:schemeClr val="accent2">
                    <a:lumMod val="50000"/>
                  </a:schemeClr>
                </a:solidFill>
                <a:latin typeface="Calibri" pitchFamily="34" charset="0"/>
                <a:cs typeface="Calibri" pitchFamily="34" charset="0"/>
              </a:rPr>
              <a:t>, khoa học, hiệu quả. </a:t>
            </a:r>
            <a:endParaRPr lang="en-US"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5</a:t>
            </a:fld>
            <a:endParaRPr lang="vi-V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3180" y="4221088"/>
            <a:ext cx="4401272" cy="2267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6916648"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Hệ thống</a:t>
            </a:r>
          </a:p>
          <a:p>
            <a:pPr algn="just"/>
            <a:r>
              <a:rPr lang="en-US" sz="1600">
                <a:solidFill>
                  <a:schemeClr val="tx2"/>
                </a:solidFill>
                <a:latin typeface="+mn-lt"/>
                <a:cs typeface="Arial" pitchFamily="34" charset="0"/>
              </a:rPr>
              <a:t>2. Hệ thống thông tin</a:t>
            </a:r>
          </a:p>
          <a:p>
            <a:pPr algn="just"/>
            <a:r>
              <a:rPr lang="en-US" sz="1600" b="1">
                <a:solidFill>
                  <a:schemeClr val="accent6">
                    <a:lumMod val="75000"/>
                  </a:schemeClr>
                </a:solidFill>
                <a:latin typeface="+mn-lt"/>
                <a:cs typeface="Arial" pitchFamily="34" charset="0"/>
              </a:rPr>
              <a:t>3. Hệ thống thông tin quản lý</a:t>
            </a:r>
          </a:p>
        </p:txBody>
      </p:sp>
    </p:spTree>
    <p:extLst>
      <p:ext uri="{BB962C8B-B14F-4D97-AF65-F5344CB8AC3E}">
        <p14:creationId xmlns:p14="http://schemas.microsoft.com/office/powerpoint/2010/main" val="33547115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68759"/>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2. Vai trò của phát triển hệ thống thông tin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Các cách tiếp cận trong phát triển hệ thống thông </a:t>
            </a:r>
            <a:r>
              <a:rPr lang="en-US" sz="1600" smtClean="0">
                <a:solidFill>
                  <a:schemeClr val="accent1">
                    <a:lumMod val="75000"/>
                  </a:schemeClr>
                </a:solidFill>
                <a:latin typeface="+mn-lt"/>
                <a:cs typeface="Arial" pitchFamily="34" charset="0"/>
              </a:rPr>
              <a:t>tin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C</a:t>
            </a:r>
            <a:r>
              <a:rPr lang="en-US" sz="2000" smtClean="0">
                <a:solidFill>
                  <a:schemeClr val="accent2">
                    <a:lumMod val="50000"/>
                  </a:schemeClr>
                </a:solidFill>
                <a:latin typeface="Calibri" pitchFamily="34" charset="0"/>
                <a:cs typeface="Calibri" pitchFamily="34" charset="0"/>
              </a:rPr>
              <a:t>ải </a:t>
            </a:r>
            <a:r>
              <a:rPr lang="en-US" sz="2000">
                <a:solidFill>
                  <a:schemeClr val="accent2">
                    <a:lumMod val="50000"/>
                  </a:schemeClr>
                </a:solidFill>
                <a:latin typeface="Calibri" pitchFamily="34" charset="0"/>
                <a:cs typeface="Calibri" pitchFamily="34" charset="0"/>
              </a:rPr>
              <a:t>thiện hiệu </a:t>
            </a:r>
            <a:r>
              <a:rPr lang="en-US" sz="2000" smtClean="0">
                <a:solidFill>
                  <a:schemeClr val="accent2">
                    <a:lumMod val="50000"/>
                  </a:schemeClr>
                </a:solidFill>
                <a:latin typeface="Calibri" pitchFamily="34" charset="0"/>
                <a:cs typeface="Calibri" pitchFamily="34" charset="0"/>
              </a:rPr>
              <a:t>quả, hiệu </a:t>
            </a:r>
            <a:r>
              <a:rPr lang="vi-VN" sz="2000" smtClean="0">
                <a:solidFill>
                  <a:schemeClr val="accent2">
                    <a:lumMod val="50000"/>
                  </a:schemeClr>
                </a:solidFill>
                <a:latin typeface="Calibri" pitchFamily="34" charset="0"/>
                <a:cs typeface="Calibri" pitchFamily="34" charset="0"/>
              </a:rPr>
              <a:t>suất thực hiện các qui </a:t>
            </a:r>
            <a:r>
              <a:rPr lang="vi-VN" sz="2000">
                <a:solidFill>
                  <a:schemeClr val="accent2">
                    <a:lumMod val="50000"/>
                  </a:schemeClr>
                </a:solidFill>
                <a:latin typeface="Calibri" pitchFamily="34" charset="0"/>
                <a:cs typeface="Calibri" pitchFamily="34" charset="0"/>
              </a:rPr>
              <a:t>trình nghiệp </a:t>
            </a:r>
            <a:r>
              <a:rPr lang="vi-VN" sz="2000" smtClean="0">
                <a:solidFill>
                  <a:schemeClr val="accent2">
                    <a:lumMod val="50000"/>
                  </a:schemeClr>
                </a:solidFill>
                <a:latin typeface="Calibri" pitchFamily="34" charset="0"/>
                <a:cs typeface="Calibri" pitchFamily="34" charset="0"/>
              </a:rPr>
              <a:t>vụ của tổ chức.</a:t>
            </a: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Quản lý thông tin một cách đầy đủ và khoa học, giúp cho việc trao đổi trích xuất thông tin được nhanh chóng kịp thời, hỗ trợ tối đa cho công tác ra </a:t>
            </a:r>
            <a:r>
              <a:rPr lang="vi-VN" sz="2000">
                <a:solidFill>
                  <a:schemeClr val="accent2">
                    <a:lumMod val="50000"/>
                  </a:schemeClr>
                </a:solidFill>
                <a:latin typeface="Calibri" pitchFamily="34" charset="0"/>
                <a:cs typeface="Calibri" pitchFamily="34" charset="0"/>
              </a:rPr>
              <a:t>quyết </a:t>
            </a:r>
            <a:r>
              <a:rPr lang="vi-VN" sz="2000" smtClean="0">
                <a:solidFill>
                  <a:schemeClr val="accent2">
                    <a:lumMod val="50000"/>
                  </a:schemeClr>
                </a:solidFill>
                <a:latin typeface="Calibri" pitchFamily="34" charset="0"/>
                <a:cs typeface="Calibri" pitchFamily="34" charset="0"/>
              </a:rPr>
              <a:t>định và điều hành công </a:t>
            </a:r>
            <a:r>
              <a:rPr lang="vi-VN" sz="2000">
                <a:solidFill>
                  <a:schemeClr val="accent2">
                    <a:lumMod val="50000"/>
                  </a:schemeClr>
                </a:solidFill>
                <a:latin typeface="Calibri" pitchFamily="34" charset="0"/>
                <a:cs typeface="Calibri" pitchFamily="34" charset="0"/>
              </a:rPr>
              <a:t>việc, </a:t>
            </a:r>
            <a:r>
              <a:rPr lang="vi-VN" sz="2000" smtClean="0">
                <a:solidFill>
                  <a:schemeClr val="accent2">
                    <a:lumMod val="50000"/>
                  </a:schemeClr>
                </a:solidFill>
                <a:latin typeface="Calibri" pitchFamily="34" charset="0"/>
                <a:cs typeface="Calibri" pitchFamily="34" charset="0"/>
              </a:rPr>
              <a:t>tạo </a:t>
            </a:r>
            <a:r>
              <a:rPr lang="vi-VN" sz="2000">
                <a:solidFill>
                  <a:schemeClr val="accent2">
                    <a:lumMod val="50000"/>
                  </a:schemeClr>
                </a:solidFill>
                <a:latin typeface="Calibri" pitchFamily="34" charset="0"/>
                <a:cs typeface="Calibri" pitchFamily="34" charset="0"/>
              </a:rPr>
              <a:t>những ưu thế mới, </a:t>
            </a:r>
            <a:r>
              <a:rPr lang="vi-VN" sz="2000" smtClean="0">
                <a:solidFill>
                  <a:schemeClr val="accent2">
                    <a:lumMod val="50000"/>
                  </a:schemeClr>
                </a:solidFill>
                <a:latin typeface="Calibri" pitchFamily="34" charset="0"/>
                <a:cs typeface="Calibri" pitchFamily="34" charset="0"/>
              </a:rPr>
              <a:t>năng </a:t>
            </a:r>
            <a:r>
              <a:rPr lang="vi-VN" sz="2000">
                <a:solidFill>
                  <a:schemeClr val="accent2">
                    <a:lumMod val="50000"/>
                  </a:schemeClr>
                </a:solidFill>
                <a:latin typeface="Calibri" pitchFamily="34" charset="0"/>
                <a:cs typeface="Calibri" pitchFamily="34" charset="0"/>
              </a:rPr>
              <a:t>lực mới để có thể vượt qua những thách thức và chớp </a:t>
            </a:r>
            <a:r>
              <a:rPr lang="vi-VN" sz="2000" smtClean="0">
                <a:solidFill>
                  <a:schemeClr val="accent2">
                    <a:lumMod val="50000"/>
                  </a:schemeClr>
                </a:solidFill>
                <a:latin typeface="Calibri" pitchFamily="34" charset="0"/>
                <a:cs typeface="Calibri" pitchFamily="34" charset="0"/>
              </a:rPr>
              <a:t>lấy cơ </a:t>
            </a:r>
            <a:r>
              <a:rPr lang="vi-VN" sz="2000">
                <a:solidFill>
                  <a:schemeClr val="accent2">
                    <a:lumMod val="50000"/>
                  </a:schemeClr>
                </a:solidFill>
                <a:latin typeface="Calibri" pitchFamily="34" charset="0"/>
                <a:cs typeface="Calibri" pitchFamily="34" charset="0"/>
              </a:rPr>
              <a:t>hội </a:t>
            </a:r>
            <a:r>
              <a:rPr lang="vi-VN" sz="2000" smtClean="0">
                <a:solidFill>
                  <a:schemeClr val="accent2">
                    <a:lumMod val="50000"/>
                  </a:schemeClr>
                </a:solidFill>
                <a:latin typeface="Calibri" pitchFamily="34" charset="0"/>
                <a:cs typeface="Calibri" pitchFamily="34" charset="0"/>
              </a:rPr>
              <a:t>phát triển trong </a:t>
            </a:r>
            <a:r>
              <a:rPr lang="vi-VN" sz="2000">
                <a:solidFill>
                  <a:schemeClr val="accent2">
                    <a:lumMod val="50000"/>
                  </a:schemeClr>
                </a:solidFill>
                <a:latin typeface="Calibri" pitchFamily="34" charset="0"/>
                <a:cs typeface="Calibri" pitchFamily="34" charset="0"/>
              </a:rPr>
              <a:t>tương lai</a:t>
            </a:r>
            <a:r>
              <a:rPr lang="vi-VN" sz="2000" smtClean="0">
                <a:solidFill>
                  <a:schemeClr val="accent2">
                    <a:lumMod val="50000"/>
                  </a:schemeClr>
                </a:solidFill>
                <a:latin typeface="Calibri" pitchFamily="34" charset="0"/>
                <a:cs typeface="Calibri" pitchFamily="34" charset="0"/>
              </a:rPr>
              <a:t>.</a:t>
            </a:r>
            <a:endParaRPr lang="vi-VN" sz="20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Mở rộng và tăng cường quan hệ hợp tác, kết nối và quảng bá với các đối tác trên  toàn thế giới, vượt qua mọi trở ngại về thời gian và không gian đưa sự phát triển của tổ chức lên một tầm cao mới. </a:t>
            </a: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6</a:t>
            </a:fld>
            <a:endParaRPr lang="vi-VN"/>
          </a:p>
        </p:txBody>
      </p:sp>
      <p:sp>
        <p:nvSpPr>
          <p:cNvPr id="8" name="Title 1"/>
          <p:cNvSpPr txBox="1">
            <a:spLocks/>
          </p:cNvSpPr>
          <p:nvPr/>
        </p:nvSpPr>
        <p:spPr>
          <a:xfrm>
            <a:off x="6916648"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800" smtClean="0">
                <a:solidFill>
                  <a:schemeClr val="tx2"/>
                </a:solidFill>
                <a:latin typeface="+mn-lt"/>
                <a:cs typeface="Arial" pitchFamily="34" charset="0"/>
              </a:rPr>
              <a:t>Vai trò</a:t>
            </a:r>
            <a:endParaRPr lang="vi-VN" sz="2800" baseline="30000">
              <a:solidFill>
                <a:schemeClr val="tx2"/>
              </a:solidFill>
              <a:latin typeface="+mn-lt"/>
              <a:cs typeface="Arial" pitchFamily="34" charset="0"/>
            </a:endParaRPr>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275" y="4227957"/>
            <a:ext cx="2541265" cy="2630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39131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3. Các cách tiếp cận trong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rgbClr val="FF0066"/>
                </a:solidFill>
                <a:latin typeface="Calibri" pitchFamily="34" charset="0"/>
                <a:cs typeface="Calibri" pitchFamily="34" charset="0"/>
              </a:rPr>
              <a:t>Tiếp cận hướng tiến trình:</a:t>
            </a:r>
            <a:endParaRPr lang="vi-VN" sz="20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Xuất hiện từ những năm 1950 trong bối cảnh máy tính mới ra đời, tốc độ xử lý chậm và bộ nhớ nhỏ.</a:t>
            </a:r>
          </a:p>
          <a:p>
            <a:pPr lvl="1"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Quá </a:t>
            </a:r>
            <a:r>
              <a:rPr lang="vi-VN" sz="1800">
                <a:solidFill>
                  <a:schemeClr val="accent2">
                    <a:lumMod val="50000"/>
                  </a:schemeClr>
                </a:solidFill>
                <a:latin typeface="Calibri" pitchFamily="34" charset="0"/>
                <a:cs typeface="Calibri" pitchFamily="34" charset="0"/>
              </a:rPr>
              <a:t>trình phát triển phần mềm </a:t>
            </a:r>
            <a:r>
              <a:rPr lang="en-US" sz="1800" smtClean="0">
                <a:solidFill>
                  <a:schemeClr val="accent2">
                    <a:lumMod val="50000"/>
                  </a:schemeClr>
                </a:solidFill>
                <a:latin typeface="Calibri" pitchFamily="34" charset="0"/>
                <a:cs typeface="Calibri" pitchFamily="34" charset="0"/>
              </a:rPr>
              <a:t>lấy </a:t>
            </a:r>
            <a:r>
              <a:rPr lang="en-US" sz="1800">
                <a:solidFill>
                  <a:schemeClr val="accent2">
                    <a:lumMod val="50000"/>
                  </a:schemeClr>
                </a:solidFill>
                <a:latin typeface="Calibri" pitchFamily="34" charset="0"/>
                <a:cs typeface="Calibri" pitchFamily="34" charset="0"/>
              </a:rPr>
              <a:t>tiến trình làm trung tâm của việc phân tích, thiết kế và thực </a:t>
            </a:r>
            <a:r>
              <a:rPr lang="en-US" sz="1800" smtClean="0">
                <a:solidFill>
                  <a:schemeClr val="accent2">
                    <a:lumMod val="50000"/>
                  </a:schemeClr>
                </a:solidFill>
                <a:latin typeface="Calibri" pitchFamily="34" charset="0"/>
                <a:cs typeface="Calibri" pitchFamily="34" charset="0"/>
              </a:rPr>
              <a:t>hiện, các kỹ thuật chủ yếu tập trung vào việc </a:t>
            </a:r>
            <a:r>
              <a:rPr lang="vi-VN" sz="1800" smtClean="0">
                <a:solidFill>
                  <a:schemeClr val="accent2">
                    <a:lumMod val="50000"/>
                  </a:schemeClr>
                </a:solidFill>
                <a:latin typeface="Calibri" pitchFamily="34" charset="0"/>
                <a:cs typeface="Calibri" pitchFamily="34" charset="0"/>
              </a:rPr>
              <a:t>xây </a:t>
            </a:r>
            <a:r>
              <a:rPr lang="vi-VN" sz="1800">
                <a:solidFill>
                  <a:schemeClr val="accent2">
                    <a:lumMod val="50000"/>
                  </a:schemeClr>
                </a:solidFill>
                <a:latin typeface="Calibri" pitchFamily="34" charset="0"/>
                <a:cs typeface="Calibri" pitchFamily="34" charset="0"/>
              </a:rPr>
              <a:t>dựng các giải thuật và </a:t>
            </a:r>
            <a:r>
              <a:rPr lang="vi-VN" sz="1800" smtClean="0">
                <a:solidFill>
                  <a:schemeClr val="accent2">
                    <a:lumMod val="50000"/>
                  </a:schemeClr>
                </a:solidFill>
                <a:latin typeface="Calibri" pitchFamily="34" charset="0"/>
                <a:cs typeface="Calibri" pitchFamily="34" charset="0"/>
              </a:rPr>
              <a:t>các thao </a:t>
            </a:r>
            <a:r>
              <a:rPr lang="vi-VN" sz="1800">
                <a:solidFill>
                  <a:schemeClr val="accent2">
                    <a:lumMod val="50000"/>
                  </a:schemeClr>
                </a:solidFill>
                <a:latin typeface="Calibri" pitchFamily="34" charset="0"/>
                <a:cs typeface="Calibri" pitchFamily="34" charset="0"/>
              </a:rPr>
              <a:t>tác xử lý </a:t>
            </a:r>
            <a:r>
              <a:rPr lang="vi-VN" sz="1800" smtClean="0">
                <a:solidFill>
                  <a:schemeClr val="accent2">
                    <a:lumMod val="50000"/>
                  </a:schemeClr>
                </a:solidFill>
                <a:latin typeface="Calibri" pitchFamily="34" charset="0"/>
                <a:cs typeface="Calibri" pitchFamily="34" charset="0"/>
              </a:rPr>
              <a:t>nhằm thực </a:t>
            </a:r>
            <a:r>
              <a:rPr lang="vi-VN" sz="1800">
                <a:solidFill>
                  <a:schemeClr val="accent2">
                    <a:lumMod val="50000"/>
                  </a:schemeClr>
                </a:solidFill>
                <a:latin typeface="Calibri" pitchFamily="34" charset="0"/>
                <a:cs typeface="Calibri" pitchFamily="34" charset="0"/>
              </a:rPr>
              <a:t>thi các chức năng theo trình tự </a:t>
            </a:r>
            <a:r>
              <a:rPr lang="vi-VN" sz="1800" smtClean="0">
                <a:solidFill>
                  <a:schemeClr val="accent2">
                    <a:lumMod val="50000"/>
                  </a:schemeClr>
                </a:solidFill>
                <a:latin typeface="Calibri" pitchFamily="34" charset="0"/>
                <a:cs typeface="Calibri" pitchFamily="34" charset="0"/>
              </a:rPr>
              <a:t>phải </a:t>
            </a:r>
            <a:r>
              <a:rPr lang="vi-VN" sz="1800">
                <a:solidFill>
                  <a:schemeClr val="accent2">
                    <a:lumMod val="50000"/>
                  </a:schemeClr>
                </a:solidFill>
                <a:latin typeface="Calibri" pitchFamily="34" charset="0"/>
                <a:cs typeface="Calibri" pitchFamily="34" charset="0"/>
              </a:rPr>
              <a:t>thực </a:t>
            </a:r>
            <a:r>
              <a:rPr lang="vi-VN" sz="1800" smtClean="0">
                <a:solidFill>
                  <a:schemeClr val="accent2">
                    <a:lumMod val="50000"/>
                  </a:schemeClr>
                </a:solidFill>
                <a:latin typeface="Calibri" pitchFamily="34" charset="0"/>
                <a:cs typeface="Calibri" pitchFamily="34" charset="0"/>
              </a:rPr>
              <a:t>hiện của hệ thống.</a:t>
            </a:r>
          </a:p>
          <a:p>
            <a:pPr lvl="1"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Trong cách tiếp cận này hệ </a:t>
            </a:r>
            <a:r>
              <a:rPr lang="vi-VN" sz="1800">
                <a:solidFill>
                  <a:schemeClr val="accent2">
                    <a:lumMod val="50000"/>
                  </a:schemeClr>
                </a:solidFill>
                <a:latin typeface="Calibri" pitchFamily="34" charset="0"/>
                <a:cs typeface="Calibri" pitchFamily="34" charset="0"/>
              </a:rPr>
              <a:t>thống được </a:t>
            </a:r>
            <a:r>
              <a:rPr lang="en-US" sz="1800">
                <a:solidFill>
                  <a:schemeClr val="accent2">
                    <a:lumMod val="50000"/>
                  </a:schemeClr>
                </a:solidFill>
                <a:latin typeface="Calibri" pitchFamily="34" charset="0"/>
                <a:cs typeface="Calibri" pitchFamily="34" charset="0"/>
              </a:rPr>
              <a:t>chia </a:t>
            </a:r>
            <a:r>
              <a:rPr lang="vi-VN" sz="1800">
                <a:solidFill>
                  <a:schemeClr val="accent2">
                    <a:lumMod val="50000"/>
                  </a:schemeClr>
                </a:solidFill>
                <a:latin typeface="Calibri" pitchFamily="34" charset="0"/>
                <a:cs typeface="Calibri" pitchFamily="34" charset="0"/>
              </a:rPr>
              <a:t>thành những </a:t>
            </a:r>
            <a:r>
              <a:rPr lang="vi-VN" sz="1800" smtClean="0">
                <a:solidFill>
                  <a:schemeClr val="accent2">
                    <a:lumMod val="50000"/>
                  </a:schemeClr>
                </a:solidFill>
                <a:latin typeface="Calibri" pitchFamily="34" charset="0"/>
                <a:cs typeface="Calibri" pitchFamily="34" charset="0"/>
              </a:rPr>
              <a:t>bộ phận chương trình độc </a:t>
            </a:r>
            <a:r>
              <a:rPr lang="vi-VN" sz="1800">
                <a:solidFill>
                  <a:schemeClr val="accent2">
                    <a:lumMod val="50000"/>
                  </a:schemeClr>
                </a:solidFill>
                <a:latin typeface="Calibri" pitchFamily="34" charset="0"/>
                <a:cs typeface="Calibri" pitchFamily="34" charset="0"/>
              </a:rPr>
              <a:t>lập và dữ liệu được tổ chức gắn liền với từng </a:t>
            </a:r>
            <a:r>
              <a:rPr lang="vi-VN" sz="1800" smtClean="0">
                <a:solidFill>
                  <a:schemeClr val="accent2">
                    <a:lumMod val="50000"/>
                  </a:schemeClr>
                </a:solidFill>
                <a:latin typeface="Calibri" pitchFamily="34" charset="0"/>
                <a:cs typeface="Calibri" pitchFamily="34" charset="0"/>
              </a:rPr>
              <a:t>chức năng </a:t>
            </a:r>
            <a:r>
              <a:rPr lang="vi-VN" sz="1800">
                <a:solidFill>
                  <a:schemeClr val="accent2">
                    <a:lumMod val="50000"/>
                  </a:schemeClr>
                </a:solidFill>
                <a:latin typeface="Calibri" pitchFamily="34" charset="0"/>
                <a:cs typeface="Calibri" pitchFamily="34" charset="0"/>
              </a:rPr>
              <a:t>xử lý. </a:t>
            </a:r>
            <a:endParaRPr lang="vi-VN" sz="1800" smtClean="0">
              <a:solidFill>
                <a:schemeClr val="accent2">
                  <a:lumMod val="50000"/>
                </a:schemeClr>
              </a:solidFill>
              <a:latin typeface="Calibri" pitchFamily="34" charset="0"/>
              <a:cs typeface="Calibri" pitchFamily="34" charset="0"/>
            </a:endParaRPr>
          </a:p>
          <a:p>
            <a:pPr marL="0" indent="0" algn="just">
              <a:buNone/>
            </a:pPr>
            <a:r>
              <a:rPr lang="vi-VN" sz="1800" smtClean="0">
                <a:solidFill>
                  <a:schemeClr val="accent2">
                    <a:lumMod val="50000"/>
                  </a:schemeClr>
                </a:solidFill>
                <a:latin typeface="Calibri" pitchFamily="34" charset="0"/>
                <a:cs typeface="Calibri" pitchFamily="34" charset="0"/>
              </a:rPr>
              <a:t>Cách </a:t>
            </a:r>
            <a:r>
              <a:rPr lang="vi-VN" sz="1800">
                <a:solidFill>
                  <a:schemeClr val="accent2">
                    <a:lumMod val="50000"/>
                  </a:schemeClr>
                </a:solidFill>
                <a:latin typeface="Calibri" pitchFamily="34" charset="0"/>
                <a:cs typeface="Calibri" pitchFamily="34" charset="0"/>
              </a:rPr>
              <a:t>tiếp cận này tạo ra sự dư thừa dữ liệu, </a:t>
            </a:r>
            <a:r>
              <a:rPr lang="vi-VN" sz="1800" smtClean="0">
                <a:solidFill>
                  <a:schemeClr val="accent2">
                    <a:lumMod val="50000"/>
                  </a:schemeClr>
                </a:solidFill>
                <a:latin typeface="Calibri" pitchFamily="34" charset="0"/>
                <a:cs typeface="Calibri" pitchFamily="34" charset="0"/>
              </a:rPr>
              <a:t>khó khăn trong việc </a:t>
            </a:r>
            <a:r>
              <a:rPr lang="vi-VN" sz="1800">
                <a:solidFill>
                  <a:schemeClr val="accent2">
                    <a:lumMod val="50000"/>
                  </a:schemeClr>
                </a:solidFill>
                <a:latin typeface="Calibri" pitchFamily="34" charset="0"/>
                <a:cs typeface="Calibri" pitchFamily="34" charset="0"/>
              </a:rPr>
              <a:t>thu </a:t>
            </a:r>
            <a:r>
              <a:rPr lang="vi-VN" sz="1800" smtClean="0">
                <a:solidFill>
                  <a:schemeClr val="accent2">
                    <a:lumMod val="50000"/>
                  </a:schemeClr>
                </a:solidFill>
                <a:latin typeface="Calibri" pitchFamily="34" charset="0"/>
                <a:cs typeface="Calibri" pitchFamily="34" charset="0"/>
              </a:rPr>
              <a:t>thập, tổ </a:t>
            </a:r>
            <a:r>
              <a:rPr lang="vi-VN" sz="1800">
                <a:solidFill>
                  <a:schemeClr val="accent2">
                    <a:lumMod val="50000"/>
                  </a:schemeClr>
                </a:solidFill>
                <a:latin typeface="Calibri" pitchFamily="34" charset="0"/>
                <a:cs typeface="Calibri" pitchFamily="34" charset="0"/>
              </a:rPr>
              <a:t>chức dữ </a:t>
            </a:r>
            <a:r>
              <a:rPr lang="vi-VN" sz="1800" smtClean="0">
                <a:solidFill>
                  <a:schemeClr val="accent2">
                    <a:lumMod val="50000"/>
                  </a:schemeClr>
                </a:solidFill>
                <a:latin typeface="Calibri" pitchFamily="34" charset="0"/>
                <a:cs typeface="Calibri" pitchFamily="34" charset="0"/>
              </a:rPr>
              <a:t>liệu ngoài ra hiệu </a:t>
            </a:r>
            <a:r>
              <a:rPr lang="vi-VN" sz="1800">
                <a:solidFill>
                  <a:schemeClr val="accent2">
                    <a:lumMod val="50000"/>
                  </a:schemeClr>
                </a:solidFill>
                <a:latin typeface="Calibri" pitchFamily="34" charset="0"/>
                <a:cs typeface="Calibri" pitchFamily="34" charset="0"/>
              </a:rPr>
              <a:t>quả </a:t>
            </a:r>
            <a:r>
              <a:rPr lang="vi-VN" sz="1800" smtClean="0">
                <a:solidFill>
                  <a:schemeClr val="accent2">
                    <a:lumMod val="50000"/>
                  </a:schemeClr>
                </a:solidFill>
                <a:latin typeface="Calibri" pitchFamily="34" charset="0"/>
                <a:cs typeface="Calibri" pitchFamily="34" charset="0"/>
              </a:rPr>
              <a:t>sử dụng kém do dữ liệu không được </a:t>
            </a:r>
            <a:r>
              <a:rPr lang="vi-VN" sz="1800">
                <a:solidFill>
                  <a:schemeClr val="accent2">
                    <a:lumMod val="50000"/>
                  </a:schemeClr>
                </a:solidFill>
                <a:latin typeface="Calibri" pitchFamily="34" charset="0"/>
                <a:cs typeface="Calibri" pitchFamily="34" charset="0"/>
              </a:rPr>
              <a:t>chia sẻ giữa các ứng </a:t>
            </a:r>
            <a:r>
              <a:rPr lang="vi-VN" sz="1800" smtClean="0">
                <a:solidFill>
                  <a:schemeClr val="accent2">
                    <a:lumMod val="50000"/>
                  </a:schemeClr>
                </a:solidFill>
                <a:latin typeface="Calibri" pitchFamily="34" charset="0"/>
                <a:cs typeface="Calibri" pitchFamily="34" charset="0"/>
              </a:rPr>
              <a:t>dụng </a:t>
            </a:r>
            <a:r>
              <a:rPr lang="vi-VN" sz="1800">
                <a:solidFill>
                  <a:schemeClr val="accent2">
                    <a:lumMod val="50000"/>
                  </a:schemeClr>
                </a:solidFill>
                <a:latin typeface="Calibri" pitchFamily="34" charset="0"/>
                <a:cs typeface="Calibri" pitchFamily="34" charset="0"/>
              </a:rPr>
              <a:t>với </a:t>
            </a:r>
            <a:r>
              <a:rPr lang="vi-VN" sz="1800" smtClean="0">
                <a:solidFill>
                  <a:schemeClr val="accent2">
                    <a:lumMod val="50000"/>
                  </a:schemeClr>
                </a:solidFill>
                <a:latin typeface="Calibri" pitchFamily="34" charset="0"/>
                <a:cs typeface="Calibri" pitchFamily="34" charset="0"/>
              </a:rPr>
              <a:t>nhau</a:t>
            </a:r>
            <a:r>
              <a:rPr lang="vi-VN" sz="1800">
                <a:solidFill>
                  <a:schemeClr val="accent2">
                    <a:lumMod val="50000"/>
                  </a:schemeClr>
                </a:solidFill>
                <a:latin typeface="Calibri" pitchFamily="34" charset="0"/>
                <a:cs typeface="Calibri" pitchFamily="34" charset="0"/>
              </a:rPr>
              <a:t> </a:t>
            </a:r>
            <a:r>
              <a:rPr lang="en-US" sz="1800">
                <a:solidFill>
                  <a:schemeClr val="accent2">
                    <a:lumMod val="50000"/>
                  </a:schemeClr>
                </a:solidFill>
                <a:latin typeface="Calibri" pitchFamily="34" charset="0"/>
                <a:cs typeface="Calibri" pitchFamily="34" charset="0"/>
              </a:rPr>
              <a:t>và </a:t>
            </a:r>
            <a:r>
              <a:rPr lang="en-US" sz="1800" smtClean="0">
                <a:solidFill>
                  <a:schemeClr val="accent2">
                    <a:lumMod val="50000"/>
                  </a:schemeClr>
                </a:solidFill>
                <a:latin typeface="Calibri" pitchFamily="34" charset="0"/>
                <a:cs typeface="Calibri" pitchFamily="34" charset="0"/>
              </a:rPr>
              <a:t>mất </a:t>
            </a:r>
            <a:r>
              <a:rPr lang="en-US" sz="1800">
                <a:solidFill>
                  <a:schemeClr val="accent2">
                    <a:lumMod val="50000"/>
                  </a:schemeClr>
                </a:solidFill>
                <a:latin typeface="Calibri" pitchFamily="34" charset="0"/>
                <a:cs typeface="Calibri" pitchFamily="34" charset="0"/>
              </a:rPr>
              <a:t>nhiều công sức cho việc tổ chức lại dữ liệu mỗi khi có sự thay đổi trong tiến trình xử </a:t>
            </a:r>
            <a:r>
              <a:rPr lang="en-US" sz="1800" smtClean="0">
                <a:solidFill>
                  <a:schemeClr val="accent2">
                    <a:lumMod val="50000"/>
                  </a:schemeClr>
                </a:solidFill>
                <a:latin typeface="Calibri" pitchFamily="34" charset="0"/>
                <a:cs typeface="Calibri" pitchFamily="34" charset="0"/>
              </a:rPr>
              <a:t>lý.</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7</a:t>
            </a:fld>
            <a:endParaRPr lang="vi-VN"/>
          </a:p>
        </p:txBody>
      </p:sp>
      <p:sp>
        <p:nvSpPr>
          <p:cNvPr id="9" name="Title 1"/>
          <p:cNvSpPr txBox="1">
            <a:spLocks/>
          </p:cNvSpPr>
          <p:nvPr/>
        </p:nvSpPr>
        <p:spPr>
          <a:xfrm>
            <a:off x="6914060" y="0"/>
            <a:ext cx="3384000" cy="1260000"/>
          </a:xfrm>
          <a:prstGeom prst="rect">
            <a:avLst/>
          </a:prstGeom>
          <a:solidFill>
            <a:schemeClr val="accent1">
              <a:lumMod val="75000"/>
            </a:schemeClr>
          </a:solidFill>
        </p:spPr>
        <p:txBody>
          <a:bodyPr vert="horz" lIns="104104" tIns="52052" rIns="104104" bIns="52052" rtlCol="0" anchor="ctr">
            <a:normAutofit lnSpcReduction="1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b="1">
                <a:solidFill>
                  <a:schemeClr val="accent6">
                    <a:lumMod val="75000"/>
                  </a:schemeClr>
                </a:solidFill>
                <a:latin typeface="+mn-lt"/>
                <a:cs typeface="Arial" pitchFamily="34" charset="0"/>
              </a:rPr>
              <a:t>1. Hướng tiến </a:t>
            </a:r>
            <a:r>
              <a:rPr lang="en-US" sz="1600" b="1" smtClean="0">
                <a:solidFill>
                  <a:schemeClr val="accent6">
                    <a:lumMod val="75000"/>
                  </a:schemeClr>
                </a:solidFill>
                <a:latin typeface="+mn-lt"/>
                <a:cs typeface="Arial" pitchFamily="34" charset="0"/>
              </a:rPr>
              <a:t>trình</a:t>
            </a:r>
            <a:endParaRPr lang="en-US" sz="1600" b="1">
              <a:solidFill>
                <a:schemeClr val="accent6">
                  <a:lumMod val="75000"/>
                </a:schemeClr>
              </a:solidFill>
              <a:latin typeface="+mn-lt"/>
              <a:cs typeface="Arial" pitchFamily="34" charset="0"/>
            </a:endParaRPr>
          </a:p>
          <a:p>
            <a:pPr algn="just"/>
            <a:r>
              <a:rPr lang="en-US" sz="1600">
                <a:solidFill>
                  <a:schemeClr val="tx2"/>
                </a:solidFill>
                <a:latin typeface="+mn-lt"/>
                <a:cs typeface="Arial" pitchFamily="34" charset="0"/>
              </a:rPr>
              <a:t>2. </a:t>
            </a:r>
            <a:r>
              <a:rPr lang="en-US" sz="1600" smtClean="0">
                <a:solidFill>
                  <a:schemeClr val="tx2"/>
                </a:solidFill>
                <a:latin typeface="+mn-lt"/>
                <a:cs typeface="Arial" pitchFamily="34" charset="0"/>
              </a:rPr>
              <a:t>Hướng dữ liệu</a:t>
            </a:r>
            <a:endParaRPr lang="en-US" sz="1600">
              <a:solidFill>
                <a:schemeClr val="tx2"/>
              </a:solidFill>
              <a:latin typeface="+mn-lt"/>
              <a:cs typeface="Arial" pitchFamily="34" charset="0"/>
            </a:endParaRPr>
          </a:p>
          <a:p>
            <a:pPr algn="just"/>
            <a:r>
              <a:rPr lang="en-US" sz="1600">
                <a:solidFill>
                  <a:schemeClr val="tx2"/>
                </a:solidFill>
                <a:latin typeface="+mn-lt"/>
                <a:cs typeface="Arial" pitchFamily="34" charset="0"/>
              </a:rPr>
              <a:t>3. </a:t>
            </a:r>
            <a:r>
              <a:rPr lang="en-US" sz="1600" smtClean="0">
                <a:solidFill>
                  <a:schemeClr val="tx2"/>
                </a:solidFill>
                <a:latin typeface="+mn-lt"/>
                <a:cs typeface="Arial" pitchFamily="34" charset="0"/>
              </a:rPr>
              <a:t>Hướng cấu trúc</a:t>
            </a:r>
          </a:p>
          <a:p>
            <a:pPr algn="just"/>
            <a:r>
              <a:rPr lang="en-US" sz="1600" smtClean="0">
                <a:solidFill>
                  <a:schemeClr val="tx2"/>
                </a:solidFill>
                <a:latin typeface="+mn-lt"/>
                <a:cs typeface="Arial" pitchFamily="34" charset="0"/>
              </a:rPr>
              <a:t>4. Hướng đối tượng</a:t>
            </a:r>
          </a:p>
          <a:p>
            <a:pPr algn="just"/>
            <a:r>
              <a:rPr lang="en-US" sz="1600" smtClean="0">
                <a:solidFill>
                  <a:schemeClr val="tx2"/>
                </a:solidFill>
                <a:latin typeface="+mn-lt"/>
                <a:cs typeface="Arial" pitchFamily="34" charset="0"/>
              </a:rPr>
              <a:t>5. Hướng tiến trình nghiệp vụ</a:t>
            </a:r>
            <a:endParaRPr lang="en-US" sz="1600" b="1">
              <a:solidFill>
                <a:schemeClr val="accent6">
                  <a:lumMod val="75000"/>
                </a:schemeClr>
              </a:solidFill>
              <a:latin typeface="+mn-lt"/>
              <a:cs typeface="Arial" pitchFamily="34" charset="0"/>
            </a:endParaRPr>
          </a:p>
        </p:txBody>
      </p:sp>
    </p:spTree>
    <p:extLst>
      <p:ext uri="{BB962C8B-B14F-4D97-AF65-F5344CB8AC3E}">
        <p14:creationId xmlns:p14="http://schemas.microsoft.com/office/powerpoint/2010/main" val="37015965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3. Các cách tiếp cận trong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rgbClr val="FF0066"/>
                </a:solidFill>
                <a:latin typeface="Calibri" pitchFamily="34" charset="0"/>
                <a:cs typeface="Calibri" pitchFamily="34" charset="0"/>
              </a:rPr>
              <a:t>Tiếp cận hướng dữ liệu:</a:t>
            </a:r>
            <a:endParaRPr lang="vi-VN" sz="20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Tập trung vào việc tổ chức dữ liệu một cách tối ưu về cả không gian lưu trữ và hiệu quả sử dụng.</a:t>
            </a:r>
          </a:p>
          <a:p>
            <a:pPr lvl="1" algn="just">
              <a:spcAft>
                <a:spcPts val="683"/>
              </a:spcAft>
              <a:buClr>
                <a:srgbClr val="FF0066"/>
              </a:buClr>
              <a:buFont typeface="Symbol" pitchFamily="18" charset="2"/>
              <a:buChar char="¨"/>
            </a:pPr>
            <a:r>
              <a:rPr lang="en-US" sz="1800">
                <a:solidFill>
                  <a:schemeClr val="accent2">
                    <a:lumMod val="50000"/>
                  </a:schemeClr>
                </a:solidFill>
                <a:latin typeface="Calibri" pitchFamily="34" charset="0"/>
                <a:cs typeface="Calibri" pitchFamily="34" charset="0"/>
              </a:rPr>
              <a:t>Ý tưởng của các tiếp cận này là phân tách dữ liệu ra khỏi các quá trình xử </a:t>
            </a:r>
            <a:r>
              <a:rPr lang="en-US" sz="1800" smtClean="0">
                <a:solidFill>
                  <a:schemeClr val="accent2">
                    <a:lumMod val="50000"/>
                  </a:schemeClr>
                </a:solidFill>
                <a:latin typeface="Calibri" pitchFamily="34" charset="0"/>
                <a:cs typeface="Calibri" pitchFamily="34" charset="0"/>
              </a:rPr>
              <a:t>lí v</a:t>
            </a:r>
            <a:r>
              <a:rPr lang="vi-VN" sz="1800" smtClean="0">
                <a:solidFill>
                  <a:schemeClr val="accent2">
                    <a:lumMod val="50000"/>
                  </a:schemeClr>
                </a:solidFill>
                <a:latin typeface="Calibri" pitchFamily="34" charset="0"/>
                <a:cs typeface="Calibri" pitchFamily="34" charset="0"/>
              </a:rPr>
              <a:t>à tổ chức tập chung chúng thành một cơ </a:t>
            </a:r>
            <a:r>
              <a:rPr lang="vi-VN" sz="1800">
                <a:solidFill>
                  <a:schemeClr val="accent2">
                    <a:lumMod val="50000"/>
                  </a:schemeClr>
                </a:solidFill>
                <a:latin typeface="Calibri" pitchFamily="34" charset="0"/>
                <a:cs typeface="Calibri" pitchFamily="34" charset="0"/>
              </a:rPr>
              <a:t>sở dữ liệu dùng </a:t>
            </a:r>
            <a:r>
              <a:rPr lang="vi-VN" sz="1800" smtClean="0">
                <a:solidFill>
                  <a:schemeClr val="accent2">
                    <a:lumMod val="50000"/>
                  </a:schemeClr>
                </a:solidFill>
                <a:latin typeface="Calibri" pitchFamily="34" charset="0"/>
                <a:cs typeface="Calibri" pitchFamily="34" charset="0"/>
              </a:rPr>
              <a:t>chung cho toàn bộ hệ thống.</a:t>
            </a:r>
            <a:endParaRPr lang="vi-VN" sz="1800">
              <a:solidFill>
                <a:schemeClr val="accent2">
                  <a:lumMod val="50000"/>
                </a:schemeClr>
              </a:solidFill>
              <a:latin typeface="Calibri" pitchFamily="34" charset="0"/>
              <a:cs typeface="Calibri" pitchFamily="34" charset="0"/>
            </a:endParaRPr>
          </a:p>
          <a:p>
            <a:pPr marL="0" indent="0" algn="just">
              <a:spcAft>
                <a:spcPts val="683"/>
              </a:spcAft>
              <a:buClr>
                <a:srgbClr val="FF0066"/>
              </a:buClr>
              <a:buNone/>
            </a:pPr>
            <a:r>
              <a:rPr lang="vi-VN" sz="1800">
                <a:solidFill>
                  <a:schemeClr val="accent2">
                    <a:lumMod val="50000"/>
                  </a:schemeClr>
                </a:solidFill>
                <a:latin typeface="Calibri" pitchFamily="34" charset="0"/>
                <a:cs typeface="Calibri" pitchFamily="34" charset="0"/>
              </a:rPr>
              <a:t>Cách tiếp cận này </a:t>
            </a:r>
            <a:r>
              <a:rPr lang="vi-VN" sz="1800" smtClean="0">
                <a:solidFill>
                  <a:schemeClr val="accent2">
                    <a:lumMod val="50000"/>
                  </a:schemeClr>
                </a:solidFill>
                <a:latin typeface="Calibri" pitchFamily="34" charset="0"/>
                <a:cs typeface="Calibri" pitchFamily="34" charset="0"/>
              </a:rPr>
              <a:t>làm giảm </a:t>
            </a:r>
            <a:r>
              <a:rPr lang="vi-VN" sz="1800">
                <a:solidFill>
                  <a:schemeClr val="accent2">
                    <a:lumMod val="50000"/>
                  </a:schemeClr>
                </a:solidFill>
                <a:latin typeface="Calibri" pitchFamily="34" charset="0"/>
                <a:cs typeface="Calibri" pitchFamily="34" charset="0"/>
              </a:rPr>
              <a:t>sự dư thừa dữ liệu, </a:t>
            </a:r>
            <a:r>
              <a:rPr lang="vi-VN" sz="1800" smtClean="0">
                <a:solidFill>
                  <a:schemeClr val="accent2">
                    <a:lumMod val="50000"/>
                  </a:schemeClr>
                </a:solidFill>
                <a:latin typeface="Calibri" pitchFamily="34" charset="0"/>
                <a:cs typeface="Calibri" pitchFamily="34" charset="0"/>
              </a:rPr>
              <a:t>tiếp kiệm không gian lưu trữ, dễ dàng trong việc thu </a:t>
            </a:r>
            <a:r>
              <a:rPr lang="vi-VN" sz="1800">
                <a:solidFill>
                  <a:schemeClr val="accent2">
                    <a:lumMod val="50000"/>
                  </a:schemeClr>
                </a:solidFill>
                <a:latin typeface="Calibri" pitchFamily="34" charset="0"/>
                <a:cs typeface="Calibri" pitchFamily="34" charset="0"/>
              </a:rPr>
              <a:t>thập, </a:t>
            </a:r>
            <a:r>
              <a:rPr lang="vi-VN" sz="1800" smtClean="0">
                <a:solidFill>
                  <a:schemeClr val="accent2">
                    <a:lumMod val="50000"/>
                  </a:schemeClr>
                </a:solidFill>
                <a:latin typeface="Calibri" pitchFamily="34" charset="0"/>
                <a:cs typeface="Calibri" pitchFamily="34" charset="0"/>
              </a:rPr>
              <a:t>tìm kiếm và trích xuất dữ liệu, nâng cao tính kết nối và tính đồng nhất của dữ liệu trong hệ thống. Tuy nhiên mỗi ứng dụng tạo thành một khối chương trình nên khó khăn trong việc quản lý và chỉnh sửa các hoạt động nghiệp vụ.</a:t>
            </a: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22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8</a:t>
            </a:fld>
            <a:endParaRPr lang="vi-VN"/>
          </a:p>
        </p:txBody>
      </p:sp>
      <p:sp>
        <p:nvSpPr>
          <p:cNvPr id="9" name="Title 1"/>
          <p:cNvSpPr txBox="1">
            <a:spLocks/>
          </p:cNvSpPr>
          <p:nvPr/>
        </p:nvSpPr>
        <p:spPr>
          <a:xfrm>
            <a:off x="6914060" y="0"/>
            <a:ext cx="3384000" cy="1260000"/>
          </a:xfrm>
          <a:prstGeom prst="rect">
            <a:avLst/>
          </a:prstGeom>
          <a:solidFill>
            <a:schemeClr val="accent1">
              <a:lumMod val="75000"/>
            </a:schemeClr>
          </a:solidFill>
        </p:spPr>
        <p:txBody>
          <a:bodyPr vert="horz" lIns="104104" tIns="52052" rIns="104104" bIns="52052" rtlCol="0" anchor="ctr">
            <a:normAutofit lnSpcReduction="1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Hướng tiến trình</a:t>
            </a:r>
          </a:p>
          <a:p>
            <a:pPr algn="just"/>
            <a:r>
              <a:rPr lang="en-US" sz="1600" b="1">
                <a:solidFill>
                  <a:schemeClr val="accent6">
                    <a:lumMod val="75000"/>
                  </a:schemeClr>
                </a:solidFill>
                <a:latin typeface="+mn-lt"/>
                <a:cs typeface="Arial" pitchFamily="34" charset="0"/>
              </a:rPr>
              <a:t>2. Hướng dữ liệu</a:t>
            </a:r>
          </a:p>
          <a:p>
            <a:pPr algn="just"/>
            <a:r>
              <a:rPr lang="en-US" sz="1600">
                <a:solidFill>
                  <a:schemeClr val="tx2"/>
                </a:solidFill>
                <a:latin typeface="+mn-lt"/>
                <a:cs typeface="Arial" pitchFamily="34" charset="0"/>
              </a:rPr>
              <a:t>3. </a:t>
            </a:r>
            <a:r>
              <a:rPr lang="en-US" sz="1600" smtClean="0">
                <a:solidFill>
                  <a:schemeClr val="tx2"/>
                </a:solidFill>
                <a:latin typeface="+mn-lt"/>
                <a:cs typeface="Arial" pitchFamily="34" charset="0"/>
              </a:rPr>
              <a:t>Hướng cấu trúc</a:t>
            </a:r>
          </a:p>
          <a:p>
            <a:pPr algn="just"/>
            <a:r>
              <a:rPr lang="en-US" sz="1600" smtClean="0">
                <a:solidFill>
                  <a:schemeClr val="tx2"/>
                </a:solidFill>
                <a:latin typeface="+mn-lt"/>
                <a:cs typeface="Arial" pitchFamily="34" charset="0"/>
              </a:rPr>
              <a:t>4. Hướng đối tượng</a:t>
            </a:r>
          </a:p>
          <a:p>
            <a:pPr algn="just"/>
            <a:r>
              <a:rPr lang="en-US" sz="1600" smtClean="0">
                <a:solidFill>
                  <a:schemeClr val="tx2"/>
                </a:solidFill>
                <a:latin typeface="+mn-lt"/>
                <a:cs typeface="Arial" pitchFamily="34" charset="0"/>
              </a:rPr>
              <a:t>5. Hướng tiến trình nghiệp vụ</a:t>
            </a:r>
            <a:endParaRPr lang="en-US" sz="1600" b="1">
              <a:solidFill>
                <a:schemeClr val="accent6">
                  <a:lumMod val="75000"/>
                </a:schemeClr>
              </a:solidFill>
              <a:latin typeface="+mn-lt"/>
              <a:cs typeface="Arial" pitchFamily="34" charset="0"/>
            </a:endParaRPr>
          </a:p>
        </p:txBody>
      </p:sp>
      <p:grpSp>
        <p:nvGrpSpPr>
          <p:cNvPr id="24" name="Group 23"/>
          <p:cNvGrpSpPr/>
          <p:nvPr/>
        </p:nvGrpSpPr>
        <p:grpSpPr>
          <a:xfrm>
            <a:off x="2006121" y="4696610"/>
            <a:ext cx="4763912" cy="1571068"/>
            <a:chOff x="2006121" y="4696610"/>
            <a:chExt cx="4763912" cy="1571068"/>
          </a:xfrm>
        </p:grpSpPr>
        <p:grpSp>
          <p:nvGrpSpPr>
            <p:cNvPr id="8" name="Group 7"/>
            <p:cNvGrpSpPr>
              <a:grpSpLocks/>
            </p:cNvGrpSpPr>
            <p:nvPr/>
          </p:nvGrpSpPr>
          <p:grpSpPr bwMode="auto">
            <a:xfrm>
              <a:off x="2006121" y="4696610"/>
              <a:ext cx="4763912" cy="1571068"/>
              <a:chOff x="2558" y="5003"/>
              <a:chExt cx="6806" cy="1640"/>
            </a:xfrm>
            <a:extLst>
              <a:ext uri="{0CCBE362-F206-4b92-989A-16890622DB6E}">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5="http://schemas.microsoft.com/office/word/2012/wordml"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a:ext>
            </a:extLst>
          </p:grpSpPr>
          <p:sp>
            <p:nvSpPr>
              <p:cNvPr id="10" name="AutoShape 30"/>
              <p:cNvSpPr>
                <a:spLocks noChangeArrowheads="1"/>
              </p:cNvSpPr>
              <p:nvPr/>
            </p:nvSpPr>
            <p:spPr bwMode="auto">
              <a:xfrm>
                <a:off x="5465" y="6024"/>
                <a:ext cx="1868" cy="619"/>
              </a:xfrm>
              <a:prstGeom prst="can">
                <a:avLst>
                  <a:gd name="adj" fmla="val 25000"/>
                </a:avLst>
              </a:prstGeom>
              <a:ln>
                <a:headEnd/>
                <a:tailEnd/>
              </a:ln>
            </p:spPr>
            <p:style>
              <a:lnRef idx="1">
                <a:schemeClr val="accent2"/>
              </a:lnRef>
              <a:fillRef idx="2">
                <a:schemeClr val="accent2"/>
              </a:fillRef>
              <a:effectRef idx="1">
                <a:schemeClr val="accent2"/>
              </a:effectRef>
              <a:fontRef idx="minor">
                <a:schemeClr val="dk1"/>
              </a:fontRef>
            </p:style>
            <p:txBody>
              <a:bodyPr rot="0" vert="horz" wrap="square" lIns="91440" tIns="45720" rIns="91440" bIns="45720" anchor="t" anchorCtr="0" upright="1">
                <a:noAutofit/>
              </a:bodyPr>
              <a:lstStyle/>
              <a:p>
                <a:pPr algn="ctr">
                  <a:lnSpc>
                    <a:spcPct val="107000"/>
                  </a:lnSpc>
                  <a:spcAft>
                    <a:spcPts val="800"/>
                  </a:spcAft>
                </a:pPr>
                <a:r>
                  <a:rPr lang="en-US" sz="1300">
                    <a:effectLst/>
                    <a:latin typeface="Cambria"/>
                    <a:ea typeface="MS Mincho"/>
                    <a:cs typeface="Times New Roman"/>
                  </a:rPr>
                  <a:t>Cơ sở dữ liệu</a:t>
                </a:r>
                <a:endParaRPr lang="vi-VN" sz="1300">
                  <a:effectLst/>
                  <a:latin typeface="Cambria"/>
                  <a:ea typeface="MS Mincho"/>
                  <a:cs typeface="Times New Roman"/>
                </a:endParaRPr>
              </a:p>
            </p:txBody>
          </p:sp>
          <p:cxnSp>
            <p:nvCxnSpPr>
              <p:cNvPr id="11" name="Line 31"/>
              <p:cNvCxnSpPr/>
              <p:nvPr/>
            </p:nvCxnSpPr>
            <p:spPr bwMode="auto">
              <a:xfrm>
                <a:off x="2900" y="5752"/>
                <a:ext cx="5980" cy="3"/>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12" name="Line 32"/>
              <p:cNvCxnSpPr/>
              <p:nvPr/>
            </p:nvCxnSpPr>
            <p:spPr bwMode="auto">
              <a:xfrm>
                <a:off x="4881" y="5471"/>
                <a:ext cx="1009" cy="6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3" name="Line 33"/>
              <p:cNvCxnSpPr/>
              <p:nvPr/>
            </p:nvCxnSpPr>
            <p:spPr bwMode="auto">
              <a:xfrm>
                <a:off x="6263" y="5468"/>
                <a:ext cx="0" cy="639"/>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4" name="Line 34"/>
              <p:cNvCxnSpPr/>
              <p:nvPr/>
            </p:nvCxnSpPr>
            <p:spPr bwMode="auto">
              <a:xfrm flipH="1">
                <a:off x="7076" y="5468"/>
                <a:ext cx="1163" cy="639"/>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15" name="Text Box 35"/>
              <p:cNvSpPr txBox="1">
                <a:spLocks noChangeArrowheads="1"/>
              </p:cNvSpPr>
              <p:nvPr/>
            </p:nvSpPr>
            <p:spPr bwMode="auto">
              <a:xfrm>
                <a:off x="3760" y="5024"/>
                <a:ext cx="1387" cy="419"/>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t" anchorCtr="0" upright="1">
                <a:noAutofit/>
              </a:bodyPr>
              <a:lstStyle/>
              <a:p>
                <a:pPr algn="ctr">
                  <a:lnSpc>
                    <a:spcPct val="107000"/>
                  </a:lnSpc>
                  <a:spcAft>
                    <a:spcPts val="800"/>
                  </a:spcAft>
                </a:pPr>
                <a:r>
                  <a:rPr lang="en-US" sz="1300">
                    <a:effectLst/>
                    <a:latin typeface="Cambria"/>
                    <a:ea typeface="MS Mincho"/>
                    <a:cs typeface="Times New Roman"/>
                  </a:rPr>
                  <a:t>ứng dụng 1</a:t>
                </a:r>
                <a:endParaRPr lang="vi-VN" sz="1300">
                  <a:effectLst/>
                  <a:latin typeface="Cambria"/>
                  <a:ea typeface="MS Mincho"/>
                  <a:cs typeface="Times New Roman"/>
                </a:endParaRPr>
              </a:p>
            </p:txBody>
          </p:sp>
          <p:sp>
            <p:nvSpPr>
              <p:cNvPr id="16" name="Text Box 36"/>
              <p:cNvSpPr txBox="1">
                <a:spLocks noChangeArrowheads="1"/>
              </p:cNvSpPr>
              <p:nvPr/>
            </p:nvSpPr>
            <p:spPr bwMode="auto">
              <a:xfrm>
                <a:off x="5465" y="5003"/>
                <a:ext cx="1387" cy="419"/>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rot="0" vert="horz" wrap="square" lIns="0" tIns="0" rIns="0" bIns="0" anchor="t" anchorCtr="0" upright="1">
                <a:noAutofit/>
              </a:bodyPr>
              <a:lstStyle/>
              <a:p>
                <a:pPr algn="ctr">
                  <a:lnSpc>
                    <a:spcPct val="107000"/>
                  </a:lnSpc>
                  <a:spcAft>
                    <a:spcPts val="800"/>
                  </a:spcAft>
                </a:pPr>
                <a:r>
                  <a:rPr lang="en-US" sz="1300">
                    <a:effectLst/>
                    <a:latin typeface="Cambria"/>
                    <a:ea typeface="MS Mincho"/>
                    <a:cs typeface="Times New Roman"/>
                  </a:rPr>
                  <a:t>ứng dụng 2</a:t>
                </a:r>
                <a:endParaRPr lang="vi-VN" sz="1300">
                  <a:effectLst/>
                  <a:latin typeface="Cambria"/>
                  <a:ea typeface="MS Mincho"/>
                  <a:cs typeface="Times New Roman"/>
                </a:endParaRPr>
              </a:p>
            </p:txBody>
          </p:sp>
          <p:sp>
            <p:nvSpPr>
              <p:cNvPr id="17" name="Text Box 37"/>
              <p:cNvSpPr txBox="1">
                <a:spLocks noChangeArrowheads="1"/>
              </p:cNvSpPr>
              <p:nvPr/>
            </p:nvSpPr>
            <p:spPr bwMode="auto">
              <a:xfrm>
                <a:off x="7977" y="5024"/>
                <a:ext cx="1387" cy="419"/>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rot="0" vert="horz" wrap="square" lIns="0" tIns="0" rIns="0" bIns="0" anchor="t" anchorCtr="0" upright="1">
                <a:noAutofit/>
              </a:bodyPr>
              <a:lstStyle/>
              <a:p>
                <a:pPr algn="ctr">
                  <a:lnSpc>
                    <a:spcPct val="107000"/>
                  </a:lnSpc>
                  <a:spcAft>
                    <a:spcPts val="800"/>
                  </a:spcAft>
                </a:pPr>
                <a:r>
                  <a:rPr lang="en-US" sz="1300">
                    <a:effectLst/>
                    <a:latin typeface="Cambria"/>
                    <a:ea typeface="MS Mincho"/>
                    <a:cs typeface="Times New Roman"/>
                  </a:rPr>
                  <a:t>ứng dụng k</a:t>
                </a:r>
                <a:endParaRPr lang="vi-VN" sz="1300">
                  <a:effectLst/>
                  <a:latin typeface="Cambria"/>
                  <a:ea typeface="MS Mincho"/>
                  <a:cs typeface="Times New Roman"/>
                </a:endParaRPr>
              </a:p>
            </p:txBody>
          </p:sp>
          <p:sp>
            <p:nvSpPr>
              <p:cNvPr id="18" name="Text Box 38"/>
              <p:cNvSpPr txBox="1">
                <a:spLocks noChangeArrowheads="1"/>
              </p:cNvSpPr>
              <p:nvPr/>
            </p:nvSpPr>
            <p:spPr bwMode="auto">
              <a:xfrm>
                <a:off x="2578" y="5952"/>
                <a:ext cx="1014"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800"/>
                  </a:spcAft>
                </a:pPr>
                <a:r>
                  <a:rPr lang="en-US" sz="1300">
                    <a:effectLst/>
                    <a:latin typeface="Cambria"/>
                    <a:ea typeface="MS Mincho"/>
                    <a:cs typeface="Times New Roman"/>
                  </a:rPr>
                  <a:t>Tầng dữ liệu</a:t>
                </a:r>
                <a:endParaRPr lang="vi-VN" sz="1300">
                  <a:effectLst/>
                  <a:latin typeface="Cambria"/>
                  <a:ea typeface="MS Mincho"/>
                  <a:cs typeface="Times New Roman"/>
                </a:endParaRPr>
              </a:p>
            </p:txBody>
          </p:sp>
          <p:sp>
            <p:nvSpPr>
              <p:cNvPr id="19" name="Text Box 39"/>
              <p:cNvSpPr txBox="1">
                <a:spLocks noChangeArrowheads="1"/>
              </p:cNvSpPr>
              <p:nvPr/>
            </p:nvSpPr>
            <p:spPr bwMode="auto">
              <a:xfrm>
                <a:off x="2558" y="5061"/>
                <a:ext cx="1014" cy="6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10800" rIns="0" bIns="10800" anchor="t" anchorCtr="0" upright="1">
                <a:noAutofit/>
              </a:bodyPr>
              <a:lstStyle/>
              <a:p>
                <a:pPr>
                  <a:lnSpc>
                    <a:spcPct val="107000"/>
                  </a:lnSpc>
                  <a:spcAft>
                    <a:spcPts val="800"/>
                  </a:spcAft>
                </a:pPr>
                <a:r>
                  <a:rPr lang="en-US" sz="1300">
                    <a:effectLst/>
                    <a:latin typeface="Cambria"/>
                    <a:ea typeface="MS Mincho"/>
                    <a:cs typeface="Times New Roman"/>
                  </a:rPr>
                  <a:t>Tầng ứng dụng</a:t>
                </a:r>
                <a:endParaRPr lang="vi-VN" sz="1300">
                  <a:effectLst/>
                  <a:latin typeface="Cambria"/>
                  <a:ea typeface="MS Mincho"/>
                  <a:cs typeface="Times New Roman"/>
                </a:endParaRPr>
              </a:p>
            </p:txBody>
          </p:sp>
        </p:grpSp>
        <p:grpSp>
          <p:nvGrpSpPr>
            <p:cNvPr id="23" name="Group 22"/>
            <p:cNvGrpSpPr/>
            <p:nvPr/>
          </p:nvGrpSpPr>
          <p:grpSpPr>
            <a:xfrm>
              <a:off x="4922569" y="4815900"/>
              <a:ext cx="702780" cy="965115"/>
              <a:chOff x="4922569" y="4815900"/>
              <a:chExt cx="702780" cy="965115"/>
            </a:xfrm>
          </p:grpSpPr>
          <p:cxnSp>
            <p:nvCxnSpPr>
              <p:cNvPr id="20" name="Line 26"/>
              <p:cNvCxnSpPr/>
              <p:nvPr/>
            </p:nvCxnSpPr>
            <p:spPr bwMode="auto">
              <a:xfrm flipH="1">
                <a:off x="4922569" y="5124821"/>
                <a:ext cx="393652" cy="656194"/>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21" name="Text Box 27"/>
              <p:cNvSpPr txBox="1">
                <a:spLocks noChangeArrowheads="1"/>
              </p:cNvSpPr>
              <p:nvPr/>
            </p:nvSpPr>
            <p:spPr bwMode="auto">
              <a:xfrm>
                <a:off x="5203768" y="4815900"/>
                <a:ext cx="421581" cy="28699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800"/>
                  </a:spcAft>
                </a:pPr>
                <a:r>
                  <a:rPr lang="en-US" sz="1800" b="1">
                    <a:effectLst/>
                    <a:latin typeface="Cambria"/>
                    <a:ea typeface="MS Mincho"/>
                    <a:cs typeface="Times New Roman"/>
                  </a:rPr>
                  <a:t> . . .</a:t>
                </a:r>
                <a:endParaRPr lang="vi-VN" sz="1100">
                  <a:effectLst/>
                  <a:latin typeface="Cambria"/>
                  <a:ea typeface="MS Mincho"/>
                  <a:cs typeface="Times New Roman"/>
                </a:endParaRPr>
              </a:p>
            </p:txBody>
          </p:sp>
        </p:grpSp>
      </p:grpSp>
    </p:spTree>
    <p:extLst>
      <p:ext uri="{BB962C8B-B14F-4D97-AF65-F5344CB8AC3E}">
        <p14:creationId xmlns:p14="http://schemas.microsoft.com/office/powerpoint/2010/main" val="41859962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3. Các cách tiếp cận trong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rgbClr val="FF0066"/>
                </a:solidFill>
                <a:latin typeface="Calibri" pitchFamily="34" charset="0"/>
                <a:cs typeface="Calibri" pitchFamily="34" charset="0"/>
              </a:rPr>
              <a:t>Tiếp cận hướng cấu trúc:</a:t>
            </a:r>
            <a:endParaRPr lang="vi-VN" sz="20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Là </a:t>
            </a:r>
            <a:r>
              <a:rPr lang="en-US" sz="1800">
                <a:solidFill>
                  <a:schemeClr val="accent2">
                    <a:lumMod val="50000"/>
                  </a:schemeClr>
                </a:solidFill>
                <a:latin typeface="Calibri" pitchFamily="34" charset="0"/>
                <a:cs typeface="Calibri" pitchFamily="34" charset="0"/>
              </a:rPr>
              <a:t>một bước phát triển tiếp tục của </a:t>
            </a:r>
            <a:r>
              <a:rPr lang="en-US" sz="1800" smtClean="0">
                <a:solidFill>
                  <a:schemeClr val="accent2">
                    <a:lumMod val="50000"/>
                  </a:schemeClr>
                </a:solidFill>
                <a:latin typeface="Calibri" pitchFamily="34" charset="0"/>
                <a:cs typeface="Calibri" pitchFamily="34" charset="0"/>
              </a:rPr>
              <a:t>cách tiếp cận hướng </a:t>
            </a:r>
            <a:r>
              <a:rPr lang="en-US" sz="1800">
                <a:solidFill>
                  <a:schemeClr val="accent2">
                    <a:lumMod val="50000"/>
                  </a:schemeClr>
                </a:solidFill>
                <a:latin typeface="Calibri" pitchFamily="34" charset="0"/>
                <a:cs typeface="Calibri" pitchFamily="34" charset="0"/>
              </a:rPr>
              <a:t>dữ liệu. </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Tập trung </a:t>
            </a:r>
            <a:r>
              <a:rPr lang="en-US" sz="1800">
                <a:solidFill>
                  <a:schemeClr val="accent2">
                    <a:lumMod val="50000"/>
                  </a:schemeClr>
                </a:solidFill>
                <a:latin typeface="Calibri" pitchFamily="34" charset="0"/>
                <a:cs typeface="Calibri" pitchFamily="34" charset="0"/>
              </a:rPr>
              <a:t>vào việc cải tiến cấu trúc </a:t>
            </a:r>
            <a:r>
              <a:rPr lang="en-US" sz="1800" smtClean="0">
                <a:solidFill>
                  <a:schemeClr val="accent2">
                    <a:lumMod val="50000"/>
                  </a:schemeClr>
                </a:solidFill>
                <a:latin typeface="Calibri" pitchFamily="34" charset="0"/>
                <a:cs typeface="Calibri" pitchFamily="34" charset="0"/>
              </a:rPr>
              <a:t>chương </a:t>
            </a:r>
            <a:r>
              <a:rPr lang="en-US" sz="1800">
                <a:solidFill>
                  <a:schemeClr val="accent2">
                    <a:lumMod val="50000"/>
                  </a:schemeClr>
                </a:solidFill>
                <a:latin typeface="Calibri" pitchFamily="34" charset="0"/>
                <a:cs typeface="Calibri" pitchFamily="34" charset="0"/>
              </a:rPr>
              <a:t>trình dựa trên cơ sở môđun hoá </a:t>
            </a:r>
            <a:r>
              <a:rPr lang="en-US" sz="1800" smtClean="0">
                <a:solidFill>
                  <a:schemeClr val="accent2">
                    <a:lumMod val="50000"/>
                  </a:schemeClr>
                </a:solidFill>
                <a:latin typeface="Calibri" pitchFamily="34" charset="0"/>
                <a:cs typeface="Calibri" pitchFamily="34" charset="0"/>
              </a:rPr>
              <a:t>chương </a:t>
            </a:r>
            <a:r>
              <a:rPr lang="en-US" sz="1800">
                <a:solidFill>
                  <a:schemeClr val="accent2">
                    <a:lumMod val="50000"/>
                  </a:schemeClr>
                </a:solidFill>
                <a:latin typeface="Calibri" pitchFamily="34" charset="0"/>
                <a:cs typeface="Calibri" pitchFamily="34" charset="0"/>
              </a:rPr>
              <a:t>trình </a:t>
            </a:r>
            <a:r>
              <a:rPr lang="en-US" sz="1800" smtClean="0">
                <a:solidFill>
                  <a:schemeClr val="accent2">
                    <a:lumMod val="50000"/>
                  </a:schemeClr>
                </a:solidFill>
                <a:latin typeface="Calibri" pitchFamily="34" charset="0"/>
                <a:cs typeface="Calibri" pitchFamily="34" charset="0"/>
              </a:rPr>
              <a:t>thành các chức năng nhỏ độc lập để </a:t>
            </a:r>
            <a:r>
              <a:rPr lang="en-US" sz="1800">
                <a:solidFill>
                  <a:schemeClr val="accent2">
                    <a:lumMod val="50000"/>
                  </a:schemeClr>
                </a:solidFill>
                <a:latin typeface="Calibri" pitchFamily="34" charset="0"/>
                <a:cs typeface="Calibri" pitchFamily="34" charset="0"/>
              </a:rPr>
              <a:t>dễ theo dõi, quản </a:t>
            </a:r>
            <a:r>
              <a:rPr lang="en-US" sz="1800" smtClean="0">
                <a:solidFill>
                  <a:schemeClr val="accent2">
                    <a:lumMod val="50000"/>
                  </a:schemeClr>
                </a:solidFill>
                <a:latin typeface="Calibri" pitchFamily="34" charset="0"/>
                <a:cs typeface="Calibri" pitchFamily="34" charset="0"/>
              </a:rPr>
              <a:t>lý và </a:t>
            </a:r>
            <a:r>
              <a:rPr lang="en-US" sz="1800">
                <a:solidFill>
                  <a:schemeClr val="accent2">
                    <a:lumMod val="50000"/>
                  </a:schemeClr>
                </a:solidFill>
                <a:latin typeface="Calibri" pitchFamily="34" charset="0"/>
                <a:cs typeface="Calibri" pitchFamily="34" charset="0"/>
              </a:rPr>
              <a:t>bảo </a:t>
            </a:r>
            <a:r>
              <a:rPr lang="en-US" sz="1800" smtClean="0">
                <a:solidFill>
                  <a:schemeClr val="accent2">
                    <a:lumMod val="50000"/>
                  </a:schemeClr>
                </a:solidFill>
                <a:latin typeface="Calibri" pitchFamily="34" charset="0"/>
                <a:cs typeface="Calibri" pitchFamily="34" charset="0"/>
              </a:rPr>
              <a:t>trì. </a:t>
            </a: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Đặc </a:t>
            </a:r>
            <a:r>
              <a:rPr lang="en-US" sz="1800">
                <a:solidFill>
                  <a:schemeClr val="accent2">
                    <a:lumMod val="50000"/>
                  </a:schemeClr>
                </a:solidFill>
                <a:latin typeface="Calibri" pitchFamily="34" charset="0"/>
                <a:cs typeface="Calibri" pitchFamily="34" charset="0"/>
              </a:rPr>
              <a:t>tính cấu trúc của một hệ thống hướng cấu trúc được thể hiện trên ba cấu trúc chính là cấu trúc dữ liệu, cấu trúc hệ thống chương trình, cấu trúc chương trình và module</a:t>
            </a:r>
            <a:r>
              <a:rPr lang="en-US" sz="1800" smtClean="0">
                <a:solidFill>
                  <a:schemeClr val="accent2">
                    <a:lumMod val="50000"/>
                  </a:schemeClr>
                </a:solidFill>
                <a:latin typeface="Calibri" pitchFamily="34" charset="0"/>
                <a:cs typeface="Calibri" pitchFamily="34" charset="0"/>
              </a:rPr>
              <a:t>.</a:t>
            </a:r>
          </a:p>
          <a:p>
            <a:pPr marL="0" indent="0" algn="just">
              <a:spcAft>
                <a:spcPts val="683"/>
              </a:spcAft>
              <a:buClr>
                <a:srgbClr val="FF0066"/>
              </a:buClr>
              <a:buNone/>
            </a:pPr>
            <a:r>
              <a:rPr lang="en-US" sz="1800" smtClean="0">
                <a:solidFill>
                  <a:schemeClr val="accent2">
                    <a:lumMod val="50000"/>
                  </a:schemeClr>
                </a:solidFill>
                <a:latin typeface="Calibri" pitchFamily="34" charset="0"/>
                <a:cs typeface="Calibri" pitchFamily="34" charset="0"/>
              </a:rPr>
              <a:t>Cách tiếp cận này làm giảm sự phức tạp của hệ thống, tuy nhiên chỉ phù hợp với các hệ thống vừa và nhỏ khi người phát triển có thể bao quát được hết các chức năng của hệ thống.</a:t>
            </a:r>
            <a:endParaRPr lang="en-US" sz="2200">
              <a:solidFill>
                <a:schemeClr val="accent2">
                  <a:lumMod val="50000"/>
                </a:schemeClr>
              </a:solidFill>
              <a:latin typeface="Calibri" pitchFamily="34" charset="0"/>
              <a:cs typeface="Calibri" pitchFamily="34" charset="0"/>
            </a:endParaRPr>
          </a:p>
          <a:p>
            <a:pPr marL="0" indent="0" algn="just">
              <a:spcAft>
                <a:spcPts val="683"/>
              </a:spcAft>
              <a:buClr>
                <a:srgbClr val="FF0066"/>
              </a:buClr>
              <a:buNone/>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9</a:t>
            </a:fld>
            <a:endParaRPr lang="vi-VN"/>
          </a:p>
        </p:txBody>
      </p:sp>
      <p:sp>
        <p:nvSpPr>
          <p:cNvPr id="9" name="Title 1"/>
          <p:cNvSpPr txBox="1">
            <a:spLocks/>
          </p:cNvSpPr>
          <p:nvPr/>
        </p:nvSpPr>
        <p:spPr>
          <a:xfrm>
            <a:off x="6914060" y="0"/>
            <a:ext cx="3384000" cy="1260000"/>
          </a:xfrm>
          <a:prstGeom prst="rect">
            <a:avLst/>
          </a:prstGeom>
          <a:solidFill>
            <a:schemeClr val="accent1">
              <a:lumMod val="75000"/>
            </a:schemeClr>
          </a:solidFill>
        </p:spPr>
        <p:txBody>
          <a:bodyPr vert="horz" lIns="104104" tIns="52052" rIns="104104" bIns="52052" rtlCol="0" anchor="ctr">
            <a:normAutofit lnSpcReduction="1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Hướng tiến trình</a:t>
            </a:r>
          </a:p>
          <a:p>
            <a:pPr algn="just"/>
            <a:r>
              <a:rPr lang="en-US" sz="1600">
                <a:solidFill>
                  <a:schemeClr val="tx2"/>
                </a:solidFill>
                <a:latin typeface="+mn-lt"/>
                <a:cs typeface="Arial" pitchFamily="34" charset="0"/>
              </a:rPr>
              <a:t>2. Hướng dữ liệu</a:t>
            </a:r>
          </a:p>
          <a:p>
            <a:pPr algn="just"/>
            <a:r>
              <a:rPr lang="en-US" sz="1600" b="1">
                <a:solidFill>
                  <a:schemeClr val="accent6">
                    <a:lumMod val="75000"/>
                  </a:schemeClr>
                </a:solidFill>
                <a:latin typeface="+mn-lt"/>
                <a:cs typeface="Arial" pitchFamily="34" charset="0"/>
              </a:rPr>
              <a:t>3. Hướng cấu trúc</a:t>
            </a:r>
          </a:p>
          <a:p>
            <a:pPr algn="just"/>
            <a:r>
              <a:rPr lang="en-US" sz="1600" smtClean="0">
                <a:solidFill>
                  <a:schemeClr val="tx2"/>
                </a:solidFill>
                <a:latin typeface="+mn-lt"/>
                <a:cs typeface="Arial" pitchFamily="34" charset="0"/>
              </a:rPr>
              <a:t>4. Hướng đối tượng</a:t>
            </a:r>
          </a:p>
          <a:p>
            <a:pPr algn="just"/>
            <a:r>
              <a:rPr lang="en-US" sz="1600" smtClean="0">
                <a:solidFill>
                  <a:schemeClr val="tx2"/>
                </a:solidFill>
                <a:latin typeface="+mn-lt"/>
                <a:cs typeface="Arial" pitchFamily="34" charset="0"/>
              </a:rPr>
              <a:t>5. Hướng tiến trình nghiệp vụ</a:t>
            </a:r>
            <a:endParaRPr lang="en-US" sz="1600" b="1">
              <a:solidFill>
                <a:schemeClr val="accent6">
                  <a:lumMod val="75000"/>
                </a:schemeClr>
              </a:solidFill>
              <a:latin typeface="+mn-lt"/>
              <a:cs typeface="Arial" pitchFamily="34" charset="0"/>
            </a:endParaRPr>
          </a:p>
        </p:txBody>
      </p:sp>
      <p:grpSp>
        <p:nvGrpSpPr>
          <p:cNvPr id="8" name="Group 7"/>
          <p:cNvGrpSpPr>
            <a:grpSpLocks/>
          </p:cNvGrpSpPr>
          <p:nvPr/>
        </p:nvGrpSpPr>
        <p:grpSpPr bwMode="auto">
          <a:xfrm>
            <a:off x="2199702" y="4477705"/>
            <a:ext cx="4647565" cy="2259754"/>
            <a:chOff x="2486" y="11101"/>
            <a:chExt cx="6394" cy="2259"/>
          </a:xfrm>
          <a:extLst>
            <a:ext uri="{0CCBE362-F206-4b92-989A-16890622DB6E}">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5="http://schemas.microsoft.com/office/word/2012/wordml"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a:ext>
          </a:extLst>
        </p:grpSpPr>
        <p:cxnSp>
          <p:nvCxnSpPr>
            <p:cNvPr id="10" name="Line 3"/>
            <p:cNvCxnSpPr/>
            <p:nvPr/>
          </p:nvCxnSpPr>
          <p:spPr bwMode="auto">
            <a:xfrm>
              <a:off x="2749" y="12454"/>
              <a:ext cx="6131" cy="3"/>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cxnSp>
        <p:sp>
          <p:nvSpPr>
            <p:cNvPr id="11" name="AutoShape 4"/>
            <p:cNvSpPr>
              <a:spLocks noChangeArrowheads="1"/>
            </p:cNvSpPr>
            <p:nvPr/>
          </p:nvSpPr>
          <p:spPr bwMode="auto">
            <a:xfrm>
              <a:off x="5445" y="12654"/>
              <a:ext cx="1915" cy="583"/>
            </a:xfrm>
            <a:prstGeom prst="can">
              <a:avLst>
                <a:gd name="adj" fmla="val 25000"/>
              </a:avLst>
            </a:prstGeom>
            <a:ln>
              <a:headEnd/>
              <a:tailEnd/>
            </a:ln>
          </p:spPr>
          <p:style>
            <a:lnRef idx="1">
              <a:schemeClr val="accent2"/>
            </a:lnRef>
            <a:fillRef idx="2">
              <a:schemeClr val="accent2"/>
            </a:fillRef>
            <a:effectRef idx="1">
              <a:schemeClr val="accent2"/>
            </a:effectRef>
            <a:fontRef idx="minor">
              <a:schemeClr val="dk1"/>
            </a:fontRef>
          </p:style>
          <p:txBody>
            <a:bodyPr rot="0" vert="horz" wrap="square" lIns="91440" tIns="45720" rIns="91440" bIns="45720" anchor="t" anchorCtr="0" upright="1">
              <a:noAutofit/>
            </a:bodyPr>
            <a:lstStyle/>
            <a:p>
              <a:pPr algn="ctr">
                <a:lnSpc>
                  <a:spcPct val="107000"/>
                </a:lnSpc>
                <a:spcAft>
                  <a:spcPts val="800"/>
                </a:spcAft>
              </a:pPr>
              <a:r>
                <a:rPr lang="en-US" sz="1300">
                  <a:effectLst/>
                  <a:latin typeface="Cambria"/>
                  <a:ea typeface="MS Mincho"/>
                  <a:cs typeface="Times New Roman"/>
                </a:rPr>
                <a:t>Cơ sở dữ liệu</a:t>
              </a:r>
              <a:endParaRPr lang="vi-VN" sz="1300">
                <a:effectLst/>
                <a:latin typeface="Cambria"/>
                <a:ea typeface="MS Mincho"/>
                <a:cs typeface="Times New Roman"/>
              </a:endParaRPr>
            </a:p>
          </p:txBody>
        </p:sp>
        <p:cxnSp>
          <p:nvCxnSpPr>
            <p:cNvPr id="12" name="Line 5"/>
            <p:cNvCxnSpPr/>
            <p:nvPr/>
          </p:nvCxnSpPr>
          <p:spPr bwMode="auto">
            <a:xfrm>
              <a:off x="4529" y="12095"/>
              <a:ext cx="1368"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3" name="Line 6"/>
            <p:cNvCxnSpPr/>
            <p:nvPr/>
          </p:nvCxnSpPr>
          <p:spPr bwMode="auto">
            <a:xfrm>
              <a:off x="5621" y="12057"/>
              <a:ext cx="493" cy="713"/>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4" name="Line 7"/>
            <p:cNvCxnSpPr/>
            <p:nvPr/>
          </p:nvCxnSpPr>
          <p:spPr bwMode="auto">
            <a:xfrm flipH="1">
              <a:off x="6753" y="12057"/>
              <a:ext cx="1094" cy="713"/>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15" name="Text Box 8"/>
            <p:cNvSpPr txBox="1">
              <a:spLocks noChangeArrowheads="1"/>
            </p:cNvSpPr>
            <p:nvPr/>
          </p:nvSpPr>
          <p:spPr bwMode="auto">
            <a:xfrm>
              <a:off x="3391" y="11101"/>
              <a:ext cx="1423" cy="332"/>
            </a:xfrm>
            <a:prstGeom prst="rect">
              <a:avLst/>
            </a:prstGeom>
            <a:solidFill>
              <a:srgbClr val="FFFFFF"/>
            </a:solidFill>
            <a:ln w="9525">
              <a:solidFill>
                <a:srgbClr val="000000"/>
              </a:solidFill>
              <a:prstDash val="dash"/>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rot="0" vert="horz" wrap="square" lIns="0" tIns="0" rIns="0" bIns="0" anchor="t" anchorCtr="0" upright="1">
              <a:noAutofit/>
            </a:bodyPr>
            <a:lstStyle/>
            <a:p>
              <a:pPr>
                <a:lnSpc>
                  <a:spcPct val="107000"/>
                </a:lnSpc>
                <a:spcAft>
                  <a:spcPts val="800"/>
                </a:spcAft>
              </a:pPr>
              <a:r>
                <a:rPr lang="en-US" sz="1100">
                  <a:effectLst/>
                  <a:latin typeface="Cambria"/>
                  <a:ea typeface="MS Mincho"/>
                  <a:cs typeface="Times New Roman"/>
                </a:rPr>
                <a:t>ứng dụng 1</a:t>
              </a:r>
              <a:endParaRPr lang="vi-VN" sz="1100">
                <a:effectLst/>
                <a:latin typeface="Cambria"/>
                <a:ea typeface="MS Mincho"/>
                <a:cs typeface="Times New Roman"/>
              </a:endParaRPr>
            </a:p>
          </p:txBody>
        </p:sp>
        <p:sp>
          <p:nvSpPr>
            <p:cNvPr id="16" name="Text Box 9"/>
            <p:cNvSpPr txBox="1">
              <a:spLocks noChangeArrowheads="1"/>
            </p:cNvSpPr>
            <p:nvPr/>
          </p:nvSpPr>
          <p:spPr bwMode="auto">
            <a:xfrm>
              <a:off x="4962" y="11101"/>
              <a:ext cx="1423" cy="332"/>
            </a:xfrm>
            <a:prstGeom prst="rect">
              <a:avLst/>
            </a:prstGeom>
            <a:solidFill>
              <a:srgbClr val="FFFFFF"/>
            </a:solidFill>
            <a:ln w="9525">
              <a:solidFill>
                <a:srgbClr val="000000"/>
              </a:solidFill>
              <a:prstDash val="dash"/>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rot="0" vert="horz" wrap="square" lIns="0" tIns="0" rIns="0" bIns="0" anchor="t" anchorCtr="0" upright="1">
              <a:noAutofit/>
            </a:bodyPr>
            <a:lstStyle/>
            <a:p>
              <a:pPr>
                <a:lnSpc>
                  <a:spcPct val="107000"/>
                </a:lnSpc>
                <a:spcAft>
                  <a:spcPts val="800"/>
                </a:spcAft>
              </a:pPr>
              <a:r>
                <a:rPr lang="en-US" sz="1100">
                  <a:effectLst/>
                  <a:latin typeface="Cambria"/>
                  <a:ea typeface="MS Mincho"/>
                  <a:cs typeface="Times New Roman"/>
                </a:rPr>
                <a:t>ứng dụng 2         </a:t>
              </a:r>
              <a:endParaRPr lang="vi-VN" sz="1100">
                <a:effectLst/>
                <a:latin typeface="Cambria"/>
                <a:ea typeface="MS Mincho"/>
                <a:cs typeface="Times New Roman"/>
              </a:endParaRPr>
            </a:p>
          </p:txBody>
        </p:sp>
        <p:sp>
          <p:nvSpPr>
            <p:cNvPr id="17" name="Text Box 10"/>
            <p:cNvSpPr txBox="1">
              <a:spLocks noChangeArrowheads="1"/>
            </p:cNvSpPr>
            <p:nvPr/>
          </p:nvSpPr>
          <p:spPr bwMode="auto">
            <a:xfrm>
              <a:off x="7291" y="11101"/>
              <a:ext cx="1423" cy="332"/>
            </a:xfrm>
            <a:prstGeom prst="rect">
              <a:avLst/>
            </a:prstGeom>
            <a:solidFill>
              <a:srgbClr val="FFFFFF"/>
            </a:solidFill>
            <a:ln w="9525">
              <a:solidFill>
                <a:srgbClr val="000000"/>
              </a:solidFill>
              <a:prstDash val="dash"/>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rot="0" vert="horz" wrap="square" lIns="0" tIns="0" rIns="0" bIns="0" anchor="t" anchorCtr="0" upright="1">
              <a:noAutofit/>
            </a:bodyPr>
            <a:lstStyle/>
            <a:p>
              <a:pPr>
                <a:lnSpc>
                  <a:spcPct val="107000"/>
                </a:lnSpc>
                <a:spcAft>
                  <a:spcPts val="800"/>
                </a:spcAft>
              </a:pPr>
              <a:r>
                <a:rPr lang="en-US" sz="1100">
                  <a:effectLst/>
                  <a:latin typeface="Cambria"/>
                  <a:ea typeface="MS Mincho"/>
                  <a:cs typeface="Times New Roman"/>
                </a:rPr>
                <a:t>ứng dụng k         </a:t>
              </a:r>
              <a:endParaRPr lang="vi-VN" sz="1100">
                <a:effectLst/>
                <a:latin typeface="Cambria"/>
                <a:ea typeface="MS Mincho"/>
                <a:cs typeface="Times New Roman"/>
              </a:endParaRPr>
            </a:p>
          </p:txBody>
        </p:sp>
        <p:sp>
          <p:nvSpPr>
            <p:cNvPr id="18" name="Text Box 11"/>
            <p:cNvSpPr txBox="1">
              <a:spLocks noChangeArrowheads="1"/>
            </p:cNvSpPr>
            <p:nvPr/>
          </p:nvSpPr>
          <p:spPr bwMode="auto">
            <a:xfrm>
              <a:off x="2486" y="12783"/>
              <a:ext cx="1039" cy="57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800"/>
                </a:spcAft>
              </a:pPr>
              <a:r>
                <a:rPr lang="en-US" sz="1300">
                  <a:effectLst/>
                  <a:latin typeface="Cambria"/>
                  <a:ea typeface="MS Mincho"/>
                  <a:cs typeface="Times New Roman"/>
                </a:rPr>
                <a:t>Tầng dữ liệu</a:t>
              </a:r>
              <a:endParaRPr lang="vi-VN" sz="1300">
                <a:effectLst/>
                <a:latin typeface="Cambria"/>
                <a:ea typeface="MS Mincho"/>
                <a:cs typeface="Times New Roman"/>
              </a:endParaRPr>
            </a:p>
          </p:txBody>
        </p:sp>
        <p:sp>
          <p:nvSpPr>
            <p:cNvPr id="19" name="Text Box 12"/>
            <p:cNvSpPr txBox="1">
              <a:spLocks noChangeArrowheads="1"/>
            </p:cNvSpPr>
            <p:nvPr/>
          </p:nvSpPr>
          <p:spPr bwMode="auto">
            <a:xfrm>
              <a:off x="2486" y="11728"/>
              <a:ext cx="1039"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800"/>
                </a:spcAft>
              </a:pPr>
              <a:r>
                <a:rPr lang="en-US" sz="1100">
                  <a:effectLst/>
                  <a:latin typeface="Cambria"/>
                  <a:ea typeface="MS Mincho"/>
                  <a:cs typeface="Times New Roman"/>
                </a:rPr>
                <a:t>Tầng ứng dụng</a:t>
              </a:r>
              <a:endParaRPr lang="vi-VN" sz="1100">
                <a:effectLst/>
                <a:latin typeface="Cambria"/>
                <a:ea typeface="MS Mincho"/>
                <a:cs typeface="Times New Roman"/>
              </a:endParaRPr>
            </a:p>
          </p:txBody>
        </p:sp>
        <p:sp>
          <p:nvSpPr>
            <p:cNvPr id="20" name="Rectangle 19"/>
            <p:cNvSpPr>
              <a:spLocks noChangeArrowheads="1"/>
            </p:cNvSpPr>
            <p:nvPr/>
          </p:nvSpPr>
          <p:spPr bwMode="auto">
            <a:xfrm>
              <a:off x="4107" y="11519"/>
              <a:ext cx="273" cy="206"/>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rot="0" vert="horz" wrap="square" lIns="91440" tIns="45720" rIns="91440" bIns="45720" anchor="t" anchorCtr="0" upright="1">
              <a:noAutofit/>
            </a:bodyPr>
            <a:lstStyle/>
            <a:p>
              <a:endParaRPr lang="vi-VN"/>
            </a:p>
          </p:txBody>
        </p:sp>
        <p:sp>
          <p:nvSpPr>
            <p:cNvPr id="21" name="Rectangle 20"/>
            <p:cNvSpPr>
              <a:spLocks noChangeArrowheads="1"/>
            </p:cNvSpPr>
            <p:nvPr/>
          </p:nvSpPr>
          <p:spPr bwMode="auto">
            <a:xfrm>
              <a:off x="3890" y="11684"/>
              <a:ext cx="274" cy="207"/>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rot="0" vert="horz" wrap="square" lIns="91440" tIns="45720" rIns="91440" bIns="45720" anchor="t" anchorCtr="0" upright="1">
              <a:noAutofit/>
            </a:bodyPr>
            <a:lstStyle/>
            <a:p>
              <a:endParaRPr lang="vi-VN"/>
            </a:p>
          </p:txBody>
        </p:sp>
        <p:sp>
          <p:nvSpPr>
            <p:cNvPr id="22" name="Rectangle 21"/>
            <p:cNvSpPr>
              <a:spLocks noChangeArrowheads="1"/>
            </p:cNvSpPr>
            <p:nvPr/>
          </p:nvSpPr>
          <p:spPr bwMode="auto">
            <a:xfrm>
              <a:off x="4269" y="11933"/>
              <a:ext cx="274" cy="207"/>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rot="0" vert="horz" wrap="square" lIns="91440" tIns="45720" rIns="91440" bIns="45720" anchor="t" anchorCtr="0" upright="1">
              <a:noAutofit/>
            </a:bodyPr>
            <a:lstStyle/>
            <a:p>
              <a:endParaRPr lang="vi-VN"/>
            </a:p>
          </p:txBody>
        </p:sp>
        <p:sp>
          <p:nvSpPr>
            <p:cNvPr id="23" name="Rectangle 22"/>
            <p:cNvSpPr>
              <a:spLocks noChangeArrowheads="1"/>
            </p:cNvSpPr>
            <p:nvPr/>
          </p:nvSpPr>
          <p:spPr bwMode="auto">
            <a:xfrm>
              <a:off x="8277" y="11602"/>
              <a:ext cx="274" cy="206"/>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rot="0" vert="horz" wrap="square" lIns="91440" tIns="45720" rIns="91440" bIns="45720" anchor="t" anchorCtr="0" upright="1">
              <a:noAutofit/>
            </a:bodyPr>
            <a:lstStyle/>
            <a:p>
              <a:endParaRPr lang="vi-VN"/>
            </a:p>
          </p:txBody>
        </p:sp>
        <p:sp>
          <p:nvSpPr>
            <p:cNvPr id="24" name="Rectangle 23"/>
            <p:cNvSpPr>
              <a:spLocks noChangeArrowheads="1"/>
            </p:cNvSpPr>
            <p:nvPr/>
          </p:nvSpPr>
          <p:spPr bwMode="auto">
            <a:xfrm>
              <a:off x="5461" y="11559"/>
              <a:ext cx="274" cy="207"/>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rot="0" vert="horz" wrap="square" lIns="91440" tIns="45720" rIns="91440" bIns="45720" anchor="t" anchorCtr="0" upright="1">
              <a:noAutofit/>
            </a:bodyPr>
            <a:lstStyle/>
            <a:p>
              <a:endParaRPr lang="vi-VN"/>
            </a:p>
          </p:txBody>
        </p:sp>
        <p:sp>
          <p:nvSpPr>
            <p:cNvPr id="25" name="Rectangle 24"/>
            <p:cNvSpPr>
              <a:spLocks noChangeArrowheads="1"/>
            </p:cNvSpPr>
            <p:nvPr/>
          </p:nvSpPr>
          <p:spPr bwMode="auto">
            <a:xfrm>
              <a:off x="5082" y="11559"/>
              <a:ext cx="273" cy="207"/>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rot="0" vert="horz" wrap="square" lIns="91440" tIns="45720" rIns="91440" bIns="45720" anchor="t" anchorCtr="0" upright="1">
              <a:noAutofit/>
            </a:bodyPr>
            <a:lstStyle/>
            <a:p>
              <a:endParaRPr lang="vi-VN"/>
            </a:p>
          </p:txBody>
        </p:sp>
        <p:sp>
          <p:nvSpPr>
            <p:cNvPr id="26" name="Rectangle 25"/>
            <p:cNvSpPr>
              <a:spLocks noChangeArrowheads="1"/>
            </p:cNvSpPr>
            <p:nvPr/>
          </p:nvSpPr>
          <p:spPr bwMode="auto">
            <a:xfrm>
              <a:off x="5244" y="11725"/>
              <a:ext cx="274" cy="208"/>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rot="0" vert="horz" wrap="square" lIns="91440" tIns="45720" rIns="91440" bIns="45720" anchor="t" anchorCtr="0" upright="1">
              <a:noAutofit/>
            </a:bodyPr>
            <a:lstStyle/>
            <a:p>
              <a:endParaRPr lang="vi-VN"/>
            </a:p>
          </p:txBody>
        </p:sp>
        <p:sp>
          <p:nvSpPr>
            <p:cNvPr id="27" name="Rectangle 26"/>
            <p:cNvSpPr>
              <a:spLocks noChangeArrowheads="1"/>
            </p:cNvSpPr>
            <p:nvPr/>
          </p:nvSpPr>
          <p:spPr bwMode="auto">
            <a:xfrm>
              <a:off x="7844" y="11602"/>
              <a:ext cx="274" cy="206"/>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rot="0" vert="horz" wrap="square" lIns="91440" tIns="45720" rIns="91440" bIns="45720" anchor="t" anchorCtr="0" upright="1">
              <a:noAutofit/>
            </a:bodyPr>
            <a:lstStyle/>
            <a:p>
              <a:endParaRPr lang="vi-VN"/>
            </a:p>
          </p:txBody>
        </p:sp>
        <p:sp>
          <p:nvSpPr>
            <p:cNvPr id="28" name="Rectangle 27"/>
            <p:cNvSpPr>
              <a:spLocks noChangeArrowheads="1"/>
            </p:cNvSpPr>
            <p:nvPr/>
          </p:nvSpPr>
          <p:spPr bwMode="auto">
            <a:xfrm>
              <a:off x="8061" y="11476"/>
              <a:ext cx="274" cy="208"/>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rot="0" vert="horz" wrap="square" lIns="91440" tIns="45720" rIns="91440" bIns="45720" anchor="t" anchorCtr="0" upright="1">
              <a:noAutofit/>
            </a:bodyPr>
            <a:lstStyle/>
            <a:p>
              <a:endParaRPr lang="vi-VN"/>
            </a:p>
          </p:txBody>
        </p:sp>
        <p:sp>
          <p:nvSpPr>
            <p:cNvPr id="29" name="Rectangle 28"/>
            <p:cNvSpPr>
              <a:spLocks noChangeArrowheads="1"/>
            </p:cNvSpPr>
            <p:nvPr/>
          </p:nvSpPr>
          <p:spPr bwMode="auto">
            <a:xfrm>
              <a:off x="5461" y="11891"/>
              <a:ext cx="274" cy="207"/>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rot="0" vert="horz" wrap="square" lIns="91440" tIns="45720" rIns="91440" bIns="45720" anchor="t" anchorCtr="0" upright="1">
              <a:noAutofit/>
            </a:bodyPr>
            <a:lstStyle/>
            <a:p>
              <a:endParaRPr lang="vi-VN"/>
            </a:p>
          </p:txBody>
        </p:sp>
        <p:sp>
          <p:nvSpPr>
            <p:cNvPr id="30" name="Rectangle 29"/>
            <p:cNvSpPr>
              <a:spLocks noChangeArrowheads="1"/>
            </p:cNvSpPr>
            <p:nvPr/>
          </p:nvSpPr>
          <p:spPr bwMode="auto">
            <a:xfrm>
              <a:off x="4052" y="11850"/>
              <a:ext cx="274" cy="207"/>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rot="0" vert="horz" wrap="square" lIns="91440" tIns="45720" rIns="91440" bIns="45720" anchor="t" anchorCtr="0" upright="1">
              <a:noAutofit/>
            </a:bodyPr>
            <a:lstStyle/>
            <a:p>
              <a:endParaRPr lang="vi-VN"/>
            </a:p>
          </p:txBody>
        </p:sp>
        <p:sp>
          <p:nvSpPr>
            <p:cNvPr id="31" name="Rectangle 30"/>
            <p:cNvSpPr>
              <a:spLocks noChangeArrowheads="1"/>
            </p:cNvSpPr>
            <p:nvPr/>
          </p:nvSpPr>
          <p:spPr bwMode="auto">
            <a:xfrm>
              <a:off x="7627" y="11725"/>
              <a:ext cx="274" cy="208"/>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rot="0" vert="horz" wrap="square" lIns="91440" tIns="45720" rIns="91440" bIns="45720" anchor="t" anchorCtr="0" upright="1">
              <a:noAutofit/>
            </a:bodyPr>
            <a:lstStyle/>
            <a:p>
              <a:endParaRPr lang="vi-VN"/>
            </a:p>
          </p:txBody>
        </p:sp>
        <p:sp>
          <p:nvSpPr>
            <p:cNvPr id="32" name="Rectangle 31"/>
            <p:cNvSpPr>
              <a:spLocks noChangeArrowheads="1"/>
            </p:cNvSpPr>
            <p:nvPr/>
          </p:nvSpPr>
          <p:spPr bwMode="auto">
            <a:xfrm>
              <a:off x="7844" y="11850"/>
              <a:ext cx="274" cy="207"/>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rot="0" vert="horz" wrap="square" lIns="91440" tIns="45720" rIns="91440" bIns="45720" anchor="t" anchorCtr="0" upright="1">
              <a:noAutofit/>
            </a:bodyPr>
            <a:lstStyle/>
            <a:p>
              <a:endParaRPr lang="vi-VN"/>
            </a:p>
          </p:txBody>
        </p:sp>
        <p:cxnSp>
          <p:nvCxnSpPr>
            <p:cNvPr id="33" name="Line 26"/>
            <p:cNvCxnSpPr/>
            <p:nvPr/>
          </p:nvCxnSpPr>
          <p:spPr bwMode="auto">
            <a:xfrm flipH="1">
              <a:off x="6438" y="12049"/>
              <a:ext cx="109" cy="72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34" name="Text Box 27"/>
            <p:cNvSpPr txBox="1">
              <a:spLocks noChangeArrowheads="1"/>
            </p:cNvSpPr>
            <p:nvPr/>
          </p:nvSpPr>
          <p:spPr bwMode="auto">
            <a:xfrm>
              <a:off x="6420" y="11461"/>
              <a:ext cx="580" cy="41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800"/>
                </a:spcAft>
              </a:pPr>
              <a:r>
                <a:rPr lang="en-US" sz="1800" b="1">
                  <a:effectLst/>
                  <a:latin typeface="Cambria"/>
                  <a:ea typeface="MS Mincho"/>
                  <a:cs typeface="Times New Roman"/>
                </a:rPr>
                <a:t> . . .</a:t>
              </a:r>
              <a:endParaRPr lang="vi-VN" sz="1100">
                <a:effectLst/>
                <a:latin typeface="Cambria"/>
                <a:ea typeface="MS Mincho"/>
                <a:cs typeface="Times New Roman"/>
              </a:endParaRPr>
            </a:p>
          </p:txBody>
        </p:sp>
        <p:sp>
          <p:nvSpPr>
            <p:cNvPr id="35" name="Text Box 8"/>
            <p:cNvSpPr txBox="1">
              <a:spLocks noChangeArrowheads="1"/>
            </p:cNvSpPr>
            <p:nvPr/>
          </p:nvSpPr>
          <p:spPr bwMode="auto">
            <a:xfrm>
              <a:off x="3391" y="11101"/>
              <a:ext cx="1423" cy="332"/>
            </a:xfrm>
            <a:prstGeom prst="rect">
              <a:avLst/>
            </a:prstGeom>
            <a:solidFill>
              <a:srgbClr val="FFFFFF"/>
            </a:solidFill>
            <a:ln w="9525">
              <a:solidFill>
                <a:srgbClr val="000000"/>
              </a:solidFill>
              <a:prstDash val="dash"/>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rot="0" vert="horz" wrap="square" lIns="0" tIns="0" rIns="0" bIns="0" anchor="t" anchorCtr="0" upright="1">
              <a:noAutofit/>
            </a:bodyPr>
            <a:lstStyle/>
            <a:p>
              <a:pPr>
                <a:lnSpc>
                  <a:spcPct val="107000"/>
                </a:lnSpc>
                <a:spcAft>
                  <a:spcPts val="800"/>
                </a:spcAft>
              </a:pPr>
              <a:r>
                <a:rPr lang="en-US" sz="1300">
                  <a:effectLst/>
                  <a:latin typeface="Cambria"/>
                  <a:ea typeface="MS Mincho"/>
                  <a:cs typeface="Times New Roman"/>
                </a:rPr>
                <a:t>ứng dụng 1</a:t>
              </a:r>
              <a:endParaRPr lang="vi-VN" sz="1300">
                <a:effectLst/>
                <a:latin typeface="Cambria"/>
                <a:ea typeface="MS Mincho"/>
                <a:cs typeface="Times New Roman"/>
              </a:endParaRPr>
            </a:p>
          </p:txBody>
        </p:sp>
        <p:sp>
          <p:nvSpPr>
            <p:cNvPr id="36" name="Text Box 9"/>
            <p:cNvSpPr txBox="1">
              <a:spLocks noChangeArrowheads="1"/>
            </p:cNvSpPr>
            <p:nvPr/>
          </p:nvSpPr>
          <p:spPr bwMode="auto">
            <a:xfrm>
              <a:off x="4962" y="11101"/>
              <a:ext cx="1423" cy="332"/>
            </a:xfrm>
            <a:prstGeom prst="rect">
              <a:avLst/>
            </a:prstGeom>
            <a:solidFill>
              <a:srgbClr val="FFFFFF"/>
            </a:solidFill>
            <a:ln w="9525">
              <a:solidFill>
                <a:srgbClr val="000000"/>
              </a:solidFill>
              <a:prstDash val="dash"/>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rot="0" vert="horz" wrap="square" lIns="0" tIns="0" rIns="0" bIns="0" anchor="t" anchorCtr="0" upright="1">
              <a:noAutofit/>
            </a:bodyPr>
            <a:lstStyle/>
            <a:p>
              <a:pPr>
                <a:lnSpc>
                  <a:spcPct val="107000"/>
                </a:lnSpc>
                <a:spcAft>
                  <a:spcPts val="800"/>
                </a:spcAft>
              </a:pPr>
              <a:r>
                <a:rPr lang="en-US" sz="1300">
                  <a:effectLst/>
                  <a:latin typeface="Cambria"/>
                  <a:ea typeface="MS Mincho"/>
                  <a:cs typeface="Times New Roman"/>
                </a:rPr>
                <a:t>ứng dụng 2         </a:t>
              </a:r>
              <a:endParaRPr lang="vi-VN" sz="1300">
                <a:effectLst/>
                <a:latin typeface="Cambria"/>
                <a:ea typeface="MS Mincho"/>
                <a:cs typeface="Times New Roman"/>
              </a:endParaRPr>
            </a:p>
          </p:txBody>
        </p:sp>
        <p:sp>
          <p:nvSpPr>
            <p:cNvPr id="37" name="Text Box 10"/>
            <p:cNvSpPr txBox="1">
              <a:spLocks noChangeArrowheads="1"/>
            </p:cNvSpPr>
            <p:nvPr/>
          </p:nvSpPr>
          <p:spPr bwMode="auto">
            <a:xfrm>
              <a:off x="7291" y="11101"/>
              <a:ext cx="1423" cy="332"/>
            </a:xfrm>
            <a:prstGeom prst="rect">
              <a:avLst/>
            </a:prstGeom>
            <a:solidFill>
              <a:srgbClr val="FFFFFF"/>
            </a:solidFill>
            <a:ln w="9525">
              <a:solidFill>
                <a:srgbClr val="000000"/>
              </a:solidFill>
              <a:prstDash val="dash"/>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rot="0" vert="horz" wrap="square" lIns="0" tIns="0" rIns="0" bIns="0" anchor="t" anchorCtr="0" upright="1">
              <a:noAutofit/>
            </a:bodyPr>
            <a:lstStyle/>
            <a:p>
              <a:pPr>
                <a:lnSpc>
                  <a:spcPct val="107000"/>
                </a:lnSpc>
                <a:spcAft>
                  <a:spcPts val="800"/>
                </a:spcAft>
              </a:pPr>
              <a:r>
                <a:rPr lang="en-US" sz="1300">
                  <a:effectLst/>
                  <a:latin typeface="Cambria"/>
                  <a:ea typeface="MS Mincho"/>
                  <a:cs typeface="Times New Roman"/>
                </a:rPr>
                <a:t>ứng dụng k         </a:t>
              </a:r>
              <a:endParaRPr lang="vi-VN" sz="1300">
                <a:effectLst/>
                <a:latin typeface="Cambria"/>
                <a:ea typeface="MS Mincho"/>
                <a:cs typeface="Times New Roman"/>
              </a:endParaRPr>
            </a:p>
          </p:txBody>
        </p:sp>
        <p:sp>
          <p:nvSpPr>
            <p:cNvPr id="38" name="Text Box 12"/>
            <p:cNvSpPr txBox="1">
              <a:spLocks noChangeArrowheads="1"/>
            </p:cNvSpPr>
            <p:nvPr/>
          </p:nvSpPr>
          <p:spPr bwMode="auto">
            <a:xfrm>
              <a:off x="2486" y="11728"/>
              <a:ext cx="1039"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800"/>
                </a:spcAft>
              </a:pPr>
              <a:r>
                <a:rPr lang="en-US" sz="1300">
                  <a:effectLst/>
                  <a:latin typeface="Cambria"/>
                  <a:ea typeface="MS Mincho"/>
                  <a:cs typeface="Times New Roman"/>
                </a:rPr>
                <a:t>Tầng ứng dụng</a:t>
              </a:r>
              <a:endParaRPr lang="vi-VN" sz="1300">
                <a:effectLst/>
                <a:latin typeface="Cambria"/>
                <a:ea typeface="MS Mincho"/>
                <a:cs typeface="Times New Roman"/>
              </a:endParaRPr>
            </a:p>
          </p:txBody>
        </p:sp>
      </p:grpSp>
    </p:spTree>
    <p:extLst>
      <p:ext uri="{BB962C8B-B14F-4D97-AF65-F5344CB8AC3E}">
        <p14:creationId xmlns:p14="http://schemas.microsoft.com/office/powerpoint/2010/main" val="16722938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3. Các cách tiếp cận trong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rgbClr val="FF0066"/>
                </a:solidFill>
                <a:latin typeface="Calibri" pitchFamily="34" charset="0"/>
                <a:cs typeface="Calibri" pitchFamily="34" charset="0"/>
              </a:rPr>
              <a:t>Tiếp cận hướng đối tượng:</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vi-VN" sz="1800">
                <a:solidFill>
                  <a:schemeClr val="accent2">
                    <a:lumMod val="50000"/>
                  </a:schemeClr>
                </a:solidFill>
                <a:latin typeface="Calibri" pitchFamily="34" charset="0"/>
                <a:cs typeface="Calibri" pitchFamily="34" charset="0"/>
              </a:rPr>
              <a:t>Ý tưởng </a:t>
            </a:r>
            <a:r>
              <a:rPr lang="vi-VN" sz="1800" smtClean="0">
                <a:solidFill>
                  <a:schemeClr val="accent2">
                    <a:lumMod val="50000"/>
                  </a:schemeClr>
                </a:solidFill>
                <a:latin typeface="Calibri" pitchFamily="34" charset="0"/>
                <a:cs typeface="Calibri" pitchFamily="34" charset="0"/>
              </a:rPr>
              <a:t>của cách tiếp cận này là </a:t>
            </a:r>
            <a:r>
              <a:rPr lang="en-US" sz="1800">
                <a:solidFill>
                  <a:schemeClr val="accent2">
                    <a:lumMod val="50000"/>
                  </a:schemeClr>
                </a:solidFill>
                <a:latin typeface="Calibri" pitchFamily="34" charset="0"/>
                <a:cs typeface="Calibri" pitchFamily="34" charset="0"/>
              </a:rPr>
              <a:t>ánh xạ </a:t>
            </a:r>
            <a:r>
              <a:rPr lang="en-US" sz="1800" smtClean="0">
                <a:solidFill>
                  <a:schemeClr val="accent2">
                    <a:lumMod val="50000"/>
                  </a:schemeClr>
                </a:solidFill>
                <a:latin typeface="Calibri" pitchFamily="34" charset="0"/>
                <a:cs typeface="Calibri" pitchFamily="34" charset="0"/>
              </a:rPr>
              <a:t>tương ứng các đối tượng ngoài </a:t>
            </a:r>
            <a:r>
              <a:rPr lang="en-US" sz="1800">
                <a:solidFill>
                  <a:schemeClr val="accent2">
                    <a:lumMod val="50000"/>
                  </a:schemeClr>
                </a:solidFill>
                <a:latin typeface="Calibri" pitchFamily="34" charset="0"/>
                <a:cs typeface="Calibri" pitchFamily="34" charset="0"/>
              </a:rPr>
              <a:t>đời thực </a:t>
            </a:r>
            <a:r>
              <a:rPr lang="en-US" sz="1800" smtClean="0">
                <a:solidFill>
                  <a:schemeClr val="accent2">
                    <a:lumMod val="50000"/>
                  </a:schemeClr>
                </a:solidFill>
                <a:latin typeface="Calibri" pitchFamily="34" charset="0"/>
                <a:cs typeface="Calibri" pitchFamily="34" charset="0"/>
              </a:rPr>
              <a:t>của hệ thống thành các đối tượng bên trong của hệ thống thông tin cần xây dựng. Mỗi </a:t>
            </a:r>
            <a:r>
              <a:rPr lang="en-US" sz="1800">
                <a:solidFill>
                  <a:schemeClr val="accent2">
                    <a:lumMod val="50000"/>
                  </a:schemeClr>
                </a:solidFill>
                <a:latin typeface="Calibri" pitchFamily="34" charset="0"/>
                <a:cs typeface="Calibri" pitchFamily="34" charset="0"/>
              </a:rPr>
              <a:t>đối tượng </a:t>
            </a:r>
            <a:r>
              <a:rPr lang="en-US" sz="1800" smtClean="0">
                <a:solidFill>
                  <a:schemeClr val="accent2">
                    <a:lumMod val="50000"/>
                  </a:schemeClr>
                </a:solidFill>
                <a:latin typeface="Calibri" pitchFamily="34" charset="0"/>
                <a:cs typeface="Calibri" pitchFamily="34" charset="0"/>
              </a:rPr>
              <a:t>được thiết kế </a:t>
            </a:r>
            <a:r>
              <a:rPr lang="en-US" sz="1800">
                <a:solidFill>
                  <a:schemeClr val="accent2">
                    <a:lumMod val="50000"/>
                  </a:schemeClr>
                </a:solidFill>
                <a:latin typeface="Calibri" pitchFamily="34" charset="0"/>
                <a:cs typeface="Calibri" pitchFamily="34" charset="0"/>
              </a:rPr>
              <a:t>đầy đủ cả dữ liệu và các hành động liên quan đến đối tượng đó</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Các đối tượng trong một hệ thống tương đối độc lập với nhau và được </a:t>
            </a:r>
            <a:r>
              <a:rPr lang="en-US" sz="1800">
                <a:solidFill>
                  <a:schemeClr val="accent2">
                    <a:lumMod val="50000"/>
                  </a:schemeClr>
                </a:solidFill>
                <a:latin typeface="Calibri" pitchFamily="34" charset="0"/>
                <a:cs typeface="Calibri" pitchFamily="34" charset="0"/>
              </a:rPr>
              <a:t>ghép nối </a:t>
            </a:r>
            <a:r>
              <a:rPr lang="en-US" sz="1800" smtClean="0">
                <a:solidFill>
                  <a:schemeClr val="accent2">
                    <a:lumMod val="50000"/>
                  </a:schemeClr>
                </a:solidFill>
                <a:latin typeface="Calibri" pitchFamily="34" charset="0"/>
                <a:cs typeface="Calibri" pitchFamily="34" charset="0"/>
              </a:rPr>
              <a:t>để tạo thành </a:t>
            </a:r>
            <a:r>
              <a:rPr lang="en-US" sz="1800">
                <a:solidFill>
                  <a:schemeClr val="accent2">
                    <a:lumMod val="50000"/>
                  </a:schemeClr>
                </a:solidFill>
                <a:latin typeface="Calibri" pitchFamily="34" charset="0"/>
                <a:cs typeface="Calibri" pitchFamily="34" charset="0"/>
              </a:rPr>
              <a:t>một hệ thống thông qua </a:t>
            </a:r>
            <a:r>
              <a:rPr lang="en-US" sz="1800" smtClean="0">
                <a:solidFill>
                  <a:schemeClr val="accent2">
                    <a:lumMod val="50000"/>
                  </a:schemeClr>
                </a:solidFill>
                <a:latin typeface="Calibri" pitchFamily="34" charset="0"/>
                <a:cs typeface="Calibri" pitchFamily="34" charset="0"/>
              </a:rPr>
              <a:t>các mối </a:t>
            </a:r>
            <a:r>
              <a:rPr lang="en-US" sz="1800">
                <a:solidFill>
                  <a:schemeClr val="accent2">
                    <a:lumMod val="50000"/>
                  </a:schemeClr>
                </a:solidFill>
                <a:latin typeface="Calibri" pitchFamily="34" charset="0"/>
                <a:cs typeface="Calibri" pitchFamily="34" charset="0"/>
              </a:rPr>
              <a:t>quan hệ </a:t>
            </a:r>
            <a:r>
              <a:rPr lang="en-US" sz="1800" smtClean="0">
                <a:solidFill>
                  <a:schemeClr val="accent2">
                    <a:lumMod val="50000"/>
                  </a:schemeClr>
                </a:solidFill>
                <a:latin typeface="Calibri" pitchFamily="34" charset="0"/>
                <a:cs typeface="Calibri" pitchFamily="34" charset="0"/>
              </a:rPr>
              <a:t>và tương tác giữa chúng. </a:t>
            </a:r>
            <a:r>
              <a:rPr lang="en-US" sz="1800">
                <a:solidFill>
                  <a:schemeClr val="accent2">
                    <a:lumMod val="50000"/>
                  </a:schemeClr>
                </a:solidFill>
                <a:latin typeface="Calibri" pitchFamily="34" charset="0"/>
                <a:cs typeface="Calibri" pitchFamily="34" charset="0"/>
              </a:rPr>
              <a:t>Với cơ chế này, hệ thống được "lắp ghép" và "tháo dỡ" đơn giản, dễ bảo trì, dễ sử dụng lại và có thể đạt được quy mô tuỳ ý. </a:t>
            </a:r>
            <a:endParaRPr lang="vi-VN" sz="1800">
              <a:solidFill>
                <a:schemeClr val="accent2">
                  <a:lumMod val="50000"/>
                </a:schemeClr>
              </a:solidFill>
              <a:latin typeface="Calibri" pitchFamily="34" charset="0"/>
              <a:cs typeface="Calibri" pitchFamily="34" charset="0"/>
            </a:endParaRPr>
          </a:p>
          <a:p>
            <a:pPr marL="0" indent="0" algn="just">
              <a:spcAft>
                <a:spcPts val="683"/>
              </a:spcAft>
              <a:buClr>
                <a:srgbClr val="FF0066"/>
              </a:buClr>
              <a:buNone/>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10</a:t>
            </a:fld>
            <a:endParaRPr lang="vi-VN"/>
          </a:p>
        </p:txBody>
      </p:sp>
      <p:sp>
        <p:nvSpPr>
          <p:cNvPr id="9" name="Title 1"/>
          <p:cNvSpPr txBox="1">
            <a:spLocks/>
          </p:cNvSpPr>
          <p:nvPr/>
        </p:nvSpPr>
        <p:spPr>
          <a:xfrm>
            <a:off x="6914060" y="0"/>
            <a:ext cx="3384000" cy="1260000"/>
          </a:xfrm>
          <a:prstGeom prst="rect">
            <a:avLst/>
          </a:prstGeom>
          <a:solidFill>
            <a:schemeClr val="accent1">
              <a:lumMod val="75000"/>
            </a:schemeClr>
          </a:solidFill>
        </p:spPr>
        <p:txBody>
          <a:bodyPr vert="horz" lIns="104104" tIns="52052" rIns="104104" bIns="52052" rtlCol="0" anchor="ctr">
            <a:normAutofit lnSpcReduction="1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Hướng tiến trình</a:t>
            </a:r>
          </a:p>
          <a:p>
            <a:pPr algn="just"/>
            <a:r>
              <a:rPr lang="en-US" sz="1600">
                <a:solidFill>
                  <a:schemeClr val="tx2"/>
                </a:solidFill>
                <a:latin typeface="+mn-lt"/>
                <a:cs typeface="Arial" pitchFamily="34" charset="0"/>
              </a:rPr>
              <a:t>2. Hướng dữ liệu</a:t>
            </a:r>
          </a:p>
          <a:p>
            <a:pPr algn="just"/>
            <a:r>
              <a:rPr lang="en-US" sz="1600">
                <a:solidFill>
                  <a:schemeClr val="tx2"/>
                </a:solidFill>
                <a:latin typeface="+mn-lt"/>
                <a:cs typeface="Arial" pitchFamily="34" charset="0"/>
              </a:rPr>
              <a:t>3. Hướng cấu trúc</a:t>
            </a:r>
          </a:p>
          <a:p>
            <a:pPr algn="just"/>
            <a:r>
              <a:rPr lang="en-US" sz="1600" b="1">
                <a:solidFill>
                  <a:schemeClr val="accent6">
                    <a:lumMod val="75000"/>
                  </a:schemeClr>
                </a:solidFill>
                <a:latin typeface="+mn-lt"/>
                <a:cs typeface="Arial" pitchFamily="34" charset="0"/>
              </a:rPr>
              <a:t>4. Hướng đối tượng</a:t>
            </a:r>
          </a:p>
          <a:p>
            <a:pPr algn="just"/>
            <a:r>
              <a:rPr lang="en-US" sz="1600" smtClean="0">
                <a:solidFill>
                  <a:schemeClr val="tx2"/>
                </a:solidFill>
                <a:latin typeface="+mn-lt"/>
                <a:cs typeface="Arial" pitchFamily="34" charset="0"/>
              </a:rPr>
              <a:t>5. Hướng tiến trình nghiệp vụ</a:t>
            </a:r>
            <a:endParaRPr lang="en-US" sz="1600" b="1">
              <a:solidFill>
                <a:schemeClr val="accent6">
                  <a:lumMod val="75000"/>
                </a:schemeClr>
              </a:solidFill>
              <a:latin typeface="+mn-lt"/>
              <a:cs typeface="Arial" pitchFamily="34" charset="0"/>
            </a:endParaRPr>
          </a:p>
        </p:txBody>
      </p:sp>
      <p:grpSp>
        <p:nvGrpSpPr>
          <p:cNvPr id="39" name="Group 38"/>
          <p:cNvGrpSpPr>
            <a:grpSpLocks/>
          </p:cNvGrpSpPr>
          <p:nvPr/>
        </p:nvGrpSpPr>
        <p:grpSpPr bwMode="auto">
          <a:xfrm>
            <a:off x="2778560" y="4116459"/>
            <a:ext cx="3916676" cy="2091692"/>
            <a:chOff x="2843" y="2858"/>
            <a:chExt cx="5244" cy="1926"/>
          </a:xfrm>
        </p:grpSpPr>
        <p:cxnSp>
          <p:nvCxnSpPr>
            <p:cNvPr id="40" name="Line 42"/>
            <p:cNvCxnSpPr/>
            <p:nvPr/>
          </p:nvCxnSpPr>
          <p:spPr bwMode="auto">
            <a:xfrm flipH="1">
              <a:off x="4268" y="3177"/>
              <a:ext cx="585" cy="3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1" name="Line 43"/>
            <p:cNvCxnSpPr/>
            <p:nvPr/>
          </p:nvCxnSpPr>
          <p:spPr bwMode="auto">
            <a:xfrm>
              <a:off x="5071" y="3177"/>
              <a:ext cx="565" cy="29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2" name="Line 44"/>
            <p:cNvCxnSpPr/>
            <p:nvPr/>
          </p:nvCxnSpPr>
          <p:spPr bwMode="auto">
            <a:xfrm>
              <a:off x="4038" y="3945"/>
              <a:ext cx="629" cy="383"/>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3" name="Line 45"/>
            <p:cNvCxnSpPr/>
            <p:nvPr/>
          </p:nvCxnSpPr>
          <p:spPr bwMode="auto">
            <a:xfrm flipH="1">
              <a:off x="5180" y="3988"/>
              <a:ext cx="380" cy="397"/>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4" name="Line 46"/>
            <p:cNvCxnSpPr/>
            <p:nvPr/>
          </p:nvCxnSpPr>
          <p:spPr bwMode="auto">
            <a:xfrm>
              <a:off x="5668" y="4585"/>
              <a:ext cx="81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5" name="Line 47"/>
            <p:cNvCxnSpPr/>
            <p:nvPr/>
          </p:nvCxnSpPr>
          <p:spPr bwMode="auto">
            <a:xfrm>
              <a:off x="5505" y="3134"/>
              <a:ext cx="1631" cy="42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6" name="Line 48"/>
            <p:cNvCxnSpPr/>
            <p:nvPr/>
          </p:nvCxnSpPr>
          <p:spPr bwMode="auto">
            <a:xfrm>
              <a:off x="6377" y="3758"/>
              <a:ext cx="76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7" name="Line 49"/>
            <p:cNvCxnSpPr/>
            <p:nvPr/>
          </p:nvCxnSpPr>
          <p:spPr bwMode="auto">
            <a:xfrm flipH="1">
              <a:off x="7175" y="3815"/>
              <a:ext cx="543" cy="57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8" name="Line 50"/>
            <p:cNvCxnSpPr/>
            <p:nvPr/>
          </p:nvCxnSpPr>
          <p:spPr bwMode="auto">
            <a:xfrm flipH="1">
              <a:off x="3332" y="3938"/>
              <a:ext cx="435" cy="42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9" name="Freeform 48"/>
            <p:cNvSpPr>
              <a:spLocks/>
            </p:cNvSpPr>
            <p:nvPr/>
          </p:nvSpPr>
          <p:spPr bwMode="auto">
            <a:xfrm>
              <a:off x="4553" y="2858"/>
              <a:ext cx="969" cy="549"/>
            </a:xfrm>
            <a:custGeom>
              <a:avLst/>
              <a:gdLst>
                <a:gd name="T0" fmla="*/ 798 w 1938"/>
                <a:gd name="T1" fmla="*/ 228 h 1140"/>
                <a:gd name="T2" fmla="*/ 798 w 1938"/>
                <a:gd name="T3" fmla="*/ 0 h 1140"/>
                <a:gd name="T4" fmla="*/ 0 w 1938"/>
                <a:gd name="T5" fmla="*/ 0 h 1140"/>
                <a:gd name="T6" fmla="*/ 0 w 1938"/>
                <a:gd name="T7" fmla="*/ 1140 h 1140"/>
                <a:gd name="T8" fmla="*/ 1938 w 1938"/>
                <a:gd name="T9" fmla="*/ 1140 h 1140"/>
                <a:gd name="T10" fmla="*/ 1938 w 1938"/>
                <a:gd name="T11" fmla="*/ 228 h 1140"/>
                <a:gd name="T12" fmla="*/ 0 w 1938"/>
                <a:gd name="T13" fmla="*/ 228 h 1140"/>
              </a:gdLst>
              <a:ahLst/>
              <a:cxnLst>
                <a:cxn ang="0">
                  <a:pos x="T0" y="T1"/>
                </a:cxn>
                <a:cxn ang="0">
                  <a:pos x="T2" y="T3"/>
                </a:cxn>
                <a:cxn ang="0">
                  <a:pos x="T4" y="T5"/>
                </a:cxn>
                <a:cxn ang="0">
                  <a:pos x="T6" y="T7"/>
                </a:cxn>
                <a:cxn ang="0">
                  <a:pos x="T8" y="T9"/>
                </a:cxn>
                <a:cxn ang="0">
                  <a:pos x="T10" y="T11"/>
                </a:cxn>
                <a:cxn ang="0">
                  <a:pos x="T12" y="T13"/>
                </a:cxn>
              </a:cxnLst>
              <a:rect l="0" t="0" r="r" b="b"/>
              <a:pathLst>
                <a:path w="1938" h="1140">
                  <a:moveTo>
                    <a:pt x="798" y="228"/>
                  </a:moveTo>
                  <a:lnTo>
                    <a:pt x="798" y="0"/>
                  </a:lnTo>
                  <a:lnTo>
                    <a:pt x="0" y="0"/>
                  </a:lnTo>
                  <a:lnTo>
                    <a:pt x="0" y="1140"/>
                  </a:lnTo>
                  <a:lnTo>
                    <a:pt x="1938" y="1140"/>
                  </a:lnTo>
                  <a:lnTo>
                    <a:pt x="1938" y="228"/>
                  </a:lnTo>
                  <a:lnTo>
                    <a:pt x="0" y="228"/>
                  </a:lnTo>
                </a:path>
              </a:pathLst>
            </a:custGeom>
            <a:solidFill>
              <a:schemeClr val="accent1">
                <a:lumMod val="75000"/>
              </a:schemeClr>
            </a:solidFill>
            <a:ln w="9525">
              <a:solidFill>
                <a:srgbClr val="000000"/>
              </a:solidFill>
              <a:round/>
              <a:headEnd/>
              <a:tailEnd/>
            </a:ln>
          </p:spPr>
          <p:txBody>
            <a:bodyPr rot="0" vert="horz" wrap="square" lIns="91440" tIns="45720" rIns="91440" bIns="45720" anchor="t" anchorCtr="0" upright="1">
              <a:noAutofit/>
            </a:bodyPr>
            <a:lstStyle/>
            <a:p>
              <a:endParaRPr lang="vi-VN"/>
            </a:p>
          </p:txBody>
        </p:sp>
        <p:sp>
          <p:nvSpPr>
            <p:cNvPr id="50" name="Freeform 49"/>
            <p:cNvSpPr>
              <a:spLocks/>
            </p:cNvSpPr>
            <p:nvPr/>
          </p:nvSpPr>
          <p:spPr bwMode="auto">
            <a:xfrm>
              <a:off x="6491" y="4271"/>
              <a:ext cx="969" cy="513"/>
            </a:xfrm>
            <a:custGeom>
              <a:avLst/>
              <a:gdLst>
                <a:gd name="T0" fmla="*/ 798 w 1938"/>
                <a:gd name="T1" fmla="*/ 228 h 1140"/>
                <a:gd name="T2" fmla="*/ 798 w 1938"/>
                <a:gd name="T3" fmla="*/ 0 h 1140"/>
                <a:gd name="T4" fmla="*/ 0 w 1938"/>
                <a:gd name="T5" fmla="*/ 0 h 1140"/>
                <a:gd name="T6" fmla="*/ 0 w 1938"/>
                <a:gd name="T7" fmla="*/ 1140 h 1140"/>
                <a:gd name="T8" fmla="*/ 1938 w 1938"/>
                <a:gd name="T9" fmla="*/ 1140 h 1140"/>
                <a:gd name="T10" fmla="*/ 1938 w 1938"/>
                <a:gd name="T11" fmla="*/ 228 h 1140"/>
                <a:gd name="T12" fmla="*/ 0 w 1938"/>
                <a:gd name="T13" fmla="*/ 228 h 1140"/>
              </a:gdLst>
              <a:ahLst/>
              <a:cxnLst>
                <a:cxn ang="0">
                  <a:pos x="T0" y="T1"/>
                </a:cxn>
                <a:cxn ang="0">
                  <a:pos x="T2" y="T3"/>
                </a:cxn>
                <a:cxn ang="0">
                  <a:pos x="T4" y="T5"/>
                </a:cxn>
                <a:cxn ang="0">
                  <a:pos x="T6" y="T7"/>
                </a:cxn>
                <a:cxn ang="0">
                  <a:pos x="T8" y="T9"/>
                </a:cxn>
                <a:cxn ang="0">
                  <a:pos x="T10" y="T11"/>
                </a:cxn>
                <a:cxn ang="0">
                  <a:pos x="T12" y="T13"/>
                </a:cxn>
              </a:cxnLst>
              <a:rect l="0" t="0" r="r" b="b"/>
              <a:pathLst>
                <a:path w="1938" h="1140">
                  <a:moveTo>
                    <a:pt x="798" y="228"/>
                  </a:moveTo>
                  <a:lnTo>
                    <a:pt x="798" y="0"/>
                  </a:lnTo>
                  <a:lnTo>
                    <a:pt x="0" y="0"/>
                  </a:lnTo>
                  <a:lnTo>
                    <a:pt x="0" y="1140"/>
                  </a:lnTo>
                  <a:lnTo>
                    <a:pt x="1938" y="1140"/>
                  </a:lnTo>
                  <a:lnTo>
                    <a:pt x="1938" y="228"/>
                  </a:lnTo>
                  <a:lnTo>
                    <a:pt x="0" y="228"/>
                  </a:lnTo>
                </a:path>
              </a:pathLst>
            </a:custGeom>
            <a:solidFill>
              <a:schemeClr val="accent6">
                <a:lumMod val="40000"/>
                <a:lumOff val="60000"/>
              </a:schemeClr>
            </a:solidFill>
            <a:ln w="9525">
              <a:solidFill>
                <a:srgbClr val="000000"/>
              </a:solidFill>
              <a:round/>
              <a:headEnd/>
              <a:tailEnd/>
            </a:ln>
          </p:spPr>
          <p:txBody>
            <a:bodyPr rot="0" vert="horz" wrap="square" lIns="91440" tIns="45720" rIns="91440" bIns="45720" anchor="t" anchorCtr="0" upright="1">
              <a:noAutofit/>
            </a:bodyPr>
            <a:lstStyle/>
            <a:p>
              <a:endParaRPr lang="vi-VN"/>
            </a:p>
          </p:txBody>
        </p:sp>
        <p:sp>
          <p:nvSpPr>
            <p:cNvPr id="51" name="Freeform 50"/>
            <p:cNvSpPr>
              <a:spLocks/>
            </p:cNvSpPr>
            <p:nvPr/>
          </p:nvSpPr>
          <p:spPr bwMode="auto">
            <a:xfrm>
              <a:off x="3470" y="3416"/>
              <a:ext cx="969" cy="513"/>
            </a:xfrm>
            <a:custGeom>
              <a:avLst/>
              <a:gdLst>
                <a:gd name="T0" fmla="*/ 798 w 1938"/>
                <a:gd name="T1" fmla="*/ 228 h 1140"/>
                <a:gd name="T2" fmla="*/ 798 w 1938"/>
                <a:gd name="T3" fmla="*/ 0 h 1140"/>
                <a:gd name="T4" fmla="*/ 0 w 1938"/>
                <a:gd name="T5" fmla="*/ 0 h 1140"/>
                <a:gd name="T6" fmla="*/ 0 w 1938"/>
                <a:gd name="T7" fmla="*/ 1140 h 1140"/>
                <a:gd name="T8" fmla="*/ 1938 w 1938"/>
                <a:gd name="T9" fmla="*/ 1140 h 1140"/>
                <a:gd name="T10" fmla="*/ 1938 w 1938"/>
                <a:gd name="T11" fmla="*/ 228 h 1140"/>
                <a:gd name="T12" fmla="*/ 0 w 1938"/>
                <a:gd name="T13" fmla="*/ 228 h 1140"/>
              </a:gdLst>
              <a:ahLst/>
              <a:cxnLst>
                <a:cxn ang="0">
                  <a:pos x="T0" y="T1"/>
                </a:cxn>
                <a:cxn ang="0">
                  <a:pos x="T2" y="T3"/>
                </a:cxn>
                <a:cxn ang="0">
                  <a:pos x="T4" y="T5"/>
                </a:cxn>
                <a:cxn ang="0">
                  <a:pos x="T6" y="T7"/>
                </a:cxn>
                <a:cxn ang="0">
                  <a:pos x="T8" y="T9"/>
                </a:cxn>
                <a:cxn ang="0">
                  <a:pos x="T10" y="T11"/>
                </a:cxn>
                <a:cxn ang="0">
                  <a:pos x="T12" y="T13"/>
                </a:cxn>
              </a:cxnLst>
              <a:rect l="0" t="0" r="r" b="b"/>
              <a:pathLst>
                <a:path w="1938" h="1140">
                  <a:moveTo>
                    <a:pt x="798" y="228"/>
                  </a:moveTo>
                  <a:lnTo>
                    <a:pt x="798" y="0"/>
                  </a:lnTo>
                  <a:lnTo>
                    <a:pt x="0" y="0"/>
                  </a:lnTo>
                  <a:lnTo>
                    <a:pt x="0" y="1140"/>
                  </a:lnTo>
                  <a:lnTo>
                    <a:pt x="1938" y="1140"/>
                  </a:lnTo>
                  <a:lnTo>
                    <a:pt x="1938" y="228"/>
                  </a:lnTo>
                  <a:lnTo>
                    <a:pt x="0" y="228"/>
                  </a:lnTo>
                </a:path>
              </a:pathLst>
            </a:custGeom>
            <a:solidFill>
              <a:schemeClr val="accent3">
                <a:lumMod val="60000"/>
                <a:lumOff val="40000"/>
              </a:schemeClr>
            </a:solidFill>
            <a:ln w="9525">
              <a:solidFill>
                <a:srgbClr val="000000"/>
              </a:solidFill>
              <a:round/>
              <a:headEnd/>
              <a:tailEnd/>
            </a:ln>
          </p:spPr>
          <p:txBody>
            <a:bodyPr rot="0" vert="horz" wrap="square" lIns="91440" tIns="45720" rIns="91440" bIns="45720" anchor="t" anchorCtr="0" upright="1">
              <a:noAutofit/>
            </a:bodyPr>
            <a:lstStyle/>
            <a:p>
              <a:endParaRPr lang="vi-VN"/>
            </a:p>
          </p:txBody>
        </p:sp>
        <p:sp>
          <p:nvSpPr>
            <p:cNvPr id="52" name="Freeform 51"/>
            <p:cNvSpPr>
              <a:spLocks/>
            </p:cNvSpPr>
            <p:nvPr/>
          </p:nvSpPr>
          <p:spPr bwMode="auto">
            <a:xfrm>
              <a:off x="5408" y="3473"/>
              <a:ext cx="969" cy="549"/>
            </a:xfrm>
            <a:custGeom>
              <a:avLst/>
              <a:gdLst>
                <a:gd name="T0" fmla="*/ 798 w 1938"/>
                <a:gd name="T1" fmla="*/ 228 h 1140"/>
                <a:gd name="T2" fmla="*/ 798 w 1938"/>
                <a:gd name="T3" fmla="*/ 0 h 1140"/>
                <a:gd name="T4" fmla="*/ 0 w 1938"/>
                <a:gd name="T5" fmla="*/ 0 h 1140"/>
                <a:gd name="T6" fmla="*/ 0 w 1938"/>
                <a:gd name="T7" fmla="*/ 1140 h 1140"/>
                <a:gd name="T8" fmla="*/ 1938 w 1938"/>
                <a:gd name="T9" fmla="*/ 1140 h 1140"/>
                <a:gd name="T10" fmla="*/ 1938 w 1938"/>
                <a:gd name="T11" fmla="*/ 228 h 1140"/>
                <a:gd name="T12" fmla="*/ 0 w 1938"/>
                <a:gd name="T13" fmla="*/ 228 h 1140"/>
              </a:gdLst>
              <a:ahLst/>
              <a:cxnLst>
                <a:cxn ang="0">
                  <a:pos x="T0" y="T1"/>
                </a:cxn>
                <a:cxn ang="0">
                  <a:pos x="T2" y="T3"/>
                </a:cxn>
                <a:cxn ang="0">
                  <a:pos x="T4" y="T5"/>
                </a:cxn>
                <a:cxn ang="0">
                  <a:pos x="T6" y="T7"/>
                </a:cxn>
                <a:cxn ang="0">
                  <a:pos x="T8" y="T9"/>
                </a:cxn>
                <a:cxn ang="0">
                  <a:pos x="T10" y="T11"/>
                </a:cxn>
                <a:cxn ang="0">
                  <a:pos x="T12" y="T13"/>
                </a:cxn>
              </a:cxnLst>
              <a:rect l="0" t="0" r="r" b="b"/>
              <a:pathLst>
                <a:path w="1938" h="1140">
                  <a:moveTo>
                    <a:pt x="798" y="228"/>
                  </a:moveTo>
                  <a:lnTo>
                    <a:pt x="798" y="0"/>
                  </a:lnTo>
                  <a:lnTo>
                    <a:pt x="0" y="0"/>
                  </a:lnTo>
                  <a:lnTo>
                    <a:pt x="0" y="1140"/>
                  </a:lnTo>
                  <a:lnTo>
                    <a:pt x="1938" y="1140"/>
                  </a:lnTo>
                  <a:lnTo>
                    <a:pt x="1938" y="228"/>
                  </a:lnTo>
                  <a:lnTo>
                    <a:pt x="0" y="228"/>
                  </a:lnTo>
                </a:path>
              </a:pathLst>
            </a:custGeom>
            <a:solidFill>
              <a:schemeClr val="accent2">
                <a:lumMod val="40000"/>
                <a:lumOff val="60000"/>
              </a:schemeClr>
            </a:solidFill>
            <a:ln w="9525">
              <a:solidFill>
                <a:srgbClr val="000000"/>
              </a:solidFill>
              <a:round/>
              <a:headEnd/>
              <a:tailEnd/>
            </a:ln>
          </p:spPr>
          <p:txBody>
            <a:bodyPr rot="0" vert="horz" wrap="square" lIns="91440" tIns="45720" rIns="91440" bIns="45720" anchor="t" anchorCtr="0" upright="1">
              <a:noAutofit/>
            </a:bodyPr>
            <a:lstStyle/>
            <a:p>
              <a:endParaRPr lang="vi-VN"/>
            </a:p>
          </p:txBody>
        </p:sp>
        <p:sp>
          <p:nvSpPr>
            <p:cNvPr id="53" name="Freeform 52"/>
            <p:cNvSpPr>
              <a:spLocks/>
            </p:cNvSpPr>
            <p:nvPr/>
          </p:nvSpPr>
          <p:spPr bwMode="auto">
            <a:xfrm>
              <a:off x="4667" y="4271"/>
              <a:ext cx="969" cy="513"/>
            </a:xfrm>
            <a:custGeom>
              <a:avLst/>
              <a:gdLst>
                <a:gd name="T0" fmla="*/ 798 w 1938"/>
                <a:gd name="T1" fmla="*/ 228 h 1140"/>
                <a:gd name="T2" fmla="*/ 798 w 1938"/>
                <a:gd name="T3" fmla="*/ 0 h 1140"/>
                <a:gd name="T4" fmla="*/ 0 w 1938"/>
                <a:gd name="T5" fmla="*/ 0 h 1140"/>
                <a:gd name="T6" fmla="*/ 0 w 1938"/>
                <a:gd name="T7" fmla="*/ 1140 h 1140"/>
                <a:gd name="T8" fmla="*/ 1938 w 1938"/>
                <a:gd name="T9" fmla="*/ 1140 h 1140"/>
                <a:gd name="T10" fmla="*/ 1938 w 1938"/>
                <a:gd name="T11" fmla="*/ 228 h 1140"/>
                <a:gd name="T12" fmla="*/ 0 w 1938"/>
                <a:gd name="T13" fmla="*/ 228 h 1140"/>
              </a:gdLst>
              <a:ahLst/>
              <a:cxnLst>
                <a:cxn ang="0">
                  <a:pos x="T0" y="T1"/>
                </a:cxn>
                <a:cxn ang="0">
                  <a:pos x="T2" y="T3"/>
                </a:cxn>
                <a:cxn ang="0">
                  <a:pos x="T4" y="T5"/>
                </a:cxn>
                <a:cxn ang="0">
                  <a:pos x="T6" y="T7"/>
                </a:cxn>
                <a:cxn ang="0">
                  <a:pos x="T8" y="T9"/>
                </a:cxn>
                <a:cxn ang="0">
                  <a:pos x="T10" y="T11"/>
                </a:cxn>
                <a:cxn ang="0">
                  <a:pos x="T12" y="T13"/>
                </a:cxn>
              </a:cxnLst>
              <a:rect l="0" t="0" r="r" b="b"/>
              <a:pathLst>
                <a:path w="1938" h="1140">
                  <a:moveTo>
                    <a:pt x="798" y="228"/>
                  </a:moveTo>
                  <a:lnTo>
                    <a:pt x="798" y="0"/>
                  </a:lnTo>
                  <a:lnTo>
                    <a:pt x="0" y="0"/>
                  </a:lnTo>
                  <a:lnTo>
                    <a:pt x="0" y="1140"/>
                  </a:lnTo>
                  <a:lnTo>
                    <a:pt x="1938" y="1140"/>
                  </a:lnTo>
                  <a:lnTo>
                    <a:pt x="1938" y="228"/>
                  </a:lnTo>
                  <a:lnTo>
                    <a:pt x="0" y="228"/>
                  </a:lnTo>
                </a:path>
              </a:pathLst>
            </a:custGeom>
            <a:solidFill>
              <a:schemeClr val="accent4">
                <a:lumMod val="60000"/>
                <a:lumOff val="40000"/>
              </a:schemeClr>
            </a:solidFill>
            <a:ln w="9525">
              <a:solidFill>
                <a:srgbClr val="000000"/>
              </a:solidFill>
              <a:round/>
              <a:headEnd/>
              <a:tailEnd/>
            </a:ln>
          </p:spPr>
          <p:txBody>
            <a:bodyPr rot="0" vert="horz" wrap="square" lIns="91440" tIns="45720" rIns="91440" bIns="45720" anchor="t" anchorCtr="0" upright="1">
              <a:noAutofit/>
            </a:bodyPr>
            <a:lstStyle/>
            <a:p>
              <a:endParaRPr lang="vi-VN"/>
            </a:p>
          </p:txBody>
        </p:sp>
        <p:sp>
          <p:nvSpPr>
            <p:cNvPr id="54" name="Freeform 53"/>
            <p:cNvSpPr>
              <a:spLocks/>
            </p:cNvSpPr>
            <p:nvPr/>
          </p:nvSpPr>
          <p:spPr bwMode="auto">
            <a:xfrm>
              <a:off x="7118" y="3302"/>
              <a:ext cx="969" cy="513"/>
            </a:xfrm>
            <a:custGeom>
              <a:avLst/>
              <a:gdLst>
                <a:gd name="T0" fmla="*/ 798 w 1938"/>
                <a:gd name="T1" fmla="*/ 228 h 1140"/>
                <a:gd name="T2" fmla="*/ 798 w 1938"/>
                <a:gd name="T3" fmla="*/ 0 h 1140"/>
                <a:gd name="T4" fmla="*/ 0 w 1938"/>
                <a:gd name="T5" fmla="*/ 0 h 1140"/>
                <a:gd name="T6" fmla="*/ 0 w 1938"/>
                <a:gd name="T7" fmla="*/ 1140 h 1140"/>
                <a:gd name="T8" fmla="*/ 1938 w 1938"/>
                <a:gd name="T9" fmla="*/ 1140 h 1140"/>
                <a:gd name="T10" fmla="*/ 1938 w 1938"/>
                <a:gd name="T11" fmla="*/ 228 h 1140"/>
                <a:gd name="T12" fmla="*/ 0 w 1938"/>
                <a:gd name="T13" fmla="*/ 228 h 1140"/>
              </a:gdLst>
              <a:ahLst/>
              <a:cxnLst>
                <a:cxn ang="0">
                  <a:pos x="T0" y="T1"/>
                </a:cxn>
                <a:cxn ang="0">
                  <a:pos x="T2" y="T3"/>
                </a:cxn>
                <a:cxn ang="0">
                  <a:pos x="T4" y="T5"/>
                </a:cxn>
                <a:cxn ang="0">
                  <a:pos x="T6" y="T7"/>
                </a:cxn>
                <a:cxn ang="0">
                  <a:pos x="T8" y="T9"/>
                </a:cxn>
                <a:cxn ang="0">
                  <a:pos x="T10" y="T11"/>
                </a:cxn>
                <a:cxn ang="0">
                  <a:pos x="T12" y="T13"/>
                </a:cxn>
              </a:cxnLst>
              <a:rect l="0" t="0" r="r" b="b"/>
              <a:pathLst>
                <a:path w="1938" h="1140">
                  <a:moveTo>
                    <a:pt x="798" y="228"/>
                  </a:moveTo>
                  <a:lnTo>
                    <a:pt x="798" y="0"/>
                  </a:lnTo>
                  <a:lnTo>
                    <a:pt x="0" y="0"/>
                  </a:lnTo>
                  <a:lnTo>
                    <a:pt x="0" y="1140"/>
                  </a:lnTo>
                  <a:lnTo>
                    <a:pt x="1938" y="1140"/>
                  </a:lnTo>
                  <a:lnTo>
                    <a:pt x="1938" y="228"/>
                  </a:lnTo>
                  <a:lnTo>
                    <a:pt x="0" y="228"/>
                  </a:lnTo>
                </a:path>
              </a:pathLst>
            </a:custGeom>
            <a:solidFill>
              <a:schemeClr val="accent3">
                <a:lumMod val="50000"/>
              </a:schemeClr>
            </a:solidFill>
            <a:ln w="9525">
              <a:solidFill>
                <a:srgbClr val="000000"/>
              </a:solidFill>
              <a:round/>
              <a:headEnd/>
              <a:tailEnd/>
            </a:ln>
          </p:spPr>
          <p:txBody>
            <a:bodyPr rot="0" vert="horz" wrap="square" lIns="91440" tIns="45720" rIns="91440" bIns="45720" anchor="t" anchorCtr="0" upright="1">
              <a:noAutofit/>
            </a:bodyPr>
            <a:lstStyle/>
            <a:p>
              <a:endParaRPr lang="vi-VN"/>
            </a:p>
          </p:txBody>
        </p:sp>
        <p:sp>
          <p:nvSpPr>
            <p:cNvPr id="55" name="Freeform 54"/>
            <p:cNvSpPr>
              <a:spLocks/>
            </p:cNvSpPr>
            <p:nvPr/>
          </p:nvSpPr>
          <p:spPr bwMode="auto">
            <a:xfrm>
              <a:off x="2843" y="4271"/>
              <a:ext cx="969" cy="513"/>
            </a:xfrm>
            <a:custGeom>
              <a:avLst/>
              <a:gdLst>
                <a:gd name="T0" fmla="*/ 798 w 1938"/>
                <a:gd name="T1" fmla="*/ 228 h 1140"/>
                <a:gd name="T2" fmla="*/ 798 w 1938"/>
                <a:gd name="T3" fmla="*/ 0 h 1140"/>
                <a:gd name="T4" fmla="*/ 0 w 1938"/>
                <a:gd name="T5" fmla="*/ 0 h 1140"/>
                <a:gd name="T6" fmla="*/ 0 w 1938"/>
                <a:gd name="T7" fmla="*/ 1140 h 1140"/>
                <a:gd name="T8" fmla="*/ 1938 w 1938"/>
                <a:gd name="T9" fmla="*/ 1140 h 1140"/>
                <a:gd name="T10" fmla="*/ 1938 w 1938"/>
                <a:gd name="T11" fmla="*/ 228 h 1140"/>
                <a:gd name="T12" fmla="*/ 0 w 1938"/>
                <a:gd name="T13" fmla="*/ 228 h 1140"/>
              </a:gdLst>
              <a:ahLst/>
              <a:cxnLst>
                <a:cxn ang="0">
                  <a:pos x="T0" y="T1"/>
                </a:cxn>
                <a:cxn ang="0">
                  <a:pos x="T2" y="T3"/>
                </a:cxn>
                <a:cxn ang="0">
                  <a:pos x="T4" y="T5"/>
                </a:cxn>
                <a:cxn ang="0">
                  <a:pos x="T6" y="T7"/>
                </a:cxn>
                <a:cxn ang="0">
                  <a:pos x="T8" y="T9"/>
                </a:cxn>
                <a:cxn ang="0">
                  <a:pos x="T10" y="T11"/>
                </a:cxn>
                <a:cxn ang="0">
                  <a:pos x="T12" y="T13"/>
                </a:cxn>
              </a:cxnLst>
              <a:rect l="0" t="0" r="r" b="b"/>
              <a:pathLst>
                <a:path w="1938" h="1140">
                  <a:moveTo>
                    <a:pt x="798" y="228"/>
                  </a:moveTo>
                  <a:lnTo>
                    <a:pt x="798" y="0"/>
                  </a:lnTo>
                  <a:lnTo>
                    <a:pt x="0" y="0"/>
                  </a:lnTo>
                  <a:lnTo>
                    <a:pt x="0" y="1140"/>
                  </a:lnTo>
                  <a:lnTo>
                    <a:pt x="1938" y="1140"/>
                  </a:lnTo>
                  <a:lnTo>
                    <a:pt x="1938" y="228"/>
                  </a:lnTo>
                  <a:lnTo>
                    <a:pt x="0" y="228"/>
                  </a:lnTo>
                </a:path>
              </a:pathLst>
            </a:custGeom>
            <a:solidFill>
              <a:schemeClr val="accent1">
                <a:lumMod val="60000"/>
                <a:lumOff val="40000"/>
              </a:schemeClr>
            </a:solidFill>
            <a:ln w="9525">
              <a:solidFill>
                <a:srgbClr val="000000"/>
              </a:solidFill>
              <a:round/>
              <a:headEnd/>
              <a:tailEnd/>
            </a:ln>
          </p:spPr>
          <p:txBody>
            <a:bodyPr rot="0" vert="horz" wrap="square" lIns="91440" tIns="45720" rIns="91440" bIns="45720" anchor="t" anchorCtr="0" upright="1">
              <a:noAutofit/>
            </a:bodyPr>
            <a:lstStyle/>
            <a:p>
              <a:endParaRPr lang="vi-VN"/>
            </a:p>
          </p:txBody>
        </p:sp>
      </p:grpSp>
    </p:spTree>
    <p:extLst>
      <p:ext uri="{BB962C8B-B14F-4D97-AF65-F5344CB8AC3E}">
        <p14:creationId xmlns:p14="http://schemas.microsoft.com/office/powerpoint/2010/main" val="2985411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3. Các cách tiếp cận trong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Vòng đời phát triển hệ thống thông tin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rgbClr val="FF0066"/>
                </a:solidFill>
                <a:latin typeface="Calibri" pitchFamily="34" charset="0"/>
                <a:cs typeface="Calibri" pitchFamily="34" charset="0"/>
              </a:rPr>
              <a:t>Tiếp cận hướng tiến trình nghiệp vụ:</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800">
                <a:solidFill>
                  <a:schemeClr val="accent2">
                    <a:lumMod val="50000"/>
                  </a:schemeClr>
                </a:solidFill>
                <a:latin typeface="Calibri" pitchFamily="34" charset="0"/>
                <a:cs typeface="Calibri" pitchFamily="34" charset="0"/>
              </a:rPr>
              <a:t>L</a:t>
            </a:r>
            <a:r>
              <a:rPr lang="en-US" sz="1800" smtClean="0">
                <a:solidFill>
                  <a:schemeClr val="accent2">
                    <a:lumMod val="50000"/>
                  </a:schemeClr>
                </a:solidFill>
                <a:latin typeface="Calibri" pitchFamily="34" charset="0"/>
                <a:cs typeface="Calibri" pitchFamily="34" charset="0"/>
              </a:rPr>
              <a:t>à </a:t>
            </a:r>
            <a:r>
              <a:rPr lang="en-US" sz="1800">
                <a:solidFill>
                  <a:schemeClr val="accent2">
                    <a:lumMod val="50000"/>
                  </a:schemeClr>
                </a:solidFill>
                <a:latin typeface="Calibri" pitchFamily="34" charset="0"/>
                <a:cs typeface="Calibri" pitchFamily="34" charset="0"/>
              </a:rPr>
              <a:t>một xu hướng gần đây trong phát triển các hệ thống thông </a:t>
            </a:r>
            <a:r>
              <a:rPr lang="en-US" sz="1800" smtClean="0">
                <a:solidFill>
                  <a:schemeClr val="accent2">
                    <a:lumMod val="50000"/>
                  </a:schemeClr>
                </a:solidFill>
                <a:latin typeface="Calibri" pitchFamily="34" charset="0"/>
                <a:cs typeface="Calibri" pitchFamily="34" charset="0"/>
              </a:rPr>
              <a:t>tin, cách tiếp cận này </a:t>
            </a:r>
            <a:r>
              <a:rPr lang="en-US" sz="1800">
                <a:solidFill>
                  <a:schemeClr val="accent2">
                    <a:lumMod val="50000"/>
                  </a:schemeClr>
                </a:solidFill>
                <a:latin typeface="Calibri" pitchFamily="34" charset="0"/>
                <a:cs typeface="Calibri" pitchFamily="34" charset="0"/>
              </a:rPr>
              <a:t>thiết lập một môi trường phát triển cho phép bộ phận nghiệp vụ và bộ phận công nghệ cùng làm việc trên một mô hình </a:t>
            </a:r>
            <a:r>
              <a:rPr lang="en-US" sz="1800" smtClean="0">
                <a:solidFill>
                  <a:schemeClr val="accent2">
                    <a:lumMod val="50000"/>
                  </a:schemeClr>
                </a:solidFill>
                <a:latin typeface="Calibri" pitchFamily="34" charset="0"/>
                <a:cs typeface="Calibri" pitchFamily="34" charset="0"/>
              </a:rPr>
              <a:t>để chia </a:t>
            </a:r>
            <a:r>
              <a:rPr lang="en-US" sz="1800">
                <a:solidFill>
                  <a:schemeClr val="accent2">
                    <a:lumMod val="50000"/>
                  </a:schemeClr>
                </a:solidFill>
                <a:latin typeface="Calibri" pitchFamily="34" charset="0"/>
                <a:cs typeface="Calibri" pitchFamily="34" charset="0"/>
              </a:rPr>
              <a:t>sẻ, xây dựng và điều chỉnh các tiến trình nghiệp vụ. </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Các </a:t>
            </a:r>
            <a:r>
              <a:rPr lang="en-US" sz="1800">
                <a:solidFill>
                  <a:schemeClr val="accent2">
                    <a:lumMod val="50000"/>
                  </a:schemeClr>
                </a:solidFill>
                <a:latin typeface="Calibri" pitchFamily="34" charset="0"/>
                <a:cs typeface="Calibri" pitchFamily="34" charset="0"/>
              </a:rPr>
              <a:t>công cụ phát triển theo định hướng tiến trình cung cấp khả năng mô hình hóa tiến trình, tích hợp, giám sát hoạt động của tiến trình, phát triển các ứng dụng và quản lý báo cáo. Tất cả những chức năng này làm việc cùng nhau để chuyển các yêu cầu nghiệp vụ thành các hệ </a:t>
            </a:r>
            <a:r>
              <a:rPr lang="en-US" sz="1800" smtClean="0">
                <a:solidFill>
                  <a:schemeClr val="accent2">
                    <a:lumMod val="50000"/>
                  </a:schemeClr>
                </a:solidFill>
                <a:latin typeface="Calibri" pitchFamily="34" charset="0"/>
                <a:cs typeface="Calibri" pitchFamily="34" charset="0"/>
              </a:rPr>
              <a:t>thống </a:t>
            </a:r>
            <a:r>
              <a:rPr lang="en-US" sz="1800">
                <a:solidFill>
                  <a:schemeClr val="accent2">
                    <a:lumMod val="50000"/>
                  </a:schemeClr>
                </a:solidFill>
                <a:latin typeface="Calibri" pitchFamily="34" charset="0"/>
                <a:cs typeface="Calibri" pitchFamily="34" charset="0"/>
              </a:rPr>
              <a:t>hỗ trợ nghiệp vụ một cách nhanh chóng.</a:t>
            </a:r>
            <a:r>
              <a:rPr lang="en-US" sz="1800"/>
              <a:t> </a:t>
            </a:r>
            <a:endParaRPr lang="en-US" sz="1800" smtClean="0"/>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Trong cách tiếp cận này khái niệm </a:t>
            </a:r>
            <a:r>
              <a:rPr lang="en-US" sz="1800">
                <a:solidFill>
                  <a:schemeClr val="accent2">
                    <a:lumMod val="50000"/>
                  </a:schemeClr>
                </a:solidFill>
                <a:latin typeface="Calibri" pitchFamily="34" charset="0"/>
                <a:cs typeface="Calibri" pitchFamily="34" charset="0"/>
              </a:rPr>
              <a:t>"lập trình" được thay bằng khái niệm "mô hình </a:t>
            </a:r>
            <a:r>
              <a:rPr lang="en-US" sz="1800" smtClean="0">
                <a:solidFill>
                  <a:schemeClr val="accent2">
                    <a:lumMod val="50000"/>
                  </a:schemeClr>
                </a:solidFill>
                <a:latin typeface="Calibri" pitchFamily="34" charset="0"/>
                <a:cs typeface="Calibri" pitchFamily="34" charset="0"/>
              </a:rPr>
              <a:t>hoá“, ngôn </a:t>
            </a:r>
            <a:r>
              <a:rPr lang="en-US" sz="1800">
                <a:solidFill>
                  <a:schemeClr val="accent2">
                    <a:lumMod val="50000"/>
                  </a:schemeClr>
                </a:solidFill>
                <a:latin typeface="Calibri" pitchFamily="34" charset="0"/>
                <a:cs typeface="Calibri" pitchFamily="34" charset="0"/>
              </a:rPr>
              <a:t>ngữ “lập trình” được thay thế bằng ngôn ngữ "mô hình hoá" như BPMN, BPEL (BPMN: Business Process Management Notation; BPEL: Business Process Execution Language</a:t>
            </a:r>
            <a:r>
              <a:rPr lang="en-US" sz="1800" smtClean="0">
                <a:solidFill>
                  <a:schemeClr val="accent2">
                    <a:lumMod val="50000"/>
                  </a:schemeClr>
                </a:solidFill>
                <a:latin typeface="Calibri" pitchFamily="34" charset="0"/>
                <a:cs typeface="Calibri" pitchFamily="34" charset="0"/>
              </a:rPr>
              <a:t>), các </a:t>
            </a:r>
            <a:r>
              <a:rPr lang="en-US" sz="1800">
                <a:solidFill>
                  <a:schemeClr val="accent2">
                    <a:lumMod val="50000"/>
                  </a:schemeClr>
                </a:solidFill>
                <a:latin typeface="Calibri" pitchFamily="34" charset="0"/>
                <a:cs typeface="Calibri" pitchFamily="34" charset="0"/>
              </a:rPr>
              <a:t>ngôn ngữ phát </a:t>
            </a:r>
            <a:r>
              <a:rPr lang="en-US" sz="1800" smtClean="0">
                <a:solidFill>
                  <a:schemeClr val="accent2">
                    <a:lumMod val="50000"/>
                  </a:schemeClr>
                </a:solidFill>
                <a:latin typeface="Calibri" pitchFamily="34" charset="0"/>
                <a:cs typeface="Calibri" pitchFamily="34" charset="0"/>
              </a:rPr>
              <a:t>triển </a:t>
            </a:r>
            <a:r>
              <a:rPr lang="en-US" sz="1800">
                <a:solidFill>
                  <a:schemeClr val="accent2">
                    <a:lumMod val="50000"/>
                  </a:schemeClr>
                </a:solidFill>
                <a:latin typeface="Calibri" pitchFamily="34" charset="0"/>
                <a:cs typeface="Calibri" pitchFamily="34" charset="0"/>
              </a:rPr>
              <a:t>thay vì </a:t>
            </a:r>
            <a:r>
              <a:rPr lang="en-US" sz="1800" smtClean="0">
                <a:solidFill>
                  <a:schemeClr val="accent2">
                    <a:lumMod val="50000"/>
                  </a:schemeClr>
                </a:solidFill>
                <a:latin typeface="Calibri" pitchFamily="34" charset="0"/>
                <a:cs typeface="Calibri" pitchFamily="34" charset="0"/>
              </a:rPr>
              <a:t>việc sử dụng các </a:t>
            </a:r>
            <a:r>
              <a:rPr lang="en-US" sz="1800">
                <a:solidFill>
                  <a:schemeClr val="accent2">
                    <a:lumMod val="50000"/>
                  </a:schemeClr>
                </a:solidFill>
                <a:latin typeface="Calibri" pitchFamily="34" charset="0"/>
                <a:cs typeface="Calibri" pitchFamily="34" charset="0"/>
              </a:rPr>
              <a:t>từ khoá bằng </a:t>
            </a:r>
            <a:r>
              <a:rPr lang="en-US" sz="1800" smtClean="0">
                <a:solidFill>
                  <a:schemeClr val="accent2">
                    <a:lumMod val="50000"/>
                  </a:schemeClr>
                </a:solidFill>
                <a:latin typeface="Calibri" pitchFamily="34" charset="0"/>
                <a:cs typeface="Calibri" pitchFamily="34" charset="0"/>
              </a:rPr>
              <a:t>cách sử dụng các </a:t>
            </a:r>
            <a:r>
              <a:rPr lang="en-US" sz="1800">
                <a:solidFill>
                  <a:schemeClr val="accent2">
                    <a:lumMod val="50000"/>
                  </a:schemeClr>
                </a:solidFill>
                <a:latin typeface="Calibri" pitchFamily="34" charset="0"/>
                <a:cs typeface="Calibri" pitchFamily="34" charset="0"/>
              </a:rPr>
              <a:t>kí pháp đồ </a:t>
            </a:r>
            <a:r>
              <a:rPr lang="en-US" sz="1800" smtClean="0">
                <a:solidFill>
                  <a:schemeClr val="accent2">
                    <a:lumMod val="50000"/>
                  </a:schemeClr>
                </a:solidFill>
                <a:latin typeface="Calibri" pitchFamily="34" charset="0"/>
                <a:cs typeface="Calibri" pitchFamily="34" charset="0"/>
              </a:rPr>
              <a:t>họa, </a:t>
            </a:r>
            <a:r>
              <a:rPr lang="en-US" sz="1800">
                <a:solidFill>
                  <a:schemeClr val="accent2">
                    <a:lumMod val="50000"/>
                  </a:schemeClr>
                </a:solidFill>
                <a:latin typeface="Calibri" pitchFamily="34" charset="0"/>
                <a:cs typeface="Calibri" pitchFamily="34" charset="0"/>
              </a:rPr>
              <a:t>c</a:t>
            </a:r>
            <a:r>
              <a:rPr lang="en-US" sz="1800" smtClean="0">
                <a:solidFill>
                  <a:schemeClr val="accent2">
                    <a:lumMod val="50000"/>
                  </a:schemeClr>
                </a:solidFill>
                <a:latin typeface="Calibri" pitchFamily="34" charset="0"/>
                <a:cs typeface="Calibri" pitchFamily="34" charset="0"/>
              </a:rPr>
              <a:t>ách </a:t>
            </a:r>
            <a:r>
              <a:rPr lang="en-US" sz="1800">
                <a:solidFill>
                  <a:schemeClr val="accent2">
                    <a:lumMod val="50000"/>
                  </a:schemeClr>
                </a:solidFill>
                <a:latin typeface="Calibri" pitchFamily="34" charset="0"/>
                <a:cs typeface="Calibri" pitchFamily="34" charset="0"/>
              </a:rPr>
              <a:t>mô hình hoá giống việc thiết kế kiến trúc hơn là cách viết từng dòng </a:t>
            </a:r>
            <a:r>
              <a:rPr lang="en-US" sz="1800" smtClean="0">
                <a:solidFill>
                  <a:schemeClr val="accent2">
                    <a:lumMod val="50000"/>
                  </a:schemeClr>
                </a:solidFill>
                <a:latin typeface="Calibri" pitchFamily="34" charset="0"/>
                <a:cs typeface="Calibri" pitchFamily="34" charset="0"/>
              </a:rPr>
              <a:t>lệnh.</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11</a:t>
            </a:fld>
            <a:endParaRPr lang="vi-VN"/>
          </a:p>
        </p:txBody>
      </p:sp>
      <p:sp>
        <p:nvSpPr>
          <p:cNvPr id="9" name="Title 1"/>
          <p:cNvSpPr txBox="1">
            <a:spLocks/>
          </p:cNvSpPr>
          <p:nvPr/>
        </p:nvSpPr>
        <p:spPr>
          <a:xfrm>
            <a:off x="6914060" y="0"/>
            <a:ext cx="3384000" cy="1260000"/>
          </a:xfrm>
          <a:prstGeom prst="rect">
            <a:avLst/>
          </a:prstGeom>
          <a:solidFill>
            <a:schemeClr val="accent1">
              <a:lumMod val="75000"/>
            </a:schemeClr>
          </a:solidFill>
        </p:spPr>
        <p:txBody>
          <a:bodyPr vert="horz" lIns="104104" tIns="52052" rIns="104104" bIns="52052" rtlCol="0" anchor="ctr">
            <a:normAutofit lnSpcReduction="1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Hướng tiến trình</a:t>
            </a:r>
          </a:p>
          <a:p>
            <a:pPr algn="just"/>
            <a:r>
              <a:rPr lang="en-US" sz="1600">
                <a:solidFill>
                  <a:schemeClr val="tx2"/>
                </a:solidFill>
                <a:latin typeface="+mn-lt"/>
                <a:cs typeface="Arial" pitchFamily="34" charset="0"/>
              </a:rPr>
              <a:t>2. Hướng dữ liệu</a:t>
            </a:r>
          </a:p>
          <a:p>
            <a:pPr algn="just"/>
            <a:r>
              <a:rPr lang="en-US" sz="1600">
                <a:solidFill>
                  <a:schemeClr val="tx2"/>
                </a:solidFill>
                <a:latin typeface="+mn-lt"/>
                <a:cs typeface="Arial" pitchFamily="34" charset="0"/>
              </a:rPr>
              <a:t>3. Hướng cấu trúc</a:t>
            </a:r>
          </a:p>
          <a:p>
            <a:pPr algn="just"/>
            <a:r>
              <a:rPr lang="en-US" sz="1600">
                <a:solidFill>
                  <a:schemeClr val="tx2"/>
                </a:solidFill>
                <a:latin typeface="+mn-lt"/>
                <a:cs typeface="Arial" pitchFamily="34" charset="0"/>
              </a:rPr>
              <a:t>4. Hướng đối tượng</a:t>
            </a:r>
          </a:p>
          <a:p>
            <a:pPr algn="just"/>
            <a:r>
              <a:rPr lang="en-US" sz="1600" b="1">
                <a:solidFill>
                  <a:schemeClr val="accent6">
                    <a:lumMod val="75000"/>
                  </a:schemeClr>
                </a:solidFill>
                <a:latin typeface="+mn-lt"/>
                <a:cs typeface="Arial" pitchFamily="34" charset="0"/>
              </a:rPr>
              <a:t>5. Hướng tiến trình nghiệp vụ</a:t>
            </a:r>
          </a:p>
        </p:txBody>
      </p:sp>
    </p:spTree>
    <p:extLst>
      <p:ext uri="{BB962C8B-B14F-4D97-AF65-F5344CB8AC3E}">
        <p14:creationId xmlns:p14="http://schemas.microsoft.com/office/powerpoint/2010/main" val="41125693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400"/>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Phát </a:t>
            </a:r>
            <a:r>
              <a:rPr lang="vi-VN" sz="2000">
                <a:solidFill>
                  <a:schemeClr val="accent2">
                    <a:lumMod val="50000"/>
                  </a:schemeClr>
                </a:solidFill>
                <a:latin typeface="Calibri" pitchFamily="34" charset="0"/>
                <a:cs typeface="Calibri" pitchFamily="34" charset="0"/>
              </a:rPr>
              <a:t>triển hệ thống</a:t>
            </a:r>
            <a:r>
              <a:rPr lang="vi-VN" sz="2000" i="1">
                <a:solidFill>
                  <a:schemeClr val="accent2">
                    <a:lumMod val="50000"/>
                  </a:schemeClr>
                </a:solidFill>
                <a:latin typeface="Calibri" pitchFamily="34" charset="0"/>
                <a:cs typeface="Calibri" pitchFamily="34" charset="0"/>
              </a:rPr>
              <a:t> </a:t>
            </a:r>
            <a:r>
              <a:rPr lang="vi-VN" sz="2000" smtClean="0">
                <a:solidFill>
                  <a:schemeClr val="accent2">
                    <a:lumMod val="50000"/>
                  </a:schemeClr>
                </a:solidFill>
                <a:latin typeface="Calibri" pitchFamily="34" charset="0"/>
                <a:cs typeface="Calibri" pitchFamily="34" charset="0"/>
              </a:rPr>
              <a:t>bao gồm một loạt các hoạt động cần phải thực hiện để xây dựng lên một hệ thống thông tin cho một tổ chức</a:t>
            </a:r>
            <a:r>
              <a:rPr lang="vi-VN" sz="2000" i="1" smtClean="0">
                <a:solidFill>
                  <a:schemeClr val="accent2">
                    <a:lumMod val="50000"/>
                  </a:schemeClr>
                </a:solidFill>
                <a:latin typeface="Calibri" pitchFamily="34" charset="0"/>
                <a:cs typeface="Calibri" pitchFamily="34" charset="0"/>
              </a:rPr>
              <a:t>. </a:t>
            </a:r>
          </a:p>
          <a:p>
            <a:pPr algn="just">
              <a:spcAft>
                <a:spcPts val="400"/>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Quá trình </a:t>
            </a:r>
            <a:r>
              <a:rPr lang="vi-VN" sz="2000">
                <a:solidFill>
                  <a:schemeClr val="accent2">
                    <a:lumMod val="50000"/>
                  </a:schemeClr>
                </a:solidFill>
                <a:latin typeface="Calibri" pitchFamily="34" charset="0"/>
                <a:cs typeface="Calibri" pitchFamily="34" charset="0"/>
              </a:rPr>
              <a:t>phát triển </a:t>
            </a:r>
            <a:r>
              <a:rPr lang="vi-VN" sz="2000" smtClean="0">
                <a:solidFill>
                  <a:schemeClr val="accent2">
                    <a:lumMod val="50000"/>
                  </a:schemeClr>
                </a:solidFill>
                <a:latin typeface="Calibri" pitchFamily="34" charset="0"/>
                <a:cs typeface="Calibri" pitchFamily="34" charset="0"/>
              </a:rPr>
              <a:t>hệ thống thông tin </a:t>
            </a:r>
            <a:r>
              <a:rPr lang="vi-VN" sz="2000">
                <a:solidFill>
                  <a:schemeClr val="accent2">
                    <a:lumMod val="50000"/>
                  </a:schemeClr>
                </a:solidFill>
                <a:latin typeface="Calibri" pitchFamily="34" charset="0"/>
                <a:cs typeface="Calibri" pitchFamily="34" charset="0"/>
              </a:rPr>
              <a:t>kể từ lúc </a:t>
            </a:r>
            <a:r>
              <a:rPr lang="vi-VN" sz="2000" smtClean="0">
                <a:solidFill>
                  <a:schemeClr val="accent2">
                    <a:lumMod val="50000"/>
                  </a:schemeClr>
                </a:solidFill>
                <a:latin typeface="Calibri" pitchFamily="34" charset="0"/>
                <a:cs typeface="Calibri" pitchFamily="34" charset="0"/>
              </a:rPr>
              <a:t>sinh </a:t>
            </a:r>
            <a:r>
              <a:rPr lang="vi-VN" sz="2000">
                <a:solidFill>
                  <a:schemeClr val="accent2">
                    <a:lumMod val="50000"/>
                  </a:schemeClr>
                </a:solidFill>
                <a:latin typeface="Calibri" pitchFamily="34" charset="0"/>
                <a:cs typeface="Calibri" pitchFamily="34" charset="0"/>
              </a:rPr>
              <a:t>ra đến khi </a:t>
            </a:r>
            <a:r>
              <a:rPr lang="vi-VN" sz="2000" smtClean="0">
                <a:solidFill>
                  <a:schemeClr val="accent2">
                    <a:lumMod val="50000"/>
                  </a:schemeClr>
                </a:solidFill>
                <a:latin typeface="Calibri" pitchFamily="34" charset="0"/>
                <a:cs typeface="Calibri" pitchFamily="34" charset="0"/>
              </a:rPr>
              <a:t>kết thúc </a:t>
            </a:r>
            <a:r>
              <a:rPr lang="vi-VN" sz="2000">
                <a:solidFill>
                  <a:schemeClr val="accent2">
                    <a:lumMod val="50000"/>
                  </a:schemeClr>
                </a:solidFill>
                <a:latin typeface="Calibri" pitchFamily="34" charset="0"/>
                <a:cs typeface="Calibri" pitchFamily="34" charset="0"/>
              </a:rPr>
              <a:t>được gọi </a:t>
            </a:r>
            <a:r>
              <a:rPr lang="vi-VN" sz="2000" smtClean="0">
                <a:solidFill>
                  <a:schemeClr val="accent2">
                    <a:lumMod val="50000"/>
                  </a:schemeClr>
                </a:solidFill>
                <a:latin typeface="Calibri" pitchFamily="34" charset="0"/>
                <a:cs typeface="Calibri" pitchFamily="34" charset="0"/>
              </a:rPr>
              <a:t>là </a:t>
            </a:r>
            <a:r>
              <a:rPr lang="vi-VN" sz="2000" i="1" smtClean="0">
                <a:solidFill>
                  <a:schemeClr val="accent2">
                    <a:lumMod val="50000"/>
                  </a:schemeClr>
                </a:solidFill>
                <a:latin typeface="Calibri" pitchFamily="34" charset="0"/>
                <a:cs typeface="Calibri" pitchFamily="34" charset="0"/>
              </a:rPr>
              <a:t>vòng</a:t>
            </a:r>
            <a:r>
              <a:rPr lang="vi-VN" sz="2000" i="1">
                <a:solidFill>
                  <a:schemeClr val="accent2">
                    <a:lumMod val="50000"/>
                  </a:schemeClr>
                </a:solidFill>
                <a:latin typeface="Calibri" pitchFamily="34" charset="0"/>
                <a:cs typeface="Calibri" pitchFamily="34" charset="0"/>
              </a:rPr>
              <a:t> </a:t>
            </a:r>
            <a:r>
              <a:rPr lang="vi-VN" sz="2000" i="1" smtClean="0">
                <a:solidFill>
                  <a:schemeClr val="accent2">
                    <a:lumMod val="50000"/>
                  </a:schemeClr>
                </a:solidFill>
                <a:latin typeface="Calibri" pitchFamily="34" charset="0"/>
                <a:cs typeface="Calibri" pitchFamily="34" charset="0"/>
              </a:rPr>
              <a:t>đời </a:t>
            </a:r>
            <a:r>
              <a:rPr lang="vi-VN" sz="2000" i="1">
                <a:solidFill>
                  <a:schemeClr val="accent2">
                    <a:lumMod val="50000"/>
                  </a:schemeClr>
                </a:solidFill>
                <a:latin typeface="Calibri" pitchFamily="34" charset="0"/>
                <a:cs typeface="Calibri" pitchFamily="34" charset="0"/>
              </a:rPr>
              <a:t>phát triển hệ thống </a:t>
            </a:r>
            <a:r>
              <a:rPr lang="vi-VN" sz="2000" i="1" smtClean="0">
                <a:solidFill>
                  <a:schemeClr val="accent2">
                    <a:lumMod val="50000"/>
                  </a:schemeClr>
                </a:solidFill>
                <a:latin typeface="Calibri" pitchFamily="34" charset="0"/>
                <a:cs typeface="Calibri" pitchFamily="34" charset="0"/>
              </a:rPr>
              <a:t>- Systems Development </a:t>
            </a:r>
            <a:r>
              <a:rPr lang="vi-VN" sz="2000" i="1">
                <a:solidFill>
                  <a:schemeClr val="accent2">
                    <a:lumMod val="50000"/>
                  </a:schemeClr>
                </a:solidFill>
                <a:latin typeface="Calibri" pitchFamily="34" charset="0"/>
                <a:cs typeface="Calibri" pitchFamily="34" charset="0"/>
              </a:rPr>
              <a:t>Life </a:t>
            </a:r>
            <a:r>
              <a:rPr lang="vi-VN" sz="2000" i="1" smtClean="0">
                <a:solidFill>
                  <a:schemeClr val="accent2">
                    <a:lumMod val="50000"/>
                  </a:schemeClr>
                </a:solidFill>
                <a:latin typeface="Calibri" pitchFamily="34" charset="0"/>
                <a:cs typeface="Calibri" pitchFamily="34" charset="0"/>
              </a:rPr>
              <a:t>Cycle (SDLC)</a:t>
            </a:r>
            <a:r>
              <a:rPr lang="vi-VN" sz="2000" smtClean="0">
                <a:solidFill>
                  <a:schemeClr val="accent2">
                    <a:lumMod val="50000"/>
                  </a:schemeClr>
                </a:solidFill>
                <a:latin typeface="Calibri" pitchFamily="34" charset="0"/>
                <a:cs typeface="Calibri" pitchFamily="34" charset="0"/>
              </a:rPr>
              <a:t>. </a:t>
            </a:r>
          </a:p>
          <a:p>
            <a:pPr lvl="1" algn="just">
              <a:spcAft>
                <a:spcPts val="400"/>
              </a:spcAft>
              <a:buClr>
                <a:srgbClr val="FF0066"/>
              </a:buClr>
              <a:buFont typeface="Symbol" pitchFamily="18" charset="2"/>
              <a:buChar char="¨"/>
            </a:pPr>
            <a:r>
              <a:rPr lang="vi-VN" sz="1800">
                <a:solidFill>
                  <a:schemeClr val="accent2">
                    <a:lumMod val="50000"/>
                  </a:schemeClr>
                </a:solidFill>
                <a:latin typeface="Calibri" pitchFamily="34" charset="0"/>
                <a:cs typeface="Calibri" pitchFamily="34" charset="0"/>
              </a:rPr>
              <a:t>P</a:t>
            </a:r>
            <a:r>
              <a:rPr lang="vi-VN" sz="1800" smtClean="0">
                <a:solidFill>
                  <a:schemeClr val="accent2">
                    <a:lumMod val="50000"/>
                  </a:schemeClr>
                </a:solidFill>
                <a:latin typeface="Calibri" pitchFamily="34" charset="0"/>
                <a:cs typeface="Calibri" pitchFamily="34" charset="0"/>
              </a:rPr>
              <a:t>hát triển HTTT cũng giống như phát triển một sản </a:t>
            </a:r>
            <a:r>
              <a:rPr lang="vi-VN" sz="1800">
                <a:solidFill>
                  <a:schemeClr val="accent2">
                    <a:lumMod val="50000"/>
                  </a:schemeClr>
                </a:solidFill>
                <a:latin typeface="Calibri" pitchFamily="34" charset="0"/>
                <a:cs typeface="Calibri" pitchFamily="34" charset="0"/>
              </a:rPr>
              <a:t>phẩm thương </a:t>
            </a:r>
            <a:r>
              <a:rPr lang="vi-VN" sz="1800" smtClean="0">
                <a:solidFill>
                  <a:schemeClr val="accent2">
                    <a:lumMod val="50000"/>
                  </a:schemeClr>
                </a:solidFill>
                <a:latin typeface="Calibri" pitchFamily="34" charset="0"/>
                <a:cs typeface="Calibri" pitchFamily="34" charset="0"/>
              </a:rPr>
              <a:t>mại phải tuân theo một chu kỳ phát triển, ví dụ chu kỳ phát triển của một </a:t>
            </a:r>
            <a:r>
              <a:rPr lang="vi-VN" sz="1800">
                <a:solidFill>
                  <a:schemeClr val="accent2">
                    <a:lumMod val="50000"/>
                  </a:schemeClr>
                </a:solidFill>
                <a:latin typeface="Calibri" pitchFamily="34" charset="0"/>
                <a:cs typeface="Calibri" pitchFamily="34" charset="0"/>
              </a:rPr>
              <a:t>chiếc </a:t>
            </a:r>
            <a:r>
              <a:rPr lang="vi-VN" sz="1800" smtClean="0">
                <a:solidFill>
                  <a:schemeClr val="accent2">
                    <a:lumMod val="50000"/>
                  </a:schemeClr>
                </a:solidFill>
                <a:latin typeface="Calibri" pitchFamily="34" charset="0"/>
                <a:cs typeface="Calibri" pitchFamily="34" charset="0"/>
              </a:rPr>
              <a:t>xe ô tô Honda gồm: Tạo mới, </a:t>
            </a:r>
            <a:r>
              <a:rPr lang="vi-VN" sz="1800">
                <a:solidFill>
                  <a:schemeClr val="accent2">
                    <a:lumMod val="50000"/>
                  </a:schemeClr>
                </a:solidFill>
                <a:latin typeface="Calibri" pitchFamily="34" charset="0"/>
                <a:cs typeface="Calibri" pitchFamily="34" charset="0"/>
              </a:rPr>
              <a:t>thử </a:t>
            </a:r>
            <a:r>
              <a:rPr lang="vi-VN" sz="1800" smtClean="0">
                <a:solidFill>
                  <a:schemeClr val="accent2">
                    <a:lumMod val="50000"/>
                  </a:schemeClr>
                </a:solidFill>
                <a:latin typeface="Calibri" pitchFamily="34" charset="0"/>
                <a:cs typeface="Calibri" pitchFamily="34" charset="0"/>
              </a:rPr>
              <a:t>nghiệm </a:t>
            </a:r>
            <a:r>
              <a:rPr lang="vi-VN" sz="1800">
                <a:solidFill>
                  <a:schemeClr val="accent2">
                    <a:lumMod val="50000"/>
                  </a:schemeClr>
                </a:solidFill>
                <a:latin typeface="Calibri" pitchFamily="34" charset="0"/>
                <a:cs typeface="Calibri" pitchFamily="34" charset="0"/>
              </a:rPr>
              <a:t>và đưa ra thị trường. </a:t>
            </a:r>
            <a:r>
              <a:rPr lang="vi-VN" sz="1800" smtClean="0">
                <a:solidFill>
                  <a:schemeClr val="accent2">
                    <a:lumMod val="50000"/>
                  </a:schemeClr>
                </a:solidFill>
                <a:latin typeface="Calibri" pitchFamily="34" charset="0"/>
                <a:cs typeface="Calibri" pitchFamily="34" charset="0"/>
              </a:rPr>
              <a:t>Doanh thu bán hàng sẽ tăng, tăng lên đỉnh cao </a:t>
            </a:r>
            <a:r>
              <a:rPr lang="vi-VN" sz="1800">
                <a:solidFill>
                  <a:schemeClr val="accent2">
                    <a:lumMod val="50000"/>
                  </a:schemeClr>
                </a:solidFill>
                <a:latin typeface="Calibri" pitchFamily="34" charset="0"/>
                <a:cs typeface="Calibri" pitchFamily="34" charset="0"/>
              </a:rPr>
              <a:t>và suy giảm. Cuối cùng, </a:t>
            </a:r>
            <a:r>
              <a:rPr lang="vi-VN" sz="1800" smtClean="0">
                <a:solidFill>
                  <a:schemeClr val="accent2">
                    <a:lumMod val="50000"/>
                  </a:schemeClr>
                </a:solidFill>
                <a:latin typeface="Calibri" pitchFamily="34" charset="0"/>
                <a:cs typeface="Calibri" pitchFamily="34" charset="0"/>
              </a:rPr>
              <a:t>sản </a:t>
            </a:r>
            <a:r>
              <a:rPr lang="vi-VN" sz="1800">
                <a:solidFill>
                  <a:schemeClr val="accent2">
                    <a:lumMod val="50000"/>
                  </a:schemeClr>
                </a:solidFill>
                <a:latin typeface="Calibri" pitchFamily="34" charset="0"/>
                <a:cs typeface="Calibri" pitchFamily="34" charset="0"/>
              </a:rPr>
              <a:t>phẩm được lấy ra khỏi thị trường và được thay thế bởi một </a:t>
            </a:r>
            <a:r>
              <a:rPr lang="vi-VN" sz="1800" smtClean="0">
                <a:solidFill>
                  <a:schemeClr val="accent2">
                    <a:lumMod val="50000"/>
                  </a:schemeClr>
                </a:solidFill>
                <a:latin typeface="Calibri" pitchFamily="34" charset="0"/>
                <a:cs typeface="Calibri" pitchFamily="34" charset="0"/>
              </a:rPr>
              <a:t>sản phẩm </a:t>
            </a:r>
            <a:r>
              <a:rPr lang="vi-VN" sz="1800">
                <a:solidFill>
                  <a:schemeClr val="accent2">
                    <a:lumMod val="50000"/>
                  </a:schemeClr>
                </a:solidFill>
                <a:latin typeface="Calibri" pitchFamily="34" charset="0"/>
                <a:cs typeface="Calibri" pitchFamily="34" charset="0"/>
              </a:rPr>
              <a:t>khác. </a:t>
            </a:r>
            <a:endParaRPr lang="vi-VN" sz="1800" smtClean="0">
              <a:solidFill>
                <a:schemeClr val="accent2">
                  <a:lumMod val="50000"/>
                </a:schemeClr>
              </a:solidFill>
              <a:latin typeface="Calibri" pitchFamily="34" charset="0"/>
              <a:cs typeface="Calibri" pitchFamily="34" charset="0"/>
            </a:endParaRPr>
          </a:p>
          <a:p>
            <a:pPr lvl="1" algn="just">
              <a:spcAft>
                <a:spcPts val="400"/>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Vòng </a:t>
            </a:r>
            <a:r>
              <a:rPr lang="vi-VN" sz="1800">
                <a:solidFill>
                  <a:schemeClr val="accent2">
                    <a:lumMod val="50000"/>
                  </a:schemeClr>
                </a:solidFill>
                <a:latin typeface="Calibri" pitchFamily="34" charset="0"/>
                <a:cs typeface="Calibri" pitchFamily="34" charset="0"/>
              </a:rPr>
              <a:t>đời phát triển </a:t>
            </a:r>
            <a:r>
              <a:rPr lang="vi-VN" sz="1800" smtClean="0">
                <a:solidFill>
                  <a:schemeClr val="accent2">
                    <a:lumMod val="50000"/>
                  </a:schemeClr>
                </a:solidFill>
                <a:latin typeface="Calibri" pitchFamily="34" charset="0"/>
                <a:cs typeface="Calibri" pitchFamily="34" charset="0"/>
              </a:rPr>
              <a:t>HTTT bao gồm: Lên ý tưởng về hệ thống và mục đích của nó, nghiên </a:t>
            </a:r>
            <a:r>
              <a:rPr lang="vi-VN" sz="1800">
                <a:solidFill>
                  <a:schemeClr val="accent2">
                    <a:lumMod val="50000"/>
                  </a:schemeClr>
                </a:solidFill>
                <a:latin typeface="Calibri" pitchFamily="34" charset="0"/>
                <a:cs typeface="Calibri" pitchFamily="34" charset="0"/>
              </a:rPr>
              <a:t>cứu </a:t>
            </a:r>
            <a:r>
              <a:rPr lang="vi-VN" sz="1800" smtClean="0">
                <a:solidFill>
                  <a:schemeClr val="accent2">
                    <a:lumMod val="50000"/>
                  </a:schemeClr>
                </a:solidFill>
                <a:latin typeface="Calibri" pitchFamily="34" charset="0"/>
                <a:cs typeface="Calibri" pitchFamily="34" charset="0"/>
              </a:rPr>
              <a:t>kỹ lưỡng các </a:t>
            </a:r>
            <a:r>
              <a:rPr lang="vi-VN" sz="1800">
                <a:solidFill>
                  <a:schemeClr val="accent2">
                    <a:lumMod val="50000"/>
                  </a:schemeClr>
                </a:solidFill>
                <a:latin typeface="Calibri" pitchFamily="34" charset="0"/>
                <a:cs typeface="Calibri" pitchFamily="34" charset="0"/>
              </a:rPr>
              <a:t>công việc hệ thống </a:t>
            </a:r>
            <a:r>
              <a:rPr lang="vi-VN" sz="1800" smtClean="0">
                <a:solidFill>
                  <a:schemeClr val="accent2">
                    <a:lumMod val="50000"/>
                  </a:schemeClr>
                </a:solidFill>
                <a:latin typeface="Calibri" pitchFamily="34" charset="0"/>
                <a:cs typeface="Calibri" pitchFamily="34" charset="0"/>
              </a:rPr>
              <a:t>thực đang xử lý, thiết </a:t>
            </a:r>
            <a:r>
              <a:rPr lang="vi-VN" sz="1800">
                <a:solidFill>
                  <a:schemeClr val="accent2">
                    <a:lumMod val="50000"/>
                  </a:schemeClr>
                </a:solidFill>
                <a:latin typeface="Calibri" pitchFamily="34" charset="0"/>
                <a:cs typeface="Calibri" pitchFamily="34" charset="0"/>
              </a:rPr>
              <a:t>kế </a:t>
            </a:r>
            <a:r>
              <a:rPr lang="vi-VN" sz="1800" smtClean="0">
                <a:solidFill>
                  <a:schemeClr val="accent2">
                    <a:lumMod val="50000"/>
                  </a:schemeClr>
                </a:solidFill>
                <a:latin typeface="Calibri" pitchFamily="34" charset="0"/>
                <a:cs typeface="Calibri" pitchFamily="34" charset="0"/>
              </a:rPr>
              <a:t>hệ </a:t>
            </a:r>
            <a:r>
              <a:rPr lang="vi-VN" sz="1800">
                <a:solidFill>
                  <a:schemeClr val="accent2">
                    <a:lumMod val="50000"/>
                  </a:schemeClr>
                </a:solidFill>
                <a:latin typeface="Calibri" pitchFamily="34" charset="0"/>
                <a:cs typeface="Calibri" pitchFamily="34" charset="0"/>
              </a:rPr>
              <a:t>thống mới, </a:t>
            </a:r>
            <a:r>
              <a:rPr lang="vi-VN" sz="1800" smtClean="0">
                <a:solidFill>
                  <a:schemeClr val="accent2">
                    <a:lumMod val="50000"/>
                  </a:schemeClr>
                </a:solidFill>
                <a:latin typeface="Calibri" pitchFamily="34" charset="0"/>
                <a:cs typeface="Calibri" pitchFamily="34" charset="0"/>
              </a:rPr>
              <a:t>xây </a:t>
            </a:r>
            <a:r>
              <a:rPr lang="vi-VN" sz="1800">
                <a:solidFill>
                  <a:schemeClr val="accent2">
                    <a:lumMod val="50000"/>
                  </a:schemeClr>
                </a:solidFill>
                <a:latin typeface="Calibri" pitchFamily="34" charset="0"/>
                <a:cs typeface="Calibri" pitchFamily="34" charset="0"/>
              </a:rPr>
              <a:t>dựng hoặc </a:t>
            </a:r>
            <a:r>
              <a:rPr lang="vi-VN" sz="1800" smtClean="0">
                <a:solidFill>
                  <a:schemeClr val="accent2">
                    <a:lumMod val="50000"/>
                  </a:schemeClr>
                </a:solidFill>
                <a:latin typeface="Calibri" pitchFamily="34" charset="0"/>
                <a:cs typeface="Calibri" pitchFamily="34" charset="0"/>
              </a:rPr>
              <a:t>mua hệ thống mới, cài đặt hệ thống </a:t>
            </a:r>
            <a:r>
              <a:rPr lang="vi-VN" sz="1800">
                <a:solidFill>
                  <a:schemeClr val="accent2">
                    <a:lumMod val="50000"/>
                  </a:schemeClr>
                </a:solidFill>
                <a:latin typeface="Calibri" pitchFamily="34" charset="0"/>
                <a:cs typeface="Calibri" pitchFamily="34" charset="0"/>
              </a:rPr>
              <a:t>và sau </a:t>
            </a:r>
            <a:r>
              <a:rPr lang="vi-VN" sz="1800" smtClean="0">
                <a:solidFill>
                  <a:schemeClr val="accent2">
                    <a:lumMod val="50000"/>
                  </a:schemeClr>
                </a:solidFill>
                <a:latin typeface="Calibri" pitchFamily="34" charset="0"/>
                <a:cs typeface="Calibri" pitchFamily="34" charset="0"/>
              </a:rPr>
              <a:t>khi được đào </a:t>
            </a:r>
            <a:r>
              <a:rPr lang="vi-VN" sz="1800">
                <a:solidFill>
                  <a:schemeClr val="accent2">
                    <a:lumMod val="50000"/>
                  </a:schemeClr>
                </a:solidFill>
                <a:latin typeface="Calibri" pitchFamily="34" charset="0"/>
                <a:cs typeface="Calibri" pitchFamily="34" charset="0"/>
              </a:rPr>
              <a:t>tạo </a:t>
            </a:r>
            <a:r>
              <a:rPr lang="vi-VN" sz="1800" smtClean="0">
                <a:solidFill>
                  <a:schemeClr val="accent2">
                    <a:lumMod val="50000"/>
                  </a:schemeClr>
                </a:solidFill>
                <a:latin typeface="Calibri" pitchFamily="34" charset="0"/>
                <a:cs typeface="Calibri" pitchFamily="34" charset="0"/>
              </a:rPr>
              <a:t>người dùng bắt đầu sử dụng hệ </a:t>
            </a:r>
            <a:r>
              <a:rPr lang="vi-VN" sz="1800">
                <a:solidFill>
                  <a:schemeClr val="accent2">
                    <a:lumMod val="50000"/>
                  </a:schemeClr>
                </a:solidFill>
                <a:latin typeface="Calibri" pitchFamily="34" charset="0"/>
                <a:cs typeface="Calibri" pitchFamily="34" charset="0"/>
              </a:rPr>
              <a:t>thống mới vào </a:t>
            </a:r>
            <a:r>
              <a:rPr lang="vi-VN" sz="1800" smtClean="0">
                <a:solidFill>
                  <a:schemeClr val="accent2">
                    <a:lumMod val="50000"/>
                  </a:schemeClr>
                </a:solidFill>
                <a:latin typeface="Calibri" pitchFamily="34" charset="0"/>
                <a:cs typeface="Calibri" pitchFamily="34" charset="0"/>
              </a:rPr>
              <a:t>việc thực hiện các công </a:t>
            </a:r>
            <a:r>
              <a:rPr lang="vi-VN" sz="1800">
                <a:solidFill>
                  <a:schemeClr val="accent2">
                    <a:lumMod val="50000"/>
                  </a:schemeClr>
                </a:solidFill>
                <a:latin typeface="Calibri" pitchFamily="34" charset="0"/>
                <a:cs typeface="Calibri" pitchFamily="34" charset="0"/>
              </a:rPr>
              <a:t>việc hàng ngày của họ. </a:t>
            </a: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12</a:t>
            </a:fld>
            <a:endParaRPr lang="vi-VN"/>
          </a:p>
        </p:txBody>
      </p:sp>
      <p:sp>
        <p:nvSpPr>
          <p:cNvPr id="9" name="Title 1"/>
          <p:cNvSpPr txBox="1">
            <a:spLocks/>
          </p:cNvSpPr>
          <p:nvPr/>
        </p:nvSpPr>
        <p:spPr>
          <a:xfrm>
            <a:off x="6914060"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800" smtClean="0">
                <a:solidFill>
                  <a:schemeClr val="tx2"/>
                </a:solidFill>
                <a:latin typeface="+mn-lt"/>
                <a:cs typeface="Arial" pitchFamily="34" charset="0"/>
              </a:rPr>
              <a:t>Định nghĩa</a:t>
            </a:r>
            <a:endParaRPr lang="vi-VN" sz="2800" baseline="30000">
              <a:solidFill>
                <a:schemeClr val="tx2"/>
              </a:solidFill>
              <a:latin typeface="+mn-lt"/>
              <a:cs typeface="Arial" pitchFamily="34" charset="0"/>
            </a:endParaRPr>
          </a:p>
        </p:txBody>
      </p:sp>
    </p:spTree>
    <p:extLst>
      <p:ext uri="{BB962C8B-B14F-4D97-AF65-F5344CB8AC3E}">
        <p14:creationId xmlns:p14="http://schemas.microsoft.com/office/powerpoint/2010/main" val="26023812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Bef>
                <a:spcPts val="432"/>
              </a:spcBef>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Vòng đời phát triển HTTT được chia thành 4 pha chính có mối quan hệ tác động lẫn nhau, kết quả của pha này sẽ cung cấp thông tin quan trọng cho pha khác. </a:t>
            </a:r>
          </a:p>
          <a:p>
            <a:pPr algn="just">
              <a:spcBef>
                <a:spcPts val="432"/>
              </a:spcBef>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Vào cuối </a:t>
            </a:r>
            <a:r>
              <a:rPr lang="vi-VN" sz="2000">
                <a:solidFill>
                  <a:schemeClr val="accent2">
                    <a:lumMod val="50000"/>
                  </a:schemeClr>
                </a:solidFill>
                <a:latin typeface="Calibri" pitchFamily="34" charset="0"/>
                <a:cs typeface="Calibri" pitchFamily="34" charset="0"/>
              </a:rPr>
              <a:t>mỗi </a:t>
            </a:r>
            <a:r>
              <a:rPr lang="vi-VN" sz="2000" smtClean="0">
                <a:solidFill>
                  <a:schemeClr val="accent2">
                    <a:lumMod val="50000"/>
                  </a:schemeClr>
                </a:solidFill>
                <a:latin typeface="Calibri" pitchFamily="34" charset="0"/>
                <a:cs typeface="Calibri" pitchFamily="34" charset="0"/>
              </a:rPr>
              <a:t>pha, dự án phát triển hệ thống đạt đến một cột mốc quan trọng và cần phải tạo ra </a:t>
            </a:r>
            <a:r>
              <a:rPr lang="vi-VN" sz="2000">
                <a:solidFill>
                  <a:schemeClr val="accent2">
                    <a:lumMod val="50000"/>
                  </a:schemeClr>
                </a:solidFill>
                <a:latin typeface="Calibri" pitchFamily="34" charset="0"/>
                <a:cs typeface="Calibri" pitchFamily="34" charset="0"/>
              </a:rPr>
              <a:t>những tài liệu </a:t>
            </a:r>
            <a:r>
              <a:rPr lang="vi-VN" sz="2000" smtClean="0">
                <a:solidFill>
                  <a:schemeClr val="accent2">
                    <a:lumMod val="50000"/>
                  </a:schemeClr>
                </a:solidFill>
                <a:latin typeface="Calibri" pitchFamily="34" charset="0"/>
                <a:cs typeface="Calibri" pitchFamily="34" charset="0"/>
              </a:rPr>
              <a:t>đặc tả để bộ </a:t>
            </a:r>
            <a:r>
              <a:rPr lang="vi-VN" sz="2000">
                <a:solidFill>
                  <a:schemeClr val="accent2">
                    <a:lumMod val="50000"/>
                  </a:schemeClr>
                </a:solidFill>
                <a:latin typeface="Calibri" pitchFamily="34" charset="0"/>
                <a:cs typeface="Calibri" pitchFamily="34" charset="0"/>
              </a:rPr>
              <a:t>phận quản lý </a:t>
            </a:r>
            <a:r>
              <a:rPr lang="vi-VN" sz="2000" smtClean="0">
                <a:solidFill>
                  <a:schemeClr val="accent2">
                    <a:lumMod val="50000"/>
                  </a:schemeClr>
                </a:solidFill>
                <a:latin typeface="Calibri" pitchFamily="34" charset="0"/>
                <a:cs typeface="Calibri" pitchFamily="34" charset="0"/>
              </a:rPr>
              <a:t>xem xét</a:t>
            </a:r>
            <a:r>
              <a:rPr lang="vi-VN" sz="2000">
                <a:solidFill>
                  <a:schemeClr val="accent2">
                    <a:lumMod val="50000"/>
                  </a:schemeClr>
                </a:solidFill>
                <a:latin typeface="Calibri" pitchFamily="34" charset="0"/>
                <a:cs typeface="Calibri" pitchFamily="34" charset="0"/>
              </a:rPr>
              <a:t>, đánh giá và phê </a:t>
            </a:r>
            <a:r>
              <a:rPr lang="vi-VN" sz="2000" smtClean="0">
                <a:solidFill>
                  <a:schemeClr val="accent2">
                    <a:lumMod val="50000"/>
                  </a:schemeClr>
                </a:solidFill>
                <a:latin typeface="Calibri" pitchFamily="34" charset="0"/>
                <a:cs typeface="Calibri" pitchFamily="34" charset="0"/>
              </a:rPr>
              <a:t>duyệt.</a:t>
            </a:r>
          </a:p>
          <a:p>
            <a:pPr lvl="1" algn="just">
              <a:spcBef>
                <a:spcPts val="432"/>
              </a:spcBef>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Trong vòng đời phát triển HTTT, các pha không nhất thiết phải được thực hiện tuần tự một chiều từ đầu đến cuối, trình tự thực hiện có thể được điều chỉnh theo yêu cầu của dự án, ví dụ tại một pha bất kỳ đều có </a:t>
            </a:r>
            <a:r>
              <a:rPr lang="vi-VN" sz="1800">
                <a:solidFill>
                  <a:schemeClr val="accent2">
                    <a:lumMod val="50000"/>
                  </a:schemeClr>
                </a:solidFill>
                <a:latin typeface="Calibri" pitchFamily="34" charset="0"/>
                <a:cs typeface="Calibri" pitchFamily="34" charset="0"/>
              </a:rPr>
              <a:t>thể quay trở lại </a:t>
            </a:r>
            <a:r>
              <a:rPr lang="vi-VN" sz="1800" smtClean="0">
                <a:solidFill>
                  <a:schemeClr val="accent2">
                    <a:lumMod val="50000"/>
                  </a:schemeClr>
                </a:solidFill>
                <a:latin typeface="Calibri" pitchFamily="34" charset="0"/>
                <a:cs typeface="Calibri" pitchFamily="34" charset="0"/>
              </a:rPr>
              <a:t>pha trước đó </a:t>
            </a:r>
            <a:r>
              <a:rPr lang="vi-VN" sz="1800">
                <a:solidFill>
                  <a:schemeClr val="accent2">
                    <a:lumMod val="50000"/>
                  </a:schemeClr>
                </a:solidFill>
                <a:latin typeface="Calibri" pitchFamily="34" charset="0"/>
                <a:cs typeface="Calibri" pitchFamily="34" charset="0"/>
              </a:rPr>
              <a:t>nếu cần thiết. Tương tự như </a:t>
            </a:r>
            <a:r>
              <a:rPr lang="vi-VN" sz="1800" smtClean="0">
                <a:solidFill>
                  <a:schemeClr val="accent2">
                    <a:lumMod val="50000"/>
                  </a:schemeClr>
                </a:solidFill>
                <a:latin typeface="Calibri" pitchFamily="34" charset="0"/>
                <a:cs typeface="Calibri" pitchFamily="34" charset="0"/>
              </a:rPr>
              <a:t>một </a:t>
            </a:r>
            <a:r>
              <a:rPr lang="vi-VN" sz="1800">
                <a:solidFill>
                  <a:schemeClr val="accent2">
                    <a:lumMod val="50000"/>
                  </a:schemeClr>
                </a:solidFill>
                <a:latin typeface="Calibri" pitchFamily="34" charset="0"/>
                <a:cs typeface="Calibri" pitchFamily="34" charset="0"/>
              </a:rPr>
              <a:t>sản phẩm thương mại không </a:t>
            </a:r>
            <a:r>
              <a:rPr lang="vi-VN" sz="1800" smtClean="0">
                <a:solidFill>
                  <a:schemeClr val="accent2">
                    <a:lumMod val="50000"/>
                  </a:schemeClr>
                </a:solidFill>
                <a:latin typeface="Calibri" pitchFamily="34" charset="0"/>
                <a:cs typeface="Calibri" pitchFamily="34" charset="0"/>
              </a:rPr>
              <a:t>đáp ứng tốt </a:t>
            </a:r>
            <a:r>
              <a:rPr lang="vi-VN" sz="1800">
                <a:solidFill>
                  <a:schemeClr val="accent2">
                    <a:lumMod val="50000"/>
                  </a:schemeClr>
                </a:solidFill>
                <a:latin typeface="Calibri" pitchFamily="34" charset="0"/>
                <a:cs typeface="Calibri" pitchFamily="34" charset="0"/>
              </a:rPr>
              <a:t>sau khi ra mắt, nó có thể được tạm thời loại bỏ </a:t>
            </a:r>
            <a:r>
              <a:rPr lang="vi-VN" sz="1800" smtClean="0">
                <a:solidFill>
                  <a:schemeClr val="accent2">
                    <a:lumMod val="50000"/>
                  </a:schemeClr>
                </a:solidFill>
                <a:latin typeface="Calibri" pitchFamily="34" charset="0"/>
                <a:cs typeface="Calibri" pitchFamily="34" charset="0"/>
              </a:rPr>
              <a:t>khỏi </a:t>
            </a:r>
            <a:r>
              <a:rPr lang="vi-VN" sz="1800">
                <a:solidFill>
                  <a:schemeClr val="accent2">
                    <a:lumMod val="50000"/>
                  </a:schemeClr>
                </a:solidFill>
                <a:latin typeface="Calibri" pitchFamily="34" charset="0"/>
                <a:cs typeface="Calibri" pitchFamily="34" charset="0"/>
              </a:rPr>
              <a:t>thị trường và </a:t>
            </a:r>
            <a:r>
              <a:rPr lang="vi-VN" sz="1800" smtClean="0">
                <a:solidFill>
                  <a:schemeClr val="accent2">
                    <a:lumMod val="50000"/>
                  </a:schemeClr>
                </a:solidFill>
                <a:latin typeface="Calibri" pitchFamily="34" charset="0"/>
                <a:cs typeface="Calibri" pitchFamily="34" charset="0"/>
              </a:rPr>
              <a:t>được cải </a:t>
            </a:r>
            <a:r>
              <a:rPr lang="vi-VN" sz="1800">
                <a:solidFill>
                  <a:schemeClr val="accent2">
                    <a:lumMod val="50000"/>
                  </a:schemeClr>
                </a:solidFill>
                <a:latin typeface="Calibri" pitchFamily="34" charset="0"/>
                <a:cs typeface="Calibri" pitchFamily="34" charset="0"/>
              </a:rPr>
              <a:t>thiện trước </a:t>
            </a:r>
            <a:r>
              <a:rPr lang="vi-VN" sz="1800" smtClean="0">
                <a:solidFill>
                  <a:schemeClr val="accent2">
                    <a:lumMod val="50000"/>
                  </a:schemeClr>
                </a:solidFill>
                <a:latin typeface="Calibri" pitchFamily="34" charset="0"/>
                <a:cs typeface="Calibri" pitchFamily="34" charset="0"/>
              </a:rPr>
              <a:t>khi </a:t>
            </a:r>
            <a:r>
              <a:rPr lang="vi-VN" sz="1800">
                <a:solidFill>
                  <a:schemeClr val="accent2">
                    <a:lumMod val="50000"/>
                  </a:schemeClr>
                </a:solidFill>
                <a:latin typeface="Calibri" pitchFamily="34" charset="0"/>
                <a:cs typeface="Calibri" pitchFamily="34" charset="0"/>
              </a:rPr>
              <a:t>giới thiệu lại. </a:t>
            </a:r>
            <a:endParaRPr lang="vi-VN" sz="1800" smtClean="0">
              <a:solidFill>
                <a:schemeClr val="accent2">
                  <a:lumMod val="50000"/>
                </a:schemeClr>
              </a:solidFill>
              <a:latin typeface="Calibri" pitchFamily="34" charset="0"/>
              <a:cs typeface="Calibri" pitchFamily="34" charset="0"/>
            </a:endParaRPr>
          </a:p>
          <a:p>
            <a:pPr lvl="1" algn="just">
              <a:spcBef>
                <a:spcPts val="432"/>
              </a:spcBef>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Đôi khi các pha trong vòng đời phát triển hệ thống được thực hiện </a:t>
            </a:r>
            <a:r>
              <a:rPr lang="vi-VN" sz="1800">
                <a:solidFill>
                  <a:schemeClr val="accent2">
                    <a:lumMod val="50000"/>
                  </a:schemeClr>
                </a:solidFill>
                <a:latin typeface="Calibri" pitchFamily="34" charset="0"/>
                <a:cs typeface="Calibri" pitchFamily="34" charset="0"/>
              </a:rPr>
              <a:t>lặp đi lặp lại </a:t>
            </a:r>
            <a:r>
              <a:rPr lang="vi-VN" sz="1800" smtClean="0">
                <a:solidFill>
                  <a:schemeClr val="accent2">
                    <a:lumMod val="50000"/>
                  </a:schemeClr>
                </a:solidFill>
                <a:latin typeface="Calibri" pitchFamily="34" charset="0"/>
                <a:cs typeface="Calibri" pitchFamily="34" charset="0"/>
              </a:rPr>
              <a:t>cho đến khi đạt yêu cầu.</a:t>
            </a:r>
            <a:endParaRPr lang="vi-VN" sz="1800">
              <a:solidFill>
                <a:schemeClr val="accent2">
                  <a:lumMod val="50000"/>
                </a:schemeClr>
              </a:solidFill>
              <a:latin typeface="Calibri" pitchFamily="34" charset="0"/>
              <a:cs typeface="Calibri" pitchFamily="34" charset="0"/>
            </a:endParaRPr>
          </a:p>
          <a:p>
            <a:pPr marL="0" indent="0">
              <a:buNone/>
            </a:pPr>
            <a:endParaRPr lang="vi-VN" sz="20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13</a:t>
            </a:fld>
            <a:endParaRPr lang="vi-VN"/>
          </a:p>
        </p:txBody>
      </p:sp>
      <p:sp>
        <p:nvSpPr>
          <p:cNvPr id="9" name="Title 1"/>
          <p:cNvSpPr txBox="1">
            <a:spLocks/>
          </p:cNvSpPr>
          <p:nvPr/>
        </p:nvSpPr>
        <p:spPr>
          <a:xfrm>
            <a:off x="6914060"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800" smtClean="0">
                <a:solidFill>
                  <a:schemeClr val="tx2"/>
                </a:solidFill>
                <a:latin typeface="+mn-lt"/>
                <a:cs typeface="Arial" pitchFamily="34" charset="0"/>
              </a:rPr>
              <a:t>Định nghĩa</a:t>
            </a:r>
            <a:endParaRPr lang="vi-VN" sz="2800" baseline="30000">
              <a:solidFill>
                <a:schemeClr val="tx2"/>
              </a:solidFill>
              <a:latin typeface="+mn-lt"/>
              <a:cs typeface="Arial" pitchFamily="34" charset="0"/>
            </a:endParaRPr>
          </a:p>
        </p:txBody>
      </p:sp>
    </p:spTree>
    <p:extLst>
      <p:ext uri="{BB962C8B-B14F-4D97-AF65-F5344CB8AC3E}">
        <p14:creationId xmlns:p14="http://schemas.microsoft.com/office/powerpoint/2010/main" val="29277357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Bef>
                <a:spcPts val="432"/>
              </a:spcBef>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4 pha chính trong vòng đời phát triển hệ thống thông tin:</a:t>
            </a:r>
            <a:endParaRPr lang="en-US" sz="2000" smtClean="0">
              <a:solidFill>
                <a:schemeClr val="accent2">
                  <a:lumMod val="50000"/>
                </a:schemeClr>
              </a:solidFill>
              <a:latin typeface="Calibri" pitchFamily="34" charset="0"/>
              <a:cs typeface="Calibri" pitchFamily="34" charset="0"/>
            </a:endParaRPr>
          </a:p>
          <a:p>
            <a:pPr lvl="1" algn="just">
              <a:spcBef>
                <a:spcPts val="432"/>
              </a:spcBef>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Lựa </a:t>
            </a:r>
            <a:r>
              <a:rPr lang="en-US" sz="1800">
                <a:solidFill>
                  <a:schemeClr val="accent2">
                    <a:lumMod val="50000"/>
                  </a:schemeClr>
                </a:solidFill>
                <a:latin typeface="Calibri" pitchFamily="34" charset="0"/>
                <a:cs typeface="Calibri" pitchFamily="34" charset="0"/>
              </a:rPr>
              <a:t>chọn và lập kế hoạch hệ thống (Systems Planning and Selection)</a:t>
            </a:r>
            <a:endParaRPr lang="vi-VN" sz="1800">
              <a:solidFill>
                <a:schemeClr val="accent2">
                  <a:lumMod val="50000"/>
                </a:schemeClr>
              </a:solidFill>
              <a:latin typeface="Calibri" pitchFamily="34" charset="0"/>
              <a:cs typeface="Calibri" pitchFamily="34" charset="0"/>
            </a:endParaRPr>
          </a:p>
          <a:p>
            <a:pPr lvl="1" algn="just">
              <a:spcBef>
                <a:spcPts val="432"/>
              </a:spcBef>
              <a:spcAft>
                <a:spcPts val="683"/>
              </a:spcAft>
              <a:buClr>
                <a:srgbClr val="FF0066"/>
              </a:buClr>
              <a:buFont typeface="Symbol" pitchFamily="18" charset="2"/>
              <a:buChar char="¨"/>
            </a:pPr>
            <a:r>
              <a:rPr lang="en-US" sz="1800">
                <a:solidFill>
                  <a:schemeClr val="accent2">
                    <a:lumMod val="50000"/>
                  </a:schemeClr>
                </a:solidFill>
                <a:latin typeface="Calibri" pitchFamily="34" charset="0"/>
                <a:cs typeface="Calibri" pitchFamily="34" charset="0"/>
              </a:rPr>
              <a:t>Phân tích hệ thống (Systems Analysis)</a:t>
            </a:r>
            <a:endParaRPr lang="vi-VN" sz="1800">
              <a:solidFill>
                <a:schemeClr val="accent2">
                  <a:lumMod val="50000"/>
                </a:schemeClr>
              </a:solidFill>
              <a:latin typeface="Calibri" pitchFamily="34" charset="0"/>
              <a:cs typeface="Calibri" pitchFamily="34" charset="0"/>
            </a:endParaRPr>
          </a:p>
          <a:p>
            <a:pPr lvl="1" algn="just">
              <a:spcBef>
                <a:spcPts val="432"/>
              </a:spcBef>
              <a:spcAft>
                <a:spcPts val="683"/>
              </a:spcAft>
              <a:buClr>
                <a:srgbClr val="FF0066"/>
              </a:buClr>
              <a:buFont typeface="Symbol" pitchFamily="18" charset="2"/>
              <a:buChar char="¨"/>
            </a:pPr>
            <a:r>
              <a:rPr lang="en-US" sz="1800">
                <a:solidFill>
                  <a:schemeClr val="accent2">
                    <a:lumMod val="50000"/>
                  </a:schemeClr>
                </a:solidFill>
                <a:latin typeface="Calibri" pitchFamily="34" charset="0"/>
                <a:cs typeface="Calibri" pitchFamily="34" charset="0"/>
              </a:rPr>
              <a:t>Thiết kế hệ thống (Systems Design)</a:t>
            </a:r>
            <a:endParaRPr lang="vi-VN" sz="1800">
              <a:solidFill>
                <a:schemeClr val="accent2">
                  <a:lumMod val="50000"/>
                </a:schemeClr>
              </a:solidFill>
              <a:latin typeface="Calibri" pitchFamily="34" charset="0"/>
              <a:cs typeface="Calibri" pitchFamily="34" charset="0"/>
            </a:endParaRPr>
          </a:p>
          <a:p>
            <a:pPr lvl="1" algn="just">
              <a:spcBef>
                <a:spcPts val="432"/>
              </a:spcBef>
              <a:buClr>
                <a:srgbClr val="FF0066"/>
              </a:buClr>
              <a:buFont typeface="Symbol" pitchFamily="18" charset="2"/>
              <a:buChar char="¨"/>
            </a:pPr>
            <a:r>
              <a:rPr lang="en-US" sz="1800">
                <a:solidFill>
                  <a:schemeClr val="accent2">
                    <a:lumMod val="50000"/>
                  </a:schemeClr>
                </a:solidFill>
                <a:latin typeface="Calibri" pitchFamily="34" charset="0"/>
                <a:cs typeface="Calibri" pitchFamily="34" charset="0"/>
              </a:rPr>
              <a:t>Triển khai và vận hành hệ </a:t>
            </a:r>
            <a:r>
              <a:rPr lang="en-US" sz="1800" smtClean="0">
                <a:solidFill>
                  <a:schemeClr val="accent2">
                    <a:lumMod val="50000"/>
                  </a:schemeClr>
                </a:solidFill>
                <a:latin typeface="Calibri" pitchFamily="34" charset="0"/>
                <a:cs typeface="Calibri" pitchFamily="34" charset="0"/>
              </a:rPr>
              <a:t>thống (Systems </a:t>
            </a:r>
            <a:r>
              <a:rPr lang="en-US" sz="1800">
                <a:solidFill>
                  <a:schemeClr val="accent2">
                    <a:lumMod val="50000"/>
                  </a:schemeClr>
                </a:solidFill>
                <a:latin typeface="Calibri" pitchFamily="34" charset="0"/>
                <a:cs typeface="Calibri" pitchFamily="34" charset="0"/>
              </a:rPr>
              <a:t>Implementation and Operation)</a:t>
            </a:r>
            <a:endParaRPr lang="vi-VN" sz="1800">
              <a:solidFill>
                <a:schemeClr val="accent2">
                  <a:lumMod val="50000"/>
                </a:schemeClr>
              </a:solidFill>
              <a:latin typeface="Calibri" pitchFamily="34" charset="0"/>
              <a:cs typeface="Calibri" pitchFamily="34" charset="0"/>
            </a:endParaRPr>
          </a:p>
          <a:p>
            <a:pPr lvl="1" algn="just">
              <a:spcBef>
                <a:spcPts val="432"/>
              </a:spcBef>
              <a:spcAft>
                <a:spcPts val="683"/>
              </a:spcAft>
              <a:buClr>
                <a:srgbClr val="FF0066"/>
              </a:buClr>
              <a:buFont typeface="Symbol" pitchFamily="18" charset="2"/>
              <a:buChar char="¨"/>
            </a:pPr>
            <a:endParaRPr lang="vi-VN" sz="1800" smtClean="0">
              <a:solidFill>
                <a:schemeClr val="accent2">
                  <a:lumMod val="50000"/>
                </a:schemeClr>
              </a:solidFill>
              <a:latin typeface="Calibri" pitchFamily="34" charset="0"/>
              <a:cs typeface="Calibri" pitchFamily="34" charset="0"/>
            </a:endParaRPr>
          </a:p>
          <a:p>
            <a:pPr marL="0" indent="0">
              <a:buNone/>
            </a:pPr>
            <a:endParaRPr lang="vi-VN" sz="20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14</a:t>
            </a:fld>
            <a:endParaRPr lang="vi-VN"/>
          </a:p>
        </p:txBody>
      </p:sp>
      <p:sp>
        <p:nvSpPr>
          <p:cNvPr id="9" name="Title 1"/>
          <p:cNvSpPr txBox="1">
            <a:spLocks/>
          </p:cNvSpPr>
          <p:nvPr/>
        </p:nvSpPr>
        <p:spPr>
          <a:xfrm>
            <a:off x="6914060"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800" smtClean="0">
                <a:solidFill>
                  <a:schemeClr val="tx2"/>
                </a:solidFill>
                <a:latin typeface="+mn-lt"/>
                <a:cs typeface="Arial" pitchFamily="34" charset="0"/>
              </a:rPr>
              <a:t>Các pha chính</a:t>
            </a:r>
            <a:endParaRPr lang="vi-VN" sz="2800" baseline="30000">
              <a:solidFill>
                <a:schemeClr val="tx2"/>
              </a:solidFill>
              <a:latin typeface="+mn-lt"/>
              <a:cs typeface="Arial"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204" y="3551340"/>
            <a:ext cx="4968552" cy="3306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51808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308701"/>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Vào</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đêm thứ Sáu khi </a:t>
            </a:r>
            <a:r>
              <a:rPr lang="vi-VN" sz="2000" smtClean="0">
                <a:solidFill>
                  <a:schemeClr val="accent2">
                    <a:lumMod val="50000"/>
                  </a:schemeClr>
                </a:solidFill>
                <a:latin typeface="Calibri" pitchFamily="34" charset="0"/>
                <a:cs typeface="Calibri" pitchFamily="34" charset="0"/>
              </a:rPr>
              <a:t>J</a:t>
            </a:r>
            <a:r>
              <a:rPr lang="en-US" sz="2000" smtClean="0">
                <a:solidFill>
                  <a:schemeClr val="accent2">
                    <a:lumMod val="50000"/>
                  </a:schemeClr>
                </a:solidFill>
                <a:latin typeface="Calibri" pitchFamily="34" charset="0"/>
                <a:cs typeface="Calibri" pitchFamily="34" charset="0"/>
              </a:rPr>
              <a:t>ohn</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một giám đốc dự án tại một công ty chuyên về phần mềm thực tế ảo, nhận được một cuộc gọi khẩn cấp từ người quản lý của anh ấy, </a:t>
            </a:r>
            <a:r>
              <a:rPr lang="en-US" sz="2000" smtClean="0">
                <a:solidFill>
                  <a:schemeClr val="accent2">
                    <a:lumMod val="50000"/>
                  </a:schemeClr>
                </a:solidFill>
                <a:latin typeface="Calibri" pitchFamily="34" charset="0"/>
                <a:cs typeface="Calibri" pitchFamily="34" charset="0"/>
              </a:rPr>
              <a:t>Ricci</a:t>
            </a:r>
            <a:r>
              <a:rPr lang="vi-VN" sz="2000" smtClean="0">
                <a:solidFill>
                  <a:schemeClr val="accent2">
                    <a:lumMod val="50000"/>
                  </a:schemeClr>
                </a:solidFill>
                <a:latin typeface="Calibri" pitchFamily="34" charset="0"/>
                <a:cs typeface="Calibri" pitchFamily="34" charset="0"/>
              </a:rPr>
              <a:t>. </a:t>
            </a:r>
            <a:r>
              <a:rPr lang="en-US" sz="2000">
                <a:solidFill>
                  <a:schemeClr val="accent2">
                    <a:lumMod val="50000"/>
                  </a:schemeClr>
                </a:solidFill>
                <a:latin typeface="Calibri" pitchFamily="34" charset="0"/>
                <a:cs typeface="Calibri" pitchFamily="34" charset="0"/>
              </a:rPr>
              <a:t>Ricci</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nói với </a:t>
            </a:r>
            <a:r>
              <a:rPr lang="vi-VN" sz="2000" smtClean="0">
                <a:solidFill>
                  <a:schemeClr val="accent2">
                    <a:lumMod val="50000"/>
                  </a:schemeClr>
                </a:solidFill>
                <a:latin typeface="Calibri" pitchFamily="34" charset="0"/>
                <a:cs typeface="Calibri" pitchFamily="34" charset="0"/>
              </a:rPr>
              <a:t>J</a:t>
            </a:r>
            <a:r>
              <a:rPr lang="en-US" sz="2000" smtClean="0">
                <a:solidFill>
                  <a:schemeClr val="accent2">
                    <a:lumMod val="50000"/>
                  </a:schemeClr>
                </a:solidFill>
                <a:latin typeface="Calibri" pitchFamily="34" charset="0"/>
                <a:cs typeface="Calibri" pitchFamily="34" charset="0"/>
              </a:rPr>
              <a:t>ohn</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rằng anh ấy cần chi phí và thời gian cho một chương trình đào tạo thực tế ảo cho Flight Simulators, Inc., một công ty chuyên bảo trì máy </a:t>
            </a:r>
            <a:r>
              <a:rPr lang="vi-VN" sz="2000" smtClean="0">
                <a:solidFill>
                  <a:schemeClr val="accent2">
                    <a:lumMod val="50000"/>
                  </a:schemeClr>
                </a:solidFill>
                <a:latin typeface="Calibri" pitchFamily="34" charset="0"/>
                <a:cs typeface="Calibri" pitchFamily="34" charset="0"/>
              </a:rPr>
              <a:t>bay </a:t>
            </a:r>
            <a:r>
              <a:rPr lang="vi-VN" sz="2000">
                <a:solidFill>
                  <a:schemeClr val="accent2">
                    <a:lumMod val="50000"/>
                  </a:schemeClr>
                </a:solidFill>
                <a:latin typeface="Calibri" pitchFamily="34" charset="0"/>
                <a:cs typeface="Calibri" pitchFamily="34" charset="0"/>
              </a:rPr>
              <a:t>vào cuối tuần này</a:t>
            </a:r>
            <a:r>
              <a:rPr lang="vi-VN" sz="2000" smtClean="0">
                <a:solidFill>
                  <a:schemeClr val="accent2">
                    <a:lumMod val="50000"/>
                  </a:schemeClr>
                </a:solidFill>
                <a:latin typeface="Calibri" pitchFamily="34" charset="0"/>
                <a:cs typeface="Calibri" pitchFamily="34" charset="0"/>
              </a:rPr>
              <a:t>.</a:t>
            </a: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15</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000" b="1" smtClean="0">
                <a:solidFill>
                  <a:schemeClr val="accent6">
                    <a:lumMod val="75000"/>
                  </a:schemeClr>
                </a:solidFill>
                <a:latin typeface="+mn-lt"/>
                <a:cs typeface="Arial" pitchFamily="34" charset="0"/>
              </a:rPr>
              <a:t>Bài tập tình huống</a:t>
            </a:r>
            <a:endParaRPr lang="en-US" sz="2000">
              <a:solidFill>
                <a:schemeClr val="tx2"/>
              </a:solidFill>
              <a:latin typeface="+mn-lt"/>
              <a:cs typeface="Arial" pitchFamily="34" charset="0"/>
            </a:endParaRPr>
          </a:p>
        </p:txBody>
      </p:sp>
    </p:spTree>
    <p:extLst>
      <p:ext uri="{BB962C8B-B14F-4D97-AF65-F5344CB8AC3E}">
        <p14:creationId xmlns:p14="http://schemas.microsoft.com/office/powerpoint/2010/main" val="10217337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308701"/>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J</a:t>
            </a:r>
            <a:r>
              <a:rPr lang="en-US" sz="2000">
                <a:solidFill>
                  <a:schemeClr val="accent2">
                    <a:lumMod val="50000"/>
                  </a:schemeClr>
                </a:solidFill>
                <a:latin typeface="Calibri" pitchFamily="34" charset="0"/>
                <a:cs typeface="Calibri" pitchFamily="34" charset="0"/>
              </a:rPr>
              <a:t>ohn</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dành cả cuối tuần để làm việc thông qua một đề xuất cho Flight Simulators, Inc. Anh nhanh chóng đưa ra một đề xuất ước tính rằng nó sẽ tốn 200.000 đô la và mất sáu tuần để phát triển khóa học. </a:t>
            </a:r>
            <a:endParaRPr lang="en-US"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Đây </a:t>
            </a:r>
            <a:r>
              <a:rPr lang="vi-VN" sz="2000">
                <a:solidFill>
                  <a:schemeClr val="accent2">
                    <a:lumMod val="50000"/>
                  </a:schemeClr>
                </a:solidFill>
                <a:latin typeface="Calibri" pitchFamily="34" charset="0"/>
                <a:cs typeface="Calibri" pitchFamily="34" charset="0"/>
              </a:rPr>
              <a:t>là chi phí tiêu chuẩn và khung thời gian để phát triển đào tạo trên nền tảng của công </a:t>
            </a:r>
            <a:r>
              <a:rPr lang="vi-VN" sz="2000" smtClean="0">
                <a:solidFill>
                  <a:schemeClr val="accent2">
                    <a:lumMod val="50000"/>
                  </a:schemeClr>
                </a:solidFill>
                <a:latin typeface="Calibri" pitchFamily="34" charset="0"/>
                <a:cs typeface="Calibri" pitchFamily="34" charset="0"/>
              </a:rPr>
              <a:t>ty. </a:t>
            </a:r>
            <a:r>
              <a:rPr lang="vi-VN" sz="2000">
                <a:solidFill>
                  <a:schemeClr val="accent2">
                    <a:lumMod val="50000"/>
                  </a:schemeClr>
                </a:solidFill>
                <a:latin typeface="Calibri" pitchFamily="34" charset="0"/>
                <a:cs typeface="Calibri" pitchFamily="34" charset="0"/>
              </a:rPr>
              <a:t>Anh ấy gửi đề xuất tới Flight Simulators, </a:t>
            </a:r>
            <a:r>
              <a:rPr lang="vi-VN" sz="2000" smtClean="0">
                <a:solidFill>
                  <a:schemeClr val="accent2">
                    <a:lumMod val="50000"/>
                  </a:schemeClr>
                </a:solidFill>
                <a:latin typeface="Calibri" pitchFamily="34" charset="0"/>
                <a:cs typeface="Calibri" pitchFamily="34" charset="0"/>
              </a:rPr>
              <a:t>Inc </a:t>
            </a:r>
            <a:r>
              <a:rPr lang="vi-VN" sz="2000">
                <a:solidFill>
                  <a:schemeClr val="accent2">
                    <a:lumMod val="50000"/>
                  </a:schemeClr>
                </a:solidFill>
                <a:latin typeface="Calibri" pitchFamily="34" charset="0"/>
                <a:cs typeface="Calibri" pitchFamily="34" charset="0"/>
              </a:rPr>
              <a:t>để </a:t>
            </a:r>
            <a:r>
              <a:rPr lang="vi-VN" sz="2000" smtClean="0">
                <a:solidFill>
                  <a:schemeClr val="accent2">
                    <a:lumMod val="50000"/>
                  </a:schemeClr>
                </a:solidFill>
                <a:latin typeface="Calibri" pitchFamily="34" charset="0"/>
                <a:cs typeface="Calibri" pitchFamily="34" charset="0"/>
              </a:rPr>
              <a:t>có </a:t>
            </a:r>
            <a:r>
              <a:rPr lang="vi-VN" sz="2000">
                <a:solidFill>
                  <a:schemeClr val="accent2">
                    <a:lumMod val="50000"/>
                  </a:schemeClr>
                </a:solidFill>
                <a:latin typeface="Calibri" pitchFamily="34" charset="0"/>
                <a:cs typeface="Calibri" pitchFamily="34" charset="0"/>
              </a:rPr>
              <a:t>thể đáp ứng thời hạn của họ. </a:t>
            </a: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16</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000" b="1" smtClean="0">
                <a:solidFill>
                  <a:schemeClr val="accent6">
                    <a:lumMod val="75000"/>
                  </a:schemeClr>
                </a:solidFill>
                <a:latin typeface="+mn-lt"/>
                <a:cs typeface="Arial" pitchFamily="34" charset="0"/>
              </a:rPr>
              <a:t>Bài tập tình huống</a:t>
            </a:r>
            <a:endParaRPr lang="en-US" sz="2000">
              <a:solidFill>
                <a:schemeClr val="tx2"/>
              </a:solidFill>
              <a:latin typeface="+mn-lt"/>
              <a:cs typeface="Arial" pitchFamily="34" charset="0"/>
            </a:endParaRPr>
          </a:p>
        </p:txBody>
      </p:sp>
    </p:spTree>
    <p:extLst>
      <p:ext uri="{BB962C8B-B14F-4D97-AF65-F5344CB8AC3E}">
        <p14:creationId xmlns:p14="http://schemas.microsoft.com/office/powerpoint/2010/main" val="3115227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Khi J</a:t>
            </a:r>
            <a:r>
              <a:rPr lang="en-US" sz="2000">
                <a:solidFill>
                  <a:schemeClr val="accent2">
                    <a:lumMod val="50000"/>
                  </a:schemeClr>
                </a:solidFill>
                <a:latin typeface="Calibri" pitchFamily="34" charset="0"/>
                <a:cs typeface="Calibri" pitchFamily="34" charset="0"/>
              </a:rPr>
              <a:t>ohn</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bước vào văn phòng vào sáng thứ Hai, </a:t>
            </a:r>
            <a:r>
              <a:rPr lang="en-US" sz="2000">
                <a:solidFill>
                  <a:schemeClr val="accent2">
                    <a:lumMod val="50000"/>
                  </a:schemeClr>
                </a:solidFill>
                <a:latin typeface="Calibri" pitchFamily="34" charset="0"/>
                <a:cs typeface="Calibri" pitchFamily="34" charset="0"/>
              </a:rPr>
              <a:t>Ricci</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nói với anh ta rằng anh ta đã bị khiển trách vì không tuân theo quy trình của công ty trong việc xây dựng một đề </a:t>
            </a:r>
            <a:r>
              <a:rPr lang="vi-VN" sz="2000" smtClean="0">
                <a:solidFill>
                  <a:schemeClr val="accent2">
                    <a:lumMod val="50000"/>
                  </a:schemeClr>
                </a:solidFill>
                <a:latin typeface="Calibri" pitchFamily="34" charset="0"/>
                <a:cs typeface="Calibri" pitchFamily="34" charset="0"/>
              </a:rPr>
              <a:t>xuất.</a:t>
            </a:r>
            <a:endParaRPr lang="en-US"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Các </a:t>
            </a:r>
            <a:r>
              <a:rPr lang="vi-VN" sz="2000">
                <a:solidFill>
                  <a:schemeClr val="accent2">
                    <a:lumMod val="50000"/>
                  </a:schemeClr>
                </a:solidFill>
                <a:latin typeface="Calibri" pitchFamily="34" charset="0"/>
                <a:cs typeface="Calibri" pitchFamily="34" charset="0"/>
              </a:rPr>
              <a:t>kỹ sư </a:t>
            </a:r>
            <a:r>
              <a:rPr lang="vi-VN" sz="2000" smtClean="0">
                <a:solidFill>
                  <a:schemeClr val="accent2">
                    <a:lumMod val="50000"/>
                  </a:schemeClr>
                </a:solidFill>
                <a:latin typeface="Calibri" pitchFamily="34" charset="0"/>
                <a:cs typeface="Calibri" pitchFamily="34" charset="0"/>
              </a:rPr>
              <a:t>Flight </a:t>
            </a:r>
            <a:r>
              <a:rPr lang="vi-VN" sz="2000">
                <a:solidFill>
                  <a:schemeClr val="accent2">
                    <a:lumMod val="50000"/>
                  </a:schemeClr>
                </a:solidFill>
                <a:latin typeface="Calibri" pitchFamily="34" charset="0"/>
                <a:cs typeface="Calibri" pitchFamily="34" charset="0"/>
              </a:rPr>
              <a:t>Simulators, Inc. </a:t>
            </a:r>
            <a:r>
              <a:rPr lang="vi-VN" sz="2000" smtClean="0">
                <a:solidFill>
                  <a:schemeClr val="accent2">
                    <a:lumMod val="50000"/>
                  </a:schemeClr>
                </a:solidFill>
                <a:latin typeface="Calibri" pitchFamily="34" charset="0"/>
                <a:cs typeface="Calibri" pitchFamily="34" charset="0"/>
              </a:rPr>
              <a:t>nhận </a:t>
            </a:r>
            <a:r>
              <a:rPr lang="vi-VN" sz="2000">
                <a:solidFill>
                  <a:schemeClr val="accent2">
                    <a:lumMod val="50000"/>
                  </a:schemeClr>
                </a:solidFill>
                <a:latin typeface="Calibri" pitchFamily="34" charset="0"/>
                <a:cs typeface="Calibri" pitchFamily="34" charset="0"/>
              </a:rPr>
              <a:t>ra rằng phần mềm của công ty sẽ không hoạt động với nền tảng của họ. Sẽ mất sáu tháng để phát triển nền tảng của họ để đáp ứng nhu cầu phần mềm của tổ chức và sáu tháng nữa để kiểm tra tích hợp phần mềm và nền tảng. Chi phí để phát triển và thử nghiệm phần mềm này sẽ hơn một triệu đô la.  </a:t>
            </a:r>
          </a:p>
          <a:p>
            <a:pPr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Dự án này đã thất bại trước khi nó bắt đầu. Không có cách nào để hoàn thành yêu cầu từ Flight Simulators, Inc. mà không ảnh hưởng đến ngân sách, chất lượng và tiến trình</a:t>
            </a:r>
            <a:r>
              <a:rPr lang="vi-VN" sz="2000" smtClean="0">
                <a:solidFill>
                  <a:schemeClr val="accent2">
                    <a:lumMod val="50000"/>
                  </a:schemeClr>
                </a:solidFill>
                <a:latin typeface="Calibri" pitchFamily="34" charset="0"/>
                <a:cs typeface="Calibri" pitchFamily="34" charset="0"/>
              </a:rPr>
              <a:t>.</a:t>
            </a: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17</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000" b="1" smtClean="0">
                <a:solidFill>
                  <a:schemeClr val="accent6">
                    <a:lumMod val="75000"/>
                  </a:schemeClr>
                </a:solidFill>
                <a:latin typeface="+mn-lt"/>
                <a:cs typeface="Arial" pitchFamily="34" charset="0"/>
              </a:rPr>
              <a:t>Bài tập tình huống</a:t>
            </a:r>
            <a:endParaRPr lang="en-US" sz="2000">
              <a:solidFill>
                <a:schemeClr val="tx2"/>
              </a:solidFill>
              <a:latin typeface="+mn-lt"/>
              <a:cs typeface="Arial" pitchFamily="34" charset="0"/>
            </a:endParaRPr>
          </a:p>
        </p:txBody>
      </p:sp>
    </p:spTree>
    <p:extLst>
      <p:ext uri="{BB962C8B-B14F-4D97-AF65-F5344CB8AC3E}">
        <p14:creationId xmlns:p14="http://schemas.microsoft.com/office/powerpoint/2010/main" val="14506291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7"/>
            <a:ext cx="9478053" cy="4392488"/>
          </a:xfrm>
        </p:spPr>
        <p:txBody>
          <a:bodyPr>
            <a:normAutofit/>
          </a:bodyPr>
          <a:lstStyle/>
          <a:p>
            <a:pPr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Khi người quản lý của anh ấy gọi, J</a:t>
            </a:r>
            <a:r>
              <a:rPr lang="en-US" sz="2000">
                <a:solidFill>
                  <a:schemeClr val="accent2">
                    <a:lumMod val="50000"/>
                  </a:schemeClr>
                </a:solidFill>
                <a:latin typeface="Calibri" pitchFamily="34" charset="0"/>
                <a:cs typeface="Calibri" pitchFamily="34" charset="0"/>
              </a:rPr>
              <a:t>ohn</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nói với anh ấy rằng mặc dù anh ấy hiểu </a:t>
            </a:r>
            <a:r>
              <a:rPr lang="en-US" sz="2000" smtClean="0">
                <a:solidFill>
                  <a:schemeClr val="accent2">
                    <a:lumMod val="50000"/>
                  </a:schemeClr>
                </a:solidFill>
                <a:latin typeface="Calibri" pitchFamily="34" charset="0"/>
                <a:cs typeface="Calibri" pitchFamily="34" charset="0"/>
              </a:rPr>
              <a:t>là</a:t>
            </a:r>
            <a:r>
              <a:rPr lang="vi-VN" sz="2000" smtClean="0">
                <a:solidFill>
                  <a:schemeClr val="accent2">
                    <a:lumMod val="50000"/>
                  </a:schemeClr>
                </a:solidFill>
                <a:latin typeface="Calibri" pitchFamily="34" charset="0"/>
                <a:cs typeface="Calibri" pitchFamily="34" charset="0"/>
              </a:rPr>
              <a:t> </a:t>
            </a:r>
            <a:r>
              <a:rPr lang="en-US" sz="2000">
                <a:solidFill>
                  <a:schemeClr val="accent2">
                    <a:lumMod val="50000"/>
                  </a:schemeClr>
                </a:solidFill>
                <a:latin typeface="Calibri" pitchFamily="34" charset="0"/>
                <a:cs typeface="Calibri" pitchFamily="34" charset="0"/>
              </a:rPr>
              <a:t>Ricci</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muốn làm cho khách hàng hài lòng bằng cách đưa họ đề xuất ngay lập tức, </a:t>
            </a:r>
            <a:r>
              <a:rPr lang="en-US" sz="2000" smtClean="0">
                <a:solidFill>
                  <a:schemeClr val="accent2">
                    <a:lumMod val="50000"/>
                  </a:schemeClr>
                </a:solidFill>
                <a:latin typeface="Calibri" pitchFamily="34" charset="0"/>
                <a:cs typeface="Calibri" pitchFamily="34" charset="0"/>
              </a:rPr>
              <a:t>nhưng John</a:t>
            </a:r>
            <a:r>
              <a:rPr lang="vi-VN" sz="2000" smtClean="0">
                <a:solidFill>
                  <a:schemeClr val="accent2">
                    <a:lumMod val="50000"/>
                  </a:schemeClr>
                </a:solidFill>
                <a:latin typeface="Calibri" pitchFamily="34" charset="0"/>
                <a:cs typeface="Calibri" pitchFamily="34" charset="0"/>
              </a:rPr>
              <a:t> muốn </a:t>
            </a:r>
            <a:r>
              <a:rPr lang="en-US" sz="2000" smtClean="0">
                <a:solidFill>
                  <a:schemeClr val="accent2">
                    <a:lumMod val="50000"/>
                  </a:schemeClr>
                </a:solidFill>
                <a:latin typeface="Calibri" pitchFamily="34" charset="0"/>
                <a:cs typeface="Calibri" pitchFamily="34" charset="0"/>
              </a:rPr>
              <a:t>có</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thêm một chút thời gian để thực hiện đúng đề xuất. J</a:t>
            </a:r>
            <a:r>
              <a:rPr lang="en-US" sz="2000">
                <a:solidFill>
                  <a:schemeClr val="accent2">
                    <a:lumMod val="50000"/>
                  </a:schemeClr>
                </a:solidFill>
                <a:latin typeface="Calibri" pitchFamily="34" charset="0"/>
                <a:cs typeface="Calibri" pitchFamily="34" charset="0"/>
              </a:rPr>
              <a:t>ohn</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nói với </a:t>
            </a:r>
            <a:r>
              <a:rPr lang="en-US" sz="2000">
                <a:solidFill>
                  <a:schemeClr val="accent2">
                    <a:lumMod val="50000"/>
                  </a:schemeClr>
                </a:solidFill>
                <a:latin typeface="Calibri" pitchFamily="34" charset="0"/>
                <a:cs typeface="Calibri" pitchFamily="34" charset="0"/>
              </a:rPr>
              <a:t>Ricci</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rằng anh ấy sẽ soạn thảo một email tới Flight Simulators, Inc. và yêu cầu thêm thời gian để phát triển một đề xuất chính xác và hợp lý. </a:t>
            </a:r>
            <a:r>
              <a:rPr lang="en-US" sz="2000">
                <a:solidFill>
                  <a:schemeClr val="accent2">
                    <a:lumMod val="50000"/>
                  </a:schemeClr>
                </a:solidFill>
                <a:latin typeface="Calibri" pitchFamily="34" charset="0"/>
                <a:cs typeface="Calibri" pitchFamily="34" charset="0"/>
              </a:rPr>
              <a:t>Ricci</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do dự nhưng cũng đồng ý. </a:t>
            </a:r>
          </a:p>
          <a:p>
            <a:pPr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Vào sáng thứ Hai, J</a:t>
            </a:r>
            <a:r>
              <a:rPr lang="en-US" sz="2000">
                <a:solidFill>
                  <a:schemeClr val="accent2">
                    <a:lumMod val="50000"/>
                  </a:schemeClr>
                </a:solidFill>
                <a:latin typeface="Calibri" pitchFamily="34" charset="0"/>
                <a:cs typeface="Calibri" pitchFamily="34" charset="0"/>
              </a:rPr>
              <a:t>ohn</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thấy rằng Flight Simulators, Inc. đã phản hồi yêu cầu của anh ấy. Họ đánh giá cao thực tế là </a:t>
            </a:r>
            <a:r>
              <a:rPr lang="en-US" sz="2000" smtClean="0">
                <a:solidFill>
                  <a:schemeClr val="accent2">
                    <a:lumMod val="50000"/>
                  </a:schemeClr>
                </a:solidFill>
                <a:latin typeface="Calibri" pitchFamily="34" charset="0"/>
                <a:cs typeface="Calibri" pitchFamily="34" charset="0"/>
              </a:rPr>
              <a:t>John </a:t>
            </a:r>
            <a:r>
              <a:rPr lang="vi-VN" sz="2000" smtClean="0">
                <a:solidFill>
                  <a:schemeClr val="accent2">
                    <a:lumMod val="50000"/>
                  </a:schemeClr>
                </a:solidFill>
                <a:latin typeface="Calibri" pitchFamily="34" charset="0"/>
                <a:cs typeface="Calibri" pitchFamily="34" charset="0"/>
              </a:rPr>
              <a:t>đã </a:t>
            </a:r>
            <a:r>
              <a:rPr lang="vi-VN" sz="2000">
                <a:solidFill>
                  <a:schemeClr val="accent2">
                    <a:lumMod val="50000"/>
                  </a:schemeClr>
                </a:solidFill>
                <a:latin typeface="Calibri" pitchFamily="34" charset="0"/>
                <a:cs typeface="Calibri" pitchFamily="34" charset="0"/>
              </a:rPr>
              <a:t>thông báo mối quan tâm của mình về sự thay đổi nhanh chóng đối với yêu cầu đề xuất. Họ nói rằng họ sẽ cho anh ấy một tuần để làm việc với nhóm của anh ấy để đưa ra ước tính cho dự án.  </a:t>
            </a:r>
          </a:p>
          <a:p>
            <a:pPr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Bây giờ, J</a:t>
            </a:r>
            <a:r>
              <a:rPr lang="en-US" sz="2000">
                <a:solidFill>
                  <a:schemeClr val="accent2">
                    <a:lumMod val="50000"/>
                  </a:schemeClr>
                </a:solidFill>
                <a:latin typeface="Calibri" pitchFamily="34" charset="0"/>
                <a:cs typeface="Calibri" pitchFamily="34" charset="0"/>
              </a:rPr>
              <a:t>ohn</a:t>
            </a:r>
            <a:r>
              <a:rPr lang="vi-VN" sz="2000" smtClean="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rPr>
              <a:t>có thời gian để nhờ tất cả những người đóng vai trò quan trọng tham gia vào việc ước tính nỗ lực sẽ cần để </a:t>
            </a:r>
            <a:r>
              <a:rPr lang="en-US" sz="2000" smtClean="0">
                <a:solidFill>
                  <a:schemeClr val="accent2">
                    <a:lumMod val="50000"/>
                  </a:schemeClr>
                </a:solidFill>
                <a:latin typeface="Calibri" pitchFamily="34" charset="0"/>
                <a:cs typeface="Calibri" pitchFamily="34" charset="0"/>
              </a:rPr>
              <a:t>có thể thực hiện </a:t>
            </a:r>
            <a:r>
              <a:rPr lang="vi-VN" sz="2000" smtClean="0">
                <a:solidFill>
                  <a:schemeClr val="accent2">
                    <a:lumMod val="50000"/>
                  </a:schemeClr>
                </a:solidFill>
                <a:latin typeface="Calibri" pitchFamily="34" charset="0"/>
                <a:cs typeface="Calibri" pitchFamily="34" charset="0"/>
              </a:rPr>
              <a:t>dự án.</a:t>
            </a: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18</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000" b="1">
                <a:solidFill>
                  <a:schemeClr val="accent6">
                    <a:lumMod val="75000"/>
                  </a:schemeClr>
                </a:solidFill>
                <a:latin typeface="+mn-lt"/>
                <a:cs typeface="Arial" pitchFamily="34" charset="0"/>
              </a:rPr>
              <a:t>Điều gì đáng lẽ đã xảy ra</a:t>
            </a:r>
            <a:endParaRPr lang="en-US" sz="2000">
              <a:solidFill>
                <a:schemeClr val="tx2"/>
              </a:solidFill>
              <a:latin typeface="+mn-lt"/>
              <a:cs typeface="Arial" pitchFamily="34" charset="0"/>
            </a:endParaRPr>
          </a:p>
        </p:txBody>
      </p:sp>
    </p:spTree>
    <p:extLst>
      <p:ext uri="{BB962C8B-B14F-4D97-AF65-F5344CB8AC3E}">
        <p14:creationId xmlns:p14="http://schemas.microsoft.com/office/powerpoint/2010/main" val="8519288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Giai đoạn đầu tiên trong SDLC gồm 2 hoạt động chính:</a:t>
            </a:r>
            <a:endParaRPr lang="en-US" sz="20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Thứ nhất: </a:t>
            </a:r>
            <a:r>
              <a:rPr lang="vi-VN" sz="1800" smtClean="0">
                <a:solidFill>
                  <a:schemeClr val="accent2">
                    <a:lumMod val="50000"/>
                  </a:schemeClr>
                </a:solidFill>
                <a:latin typeface="Calibri" pitchFamily="34" charset="0"/>
                <a:cs typeface="Calibri" pitchFamily="34" charset="0"/>
              </a:rPr>
              <a:t>xác </a:t>
            </a:r>
            <a:r>
              <a:rPr lang="vi-VN" sz="1800">
                <a:solidFill>
                  <a:schemeClr val="accent2">
                    <a:lumMod val="50000"/>
                  </a:schemeClr>
                </a:solidFill>
                <a:latin typeface="Calibri" pitchFamily="34" charset="0"/>
                <a:cs typeface="Calibri" pitchFamily="34" charset="0"/>
              </a:rPr>
              <a:t>định </a:t>
            </a:r>
            <a:r>
              <a:rPr lang="vi-VN" sz="1800" smtClean="0">
                <a:solidFill>
                  <a:schemeClr val="accent2">
                    <a:lumMod val="50000"/>
                  </a:schemeClr>
                </a:solidFill>
                <a:latin typeface="Calibri" pitchFamily="34" charset="0"/>
                <a:cs typeface="Calibri" pitchFamily="34" charset="0"/>
              </a:rPr>
              <a:t>nhu cầu xây dựng hệ </a:t>
            </a:r>
            <a:r>
              <a:rPr lang="vi-VN" sz="1800">
                <a:solidFill>
                  <a:schemeClr val="accent2">
                    <a:lumMod val="50000"/>
                  </a:schemeClr>
                </a:solidFill>
                <a:latin typeface="Calibri" pitchFamily="34" charset="0"/>
                <a:cs typeface="Calibri" pitchFamily="34" charset="0"/>
              </a:rPr>
              <a:t>thống mới hoặc nâng </a:t>
            </a:r>
            <a:r>
              <a:rPr lang="vi-VN" sz="1800" smtClean="0">
                <a:solidFill>
                  <a:schemeClr val="accent2">
                    <a:lumMod val="50000"/>
                  </a:schemeClr>
                </a:solidFill>
                <a:latin typeface="Calibri" pitchFamily="34" charset="0"/>
                <a:cs typeface="Calibri" pitchFamily="34" charset="0"/>
              </a:rPr>
              <a:t>cấp hệ thống cũ. </a:t>
            </a:r>
          </a:p>
          <a:p>
            <a:pPr lvl="2"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Nhu cầu này có thể xuất phát từ việc xem xét các yêu cầu đặt ra để giải quyết các bài toán trong quy trình hiện tại, hoặc mong muốn thực hiện các nhiệm vụ bổ sung, hoặc nhận thức được vai trò của hệ thống thông tin trong công tác quản lý, điều hành tổ chức...</a:t>
            </a:r>
          </a:p>
          <a:p>
            <a:pPr lvl="2"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Việc xác định nhu cầu hệ thống là một </a:t>
            </a:r>
            <a:r>
              <a:rPr lang="vi-VN" sz="1600">
                <a:solidFill>
                  <a:schemeClr val="accent2">
                    <a:lumMod val="50000"/>
                  </a:schemeClr>
                </a:solidFill>
                <a:latin typeface="Calibri" pitchFamily="34" charset="0"/>
                <a:cs typeface="Calibri" pitchFamily="34" charset="0"/>
              </a:rPr>
              <a:t>yêu cầu bắt buộc để có thể tiến hành những bước tiếp theo của quá trình phát triển: Không có </a:t>
            </a:r>
            <a:r>
              <a:rPr lang="vi-VN" sz="1600" smtClean="0">
                <a:solidFill>
                  <a:schemeClr val="accent2">
                    <a:lumMod val="50000"/>
                  </a:schemeClr>
                </a:solidFill>
                <a:latin typeface="Calibri" pitchFamily="34" charset="0"/>
                <a:cs typeface="Calibri" pitchFamily="34" charset="0"/>
              </a:rPr>
              <a:t>nhu cầu thì </a:t>
            </a:r>
            <a:r>
              <a:rPr lang="vi-VN" sz="1600">
                <a:solidFill>
                  <a:schemeClr val="accent2">
                    <a:lumMod val="50000"/>
                  </a:schemeClr>
                </a:solidFill>
                <a:latin typeface="Calibri" pitchFamily="34" charset="0"/>
                <a:cs typeface="Calibri" pitchFamily="34" charset="0"/>
              </a:rPr>
              <a:t>cũng không có việc xây dựng </a:t>
            </a:r>
            <a:r>
              <a:rPr lang="vi-VN" sz="1600" smtClean="0">
                <a:solidFill>
                  <a:schemeClr val="accent2">
                    <a:lumMod val="50000"/>
                  </a:schemeClr>
                </a:solidFill>
                <a:latin typeface="Calibri" pitchFamily="34" charset="0"/>
                <a:cs typeface="Calibri" pitchFamily="34" charset="0"/>
              </a:rPr>
              <a:t>HTTT.</a:t>
            </a:r>
          </a:p>
          <a:p>
            <a:pPr lvl="1"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T</a:t>
            </a:r>
            <a:r>
              <a:rPr lang="vi-VN" sz="1800" smtClean="0">
                <a:solidFill>
                  <a:schemeClr val="accent2">
                    <a:lumMod val="50000"/>
                  </a:schemeClr>
                </a:solidFill>
                <a:latin typeface="Calibri" pitchFamily="34" charset="0"/>
                <a:cs typeface="Calibri" pitchFamily="34" charset="0"/>
              </a:rPr>
              <a:t>hứ hai: điều </a:t>
            </a:r>
            <a:r>
              <a:rPr lang="vi-VN" sz="1800">
                <a:solidFill>
                  <a:schemeClr val="accent2">
                    <a:lumMod val="50000"/>
                  </a:schemeClr>
                </a:solidFill>
                <a:latin typeface="Calibri" pitchFamily="34" charset="0"/>
                <a:cs typeface="Calibri" pitchFamily="34" charset="0"/>
              </a:rPr>
              <a:t>tra </a:t>
            </a:r>
            <a:r>
              <a:rPr lang="vi-VN" sz="1800" smtClean="0">
                <a:solidFill>
                  <a:schemeClr val="accent2">
                    <a:lumMod val="50000"/>
                  </a:schemeClr>
                </a:solidFill>
                <a:latin typeface="Calibri" pitchFamily="34" charset="0"/>
                <a:cs typeface="Calibri" pitchFamily="34" charset="0"/>
              </a:rPr>
              <a:t>và </a:t>
            </a:r>
            <a:r>
              <a:rPr lang="vi-VN" sz="1800">
                <a:solidFill>
                  <a:schemeClr val="accent2">
                    <a:lumMod val="50000"/>
                  </a:schemeClr>
                </a:solidFill>
                <a:latin typeface="Calibri" pitchFamily="34" charset="0"/>
                <a:cs typeface="Calibri" pitchFamily="34" charset="0"/>
              </a:rPr>
              <a:t>xác định phạm vi </a:t>
            </a:r>
            <a:r>
              <a:rPr lang="vi-VN" sz="1800" smtClean="0">
                <a:solidFill>
                  <a:schemeClr val="accent2">
                    <a:lumMod val="50000"/>
                  </a:schemeClr>
                </a:solidFill>
                <a:latin typeface="Calibri" pitchFamily="34" charset="0"/>
                <a:cs typeface="Calibri" pitchFamily="34" charset="0"/>
              </a:rPr>
              <a:t>của hệ </a:t>
            </a:r>
            <a:r>
              <a:rPr lang="vi-VN" sz="1800">
                <a:solidFill>
                  <a:schemeClr val="accent2">
                    <a:lumMod val="50000"/>
                  </a:schemeClr>
                </a:solidFill>
                <a:latin typeface="Calibri" pitchFamily="34" charset="0"/>
                <a:cs typeface="Calibri" pitchFamily="34" charset="0"/>
              </a:rPr>
              <a:t>thống </a:t>
            </a:r>
            <a:r>
              <a:rPr lang="vi-VN" sz="1800" smtClean="0">
                <a:solidFill>
                  <a:schemeClr val="accent2">
                    <a:lumMod val="50000"/>
                  </a:schemeClr>
                </a:solidFill>
                <a:latin typeface="Calibri" pitchFamily="34" charset="0"/>
                <a:cs typeface="Calibri" pitchFamily="34" charset="0"/>
              </a:rPr>
              <a:t>được đề nghị. </a:t>
            </a:r>
          </a:p>
          <a:p>
            <a:pPr lvl="2"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Lập bản kế hoạch cụ thể về mục đích và các nhiệm vụ mà hệ thống được đề xuất cần phải thực hiện, hệ thống phải đảm bảo giải quyết được những vấn đề đặt ra của tổ chức.</a:t>
            </a:r>
          </a:p>
          <a:p>
            <a:pPr lvl="2" algn="just">
              <a:spcAft>
                <a:spcPts val="683"/>
              </a:spcAft>
              <a:buClr>
                <a:srgbClr val="FF0066"/>
              </a:buClr>
              <a:buFont typeface="Symbol" pitchFamily="18" charset="2"/>
              <a:buChar char="¨"/>
            </a:pPr>
            <a:r>
              <a:rPr lang="vi-VN" sz="1600">
                <a:solidFill>
                  <a:schemeClr val="accent2">
                    <a:lumMod val="50000"/>
                  </a:schemeClr>
                </a:solidFill>
                <a:latin typeface="Calibri" pitchFamily="34" charset="0"/>
                <a:cs typeface="Calibri" pitchFamily="34" charset="0"/>
              </a:rPr>
              <a:t>Ư</a:t>
            </a:r>
            <a:r>
              <a:rPr lang="vi-VN" sz="1600" smtClean="0">
                <a:solidFill>
                  <a:schemeClr val="accent2">
                    <a:lumMod val="50000"/>
                  </a:schemeClr>
                </a:solidFill>
                <a:latin typeface="Calibri" pitchFamily="34" charset="0"/>
                <a:cs typeface="Calibri" pitchFamily="34" charset="0"/>
              </a:rPr>
              <a:t>ớc </a:t>
            </a:r>
            <a:r>
              <a:rPr lang="vi-VN" sz="1600">
                <a:solidFill>
                  <a:schemeClr val="accent2">
                    <a:lumMod val="50000"/>
                  </a:schemeClr>
                </a:solidFill>
                <a:latin typeface="Calibri" pitchFamily="34" charset="0"/>
                <a:cs typeface="Calibri" pitchFamily="34" charset="0"/>
              </a:rPr>
              <a:t>lượng các nguồn lực cần có và lịch trình thực hiện cho việc phát triển hệ thống mới</a:t>
            </a:r>
            <a:r>
              <a:rPr lang="vi-VN" sz="1600" smtClean="0">
                <a:solidFill>
                  <a:schemeClr val="accent2">
                    <a:lumMod val="50000"/>
                  </a:schemeClr>
                </a:solidFill>
                <a:latin typeface="Calibri" pitchFamily="34" charset="0"/>
                <a:cs typeface="Calibri" pitchFamily="34" charset="0"/>
              </a:rPr>
              <a:t>. Đồng thời </a:t>
            </a:r>
            <a:r>
              <a:rPr lang="vi-VN" sz="1600">
                <a:solidFill>
                  <a:schemeClr val="accent2">
                    <a:lumMod val="50000"/>
                  </a:schemeClr>
                </a:solidFill>
                <a:latin typeface="Calibri" pitchFamily="34" charset="0"/>
                <a:cs typeface="Calibri" pitchFamily="34" charset="0"/>
              </a:rPr>
              <a:t>xác định chi phí phát triển hệ thống và lợi ích mà nó sẽ mang lại cho tổ </a:t>
            </a:r>
            <a:r>
              <a:rPr lang="vi-VN" sz="1600" smtClean="0">
                <a:solidFill>
                  <a:schemeClr val="accent2">
                    <a:lumMod val="50000"/>
                  </a:schemeClr>
                </a:solidFill>
                <a:latin typeface="Calibri" pitchFamily="34" charset="0"/>
                <a:cs typeface="Calibri" pitchFamily="34" charset="0"/>
              </a:rPr>
              <a:t>chức.</a:t>
            </a:r>
          </a:p>
          <a:p>
            <a:pPr marL="130131" indent="0" algn="just">
              <a:spcAft>
                <a:spcPts val="683"/>
              </a:spcAft>
              <a:buClr>
                <a:srgbClr val="FF0066"/>
              </a:buClr>
              <a:buNone/>
            </a:pPr>
            <a:r>
              <a:rPr lang="vi-VN" sz="1800" smtClean="0">
                <a:solidFill>
                  <a:schemeClr val="accent2">
                    <a:lumMod val="50000"/>
                  </a:schemeClr>
                </a:solidFill>
                <a:latin typeface="Calibri" pitchFamily="34" charset="0"/>
                <a:cs typeface="Calibri" pitchFamily="34" charset="0"/>
              </a:rPr>
              <a:t>Đầu ra là một bản kế hoạch dự án cơ sở mô tả sơ bộ các thông tin ban đầu của dự án, nếu bản kế hoạch được phê duyệt thì có thể tiến </a:t>
            </a:r>
            <a:r>
              <a:rPr lang="vi-VN" sz="1800">
                <a:solidFill>
                  <a:schemeClr val="accent2">
                    <a:lumMod val="50000"/>
                  </a:schemeClr>
                </a:solidFill>
                <a:latin typeface="Calibri" pitchFamily="34" charset="0"/>
                <a:cs typeface="Calibri" pitchFamily="34" charset="0"/>
              </a:rPr>
              <a:t>hành các giai đoạn tiếp theo </a:t>
            </a:r>
            <a:r>
              <a:rPr lang="vi-VN" sz="1800" smtClean="0">
                <a:solidFill>
                  <a:schemeClr val="accent2">
                    <a:lumMod val="50000"/>
                  </a:schemeClr>
                </a:solidFill>
                <a:latin typeface="Calibri" pitchFamily="34" charset="0"/>
                <a:cs typeface="Calibri" pitchFamily="34" charset="0"/>
              </a:rPr>
              <a:t>của dự án.</a:t>
            </a:r>
            <a:endParaRPr lang="en-US" sz="18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19</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b="1">
                <a:solidFill>
                  <a:schemeClr val="accent6">
                    <a:lumMod val="75000"/>
                  </a:schemeClr>
                </a:solidFill>
                <a:latin typeface="+mn-lt"/>
                <a:cs typeface="Arial" pitchFamily="34" charset="0"/>
              </a:rPr>
              <a:t>1. </a:t>
            </a:r>
            <a:r>
              <a:rPr lang="en-US" sz="1600" b="1" smtClean="0">
                <a:solidFill>
                  <a:schemeClr val="accent6">
                    <a:lumMod val="75000"/>
                  </a:schemeClr>
                </a:solidFill>
                <a:latin typeface="+mn-lt"/>
                <a:cs typeface="Arial" pitchFamily="34" charset="0"/>
              </a:rPr>
              <a:t>Lựa chọn và lập kế hoạch hệ thống</a:t>
            </a:r>
            <a:endParaRPr lang="en-US" sz="1600" b="1">
              <a:solidFill>
                <a:schemeClr val="accent6">
                  <a:lumMod val="75000"/>
                </a:schemeClr>
              </a:solidFill>
              <a:latin typeface="+mn-lt"/>
              <a:cs typeface="Arial" pitchFamily="34" charset="0"/>
            </a:endParaRPr>
          </a:p>
          <a:p>
            <a:pPr algn="just"/>
            <a:r>
              <a:rPr lang="en-US" sz="1600">
                <a:solidFill>
                  <a:schemeClr val="tx2"/>
                </a:solidFill>
                <a:latin typeface="+mn-lt"/>
                <a:cs typeface="Arial" pitchFamily="34" charset="0"/>
              </a:rPr>
              <a:t>2. </a:t>
            </a:r>
            <a:r>
              <a:rPr lang="en-US" sz="1600" smtClean="0">
                <a:solidFill>
                  <a:schemeClr val="tx2"/>
                </a:solidFill>
                <a:latin typeface="+mn-lt"/>
                <a:cs typeface="Arial" pitchFamily="34" charset="0"/>
              </a:rPr>
              <a:t>Phân tích hệ thống</a:t>
            </a:r>
            <a:endParaRPr lang="en-US" sz="1600">
              <a:solidFill>
                <a:schemeClr val="tx2"/>
              </a:solidFill>
              <a:latin typeface="+mn-lt"/>
              <a:cs typeface="Arial" pitchFamily="34" charset="0"/>
            </a:endParaRPr>
          </a:p>
          <a:p>
            <a:pPr algn="just"/>
            <a:r>
              <a:rPr lang="en-US" sz="1600">
                <a:solidFill>
                  <a:schemeClr val="tx2"/>
                </a:solidFill>
                <a:latin typeface="+mn-lt"/>
                <a:cs typeface="Arial" pitchFamily="34" charset="0"/>
              </a:rPr>
              <a:t>3. </a:t>
            </a:r>
            <a:r>
              <a:rPr lang="en-US" sz="1600" smtClean="0">
                <a:solidFill>
                  <a:schemeClr val="tx2"/>
                </a:solidFill>
                <a:latin typeface="+mn-lt"/>
                <a:cs typeface="Arial" pitchFamily="34" charset="0"/>
              </a:rPr>
              <a:t>Thiết kế hệ thống</a:t>
            </a:r>
            <a:endParaRPr lang="en-US" sz="1600">
              <a:solidFill>
                <a:schemeClr val="tx2"/>
              </a:solidFill>
              <a:latin typeface="+mn-lt"/>
              <a:cs typeface="Arial" pitchFamily="34" charset="0"/>
            </a:endParaRPr>
          </a:p>
          <a:p>
            <a:pPr algn="just"/>
            <a:r>
              <a:rPr lang="en-US" sz="1600">
                <a:solidFill>
                  <a:schemeClr val="tx2"/>
                </a:solidFill>
                <a:latin typeface="+mn-lt"/>
                <a:cs typeface="Arial" pitchFamily="34" charset="0"/>
              </a:rPr>
              <a:t>4. </a:t>
            </a:r>
            <a:r>
              <a:rPr lang="en-US" sz="1600" smtClean="0">
                <a:solidFill>
                  <a:schemeClr val="tx2"/>
                </a:solidFill>
                <a:latin typeface="+mn-lt"/>
                <a:cs typeface="Arial" pitchFamily="34" charset="0"/>
              </a:rPr>
              <a:t>Triển khai và vận hành hệ thống</a:t>
            </a:r>
            <a:endParaRPr lang="en-US" sz="1600">
              <a:solidFill>
                <a:schemeClr val="tx2"/>
              </a:solidFill>
              <a:latin typeface="+mn-lt"/>
              <a:cs typeface="Arial" pitchFamily="34" charset="0"/>
            </a:endParaRPr>
          </a:p>
        </p:txBody>
      </p:sp>
    </p:spTree>
    <p:extLst>
      <p:ext uri="{BB962C8B-B14F-4D97-AF65-F5344CB8AC3E}">
        <p14:creationId xmlns:p14="http://schemas.microsoft.com/office/powerpoint/2010/main" val="833442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Phân </a:t>
            </a:r>
            <a:r>
              <a:rPr lang="vi-VN" sz="2000">
                <a:solidFill>
                  <a:schemeClr val="accent2">
                    <a:lumMod val="50000"/>
                  </a:schemeClr>
                </a:solidFill>
                <a:latin typeface="Calibri" pitchFamily="34" charset="0"/>
                <a:cs typeface="Calibri" pitchFamily="34" charset="0"/>
              </a:rPr>
              <a:t>tích hệ thống nhằm xác định nhu cầu thông tin của tổ </a:t>
            </a:r>
            <a:r>
              <a:rPr lang="vi-VN" sz="2000" smtClean="0">
                <a:solidFill>
                  <a:schemeClr val="accent2">
                    <a:lumMod val="50000"/>
                  </a:schemeClr>
                </a:solidFill>
                <a:latin typeface="Calibri" pitchFamily="34" charset="0"/>
                <a:cs typeface="Calibri" pitchFamily="34" charset="0"/>
              </a:rPr>
              <a:t>chức, bao gồm 3 pha nhỏ:</a:t>
            </a:r>
          </a:p>
          <a:p>
            <a:pPr lvl="1" algn="just">
              <a:spcAft>
                <a:spcPts val="683"/>
              </a:spcAft>
              <a:buClr>
                <a:srgbClr val="FF0066"/>
              </a:buClr>
              <a:buFont typeface="Symbol" pitchFamily="18" charset="2"/>
              <a:buChar char="¨"/>
            </a:pPr>
            <a:r>
              <a:rPr lang="vi-VN" sz="1800" i="1" smtClean="0">
                <a:solidFill>
                  <a:schemeClr val="accent2">
                    <a:lumMod val="50000"/>
                  </a:schemeClr>
                </a:solidFill>
                <a:latin typeface="Calibri" pitchFamily="34" charset="0"/>
                <a:cs typeface="Calibri" pitchFamily="34" charset="0"/>
              </a:rPr>
              <a:t>Xác </a:t>
            </a:r>
            <a:r>
              <a:rPr lang="vi-VN" sz="1800" i="1">
                <a:solidFill>
                  <a:schemeClr val="accent2">
                    <a:lumMod val="50000"/>
                  </a:schemeClr>
                </a:solidFill>
                <a:latin typeface="Calibri" pitchFamily="34" charset="0"/>
                <a:cs typeface="Calibri" pitchFamily="34" charset="0"/>
              </a:rPr>
              <a:t>định các yêu cầu của hệ </a:t>
            </a:r>
            <a:r>
              <a:rPr lang="vi-VN" sz="1800" i="1" smtClean="0">
                <a:solidFill>
                  <a:schemeClr val="accent2">
                    <a:lumMod val="50000"/>
                  </a:schemeClr>
                </a:solidFill>
                <a:latin typeface="Calibri" pitchFamily="34" charset="0"/>
                <a:cs typeface="Calibri" pitchFamily="34" charset="0"/>
              </a:rPr>
              <a:t>thống</a:t>
            </a:r>
            <a:r>
              <a:rPr lang="vi-VN" sz="1800" smtClean="0">
                <a:solidFill>
                  <a:schemeClr val="accent2">
                    <a:lumMod val="50000"/>
                  </a:schemeClr>
                </a:solidFill>
                <a:latin typeface="Calibri" pitchFamily="34" charset="0"/>
                <a:cs typeface="Calibri" pitchFamily="34" charset="0"/>
              </a:rPr>
              <a:t>: các </a:t>
            </a:r>
            <a:r>
              <a:rPr lang="vi-VN" sz="1800">
                <a:solidFill>
                  <a:schemeClr val="accent2">
                    <a:lumMod val="50000"/>
                  </a:schemeClr>
                </a:solidFill>
                <a:latin typeface="Calibri" pitchFamily="34" charset="0"/>
                <a:cs typeface="Calibri" pitchFamily="34" charset="0"/>
              </a:rPr>
              <a:t>nhà phân tích </a:t>
            </a:r>
            <a:r>
              <a:rPr lang="vi-VN" sz="1800" smtClean="0">
                <a:solidFill>
                  <a:schemeClr val="accent2">
                    <a:lumMod val="50000"/>
                  </a:schemeClr>
                </a:solidFill>
                <a:latin typeface="Calibri" pitchFamily="34" charset="0"/>
                <a:cs typeface="Calibri" pitchFamily="34" charset="0"/>
              </a:rPr>
              <a:t>làm </a:t>
            </a:r>
            <a:r>
              <a:rPr lang="vi-VN" sz="1800">
                <a:solidFill>
                  <a:schemeClr val="accent2">
                    <a:lumMod val="50000"/>
                  </a:schemeClr>
                </a:solidFill>
                <a:latin typeface="Calibri" pitchFamily="34" charset="0"/>
                <a:cs typeface="Calibri" pitchFamily="34" charset="0"/>
              </a:rPr>
              <a:t>việc với người sử dụng để xác định những </a:t>
            </a:r>
            <a:r>
              <a:rPr lang="vi-VN" sz="1800" smtClean="0">
                <a:solidFill>
                  <a:schemeClr val="accent2">
                    <a:lumMod val="50000"/>
                  </a:schemeClr>
                </a:solidFill>
                <a:latin typeface="Calibri" pitchFamily="34" charset="0"/>
                <a:cs typeface="Calibri" pitchFamily="34" charset="0"/>
              </a:rPr>
              <a:t>mong muốn của người </a:t>
            </a:r>
            <a:r>
              <a:rPr lang="vi-VN" sz="1800">
                <a:solidFill>
                  <a:schemeClr val="accent2">
                    <a:lumMod val="50000"/>
                  </a:schemeClr>
                </a:solidFill>
                <a:latin typeface="Calibri" pitchFamily="34" charset="0"/>
                <a:cs typeface="Calibri" pitchFamily="34" charset="0"/>
              </a:rPr>
              <a:t>dùng </a:t>
            </a:r>
            <a:r>
              <a:rPr lang="vi-VN" sz="1800" smtClean="0">
                <a:solidFill>
                  <a:schemeClr val="accent2">
                    <a:lumMod val="50000"/>
                  </a:schemeClr>
                </a:solidFill>
                <a:latin typeface="Calibri" pitchFamily="34" charset="0"/>
                <a:cs typeface="Calibri" pitchFamily="34" charset="0"/>
              </a:rPr>
              <a:t>đối với hệ </a:t>
            </a:r>
            <a:r>
              <a:rPr lang="vi-VN" sz="1800">
                <a:solidFill>
                  <a:schemeClr val="accent2">
                    <a:lumMod val="50000"/>
                  </a:schemeClr>
                </a:solidFill>
                <a:latin typeface="Calibri" pitchFamily="34" charset="0"/>
                <a:cs typeface="Calibri" pitchFamily="34" charset="0"/>
              </a:rPr>
              <a:t>thống được đề xuất. </a:t>
            </a:r>
            <a:r>
              <a:rPr lang="vi-VN" sz="1800" smtClean="0">
                <a:solidFill>
                  <a:schemeClr val="accent2">
                    <a:lumMod val="50000"/>
                  </a:schemeClr>
                </a:solidFill>
                <a:latin typeface="Calibri" pitchFamily="34" charset="0"/>
                <a:cs typeface="Calibri" pitchFamily="34" charset="0"/>
              </a:rPr>
              <a:t>Pha này nghiên cứu kỹ lưỡng quy trình làm việc hiện tại của hệ thống để xác định các chức năng trong hệ thống mới.</a:t>
            </a:r>
          </a:p>
          <a:p>
            <a:pPr lvl="1" algn="just">
              <a:spcAft>
                <a:spcPts val="683"/>
              </a:spcAft>
              <a:buClr>
                <a:srgbClr val="FF0066"/>
              </a:buClr>
              <a:buFont typeface="Symbol" pitchFamily="18" charset="2"/>
              <a:buChar char="¨"/>
            </a:pPr>
            <a:r>
              <a:rPr lang="vi-VN" sz="1800" i="1" smtClean="0">
                <a:solidFill>
                  <a:schemeClr val="accent2">
                    <a:lumMod val="50000"/>
                  </a:schemeClr>
                </a:solidFill>
                <a:latin typeface="Calibri" pitchFamily="34" charset="0"/>
                <a:cs typeface="Calibri" pitchFamily="34" charset="0"/>
              </a:rPr>
              <a:t>Nghiên cứu và cấu trúc yêu cầu</a:t>
            </a:r>
            <a:r>
              <a:rPr lang="vi-VN" sz="1800">
                <a:solidFill>
                  <a:schemeClr val="accent2">
                    <a:lumMod val="50000"/>
                  </a:schemeClr>
                </a:solidFill>
                <a:latin typeface="Calibri" pitchFamily="34" charset="0"/>
                <a:cs typeface="Calibri" pitchFamily="34" charset="0"/>
              </a:rPr>
              <a:t> theo mối quan hệ tương quan giữa chúng, xác định và loại bỏ các dư thừa. </a:t>
            </a:r>
            <a:r>
              <a:rPr lang="vi-VN" sz="1800" smtClean="0">
                <a:solidFill>
                  <a:schemeClr val="accent2">
                    <a:lumMod val="50000"/>
                  </a:schemeClr>
                </a:solidFill>
                <a:latin typeface="Calibri" pitchFamily="34" charset="0"/>
                <a:cs typeface="Calibri" pitchFamily="34" charset="0"/>
              </a:rPr>
              <a:t>Lập bản </a:t>
            </a:r>
            <a:r>
              <a:rPr lang="vi-VN" sz="1800">
                <a:solidFill>
                  <a:schemeClr val="accent2">
                    <a:lumMod val="50000"/>
                  </a:schemeClr>
                </a:solidFill>
                <a:latin typeface="Calibri" pitchFamily="34" charset="0"/>
                <a:cs typeface="Calibri" pitchFamily="34" charset="0"/>
              </a:rPr>
              <a:t>mô tả các giải pháp thiết kế </a:t>
            </a:r>
            <a:r>
              <a:rPr lang="vi-VN" sz="1800" smtClean="0">
                <a:solidFill>
                  <a:schemeClr val="accent2">
                    <a:lumMod val="50000"/>
                  </a:schemeClr>
                </a:solidFill>
                <a:latin typeface="Calibri" pitchFamily="34" charset="0"/>
                <a:cs typeface="Calibri" pitchFamily="34" charset="0"/>
              </a:rPr>
              <a:t>ban đầu </a:t>
            </a:r>
            <a:r>
              <a:rPr lang="vi-VN" sz="1800">
                <a:solidFill>
                  <a:schemeClr val="accent2">
                    <a:lumMod val="50000"/>
                  </a:schemeClr>
                </a:solidFill>
                <a:latin typeface="Calibri" pitchFamily="34" charset="0"/>
                <a:cs typeface="Calibri" pitchFamily="34" charset="0"/>
              </a:rPr>
              <a:t>khác nhau đáp </a:t>
            </a:r>
            <a:r>
              <a:rPr lang="vi-VN" sz="1800" smtClean="0">
                <a:solidFill>
                  <a:schemeClr val="accent2">
                    <a:lumMod val="50000"/>
                  </a:schemeClr>
                </a:solidFill>
                <a:latin typeface="Calibri" pitchFamily="34" charset="0"/>
                <a:cs typeface="Calibri" pitchFamily="34" charset="0"/>
              </a:rPr>
              <a:t>ứng </a:t>
            </a:r>
            <a:r>
              <a:rPr lang="vi-VN" sz="1800">
                <a:solidFill>
                  <a:schemeClr val="accent2">
                    <a:lumMod val="50000"/>
                  </a:schemeClr>
                </a:solidFill>
                <a:latin typeface="Calibri" pitchFamily="34" charset="0"/>
                <a:cs typeface="Calibri" pitchFamily="34" charset="0"/>
              </a:rPr>
              <a:t>yêu cầu </a:t>
            </a:r>
            <a:r>
              <a:rPr lang="vi-VN" sz="1800" smtClean="0">
                <a:solidFill>
                  <a:schemeClr val="accent2">
                    <a:lumMod val="50000"/>
                  </a:schemeClr>
                </a:solidFill>
                <a:latin typeface="Calibri" pitchFamily="34" charset="0"/>
                <a:cs typeface="Calibri" pitchFamily="34" charset="0"/>
              </a:rPr>
              <a:t>đặt ra của </a:t>
            </a:r>
            <a:r>
              <a:rPr lang="vi-VN" sz="1800">
                <a:solidFill>
                  <a:schemeClr val="accent2">
                    <a:lumMod val="50000"/>
                  </a:schemeClr>
                </a:solidFill>
                <a:latin typeface="Calibri" pitchFamily="34" charset="0"/>
                <a:cs typeface="Calibri" pitchFamily="34" charset="0"/>
              </a:rPr>
              <a:t>hệ thống.</a:t>
            </a:r>
          </a:p>
          <a:p>
            <a:pPr lvl="1" algn="just">
              <a:spcAft>
                <a:spcPts val="683"/>
              </a:spcAft>
              <a:buClr>
                <a:srgbClr val="FF0066"/>
              </a:buClr>
              <a:buFont typeface="Symbol" pitchFamily="18" charset="2"/>
              <a:buChar char="¨"/>
            </a:pPr>
            <a:r>
              <a:rPr lang="vi-VN" sz="1800" i="1">
                <a:solidFill>
                  <a:schemeClr val="accent2">
                    <a:lumMod val="50000"/>
                  </a:schemeClr>
                </a:solidFill>
                <a:latin typeface="Calibri" pitchFamily="34" charset="0"/>
                <a:cs typeface="Calibri" pitchFamily="34" charset="0"/>
              </a:rPr>
              <a:t>S</a:t>
            </a:r>
            <a:r>
              <a:rPr lang="vi-VN" sz="1800" i="1" smtClean="0">
                <a:solidFill>
                  <a:schemeClr val="accent2">
                    <a:lumMod val="50000"/>
                  </a:schemeClr>
                </a:solidFill>
                <a:latin typeface="Calibri" pitchFamily="34" charset="0"/>
                <a:cs typeface="Calibri" pitchFamily="34" charset="0"/>
              </a:rPr>
              <a:t>o sánh để </a:t>
            </a:r>
            <a:r>
              <a:rPr lang="vi-VN" sz="1800" i="1">
                <a:solidFill>
                  <a:schemeClr val="accent2">
                    <a:lumMod val="50000"/>
                  </a:schemeClr>
                </a:solidFill>
                <a:latin typeface="Calibri" pitchFamily="34" charset="0"/>
                <a:cs typeface="Calibri" pitchFamily="34" charset="0"/>
              </a:rPr>
              <a:t>lựa </a:t>
            </a:r>
            <a:r>
              <a:rPr lang="vi-VN" sz="1800" i="1" smtClean="0">
                <a:solidFill>
                  <a:schemeClr val="accent2">
                    <a:lumMod val="50000"/>
                  </a:schemeClr>
                </a:solidFill>
                <a:latin typeface="Calibri" pitchFamily="34" charset="0"/>
                <a:cs typeface="Calibri" pitchFamily="34" charset="0"/>
              </a:rPr>
              <a:t>chọn giải </a:t>
            </a:r>
            <a:r>
              <a:rPr lang="vi-VN" sz="1800" i="1">
                <a:solidFill>
                  <a:schemeClr val="accent2">
                    <a:lumMod val="50000"/>
                  </a:schemeClr>
                </a:solidFill>
                <a:latin typeface="Calibri" pitchFamily="34" charset="0"/>
                <a:cs typeface="Calibri" pitchFamily="34" charset="0"/>
              </a:rPr>
              <a:t>pháp </a:t>
            </a:r>
            <a:r>
              <a:rPr lang="vi-VN" sz="1800" i="1" smtClean="0">
                <a:solidFill>
                  <a:schemeClr val="accent2">
                    <a:lumMod val="50000"/>
                  </a:schemeClr>
                </a:solidFill>
                <a:latin typeface="Calibri" pitchFamily="34" charset="0"/>
                <a:cs typeface="Calibri" pitchFamily="34" charset="0"/>
              </a:rPr>
              <a:t>tốt </a:t>
            </a:r>
            <a:r>
              <a:rPr lang="vi-VN" sz="1800" i="1">
                <a:solidFill>
                  <a:schemeClr val="accent2">
                    <a:lumMod val="50000"/>
                  </a:schemeClr>
                </a:solidFill>
                <a:latin typeface="Calibri" pitchFamily="34" charset="0"/>
                <a:cs typeface="Calibri" pitchFamily="34" charset="0"/>
              </a:rPr>
              <a:t>nhất </a:t>
            </a:r>
            <a:r>
              <a:rPr lang="vi-VN" sz="1800" smtClean="0">
                <a:solidFill>
                  <a:schemeClr val="accent2">
                    <a:lumMod val="50000"/>
                  </a:schemeClr>
                </a:solidFill>
                <a:latin typeface="Calibri" pitchFamily="34" charset="0"/>
                <a:cs typeface="Calibri" pitchFamily="34" charset="0"/>
              </a:rPr>
              <a:t>cho </a:t>
            </a:r>
            <a:r>
              <a:rPr lang="vi-VN" sz="1800">
                <a:solidFill>
                  <a:schemeClr val="accent2">
                    <a:lumMod val="50000"/>
                  </a:schemeClr>
                </a:solidFill>
                <a:latin typeface="Calibri" pitchFamily="34" charset="0"/>
                <a:cs typeface="Calibri" pitchFamily="34" charset="0"/>
              </a:rPr>
              <a:t>thiết kế </a:t>
            </a:r>
            <a:r>
              <a:rPr lang="vi-VN" sz="1800" smtClean="0">
                <a:solidFill>
                  <a:schemeClr val="accent2">
                    <a:lumMod val="50000"/>
                  </a:schemeClr>
                </a:solidFill>
                <a:latin typeface="Calibri" pitchFamily="34" charset="0"/>
                <a:cs typeface="Calibri" pitchFamily="34" charset="0"/>
              </a:rPr>
              <a:t>ban đầu sao cho đáp </a:t>
            </a:r>
            <a:r>
              <a:rPr lang="vi-VN" sz="1800">
                <a:solidFill>
                  <a:schemeClr val="accent2">
                    <a:lumMod val="50000"/>
                  </a:schemeClr>
                </a:solidFill>
                <a:latin typeface="Calibri" pitchFamily="34" charset="0"/>
                <a:cs typeface="Calibri" pitchFamily="34" charset="0"/>
              </a:rPr>
              <a:t>ứng các yêu cầu với chi phí, nguồn lực, thời gian và </a:t>
            </a:r>
            <a:r>
              <a:rPr lang="vi-VN" sz="1800" smtClean="0">
                <a:solidFill>
                  <a:schemeClr val="accent2">
                    <a:lumMod val="50000"/>
                  </a:schemeClr>
                </a:solidFill>
                <a:latin typeface="Calibri" pitchFamily="34" charset="0"/>
                <a:cs typeface="Calibri" pitchFamily="34" charset="0"/>
              </a:rPr>
              <a:t>kỹ </a:t>
            </a:r>
            <a:r>
              <a:rPr lang="vi-VN" sz="1800">
                <a:solidFill>
                  <a:schemeClr val="accent2">
                    <a:lumMod val="50000"/>
                  </a:schemeClr>
                </a:solidFill>
                <a:latin typeface="Calibri" pitchFamily="34" charset="0"/>
                <a:cs typeface="Calibri" pitchFamily="34" charset="0"/>
              </a:rPr>
              <a:t>thuật cho </a:t>
            </a:r>
            <a:r>
              <a:rPr lang="vi-VN" sz="1800" smtClean="0">
                <a:solidFill>
                  <a:schemeClr val="accent2">
                    <a:lumMod val="50000"/>
                  </a:schemeClr>
                </a:solidFill>
                <a:latin typeface="Calibri" pitchFamily="34" charset="0"/>
                <a:cs typeface="Calibri" pitchFamily="34" charset="0"/>
              </a:rPr>
              <a:t>phép.</a:t>
            </a:r>
          </a:p>
          <a:p>
            <a:pPr marL="0" indent="0" algn="just">
              <a:spcAft>
                <a:spcPts val="683"/>
              </a:spcAft>
              <a:buClr>
                <a:srgbClr val="FF0066"/>
              </a:buClr>
              <a:buNone/>
            </a:pPr>
            <a:r>
              <a:rPr lang="vi-VN" sz="1800" smtClean="0">
                <a:solidFill>
                  <a:schemeClr val="accent2">
                    <a:lumMod val="50000"/>
                  </a:schemeClr>
                </a:solidFill>
                <a:latin typeface="Calibri" pitchFamily="34" charset="0"/>
                <a:cs typeface="Calibri" pitchFamily="34" charset="0"/>
              </a:rPr>
              <a:t>Đầu </a:t>
            </a:r>
            <a:r>
              <a:rPr lang="vi-VN" sz="1800">
                <a:solidFill>
                  <a:schemeClr val="accent2">
                    <a:lumMod val="50000"/>
                  </a:schemeClr>
                </a:solidFill>
                <a:latin typeface="Calibri" pitchFamily="34" charset="0"/>
                <a:cs typeface="Calibri" pitchFamily="34" charset="0"/>
              </a:rPr>
              <a:t>ra của giai đoạn phân tích là một mô tả </a:t>
            </a:r>
            <a:r>
              <a:rPr lang="vi-VN" sz="1800" smtClean="0">
                <a:solidFill>
                  <a:schemeClr val="accent2">
                    <a:lumMod val="50000"/>
                  </a:schemeClr>
                </a:solidFill>
                <a:latin typeface="Calibri" pitchFamily="34" charset="0"/>
                <a:cs typeface="Calibri" pitchFamily="34" charset="0"/>
              </a:rPr>
              <a:t>các giải </a:t>
            </a:r>
            <a:r>
              <a:rPr lang="vi-VN" sz="1800">
                <a:solidFill>
                  <a:schemeClr val="accent2">
                    <a:lumMod val="50000"/>
                  </a:schemeClr>
                </a:solidFill>
                <a:latin typeface="Calibri" pitchFamily="34" charset="0"/>
                <a:cs typeface="Calibri" pitchFamily="34" charset="0"/>
              </a:rPr>
              <a:t>pháp thay thế </a:t>
            </a:r>
            <a:r>
              <a:rPr lang="vi-VN" sz="1800" smtClean="0">
                <a:solidFill>
                  <a:schemeClr val="accent2">
                    <a:lumMod val="50000"/>
                  </a:schemeClr>
                </a:solidFill>
                <a:latin typeface="Calibri" pitchFamily="34" charset="0"/>
                <a:cs typeface="Calibri" pitchFamily="34" charset="0"/>
              </a:rPr>
              <a:t>được đề nghị bởi nhóm </a:t>
            </a:r>
            <a:r>
              <a:rPr lang="vi-VN" sz="1800">
                <a:solidFill>
                  <a:schemeClr val="accent2">
                    <a:lumMod val="50000"/>
                  </a:schemeClr>
                </a:solidFill>
                <a:latin typeface="Calibri" pitchFamily="34" charset="0"/>
                <a:cs typeface="Calibri" pitchFamily="34" charset="0"/>
              </a:rPr>
              <a:t>phân tích. Khi đề nghị được chấp nhận </a:t>
            </a:r>
            <a:r>
              <a:rPr lang="vi-VN" sz="1800" smtClean="0">
                <a:solidFill>
                  <a:schemeClr val="accent2">
                    <a:lumMod val="50000"/>
                  </a:schemeClr>
                </a:solidFill>
                <a:latin typeface="Calibri" pitchFamily="34" charset="0"/>
                <a:cs typeface="Calibri" pitchFamily="34" charset="0"/>
              </a:rPr>
              <a:t>ta có </a:t>
            </a:r>
            <a:r>
              <a:rPr lang="vi-VN" sz="1800">
                <a:solidFill>
                  <a:schemeClr val="accent2">
                    <a:lumMod val="50000"/>
                  </a:schemeClr>
                </a:solidFill>
                <a:latin typeface="Calibri" pitchFamily="34" charset="0"/>
                <a:cs typeface="Calibri" pitchFamily="34" charset="0"/>
              </a:rPr>
              <a:t>thể lập kế hoạch </a:t>
            </a:r>
            <a:r>
              <a:rPr lang="vi-VN" sz="1800" smtClean="0">
                <a:solidFill>
                  <a:schemeClr val="accent2">
                    <a:lumMod val="50000"/>
                  </a:schemeClr>
                </a:solidFill>
                <a:latin typeface="Calibri" pitchFamily="34" charset="0"/>
                <a:cs typeface="Calibri" pitchFamily="34" charset="0"/>
              </a:rPr>
              <a:t>yêu cầu các phần </a:t>
            </a:r>
            <a:r>
              <a:rPr lang="vi-VN" sz="1800">
                <a:solidFill>
                  <a:schemeClr val="accent2">
                    <a:lumMod val="50000"/>
                  </a:schemeClr>
                </a:solidFill>
                <a:latin typeface="Calibri" pitchFamily="34" charset="0"/>
                <a:cs typeface="Calibri" pitchFamily="34" charset="0"/>
              </a:rPr>
              <a:t>cứng và phần mềm hệ thống cần thiết để xây dựng hoặc vận hành hệ thống như đề xuất.</a:t>
            </a:r>
            <a:endParaRPr lang="en-US" sz="18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20</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Lựa chọn và lập kế hoạch hệ thống</a:t>
            </a:r>
          </a:p>
          <a:p>
            <a:pPr algn="just"/>
            <a:r>
              <a:rPr lang="en-US" sz="1600" b="1">
                <a:solidFill>
                  <a:schemeClr val="accent6">
                    <a:lumMod val="75000"/>
                  </a:schemeClr>
                </a:solidFill>
                <a:latin typeface="+mn-lt"/>
                <a:cs typeface="Arial" pitchFamily="34" charset="0"/>
              </a:rPr>
              <a:t>2. Phân tích hệ thống</a:t>
            </a:r>
          </a:p>
          <a:p>
            <a:pPr algn="just"/>
            <a:r>
              <a:rPr lang="en-US" sz="1600">
                <a:solidFill>
                  <a:schemeClr val="tx2"/>
                </a:solidFill>
                <a:latin typeface="+mn-lt"/>
                <a:cs typeface="Arial" pitchFamily="34" charset="0"/>
              </a:rPr>
              <a:t>3. </a:t>
            </a:r>
            <a:r>
              <a:rPr lang="en-US" sz="1600" smtClean="0">
                <a:solidFill>
                  <a:schemeClr val="tx2"/>
                </a:solidFill>
                <a:latin typeface="+mn-lt"/>
                <a:cs typeface="Arial" pitchFamily="34" charset="0"/>
              </a:rPr>
              <a:t>Thiết kế hệ thống</a:t>
            </a:r>
            <a:endParaRPr lang="en-US" sz="1600">
              <a:solidFill>
                <a:schemeClr val="tx2"/>
              </a:solidFill>
              <a:latin typeface="+mn-lt"/>
              <a:cs typeface="Arial" pitchFamily="34" charset="0"/>
            </a:endParaRPr>
          </a:p>
          <a:p>
            <a:pPr algn="just"/>
            <a:r>
              <a:rPr lang="en-US" sz="1600">
                <a:solidFill>
                  <a:schemeClr val="tx2"/>
                </a:solidFill>
                <a:latin typeface="+mn-lt"/>
                <a:cs typeface="Arial" pitchFamily="34" charset="0"/>
              </a:rPr>
              <a:t>4. </a:t>
            </a:r>
            <a:r>
              <a:rPr lang="en-US" sz="1600" smtClean="0">
                <a:solidFill>
                  <a:schemeClr val="tx2"/>
                </a:solidFill>
                <a:latin typeface="+mn-lt"/>
                <a:cs typeface="Arial" pitchFamily="34" charset="0"/>
              </a:rPr>
              <a:t>Triển khai và vận hành hệ thống</a:t>
            </a:r>
            <a:endParaRPr lang="en-US" sz="1600">
              <a:solidFill>
                <a:schemeClr val="tx2"/>
              </a:solidFill>
              <a:latin typeface="+mn-lt"/>
              <a:cs typeface="Arial" pitchFamily="34" charset="0"/>
            </a:endParaRPr>
          </a:p>
        </p:txBody>
      </p:sp>
    </p:spTree>
    <p:extLst>
      <p:ext uri="{BB962C8B-B14F-4D97-AF65-F5344CB8AC3E}">
        <p14:creationId xmlns:p14="http://schemas.microsoft.com/office/powerpoint/2010/main" val="21875515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Pha thiết kế có nhiệm vụ chuyển đổi từ bản đặc tả giải pháp yêu cầu của pha phân tích thành bản đặc tả hệ thống logic và hệ thống vật lý. Thiết kế tất cả các khía cạnh của hệ thống từ màn hình đầu vào, đầu ra, cơ sở dữ liệu cũng như các tiến trình xử lý bên trong của hệ thống. Pha thiết kế bao gồm 2 pha nhỏ:</a:t>
            </a:r>
          </a:p>
          <a:p>
            <a:pPr lvl="1" algn="just">
              <a:spcAft>
                <a:spcPts val="683"/>
              </a:spcAft>
              <a:buClr>
                <a:srgbClr val="FF0066"/>
              </a:buClr>
              <a:buFont typeface="Symbol" pitchFamily="18" charset="2"/>
              <a:buChar char="¨"/>
            </a:pPr>
            <a:r>
              <a:rPr lang="vi-VN" sz="1800" i="1">
                <a:solidFill>
                  <a:schemeClr val="accent2">
                    <a:lumMod val="50000"/>
                  </a:schemeClr>
                </a:solidFill>
                <a:latin typeface="Calibri" pitchFamily="34" charset="0"/>
                <a:cs typeface="Calibri" pitchFamily="34" charset="0"/>
              </a:rPr>
              <a:t>Thiết kế </a:t>
            </a:r>
            <a:r>
              <a:rPr lang="vi-VN" sz="1800" i="1" smtClean="0">
                <a:solidFill>
                  <a:schemeClr val="accent2">
                    <a:lumMod val="50000"/>
                  </a:schemeClr>
                </a:solidFill>
                <a:latin typeface="Calibri" pitchFamily="34" charset="0"/>
                <a:cs typeface="Calibri" pitchFamily="34" charset="0"/>
              </a:rPr>
              <a:t>logic</a:t>
            </a:r>
            <a:r>
              <a:rPr lang="vi-VN" sz="1800" smtClean="0">
                <a:solidFill>
                  <a:schemeClr val="accent2">
                    <a:lumMod val="50000"/>
                  </a:schemeClr>
                </a:solidFill>
                <a:latin typeface="Calibri" pitchFamily="34" charset="0"/>
                <a:cs typeface="Calibri" pitchFamily="34" charset="0"/>
              </a:rPr>
              <a:t>:</a:t>
            </a:r>
            <a:r>
              <a:rPr lang="vi-VN" sz="1800">
                <a:solidFill>
                  <a:schemeClr val="accent2">
                    <a:lumMod val="50000"/>
                  </a:schemeClr>
                </a:solidFill>
                <a:latin typeface="Calibri" pitchFamily="34" charset="0"/>
                <a:cs typeface="Calibri" pitchFamily="34" charset="0"/>
              </a:rPr>
              <a:t> </a:t>
            </a:r>
            <a:r>
              <a:rPr lang="vi-VN" sz="1800" smtClean="0">
                <a:solidFill>
                  <a:schemeClr val="accent2">
                    <a:lumMod val="50000"/>
                  </a:schemeClr>
                </a:solidFill>
                <a:latin typeface="Calibri" pitchFamily="34" charset="0"/>
                <a:cs typeface="Calibri" pitchFamily="34" charset="0"/>
              </a:rPr>
              <a:t>tập </a:t>
            </a:r>
            <a:r>
              <a:rPr lang="vi-VN" sz="1800">
                <a:solidFill>
                  <a:schemeClr val="accent2">
                    <a:lumMod val="50000"/>
                  </a:schemeClr>
                </a:solidFill>
                <a:latin typeface="Calibri" pitchFamily="34" charset="0"/>
                <a:cs typeface="Calibri" pitchFamily="34" charset="0"/>
              </a:rPr>
              <a:t>trung vào các khía cạnh nghiệp vụ của hệ </a:t>
            </a:r>
            <a:r>
              <a:rPr lang="vi-VN" sz="1800" smtClean="0">
                <a:solidFill>
                  <a:schemeClr val="accent2">
                    <a:lumMod val="50000"/>
                  </a:schemeClr>
                </a:solidFill>
                <a:latin typeface="Calibri" pitchFamily="34" charset="0"/>
                <a:cs typeface="Calibri" pitchFamily="34" charset="0"/>
              </a:rPr>
              <a:t>thống.</a:t>
            </a:r>
          </a:p>
          <a:p>
            <a:pPr lvl="2"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Không </a:t>
            </a:r>
            <a:r>
              <a:rPr lang="vi-VN" sz="1600">
                <a:solidFill>
                  <a:schemeClr val="accent2">
                    <a:lumMod val="50000"/>
                  </a:schemeClr>
                </a:solidFill>
                <a:latin typeface="Calibri" pitchFamily="34" charset="0"/>
                <a:cs typeface="Calibri" pitchFamily="34" charset="0"/>
              </a:rPr>
              <a:t>gắn với bất kỳ </a:t>
            </a:r>
            <a:r>
              <a:rPr lang="vi-VN" sz="1600" smtClean="0">
                <a:solidFill>
                  <a:schemeClr val="accent2">
                    <a:lumMod val="50000"/>
                  </a:schemeClr>
                </a:solidFill>
                <a:latin typeface="Calibri" pitchFamily="34" charset="0"/>
                <a:cs typeface="Calibri" pitchFamily="34" charset="0"/>
              </a:rPr>
              <a:t>phần cứng </a:t>
            </a:r>
            <a:r>
              <a:rPr lang="vi-VN" sz="1600">
                <a:solidFill>
                  <a:schemeClr val="accent2">
                    <a:lumMod val="50000"/>
                  </a:schemeClr>
                </a:solidFill>
                <a:latin typeface="Calibri" pitchFamily="34" charset="0"/>
                <a:cs typeface="Calibri" pitchFamily="34" charset="0"/>
              </a:rPr>
              <a:t>và phần </a:t>
            </a:r>
            <a:r>
              <a:rPr lang="vi-VN" sz="1600" smtClean="0">
                <a:solidFill>
                  <a:schemeClr val="accent2">
                    <a:lumMod val="50000"/>
                  </a:schemeClr>
                </a:solidFill>
                <a:latin typeface="Calibri" pitchFamily="34" charset="0"/>
                <a:cs typeface="Calibri" pitchFamily="34" charset="0"/>
              </a:rPr>
              <a:t>mềm hệ </a:t>
            </a:r>
            <a:r>
              <a:rPr lang="vi-VN" sz="1600">
                <a:solidFill>
                  <a:schemeClr val="accent2">
                    <a:lumMod val="50000"/>
                  </a:schemeClr>
                </a:solidFill>
                <a:latin typeface="Calibri" pitchFamily="34" charset="0"/>
                <a:cs typeface="Calibri" pitchFamily="34" charset="0"/>
              </a:rPr>
              <a:t>thống </a:t>
            </a:r>
            <a:r>
              <a:rPr lang="vi-VN" sz="1600" smtClean="0">
                <a:solidFill>
                  <a:schemeClr val="accent2">
                    <a:lumMod val="50000"/>
                  </a:schemeClr>
                </a:solidFill>
                <a:latin typeface="Calibri" pitchFamily="34" charset="0"/>
                <a:cs typeface="Calibri" pitchFamily="34" charset="0"/>
              </a:rPr>
              <a:t>cụ thể nào, về </a:t>
            </a:r>
            <a:r>
              <a:rPr lang="vi-VN" sz="1600">
                <a:solidFill>
                  <a:schemeClr val="accent2">
                    <a:lumMod val="50000"/>
                  </a:schemeClr>
                </a:solidFill>
                <a:latin typeface="Calibri" pitchFamily="34" charset="0"/>
                <a:cs typeface="Calibri" pitchFamily="34" charset="0"/>
              </a:rPr>
              <a:t>mặt lý </a:t>
            </a:r>
            <a:r>
              <a:rPr lang="vi-VN" sz="1600" smtClean="0">
                <a:solidFill>
                  <a:schemeClr val="accent2">
                    <a:lumMod val="50000"/>
                  </a:schemeClr>
                </a:solidFill>
                <a:latin typeface="Calibri" pitchFamily="34" charset="0"/>
                <a:cs typeface="Calibri" pitchFamily="34" charset="0"/>
              </a:rPr>
              <a:t>thuyết </a:t>
            </a:r>
            <a:r>
              <a:rPr lang="vi-VN" sz="1600">
                <a:solidFill>
                  <a:schemeClr val="accent2">
                    <a:lumMod val="50000"/>
                  </a:schemeClr>
                </a:solidFill>
                <a:latin typeface="Calibri" pitchFamily="34" charset="0"/>
                <a:cs typeface="Calibri" pitchFamily="34" charset="0"/>
              </a:rPr>
              <a:t>hệ thống </a:t>
            </a:r>
            <a:r>
              <a:rPr lang="vi-VN" sz="1600" smtClean="0">
                <a:solidFill>
                  <a:schemeClr val="accent2">
                    <a:lumMod val="50000"/>
                  </a:schemeClr>
                </a:solidFill>
                <a:latin typeface="Calibri" pitchFamily="34" charset="0"/>
                <a:cs typeface="Calibri" pitchFamily="34" charset="0"/>
              </a:rPr>
              <a:t>thiết </a:t>
            </a:r>
            <a:r>
              <a:rPr lang="vi-VN" sz="1600">
                <a:solidFill>
                  <a:schemeClr val="accent2">
                    <a:lumMod val="50000"/>
                  </a:schemeClr>
                </a:solidFill>
                <a:latin typeface="Calibri" pitchFamily="34" charset="0"/>
                <a:cs typeface="Calibri" pitchFamily="34" charset="0"/>
              </a:rPr>
              <a:t>kế có thể được thực hiện trên </a:t>
            </a:r>
            <a:r>
              <a:rPr lang="vi-VN" sz="1600" smtClean="0">
                <a:solidFill>
                  <a:schemeClr val="accent2">
                    <a:lumMod val="50000"/>
                  </a:schemeClr>
                </a:solidFill>
                <a:latin typeface="Calibri" pitchFamily="34" charset="0"/>
                <a:cs typeface="Calibri" pitchFamily="34" charset="0"/>
              </a:rPr>
              <a:t>mọi nền tảng công nghệ.</a:t>
            </a:r>
          </a:p>
          <a:p>
            <a:pPr lvl="1" algn="just">
              <a:spcAft>
                <a:spcPts val="683"/>
              </a:spcAft>
              <a:buClr>
                <a:srgbClr val="FF0066"/>
              </a:buClr>
              <a:buFont typeface="Symbol" pitchFamily="18" charset="2"/>
              <a:buChar char="¨"/>
            </a:pPr>
            <a:r>
              <a:rPr lang="vi-VN" sz="1800" i="1" smtClean="0">
                <a:solidFill>
                  <a:schemeClr val="accent2">
                    <a:lumMod val="50000"/>
                  </a:schemeClr>
                </a:solidFill>
                <a:latin typeface="Calibri" pitchFamily="34" charset="0"/>
                <a:cs typeface="Calibri" pitchFamily="34" charset="0"/>
              </a:rPr>
              <a:t>Thiết kế vật lý</a:t>
            </a:r>
            <a:r>
              <a:rPr lang="vi-VN" sz="1800" smtClean="0">
                <a:solidFill>
                  <a:schemeClr val="accent2">
                    <a:lumMod val="50000"/>
                  </a:schemeClr>
                </a:solidFill>
                <a:latin typeface="Calibri" pitchFamily="34" charset="0"/>
                <a:cs typeface="Calibri" pitchFamily="34" charset="0"/>
              </a:rPr>
              <a:t>: chuyển đổi từ thiết kế logic trừu </a:t>
            </a:r>
            <a:r>
              <a:rPr lang="vi-VN" sz="1800">
                <a:solidFill>
                  <a:schemeClr val="accent2">
                    <a:lumMod val="50000"/>
                  </a:schemeClr>
                </a:solidFill>
                <a:latin typeface="Calibri" pitchFamily="34" charset="0"/>
                <a:cs typeface="Calibri" pitchFamily="34" charset="0"/>
              </a:rPr>
              <a:t>tượng thành bản </a:t>
            </a:r>
            <a:r>
              <a:rPr lang="vi-VN" sz="1800" smtClean="0">
                <a:solidFill>
                  <a:schemeClr val="accent2">
                    <a:lumMod val="50000"/>
                  </a:schemeClr>
                </a:solidFill>
                <a:latin typeface="Calibri" pitchFamily="34" charset="0"/>
                <a:cs typeface="Calibri" pitchFamily="34" charset="0"/>
              </a:rPr>
              <a:t>đặc tả vật </a:t>
            </a:r>
            <a:r>
              <a:rPr lang="vi-VN" sz="1800">
                <a:solidFill>
                  <a:schemeClr val="accent2">
                    <a:lumMod val="50000"/>
                  </a:schemeClr>
                </a:solidFill>
                <a:latin typeface="Calibri" pitchFamily="34" charset="0"/>
                <a:cs typeface="Calibri" pitchFamily="34" charset="0"/>
              </a:rPr>
              <a:t>lý </a:t>
            </a:r>
            <a:r>
              <a:rPr lang="vi-VN" sz="1800" smtClean="0">
                <a:solidFill>
                  <a:schemeClr val="accent2">
                    <a:lumMod val="50000"/>
                  </a:schemeClr>
                </a:solidFill>
                <a:latin typeface="Calibri" pitchFamily="34" charset="0"/>
                <a:cs typeface="Calibri" pitchFamily="34" charset="0"/>
              </a:rPr>
              <a:t>hoặc </a:t>
            </a:r>
            <a:r>
              <a:rPr lang="vi-VN" sz="1800">
                <a:solidFill>
                  <a:schemeClr val="accent2">
                    <a:lumMod val="50000"/>
                  </a:schemeClr>
                </a:solidFill>
                <a:latin typeface="Calibri" pitchFamily="34" charset="0"/>
                <a:cs typeface="Calibri" pitchFamily="34" charset="0"/>
              </a:rPr>
              <a:t>đặc tả </a:t>
            </a:r>
            <a:r>
              <a:rPr lang="vi-VN" sz="1800" smtClean="0">
                <a:solidFill>
                  <a:schemeClr val="accent2">
                    <a:lumMod val="50000"/>
                  </a:schemeClr>
                </a:solidFill>
                <a:latin typeface="Calibri" pitchFamily="34" charset="0"/>
                <a:cs typeface="Calibri" pitchFamily="34" charset="0"/>
              </a:rPr>
              <a:t>kỹ thuật.</a:t>
            </a:r>
          </a:p>
          <a:p>
            <a:pPr lvl="2"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Thiết kế những thành phần </a:t>
            </a:r>
            <a:r>
              <a:rPr lang="vi-VN" sz="1600">
                <a:solidFill>
                  <a:schemeClr val="accent2">
                    <a:lumMod val="50000"/>
                  </a:schemeClr>
                </a:solidFill>
                <a:latin typeface="Calibri" pitchFamily="34" charset="0"/>
                <a:cs typeface="Calibri" pitchFamily="34" charset="0"/>
              </a:rPr>
              <a:t>khác nhau của hệ thống </a:t>
            </a:r>
            <a:r>
              <a:rPr lang="vi-VN" sz="1600" smtClean="0">
                <a:solidFill>
                  <a:schemeClr val="accent2">
                    <a:lumMod val="50000"/>
                  </a:schemeClr>
                </a:solidFill>
                <a:latin typeface="Calibri" pitchFamily="34" charset="0"/>
                <a:cs typeface="Calibri" pitchFamily="34" charset="0"/>
              </a:rPr>
              <a:t>để thực hiện các hoạt động cần thiết như thu </a:t>
            </a:r>
            <a:r>
              <a:rPr lang="vi-VN" sz="1600">
                <a:solidFill>
                  <a:schemeClr val="accent2">
                    <a:lumMod val="50000"/>
                  </a:schemeClr>
                </a:solidFill>
                <a:latin typeface="Calibri" pitchFamily="34" charset="0"/>
                <a:cs typeface="Calibri" pitchFamily="34" charset="0"/>
              </a:rPr>
              <a:t>thập dữ liệu, xử lý và đưa ra thông tin cần thiết cho tổ </a:t>
            </a:r>
            <a:r>
              <a:rPr lang="vi-VN" sz="1600" smtClean="0">
                <a:solidFill>
                  <a:schemeClr val="accent2">
                    <a:lumMod val="50000"/>
                  </a:schemeClr>
                </a:solidFill>
                <a:latin typeface="Calibri" pitchFamily="34" charset="0"/>
                <a:cs typeface="Calibri" pitchFamily="34" charset="0"/>
              </a:rPr>
              <a:t>chức một cách thuận tiện.</a:t>
            </a:r>
          </a:p>
          <a:p>
            <a:pPr lvl="2" algn="just">
              <a:spcAft>
                <a:spcPts val="683"/>
              </a:spcAft>
              <a:buClr>
                <a:srgbClr val="FF0066"/>
              </a:buClr>
              <a:buFont typeface="Symbol" pitchFamily="18" charset="2"/>
              <a:buChar char="¨"/>
            </a:pPr>
            <a:r>
              <a:rPr lang="vi-VN" sz="1600">
                <a:solidFill>
                  <a:schemeClr val="accent2">
                    <a:lumMod val="50000"/>
                  </a:schemeClr>
                </a:solidFill>
                <a:latin typeface="Calibri" pitchFamily="34" charset="0"/>
                <a:cs typeface="Calibri" pitchFamily="34" charset="0"/>
              </a:rPr>
              <a:t>Q</a:t>
            </a:r>
            <a:r>
              <a:rPr lang="vi-VN" sz="1600" smtClean="0">
                <a:solidFill>
                  <a:schemeClr val="accent2">
                    <a:lumMod val="50000"/>
                  </a:schemeClr>
                </a:solidFill>
                <a:latin typeface="Calibri" pitchFamily="34" charset="0"/>
                <a:cs typeface="Calibri" pitchFamily="34" charset="0"/>
              </a:rPr>
              <a:t>uyết </a:t>
            </a:r>
            <a:r>
              <a:rPr lang="vi-VN" sz="1600">
                <a:solidFill>
                  <a:schemeClr val="accent2">
                    <a:lumMod val="50000"/>
                  </a:schemeClr>
                </a:solidFill>
                <a:latin typeface="Calibri" pitchFamily="34" charset="0"/>
                <a:cs typeface="Calibri" pitchFamily="34" charset="0"/>
              </a:rPr>
              <a:t>định lựa </a:t>
            </a:r>
            <a:r>
              <a:rPr lang="vi-VN" sz="1600" smtClean="0">
                <a:solidFill>
                  <a:schemeClr val="accent2">
                    <a:lumMod val="50000"/>
                  </a:schemeClr>
                </a:solidFill>
                <a:latin typeface="Calibri" pitchFamily="34" charset="0"/>
                <a:cs typeface="Calibri" pitchFamily="34" charset="0"/>
              </a:rPr>
              <a:t>chọn ngôn ngữ </a:t>
            </a:r>
            <a:r>
              <a:rPr lang="vi-VN" sz="1600">
                <a:solidFill>
                  <a:schemeClr val="accent2">
                    <a:lumMod val="50000"/>
                  </a:schemeClr>
                </a:solidFill>
                <a:latin typeface="Calibri" pitchFamily="34" charset="0"/>
                <a:cs typeface="Calibri" pitchFamily="34" charset="0"/>
              </a:rPr>
              <a:t>lập </a:t>
            </a:r>
            <a:r>
              <a:rPr lang="vi-VN" sz="1600" smtClean="0">
                <a:solidFill>
                  <a:schemeClr val="accent2">
                    <a:lumMod val="50000"/>
                  </a:schemeClr>
                </a:solidFill>
                <a:latin typeface="Calibri" pitchFamily="34" charset="0"/>
                <a:cs typeface="Calibri" pitchFamily="34" charset="0"/>
              </a:rPr>
              <a:t>trình</a:t>
            </a:r>
            <a:r>
              <a:rPr lang="vi-VN" sz="1600">
                <a:solidFill>
                  <a:schemeClr val="accent2">
                    <a:lumMod val="50000"/>
                  </a:schemeClr>
                </a:solidFill>
                <a:latin typeface="Calibri" pitchFamily="34" charset="0"/>
                <a:cs typeface="Calibri" pitchFamily="34" charset="0"/>
              </a:rPr>
              <a:t>, hệ cơ sở dữ liệu, </a:t>
            </a:r>
            <a:r>
              <a:rPr lang="vi-VN" sz="1600" smtClean="0">
                <a:solidFill>
                  <a:schemeClr val="accent2">
                    <a:lumMod val="50000"/>
                  </a:schemeClr>
                </a:solidFill>
                <a:latin typeface="Calibri" pitchFamily="34" charset="0"/>
                <a:cs typeface="Calibri" pitchFamily="34" charset="0"/>
              </a:rPr>
              <a:t>nền tảng phần cứng, </a:t>
            </a:r>
            <a:r>
              <a:rPr lang="vi-VN" sz="1600">
                <a:solidFill>
                  <a:schemeClr val="accent2">
                    <a:lumMod val="50000"/>
                  </a:schemeClr>
                </a:solidFill>
                <a:latin typeface="Calibri" pitchFamily="34" charset="0"/>
                <a:cs typeface="Calibri" pitchFamily="34" charset="0"/>
              </a:rPr>
              <a:t>hệ điều hành và môi trường </a:t>
            </a:r>
            <a:r>
              <a:rPr lang="vi-VN" sz="1600" smtClean="0">
                <a:solidFill>
                  <a:schemeClr val="accent2">
                    <a:lumMod val="50000"/>
                  </a:schemeClr>
                </a:solidFill>
                <a:latin typeface="Calibri" pitchFamily="34" charset="0"/>
                <a:cs typeface="Calibri" pitchFamily="34" charset="0"/>
              </a:rPr>
              <a:t>mạng để phát triển hệ thống. </a:t>
            </a:r>
            <a:endParaRPr lang="vi-VN" sz="1600">
              <a:solidFill>
                <a:schemeClr val="accent2">
                  <a:lumMod val="50000"/>
                </a:schemeClr>
              </a:solidFill>
              <a:latin typeface="Calibri" pitchFamily="34" charset="0"/>
              <a:cs typeface="Calibri" pitchFamily="34" charset="0"/>
            </a:endParaRPr>
          </a:p>
          <a:p>
            <a:pPr marL="0" indent="0" algn="just">
              <a:spcAft>
                <a:spcPts val="683"/>
              </a:spcAft>
              <a:buClr>
                <a:srgbClr val="FF0066"/>
              </a:buClr>
              <a:buNone/>
            </a:pPr>
            <a:r>
              <a:rPr lang="vi-VN" sz="1900" smtClean="0">
                <a:solidFill>
                  <a:schemeClr val="accent2">
                    <a:lumMod val="50000"/>
                  </a:schemeClr>
                </a:solidFill>
                <a:latin typeface="Calibri" pitchFamily="34" charset="0"/>
                <a:cs typeface="Calibri" pitchFamily="34" charset="0"/>
              </a:rPr>
              <a:t>Sản phẩm cuối </a:t>
            </a:r>
            <a:r>
              <a:rPr lang="vi-VN" sz="1900">
                <a:solidFill>
                  <a:schemeClr val="accent2">
                    <a:lumMod val="50000"/>
                  </a:schemeClr>
                </a:solidFill>
                <a:latin typeface="Calibri" pitchFamily="34" charset="0"/>
                <a:cs typeface="Calibri" pitchFamily="34" charset="0"/>
              </a:rPr>
              <a:t>cùng của pha thiết kế là </a:t>
            </a:r>
            <a:r>
              <a:rPr lang="vi-VN" sz="1900" smtClean="0">
                <a:solidFill>
                  <a:schemeClr val="accent2">
                    <a:lumMod val="50000"/>
                  </a:schemeClr>
                </a:solidFill>
                <a:latin typeface="Calibri" pitchFamily="34" charset="0"/>
                <a:cs typeface="Calibri" pitchFamily="34" charset="0"/>
              </a:rPr>
              <a:t>bản đặc </a:t>
            </a:r>
            <a:r>
              <a:rPr lang="vi-VN" sz="1900">
                <a:solidFill>
                  <a:schemeClr val="accent2">
                    <a:lumMod val="50000"/>
                  </a:schemeClr>
                </a:solidFill>
                <a:latin typeface="Calibri" pitchFamily="34" charset="0"/>
                <a:cs typeface="Calibri" pitchFamily="34" charset="0"/>
              </a:rPr>
              <a:t>tả hệ thống vật lý </a:t>
            </a:r>
            <a:r>
              <a:rPr lang="vi-VN" sz="1900" smtClean="0">
                <a:solidFill>
                  <a:schemeClr val="accent2">
                    <a:lumMod val="50000"/>
                  </a:schemeClr>
                </a:solidFill>
                <a:latin typeface="Calibri" pitchFamily="34" charset="0"/>
                <a:cs typeface="Calibri" pitchFamily="34" charset="0"/>
              </a:rPr>
              <a:t>và được chuyển cho các nhà lập trình để bắt đầu xây dựng hệ thống.</a:t>
            </a:r>
            <a:endParaRPr lang="vi-VN" sz="190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endParaRPr lang="en-US"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21</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Lựa chọn và lập kế hoạch hệ thống</a:t>
            </a:r>
          </a:p>
          <a:p>
            <a:pPr algn="just"/>
            <a:r>
              <a:rPr lang="en-US" sz="1600">
                <a:solidFill>
                  <a:schemeClr val="tx2"/>
                </a:solidFill>
                <a:latin typeface="+mn-lt"/>
                <a:cs typeface="Arial" pitchFamily="34" charset="0"/>
              </a:rPr>
              <a:t>2. Phân tích hệ thống</a:t>
            </a:r>
          </a:p>
          <a:p>
            <a:pPr algn="just"/>
            <a:r>
              <a:rPr lang="en-US" sz="1600" b="1">
                <a:solidFill>
                  <a:schemeClr val="accent6">
                    <a:lumMod val="75000"/>
                  </a:schemeClr>
                </a:solidFill>
                <a:latin typeface="+mn-lt"/>
                <a:cs typeface="Arial" pitchFamily="34" charset="0"/>
              </a:rPr>
              <a:t>3. Thiết kế hệ thống</a:t>
            </a:r>
          </a:p>
          <a:p>
            <a:pPr algn="just"/>
            <a:r>
              <a:rPr lang="en-US" sz="1600">
                <a:solidFill>
                  <a:schemeClr val="tx2"/>
                </a:solidFill>
                <a:latin typeface="+mn-lt"/>
                <a:cs typeface="Arial" pitchFamily="34" charset="0"/>
              </a:rPr>
              <a:t>4. </a:t>
            </a:r>
            <a:r>
              <a:rPr lang="en-US" sz="1600" smtClean="0">
                <a:solidFill>
                  <a:schemeClr val="tx2"/>
                </a:solidFill>
                <a:latin typeface="+mn-lt"/>
                <a:cs typeface="Arial" pitchFamily="34" charset="0"/>
              </a:rPr>
              <a:t>Triển khai và vận hành hệ thống</a:t>
            </a:r>
            <a:endParaRPr lang="en-US" sz="1600">
              <a:solidFill>
                <a:schemeClr val="tx2"/>
              </a:solidFill>
              <a:latin typeface="+mn-lt"/>
              <a:cs typeface="Arial" pitchFamily="34" charset="0"/>
            </a:endParaRPr>
          </a:p>
        </p:txBody>
      </p:sp>
    </p:spTree>
    <p:extLst>
      <p:ext uri="{BB962C8B-B14F-4D97-AF65-F5344CB8AC3E}">
        <p14:creationId xmlns:p14="http://schemas.microsoft.com/office/powerpoint/2010/main" val="17084161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Ví dụ minh họa sự khác biệt giữa thiết kế logic và thiết kế vật lý: Hình A- thiết kế logic của ván trượt, hình B- thiết kế vật lý của ván trượt.</a:t>
            </a:r>
          </a:p>
          <a:p>
            <a:pPr lvl="1" algn="just">
              <a:spcAft>
                <a:spcPts val="683"/>
              </a:spcAft>
              <a:buClr>
                <a:srgbClr val="FF0066"/>
              </a:buClr>
              <a:buFont typeface="Symbol" pitchFamily="18" charset="2"/>
              <a:buChar char="¨"/>
            </a:pPr>
            <a:endParaRPr lang="en-US"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22</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Lựa chọn và lập kế hoạch hệ thống</a:t>
            </a:r>
          </a:p>
          <a:p>
            <a:pPr algn="just"/>
            <a:r>
              <a:rPr lang="en-US" sz="1600">
                <a:solidFill>
                  <a:schemeClr val="tx2"/>
                </a:solidFill>
                <a:latin typeface="+mn-lt"/>
                <a:cs typeface="Arial" pitchFamily="34" charset="0"/>
              </a:rPr>
              <a:t>2. Phân tích hệ thống</a:t>
            </a:r>
          </a:p>
          <a:p>
            <a:pPr algn="just"/>
            <a:r>
              <a:rPr lang="en-US" sz="1600" b="1">
                <a:solidFill>
                  <a:schemeClr val="accent6">
                    <a:lumMod val="75000"/>
                  </a:schemeClr>
                </a:solidFill>
                <a:latin typeface="+mn-lt"/>
                <a:cs typeface="Arial" pitchFamily="34" charset="0"/>
              </a:rPr>
              <a:t>3. Thiết kế hệ thống</a:t>
            </a:r>
          </a:p>
          <a:p>
            <a:pPr algn="just"/>
            <a:r>
              <a:rPr lang="en-US" sz="1600">
                <a:solidFill>
                  <a:schemeClr val="tx2"/>
                </a:solidFill>
                <a:latin typeface="+mn-lt"/>
                <a:cs typeface="Arial" pitchFamily="34" charset="0"/>
              </a:rPr>
              <a:t>4. </a:t>
            </a:r>
            <a:r>
              <a:rPr lang="en-US" sz="1600" smtClean="0">
                <a:solidFill>
                  <a:schemeClr val="tx2"/>
                </a:solidFill>
                <a:latin typeface="+mn-lt"/>
                <a:cs typeface="Arial" pitchFamily="34" charset="0"/>
              </a:rPr>
              <a:t>Triển khai và vận hành hệ thống</a:t>
            </a:r>
            <a:endParaRPr lang="en-US" sz="1600">
              <a:solidFill>
                <a:schemeClr val="tx2"/>
              </a:solidFill>
              <a:latin typeface="+mn-lt"/>
              <a:cs typeface="Arial" pitchFamily="34" charset="0"/>
            </a:endParaRP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9604" y="4058469"/>
            <a:ext cx="2862530"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848" y="2654209"/>
            <a:ext cx="4968552" cy="3610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17004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Trong </a:t>
            </a:r>
            <a:r>
              <a:rPr lang="vi-VN" sz="2000">
                <a:solidFill>
                  <a:schemeClr val="accent2">
                    <a:lumMod val="50000"/>
                  </a:schemeClr>
                </a:solidFill>
                <a:latin typeface="Calibri" pitchFamily="34" charset="0"/>
                <a:cs typeface="Calibri" pitchFamily="34" charset="0"/>
              </a:rPr>
              <a:t>pha </a:t>
            </a:r>
            <a:r>
              <a:rPr lang="vi-VN" sz="2000" smtClean="0">
                <a:solidFill>
                  <a:schemeClr val="accent2">
                    <a:lumMod val="50000"/>
                  </a:schemeClr>
                </a:solidFill>
                <a:latin typeface="Calibri" pitchFamily="34" charset="0"/>
                <a:cs typeface="Calibri" pitchFamily="34" charset="0"/>
              </a:rPr>
              <a:t>cuối cùng của SDLC </a:t>
            </a:r>
            <a:r>
              <a:rPr lang="vi-VN" sz="2000">
                <a:solidFill>
                  <a:schemeClr val="accent2">
                    <a:lumMod val="50000"/>
                  </a:schemeClr>
                </a:solidFill>
                <a:latin typeface="Calibri" pitchFamily="34" charset="0"/>
                <a:cs typeface="Calibri" pitchFamily="34" charset="0"/>
              </a:rPr>
              <a:t>đặc tả hệ thống được chuyển thành hệ thống </a:t>
            </a:r>
            <a:r>
              <a:rPr lang="vi-VN" sz="2000" smtClean="0">
                <a:solidFill>
                  <a:schemeClr val="accent2">
                    <a:lumMod val="50000"/>
                  </a:schemeClr>
                </a:solidFill>
                <a:latin typeface="Calibri" pitchFamily="34" charset="0"/>
                <a:cs typeface="Calibri" pitchFamily="34" charset="0"/>
              </a:rPr>
              <a:t>thực, </a:t>
            </a:r>
            <a:r>
              <a:rPr lang="vi-VN" sz="2000">
                <a:solidFill>
                  <a:schemeClr val="accent2">
                    <a:lumMod val="50000"/>
                  </a:schemeClr>
                </a:solidFill>
                <a:latin typeface="Calibri" pitchFamily="34" charset="0"/>
                <a:cs typeface="Calibri" pitchFamily="34" charset="0"/>
              </a:rPr>
              <a:t>sau đó được kiểm tra và đưa vào sử </a:t>
            </a:r>
            <a:r>
              <a:rPr lang="vi-VN" sz="2000" smtClean="0">
                <a:solidFill>
                  <a:schemeClr val="accent2">
                    <a:lumMod val="50000"/>
                  </a:schemeClr>
                </a:solidFill>
                <a:latin typeface="Calibri" pitchFamily="34" charset="0"/>
                <a:cs typeface="Calibri" pitchFamily="34" charset="0"/>
              </a:rPr>
              <a:t>dụng. Pha này bao gồm 2 hoạt động chính:</a:t>
            </a:r>
          </a:p>
          <a:p>
            <a:pPr lvl="1" algn="just">
              <a:spcAft>
                <a:spcPts val="683"/>
              </a:spcAft>
              <a:buClr>
                <a:srgbClr val="FF0066"/>
              </a:buClr>
              <a:buFont typeface="Symbol" pitchFamily="18" charset="2"/>
              <a:buChar char="¨"/>
            </a:pPr>
            <a:r>
              <a:rPr lang="vi-VN" sz="1800" i="1" smtClean="0">
                <a:solidFill>
                  <a:schemeClr val="accent2">
                    <a:lumMod val="50000"/>
                  </a:schemeClr>
                </a:solidFill>
                <a:latin typeface="Calibri" pitchFamily="34" charset="0"/>
                <a:cs typeface="Calibri" pitchFamily="34" charset="0"/>
              </a:rPr>
              <a:t>Triển khai hệ thống</a:t>
            </a:r>
            <a:r>
              <a:rPr lang="vi-VN" sz="1800" smtClean="0">
                <a:solidFill>
                  <a:schemeClr val="accent2">
                    <a:lumMod val="50000"/>
                  </a:schemeClr>
                </a:solidFill>
                <a:latin typeface="Calibri" pitchFamily="34" charset="0"/>
                <a:cs typeface="Calibri" pitchFamily="34" charset="0"/>
              </a:rPr>
              <a:t>: bao gồm các công việc lập trình, kiểm thử và cài đặt.</a:t>
            </a:r>
          </a:p>
          <a:p>
            <a:pPr lvl="2"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Lập trình: lập trình viên sử dụng ngôn ngữ lập trình để xây dựng các chương trình phần mềm đã được đặc tả ở bước trước.</a:t>
            </a:r>
          </a:p>
          <a:p>
            <a:pPr lvl="2"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Kiểm thử: lập trình viên và các nhà phân tích kiểm tra các chương trình phần mềm để tìm và sửa lỗi cho đến khi đạt yêu cầu.</a:t>
            </a:r>
          </a:p>
          <a:p>
            <a:pPr lvl="2"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Cài đặt: chương trình phần mềm sẽ được cài đặt vào hệ thống phần cứng của tổ chức, viết tài liệu hướng dẫn sử dụng và đào tạo người dùng sử dụng hệ thống thực hiện các công việc hàng ngày của họ.</a:t>
            </a:r>
            <a:r>
              <a:rPr lang="en-US" sz="1600" smtClean="0">
                <a:solidFill>
                  <a:schemeClr val="accent2">
                    <a:lumMod val="50000"/>
                  </a:schemeClr>
                </a:solidFill>
                <a:latin typeface="Calibri" pitchFamily="34" charset="0"/>
                <a:cs typeface="Calibri" pitchFamily="34" charset="0"/>
              </a:rPr>
              <a:t> Hỗ trợ việc chuyển đổi dữ liệu, phân quyền người dung và cài đặt một số thiết lập ban đầu.</a:t>
            </a:r>
            <a:endParaRPr lang="vi-VN" sz="16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vi-VN" sz="1800" i="1" smtClean="0">
                <a:solidFill>
                  <a:schemeClr val="accent2">
                    <a:lumMod val="50000"/>
                  </a:schemeClr>
                </a:solidFill>
                <a:latin typeface="Calibri" pitchFamily="34" charset="0"/>
                <a:cs typeface="Calibri" pitchFamily="34" charset="0"/>
              </a:rPr>
              <a:t>Vận hành hệ thống</a:t>
            </a:r>
            <a:r>
              <a:rPr lang="vi-VN" sz="1800" smtClean="0">
                <a:solidFill>
                  <a:schemeClr val="accent2">
                    <a:lumMod val="50000"/>
                  </a:schemeClr>
                </a:solidFill>
                <a:latin typeface="Calibri" pitchFamily="34" charset="0"/>
                <a:cs typeface="Calibri" pitchFamily="34" charset="0"/>
              </a:rPr>
              <a:t>: là hoạt động đảm bảo hệ thống hoạt động hiệu quả theo yêu cầu ban đầu, bao gồm công việc chỉnh sửa các lỗi phát sinh khi hệ thống phần mềm được triển khai trong thực tế và cải tiến phần mềm để đáp ứng các nhu cầu mới nảy sinh của tổ chức.</a:t>
            </a:r>
            <a:endParaRPr lang="en-US" sz="18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23</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a:solidFill>
                  <a:schemeClr val="tx2"/>
                </a:solidFill>
                <a:latin typeface="+mn-lt"/>
                <a:cs typeface="Arial" pitchFamily="34" charset="0"/>
              </a:rPr>
              <a:t>1. Lựa chọn và lập kế hoạch hệ thống</a:t>
            </a:r>
          </a:p>
          <a:p>
            <a:pPr algn="just"/>
            <a:r>
              <a:rPr lang="en-US" sz="1600">
                <a:solidFill>
                  <a:schemeClr val="tx2"/>
                </a:solidFill>
                <a:latin typeface="+mn-lt"/>
                <a:cs typeface="Arial" pitchFamily="34" charset="0"/>
              </a:rPr>
              <a:t>2. Phân tích hệ thống</a:t>
            </a:r>
          </a:p>
          <a:p>
            <a:pPr algn="just"/>
            <a:r>
              <a:rPr lang="en-US" sz="1600">
                <a:solidFill>
                  <a:schemeClr val="tx2"/>
                </a:solidFill>
                <a:latin typeface="+mn-lt"/>
                <a:cs typeface="Arial" pitchFamily="34" charset="0"/>
              </a:rPr>
              <a:t>3. Thiết kế hệ thống</a:t>
            </a:r>
          </a:p>
          <a:p>
            <a:pPr algn="just"/>
            <a:r>
              <a:rPr lang="en-US" sz="1600" b="1">
                <a:solidFill>
                  <a:schemeClr val="accent6">
                    <a:lumMod val="75000"/>
                  </a:schemeClr>
                </a:solidFill>
                <a:latin typeface="+mn-lt"/>
                <a:cs typeface="Arial" pitchFamily="34" charset="0"/>
              </a:rPr>
              <a:t>4. Triển khai và vận hành hệ thống</a:t>
            </a:r>
          </a:p>
        </p:txBody>
      </p:sp>
    </p:spTree>
    <p:extLst>
      <p:ext uri="{BB962C8B-B14F-4D97-AF65-F5344CB8AC3E}">
        <p14:creationId xmlns:p14="http://schemas.microsoft.com/office/powerpoint/2010/main" val="29346810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4. Vòng đời phát triển hệ thống thông tin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5. </a:t>
            </a:r>
            <a:r>
              <a:rPr lang="en-US" sz="1600">
                <a:solidFill>
                  <a:schemeClr val="accent1">
                    <a:lumMod val="75000"/>
                  </a:schemeClr>
                </a:solidFill>
                <a:latin typeface="+mn-lt"/>
                <a:cs typeface="Arial" pitchFamily="34" charset="0"/>
              </a:rPr>
              <a:t>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marL="65066" indent="0" algn="just">
              <a:spcAft>
                <a:spcPts val="683"/>
              </a:spcAft>
              <a:buClr>
                <a:srgbClr val="FF0066"/>
              </a:buClr>
              <a:buNone/>
            </a:pPr>
            <a:endParaRPr lang="en-US" sz="22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24</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2400" smtClean="0">
                <a:solidFill>
                  <a:schemeClr val="tx2"/>
                </a:solidFill>
                <a:cs typeface="Arial" pitchFamily="34" charset="0"/>
              </a:rPr>
              <a:t>Sản phẩm của các pha trong SDLC</a:t>
            </a:r>
            <a:endParaRPr lang="vi-VN" sz="2400" baseline="30000">
              <a:solidFill>
                <a:schemeClr val="tx2"/>
              </a:solidFill>
              <a:cs typeface="Arial" pitchFamily="34" charset="0"/>
            </a:endParaRP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996" y="1628800"/>
            <a:ext cx="8086725" cy="455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94398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4. Vòng đời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5. 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9478053" cy="5445223"/>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Phương </a:t>
            </a:r>
            <a:r>
              <a:rPr lang="vi-VN" sz="2000">
                <a:solidFill>
                  <a:schemeClr val="accent2">
                    <a:lumMod val="50000"/>
                  </a:schemeClr>
                </a:solidFill>
                <a:latin typeface="Calibri" pitchFamily="34" charset="0"/>
                <a:cs typeface="Calibri" pitchFamily="34" charset="0"/>
              </a:rPr>
              <a:t>pháp </a:t>
            </a:r>
            <a:r>
              <a:rPr lang="vi-VN" sz="2000" smtClean="0">
                <a:solidFill>
                  <a:schemeClr val="accent2">
                    <a:lumMod val="50000"/>
                  </a:schemeClr>
                </a:solidFill>
                <a:latin typeface="Calibri" pitchFamily="34" charset="0"/>
                <a:cs typeface="Calibri" pitchFamily="34" charset="0"/>
              </a:rPr>
              <a:t>phát triển HTTT được </a:t>
            </a:r>
            <a:r>
              <a:rPr lang="vi-VN" sz="2000">
                <a:solidFill>
                  <a:schemeClr val="accent2">
                    <a:lumMod val="50000"/>
                  </a:schemeClr>
                </a:solidFill>
                <a:latin typeface="Calibri" pitchFamily="34" charset="0"/>
                <a:cs typeface="Calibri" pitchFamily="34" charset="0"/>
              </a:rPr>
              <a:t>định nghĩa như một tập hợp các </a:t>
            </a:r>
            <a:r>
              <a:rPr lang="vi-VN" sz="2000" smtClean="0">
                <a:solidFill>
                  <a:schemeClr val="accent2">
                    <a:lumMod val="50000"/>
                  </a:schemeClr>
                </a:solidFill>
                <a:latin typeface="Calibri" pitchFamily="34" charset="0"/>
                <a:cs typeface="Calibri" pitchFamily="34" charset="0"/>
              </a:rPr>
              <a:t>bước cần phải thực hiện </a:t>
            </a:r>
            <a:r>
              <a:rPr lang="vi-VN" sz="2000">
                <a:solidFill>
                  <a:schemeClr val="accent2">
                    <a:lumMod val="50000"/>
                  </a:schemeClr>
                </a:solidFill>
                <a:latin typeface="Calibri" pitchFamily="34" charset="0"/>
                <a:cs typeface="Calibri" pitchFamily="34" charset="0"/>
              </a:rPr>
              <a:t>và các công cụ </a:t>
            </a:r>
            <a:r>
              <a:rPr lang="vi-VN" sz="2000" smtClean="0">
                <a:solidFill>
                  <a:schemeClr val="accent2">
                    <a:lumMod val="50000"/>
                  </a:schemeClr>
                </a:solidFill>
                <a:latin typeface="Calibri" pitchFamily="34" charset="0"/>
                <a:cs typeface="Calibri" pitchFamily="34" charset="0"/>
              </a:rPr>
              <a:t>hỗ trợ, cho phép việc phát triển HTTT được tiến hành một cách chặt </a:t>
            </a:r>
            <a:r>
              <a:rPr lang="vi-VN" sz="2000">
                <a:solidFill>
                  <a:schemeClr val="accent2">
                    <a:lumMod val="50000"/>
                  </a:schemeClr>
                </a:solidFill>
                <a:latin typeface="Calibri" pitchFamily="34" charset="0"/>
                <a:cs typeface="Calibri" pitchFamily="34" charset="0"/>
              </a:rPr>
              <a:t>chẽ </a:t>
            </a:r>
            <a:r>
              <a:rPr lang="vi-VN" sz="2000" smtClean="0">
                <a:solidFill>
                  <a:schemeClr val="accent2">
                    <a:lumMod val="50000"/>
                  </a:schemeClr>
                </a:solidFill>
                <a:latin typeface="Calibri" pitchFamily="34" charset="0"/>
                <a:cs typeface="Calibri" pitchFamily="34" charset="0"/>
              </a:rPr>
              <a:t>và hiệu quả.</a:t>
            </a: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Các phương pháp phát triển HTTT khác nhau sẽ có nội dung thực hiện và công cụ hỗ trợ khác nhau nhưng phải tuân thủ theo nội dung các pha trong vòng đời phát triển hệ thống thông tin.</a:t>
            </a: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Khi phát triển một HTTT không nhất thiết phải sử dụng một phương pháp phát triển, tuy nhiên như thế sẽ khó kiểm soát chất lượng, tiến độ thực hiện và chi phí tài chính.</a:t>
            </a: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25</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vi-VN" sz="2800">
                <a:solidFill>
                  <a:schemeClr val="tx2"/>
                </a:solidFill>
                <a:latin typeface="Calibri" pitchFamily="34" charset="0"/>
                <a:cs typeface="Calibri" pitchFamily="34" charset="0"/>
              </a:rPr>
              <a:t>Định nghĩa</a:t>
            </a:r>
            <a:endParaRPr lang="en-US" sz="2800">
              <a:solidFill>
                <a:schemeClr val="tx2"/>
              </a:solidFill>
              <a:latin typeface="Calibri" pitchFamily="34" charset="0"/>
              <a:cs typeface="Calibri" pitchFamily="34" charset="0"/>
            </a:endParaRPr>
          </a:p>
        </p:txBody>
      </p:sp>
    </p:spTree>
    <p:extLst>
      <p:ext uri="{BB962C8B-B14F-4D97-AF65-F5344CB8AC3E}">
        <p14:creationId xmlns:p14="http://schemas.microsoft.com/office/powerpoint/2010/main" val="2766040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4. Vòng đời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5. 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4968552" cy="5445223"/>
          </a:xfrm>
        </p:spPr>
        <p:txBody>
          <a:bodyPr>
            <a:normAutofit/>
          </a:bodyPr>
          <a:lstStyle/>
          <a:p>
            <a:pPr algn="just">
              <a:spcAft>
                <a:spcPts val="683"/>
              </a:spcAft>
              <a:buClr>
                <a:srgbClr val="FF0066"/>
              </a:buClr>
              <a:buFont typeface="Symbol" pitchFamily="18" charset="2"/>
              <a:buChar char="¨"/>
            </a:pPr>
            <a:r>
              <a:rPr lang="vi-VN" sz="1800" i="1" smtClean="0">
                <a:solidFill>
                  <a:schemeClr val="accent2">
                    <a:lumMod val="50000"/>
                  </a:schemeClr>
                </a:solidFill>
                <a:latin typeface="Calibri" pitchFamily="34" charset="0"/>
                <a:cs typeface="Calibri" pitchFamily="34" charset="0"/>
              </a:rPr>
              <a:t>Mô hình thác nước – waterfal</a:t>
            </a:r>
            <a:r>
              <a:rPr lang="vi-VN" sz="1800" smtClean="0">
                <a:solidFill>
                  <a:schemeClr val="accent2">
                    <a:lumMod val="50000"/>
                  </a:schemeClr>
                </a:solidFill>
                <a:latin typeface="Calibri" pitchFamily="34" charset="0"/>
                <a:cs typeface="Calibri" pitchFamily="34" charset="0"/>
              </a:rPr>
              <a:t>l: là mô hình phát triển hệ thống tuần tự, kết thúc pha trước rồi mới được thực hiện pha tiếp theo.</a:t>
            </a:r>
          </a:p>
          <a:p>
            <a:pPr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Ưu điểm:</a:t>
            </a:r>
          </a:p>
          <a:p>
            <a:pPr lvl="1" algn="just">
              <a:spcAft>
                <a:spcPts val="683"/>
              </a:spcAft>
              <a:buClr>
                <a:srgbClr val="FF0066"/>
              </a:buClr>
              <a:buFont typeface="Symbol" pitchFamily="18" charset="2"/>
              <a:buChar char="¨"/>
            </a:pPr>
            <a:r>
              <a:rPr lang="en-US" sz="1600">
                <a:solidFill>
                  <a:schemeClr val="accent2">
                    <a:lumMod val="50000"/>
                  </a:schemeClr>
                </a:solidFill>
                <a:latin typeface="Calibri" pitchFamily="34" charset="0"/>
                <a:cs typeface="Calibri" pitchFamily="34" charset="0"/>
              </a:rPr>
              <a:t>P</a:t>
            </a:r>
            <a:r>
              <a:rPr lang="en-US" sz="1600" smtClean="0">
                <a:solidFill>
                  <a:schemeClr val="accent2">
                    <a:lumMod val="50000"/>
                  </a:schemeClr>
                </a:solidFill>
                <a:latin typeface="Calibri" pitchFamily="34" charset="0"/>
                <a:cs typeface="Calibri" pitchFamily="34" charset="0"/>
              </a:rPr>
              <a:t>hản </a:t>
            </a:r>
            <a:r>
              <a:rPr lang="en-US" sz="1600">
                <a:solidFill>
                  <a:schemeClr val="accent2">
                    <a:lumMod val="50000"/>
                  </a:schemeClr>
                </a:solidFill>
                <a:latin typeface="Calibri" pitchFamily="34" charset="0"/>
                <a:cs typeface="Calibri" pitchFamily="34" charset="0"/>
              </a:rPr>
              <a:t>ánh công nghệ theo lối tư duy tự nhiên, đơn </a:t>
            </a:r>
            <a:r>
              <a:rPr lang="en-US" sz="1600" smtClean="0">
                <a:solidFill>
                  <a:schemeClr val="accent2">
                    <a:lumMod val="50000"/>
                  </a:schemeClr>
                </a:solidFill>
                <a:latin typeface="Calibri" pitchFamily="34" charset="0"/>
                <a:cs typeface="Calibri" pitchFamily="34" charset="0"/>
              </a:rPr>
              <a:t>giản, </a:t>
            </a:r>
            <a:r>
              <a:rPr lang="en-US" sz="1600">
                <a:solidFill>
                  <a:schemeClr val="accent2">
                    <a:lumMod val="50000"/>
                  </a:schemeClr>
                </a:solidFill>
                <a:latin typeface="Calibri" pitchFamily="34" charset="0"/>
                <a:cs typeface="Calibri" pitchFamily="34" charset="0"/>
              </a:rPr>
              <a:t>dễ </a:t>
            </a:r>
            <a:r>
              <a:rPr lang="en-US" sz="1600" smtClean="0">
                <a:solidFill>
                  <a:schemeClr val="accent2">
                    <a:lumMod val="50000"/>
                  </a:schemeClr>
                </a:solidFill>
                <a:latin typeface="Calibri" pitchFamily="34" charset="0"/>
                <a:cs typeface="Calibri" pitchFamily="34" charset="0"/>
              </a:rPr>
              <a:t>hiểu, </a:t>
            </a:r>
            <a:r>
              <a:rPr lang="en-US" sz="1600">
                <a:solidFill>
                  <a:schemeClr val="accent2">
                    <a:lumMod val="50000"/>
                  </a:schemeClr>
                </a:solidFill>
                <a:latin typeface="Calibri" pitchFamily="34" charset="0"/>
                <a:cs typeface="Calibri" pitchFamily="34" charset="0"/>
              </a:rPr>
              <a:t>dễ thực hiện. </a:t>
            </a:r>
            <a:endParaRPr lang="en-US" sz="16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T</a:t>
            </a:r>
            <a:r>
              <a:rPr lang="vi-VN" sz="1600" smtClean="0">
                <a:solidFill>
                  <a:schemeClr val="accent2">
                    <a:lumMod val="50000"/>
                  </a:schemeClr>
                </a:solidFill>
                <a:latin typeface="Calibri" pitchFamily="34" charset="0"/>
                <a:cs typeface="Calibri" pitchFamily="34" charset="0"/>
              </a:rPr>
              <a:t>rình </a:t>
            </a:r>
            <a:r>
              <a:rPr lang="vi-VN" sz="1600">
                <a:solidFill>
                  <a:schemeClr val="accent2">
                    <a:lumMod val="50000"/>
                  </a:schemeClr>
                </a:solidFill>
                <a:latin typeface="Calibri" pitchFamily="34" charset="0"/>
                <a:cs typeface="Calibri" pitchFamily="34" charset="0"/>
              </a:rPr>
              <a:t>tự </a:t>
            </a:r>
            <a:r>
              <a:rPr lang="vi-VN" sz="1600" smtClean="0">
                <a:solidFill>
                  <a:schemeClr val="accent2">
                    <a:lumMod val="50000"/>
                  </a:schemeClr>
                </a:solidFill>
                <a:latin typeface="Calibri" pitchFamily="34" charset="0"/>
                <a:cs typeface="Calibri" pitchFamily="34" charset="0"/>
              </a:rPr>
              <a:t>thực hiện rõ </a:t>
            </a:r>
            <a:r>
              <a:rPr lang="vi-VN" sz="1600">
                <a:solidFill>
                  <a:schemeClr val="accent2">
                    <a:lumMod val="50000"/>
                  </a:schemeClr>
                </a:solidFill>
                <a:latin typeface="Calibri" pitchFamily="34" charset="0"/>
                <a:cs typeface="Calibri" pitchFamily="34" charset="0"/>
              </a:rPr>
              <a:t>ràng, </a:t>
            </a:r>
            <a:r>
              <a:rPr lang="en-US" sz="1600" smtClean="0">
                <a:solidFill>
                  <a:schemeClr val="accent2">
                    <a:lumMod val="50000"/>
                  </a:schemeClr>
                </a:solidFill>
                <a:latin typeface="Calibri" pitchFamily="34" charset="0"/>
                <a:cs typeface="Calibri" pitchFamily="34" charset="0"/>
              </a:rPr>
              <a:t>thích </a:t>
            </a:r>
            <a:r>
              <a:rPr lang="en-US" sz="1600">
                <a:solidFill>
                  <a:schemeClr val="accent2">
                    <a:lumMod val="50000"/>
                  </a:schemeClr>
                </a:solidFill>
                <a:latin typeface="Calibri" pitchFamily="34" charset="0"/>
                <a:cs typeface="Calibri" pitchFamily="34" charset="0"/>
              </a:rPr>
              <a:t>hợp với các hệ thống vừa và nhỏ với các yêu cầu đã được tìm hiểu rõ ràng và ít thay đổi</a:t>
            </a:r>
            <a:r>
              <a:rPr lang="en-US" sz="1600" smtClean="0">
                <a:solidFill>
                  <a:schemeClr val="accent2">
                    <a:lumMod val="50000"/>
                  </a:schemeClr>
                </a:solidFill>
                <a:latin typeface="Calibri" pitchFamily="34" charset="0"/>
                <a:cs typeface="Calibri" pitchFamily="34" charset="0"/>
              </a:rPr>
              <a:t>.</a:t>
            </a:r>
          </a:p>
          <a:p>
            <a:pPr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Nhược điểm:</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vi-VN" sz="1600">
                <a:solidFill>
                  <a:schemeClr val="accent2">
                    <a:lumMod val="50000"/>
                  </a:schemeClr>
                </a:solidFill>
                <a:latin typeface="Calibri" pitchFamily="34" charset="0"/>
                <a:cs typeface="Calibri" pitchFamily="34" charset="0"/>
              </a:rPr>
              <a:t>G</a:t>
            </a:r>
            <a:r>
              <a:rPr lang="vi-VN" sz="1600" smtClean="0">
                <a:solidFill>
                  <a:schemeClr val="accent2">
                    <a:lumMod val="50000"/>
                  </a:schemeClr>
                </a:solidFill>
                <a:latin typeface="Calibri" pitchFamily="34" charset="0"/>
                <a:cs typeface="Calibri" pitchFamily="34" charset="0"/>
              </a:rPr>
              <a:t>ặp k</a:t>
            </a:r>
            <a:r>
              <a:rPr lang="en-US" sz="1600" smtClean="0">
                <a:solidFill>
                  <a:schemeClr val="accent2">
                    <a:lumMod val="50000"/>
                  </a:schemeClr>
                </a:solidFill>
                <a:latin typeface="Calibri" pitchFamily="34" charset="0"/>
                <a:cs typeface="Calibri" pitchFamily="34" charset="0"/>
              </a:rPr>
              <a:t>hó </a:t>
            </a:r>
            <a:r>
              <a:rPr lang="en-US" sz="1600">
                <a:solidFill>
                  <a:schemeClr val="accent2">
                    <a:lumMod val="50000"/>
                  </a:schemeClr>
                </a:solidFill>
                <a:latin typeface="Calibri" pitchFamily="34" charset="0"/>
                <a:cs typeface="Calibri" pitchFamily="34" charset="0"/>
              </a:rPr>
              <a:t>khăn </a:t>
            </a:r>
            <a:r>
              <a:rPr lang="en-US" sz="1600" smtClean="0">
                <a:solidFill>
                  <a:schemeClr val="accent2">
                    <a:lumMod val="50000"/>
                  </a:schemeClr>
                </a:solidFill>
                <a:latin typeface="Calibri" pitchFamily="34" charset="0"/>
                <a:cs typeface="Calibri" pitchFamily="34" charset="0"/>
              </a:rPr>
              <a:t>khi có </a:t>
            </a:r>
            <a:r>
              <a:rPr lang="en-US" sz="1600">
                <a:solidFill>
                  <a:schemeClr val="accent2">
                    <a:lumMod val="50000"/>
                  </a:schemeClr>
                </a:solidFill>
                <a:latin typeface="Calibri" pitchFamily="34" charset="0"/>
                <a:cs typeface="Calibri" pitchFamily="34" charset="0"/>
              </a:rPr>
              <a:t>thay đổi </a:t>
            </a:r>
            <a:r>
              <a:rPr lang="en-US" sz="1600" smtClean="0">
                <a:solidFill>
                  <a:schemeClr val="accent2">
                    <a:lumMod val="50000"/>
                  </a:schemeClr>
                </a:solidFill>
                <a:latin typeface="Calibri" pitchFamily="34" charset="0"/>
                <a:cs typeface="Calibri" pitchFamily="34" charset="0"/>
              </a:rPr>
              <a:t>xảy ra trong quá trình phát triển hệ thống.</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Sự </a:t>
            </a:r>
            <a:r>
              <a:rPr lang="en-US" sz="1600">
                <a:solidFill>
                  <a:schemeClr val="accent2">
                    <a:lumMod val="50000"/>
                  </a:schemeClr>
                </a:solidFill>
                <a:latin typeface="Calibri" pitchFamily="34" charset="0"/>
                <a:cs typeface="Calibri" pitchFamily="34" charset="0"/>
              </a:rPr>
              <a:t>tham gia của </a:t>
            </a:r>
            <a:r>
              <a:rPr lang="en-US" sz="1600" smtClean="0">
                <a:solidFill>
                  <a:schemeClr val="accent2">
                    <a:lumMod val="50000"/>
                  </a:schemeClr>
                </a:solidFill>
                <a:latin typeface="Calibri" pitchFamily="34" charset="0"/>
                <a:cs typeface="Calibri" pitchFamily="34" charset="0"/>
              </a:rPr>
              <a:t>người </a:t>
            </a:r>
            <a:r>
              <a:rPr lang="en-US" sz="1600">
                <a:solidFill>
                  <a:schemeClr val="accent2">
                    <a:lumMod val="50000"/>
                  </a:schemeClr>
                </a:solidFill>
                <a:latin typeface="Calibri" pitchFamily="34" charset="0"/>
                <a:cs typeface="Calibri" pitchFamily="34" charset="0"/>
              </a:rPr>
              <a:t>dùng </a:t>
            </a:r>
            <a:r>
              <a:rPr lang="en-US" sz="1600" smtClean="0">
                <a:solidFill>
                  <a:schemeClr val="accent2">
                    <a:lumMod val="50000"/>
                  </a:schemeClr>
                </a:solidFill>
                <a:latin typeface="Calibri" pitchFamily="34" charset="0"/>
                <a:cs typeface="Calibri" pitchFamily="34" charset="0"/>
              </a:rPr>
              <a:t>trong quá trình phát triển bị </a:t>
            </a:r>
            <a:r>
              <a:rPr lang="en-US" sz="1600">
                <a:solidFill>
                  <a:schemeClr val="accent2">
                    <a:lumMod val="50000"/>
                  </a:schemeClr>
                </a:solidFill>
                <a:latin typeface="Calibri" pitchFamily="34" charset="0"/>
                <a:cs typeface="Calibri" pitchFamily="34" charset="0"/>
              </a:rPr>
              <a:t>giới hạn (</a:t>
            </a:r>
            <a:r>
              <a:rPr lang="en-US" sz="1600" smtClean="0">
                <a:solidFill>
                  <a:schemeClr val="accent2">
                    <a:lumMod val="50000"/>
                  </a:schemeClr>
                </a:solidFill>
                <a:latin typeface="Calibri" pitchFamily="34" charset="0"/>
                <a:cs typeface="Calibri" pitchFamily="34" charset="0"/>
              </a:rPr>
              <a:t>chỉ tham gia </a:t>
            </a:r>
            <a:r>
              <a:rPr lang="en-US" sz="1600">
                <a:solidFill>
                  <a:schemeClr val="accent2">
                    <a:lumMod val="50000"/>
                  </a:schemeClr>
                </a:solidFill>
                <a:latin typeface="Calibri" pitchFamily="34" charset="0"/>
                <a:cs typeface="Calibri" pitchFamily="34" charset="0"/>
              </a:rPr>
              <a:t>trong giai đoạn xác định yêu cầu</a:t>
            </a:r>
            <a:r>
              <a:rPr lang="en-US" sz="1600" smtClean="0">
                <a:solidFill>
                  <a:schemeClr val="accent2">
                    <a:lumMod val="50000"/>
                  </a:schemeClr>
                </a:solidFill>
                <a:latin typeface="Calibri" pitchFamily="34" charset="0"/>
                <a:cs typeface="Calibri" pitchFamily="34" charset="0"/>
              </a:rPr>
              <a:t>).</a:t>
            </a:r>
            <a:endParaRPr lang="vi-VN" sz="16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26</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fontScale="85000" lnSpcReduction="2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600" b="1" smtClean="0">
                <a:solidFill>
                  <a:schemeClr val="accent6">
                    <a:lumMod val="75000"/>
                  </a:schemeClr>
                </a:solidFill>
                <a:latin typeface="+mn-lt"/>
                <a:cs typeface="Arial" pitchFamily="34" charset="0"/>
              </a:rPr>
              <a:t>1. Mô </a:t>
            </a:r>
            <a:r>
              <a:rPr lang="en-US" sz="1600" b="1">
                <a:solidFill>
                  <a:schemeClr val="accent6">
                    <a:lumMod val="75000"/>
                  </a:schemeClr>
                </a:solidFill>
                <a:latin typeface="+mn-lt"/>
                <a:cs typeface="Arial" pitchFamily="34" charset="0"/>
              </a:rPr>
              <a:t>hình thác nước </a:t>
            </a:r>
          </a:p>
          <a:p>
            <a:pPr algn="just"/>
            <a:r>
              <a:rPr lang="en-US" sz="1500" smtClean="0">
                <a:solidFill>
                  <a:schemeClr val="tx2"/>
                </a:solidFill>
                <a:ea typeface="+mj-ea"/>
                <a:cs typeface="Arial" pitchFamily="34" charset="0"/>
              </a:rPr>
              <a:t>2. Phương </a:t>
            </a:r>
            <a:r>
              <a:rPr lang="en-US" sz="1500">
                <a:solidFill>
                  <a:schemeClr val="tx2"/>
                </a:solidFill>
                <a:ea typeface="+mj-ea"/>
                <a:cs typeface="Arial" pitchFamily="34" charset="0"/>
              </a:rPr>
              <a:t>pháp làm bản mẫu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3. Mô </a:t>
            </a:r>
            <a:r>
              <a:rPr lang="en-US" sz="1500">
                <a:solidFill>
                  <a:schemeClr val="tx2"/>
                </a:solidFill>
                <a:ea typeface="+mj-ea"/>
                <a:cs typeface="Arial" pitchFamily="34" charset="0"/>
              </a:rPr>
              <a:t>hình xoắn ốc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4. Phương </a:t>
            </a:r>
            <a:r>
              <a:rPr lang="en-US" sz="1500">
                <a:solidFill>
                  <a:schemeClr val="tx2"/>
                </a:solidFill>
                <a:ea typeface="+mj-ea"/>
                <a:cs typeface="Arial" pitchFamily="34" charset="0"/>
              </a:rPr>
              <a:t>pháp CASE </a:t>
            </a:r>
            <a:endParaRPr lang="en-US" sz="1500">
              <a:solidFill>
                <a:schemeClr val="tx2"/>
              </a:solidFill>
              <a:cs typeface="Arial" pitchFamily="34" charset="0"/>
            </a:endParaRPr>
          </a:p>
          <a:p>
            <a:pPr algn="just"/>
            <a:r>
              <a:rPr lang="en-US" sz="1500" smtClean="0">
                <a:solidFill>
                  <a:schemeClr val="tx2"/>
                </a:solidFill>
                <a:ea typeface="+mj-ea"/>
                <a:cs typeface="Arial" pitchFamily="34" charset="0"/>
              </a:rPr>
              <a:t>5. Phương </a:t>
            </a:r>
            <a:r>
              <a:rPr lang="en-US" sz="1500">
                <a:solidFill>
                  <a:schemeClr val="tx2"/>
                </a:solidFill>
                <a:ea typeface="+mj-ea"/>
                <a:cs typeface="Arial" pitchFamily="34" charset="0"/>
              </a:rPr>
              <a:t>pháp thiết kế ứng dụng liên kết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6. Phương </a:t>
            </a:r>
            <a:r>
              <a:rPr lang="en-US" sz="1500">
                <a:solidFill>
                  <a:schemeClr val="tx2"/>
                </a:solidFill>
                <a:ea typeface="+mj-ea"/>
                <a:cs typeface="Arial" pitchFamily="34" charset="0"/>
              </a:rPr>
              <a:t>pháp phát triển ứng dụng nhanh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7. Phương </a:t>
            </a:r>
            <a:r>
              <a:rPr lang="en-US" sz="1500">
                <a:solidFill>
                  <a:schemeClr val="tx2"/>
                </a:solidFill>
                <a:ea typeface="+mj-ea"/>
                <a:cs typeface="Arial" pitchFamily="34" charset="0"/>
              </a:rPr>
              <a:t>pháp phát triển linh </a:t>
            </a:r>
            <a:r>
              <a:rPr lang="en-US" sz="1500" smtClean="0">
                <a:solidFill>
                  <a:schemeClr val="tx2"/>
                </a:solidFill>
                <a:ea typeface="+mj-ea"/>
                <a:cs typeface="Arial" pitchFamily="34" charset="0"/>
              </a:rPr>
              <a:t>hoạt</a:t>
            </a:r>
            <a:endParaRPr lang="en-US" sz="1600" b="1">
              <a:solidFill>
                <a:schemeClr val="accent6">
                  <a:lumMod val="75000"/>
                </a:schemeClr>
              </a:solidFill>
              <a:latin typeface="+mn-lt"/>
              <a:cs typeface="Arial" pitchFamily="34" charset="0"/>
            </a:endParaRPr>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7486" y="1556792"/>
            <a:ext cx="4653516"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87286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4. Vòng đời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5. 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5328592" cy="5445223"/>
          </a:xfrm>
        </p:spPr>
        <p:txBody>
          <a:bodyPr>
            <a:normAutofit lnSpcReduction="10000"/>
          </a:bodyPr>
          <a:lstStyle/>
          <a:p>
            <a:pPr algn="just">
              <a:spcAft>
                <a:spcPts val="683"/>
              </a:spcAft>
              <a:buClr>
                <a:srgbClr val="FF0066"/>
              </a:buClr>
              <a:buFont typeface="Symbol" pitchFamily="18" charset="2"/>
              <a:buChar char="¨"/>
            </a:pPr>
            <a:r>
              <a:rPr lang="vi-VN" sz="1800" i="1" smtClean="0">
                <a:solidFill>
                  <a:schemeClr val="accent2">
                    <a:lumMod val="50000"/>
                  </a:schemeClr>
                </a:solidFill>
                <a:latin typeface="Calibri" pitchFamily="34" charset="0"/>
                <a:cs typeface="Calibri" pitchFamily="34" charset="0"/>
              </a:rPr>
              <a:t>Phương pháp làm bản mẫu–Prototyping</a:t>
            </a:r>
            <a:r>
              <a:rPr lang="vi-VN" sz="1800" smtClean="0">
                <a:solidFill>
                  <a:schemeClr val="accent2">
                    <a:lumMod val="50000"/>
                  </a:schemeClr>
                </a:solidFill>
                <a:latin typeface="Calibri" pitchFamily="34" charset="0"/>
                <a:cs typeface="Calibri" pitchFamily="34" charset="0"/>
              </a:rPr>
              <a:t>: </a:t>
            </a:r>
            <a:r>
              <a:rPr lang="en-US" sz="1800" smtClean="0">
                <a:solidFill>
                  <a:schemeClr val="accent2">
                    <a:lumMod val="50000"/>
                  </a:schemeClr>
                </a:solidFill>
                <a:latin typeface="Calibri" pitchFamily="34" charset="0"/>
                <a:cs typeface="Calibri" pitchFamily="34" charset="0"/>
              </a:rPr>
              <a:t>dùng các công cụ phần mềm </a:t>
            </a:r>
            <a:r>
              <a:rPr lang="vi-VN" sz="1800" smtClean="0">
                <a:solidFill>
                  <a:schemeClr val="accent2">
                    <a:lumMod val="50000"/>
                  </a:schemeClr>
                </a:solidFill>
                <a:latin typeface="Calibri" pitchFamily="34" charset="0"/>
                <a:cs typeface="Calibri" pitchFamily="34" charset="0"/>
              </a:rPr>
              <a:t>tự </a:t>
            </a:r>
            <a:r>
              <a:rPr lang="vi-VN" sz="1800">
                <a:solidFill>
                  <a:schemeClr val="accent2">
                    <a:lumMod val="50000"/>
                  </a:schemeClr>
                </a:solidFill>
                <a:latin typeface="Calibri" pitchFamily="34" charset="0"/>
                <a:cs typeface="Calibri" pitchFamily="34" charset="0"/>
              </a:rPr>
              <a:t>động hóa các bước trong </a:t>
            </a:r>
            <a:r>
              <a:rPr lang="vi-VN" sz="1800" smtClean="0">
                <a:solidFill>
                  <a:schemeClr val="accent2">
                    <a:lumMod val="50000"/>
                  </a:schemeClr>
                </a:solidFill>
                <a:latin typeface="Calibri" pitchFamily="34" charset="0"/>
                <a:cs typeface="Calibri" pitchFamily="34" charset="0"/>
              </a:rPr>
              <a:t>vòng đời </a:t>
            </a:r>
            <a:r>
              <a:rPr lang="vi-VN" sz="1800">
                <a:solidFill>
                  <a:schemeClr val="accent2">
                    <a:lumMod val="50000"/>
                  </a:schemeClr>
                </a:solidFill>
                <a:latin typeface="Calibri" pitchFamily="34" charset="0"/>
                <a:cs typeface="Calibri" pitchFamily="34" charset="0"/>
              </a:rPr>
              <a:t>phát triển hệ </a:t>
            </a:r>
            <a:r>
              <a:rPr lang="vi-VN" sz="1800" smtClean="0">
                <a:solidFill>
                  <a:schemeClr val="accent2">
                    <a:lumMod val="50000"/>
                  </a:schemeClr>
                </a:solidFill>
                <a:latin typeface="Calibri" pitchFamily="34" charset="0"/>
                <a:cs typeface="Calibri" pitchFamily="34" charset="0"/>
              </a:rPr>
              <a:t>thống để xây dựng bản mẫu, </a:t>
            </a:r>
            <a:r>
              <a:rPr lang="en-US" sz="1800" smtClean="0">
                <a:solidFill>
                  <a:schemeClr val="accent2">
                    <a:lumMod val="50000"/>
                  </a:schemeClr>
                </a:solidFill>
                <a:latin typeface="Calibri" pitchFamily="34" charset="0"/>
                <a:cs typeface="Calibri" pitchFamily="34" charset="0"/>
              </a:rPr>
              <a:t>các bước thực hiện như sau:</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Xác định các yêu cầu cơ bản của hệ thống và xây </a:t>
            </a:r>
            <a:r>
              <a:rPr lang="en-US" sz="1600">
                <a:solidFill>
                  <a:schemeClr val="accent2">
                    <a:lumMod val="50000"/>
                  </a:schemeClr>
                </a:solidFill>
                <a:latin typeface="Calibri" pitchFamily="34" charset="0"/>
                <a:cs typeface="Calibri" pitchFamily="34" charset="0"/>
              </a:rPr>
              <a:t>dựng </a:t>
            </a:r>
            <a:r>
              <a:rPr lang="en-US" sz="1600" smtClean="0">
                <a:solidFill>
                  <a:schemeClr val="accent2">
                    <a:lumMod val="50000"/>
                  </a:schemeClr>
                </a:solidFill>
                <a:latin typeface="Calibri" pitchFamily="34" charset="0"/>
                <a:cs typeface="Calibri" pitchFamily="34" charset="0"/>
              </a:rPr>
              <a:t>một nguyên mẫu dựa trên các yêu cầu đó.</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Khách </a:t>
            </a:r>
            <a:r>
              <a:rPr lang="en-US" sz="1600">
                <a:solidFill>
                  <a:schemeClr val="accent2">
                    <a:lumMod val="50000"/>
                  </a:schemeClr>
                </a:solidFill>
                <a:latin typeface="Calibri" pitchFamily="34" charset="0"/>
                <a:cs typeface="Calibri" pitchFamily="34" charset="0"/>
              </a:rPr>
              <a:t>hàng dùng thử </a:t>
            </a:r>
            <a:r>
              <a:rPr lang="en-US" sz="1600" smtClean="0">
                <a:solidFill>
                  <a:schemeClr val="accent2">
                    <a:lumMod val="50000"/>
                  </a:schemeClr>
                </a:solidFill>
                <a:latin typeface="Calibri" pitchFamily="34" charset="0"/>
                <a:cs typeface="Calibri" pitchFamily="34" charset="0"/>
              </a:rPr>
              <a:t>và đánh giá nguyên mẫu.</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Tinh chỉnh nguyên </a:t>
            </a:r>
            <a:r>
              <a:rPr lang="en-US" sz="1600">
                <a:solidFill>
                  <a:schemeClr val="accent2">
                    <a:lumMod val="50000"/>
                  </a:schemeClr>
                </a:solidFill>
                <a:latin typeface="Calibri" pitchFamily="34" charset="0"/>
                <a:cs typeface="Calibri" pitchFamily="34" charset="0"/>
              </a:rPr>
              <a:t>mẫu </a:t>
            </a:r>
            <a:r>
              <a:rPr lang="en-US" sz="1600" smtClean="0">
                <a:solidFill>
                  <a:schemeClr val="accent2">
                    <a:lumMod val="50000"/>
                  </a:schemeClr>
                </a:solidFill>
                <a:latin typeface="Calibri" pitchFamily="34" charset="0"/>
                <a:cs typeface="Calibri" pitchFamily="34" charset="0"/>
              </a:rPr>
              <a:t>qua nhiều phiên bản cho đến khi thỏa mãn các yêu cầu của người dùng.</a:t>
            </a:r>
            <a:endParaRPr lang="vi-VN" sz="16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Ưu điểm:</a:t>
            </a: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Cải thiện mối liên hệ giữa người dùng và đội phát triển phần mềm, </a:t>
            </a:r>
            <a:r>
              <a:rPr lang="en-US" sz="1600">
                <a:solidFill>
                  <a:schemeClr val="accent2">
                    <a:lumMod val="50000"/>
                  </a:schemeClr>
                </a:solidFill>
                <a:latin typeface="Calibri" pitchFamily="34" charset="0"/>
                <a:cs typeface="Calibri" pitchFamily="34" charset="0"/>
              </a:rPr>
              <a:t>cho phép người dùng </a:t>
            </a:r>
            <a:r>
              <a:rPr lang="vi-VN" sz="1600">
                <a:solidFill>
                  <a:schemeClr val="accent2">
                    <a:lumMod val="50000"/>
                  </a:schemeClr>
                </a:solidFill>
                <a:latin typeface="Calibri" pitchFamily="34" charset="0"/>
                <a:cs typeface="Calibri" pitchFamily="34" charset="0"/>
              </a:rPr>
              <a:t>sớm hình dung về chức năng và đặc điểm của hệ </a:t>
            </a:r>
            <a:r>
              <a:rPr lang="vi-VN" sz="1600" smtClean="0">
                <a:solidFill>
                  <a:schemeClr val="accent2">
                    <a:lumMod val="50000"/>
                  </a:schemeClr>
                </a:solidFill>
                <a:latin typeface="Calibri" pitchFamily="34" charset="0"/>
                <a:cs typeface="Calibri" pitchFamily="34" charset="0"/>
              </a:rPr>
              <a:t>thống.</a:t>
            </a:r>
            <a:endParaRPr lang="vi-VN" sz="16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Nhược điểm:</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Cần phải có các công cụ và ngôn ngữ đặc biệt dành cho việc tạo bản mẫu.</a:t>
            </a: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Thiếu tầm nhìn trong quy trình phát triển.</a:t>
            </a:r>
          </a:p>
          <a:p>
            <a:pPr lvl="1"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27</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fontScale="85000" lnSpcReduction="2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500">
                <a:solidFill>
                  <a:schemeClr val="tx2"/>
                </a:solidFill>
                <a:cs typeface="Arial" pitchFamily="34" charset="0"/>
              </a:rPr>
              <a:t>1. Mô hình thác nước </a:t>
            </a:r>
          </a:p>
          <a:p>
            <a:pPr algn="just"/>
            <a:r>
              <a:rPr lang="en-US" sz="1600" b="1">
                <a:solidFill>
                  <a:schemeClr val="accent6">
                    <a:lumMod val="75000"/>
                  </a:schemeClr>
                </a:solidFill>
                <a:latin typeface="+mn-lt"/>
                <a:cs typeface="Arial" pitchFamily="34" charset="0"/>
              </a:rPr>
              <a:t>2. Phương pháp làm bản mẫu </a:t>
            </a:r>
          </a:p>
          <a:p>
            <a:pPr algn="just"/>
            <a:r>
              <a:rPr lang="en-US" sz="1500" smtClean="0">
                <a:solidFill>
                  <a:schemeClr val="tx2"/>
                </a:solidFill>
                <a:ea typeface="+mj-ea"/>
                <a:cs typeface="Arial" pitchFamily="34" charset="0"/>
              </a:rPr>
              <a:t>3. Mô </a:t>
            </a:r>
            <a:r>
              <a:rPr lang="en-US" sz="1500">
                <a:solidFill>
                  <a:schemeClr val="tx2"/>
                </a:solidFill>
                <a:ea typeface="+mj-ea"/>
                <a:cs typeface="Arial" pitchFamily="34" charset="0"/>
              </a:rPr>
              <a:t>hình xoắn ốc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4. Phương </a:t>
            </a:r>
            <a:r>
              <a:rPr lang="en-US" sz="1500">
                <a:solidFill>
                  <a:schemeClr val="tx2"/>
                </a:solidFill>
                <a:ea typeface="+mj-ea"/>
                <a:cs typeface="Arial" pitchFamily="34" charset="0"/>
              </a:rPr>
              <a:t>pháp CASE </a:t>
            </a:r>
            <a:endParaRPr lang="en-US" sz="1500">
              <a:solidFill>
                <a:schemeClr val="tx2"/>
              </a:solidFill>
              <a:cs typeface="Arial" pitchFamily="34" charset="0"/>
            </a:endParaRPr>
          </a:p>
          <a:p>
            <a:pPr algn="just"/>
            <a:r>
              <a:rPr lang="en-US" sz="1500" smtClean="0">
                <a:solidFill>
                  <a:schemeClr val="tx2"/>
                </a:solidFill>
                <a:ea typeface="+mj-ea"/>
                <a:cs typeface="Arial" pitchFamily="34" charset="0"/>
              </a:rPr>
              <a:t>5. Phương </a:t>
            </a:r>
            <a:r>
              <a:rPr lang="en-US" sz="1500">
                <a:solidFill>
                  <a:schemeClr val="tx2"/>
                </a:solidFill>
                <a:ea typeface="+mj-ea"/>
                <a:cs typeface="Arial" pitchFamily="34" charset="0"/>
              </a:rPr>
              <a:t>pháp thiết kế ứng dụng liên kết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6. Phương </a:t>
            </a:r>
            <a:r>
              <a:rPr lang="en-US" sz="1500">
                <a:solidFill>
                  <a:schemeClr val="tx2"/>
                </a:solidFill>
                <a:ea typeface="+mj-ea"/>
                <a:cs typeface="Arial" pitchFamily="34" charset="0"/>
              </a:rPr>
              <a:t>pháp phát triển ứng dụng nhanh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7. Phương </a:t>
            </a:r>
            <a:r>
              <a:rPr lang="en-US" sz="1500">
                <a:solidFill>
                  <a:schemeClr val="tx2"/>
                </a:solidFill>
                <a:ea typeface="+mj-ea"/>
                <a:cs typeface="Arial" pitchFamily="34" charset="0"/>
              </a:rPr>
              <a:t>pháp phát triển linh </a:t>
            </a:r>
            <a:r>
              <a:rPr lang="en-US" sz="1500" smtClean="0">
                <a:solidFill>
                  <a:schemeClr val="tx2"/>
                </a:solidFill>
                <a:ea typeface="+mj-ea"/>
                <a:cs typeface="Arial" pitchFamily="34" charset="0"/>
              </a:rPr>
              <a:t>hoạt</a:t>
            </a:r>
            <a:endParaRPr lang="en-US" sz="1600" b="1">
              <a:solidFill>
                <a:schemeClr val="accent6">
                  <a:lumMod val="75000"/>
                </a:schemeClr>
              </a:solidFill>
              <a:latin typeface="+mn-lt"/>
              <a:cs typeface="Arial" pitchFamily="34" charset="0"/>
            </a:endParaRP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572" y="1700808"/>
            <a:ext cx="4343400"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56671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4. Vòng đời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5. 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412776"/>
            <a:ext cx="5904656" cy="5445223"/>
          </a:xfrm>
        </p:spPr>
        <p:txBody>
          <a:bodyPr>
            <a:normAutofit lnSpcReduction="10000"/>
          </a:bodyPr>
          <a:lstStyle/>
          <a:p>
            <a:pPr algn="just">
              <a:spcAft>
                <a:spcPts val="683"/>
              </a:spcAft>
              <a:buClr>
                <a:srgbClr val="FF0066"/>
              </a:buClr>
              <a:buFont typeface="Symbol" pitchFamily="18" charset="2"/>
              <a:buChar char="¨"/>
            </a:pPr>
            <a:r>
              <a:rPr lang="vi-VN" sz="1800" i="1" smtClean="0">
                <a:solidFill>
                  <a:schemeClr val="accent2">
                    <a:lumMod val="50000"/>
                  </a:schemeClr>
                </a:solidFill>
                <a:latin typeface="Calibri" pitchFamily="34" charset="0"/>
                <a:cs typeface="Calibri" pitchFamily="34" charset="0"/>
              </a:rPr>
              <a:t>Mô hình xoắn ốc–Spiral model</a:t>
            </a:r>
            <a:r>
              <a:rPr lang="vi-VN" sz="1800" smtClean="0">
                <a:solidFill>
                  <a:schemeClr val="accent2">
                    <a:lumMod val="50000"/>
                  </a:schemeClr>
                </a:solidFill>
                <a:latin typeface="Calibri" pitchFamily="34" charset="0"/>
                <a:cs typeface="Calibri" pitchFamily="34" charset="0"/>
              </a:rPr>
              <a:t>: quá trình </a:t>
            </a:r>
            <a:r>
              <a:rPr lang="vi-VN" sz="1800">
                <a:solidFill>
                  <a:schemeClr val="accent2">
                    <a:lumMod val="50000"/>
                  </a:schemeClr>
                </a:solidFill>
                <a:latin typeface="Calibri" pitchFamily="34" charset="0"/>
                <a:cs typeface="Calibri" pitchFamily="34" charset="0"/>
              </a:rPr>
              <a:t>phát triển </a:t>
            </a:r>
            <a:r>
              <a:rPr lang="vi-VN" sz="1800" smtClean="0">
                <a:solidFill>
                  <a:schemeClr val="accent2">
                    <a:lumMod val="50000"/>
                  </a:schemeClr>
                </a:solidFill>
                <a:latin typeface="Calibri" pitchFamily="34" charset="0"/>
                <a:cs typeface="Calibri" pitchFamily="34" charset="0"/>
              </a:rPr>
              <a:t>hệ thống được biểu diễn như một vòng xoắn ốc, chia thành </a:t>
            </a:r>
            <a:r>
              <a:rPr lang="vi-VN" sz="1800">
                <a:solidFill>
                  <a:schemeClr val="accent2">
                    <a:lumMod val="50000"/>
                  </a:schemeClr>
                </a:solidFill>
                <a:latin typeface="Calibri" pitchFamily="34" charset="0"/>
                <a:cs typeface="Calibri" pitchFamily="34" charset="0"/>
              </a:rPr>
              <a:t>nhiều bước lặp, mỗi bước </a:t>
            </a:r>
            <a:r>
              <a:rPr lang="vi-VN" sz="1800" smtClean="0">
                <a:solidFill>
                  <a:schemeClr val="accent2">
                    <a:lumMod val="50000"/>
                  </a:schemeClr>
                </a:solidFill>
                <a:latin typeface="Calibri" pitchFamily="34" charset="0"/>
                <a:cs typeface="Calibri" pitchFamily="34" charset="0"/>
              </a:rPr>
              <a:t>lặp bao gồm 4 hoạt động:</a:t>
            </a:r>
          </a:p>
          <a:p>
            <a:pPr marL="709613" lvl="1" indent="-166688" algn="just">
              <a:lnSpc>
                <a:spcPct val="110000"/>
              </a:lnSpc>
              <a:spcBef>
                <a:spcPts val="0"/>
              </a:spcBef>
              <a:spcAft>
                <a:spcPts val="300"/>
              </a:spcAft>
              <a:buClr>
                <a:srgbClr val="FF0066"/>
              </a:buClr>
              <a:buAutoNum type="arabicPeriod"/>
            </a:pPr>
            <a:r>
              <a:rPr lang="en-US" sz="1600" smtClean="0">
                <a:solidFill>
                  <a:schemeClr val="accent2">
                    <a:lumMod val="50000"/>
                  </a:schemeClr>
                </a:solidFill>
                <a:latin typeface="Calibri" pitchFamily="34" charset="0"/>
                <a:cs typeface="Calibri" pitchFamily="34" charset="0"/>
              </a:rPr>
              <a:t>Lập </a:t>
            </a:r>
            <a:r>
              <a:rPr lang="en-US" sz="1600">
                <a:solidFill>
                  <a:schemeClr val="accent2">
                    <a:lumMod val="50000"/>
                  </a:schemeClr>
                </a:solidFill>
                <a:latin typeface="Calibri" pitchFamily="34" charset="0"/>
                <a:cs typeface="Calibri" pitchFamily="34" charset="0"/>
              </a:rPr>
              <a:t>kế hoạch </a:t>
            </a:r>
            <a:r>
              <a:rPr lang="en-US" sz="1600" smtClean="0">
                <a:solidFill>
                  <a:schemeClr val="accent2">
                    <a:lumMod val="50000"/>
                  </a:schemeClr>
                </a:solidFill>
                <a:latin typeface="Calibri" pitchFamily="34" charset="0"/>
                <a:cs typeface="Calibri" pitchFamily="34" charset="0"/>
              </a:rPr>
              <a:t>xác </a:t>
            </a:r>
            <a:r>
              <a:rPr lang="en-US" sz="1600">
                <a:solidFill>
                  <a:schemeClr val="accent2">
                    <a:lumMod val="50000"/>
                  </a:schemeClr>
                </a:solidFill>
                <a:latin typeface="Calibri" pitchFamily="34" charset="0"/>
                <a:cs typeface="Calibri" pitchFamily="34" charset="0"/>
              </a:rPr>
              <a:t>định mục </a:t>
            </a:r>
            <a:r>
              <a:rPr lang="en-US" sz="1600" smtClean="0">
                <a:solidFill>
                  <a:schemeClr val="accent2">
                    <a:lumMod val="50000"/>
                  </a:schemeClr>
                </a:solidFill>
                <a:latin typeface="Calibri" pitchFamily="34" charset="0"/>
                <a:cs typeface="Calibri" pitchFamily="34" charset="0"/>
              </a:rPr>
              <a:t>tiêu</a:t>
            </a:r>
            <a:r>
              <a:rPr lang="en-US" sz="1600">
                <a:solidFill>
                  <a:schemeClr val="accent2">
                    <a:lumMod val="50000"/>
                  </a:schemeClr>
                </a:solidFill>
                <a:latin typeface="Calibri" pitchFamily="34" charset="0"/>
                <a:cs typeface="Calibri" pitchFamily="34" charset="0"/>
              </a:rPr>
              <a:t> </a:t>
            </a:r>
            <a:r>
              <a:rPr lang="en-US" sz="1600" smtClean="0">
                <a:solidFill>
                  <a:schemeClr val="accent2">
                    <a:lumMod val="50000"/>
                  </a:schemeClr>
                </a:solidFill>
                <a:latin typeface="Calibri" pitchFamily="34" charset="0"/>
                <a:cs typeface="Calibri" pitchFamily="34" charset="0"/>
              </a:rPr>
              <a:t>và các ràng </a:t>
            </a:r>
            <a:r>
              <a:rPr lang="en-US" sz="1600">
                <a:solidFill>
                  <a:schemeClr val="accent2">
                    <a:lumMod val="50000"/>
                  </a:schemeClr>
                </a:solidFill>
                <a:latin typeface="Calibri" pitchFamily="34" charset="0"/>
                <a:cs typeface="Calibri" pitchFamily="34" charset="0"/>
              </a:rPr>
              <a:t>buộc của sản phẩm </a:t>
            </a:r>
            <a:r>
              <a:rPr lang="en-US" sz="1600" smtClean="0">
                <a:solidFill>
                  <a:schemeClr val="accent2">
                    <a:lumMod val="50000"/>
                  </a:schemeClr>
                </a:solidFill>
                <a:latin typeface="Calibri" pitchFamily="34" charset="0"/>
                <a:cs typeface="Calibri" pitchFamily="34" charset="0"/>
              </a:rPr>
              <a:t>dựa trên yêu cầu của khách hàng.</a:t>
            </a:r>
          </a:p>
          <a:p>
            <a:pPr marL="709613" lvl="1" indent="-166688" algn="just">
              <a:lnSpc>
                <a:spcPct val="110000"/>
              </a:lnSpc>
              <a:spcBef>
                <a:spcPts val="0"/>
              </a:spcBef>
              <a:spcAft>
                <a:spcPts val="300"/>
              </a:spcAft>
              <a:buClr>
                <a:srgbClr val="FF0066"/>
              </a:buClr>
              <a:buAutoNum type="arabicPeriod"/>
            </a:pPr>
            <a:r>
              <a:rPr lang="en-US" sz="1600" smtClean="0">
                <a:solidFill>
                  <a:schemeClr val="accent2">
                    <a:lumMod val="50000"/>
                  </a:schemeClr>
                </a:solidFill>
                <a:latin typeface="Calibri" pitchFamily="34" charset="0"/>
                <a:cs typeface="Calibri" pitchFamily="34" charset="0"/>
              </a:rPr>
              <a:t>Phân </a:t>
            </a:r>
            <a:r>
              <a:rPr lang="en-US" sz="1600">
                <a:solidFill>
                  <a:schemeClr val="accent2">
                    <a:lumMod val="50000"/>
                  </a:schemeClr>
                </a:solidFill>
                <a:latin typeface="Calibri" pitchFamily="34" charset="0"/>
                <a:cs typeface="Calibri" pitchFamily="34" charset="0"/>
              </a:rPr>
              <a:t>tích </a:t>
            </a:r>
            <a:r>
              <a:rPr lang="en-US" sz="1600" smtClean="0">
                <a:solidFill>
                  <a:schemeClr val="accent2">
                    <a:lumMod val="50000"/>
                  </a:schemeClr>
                </a:solidFill>
                <a:latin typeface="Calibri" pitchFamily="34" charset="0"/>
                <a:cs typeface="Calibri" pitchFamily="34" charset="0"/>
              </a:rPr>
              <a:t>rủi </a:t>
            </a:r>
            <a:r>
              <a:rPr lang="en-US" sz="1600">
                <a:solidFill>
                  <a:schemeClr val="accent2">
                    <a:lumMod val="50000"/>
                  </a:schemeClr>
                </a:solidFill>
                <a:latin typeface="Calibri" pitchFamily="34" charset="0"/>
                <a:cs typeface="Calibri" pitchFamily="34" charset="0"/>
              </a:rPr>
              <a:t>ro </a:t>
            </a:r>
            <a:r>
              <a:rPr lang="en-US" sz="1600" smtClean="0">
                <a:solidFill>
                  <a:schemeClr val="accent2">
                    <a:lumMod val="50000"/>
                  </a:schemeClr>
                </a:solidFill>
                <a:latin typeface="Calibri" pitchFamily="34" charset="0"/>
                <a:cs typeface="Calibri" pitchFamily="34" charset="0"/>
              </a:rPr>
              <a:t>và xác định các phương án giải quyết rủi ro, tại mỗi vòng phải đi đến quyết định “đi tiếp hay không” nếu rủi ro quá lớn thì có thể dừng việc phát triển hệ thống.</a:t>
            </a:r>
          </a:p>
          <a:p>
            <a:pPr marL="709613" lvl="1" indent="-166688" algn="just">
              <a:lnSpc>
                <a:spcPct val="110000"/>
              </a:lnSpc>
              <a:spcBef>
                <a:spcPts val="0"/>
              </a:spcBef>
              <a:spcAft>
                <a:spcPts val="300"/>
              </a:spcAft>
              <a:buClr>
                <a:srgbClr val="FF0066"/>
              </a:buClr>
              <a:buAutoNum type="arabicPeriod"/>
            </a:pPr>
            <a:r>
              <a:rPr lang="en-US" sz="1600" smtClean="0">
                <a:solidFill>
                  <a:schemeClr val="accent2">
                    <a:lumMod val="50000"/>
                  </a:schemeClr>
                </a:solidFill>
                <a:latin typeface="Calibri" pitchFamily="34" charset="0"/>
                <a:cs typeface="Calibri" pitchFamily="34" charset="0"/>
              </a:rPr>
              <a:t>Tạo nguyên mẫu cho hệ thống (càng ở vòng xoáy ngoài thì nguyên mẫu càng chứa nhiều chức năng của hệ thống).</a:t>
            </a:r>
          </a:p>
          <a:p>
            <a:pPr marL="709613" lvl="1" indent="-166688" algn="just">
              <a:lnSpc>
                <a:spcPct val="110000"/>
              </a:lnSpc>
              <a:spcBef>
                <a:spcPts val="0"/>
              </a:spcBef>
              <a:spcAft>
                <a:spcPts val="300"/>
              </a:spcAft>
              <a:buClr>
                <a:srgbClr val="FF0066"/>
              </a:buClr>
              <a:buAutoNum type="arabicPeriod"/>
            </a:pPr>
            <a:r>
              <a:rPr lang="en-US" sz="1600" smtClean="0">
                <a:solidFill>
                  <a:schemeClr val="accent2">
                    <a:lumMod val="50000"/>
                  </a:schemeClr>
                </a:solidFill>
                <a:latin typeface="Calibri" pitchFamily="34" charset="0"/>
                <a:cs typeface="Calibri" pitchFamily="34" charset="0"/>
              </a:rPr>
              <a:t>Khách hàng sử dụng nguyên mẫu và đưa ra các đánh giá, trên cơ sở đó xuất hiện vòng xoắn tiếp theo của chu trình.</a:t>
            </a:r>
            <a:endParaRPr lang="vi-VN" sz="16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Ưu điểm:</a:t>
            </a: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Phù hợp với việc phát triển các hệ thống lớn.</a:t>
            </a: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Khả năng  thành công cao do đã giải quyết được các rủi ro.</a:t>
            </a:r>
            <a:endParaRPr lang="vi-VN" sz="16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Nhược điểm:</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Phức tạp và cần </a:t>
            </a:r>
            <a:r>
              <a:rPr lang="vi-VN" sz="1600">
                <a:solidFill>
                  <a:schemeClr val="accent2">
                    <a:lumMod val="50000"/>
                  </a:schemeClr>
                </a:solidFill>
                <a:latin typeface="Calibri" pitchFamily="34" charset="0"/>
                <a:cs typeface="Calibri" pitchFamily="34" charset="0"/>
              </a:rPr>
              <a:t>phải có kỹ năng tốt về phân tích rủi ro.</a:t>
            </a:r>
          </a:p>
          <a:p>
            <a:pPr algn="just">
              <a:spcAft>
                <a:spcPts val="683"/>
              </a:spcAft>
              <a:buClr>
                <a:srgbClr val="FF0066"/>
              </a:buClr>
              <a:buFont typeface="Symbol" pitchFamily="18" charset="2"/>
              <a:buChar char="¨"/>
            </a:pPr>
            <a:endParaRPr lang="vi-VN"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28</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fontScale="85000" lnSpcReduction="2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500">
                <a:solidFill>
                  <a:schemeClr val="tx2"/>
                </a:solidFill>
                <a:cs typeface="Arial" pitchFamily="34" charset="0"/>
              </a:rPr>
              <a:t>1. Mô hình thác nước </a:t>
            </a:r>
          </a:p>
          <a:p>
            <a:pPr algn="just"/>
            <a:r>
              <a:rPr lang="en-US" sz="1500">
                <a:solidFill>
                  <a:schemeClr val="tx2"/>
                </a:solidFill>
                <a:cs typeface="Arial" pitchFamily="34" charset="0"/>
              </a:rPr>
              <a:t>2. Phương pháp làm bản mẫu </a:t>
            </a:r>
          </a:p>
          <a:p>
            <a:pPr algn="just"/>
            <a:r>
              <a:rPr lang="en-US" sz="1600" b="1">
                <a:solidFill>
                  <a:schemeClr val="accent6">
                    <a:lumMod val="75000"/>
                  </a:schemeClr>
                </a:solidFill>
                <a:latin typeface="+mn-lt"/>
                <a:cs typeface="Arial" pitchFamily="34" charset="0"/>
              </a:rPr>
              <a:t>3. Mô hình xoắn ốc </a:t>
            </a:r>
          </a:p>
          <a:p>
            <a:pPr algn="just"/>
            <a:r>
              <a:rPr lang="en-US" sz="1500" smtClean="0">
                <a:solidFill>
                  <a:schemeClr val="tx2"/>
                </a:solidFill>
                <a:ea typeface="+mj-ea"/>
                <a:cs typeface="Arial" pitchFamily="34" charset="0"/>
              </a:rPr>
              <a:t>4. Phương </a:t>
            </a:r>
            <a:r>
              <a:rPr lang="en-US" sz="1500">
                <a:solidFill>
                  <a:schemeClr val="tx2"/>
                </a:solidFill>
                <a:ea typeface="+mj-ea"/>
                <a:cs typeface="Arial" pitchFamily="34" charset="0"/>
              </a:rPr>
              <a:t>pháp CASE </a:t>
            </a:r>
            <a:endParaRPr lang="en-US" sz="1500">
              <a:solidFill>
                <a:schemeClr val="tx2"/>
              </a:solidFill>
              <a:cs typeface="Arial" pitchFamily="34" charset="0"/>
            </a:endParaRPr>
          </a:p>
          <a:p>
            <a:pPr algn="just"/>
            <a:r>
              <a:rPr lang="en-US" sz="1500" smtClean="0">
                <a:solidFill>
                  <a:schemeClr val="tx2"/>
                </a:solidFill>
                <a:ea typeface="+mj-ea"/>
                <a:cs typeface="Arial" pitchFamily="34" charset="0"/>
              </a:rPr>
              <a:t>5. Phương </a:t>
            </a:r>
            <a:r>
              <a:rPr lang="en-US" sz="1500">
                <a:solidFill>
                  <a:schemeClr val="tx2"/>
                </a:solidFill>
                <a:ea typeface="+mj-ea"/>
                <a:cs typeface="Arial" pitchFamily="34" charset="0"/>
              </a:rPr>
              <a:t>pháp thiết kế ứng dụng liên kết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6. Phương </a:t>
            </a:r>
            <a:r>
              <a:rPr lang="en-US" sz="1500">
                <a:solidFill>
                  <a:schemeClr val="tx2"/>
                </a:solidFill>
                <a:ea typeface="+mj-ea"/>
                <a:cs typeface="Arial" pitchFamily="34" charset="0"/>
              </a:rPr>
              <a:t>pháp phát triển ứng dụng nhanh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7. Phương </a:t>
            </a:r>
            <a:r>
              <a:rPr lang="en-US" sz="1500">
                <a:solidFill>
                  <a:schemeClr val="tx2"/>
                </a:solidFill>
                <a:ea typeface="+mj-ea"/>
                <a:cs typeface="Arial" pitchFamily="34" charset="0"/>
              </a:rPr>
              <a:t>pháp phát triển linh </a:t>
            </a:r>
            <a:r>
              <a:rPr lang="en-US" sz="1500" smtClean="0">
                <a:solidFill>
                  <a:schemeClr val="tx2"/>
                </a:solidFill>
                <a:ea typeface="+mj-ea"/>
                <a:cs typeface="Arial" pitchFamily="34" charset="0"/>
              </a:rPr>
              <a:t>hoạt</a:t>
            </a:r>
            <a:endParaRPr lang="en-US" sz="1600" b="1">
              <a:solidFill>
                <a:schemeClr val="accent6">
                  <a:lumMod val="75000"/>
                </a:schemeClr>
              </a:solidFill>
              <a:latin typeface="+mn-lt"/>
              <a:cs typeface="Arial" pitchFamily="34"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1708" y="1628800"/>
            <a:ext cx="3938023"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69332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4. Vòng đời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5. 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3" y="1412776"/>
            <a:ext cx="9478053" cy="5445223"/>
          </a:xfrm>
        </p:spPr>
        <p:txBody>
          <a:bodyPr>
            <a:normAutofit/>
          </a:bodyPr>
          <a:lstStyle/>
          <a:p>
            <a:pPr algn="just">
              <a:spcAft>
                <a:spcPts val="683"/>
              </a:spcAft>
              <a:buClr>
                <a:srgbClr val="FF0066"/>
              </a:buClr>
              <a:buFont typeface="Symbol" pitchFamily="18" charset="2"/>
              <a:buChar char="¨"/>
            </a:pPr>
            <a:r>
              <a:rPr lang="vi-VN" sz="1800" i="1">
                <a:solidFill>
                  <a:schemeClr val="accent2">
                    <a:lumMod val="50000"/>
                  </a:schemeClr>
                </a:solidFill>
                <a:latin typeface="Calibri" pitchFamily="34" charset="0"/>
                <a:cs typeface="Calibri" pitchFamily="34" charset="0"/>
              </a:rPr>
              <a:t>Phương pháp </a:t>
            </a:r>
            <a:r>
              <a:rPr lang="vi-VN" sz="1800" i="1" smtClean="0">
                <a:solidFill>
                  <a:schemeClr val="accent2">
                    <a:lumMod val="50000"/>
                  </a:schemeClr>
                </a:solidFill>
                <a:latin typeface="Calibri" pitchFamily="34" charset="0"/>
                <a:cs typeface="Calibri" pitchFamily="34" charset="0"/>
              </a:rPr>
              <a:t>CASE</a:t>
            </a:r>
            <a:r>
              <a:rPr lang="en-US" sz="1800" i="1" smtClean="0">
                <a:solidFill>
                  <a:schemeClr val="accent2">
                    <a:lumMod val="50000"/>
                  </a:schemeClr>
                </a:solidFill>
                <a:latin typeface="Calibri" pitchFamily="34" charset="0"/>
                <a:cs typeface="Calibri" pitchFamily="34" charset="0"/>
              </a:rPr>
              <a:t> (Computer-Aided </a:t>
            </a:r>
            <a:r>
              <a:rPr lang="en-US" sz="1800" i="1">
                <a:solidFill>
                  <a:schemeClr val="accent2">
                    <a:lumMod val="50000"/>
                  </a:schemeClr>
                </a:solidFill>
                <a:latin typeface="Calibri" pitchFamily="34" charset="0"/>
                <a:cs typeface="Calibri" pitchFamily="34" charset="0"/>
              </a:rPr>
              <a:t>Software Engineering </a:t>
            </a:r>
            <a:r>
              <a:rPr lang="en-US" sz="1800" i="1" smtClean="0">
                <a:solidFill>
                  <a:schemeClr val="accent2">
                    <a:lumMod val="50000"/>
                  </a:schemeClr>
                </a:solidFill>
                <a:latin typeface="Calibri" pitchFamily="34" charset="0"/>
                <a:cs typeface="Calibri" pitchFamily="34" charset="0"/>
              </a:rPr>
              <a:t>Tools)</a:t>
            </a:r>
            <a:r>
              <a:rPr lang="vi-VN" sz="1800" smtClean="0">
                <a:solidFill>
                  <a:schemeClr val="accent2">
                    <a:lumMod val="50000"/>
                  </a:schemeClr>
                </a:solidFill>
                <a:latin typeface="Calibri" pitchFamily="34" charset="0"/>
                <a:cs typeface="Calibri" pitchFamily="34" charset="0"/>
              </a:rPr>
              <a:t>: là các </a:t>
            </a:r>
            <a:r>
              <a:rPr lang="vi-VN" sz="1800">
                <a:solidFill>
                  <a:schemeClr val="accent2">
                    <a:lumMod val="50000"/>
                  </a:schemeClr>
                </a:solidFill>
                <a:latin typeface="Calibri" pitchFamily="34" charset="0"/>
                <a:cs typeface="Calibri" pitchFamily="34" charset="0"/>
              </a:rPr>
              <a:t>công cụ </a:t>
            </a:r>
            <a:r>
              <a:rPr lang="vi-VN" sz="1800" smtClean="0">
                <a:solidFill>
                  <a:schemeClr val="accent2">
                    <a:lumMod val="50000"/>
                  </a:schemeClr>
                </a:solidFill>
                <a:latin typeface="Calibri" pitchFamily="34" charset="0"/>
                <a:cs typeface="Calibri" pitchFamily="34" charset="0"/>
              </a:rPr>
              <a:t>phần mềm được sử dụng để hỗ trợ việc thực hiện các hoạt động trong quá trình phát </a:t>
            </a:r>
            <a:r>
              <a:rPr lang="vi-VN" sz="1800">
                <a:solidFill>
                  <a:schemeClr val="accent2">
                    <a:lumMod val="50000"/>
                  </a:schemeClr>
                </a:solidFill>
                <a:latin typeface="Calibri" pitchFamily="34" charset="0"/>
                <a:cs typeface="Calibri" pitchFamily="34" charset="0"/>
              </a:rPr>
              <a:t>triển hệ thống với mục tiêu tăng năng suất và nâng cao chất lượng tổng thể của hệ thống. </a:t>
            </a:r>
            <a:endParaRPr lang="vi-VN" sz="18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1800" smtClean="0">
                <a:solidFill>
                  <a:schemeClr val="accent2">
                    <a:lumMod val="50000"/>
                  </a:schemeClr>
                </a:solidFill>
                <a:latin typeface="Calibri" pitchFamily="34" charset="0"/>
                <a:cs typeface="Calibri" pitchFamily="34" charset="0"/>
              </a:rPr>
              <a:t>Công cụ CASE cơ bản bao gồm các thành phần sau:</a:t>
            </a: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Các </a:t>
            </a:r>
            <a:r>
              <a:rPr lang="vi-VN" sz="1600">
                <a:solidFill>
                  <a:schemeClr val="accent2">
                    <a:lumMod val="50000"/>
                  </a:schemeClr>
                </a:solidFill>
                <a:latin typeface="Calibri" pitchFamily="34" charset="0"/>
                <a:cs typeface="Calibri" pitchFamily="34" charset="0"/>
              </a:rPr>
              <a:t>công cụ </a:t>
            </a:r>
            <a:r>
              <a:rPr lang="vi-VN" sz="1600" smtClean="0">
                <a:solidFill>
                  <a:schemeClr val="accent2">
                    <a:lumMod val="50000"/>
                  </a:schemeClr>
                </a:solidFill>
                <a:latin typeface="Calibri" pitchFamily="34" charset="0"/>
                <a:cs typeface="Calibri" pitchFamily="34" charset="0"/>
              </a:rPr>
              <a:t>front-end: </a:t>
            </a:r>
            <a:r>
              <a:rPr lang="vi-VN" sz="1600">
                <a:solidFill>
                  <a:schemeClr val="accent2">
                    <a:lumMod val="50000"/>
                  </a:schemeClr>
                </a:solidFill>
                <a:latin typeface="Calibri" pitchFamily="34" charset="0"/>
                <a:cs typeface="Calibri" pitchFamily="34" charset="0"/>
              </a:rPr>
              <a:t>hỗ trợ từ việc lên kế </a:t>
            </a:r>
            <a:r>
              <a:rPr lang="vi-VN" sz="1600" smtClean="0">
                <a:solidFill>
                  <a:schemeClr val="accent2">
                    <a:lumMod val="50000"/>
                  </a:schemeClr>
                </a:solidFill>
                <a:latin typeface="Calibri" pitchFamily="34" charset="0"/>
                <a:cs typeface="Calibri" pitchFamily="34" charset="0"/>
              </a:rPr>
              <a:t>hoạch, đặc tả yêu cầu </a:t>
            </a:r>
            <a:r>
              <a:rPr lang="vi-VN" sz="1600">
                <a:solidFill>
                  <a:schemeClr val="accent2">
                    <a:lumMod val="50000"/>
                  </a:schemeClr>
                </a:solidFill>
                <a:latin typeface="Calibri" pitchFamily="34" charset="0"/>
                <a:cs typeface="Calibri" pitchFamily="34" charset="0"/>
              </a:rPr>
              <a:t>đến </a:t>
            </a:r>
            <a:r>
              <a:rPr lang="vi-VN" sz="1600" smtClean="0">
                <a:solidFill>
                  <a:schemeClr val="accent2">
                    <a:lumMod val="50000"/>
                  </a:schemeClr>
                </a:solidFill>
                <a:latin typeface="Calibri" pitchFamily="34" charset="0"/>
                <a:cs typeface="Calibri" pitchFamily="34" charset="0"/>
              </a:rPr>
              <a:t>việc thiết kế giao diện, mẫu báo cáo, dữ liệu...</a:t>
            </a: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Các </a:t>
            </a:r>
            <a:r>
              <a:rPr lang="vi-VN" sz="1600">
                <a:solidFill>
                  <a:schemeClr val="accent2">
                    <a:lumMod val="50000"/>
                  </a:schemeClr>
                </a:solidFill>
                <a:latin typeface="Calibri" pitchFamily="34" charset="0"/>
                <a:cs typeface="Calibri" pitchFamily="34" charset="0"/>
              </a:rPr>
              <a:t>công cụ </a:t>
            </a:r>
            <a:r>
              <a:rPr lang="vi-VN" sz="1600" smtClean="0">
                <a:solidFill>
                  <a:schemeClr val="accent2">
                    <a:lumMod val="50000"/>
                  </a:schemeClr>
                </a:solidFill>
                <a:latin typeface="Calibri" pitchFamily="34" charset="0"/>
                <a:cs typeface="Calibri" pitchFamily="34" charset="0"/>
              </a:rPr>
              <a:t>back-end: </a:t>
            </a:r>
            <a:r>
              <a:rPr lang="vi-VN" sz="1600">
                <a:solidFill>
                  <a:schemeClr val="accent2">
                    <a:lumMod val="50000"/>
                  </a:schemeClr>
                </a:solidFill>
                <a:latin typeface="Calibri" pitchFamily="34" charset="0"/>
                <a:cs typeface="Calibri" pitchFamily="34" charset="0"/>
              </a:rPr>
              <a:t>hỗ trợ việc sinh mã chương </a:t>
            </a:r>
            <a:r>
              <a:rPr lang="vi-VN" sz="1600" smtClean="0">
                <a:solidFill>
                  <a:schemeClr val="accent2">
                    <a:lumMod val="50000"/>
                  </a:schemeClr>
                </a:solidFill>
                <a:latin typeface="Calibri" pitchFamily="34" charset="0"/>
                <a:cs typeface="Calibri" pitchFamily="34" charset="0"/>
              </a:rPr>
              <a:t>trình, gỡ lỗi và kiểm thử trực tiếp từ các tài liệu thiết kế.</a:t>
            </a:r>
          </a:p>
          <a:p>
            <a:pPr lvl="1" algn="just">
              <a:spcAft>
                <a:spcPts val="683"/>
              </a:spcAft>
              <a:buClr>
                <a:srgbClr val="FF0066"/>
              </a:buClr>
              <a:buFont typeface="Symbol" pitchFamily="18" charset="2"/>
              <a:buChar char="¨"/>
            </a:pPr>
            <a:r>
              <a:rPr lang="en-US" sz="1600">
                <a:solidFill>
                  <a:schemeClr val="accent2">
                    <a:lumMod val="50000"/>
                  </a:schemeClr>
                </a:solidFill>
                <a:latin typeface="Calibri" pitchFamily="34" charset="0"/>
                <a:cs typeface="Calibri" pitchFamily="34" charset="0"/>
              </a:rPr>
              <a:t>Kho dữ liệu: cho phép lưu trữ các </a:t>
            </a:r>
            <a:r>
              <a:rPr lang="en-US" sz="1600" smtClean="0">
                <a:solidFill>
                  <a:schemeClr val="accent2">
                    <a:lumMod val="50000"/>
                  </a:schemeClr>
                </a:solidFill>
                <a:latin typeface="Calibri" pitchFamily="34" charset="0"/>
                <a:cs typeface="Calibri" pitchFamily="34" charset="0"/>
              </a:rPr>
              <a:t>định nghĩa về biểu </a:t>
            </a:r>
            <a:r>
              <a:rPr lang="en-US" sz="1600">
                <a:solidFill>
                  <a:schemeClr val="accent2">
                    <a:lumMod val="50000"/>
                  </a:schemeClr>
                </a:solidFill>
                <a:latin typeface="Calibri" pitchFamily="34" charset="0"/>
                <a:cs typeface="Calibri" pitchFamily="34" charset="0"/>
              </a:rPr>
              <a:t>đồ, biểu mẫu, báo cáo, cấu trúc dữ liệu và các thông tin quản lý dự án</a:t>
            </a:r>
            <a:r>
              <a:rPr lang="en-US" sz="1600" smtClean="0">
                <a:solidFill>
                  <a:schemeClr val="accent2">
                    <a:lumMod val="50000"/>
                  </a:schemeClr>
                </a:solidFill>
                <a:latin typeface="Calibri" pitchFamily="34" charset="0"/>
                <a:cs typeface="Calibri" pitchFamily="34" charset="0"/>
              </a:rPr>
              <a:t>.</a:t>
            </a:r>
            <a:endParaRPr lang="vi-VN" sz="16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29</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fontScale="85000" lnSpcReduction="2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500">
                <a:solidFill>
                  <a:schemeClr val="tx2"/>
                </a:solidFill>
                <a:cs typeface="Arial" pitchFamily="34" charset="0"/>
              </a:rPr>
              <a:t>1. Mô hình thác nước </a:t>
            </a:r>
          </a:p>
          <a:p>
            <a:pPr algn="just"/>
            <a:r>
              <a:rPr lang="en-US" sz="1500">
                <a:solidFill>
                  <a:schemeClr val="tx2"/>
                </a:solidFill>
                <a:cs typeface="Arial" pitchFamily="34" charset="0"/>
              </a:rPr>
              <a:t>2. Phương pháp làm bản mẫu </a:t>
            </a:r>
          </a:p>
          <a:p>
            <a:pPr algn="just"/>
            <a:r>
              <a:rPr lang="en-US" sz="1500">
                <a:solidFill>
                  <a:schemeClr val="tx2"/>
                </a:solidFill>
                <a:cs typeface="Arial" pitchFamily="34" charset="0"/>
              </a:rPr>
              <a:t>3. Mô hình xoắn ốc </a:t>
            </a:r>
          </a:p>
          <a:p>
            <a:pPr algn="just"/>
            <a:r>
              <a:rPr lang="en-US" sz="1600" b="1">
                <a:solidFill>
                  <a:schemeClr val="accent6">
                    <a:lumMod val="75000"/>
                  </a:schemeClr>
                </a:solidFill>
                <a:latin typeface="+mn-lt"/>
                <a:cs typeface="Arial" pitchFamily="34" charset="0"/>
              </a:rPr>
              <a:t>4. Phương pháp CASE </a:t>
            </a:r>
          </a:p>
          <a:p>
            <a:pPr algn="just"/>
            <a:r>
              <a:rPr lang="en-US" sz="1500" smtClean="0">
                <a:solidFill>
                  <a:schemeClr val="tx2"/>
                </a:solidFill>
                <a:ea typeface="+mj-ea"/>
                <a:cs typeface="Arial" pitchFamily="34" charset="0"/>
              </a:rPr>
              <a:t>5. Phương </a:t>
            </a:r>
            <a:r>
              <a:rPr lang="en-US" sz="1500">
                <a:solidFill>
                  <a:schemeClr val="tx2"/>
                </a:solidFill>
                <a:ea typeface="+mj-ea"/>
                <a:cs typeface="Arial" pitchFamily="34" charset="0"/>
              </a:rPr>
              <a:t>pháp thiết kế ứng dụng liên kết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6. Phương </a:t>
            </a:r>
            <a:r>
              <a:rPr lang="en-US" sz="1500">
                <a:solidFill>
                  <a:schemeClr val="tx2"/>
                </a:solidFill>
                <a:ea typeface="+mj-ea"/>
                <a:cs typeface="Arial" pitchFamily="34" charset="0"/>
              </a:rPr>
              <a:t>pháp phát triển ứng dụng nhanh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7. Phương </a:t>
            </a:r>
            <a:r>
              <a:rPr lang="en-US" sz="1500">
                <a:solidFill>
                  <a:schemeClr val="tx2"/>
                </a:solidFill>
                <a:ea typeface="+mj-ea"/>
                <a:cs typeface="Arial" pitchFamily="34" charset="0"/>
              </a:rPr>
              <a:t>pháp phát triển linh </a:t>
            </a:r>
            <a:r>
              <a:rPr lang="en-US" sz="1500" smtClean="0">
                <a:solidFill>
                  <a:schemeClr val="tx2"/>
                </a:solidFill>
                <a:ea typeface="+mj-ea"/>
                <a:cs typeface="Arial" pitchFamily="34" charset="0"/>
              </a:rPr>
              <a:t>hoạt</a:t>
            </a:r>
            <a:endParaRPr lang="en-US" sz="1600" b="1">
              <a:solidFill>
                <a:schemeClr val="accent6">
                  <a:lumMod val="75000"/>
                </a:schemeClr>
              </a:solidFill>
              <a:latin typeface="+mn-lt"/>
              <a:cs typeface="Arial" pitchFamily="34" charset="0"/>
            </a:endParaRPr>
          </a:p>
        </p:txBody>
      </p:sp>
    </p:spTree>
    <p:extLst>
      <p:ext uri="{BB962C8B-B14F-4D97-AF65-F5344CB8AC3E}">
        <p14:creationId xmlns:p14="http://schemas.microsoft.com/office/powerpoint/2010/main" val="7257868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4. Vòng đời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5. 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3" y="1412776"/>
            <a:ext cx="9478053" cy="5445223"/>
          </a:xfrm>
        </p:spPr>
        <p:txBody>
          <a:bodyPr>
            <a:normAutofit/>
          </a:bodyPr>
          <a:lstStyle/>
          <a:p>
            <a:pPr algn="just">
              <a:spcAft>
                <a:spcPts val="683"/>
              </a:spcAft>
              <a:buClr>
                <a:srgbClr val="FF0066"/>
              </a:buClr>
              <a:buFont typeface="Symbol" pitchFamily="18" charset="2"/>
              <a:buChar char="¨"/>
            </a:pPr>
            <a:r>
              <a:rPr lang="vi-VN" sz="1800" i="1">
                <a:solidFill>
                  <a:schemeClr val="accent2">
                    <a:lumMod val="50000"/>
                  </a:schemeClr>
                </a:solidFill>
                <a:latin typeface="Calibri" pitchFamily="34" charset="0"/>
                <a:cs typeface="Calibri" pitchFamily="34" charset="0"/>
              </a:rPr>
              <a:t>Phương pháp </a:t>
            </a:r>
            <a:r>
              <a:rPr lang="vi-VN" sz="1800" i="1" smtClean="0">
                <a:solidFill>
                  <a:schemeClr val="accent2">
                    <a:lumMod val="50000"/>
                  </a:schemeClr>
                </a:solidFill>
                <a:latin typeface="Calibri" pitchFamily="34" charset="0"/>
                <a:cs typeface="Calibri" pitchFamily="34" charset="0"/>
              </a:rPr>
              <a:t>thi</a:t>
            </a:r>
            <a:r>
              <a:rPr lang="en-US" sz="1800" i="1" smtClean="0">
                <a:solidFill>
                  <a:schemeClr val="accent2">
                    <a:lumMod val="50000"/>
                  </a:schemeClr>
                </a:solidFill>
                <a:latin typeface="Calibri" pitchFamily="34" charset="0"/>
                <a:cs typeface="Calibri" pitchFamily="34" charset="0"/>
              </a:rPr>
              <a:t>ết kế ứng dụng liên kết-JAD (</a:t>
            </a:r>
            <a:r>
              <a:rPr lang="en-US" sz="1800" i="1">
                <a:solidFill>
                  <a:schemeClr val="accent2">
                    <a:lumMod val="50000"/>
                  </a:schemeClr>
                </a:solidFill>
                <a:latin typeface="Calibri" pitchFamily="34" charset="0"/>
                <a:cs typeface="Calibri" pitchFamily="34" charset="0"/>
              </a:rPr>
              <a:t>Joint Application </a:t>
            </a:r>
            <a:r>
              <a:rPr lang="en-US" sz="1800" i="1" smtClean="0">
                <a:solidFill>
                  <a:schemeClr val="accent2">
                    <a:lumMod val="50000"/>
                  </a:schemeClr>
                </a:solidFill>
                <a:latin typeface="Calibri" pitchFamily="34" charset="0"/>
                <a:cs typeface="Calibri" pitchFamily="34" charset="0"/>
              </a:rPr>
              <a:t>Design)</a:t>
            </a:r>
            <a:r>
              <a:rPr lang="vi-VN" sz="1800" smtClean="0">
                <a:solidFill>
                  <a:schemeClr val="accent2">
                    <a:lumMod val="50000"/>
                  </a:schemeClr>
                </a:solidFill>
                <a:latin typeface="Calibri" pitchFamily="34" charset="0"/>
                <a:cs typeface="Calibri" pitchFamily="34" charset="0"/>
              </a:rPr>
              <a:t>: </a:t>
            </a:r>
            <a:r>
              <a:rPr lang="en-US" sz="1800" smtClean="0">
                <a:solidFill>
                  <a:schemeClr val="accent2">
                    <a:lumMod val="50000"/>
                  </a:schemeClr>
                </a:solidFill>
                <a:latin typeface="Calibri" pitchFamily="34" charset="0"/>
                <a:cs typeface="Calibri" pitchFamily="34" charset="0"/>
              </a:rPr>
              <a:t>Vào </a:t>
            </a:r>
            <a:r>
              <a:rPr lang="en-US" sz="1800">
                <a:solidFill>
                  <a:schemeClr val="accent2">
                    <a:lumMod val="50000"/>
                  </a:schemeClr>
                </a:solidFill>
                <a:latin typeface="Calibri" pitchFamily="34" charset="0"/>
                <a:cs typeface="Calibri" pitchFamily="34" charset="0"/>
              </a:rPr>
              <a:t>cuối những năm 1970, nhân viên phát triển hệ thống tại IBM đã phát triển một quy trình mới để thu thập các yêu cầu hệ thống và rà soát lại thiết kế hệ thống. </a:t>
            </a: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Ý tưởng của phương pháp: người </a:t>
            </a:r>
            <a:r>
              <a:rPr lang="en-US" sz="1800">
                <a:solidFill>
                  <a:schemeClr val="accent2">
                    <a:lumMod val="50000"/>
                  </a:schemeClr>
                </a:solidFill>
                <a:latin typeface="Calibri" pitchFamily="34" charset="0"/>
                <a:cs typeface="Calibri" pitchFamily="34" charset="0"/>
              </a:rPr>
              <a:t>dùng, nhà quản lý và các nhà phát triển hệ thống cùng tập trung làm việc với nhau trong một căn phòng để thống nhất về yêu cầu hệ thống và </a:t>
            </a:r>
            <a:r>
              <a:rPr lang="en-US" sz="1800" smtClean="0">
                <a:solidFill>
                  <a:schemeClr val="accent2">
                    <a:lumMod val="50000"/>
                  </a:schemeClr>
                </a:solidFill>
                <a:latin typeface="Calibri" pitchFamily="34" charset="0"/>
                <a:cs typeface="Calibri" pitchFamily="34" charset="0"/>
              </a:rPr>
              <a:t>các thiết </a:t>
            </a:r>
            <a:r>
              <a:rPr lang="en-US" sz="1800">
                <a:solidFill>
                  <a:schemeClr val="accent2">
                    <a:lumMod val="50000"/>
                  </a:schemeClr>
                </a:solidFill>
                <a:latin typeface="Calibri" pitchFamily="34" charset="0"/>
                <a:cs typeface="Calibri" pitchFamily="34" charset="0"/>
              </a:rPr>
              <a:t>kế chi </a:t>
            </a:r>
            <a:r>
              <a:rPr lang="en-US" sz="1800" smtClean="0">
                <a:solidFill>
                  <a:schemeClr val="accent2">
                    <a:lumMod val="50000"/>
                  </a:schemeClr>
                </a:solidFill>
                <a:latin typeface="Calibri" pitchFamily="34" charset="0"/>
                <a:cs typeface="Calibri" pitchFamily="34" charset="0"/>
              </a:rPr>
              <a:t>tiết.</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Thời </a:t>
            </a:r>
            <a:r>
              <a:rPr lang="en-US" sz="1600">
                <a:solidFill>
                  <a:schemeClr val="accent2">
                    <a:lumMod val="50000"/>
                  </a:schemeClr>
                </a:solidFill>
                <a:latin typeface="Calibri" pitchFamily="34" charset="0"/>
                <a:cs typeface="Calibri" pitchFamily="34" charset="0"/>
              </a:rPr>
              <a:t>gian và nguồn lực tổ chức được quản lý tốt hơn. </a:t>
            </a:r>
            <a:endParaRPr lang="en-US" sz="16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Các thành </a:t>
            </a:r>
            <a:r>
              <a:rPr lang="en-US" sz="1600">
                <a:solidFill>
                  <a:schemeClr val="accent2">
                    <a:lumMod val="50000"/>
                  </a:schemeClr>
                </a:solidFill>
                <a:latin typeface="Calibri" pitchFamily="34" charset="0"/>
                <a:cs typeface="Calibri" pitchFamily="34" charset="0"/>
              </a:rPr>
              <a:t>viên trong nhóm đều có sự hiểu biết chung về những gì hệ thống được đề xuất sẽ phải thực hiện</a:t>
            </a:r>
            <a:r>
              <a:rPr lang="en-US" sz="1600" smtClean="0">
                <a:solidFill>
                  <a:schemeClr val="accent2">
                    <a:lumMod val="50000"/>
                  </a:schemeClr>
                </a:solidFill>
                <a:latin typeface="Calibri" pitchFamily="34" charset="0"/>
                <a:cs typeface="Calibri" pitchFamily="34" charset="0"/>
              </a:rPr>
              <a:t>.</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Thời gian làm việc kéo dài một vài ngày.</a:t>
            </a:r>
            <a:endParaRPr lang="vi-VN" sz="16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30</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fontScale="85000" lnSpcReduction="2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500">
                <a:solidFill>
                  <a:schemeClr val="tx2"/>
                </a:solidFill>
                <a:cs typeface="Arial" pitchFamily="34" charset="0"/>
              </a:rPr>
              <a:t>1. Mô hình thác nước </a:t>
            </a:r>
          </a:p>
          <a:p>
            <a:pPr algn="just"/>
            <a:r>
              <a:rPr lang="en-US" sz="1500">
                <a:solidFill>
                  <a:schemeClr val="tx2"/>
                </a:solidFill>
                <a:cs typeface="Arial" pitchFamily="34" charset="0"/>
              </a:rPr>
              <a:t>2. Phương pháp làm bản mẫu </a:t>
            </a:r>
          </a:p>
          <a:p>
            <a:pPr algn="just"/>
            <a:r>
              <a:rPr lang="en-US" sz="1500">
                <a:solidFill>
                  <a:schemeClr val="tx2"/>
                </a:solidFill>
                <a:cs typeface="Arial" pitchFamily="34" charset="0"/>
              </a:rPr>
              <a:t>3. Mô hình xoắn ốc </a:t>
            </a:r>
          </a:p>
          <a:p>
            <a:pPr algn="just"/>
            <a:r>
              <a:rPr lang="en-US" sz="1500">
                <a:solidFill>
                  <a:schemeClr val="tx2"/>
                </a:solidFill>
                <a:cs typeface="Arial" pitchFamily="34" charset="0"/>
              </a:rPr>
              <a:t>4. Phương pháp CASE </a:t>
            </a:r>
          </a:p>
          <a:p>
            <a:pPr algn="just"/>
            <a:r>
              <a:rPr lang="en-US" sz="1600" b="1">
                <a:solidFill>
                  <a:schemeClr val="accent6">
                    <a:lumMod val="75000"/>
                  </a:schemeClr>
                </a:solidFill>
                <a:latin typeface="+mn-lt"/>
                <a:cs typeface="Arial" pitchFamily="34" charset="0"/>
              </a:rPr>
              <a:t>5. Phương pháp thiết kế ứng dụng liên kết </a:t>
            </a:r>
          </a:p>
          <a:p>
            <a:pPr algn="just"/>
            <a:r>
              <a:rPr lang="en-US" sz="1500" smtClean="0">
                <a:solidFill>
                  <a:schemeClr val="tx2"/>
                </a:solidFill>
                <a:ea typeface="+mj-ea"/>
                <a:cs typeface="Arial" pitchFamily="34" charset="0"/>
              </a:rPr>
              <a:t>6. Phương </a:t>
            </a:r>
            <a:r>
              <a:rPr lang="en-US" sz="1500">
                <a:solidFill>
                  <a:schemeClr val="tx2"/>
                </a:solidFill>
                <a:ea typeface="+mj-ea"/>
                <a:cs typeface="Arial" pitchFamily="34" charset="0"/>
              </a:rPr>
              <a:t>pháp phát triển ứng dụng nhanh </a:t>
            </a:r>
            <a:endParaRPr lang="en-US" sz="1500" smtClean="0">
              <a:solidFill>
                <a:schemeClr val="tx2"/>
              </a:solidFill>
              <a:ea typeface="+mj-ea"/>
              <a:cs typeface="Arial" pitchFamily="34" charset="0"/>
            </a:endParaRPr>
          </a:p>
          <a:p>
            <a:pPr algn="just"/>
            <a:r>
              <a:rPr lang="en-US" sz="1500" smtClean="0">
                <a:solidFill>
                  <a:schemeClr val="tx2"/>
                </a:solidFill>
                <a:ea typeface="+mj-ea"/>
                <a:cs typeface="Arial" pitchFamily="34" charset="0"/>
              </a:rPr>
              <a:t>7. Phương </a:t>
            </a:r>
            <a:r>
              <a:rPr lang="en-US" sz="1500">
                <a:solidFill>
                  <a:schemeClr val="tx2"/>
                </a:solidFill>
                <a:ea typeface="+mj-ea"/>
                <a:cs typeface="Arial" pitchFamily="34" charset="0"/>
              </a:rPr>
              <a:t>pháp phát triển linh </a:t>
            </a:r>
            <a:r>
              <a:rPr lang="en-US" sz="1500" smtClean="0">
                <a:solidFill>
                  <a:schemeClr val="tx2"/>
                </a:solidFill>
                <a:ea typeface="+mj-ea"/>
                <a:cs typeface="Arial" pitchFamily="34" charset="0"/>
              </a:rPr>
              <a:t>hoạt</a:t>
            </a:r>
            <a:endParaRPr lang="en-US" sz="1600" b="1">
              <a:solidFill>
                <a:schemeClr val="accent6">
                  <a:lumMod val="75000"/>
                </a:schemeClr>
              </a:solidFill>
              <a:latin typeface="+mn-lt"/>
              <a:cs typeface="Arial" pitchFamily="34" charset="0"/>
            </a:endParaRPr>
          </a:p>
        </p:txBody>
      </p:sp>
    </p:spTree>
    <p:extLst>
      <p:ext uri="{BB962C8B-B14F-4D97-AF65-F5344CB8AC3E}">
        <p14:creationId xmlns:p14="http://schemas.microsoft.com/office/powerpoint/2010/main" val="25973507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4. Vòng đời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5. 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3" y="1412776"/>
            <a:ext cx="9478053" cy="5445223"/>
          </a:xfrm>
        </p:spPr>
        <p:txBody>
          <a:bodyPr>
            <a:normAutofit/>
          </a:bodyPr>
          <a:lstStyle/>
          <a:p>
            <a:pPr algn="just">
              <a:spcAft>
                <a:spcPts val="683"/>
              </a:spcAft>
              <a:buClr>
                <a:srgbClr val="FF0066"/>
              </a:buClr>
              <a:buFont typeface="Symbol" pitchFamily="18" charset="2"/>
              <a:buChar char="¨"/>
            </a:pPr>
            <a:r>
              <a:rPr lang="vi-VN" sz="1800" i="1">
                <a:solidFill>
                  <a:schemeClr val="accent2">
                    <a:lumMod val="50000"/>
                  </a:schemeClr>
                </a:solidFill>
                <a:latin typeface="Calibri" pitchFamily="34" charset="0"/>
                <a:cs typeface="Calibri" pitchFamily="34" charset="0"/>
              </a:rPr>
              <a:t>Phương pháp </a:t>
            </a:r>
            <a:r>
              <a:rPr lang="vi-VN" sz="1800" i="1" smtClean="0">
                <a:solidFill>
                  <a:schemeClr val="accent2">
                    <a:lumMod val="50000"/>
                  </a:schemeClr>
                </a:solidFill>
                <a:latin typeface="Calibri" pitchFamily="34" charset="0"/>
                <a:cs typeface="Calibri" pitchFamily="34" charset="0"/>
              </a:rPr>
              <a:t>ph</a:t>
            </a:r>
            <a:r>
              <a:rPr lang="en-US" sz="1800" i="1" smtClean="0">
                <a:solidFill>
                  <a:schemeClr val="accent2">
                    <a:lumMod val="50000"/>
                  </a:schemeClr>
                </a:solidFill>
                <a:latin typeface="Calibri" pitchFamily="34" charset="0"/>
                <a:cs typeface="Calibri" pitchFamily="34" charset="0"/>
              </a:rPr>
              <a:t>át triển ứng dụng nhanh-RAD (</a:t>
            </a:r>
            <a:r>
              <a:rPr lang="en-US" sz="1800" i="1">
                <a:solidFill>
                  <a:schemeClr val="accent2">
                    <a:lumMod val="50000"/>
                  </a:schemeClr>
                </a:solidFill>
                <a:latin typeface="Calibri" pitchFamily="34" charset="0"/>
                <a:cs typeface="Calibri" pitchFamily="34" charset="0"/>
              </a:rPr>
              <a:t>Rapid Application Development)</a:t>
            </a:r>
            <a:r>
              <a:rPr lang="vi-VN" sz="1800" smtClean="0">
                <a:solidFill>
                  <a:schemeClr val="accent2">
                    <a:lumMod val="50000"/>
                  </a:schemeClr>
                </a:solidFill>
                <a:latin typeface="Calibri" pitchFamily="34" charset="0"/>
                <a:cs typeface="Calibri" pitchFamily="34" charset="0"/>
              </a:rPr>
              <a:t>: </a:t>
            </a:r>
            <a:r>
              <a:rPr lang="en-US" sz="1800" smtClean="0">
                <a:solidFill>
                  <a:schemeClr val="accent2">
                    <a:lumMod val="50000"/>
                  </a:schemeClr>
                </a:solidFill>
                <a:latin typeface="Calibri" pitchFamily="34" charset="0"/>
                <a:cs typeface="Calibri" pitchFamily="34" charset="0"/>
              </a:rPr>
              <a:t>Gồm </a:t>
            </a:r>
            <a:r>
              <a:rPr lang="en-US" sz="1800">
                <a:solidFill>
                  <a:schemeClr val="accent2">
                    <a:lumMod val="50000"/>
                  </a:schemeClr>
                </a:solidFill>
                <a:latin typeface="Calibri" pitchFamily="34" charset="0"/>
                <a:cs typeface="Calibri" pitchFamily="34" charset="0"/>
              </a:rPr>
              <a:t>các công cụ hỗ trợ quan trọng như </a:t>
            </a:r>
            <a:r>
              <a:rPr lang="vi-VN" sz="1800">
                <a:solidFill>
                  <a:schemeClr val="accent2">
                    <a:lumMod val="50000"/>
                  </a:schemeClr>
                </a:solidFill>
                <a:latin typeface="Calibri" pitchFamily="34" charset="0"/>
                <a:cs typeface="Calibri" pitchFamily="34" charset="0"/>
              </a:rPr>
              <a:t>Prototyping, CASE, và JAD</a:t>
            </a:r>
            <a:r>
              <a:rPr lang="en-US" sz="1800">
                <a:solidFill>
                  <a:schemeClr val="accent2">
                    <a:lumMod val="50000"/>
                  </a:schemeClr>
                </a:solidFill>
                <a:latin typeface="Calibri" pitchFamily="34" charset="0"/>
                <a:cs typeface="Calibri" pitchFamily="34" charset="0"/>
              </a:rPr>
              <a:t> với mục tiêu </a:t>
            </a:r>
            <a:r>
              <a:rPr lang="en-US" sz="1800" smtClean="0">
                <a:solidFill>
                  <a:schemeClr val="accent2">
                    <a:lumMod val="50000"/>
                  </a:schemeClr>
                </a:solidFill>
                <a:latin typeface="Calibri" pitchFamily="34" charset="0"/>
                <a:cs typeface="Calibri" pitchFamily="34" charset="0"/>
              </a:rPr>
              <a:t>tăng tốc độ phát triển ứng dụng, </a:t>
            </a:r>
            <a:r>
              <a:rPr lang="en-US" sz="1800">
                <a:solidFill>
                  <a:schemeClr val="accent2">
                    <a:lumMod val="50000"/>
                  </a:schemeClr>
                </a:solidFill>
                <a:latin typeface="Calibri" pitchFamily="34" charset="0"/>
                <a:cs typeface="Calibri" pitchFamily="34" charset="0"/>
              </a:rPr>
              <a:t>giảm thiểu thời gian thiết kế và triển khai, nhanh chóng cung cấp hệ thống cho người sử dụng</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RAD phát triển hệ thống một cách linh hoạt và có thể đáp ứng được với các thay đổi nhanh chóng của môi trường.</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N</a:t>
            </a:r>
            <a:r>
              <a:rPr lang="vi-VN" sz="1600">
                <a:solidFill>
                  <a:schemeClr val="accent2">
                    <a:lumMod val="50000"/>
                  </a:schemeClr>
                </a:solidFill>
                <a:latin typeface="Calibri" pitchFamily="34" charset="0"/>
                <a:cs typeface="Calibri" pitchFamily="34" charset="0"/>
              </a:rPr>
              <a:t>guyên tắc cơ bản của RAD là </a:t>
            </a:r>
            <a:r>
              <a:rPr lang="en-US" sz="1600">
                <a:solidFill>
                  <a:schemeClr val="accent2">
                    <a:lumMod val="50000"/>
                  </a:schemeClr>
                </a:solidFill>
                <a:latin typeface="Calibri" pitchFamily="34" charset="0"/>
                <a:cs typeface="Calibri" pitchFamily="34" charset="0"/>
              </a:rPr>
              <a:t>không </a:t>
            </a:r>
            <a:r>
              <a:rPr lang="vi-VN" sz="1600">
                <a:solidFill>
                  <a:schemeClr val="accent2">
                    <a:lumMod val="50000"/>
                  </a:schemeClr>
                </a:solidFill>
                <a:latin typeface="Calibri" pitchFamily="34" charset="0"/>
                <a:cs typeface="Calibri" pitchFamily="34" charset="0"/>
              </a:rPr>
              <a:t>viết các tài liệu thiết kế hệ thống chi tiết cho đến khi yêu cầu của người dùng được làm rõ</a:t>
            </a:r>
            <a:r>
              <a:rPr lang="vi-VN" sz="1600" smtClean="0">
                <a:solidFill>
                  <a:schemeClr val="accent2">
                    <a:lumMod val="50000"/>
                  </a:schemeClr>
                </a:solidFill>
                <a:latin typeface="Calibri" pitchFamily="34" charset="0"/>
                <a:cs typeface="Calibri" pitchFamily="34" charset="0"/>
              </a:rPr>
              <a:t>.</a:t>
            </a:r>
          </a:p>
          <a:p>
            <a:pPr lvl="1" algn="just">
              <a:spcAft>
                <a:spcPts val="683"/>
              </a:spcAft>
              <a:buClr>
                <a:srgbClr val="FF0066"/>
              </a:buClr>
              <a:buFont typeface="Symbol" pitchFamily="18" charset="2"/>
              <a:buChar char="¨"/>
            </a:pPr>
            <a:r>
              <a:rPr lang="vi-VN" sz="1600" smtClean="0">
                <a:solidFill>
                  <a:schemeClr val="accent2">
                    <a:lumMod val="50000"/>
                  </a:schemeClr>
                </a:solidFill>
                <a:latin typeface="Calibri" pitchFamily="34" charset="0"/>
                <a:cs typeface="Calibri" pitchFamily="34" charset="0"/>
              </a:rPr>
              <a:t>RAD </a:t>
            </a:r>
            <a:r>
              <a:rPr lang="vi-VN" sz="1600">
                <a:solidFill>
                  <a:schemeClr val="accent2">
                    <a:lumMod val="50000"/>
                  </a:schemeClr>
                </a:solidFill>
                <a:latin typeface="Calibri" pitchFamily="34" charset="0"/>
                <a:cs typeface="Calibri" pitchFamily="34" charset="0"/>
              </a:rPr>
              <a:t>được sử dụng rộng rãi bởi các công ty tư vấn. </a:t>
            </a: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31</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fontScale="70000" lnSpcReduction="2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700">
                <a:solidFill>
                  <a:schemeClr val="tx2"/>
                </a:solidFill>
                <a:cs typeface="Arial" pitchFamily="34" charset="0"/>
              </a:rPr>
              <a:t>1. Mô hình thác nước </a:t>
            </a:r>
          </a:p>
          <a:p>
            <a:pPr algn="just"/>
            <a:r>
              <a:rPr lang="en-US" sz="1700">
                <a:solidFill>
                  <a:schemeClr val="tx2"/>
                </a:solidFill>
                <a:cs typeface="Arial" pitchFamily="34" charset="0"/>
              </a:rPr>
              <a:t>2. Phương pháp làm bản mẫu </a:t>
            </a:r>
          </a:p>
          <a:p>
            <a:pPr algn="just"/>
            <a:r>
              <a:rPr lang="en-US" sz="1700">
                <a:solidFill>
                  <a:schemeClr val="tx2"/>
                </a:solidFill>
                <a:cs typeface="Arial" pitchFamily="34" charset="0"/>
              </a:rPr>
              <a:t>3. Mô hình xoắn ốc </a:t>
            </a:r>
          </a:p>
          <a:p>
            <a:pPr algn="just"/>
            <a:r>
              <a:rPr lang="en-US" sz="1700">
                <a:solidFill>
                  <a:schemeClr val="tx2"/>
                </a:solidFill>
                <a:cs typeface="Arial" pitchFamily="34" charset="0"/>
              </a:rPr>
              <a:t>4. Phương pháp CASE </a:t>
            </a:r>
          </a:p>
          <a:p>
            <a:pPr algn="just"/>
            <a:r>
              <a:rPr lang="en-US" sz="1700">
                <a:solidFill>
                  <a:schemeClr val="tx2"/>
                </a:solidFill>
                <a:cs typeface="Arial" pitchFamily="34" charset="0"/>
              </a:rPr>
              <a:t>5. Phương pháp thiết kế ứng dụng liên kết</a:t>
            </a:r>
            <a:r>
              <a:rPr lang="en-US" sz="1700" b="1">
                <a:solidFill>
                  <a:schemeClr val="accent6">
                    <a:lumMod val="75000"/>
                  </a:schemeClr>
                </a:solidFill>
                <a:latin typeface="+mn-lt"/>
                <a:cs typeface="Arial" pitchFamily="34" charset="0"/>
              </a:rPr>
              <a:t> </a:t>
            </a:r>
          </a:p>
          <a:p>
            <a:pPr algn="just"/>
            <a:r>
              <a:rPr lang="en-US" sz="1800" b="1">
                <a:solidFill>
                  <a:schemeClr val="accent6">
                    <a:lumMod val="75000"/>
                  </a:schemeClr>
                </a:solidFill>
                <a:latin typeface="+mn-lt"/>
                <a:cs typeface="Arial" pitchFamily="34" charset="0"/>
              </a:rPr>
              <a:t>6. Phương pháp </a:t>
            </a:r>
            <a:r>
              <a:rPr lang="en-US" sz="1800" b="1" smtClean="0">
                <a:solidFill>
                  <a:schemeClr val="accent6">
                    <a:lumMod val="75000"/>
                  </a:schemeClr>
                </a:solidFill>
                <a:latin typeface="+mn-lt"/>
                <a:cs typeface="Arial" pitchFamily="34" charset="0"/>
              </a:rPr>
              <a:t>phát triển ứng </a:t>
            </a:r>
            <a:r>
              <a:rPr lang="en-US" sz="1800" b="1">
                <a:solidFill>
                  <a:schemeClr val="accent6">
                    <a:lumMod val="75000"/>
                  </a:schemeClr>
                </a:solidFill>
                <a:latin typeface="+mn-lt"/>
                <a:cs typeface="Arial" pitchFamily="34" charset="0"/>
              </a:rPr>
              <a:t>dụng nhanh </a:t>
            </a:r>
          </a:p>
          <a:p>
            <a:pPr algn="just"/>
            <a:r>
              <a:rPr lang="en-US" sz="1700" smtClean="0">
                <a:solidFill>
                  <a:schemeClr val="tx2"/>
                </a:solidFill>
                <a:cs typeface="Arial" pitchFamily="34" charset="0"/>
              </a:rPr>
              <a:t>7. Phương </a:t>
            </a:r>
            <a:r>
              <a:rPr lang="en-US" sz="1700">
                <a:solidFill>
                  <a:schemeClr val="tx2"/>
                </a:solidFill>
                <a:cs typeface="Arial" pitchFamily="34" charset="0"/>
              </a:rPr>
              <a:t>pháp phát triển linh </a:t>
            </a:r>
            <a:r>
              <a:rPr lang="en-US" sz="1700" smtClean="0">
                <a:solidFill>
                  <a:schemeClr val="tx2"/>
                </a:solidFill>
                <a:cs typeface="Arial" pitchFamily="34" charset="0"/>
              </a:rPr>
              <a:t>hoạt</a:t>
            </a:r>
            <a:endParaRPr lang="en-US" sz="1700" b="1">
              <a:solidFill>
                <a:schemeClr val="accent6">
                  <a:lumMod val="75000"/>
                </a:schemeClr>
              </a:solidFill>
              <a:latin typeface="+mn-lt"/>
              <a:cs typeface="Arial" pitchFamily="34" charset="0"/>
            </a:endParaRPr>
          </a:p>
        </p:txBody>
      </p:sp>
    </p:spTree>
    <p:extLst>
      <p:ext uri="{BB962C8B-B14F-4D97-AF65-F5344CB8AC3E}">
        <p14:creationId xmlns:p14="http://schemas.microsoft.com/office/powerpoint/2010/main" val="4821176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015708" cy="1293634"/>
          </a:xfrm>
          <a:solidFill>
            <a:schemeClr val="accent1">
              <a:lumMod val="20000"/>
              <a:lumOff val="80000"/>
            </a:schemeClr>
          </a:solidFill>
        </p:spPr>
        <p:txBody>
          <a:bodyPr>
            <a:normAutofit fontScale="90000"/>
          </a:bodyPr>
          <a:lstStyle/>
          <a:p>
            <a:pPr marL="0" indent="0"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Định nghĩa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2. Vai trò của phát triển hệ thống thông tin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Các cách tiếp cận trong phát triển hệ thống thông tin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4. Vòng đời phát triển hệ thống thông tin </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mn-lt"/>
                <a:cs typeface="Arial" pitchFamily="34" charset="0"/>
              </a:rPr>
              <a:t>5. Các phương pháp phát triển hệ thống thông tin</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3" y="1412776"/>
            <a:ext cx="9478053" cy="5445223"/>
          </a:xfrm>
        </p:spPr>
        <p:txBody>
          <a:bodyPr>
            <a:normAutofit/>
          </a:bodyPr>
          <a:lstStyle/>
          <a:p>
            <a:pPr algn="just">
              <a:spcAft>
                <a:spcPts val="683"/>
              </a:spcAft>
              <a:buClr>
                <a:srgbClr val="FF0066"/>
              </a:buClr>
              <a:buFont typeface="Symbol" pitchFamily="18" charset="2"/>
              <a:buChar char="¨"/>
            </a:pPr>
            <a:r>
              <a:rPr lang="vi-VN" sz="1800" i="1">
                <a:solidFill>
                  <a:schemeClr val="accent2">
                    <a:lumMod val="50000"/>
                  </a:schemeClr>
                </a:solidFill>
                <a:latin typeface="Calibri" pitchFamily="34" charset="0"/>
                <a:cs typeface="Calibri" pitchFamily="34" charset="0"/>
              </a:rPr>
              <a:t>Phương pháp </a:t>
            </a:r>
            <a:r>
              <a:rPr lang="vi-VN" sz="1800" i="1" smtClean="0">
                <a:solidFill>
                  <a:schemeClr val="accent2">
                    <a:lumMod val="50000"/>
                  </a:schemeClr>
                </a:solidFill>
                <a:latin typeface="Calibri" pitchFamily="34" charset="0"/>
                <a:cs typeface="Calibri" pitchFamily="34" charset="0"/>
              </a:rPr>
              <a:t>ph</a:t>
            </a:r>
            <a:r>
              <a:rPr lang="en-US" sz="1800" i="1" smtClean="0">
                <a:solidFill>
                  <a:schemeClr val="accent2">
                    <a:lumMod val="50000"/>
                  </a:schemeClr>
                </a:solidFill>
                <a:latin typeface="Calibri" pitchFamily="34" charset="0"/>
                <a:cs typeface="Calibri" pitchFamily="34" charset="0"/>
              </a:rPr>
              <a:t>át triển linh hoạt-Agile</a:t>
            </a:r>
            <a:r>
              <a:rPr lang="vi-VN" sz="1800" smtClean="0">
                <a:solidFill>
                  <a:schemeClr val="accent2">
                    <a:lumMod val="50000"/>
                  </a:schemeClr>
                </a:solidFill>
                <a:latin typeface="Calibri" pitchFamily="34" charset="0"/>
                <a:cs typeface="Calibri" pitchFamily="34" charset="0"/>
              </a:rPr>
              <a:t>: </a:t>
            </a:r>
            <a:r>
              <a:rPr lang="en-US" sz="1800" smtClean="0">
                <a:solidFill>
                  <a:schemeClr val="accent2">
                    <a:lumMod val="50000"/>
                  </a:schemeClr>
                </a:solidFill>
                <a:latin typeface="Calibri" pitchFamily="34" charset="0"/>
                <a:cs typeface="Calibri" pitchFamily="34" charset="0"/>
              </a:rPr>
              <a:t>cùng </a:t>
            </a:r>
            <a:r>
              <a:rPr lang="en-US" sz="1800">
                <a:solidFill>
                  <a:schemeClr val="accent2">
                    <a:lumMod val="50000"/>
                  </a:schemeClr>
                </a:solidFill>
                <a:latin typeface="Calibri" pitchFamily="34" charset="0"/>
                <a:cs typeface="Calibri" pitchFamily="34" charset="0"/>
              </a:rPr>
              <a:t>nhóm với các phương pháp và phương pháp luận phát triển ứng dụng dựa trên nguyên tắc phát triển phân đoạn lặp (iterative) và tăng trưởng (incremental). </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Agile </a:t>
            </a:r>
            <a:r>
              <a:rPr lang="en-US" sz="1600">
                <a:solidFill>
                  <a:schemeClr val="accent2">
                    <a:lumMod val="50000"/>
                  </a:schemeClr>
                </a:solidFill>
                <a:latin typeface="Calibri" pitchFamily="34" charset="0"/>
                <a:cs typeface="Calibri" pitchFamily="34" charset="0"/>
              </a:rPr>
              <a:t>cố gắng cực tiểu hóa rủi ro bằng cách phát triển ứng dụng trong các khung thời gian ngắn, gọi là các bước lặp, mỗi bước lặp thường được thực hiện trong khoảng từ 1 đến 4 tuần để có thể dễ dàng phản hồi lại với các thay đổi trong quá trình phát triển. </a:t>
            </a:r>
            <a:endParaRPr lang="en-US" sz="1600" smtClean="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Agile nhấn </a:t>
            </a:r>
            <a:r>
              <a:rPr lang="en-US" sz="1600">
                <a:solidFill>
                  <a:schemeClr val="accent2">
                    <a:lumMod val="50000"/>
                  </a:schemeClr>
                </a:solidFill>
                <a:latin typeface="Calibri" pitchFamily="34" charset="0"/>
                <a:cs typeface="Calibri" pitchFamily="34" charset="0"/>
              </a:rPr>
              <a:t>mạnh vào tầm quan trọng của giao tiếp thời gian thực, giao tiếp trực tiếp mặt-đối-mặt với tất cả các thành viên trong đội phát triển ứng dụng bao gồm cả khách hàng</a:t>
            </a:r>
            <a:r>
              <a:rPr lang="en-US" sz="1600" smtClean="0">
                <a:solidFill>
                  <a:schemeClr val="accent2">
                    <a:lumMod val="50000"/>
                  </a:schemeClr>
                </a:solidFill>
                <a:latin typeface="Calibri" pitchFamily="34" charset="0"/>
                <a:cs typeface="Calibri" pitchFamily="34" charset="0"/>
              </a:rPr>
              <a:t>.</a:t>
            </a:r>
          </a:p>
          <a:p>
            <a:pPr lvl="1" algn="just">
              <a:spcAft>
                <a:spcPts val="683"/>
              </a:spcAft>
              <a:buClr>
                <a:srgbClr val="FF0066"/>
              </a:buClr>
              <a:buFont typeface="Symbol" pitchFamily="18" charset="2"/>
              <a:buChar char="¨"/>
            </a:pPr>
            <a:r>
              <a:rPr lang="en-US" sz="1600" smtClean="0">
                <a:solidFill>
                  <a:schemeClr val="accent2">
                    <a:lumMod val="50000"/>
                  </a:schemeClr>
                </a:solidFill>
                <a:latin typeface="Calibri" pitchFamily="34" charset="0"/>
                <a:cs typeface="Calibri" pitchFamily="34" charset="0"/>
              </a:rPr>
              <a:t>Agile </a:t>
            </a:r>
            <a:r>
              <a:rPr lang="en-US" sz="1600">
                <a:solidFill>
                  <a:schemeClr val="accent2">
                    <a:lumMod val="50000"/>
                  </a:schemeClr>
                </a:solidFill>
                <a:latin typeface="Calibri" pitchFamily="34" charset="0"/>
                <a:cs typeface="Calibri" pitchFamily="34" charset="0"/>
              </a:rPr>
              <a:t>là một cách tiếp cận tốt khi </a:t>
            </a:r>
            <a:r>
              <a:rPr lang="en-US" sz="1600" smtClean="0">
                <a:solidFill>
                  <a:schemeClr val="accent2">
                    <a:lumMod val="50000"/>
                  </a:schemeClr>
                </a:solidFill>
                <a:latin typeface="Calibri" pitchFamily="34" charset="0"/>
                <a:cs typeface="Calibri" pitchFamily="34" charset="0"/>
              </a:rPr>
              <a:t>không </a:t>
            </a:r>
            <a:r>
              <a:rPr lang="en-US" sz="1600">
                <a:solidFill>
                  <a:schemeClr val="accent2">
                    <a:lumMod val="50000"/>
                  </a:schemeClr>
                </a:solidFill>
                <a:latin typeface="Calibri" pitchFamily="34" charset="0"/>
                <a:cs typeface="Calibri" pitchFamily="34" charset="0"/>
              </a:rPr>
              <a:t>biết trước hoàn toàn các yêu cầu của hệ thống đang cần xây dựng hoặc sửa chữa. </a:t>
            </a:r>
            <a:endParaRPr lang="en-US" sz="16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18964" y="1293635"/>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32</a:t>
            </a:fld>
            <a:endParaRPr lang="vi-VN"/>
          </a:p>
        </p:txBody>
      </p:sp>
      <p:sp>
        <p:nvSpPr>
          <p:cNvPr id="9" name="Title 1"/>
          <p:cNvSpPr txBox="1">
            <a:spLocks/>
          </p:cNvSpPr>
          <p:nvPr/>
        </p:nvSpPr>
        <p:spPr>
          <a:xfrm>
            <a:off x="6912636" y="0"/>
            <a:ext cx="3384000" cy="1260000"/>
          </a:xfrm>
          <a:prstGeom prst="rect">
            <a:avLst/>
          </a:prstGeom>
          <a:solidFill>
            <a:schemeClr val="accent1">
              <a:lumMod val="75000"/>
            </a:schemeClr>
          </a:solidFill>
        </p:spPr>
        <p:txBody>
          <a:bodyPr vert="horz" lIns="104104" tIns="52052" rIns="104104" bIns="52052" rtlCol="0" anchor="ctr">
            <a:normAutofit fontScale="77500" lnSpcReduction="20000"/>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algn="just"/>
            <a:r>
              <a:rPr lang="en-US" sz="1700">
                <a:solidFill>
                  <a:schemeClr val="tx2"/>
                </a:solidFill>
                <a:cs typeface="Arial" pitchFamily="34" charset="0"/>
              </a:rPr>
              <a:t>1. Mô hình thác nước </a:t>
            </a:r>
          </a:p>
          <a:p>
            <a:pPr algn="just"/>
            <a:r>
              <a:rPr lang="en-US" sz="1700">
                <a:solidFill>
                  <a:schemeClr val="tx2"/>
                </a:solidFill>
                <a:cs typeface="Arial" pitchFamily="34" charset="0"/>
              </a:rPr>
              <a:t>2. Phương pháp làm bản mẫu </a:t>
            </a:r>
          </a:p>
          <a:p>
            <a:pPr algn="just"/>
            <a:r>
              <a:rPr lang="en-US" sz="1700">
                <a:solidFill>
                  <a:schemeClr val="tx2"/>
                </a:solidFill>
                <a:cs typeface="Arial" pitchFamily="34" charset="0"/>
              </a:rPr>
              <a:t>3. Mô hình xoắn ốc </a:t>
            </a:r>
          </a:p>
          <a:p>
            <a:pPr algn="just"/>
            <a:r>
              <a:rPr lang="en-US" sz="1700">
                <a:solidFill>
                  <a:schemeClr val="tx2"/>
                </a:solidFill>
                <a:cs typeface="Arial" pitchFamily="34" charset="0"/>
              </a:rPr>
              <a:t>4. Phương pháp CASE </a:t>
            </a:r>
          </a:p>
          <a:p>
            <a:pPr algn="just"/>
            <a:r>
              <a:rPr lang="en-US" sz="1700">
                <a:solidFill>
                  <a:schemeClr val="tx2"/>
                </a:solidFill>
                <a:cs typeface="Arial" pitchFamily="34" charset="0"/>
              </a:rPr>
              <a:t>5. Phương pháp thiết kế ứng dụng liên kết</a:t>
            </a:r>
            <a:r>
              <a:rPr lang="en-US" sz="1700" b="1">
                <a:solidFill>
                  <a:schemeClr val="accent6">
                    <a:lumMod val="75000"/>
                  </a:schemeClr>
                </a:solidFill>
                <a:latin typeface="+mn-lt"/>
                <a:cs typeface="Arial" pitchFamily="34" charset="0"/>
              </a:rPr>
              <a:t> </a:t>
            </a:r>
          </a:p>
          <a:p>
            <a:pPr algn="just"/>
            <a:r>
              <a:rPr lang="en-US" sz="1700">
                <a:solidFill>
                  <a:schemeClr val="tx2"/>
                </a:solidFill>
                <a:cs typeface="Arial" pitchFamily="34" charset="0"/>
              </a:rPr>
              <a:t>6. Phương pháp phát triển ứng dụng nhanh </a:t>
            </a:r>
          </a:p>
          <a:p>
            <a:pPr algn="just"/>
            <a:r>
              <a:rPr lang="en-US" sz="1900" b="1">
                <a:solidFill>
                  <a:schemeClr val="accent6">
                    <a:lumMod val="75000"/>
                  </a:schemeClr>
                </a:solidFill>
                <a:latin typeface="+mn-lt"/>
                <a:cs typeface="Arial" pitchFamily="34" charset="0"/>
              </a:rPr>
              <a:t>7. Phương pháp phát triển linh hoạt</a:t>
            </a:r>
          </a:p>
        </p:txBody>
      </p:sp>
    </p:spTree>
    <p:extLst>
      <p:ext uri="{BB962C8B-B14F-4D97-AF65-F5344CB8AC3E}">
        <p14:creationId xmlns:p14="http://schemas.microsoft.com/office/powerpoint/2010/main" val="15906234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33</a:t>
            </a:fld>
            <a:endParaRPr lang="vi-V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169" y="1836016"/>
            <a:ext cx="5583051" cy="265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8897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
      <a:dk1>
        <a:sysClr val="windowText" lastClr="00000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20850</TotalTime>
  <Words>4841</Words>
  <Application>Microsoft Office PowerPoint</Application>
  <PresentationFormat>35mm Slides</PresentationFormat>
  <Paragraphs>345</Paragraphs>
  <Slides>33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Cambria</vt:lpstr>
      <vt:lpstr>MS Mincho</vt:lpstr>
      <vt:lpstr>Symbol</vt:lpstr>
      <vt:lpstr>Times New Roman</vt:lpstr>
      <vt:lpstr>Office Theme</vt:lpstr>
      <vt:lpstr>PowerPoint Presentation</vt:lpstr>
      <vt:lpstr>Chương 1: Môi trường phát triển hệ thống</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  1. Định nghĩa hệ thống thông tin 2. Vai trò của phát triển hệ thống thông tin 3. Các cách tiếp cận trong phát triển hệ thống thông tin  4. Vòng đời phát triển hệ thống thông tin  5. Các phương pháp phát triển hệ thống thông tin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KỸ THUẬT KHAI PHÁ MẪU DẪY VÀ MẪU THỨ TỰ BỘ PHẬN TRONG KHAI PHÁ QUY TRÌNH</dc:title>
  <dc:creator>LAMNHUNG</dc:creator>
  <cp:lastModifiedBy>NhungBH</cp:lastModifiedBy>
  <cp:revision>1289</cp:revision>
  <dcterms:created xsi:type="dcterms:W3CDTF">2014-03-12T02:40:35Z</dcterms:created>
  <dcterms:modified xsi:type="dcterms:W3CDTF">2023-07-10T09:22:49Z</dcterms:modified>
</cp:coreProperties>
</file>