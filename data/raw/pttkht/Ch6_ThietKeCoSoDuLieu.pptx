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28"/>
  </p:notesMasterIdLst>
  <p:sldIdLst>
    <p:sldId id="305" r:id="rId2"/>
    <p:sldId id="308" r:id="rId3"/>
    <p:sldId id="307" r:id="rId4"/>
    <p:sldId id="309" r:id="rId5"/>
    <p:sldId id="310" r:id="rId6"/>
    <p:sldId id="311" r:id="rId7"/>
    <p:sldId id="312" r:id="rId8"/>
    <p:sldId id="313" r:id="rId9"/>
    <p:sldId id="314" r:id="rId10"/>
    <p:sldId id="316" r:id="rId11"/>
    <p:sldId id="317" r:id="rId12"/>
    <p:sldId id="318" r:id="rId13"/>
    <p:sldId id="319" r:id="rId14"/>
    <p:sldId id="320" r:id="rId15"/>
    <p:sldId id="321" r:id="rId16"/>
    <p:sldId id="323" r:id="rId17"/>
    <p:sldId id="322" r:id="rId18"/>
    <p:sldId id="324" r:id="rId19"/>
    <p:sldId id="325" r:id="rId20"/>
    <p:sldId id="326" r:id="rId21"/>
    <p:sldId id="327" r:id="rId22"/>
    <p:sldId id="328" r:id="rId23"/>
    <p:sldId id="329" r:id="rId24"/>
    <p:sldId id="330" r:id="rId25"/>
    <p:sldId id="331" r:id="rId26"/>
    <p:sldId id="265" r:id="rId27"/>
  </p:sldIdLst>
  <p:sldSz cx="10287000" cy="6858000" type="35mm"/>
  <p:notesSz cx="6858000" cy="9144000"/>
  <p:defaultText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p15:clr>
            <a:srgbClr val="A4A3A4"/>
          </p15:clr>
        </p15:guide>
        <p15:guide id="2" pos="32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a:srgbClr val="0D8E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91" autoAdjust="0"/>
    <p:restoredTop sz="99623" autoAdjust="0"/>
  </p:normalViewPr>
  <p:slideViewPr>
    <p:cSldViewPr>
      <p:cViewPr varScale="1">
        <p:scale>
          <a:sx n="77" d="100"/>
          <a:sy n="77" d="100"/>
        </p:scale>
        <p:origin x="956" y="60"/>
      </p:cViewPr>
      <p:guideLst>
        <p:guide orient="horz" pos="2161"/>
        <p:guide pos="3240"/>
      </p:guideLst>
    </p:cSldViewPr>
  </p:slideViewPr>
  <p:outlineViewPr>
    <p:cViewPr>
      <p:scale>
        <a:sx n="33" d="100"/>
        <a:sy n="33" d="100"/>
      </p:scale>
      <p:origin x="0" y="5047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23B086-1834-404D-BF86-D7E3742DB3C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vi-VN"/>
        </a:p>
      </dgm:t>
    </dgm:pt>
    <dgm:pt modelId="{0260F488-0856-4885-BE6A-D1B3BB6C6BDE}">
      <dgm:prSet phldrT="[Text]" custT="1"/>
      <dgm:spPr/>
      <dgm:t>
        <a:bodyPr/>
        <a:lstStyle/>
        <a:p>
          <a:endParaRPr lang="en-US" sz="2000" b="1" kern="1200">
            <a:solidFill>
              <a:srgbClr val="FF0066"/>
            </a:solidFill>
            <a:latin typeface="Arial" pitchFamily="34" charset="0"/>
            <a:ea typeface="+mn-ea"/>
            <a:cs typeface="Arial" pitchFamily="34" charset="0"/>
          </a:endParaRPr>
        </a:p>
        <a:p>
          <a:r>
            <a:rPr lang="en-US" sz="2000" b="1" kern="1200">
              <a:solidFill>
                <a:srgbClr val="FF0066"/>
              </a:solidFill>
              <a:latin typeface="Arial" pitchFamily="34" charset="0"/>
              <a:ea typeface="+mn-ea"/>
              <a:cs typeface="Arial" pitchFamily="34" charset="0"/>
            </a:rPr>
            <a:t>Phần 3</a:t>
          </a:r>
          <a:endParaRPr lang="vi-VN" sz="2000" b="1" kern="1200">
            <a:solidFill>
              <a:srgbClr val="FF0066"/>
            </a:solidFill>
            <a:latin typeface="Arial" pitchFamily="34" charset="0"/>
            <a:ea typeface="+mn-ea"/>
            <a:cs typeface="Arial" pitchFamily="34" charset="0"/>
          </a:endParaRPr>
        </a:p>
      </dgm:t>
    </dgm:pt>
    <dgm:pt modelId="{95040FC8-2CD3-4491-88A6-2B8A429D6FC9}" type="parTrans" cxnId="{A4ACD94A-AD73-41D7-B516-A082DD498B79}">
      <dgm:prSet/>
      <dgm:spPr/>
      <dgm:t>
        <a:bodyPr/>
        <a:lstStyle/>
        <a:p>
          <a:endParaRPr lang="vi-VN"/>
        </a:p>
      </dgm:t>
    </dgm:pt>
    <dgm:pt modelId="{3EC7BCE0-88DB-4C58-B4EE-49B0B146E157}" type="sibTrans" cxnId="{A4ACD94A-AD73-41D7-B516-A082DD498B79}">
      <dgm:prSet/>
      <dgm:spPr/>
      <dgm:t>
        <a:bodyPr/>
        <a:lstStyle/>
        <a:p>
          <a:endParaRPr lang="vi-VN"/>
        </a:p>
      </dgm:t>
    </dgm:pt>
    <dgm:pt modelId="{778B28D7-5046-4E74-90E6-28410FAC41E4}">
      <dgm:prSet phldrT="[Text]" custT="1"/>
      <dgm:spPr/>
      <dgm:t>
        <a:bodyPr/>
        <a:lstStyle/>
        <a:p>
          <a:r>
            <a:rPr lang="en-US" sz="2800" b="0" kern="1200">
              <a:solidFill>
                <a:schemeClr val="accent2">
                  <a:lumMod val="50000"/>
                </a:schemeClr>
              </a:solidFill>
              <a:latin typeface="+mn-lt"/>
              <a:ea typeface="+mn-ea"/>
              <a:cs typeface="Arial" pitchFamily="34" charset="0"/>
            </a:rPr>
            <a:t>Thiết kế hệ thống</a:t>
          </a:r>
          <a:endParaRPr lang="vi-VN" sz="2800" b="0" kern="1200">
            <a:solidFill>
              <a:schemeClr val="accent2">
                <a:lumMod val="50000"/>
              </a:schemeClr>
            </a:solidFill>
            <a:latin typeface="+mn-lt"/>
            <a:ea typeface="+mn-ea"/>
            <a:cs typeface="Arial" pitchFamily="34" charset="0"/>
          </a:endParaRPr>
        </a:p>
      </dgm:t>
    </dgm:pt>
    <dgm:pt modelId="{EE6295D5-D397-4CAE-B69A-ABD00BC2ED9E}" type="parTrans" cxnId="{A1656E6D-38D8-49C0-B402-C2F46C097650}">
      <dgm:prSet/>
      <dgm:spPr/>
      <dgm:t>
        <a:bodyPr/>
        <a:lstStyle/>
        <a:p>
          <a:endParaRPr lang="vi-VN"/>
        </a:p>
      </dgm:t>
    </dgm:pt>
    <dgm:pt modelId="{91E317F6-05BD-4692-AD76-BDF81928F364}" type="sibTrans" cxnId="{A1656E6D-38D8-49C0-B402-C2F46C097650}">
      <dgm:prSet/>
      <dgm:spPr/>
      <dgm:t>
        <a:bodyPr/>
        <a:lstStyle/>
        <a:p>
          <a:endParaRPr lang="vi-VN"/>
        </a:p>
      </dgm:t>
    </dgm:pt>
    <dgm:pt modelId="{E798BC6D-45BE-44CB-8CC8-DB9C1471CA3C}">
      <dgm:prSet phldrT="[Text]" custT="1"/>
      <dgm:spPr/>
      <dgm:t>
        <a:bodyPr/>
        <a:lstStyle/>
        <a:p>
          <a:endParaRPr lang="vi-VN" sz="2000" b="1" kern="1200">
            <a:solidFill>
              <a:srgbClr val="FF0066"/>
            </a:solidFill>
            <a:latin typeface="Arial" pitchFamily="34" charset="0"/>
            <a:ea typeface="+mn-ea"/>
            <a:cs typeface="Arial" pitchFamily="34" charset="0"/>
          </a:endParaRPr>
        </a:p>
      </dgm:t>
    </dgm:pt>
    <dgm:pt modelId="{0BAFAAA6-8B3D-4D7C-B198-6A51A840F645}" type="parTrans" cxnId="{EE78EB2D-9633-458C-AA1E-B32BDFB24DD5}">
      <dgm:prSet/>
      <dgm:spPr/>
      <dgm:t>
        <a:bodyPr/>
        <a:lstStyle/>
        <a:p>
          <a:endParaRPr lang="vi-VN"/>
        </a:p>
      </dgm:t>
    </dgm:pt>
    <dgm:pt modelId="{C607F695-BB60-4E06-8B4C-02CFB151F2E8}" type="sibTrans" cxnId="{EE78EB2D-9633-458C-AA1E-B32BDFB24DD5}">
      <dgm:prSet/>
      <dgm:spPr/>
      <dgm:t>
        <a:bodyPr/>
        <a:lstStyle/>
        <a:p>
          <a:endParaRPr lang="vi-VN"/>
        </a:p>
      </dgm:t>
    </dgm:pt>
    <dgm:pt modelId="{3F099641-3016-4E36-A57C-08492461DA9E}">
      <dgm:prSet phldrT="[Text]" custT="1"/>
      <dgm:spPr/>
      <dgm:t>
        <a:bodyPr/>
        <a:lstStyle/>
        <a:p>
          <a:endParaRPr lang="vi-VN" sz="2400" kern="1200">
            <a:solidFill>
              <a:srgbClr val="FF0000"/>
            </a:solidFill>
            <a:latin typeface="+mn-lt"/>
            <a:ea typeface="+mn-ea"/>
            <a:cs typeface="Arial" pitchFamily="34" charset="0"/>
          </a:endParaRPr>
        </a:p>
      </dgm:t>
    </dgm:pt>
    <dgm:pt modelId="{1DE74F0F-71C3-427F-9BA8-88247CBD5315}" type="parTrans" cxnId="{15526149-690E-448A-A6B4-6D77B868B3D5}">
      <dgm:prSet/>
      <dgm:spPr/>
      <dgm:t>
        <a:bodyPr/>
        <a:lstStyle/>
        <a:p>
          <a:endParaRPr lang="vi-VN"/>
        </a:p>
      </dgm:t>
    </dgm:pt>
    <dgm:pt modelId="{BCB2569F-AD56-4492-872D-7BFEBE5F40D9}" type="sibTrans" cxnId="{15526149-690E-448A-A6B4-6D77B868B3D5}">
      <dgm:prSet/>
      <dgm:spPr/>
      <dgm:t>
        <a:bodyPr/>
        <a:lstStyle/>
        <a:p>
          <a:endParaRPr lang="vi-VN"/>
        </a:p>
      </dgm:t>
    </dgm:pt>
    <dgm:pt modelId="{83E18DC7-CA2C-4F21-AAB9-8F7C3D2CC03D}" type="pres">
      <dgm:prSet presAssocID="{2323B086-1834-404D-BF86-D7E3742DB3C6}" presName="linearFlow" presStyleCnt="0">
        <dgm:presLayoutVars>
          <dgm:dir/>
          <dgm:animLvl val="lvl"/>
          <dgm:resizeHandles val="exact"/>
        </dgm:presLayoutVars>
      </dgm:prSet>
      <dgm:spPr/>
    </dgm:pt>
    <dgm:pt modelId="{8CA3D8D9-C5D3-4B07-96B2-D57EB897391D}" type="pres">
      <dgm:prSet presAssocID="{0260F488-0856-4885-BE6A-D1B3BB6C6BDE}" presName="composite" presStyleCnt="0"/>
      <dgm:spPr/>
    </dgm:pt>
    <dgm:pt modelId="{2CC43149-30BB-41CF-A3CF-A8E9DA4C7E65}" type="pres">
      <dgm:prSet presAssocID="{0260F488-0856-4885-BE6A-D1B3BB6C6BDE}" presName="parentText" presStyleLbl="alignNode1" presStyleIdx="0" presStyleCnt="1">
        <dgm:presLayoutVars>
          <dgm:chMax val="1"/>
          <dgm:bulletEnabled val="1"/>
        </dgm:presLayoutVars>
      </dgm:prSet>
      <dgm:spPr/>
    </dgm:pt>
    <dgm:pt modelId="{FF0FE9B2-91E4-4688-AED9-7B41985CEB42}" type="pres">
      <dgm:prSet presAssocID="{0260F488-0856-4885-BE6A-D1B3BB6C6BDE}" presName="descendantText" presStyleLbl="alignAcc1" presStyleIdx="0" presStyleCnt="1">
        <dgm:presLayoutVars>
          <dgm:bulletEnabled val="1"/>
        </dgm:presLayoutVars>
      </dgm:prSet>
      <dgm:spPr/>
    </dgm:pt>
  </dgm:ptLst>
  <dgm:cxnLst>
    <dgm:cxn modelId="{586B4421-3B3B-455E-8291-AED72CCB3309}" type="presOf" srcId="{2323B086-1834-404D-BF86-D7E3742DB3C6}" destId="{83E18DC7-CA2C-4F21-AAB9-8F7C3D2CC03D}" srcOrd="0" destOrd="0" presId="urn:microsoft.com/office/officeart/2005/8/layout/chevron2"/>
    <dgm:cxn modelId="{EE78EB2D-9633-458C-AA1E-B32BDFB24DD5}" srcId="{778B28D7-5046-4E74-90E6-28410FAC41E4}" destId="{E798BC6D-45BE-44CB-8CC8-DB9C1471CA3C}" srcOrd="0" destOrd="0" parTransId="{0BAFAAA6-8B3D-4D7C-B198-6A51A840F645}" sibTransId="{C607F695-BB60-4E06-8B4C-02CFB151F2E8}"/>
    <dgm:cxn modelId="{6DE84731-F6EF-4749-A872-FE4A1BC18207}" type="presOf" srcId="{778B28D7-5046-4E74-90E6-28410FAC41E4}" destId="{FF0FE9B2-91E4-4688-AED9-7B41985CEB42}" srcOrd="0" destOrd="1" presId="urn:microsoft.com/office/officeart/2005/8/layout/chevron2"/>
    <dgm:cxn modelId="{15526149-690E-448A-A6B4-6D77B868B3D5}" srcId="{0260F488-0856-4885-BE6A-D1B3BB6C6BDE}" destId="{3F099641-3016-4E36-A57C-08492461DA9E}" srcOrd="0" destOrd="0" parTransId="{1DE74F0F-71C3-427F-9BA8-88247CBD5315}" sibTransId="{BCB2569F-AD56-4492-872D-7BFEBE5F40D9}"/>
    <dgm:cxn modelId="{A4ACD94A-AD73-41D7-B516-A082DD498B79}" srcId="{2323B086-1834-404D-BF86-D7E3742DB3C6}" destId="{0260F488-0856-4885-BE6A-D1B3BB6C6BDE}" srcOrd="0" destOrd="0" parTransId="{95040FC8-2CD3-4491-88A6-2B8A429D6FC9}" sibTransId="{3EC7BCE0-88DB-4C58-B4EE-49B0B146E157}"/>
    <dgm:cxn modelId="{A1656E6D-38D8-49C0-B402-C2F46C097650}" srcId="{0260F488-0856-4885-BE6A-D1B3BB6C6BDE}" destId="{778B28D7-5046-4E74-90E6-28410FAC41E4}" srcOrd="1" destOrd="0" parTransId="{EE6295D5-D397-4CAE-B69A-ABD00BC2ED9E}" sibTransId="{91E317F6-05BD-4692-AD76-BDF81928F364}"/>
    <dgm:cxn modelId="{DC233F7C-E2CD-46C8-913A-2D8316E14C77}" type="presOf" srcId="{3F099641-3016-4E36-A57C-08492461DA9E}" destId="{FF0FE9B2-91E4-4688-AED9-7B41985CEB42}" srcOrd="0" destOrd="0" presId="urn:microsoft.com/office/officeart/2005/8/layout/chevron2"/>
    <dgm:cxn modelId="{C0C00E7F-A580-4DCC-8B5B-D6A24A51D0B7}" type="presOf" srcId="{E798BC6D-45BE-44CB-8CC8-DB9C1471CA3C}" destId="{FF0FE9B2-91E4-4688-AED9-7B41985CEB42}" srcOrd="0" destOrd="2" presId="urn:microsoft.com/office/officeart/2005/8/layout/chevron2"/>
    <dgm:cxn modelId="{ED16B1B1-B2FA-452A-8068-03E202D762B7}" type="presOf" srcId="{0260F488-0856-4885-BE6A-D1B3BB6C6BDE}" destId="{2CC43149-30BB-41CF-A3CF-A8E9DA4C7E65}" srcOrd="0" destOrd="0" presId="urn:microsoft.com/office/officeart/2005/8/layout/chevron2"/>
    <dgm:cxn modelId="{9CFC73CC-BF3B-446C-81EA-AD7479BA8295}" type="presParOf" srcId="{83E18DC7-CA2C-4F21-AAB9-8F7C3D2CC03D}" destId="{8CA3D8D9-C5D3-4B07-96B2-D57EB897391D}" srcOrd="0" destOrd="0" presId="urn:microsoft.com/office/officeart/2005/8/layout/chevron2"/>
    <dgm:cxn modelId="{9BEC2CBB-52C6-408D-BACA-F185D766632F}" type="presParOf" srcId="{8CA3D8D9-C5D3-4B07-96B2-D57EB897391D}" destId="{2CC43149-30BB-41CF-A3CF-A8E9DA4C7E65}" srcOrd="0" destOrd="0" presId="urn:microsoft.com/office/officeart/2005/8/layout/chevron2"/>
    <dgm:cxn modelId="{89C75657-4537-4EB9-8F76-464CDC33E1BE}" type="presParOf" srcId="{8CA3D8D9-C5D3-4B07-96B2-D57EB897391D}" destId="{FF0FE9B2-91E4-4688-AED9-7B41985CEB4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43149-30BB-41CF-A3CF-A8E9DA4C7E65}">
      <dsp:nvSpPr>
        <dsp:cNvPr id="0" name=""/>
        <dsp:cNvSpPr/>
      </dsp:nvSpPr>
      <dsp:spPr>
        <a:xfrm rot="5400000">
          <a:off x="-161701" y="162756"/>
          <a:ext cx="1078011" cy="75460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b="1" kern="1200">
            <a:solidFill>
              <a:srgbClr val="FF0066"/>
            </a:solidFill>
            <a:latin typeface="Arial" pitchFamily="34" charset="0"/>
            <a:ea typeface="+mn-ea"/>
            <a:cs typeface="Arial" pitchFamily="34" charset="0"/>
          </a:endParaRPr>
        </a:p>
        <a:p>
          <a:pPr marL="0" lvl="0" indent="0" algn="ctr" defTabSz="889000">
            <a:lnSpc>
              <a:spcPct val="90000"/>
            </a:lnSpc>
            <a:spcBef>
              <a:spcPct val="0"/>
            </a:spcBef>
            <a:spcAft>
              <a:spcPct val="35000"/>
            </a:spcAft>
            <a:buNone/>
          </a:pPr>
          <a:r>
            <a:rPr lang="en-US" sz="2000" b="1" kern="1200">
              <a:solidFill>
                <a:srgbClr val="FF0066"/>
              </a:solidFill>
              <a:latin typeface="Arial" pitchFamily="34" charset="0"/>
              <a:ea typeface="+mn-ea"/>
              <a:cs typeface="Arial" pitchFamily="34" charset="0"/>
            </a:rPr>
            <a:t>Phần 3</a:t>
          </a:r>
          <a:endParaRPr lang="vi-VN" sz="2000" b="1" kern="1200">
            <a:solidFill>
              <a:srgbClr val="FF0066"/>
            </a:solidFill>
            <a:latin typeface="Arial" pitchFamily="34" charset="0"/>
            <a:ea typeface="+mn-ea"/>
            <a:cs typeface="Arial" pitchFamily="34" charset="0"/>
          </a:endParaRPr>
        </a:p>
      </dsp:txBody>
      <dsp:txXfrm rot="-5400000">
        <a:off x="2" y="378358"/>
        <a:ext cx="754607" cy="323404"/>
      </dsp:txXfrm>
    </dsp:sp>
    <dsp:sp modelId="{FF0FE9B2-91E4-4688-AED9-7B41985CEB42}">
      <dsp:nvSpPr>
        <dsp:cNvPr id="0" name=""/>
        <dsp:cNvSpPr/>
      </dsp:nvSpPr>
      <dsp:spPr>
        <a:xfrm rot="5400000">
          <a:off x="4131222" y="-3375559"/>
          <a:ext cx="701075" cy="745430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endParaRPr lang="vi-VN" sz="2400" kern="1200">
            <a:solidFill>
              <a:srgbClr val="FF0000"/>
            </a:solidFill>
            <a:latin typeface="+mn-lt"/>
            <a:ea typeface="+mn-ea"/>
            <a:cs typeface="Arial" pitchFamily="34" charset="0"/>
          </a:endParaRPr>
        </a:p>
        <a:p>
          <a:pPr marL="285750" lvl="1" indent="-285750" algn="l" defTabSz="1244600">
            <a:lnSpc>
              <a:spcPct val="90000"/>
            </a:lnSpc>
            <a:spcBef>
              <a:spcPct val="0"/>
            </a:spcBef>
            <a:spcAft>
              <a:spcPct val="15000"/>
            </a:spcAft>
            <a:buChar char="•"/>
          </a:pPr>
          <a:r>
            <a:rPr lang="en-US" sz="2800" b="0" kern="1200">
              <a:solidFill>
                <a:schemeClr val="accent2">
                  <a:lumMod val="50000"/>
                </a:schemeClr>
              </a:solidFill>
              <a:latin typeface="+mn-lt"/>
              <a:ea typeface="+mn-ea"/>
              <a:cs typeface="Arial" pitchFamily="34" charset="0"/>
            </a:rPr>
            <a:t>Thiết kế hệ thống</a:t>
          </a:r>
          <a:endParaRPr lang="vi-VN" sz="2800" b="0" kern="1200">
            <a:solidFill>
              <a:schemeClr val="accent2">
                <a:lumMod val="50000"/>
              </a:schemeClr>
            </a:solidFill>
            <a:latin typeface="+mn-lt"/>
            <a:ea typeface="+mn-ea"/>
            <a:cs typeface="Arial" pitchFamily="34" charset="0"/>
          </a:endParaRPr>
        </a:p>
        <a:p>
          <a:pPr marL="457200" lvl="2" indent="-228600" algn="l" defTabSz="889000">
            <a:lnSpc>
              <a:spcPct val="90000"/>
            </a:lnSpc>
            <a:spcBef>
              <a:spcPct val="0"/>
            </a:spcBef>
            <a:spcAft>
              <a:spcPct val="15000"/>
            </a:spcAft>
            <a:buChar char="•"/>
          </a:pPr>
          <a:endParaRPr lang="vi-VN" sz="2000" b="1" kern="1200">
            <a:solidFill>
              <a:srgbClr val="FF0066"/>
            </a:solidFill>
            <a:latin typeface="Arial" pitchFamily="34" charset="0"/>
            <a:ea typeface="+mn-ea"/>
            <a:cs typeface="Arial" pitchFamily="34" charset="0"/>
          </a:endParaRPr>
        </a:p>
      </dsp:txBody>
      <dsp:txXfrm rot="-5400000">
        <a:off x="754608" y="35279"/>
        <a:ext cx="7420080" cy="63262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583693-2DF8-4331-9992-1E94EDAA209F}" type="datetimeFigureOut">
              <a:rPr lang="vi-VN" smtClean="0"/>
              <a:t>20/10/2023</a:t>
            </a:fld>
            <a:endParaRPr lang="vi-VN"/>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B7DE39-524D-47F3-9B19-31A9B31B8792}" type="slidenum">
              <a:rPr lang="vi-VN" smtClean="0"/>
              <a:t>‹#›</a:t>
            </a:fld>
            <a:endParaRPr lang="vi-VN"/>
          </a:p>
        </p:txBody>
      </p:sp>
    </p:spTree>
    <p:extLst>
      <p:ext uri="{BB962C8B-B14F-4D97-AF65-F5344CB8AC3E}">
        <p14:creationId xmlns:p14="http://schemas.microsoft.com/office/powerpoint/2010/main" val="2226779658"/>
      </p:ext>
    </p:extLst>
  </p:cSld>
  <p:clrMap bg1="lt1" tx1="dk1" bg2="lt2" tx2="dk2" accent1="accent1" accent2="accent2" accent3="accent3" accent4="accent4" accent5="accent5" accent6="accent6" hlink="hlink" folHlink="folHlink"/>
  <p:notesStyle>
    <a:lvl1pPr marL="0" algn="l" defTabSz="1041044" rtl="0" eaLnBrk="1" latinLnBrk="0" hangingPunct="1">
      <a:defRPr sz="1400" kern="1200">
        <a:solidFill>
          <a:schemeClr val="tx1"/>
        </a:solidFill>
        <a:latin typeface="+mn-lt"/>
        <a:ea typeface="+mn-ea"/>
        <a:cs typeface="+mn-cs"/>
      </a:defRPr>
    </a:lvl1pPr>
    <a:lvl2pPr marL="520522" algn="l" defTabSz="1041044" rtl="0" eaLnBrk="1" latinLnBrk="0" hangingPunct="1">
      <a:defRPr sz="1400" kern="1200">
        <a:solidFill>
          <a:schemeClr val="tx1"/>
        </a:solidFill>
        <a:latin typeface="+mn-lt"/>
        <a:ea typeface="+mn-ea"/>
        <a:cs typeface="+mn-cs"/>
      </a:defRPr>
    </a:lvl2pPr>
    <a:lvl3pPr marL="1041044" algn="l" defTabSz="1041044" rtl="0" eaLnBrk="1" latinLnBrk="0" hangingPunct="1">
      <a:defRPr sz="1400" kern="1200">
        <a:solidFill>
          <a:schemeClr val="tx1"/>
        </a:solidFill>
        <a:latin typeface="+mn-lt"/>
        <a:ea typeface="+mn-ea"/>
        <a:cs typeface="+mn-cs"/>
      </a:defRPr>
    </a:lvl3pPr>
    <a:lvl4pPr marL="1561567" algn="l" defTabSz="1041044" rtl="0" eaLnBrk="1" latinLnBrk="0" hangingPunct="1">
      <a:defRPr sz="1400" kern="1200">
        <a:solidFill>
          <a:schemeClr val="tx1"/>
        </a:solidFill>
        <a:latin typeface="+mn-lt"/>
        <a:ea typeface="+mn-ea"/>
        <a:cs typeface="+mn-cs"/>
      </a:defRPr>
    </a:lvl4pPr>
    <a:lvl5pPr marL="2082089" algn="l" defTabSz="1041044" rtl="0" eaLnBrk="1" latinLnBrk="0" hangingPunct="1">
      <a:defRPr sz="1400" kern="1200">
        <a:solidFill>
          <a:schemeClr val="tx1"/>
        </a:solidFill>
        <a:latin typeface="+mn-lt"/>
        <a:ea typeface="+mn-ea"/>
        <a:cs typeface="+mn-cs"/>
      </a:defRPr>
    </a:lvl5pPr>
    <a:lvl6pPr marL="2602611" algn="l" defTabSz="1041044" rtl="0" eaLnBrk="1" latinLnBrk="0" hangingPunct="1">
      <a:defRPr sz="1400" kern="1200">
        <a:solidFill>
          <a:schemeClr val="tx1"/>
        </a:solidFill>
        <a:latin typeface="+mn-lt"/>
        <a:ea typeface="+mn-ea"/>
        <a:cs typeface="+mn-cs"/>
      </a:defRPr>
    </a:lvl6pPr>
    <a:lvl7pPr marL="3123133" algn="l" defTabSz="1041044" rtl="0" eaLnBrk="1" latinLnBrk="0" hangingPunct="1">
      <a:defRPr sz="1400" kern="1200">
        <a:solidFill>
          <a:schemeClr val="tx1"/>
        </a:solidFill>
        <a:latin typeface="+mn-lt"/>
        <a:ea typeface="+mn-ea"/>
        <a:cs typeface="+mn-cs"/>
      </a:defRPr>
    </a:lvl7pPr>
    <a:lvl8pPr marL="3643655" algn="l" defTabSz="1041044" rtl="0" eaLnBrk="1" latinLnBrk="0" hangingPunct="1">
      <a:defRPr sz="1400" kern="1200">
        <a:solidFill>
          <a:schemeClr val="tx1"/>
        </a:solidFill>
        <a:latin typeface="+mn-lt"/>
        <a:ea typeface="+mn-ea"/>
        <a:cs typeface="+mn-cs"/>
      </a:defRPr>
    </a:lvl8pPr>
    <a:lvl9pPr marL="4164178" algn="l" defTabSz="104104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a:t>
            </a:fld>
            <a:endParaRPr lang="vi-VN"/>
          </a:p>
        </p:txBody>
      </p:sp>
    </p:spTree>
    <p:extLst>
      <p:ext uri="{BB962C8B-B14F-4D97-AF65-F5344CB8AC3E}">
        <p14:creationId xmlns:p14="http://schemas.microsoft.com/office/powerpoint/2010/main" val="398170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a:t>
            </a:fld>
            <a:endParaRPr lang="vi-VN"/>
          </a:p>
        </p:txBody>
      </p:sp>
    </p:spTree>
    <p:extLst>
      <p:ext uri="{BB962C8B-B14F-4D97-AF65-F5344CB8AC3E}">
        <p14:creationId xmlns:p14="http://schemas.microsoft.com/office/powerpoint/2010/main" val="1225031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130430"/>
            <a:ext cx="8743950" cy="1470025"/>
          </a:xfrm>
        </p:spPr>
        <p:txBody>
          <a:bodyPr/>
          <a:lstStyle/>
          <a:p>
            <a:r>
              <a:rPr lang="en-US"/>
              <a:t>Click to edit Master title style</a:t>
            </a:r>
            <a:endParaRPr lang="vi-VN"/>
          </a:p>
        </p:txBody>
      </p:sp>
      <p:sp>
        <p:nvSpPr>
          <p:cNvPr id="3" name="Subtitle 2"/>
          <p:cNvSpPr>
            <a:spLocks noGrp="1"/>
          </p:cNvSpPr>
          <p:nvPr>
            <p:ph type="subTitle" idx="1"/>
          </p:nvPr>
        </p:nvSpPr>
        <p:spPr>
          <a:xfrm>
            <a:off x="1543050" y="3886200"/>
            <a:ext cx="7200900" cy="1752600"/>
          </a:xfrm>
        </p:spPr>
        <p:txBody>
          <a:bodyPr/>
          <a:lstStyle>
            <a:lvl1pPr marL="0" indent="0" algn="ctr">
              <a:buNone/>
              <a:defRPr>
                <a:solidFill>
                  <a:schemeClr val="tx1">
                    <a:tint val="75000"/>
                  </a:schemeClr>
                </a:solidFill>
              </a:defRPr>
            </a:lvl1pPr>
            <a:lvl2pPr marL="520522" indent="0" algn="ctr">
              <a:buNone/>
              <a:defRPr>
                <a:solidFill>
                  <a:schemeClr val="tx1">
                    <a:tint val="75000"/>
                  </a:schemeClr>
                </a:solidFill>
              </a:defRPr>
            </a:lvl2pPr>
            <a:lvl3pPr marL="1041044" indent="0" algn="ctr">
              <a:buNone/>
              <a:defRPr>
                <a:solidFill>
                  <a:schemeClr val="tx1">
                    <a:tint val="75000"/>
                  </a:schemeClr>
                </a:solidFill>
              </a:defRPr>
            </a:lvl3pPr>
            <a:lvl4pPr marL="1561567" indent="0" algn="ctr">
              <a:buNone/>
              <a:defRPr>
                <a:solidFill>
                  <a:schemeClr val="tx1">
                    <a:tint val="75000"/>
                  </a:schemeClr>
                </a:solidFill>
              </a:defRPr>
            </a:lvl4pPr>
            <a:lvl5pPr marL="2082089" indent="0" algn="ctr">
              <a:buNone/>
              <a:defRPr>
                <a:solidFill>
                  <a:schemeClr val="tx1">
                    <a:tint val="75000"/>
                  </a:schemeClr>
                </a:solidFill>
              </a:defRPr>
            </a:lvl5pPr>
            <a:lvl6pPr marL="2602611" indent="0" algn="ctr">
              <a:buNone/>
              <a:defRPr>
                <a:solidFill>
                  <a:schemeClr val="tx1">
                    <a:tint val="75000"/>
                  </a:schemeClr>
                </a:solidFill>
              </a:defRPr>
            </a:lvl6pPr>
            <a:lvl7pPr marL="3123133" indent="0" algn="ctr">
              <a:buNone/>
              <a:defRPr>
                <a:solidFill>
                  <a:schemeClr val="tx1">
                    <a:tint val="75000"/>
                  </a:schemeClr>
                </a:solidFill>
              </a:defRPr>
            </a:lvl7pPr>
            <a:lvl8pPr marL="3643655" indent="0" algn="ctr">
              <a:buNone/>
              <a:defRPr>
                <a:solidFill>
                  <a:schemeClr val="tx1">
                    <a:tint val="75000"/>
                  </a:schemeClr>
                </a:solidFill>
              </a:defRPr>
            </a:lvl8pPr>
            <a:lvl9pPr marL="4164178" indent="0" algn="ctr">
              <a:buNone/>
              <a:defRPr>
                <a:solidFill>
                  <a:schemeClr val="tx1">
                    <a:tint val="75000"/>
                  </a:schemeClr>
                </a:solidFill>
              </a:defRPr>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1FC93F78-42A9-4A2C-9821-0BA1A20C3D26}" type="datetime1">
              <a:rPr lang="vi-VN" smtClean="0"/>
              <a:t>20/10/2023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077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F07B9503-6DD9-4446-8B71-644EDCABD314}" type="datetime1">
              <a:rPr lang="vi-VN" smtClean="0"/>
              <a:t>20/10/2023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22992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602" y="4406901"/>
            <a:ext cx="8743950" cy="1362074"/>
          </a:xfrm>
        </p:spPr>
        <p:txBody>
          <a:bodyPr anchor="t"/>
          <a:lstStyle>
            <a:lvl1pPr algn="l">
              <a:defRPr sz="4600" b="1" cap="all"/>
            </a:lvl1pPr>
          </a:lstStyle>
          <a:p>
            <a:r>
              <a:rPr lang="en-US"/>
              <a:t>Click to edit Master title style</a:t>
            </a:r>
            <a:endParaRPr lang="vi-VN"/>
          </a:p>
        </p:txBody>
      </p:sp>
      <p:sp>
        <p:nvSpPr>
          <p:cNvPr id="3" name="Text Placeholder 2"/>
          <p:cNvSpPr>
            <a:spLocks noGrp="1"/>
          </p:cNvSpPr>
          <p:nvPr>
            <p:ph type="body" idx="1"/>
          </p:nvPr>
        </p:nvSpPr>
        <p:spPr>
          <a:xfrm>
            <a:off x="812602" y="2906715"/>
            <a:ext cx="8743950" cy="1500187"/>
          </a:xfrm>
        </p:spPr>
        <p:txBody>
          <a:bodyPr anchor="b"/>
          <a:lstStyle>
            <a:lvl1pPr marL="0" indent="0">
              <a:buNone/>
              <a:defRPr sz="2300">
                <a:solidFill>
                  <a:schemeClr val="tx1">
                    <a:tint val="75000"/>
                  </a:schemeClr>
                </a:solidFill>
              </a:defRPr>
            </a:lvl1pPr>
            <a:lvl2pPr marL="520522" indent="0">
              <a:buNone/>
              <a:defRPr sz="2000">
                <a:solidFill>
                  <a:schemeClr val="tx1">
                    <a:tint val="75000"/>
                  </a:schemeClr>
                </a:solidFill>
              </a:defRPr>
            </a:lvl2pPr>
            <a:lvl3pPr marL="1041044" indent="0">
              <a:buNone/>
              <a:defRPr sz="1800">
                <a:solidFill>
                  <a:schemeClr val="tx1">
                    <a:tint val="75000"/>
                  </a:schemeClr>
                </a:solidFill>
              </a:defRPr>
            </a:lvl3pPr>
            <a:lvl4pPr marL="1561567" indent="0">
              <a:buNone/>
              <a:defRPr sz="1600">
                <a:solidFill>
                  <a:schemeClr val="tx1">
                    <a:tint val="75000"/>
                  </a:schemeClr>
                </a:solidFill>
              </a:defRPr>
            </a:lvl4pPr>
            <a:lvl5pPr marL="2082089" indent="0">
              <a:buNone/>
              <a:defRPr sz="1600">
                <a:solidFill>
                  <a:schemeClr val="tx1">
                    <a:tint val="75000"/>
                  </a:schemeClr>
                </a:solidFill>
              </a:defRPr>
            </a:lvl5pPr>
            <a:lvl6pPr marL="2602611" indent="0">
              <a:buNone/>
              <a:defRPr sz="1600">
                <a:solidFill>
                  <a:schemeClr val="tx1">
                    <a:tint val="75000"/>
                  </a:schemeClr>
                </a:solidFill>
              </a:defRPr>
            </a:lvl6pPr>
            <a:lvl7pPr marL="3123133" indent="0">
              <a:buNone/>
              <a:defRPr sz="1600">
                <a:solidFill>
                  <a:schemeClr val="tx1">
                    <a:tint val="75000"/>
                  </a:schemeClr>
                </a:solidFill>
              </a:defRPr>
            </a:lvl7pPr>
            <a:lvl8pPr marL="3643655" indent="0">
              <a:buNone/>
              <a:defRPr sz="1600">
                <a:solidFill>
                  <a:schemeClr val="tx1">
                    <a:tint val="75000"/>
                  </a:schemeClr>
                </a:solidFill>
              </a:defRPr>
            </a:lvl8pPr>
            <a:lvl9pPr marL="4164178"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A986E9-8493-42BF-A7C6-EE1810E96B4A}" type="datetime1">
              <a:rPr lang="vi-VN" smtClean="0"/>
              <a:t>20/10/2023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568194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514350"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5229225"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p:txBody>
          <a:bodyPr/>
          <a:lstStyle/>
          <a:p>
            <a:fld id="{8905EEE2-896C-48F9-8D0D-2D5367FD7444}" type="datetime1">
              <a:rPr lang="vi-VN" smtClean="0"/>
              <a:t>20/10/2023</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949242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514351" y="1535115"/>
            <a:ext cx="4545211"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a:t>Click to edit Master text styles</a:t>
            </a:r>
          </a:p>
        </p:txBody>
      </p:sp>
      <p:sp>
        <p:nvSpPr>
          <p:cNvPr id="4" name="Content Placeholder 3"/>
          <p:cNvSpPr>
            <a:spLocks noGrp="1"/>
          </p:cNvSpPr>
          <p:nvPr>
            <p:ph sz="half" idx="2"/>
          </p:nvPr>
        </p:nvSpPr>
        <p:spPr>
          <a:xfrm>
            <a:off x="514351" y="2174876"/>
            <a:ext cx="4545211"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5225658" y="1535115"/>
            <a:ext cx="4546998"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25658" y="2174876"/>
            <a:ext cx="4546998"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p:cNvSpPr>
            <a:spLocks noGrp="1"/>
          </p:cNvSpPr>
          <p:nvPr>
            <p:ph type="dt" sz="half" idx="10"/>
          </p:nvPr>
        </p:nvSpPr>
        <p:spPr/>
        <p:txBody>
          <a:bodyPr/>
          <a:lstStyle/>
          <a:p>
            <a:fld id="{5856DFF7-F5D1-4741-9AFA-644592F6D88E}" type="datetime1">
              <a:rPr lang="vi-VN" smtClean="0"/>
              <a:t>20/10/2023</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22139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Date Placeholder 2"/>
          <p:cNvSpPr>
            <a:spLocks noGrp="1"/>
          </p:cNvSpPr>
          <p:nvPr>
            <p:ph type="dt" sz="half" idx="10"/>
          </p:nvPr>
        </p:nvSpPr>
        <p:spPr/>
        <p:txBody>
          <a:bodyPr/>
          <a:lstStyle/>
          <a:p>
            <a:fld id="{C57A1E72-38A2-4A3B-AB45-23AF396AC866}" type="datetime1">
              <a:rPr lang="vi-VN" smtClean="0"/>
              <a:t>20/10/2023</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069642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C66D5F-F7C9-4605-8742-978114C0C04F}" type="datetime1">
              <a:rPr lang="vi-VN" smtClean="0"/>
              <a:t>20/10/2023</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4098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5" y="273049"/>
            <a:ext cx="3384352" cy="1162050"/>
          </a:xfrm>
        </p:spPr>
        <p:txBody>
          <a:bodyPr anchor="b"/>
          <a:lstStyle>
            <a:lvl1pPr algn="l">
              <a:defRPr sz="2300" b="1"/>
            </a:lvl1pPr>
          </a:lstStyle>
          <a:p>
            <a:r>
              <a:rPr lang="en-US"/>
              <a:t>Click to edit Master title style</a:t>
            </a:r>
            <a:endParaRPr lang="vi-VN"/>
          </a:p>
        </p:txBody>
      </p:sp>
      <p:sp>
        <p:nvSpPr>
          <p:cNvPr id="3" name="Content Placeholder 2"/>
          <p:cNvSpPr>
            <a:spLocks noGrp="1"/>
          </p:cNvSpPr>
          <p:nvPr>
            <p:ph idx="1"/>
          </p:nvPr>
        </p:nvSpPr>
        <p:spPr>
          <a:xfrm>
            <a:off x="4021932" y="273052"/>
            <a:ext cx="5750718" cy="5853114"/>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514355" y="1435102"/>
            <a:ext cx="3384352" cy="4691062"/>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E4ECAA-2B71-4DBD-B6F6-516935394A84}" type="datetime1">
              <a:rPr lang="vi-VN" smtClean="0"/>
              <a:t>20/10/2023</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33817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6324" y="4800601"/>
            <a:ext cx="6172200" cy="566738"/>
          </a:xfrm>
        </p:spPr>
        <p:txBody>
          <a:bodyPr anchor="b"/>
          <a:lstStyle>
            <a:lvl1pPr algn="l">
              <a:defRPr sz="2300" b="1"/>
            </a:lvl1pPr>
          </a:lstStyle>
          <a:p>
            <a:r>
              <a:rPr lang="en-US"/>
              <a:t>Click to edit Master title style</a:t>
            </a:r>
            <a:endParaRPr lang="vi-VN"/>
          </a:p>
        </p:txBody>
      </p:sp>
      <p:sp>
        <p:nvSpPr>
          <p:cNvPr id="3" name="Picture Placeholder 2"/>
          <p:cNvSpPr>
            <a:spLocks noGrp="1"/>
          </p:cNvSpPr>
          <p:nvPr>
            <p:ph type="pic" idx="1"/>
          </p:nvPr>
        </p:nvSpPr>
        <p:spPr>
          <a:xfrm>
            <a:off x="2016324" y="612775"/>
            <a:ext cx="6172200" cy="4114800"/>
          </a:xfrm>
        </p:spPr>
        <p:txBody>
          <a:bodyPr/>
          <a:lstStyle>
            <a:lvl1pPr marL="0" indent="0">
              <a:buNone/>
              <a:defRPr sz="3600"/>
            </a:lvl1pPr>
            <a:lvl2pPr marL="520522" indent="0">
              <a:buNone/>
              <a:defRPr sz="3200"/>
            </a:lvl2pPr>
            <a:lvl3pPr marL="1041044" indent="0">
              <a:buNone/>
              <a:defRPr sz="2700"/>
            </a:lvl3pPr>
            <a:lvl4pPr marL="1561567" indent="0">
              <a:buNone/>
              <a:defRPr sz="2300"/>
            </a:lvl4pPr>
            <a:lvl5pPr marL="2082089" indent="0">
              <a:buNone/>
              <a:defRPr sz="2300"/>
            </a:lvl5pPr>
            <a:lvl6pPr marL="2602611" indent="0">
              <a:buNone/>
              <a:defRPr sz="2300"/>
            </a:lvl6pPr>
            <a:lvl7pPr marL="3123133" indent="0">
              <a:buNone/>
              <a:defRPr sz="2300"/>
            </a:lvl7pPr>
            <a:lvl8pPr marL="3643655" indent="0">
              <a:buNone/>
              <a:defRPr sz="2300"/>
            </a:lvl8pPr>
            <a:lvl9pPr marL="4164178" indent="0">
              <a:buNone/>
              <a:defRPr sz="2300"/>
            </a:lvl9pPr>
          </a:lstStyle>
          <a:p>
            <a:endParaRPr lang="vi-VN"/>
          </a:p>
        </p:txBody>
      </p:sp>
      <p:sp>
        <p:nvSpPr>
          <p:cNvPr id="4" name="Text Placeholder 3"/>
          <p:cNvSpPr>
            <a:spLocks noGrp="1"/>
          </p:cNvSpPr>
          <p:nvPr>
            <p:ph type="body" sz="half" idx="2"/>
          </p:nvPr>
        </p:nvSpPr>
        <p:spPr>
          <a:xfrm>
            <a:off x="2016324" y="5367341"/>
            <a:ext cx="6172200" cy="804863"/>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922D38-52F4-4CE8-B612-A0183E7BB4FA}" type="datetime1">
              <a:rPr lang="vi-VN" smtClean="0"/>
              <a:t>20/10/2023</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6282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FD1B7337-33BE-4CEB-929A-F70E3D8A92E3}" type="datetime1">
              <a:rPr lang="vi-VN" smtClean="0"/>
              <a:t>20/10/2023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3649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58075" y="274639"/>
            <a:ext cx="2314575" cy="5851526"/>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514350" y="274639"/>
            <a:ext cx="6772275" cy="58515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DB2FD150-B1FB-4C8E-A2A2-B559A2168736}" type="datetime1">
              <a:rPr lang="vi-VN" smtClean="0"/>
              <a:t>20/10/2023</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17851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274641"/>
            <a:ext cx="9258300" cy="1143001"/>
          </a:xfrm>
          <a:prstGeom prst="rect">
            <a:avLst/>
          </a:prstGeom>
        </p:spPr>
        <p:txBody>
          <a:bodyPr vert="horz" lIns="104104" tIns="52052" rIns="104104" bIns="52052" rtlCol="0" anchor="ctr">
            <a:normAutofit/>
          </a:bodyPr>
          <a:lstStyle/>
          <a:p>
            <a:r>
              <a:rPr lang="en-US"/>
              <a:t>Click to edit Master title style</a:t>
            </a:r>
            <a:endParaRPr lang="vi-VN"/>
          </a:p>
        </p:txBody>
      </p:sp>
      <p:sp>
        <p:nvSpPr>
          <p:cNvPr id="3" name="Text Placeholder 2"/>
          <p:cNvSpPr>
            <a:spLocks noGrp="1"/>
          </p:cNvSpPr>
          <p:nvPr>
            <p:ph type="body" idx="1"/>
          </p:nvPr>
        </p:nvSpPr>
        <p:spPr>
          <a:xfrm>
            <a:off x="514350" y="1600204"/>
            <a:ext cx="9258300" cy="4525963"/>
          </a:xfrm>
          <a:prstGeom prst="rect">
            <a:avLst/>
          </a:prstGeom>
        </p:spPr>
        <p:txBody>
          <a:bodyPr vert="horz" lIns="104104" tIns="52052" rIns="104104" bIns="520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514350" y="6356353"/>
            <a:ext cx="2400300" cy="365125"/>
          </a:xfrm>
          <a:prstGeom prst="rect">
            <a:avLst/>
          </a:prstGeom>
        </p:spPr>
        <p:txBody>
          <a:bodyPr vert="horz" lIns="104104" tIns="52052" rIns="104104" bIns="52052" rtlCol="0" anchor="ctr"/>
          <a:lstStyle>
            <a:lvl1pPr algn="l">
              <a:defRPr sz="1400">
                <a:solidFill>
                  <a:schemeClr val="tx1">
                    <a:tint val="75000"/>
                  </a:schemeClr>
                </a:solidFill>
              </a:defRPr>
            </a:lvl1pPr>
          </a:lstStyle>
          <a:p>
            <a:fld id="{84FABED4-1AAC-45BE-A710-67DA055BC055}" type="datetime1">
              <a:rPr lang="vi-VN" smtClean="0"/>
              <a:t>20/10/2023</a:t>
            </a:fld>
            <a:endParaRPr lang="vi-VN"/>
          </a:p>
        </p:txBody>
      </p:sp>
      <p:sp>
        <p:nvSpPr>
          <p:cNvPr id="5" name="Footer Placeholder 4"/>
          <p:cNvSpPr>
            <a:spLocks noGrp="1"/>
          </p:cNvSpPr>
          <p:nvPr>
            <p:ph type="ftr" sz="quarter" idx="3"/>
          </p:nvPr>
        </p:nvSpPr>
        <p:spPr>
          <a:xfrm>
            <a:off x="3514725" y="6356353"/>
            <a:ext cx="3257550" cy="365125"/>
          </a:xfrm>
          <a:prstGeom prst="rect">
            <a:avLst/>
          </a:prstGeom>
        </p:spPr>
        <p:txBody>
          <a:bodyPr vert="horz" lIns="104104" tIns="52052" rIns="104104" bIns="52052" rtlCol="0" anchor="ctr"/>
          <a:lstStyle>
            <a:lvl1pPr algn="ctr">
              <a:defRPr sz="14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7372350" y="6356353"/>
            <a:ext cx="2400300" cy="365125"/>
          </a:xfrm>
          <a:prstGeom prst="rect">
            <a:avLst/>
          </a:prstGeom>
        </p:spPr>
        <p:txBody>
          <a:bodyPr vert="horz" lIns="104104" tIns="52052" rIns="104104" bIns="52052" rtlCol="0" anchor="ctr"/>
          <a:lstStyle>
            <a:lvl1pPr algn="r">
              <a:defRPr sz="1400">
                <a:solidFill>
                  <a:schemeClr val="tx1">
                    <a:tint val="75000"/>
                  </a:schemeClr>
                </a:solidFill>
              </a:defRPr>
            </a:lvl1pPr>
          </a:lstStyle>
          <a:p>
            <a:fld id="{427808B0-DB8A-471C-82EF-CF06681341D9}" type="slidenum">
              <a:rPr lang="vi-VN" smtClean="0"/>
              <a:t>‹#›</a:t>
            </a:fld>
            <a:endParaRPr lang="vi-VN"/>
          </a:p>
        </p:txBody>
      </p:sp>
    </p:spTree>
    <p:extLst>
      <p:ext uri="{BB962C8B-B14F-4D97-AF65-F5344CB8AC3E}">
        <p14:creationId xmlns:p14="http://schemas.microsoft.com/office/powerpoint/2010/main" val="72794710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1041044" rtl="0" eaLnBrk="1" latinLnBrk="0" hangingPunct="1">
        <a:spcBef>
          <a:spcPct val="0"/>
        </a:spcBef>
        <a:buNone/>
        <a:defRPr sz="5000" kern="1200">
          <a:solidFill>
            <a:schemeClr val="tx1"/>
          </a:solidFill>
          <a:latin typeface="+mj-lt"/>
          <a:ea typeface="+mj-ea"/>
          <a:cs typeface="+mj-cs"/>
        </a:defRPr>
      </a:lvl1pPr>
    </p:titleStyle>
    <p:body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6"/>
          <p:cNvSpPr txBox="1">
            <a:spLocks/>
          </p:cNvSpPr>
          <p:nvPr/>
        </p:nvSpPr>
        <p:spPr>
          <a:xfrm>
            <a:off x="318964" y="476672"/>
            <a:ext cx="9361040" cy="864096"/>
          </a:xfrm>
          <a:prstGeom prst="rect">
            <a:avLst/>
          </a:prstGeom>
        </p:spPr>
        <p:txBody>
          <a:bodyPr vert="horz" lIns="104104" tIns="52052" rIns="104104" bIns="52052" rtlCol="0">
            <a:normAutofit/>
          </a:bodyPr>
          <a:lstStyle>
            <a:lvl1pPr marL="0" indent="0" algn="ctr" defTabSz="1041044" rtl="0" eaLnBrk="1" latinLnBrk="0" hangingPunct="1">
              <a:spcBef>
                <a:spcPct val="20000"/>
              </a:spcBef>
              <a:buFont typeface="Arial" pitchFamily="34" charset="0"/>
              <a:buNone/>
              <a:defRPr sz="3600" kern="1200">
                <a:solidFill>
                  <a:schemeClr val="tx1">
                    <a:tint val="75000"/>
                  </a:schemeClr>
                </a:solidFill>
                <a:latin typeface="+mn-lt"/>
                <a:ea typeface="+mn-ea"/>
                <a:cs typeface="+mn-cs"/>
              </a:defRPr>
            </a:lvl1pPr>
            <a:lvl2pPr marL="520522" indent="0" algn="ctr" defTabSz="1041044"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2pPr>
            <a:lvl3pPr marL="1041044" indent="0" algn="ctr" defTabSz="1041044"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3pPr>
            <a:lvl4pPr marL="1561567"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4pPr>
            <a:lvl5pPr marL="2082089"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5pPr>
            <a:lvl6pPr marL="2602611"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6pPr>
            <a:lvl7pPr marL="3123133"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7pPr>
            <a:lvl8pPr marL="3643655"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8pPr>
            <a:lvl9pPr marL="4164178"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9pPr>
          </a:lstStyle>
          <a:p>
            <a:endParaRPr lang="en-US" sz="2000" b="1">
              <a:solidFill>
                <a:schemeClr val="accent6">
                  <a:lumMod val="75000"/>
                </a:schemeClr>
              </a:solidFill>
            </a:endParaRPr>
          </a:p>
          <a:p>
            <a:r>
              <a:rPr lang="en-US" sz="2000" b="1">
                <a:solidFill>
                  <a:schemeClr val="accent1">
                    <a:lumMod val="75000"/>
                  </a:schemeClr>
                </a:solidFill>
              </a:rPr>
              <a:t>PHÁT TRIỂN HỆ THỐNG THÔNG TIN KINH TẾ</a:t>
            </a:r>
            <a:endParaRPr lang="vi-VN" sz="2000" b="1">
              <a:solidFill>
                <a:schemeClr val="accent1">
                  <a:lumMod val="75000"/>
                </a:schemeClr>
              </a:solidFill>
            </a:endParaRPr>
          </a:p>
        </p:txBody>
      </p:sp>
      <p:pic>
        <p:nvPicPr>
          <p:cNvPr id="1026" name="Picture 2" descr="C:\Users\LAMNHUNG\Desktop\LogoMI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350" y="188640"/>
            <a:ext cx="1682798" cy="14786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Diagram 12"/>
          <p:cNvGraphicFramePr/>
          <p:nvPr>
            <p:extLst>
              <p:ext uri="{D42A27DB-BD31-4B8C-83A1-F6EECF244321}">
                <p14:modId xmlns:p14="http://schemas.microsoft.com/office/powerpoint/2010/main" val="1608569743"/>
              </p:ext>
            </p:extLst>
          </p:nvPr>
        </p:nvGraphicFramePr>
        <p:xfrm>
          <a:off x="823020" y="2420888"/>
          <a:ext cx="8208912" cy="10801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16" name="Straight Connector 15"/>
          <p:cNvCxnSpPr/>
          <p:nvPr/>
        </p:nvCxnSpPr>
        <p:spPr>
          <a:xfrm>
            <a:off x="1586533" y="2420888"/>
            <a:ext cx="0" cy="3456384"/>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87116" y="3251027"/>
            <a:ext cx="8208912" cy="920765"/>
          </a:xfrm>
          <a:prstGeom prst="rect">
            <a:avLst/>
          </a:prstGeom>
          <a:noFill/>
          <a:effectLst/>
        </p:spPr>
        <p:txBody>
          <a:bodyPr wrap="square" rtlCol="0">
            <a:spAutoFit/>
          </a:bodyPr>
          <a:lstStyle/>
          <a:p>
            <a:pPr algn="just">
              <a:spcAft>
                <a:spcPts val="683"/>
              </a:spcAft>
              <a:buClr>
                <a:srgbClr val="FF0066"/>
              </a:buClr>
              <a:buFont typeface="Symbol" pitchFamily="18" charset="2"/>
              <a:buChar char="¨"/>
            </a:pPr>
            <a:r>
              <a:rPr lang="en-US" sz="2400" b="1">
                <a:solidFill>
                  <a:srgbClr val="FF0066"/>
                </a:solidFill>
                <a:cs typeface="Arial" pitchFamily="34" charset="0"/>
              </a:rPr>
              <a:t>Chương 6: Thiết kế cơ sở dữ liệu</a:t>
            </a:r>
          </a:p>
          <a:p>
            <a:pPr algn="just">
              <a:spcAft>
                <a:spcPts val="683"/>
              </a:spcAft>
              <a:buClr>
                <a:srgbClr val="FF0066"/>
              </a:buClr>
              <a:buFont typeface="Symbol" pitchFamily="18" charset="2"/>
              <a:buChar char="¨"/>
            </a:pPr>
            <a:r>
              <a:rPr lang="en-US" sz="2400">
                <a:solidFill>
                  <a:schemeClr val="accent2">
                    <a:lumMod val="50000"/>
                  </a:schemeClr>
                </a:solidFill>
                <a:cs typeface="Arial" pitchFamily="34" charset="0"/>
              </a:rPr>
              <a:t>Chương 7: Thiết kế giao diện</a:t>
            </a:r>
          </a:p>
        </p:txBody>
      </p:sp>
    </p:spTree>
    <p:extLst>
      <p:ext uri="{BB962C8B-B14F-4D97-AF65-F5344CB8AC3E}">
        <p14:creationId xmlns:p14="http://schemas.microsoft.com/office/powerpoint/2010/main" val="3821289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978" y="130623"/>
            <a:ext cx="9842022" cy="778099"/>
          </a:xfrm>
          <a:solidFill>
            <a:schemeClr val="bg2"/>
          </a:solidFill>
        </p:spPr>
        <p:txBody>
          <a:bodyPr>
            <a:normAutofit/>
          </a:bodyPr>
          <a:lstStyle/>
          <a:p>
            <a:pPr algn="just"/>
            <a:r>
              <a:rPr lang="en-US" sz="2800">
                <a:solidFill>
                  <a:schemeClr val="accent6">
                    <a:lumMod val="75000"/>
                  </a:schemeClr>
                </a:solidFill>
                <a:latin typeface="Arial" pitchFamily="34" charset="0"/>
                <a:cs typeface="Arial" pitchFamily="34" charset="0"/>
              </a:rPr>
              <a:t>Chương 6: Thiết kế cơ sở dữ liệu</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444980" y="1039523"/>
            <a:ext cx="9408681" cy="5044452"/>
          </a:xfrm>
        </p:spPr>
        <p:txBody>
          <a:bodyPr>
            <a:normAutofit/>
          </a:bodyPr>
          <a:lstStyle/>
          <a:p>
            <a:pPr marL="457200" indent="-457200" algn="just">
              <a:spcAft>
                <a:spcPts val="683"/>
              </a:spcAft>
              <a:buClr>
                <a:srgbClr val="FF0066"/>
              </a:buClr>
              <a:buAutoNum type="arabicPeriod"/>
            </a:pPr>
            <a:r>
              <a:rPr lang="vi-VN" sz="2400">
                <a:solidFill>
                  <a:schemeClr val="accent2">
                    <a:lumMod val="50000"/>
                  </a:schemeClr>
                </a:solidFill>
                <a:latin typeface="Calibri" pitchFamily="34" charset="0"/>
                <a:cs typeface="Calibri" pitchFamily="34" charset="0"/>
              </a:rPr>
              <a:t>Mô hình dữ liệu quan hệ</a:t>
            </a:r>
          </a:p>
          <a:p>
            <a:pPr marL="457200" indent="-457200" algn="just">
              <a:spcAft>
                <a:spcPts val="683"/>
              </a:spcAft>
              <a:buClr>
                <a:srgbClr val="FF0066"/>
              </a:buClr>
              <a:buAutoNum type="arabicPeriod"/>
            </a:pPr>
            <a:r>
              <a:rPr lang="vi-VN" sz="2400">
                <a:solidFill>
                  <a:schemeClr val="accent2">
                    <a:lumMod val="50000"/>
                  </a:schemeClr>
                </a:solidFill>
                <a:latin typeface="Calibri" pitchFamily="34" charset="0"/>
                <a:cs typeface="Calibri" pitchFamily="34" charset="0"/>
              </a:rPr>
              <a:t>Các dạng chuẩn và chuẩn hóa quan hệ</a:t>
            </a:r>
          </a:p>
          <a:p>
            <a:pPr marL="457200" indent="-457200" algn="just">
              <a:spcAft>
                <a:spcPts val="683"/>
              </a:spcAft>
              <a:buClr>
                <a:srgbClr val="FF0066"/>
              </a:buClr>
              <a:buAutoNum type="arabicPeriod"/>
            </a:pPr>
            <a:r>
              <a:rPr lang="vi-VN" sz="2400">
                <a:solidFill>
                  <a:schemeClr val="accent2">
                    <a:lumMod val="50000"/>
                  </a:schemeClr>
                </a:solidFill>
                <a:latin typeface="Calibri" pitchFamily="34" charset="0"/>
                <a:cs typeface="Calibri" pitchFamily="34" charset="0"/>
              </a:rPr>
              <a:t>Chuẩn hóa biểu đồ lớp</a:t>
            </a:r>
          </a:p>
          <a:p>
            <a:pPr marL="457200" indent="-457200" algn="just">
              <a:spcAft>
                <a:spcPts val="683"/>
              </a:spcAft>
              <a:buClr>
                <a:srgbClr val="FF0066"/>
              </a:buClr>
              <a:buAutoNum type="arabicPeriod"/>
            </a:pPr>
            <a:r>
              <a:rPr lang="vi-VN" sz="2400">
                <a:solidFill>
                  <a:schemeClr val="accent2">
                    <a:lumMod val="50000"/>
                  </a:schemeClr>
                </a:solidFill>
                <a:latin typeface="Calibri" pitchFamily="34" charset="0"/>
                <a:cs typeface="Calibri" pitchFamily="34" charset="0"/>
              </a:rPr>
              <a:t>Thiết kế cơ sở dữ liệu vật lý</a:t>
            </a:r>
          </a:p>
          <a:p>
            <a:pPr marL="0" indent="0" algn="just">
              <a:spcAft>
                <a:spcPts val="683"/>
              </a:spcAft>
              <a:buClr>
                <a:srgbClr val="FF0066"/>
              </a:buClr>
              <a:buNone/>
            </a:pPr>
            <a:endParaRPr lang="vi-VN" sz="24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a:t>
            </a:fld>
            <a:endParaRPr lang="vi-VN"/>
          </a:p>
        </p:txBody>
      </p:sp>
    </p:spTree>
    <p:extLst>
      <p:ext uri="{BB962C8B-B14F-4D97-AF65-F5344CB8AC3E}">
        <p14:creationId xmlns:p14="http://schemas.microsoft.com/office/powerpoint/2010/main" val="488066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Mô hình dữ liệu là cách biểu diễn các cấu trúc dữ liệu cho một cơ sở dữ liệu dưới dạng các khái niệm. Các cấu trúc dữ liệu bao gồm:</a:t>
            </a:r>
          </a:p>
          <a:p>
            <a:pPr marL="1318879" lvl="3" indent="-342900" algn="just">
              <a:spcAft>
                <a:spcPts val="683"/>
              </a:spcAft>
              <a:buClr>
                <a:srgbClr val="FF0066"/>
              </a:buClr>
            </a:pPr>
            <a:r>
              <a:rPr lang="en-US" sz="1800">
                <a:solidFill>
                  <a:schemeClr val="accent2">
                    <a:lumMod val="50000"/>
                  </a:schemeClr>
                </a:solidFill>
                <a:latin typeface="Calibri" pitchFamily="34" charset="0"/>
                <a:cs typeface="Calibri" pitchFamily="34" charset="0"/>
              </a:rPr>
              <a:t>Các đối tượng dữ liệu</a:t>
            </a:r>
          </a:p>
          <a:p>
            <a:pPr marL="1318879" lvl="3" indent="-342900" algn="just">
              <a:spcAft>
                <a:spcPts val="683"/>
              </a:spcAft>
              <a:buClr>
                <a:srgbClr val="FF0066"/>
              </a:buClr>
            </a:pPr>
            <a:r>
              <a:rPr lang="en-US" sz="1800">
                <a:solidFill>
                  <a:schemeClr val="accent2">
                    <a:lumMod val="50000"/>
                  </a:schemeClr>
                </a:solidFill>
                <a:latin typeface="Calibri" pitchFamily="34" charset="0"/>
                <a:cs typeface="Calibri" pitchFamily="34" charset="0"/>
              </a:rPr>
              <a:t>Mối liên hệ giữa các dữ liệu</a:t>
            </a:r>
          </a:p>
          <a:p>
            <a:pPr marL="1318879" lvl="3" indent="-342900" algn="just">
              <a:spcAft>
                <a:spcPts val="683"/>
              </a:spcAft>
              <a:buClr>
                <a:srgbClr val="FF0066"/>
              </a:buClr>
            </a:pPr>
            <a:r>
              <a:rPr lang="en-US" sz="1800">
                <a:solidFill>
                  <a:schemeClr val="accent2">
                    <a:lumMod val="50000"/>
                  </a:schemeClr>
                </a:solidFill>
                <a:latin typeface="Calibri" pitchFamily="34" charset="0"/>
                <a:cs typeface="Calibri" pitchFamily="34" charset="0"/>
              </a:rPr>
              <a:t>Ngữ nghĩa của dữ liệu</a:t>
            </a:r>
          </a:p>
          <a:p>
            <a:pPr marL="1318879" lvl="3" indent="-342900" algn="just">
              <a:spcAft>
                <a:spcPts val="683"/>
              </a:spcAft>
              <a:buClr>
                <a:srgbClr val="FF0066"/>
              </a:buClr>
            </a:pPr>
            <a:r>
              <a:rPr lang="en-US" sz="1800">
                <a:solidFill>
                  <a:schemeClr val="accent2">
                    <a:lumMod val="50000"/>
                  </a:schemeClr>
                </a:solidFill>
                <a:latin typeface="Calibri" pitchFamily="34" charset="0"/>
                <a:cs typeface="Calibri" pitchFamily="34" charset="0"/>
              </a:rPr>
              <a:t>Các ràng buộc trên các đối tượng dữ liệu.</a:t>
            </a:r>
          </a:p>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Mô hình dữ liệu không phụ thuộc vào các ràng buộc về cả phần cứng và phần mềm, nó tập trung vào việc mô tả và tổ chức dữ liệu, không tập trung vào các thao tác sẽ được thực hiện trên các dữ liệu đó.</a:t>
            </a:r>
            <a:endParaRPr lang="en-US" sz="15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ea typeface="+mj-ea"/>
                <a:cs typeface="Arial" pitchFamily="34" charset="0"/>
              </a:rPr>
              <a:t>1. Khái niệm mô hình dữ liệu</a:t>
            </a:r>
          </a:p>
          <a:p>
            <a:pPr marL="0" lvl="1"/>
            <a:r>
              <a:rPr lang="en-US" sz="1600">
                <a:solidFill>
                  <a:schemeClr val="tx2"/>
                </a:solidFill>
                <a:ea typeface="+mj-ea"/>
                <a:cs typeface="Arial" pitchFamily="34" charset="0"/>
              </a:rPr>
              <a:t>2. Các loại mô hình dữ liệu</a:t>
            </a:r>
          </a:p>
          <a:p>
            <a:pPr marL="0" lvl="1"/>
            <a:r>
              <a:rPr lang="en-US" sz="1600">
                <a:solidFill>
                  <a:schemeClr val="tx2"/>
                </a:solidFill>
                <a:ea typeface="+mj-ea"/>
                <a:cs typeface="Arial" pitchFamily="34" charset="0"/>
              </a:rPr>
              <a:t>3. Mô hình dữ liệu quan hệ</a:t>
            </a:r>
          </a:p>
        </p:txBody>
      </p:sp>
    </p:spTree>
    <p:extLst>
      <p:ext uri="{BB962C8B-B14F-4D97-AF65-F5344CB8AC3E}">
        <p14:creationId xmlns:p14="http://schemas.microsoft.com/office/powerpoint/2010/main" val="1239926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Mô hình dữ liệu được chia thành 3 loại:</a:t>
            </a:r>
          </a:p>
          <a:p>
            <a:pPr marL="1318879" lvl="3" indent="-342900" algn="just">
              <a:spcAft>
                <a:spcPts val="683"/>
              </a:spcAft>
              <a:buClr>
                <a:srgbClr val="FF0066"/>
              </a:buClr>
            </a:pPr>
            <a:r>
              <a:rPr lang="en-US" sz="1800">
                <a:solidFill>
                  <a:schemeClr val="accent2">
                    <a:lumMod val="50000"/>
                  </a:schemeClr>
                </a:solidFill>
                <a:latin typeface="Calibri" pitchFamily="34" charset="0"/>
                <a:cs typeface="Calibri" pitchFamily="34" charset="0"/>
              </a:rPr>
              <a:t>Mô hình dữ liệu quan niệm</a:t>
            </a:r>
          </a:p>
          <a:p>
            <a:pPr marL="1318879" lvl="3" indent="-342900" algn="just">
              <a:spcAft>
                <a:spcPts val="683"/>
              </a:spcAft>
              <a:buClr>
                <a:srgbClr val="FF0066"/>
              </a:buClr>
            </a:pPr>
            <a:r>
              <a:rPr lang="en-US" sz="1800">
                <a:solidFill>
                  <a:schemeClr val="accent2">
                    <a:lumMod val="50000"/>
                  </a:schemeClr>
                </a:solidFill>
                <a:latin typeface="Calibri" pitchFamily="34" charset="0"/>
                <a:cs typeface="Calibri" pitchFamily="34" charset="0"/>
              </a:rPr>
              <a:t>Mô hình dữ liệu logic</a:t>
            </a:r>
          </a:p>
          <a:p>
            <a:pPr marL="1318879" lvl="3" indent="-342900" algn="just">
              <a:spcAft>
                <a:spcPts val="683"/>
              </a:spcAft>
              <a:buClr>
                <a:srgbClr val="FF0066"/>
              </a:buClr>
            </a:pPr>
            <a:r>
              <a:rPr lang="en-US" sz="1800">
                <a:solidFill>
                  <a:schemeClr val="accent2">
                    <a:lumMod val="50000"/>
                  </a:schemeClr>
                </a:solidFill>
                <a:latin typeface="Calibri" pitchFamily="34" charset="0"/>
                <a:cs typeface="Calibri" pitchFamily="34" charset="0"/>
              </a:rPr>
              <a:t>Mô hình dữ liệu vật lý</a:t>
            </a: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4</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mô hình dữ liệu</a:t>
            </a:r>
          </a:p>
          <a:p>
            <a:pPr marL="0" lvl="1"/>
            <a:r>
              <a:rPr lang="en-US" sz="1600" b="1">
                <a:solidFill>
                  <a:schemeClr val="accent6">
                    <a:lumMod val="75000"/>
                  </a:schemeClr>
                </a:solidFill>
                <a:ea typeface="+mj-ea"/>
                <a:cs typeface="Arial" pitchFamily="34" charset="0"/>
              </a:rPr>
              <a:t>2. Các loại mô hình dữ liệu</a:t>
            </a:r>
          </a:p>
          <a:p>
            <a:pPr marL="0" lvl="1"/>
            <a:r>
              <a:rPr lang="en-US" sz="1600">
                <a:solidFill>
                  <a:schemeClr val="tx2"/>
                </a:solidFill>
                <a:ea typeface="+mj-ea"/>
                <a:cs typeface="Arial" pitchFamily="34" charset="0"/>
              </a:rPr>
              <a:t>3. Mô hình dữ liệu quan hệ</a:t>
            </a:r>
          </a:p>
        </p:txBody>
      </p:sp>
    </p:spTree>
    <p:extLst>
      <p:ext uri="{BB962C8B-B14F-4D97-AF65-F5344CB8AC3E}">
        <p14:creationId xmlns:p14="http://schemas.microsoft.com/office/powerpoint/2010/main" val="1742981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Mô hình dữ liệu quan niệm mô hình </a:t>
            </a:r>
            <a:r>
              <a:rPr lang="en-US" sz="2000" i="1">
                <a:solidFill>
                  <a:schemeClr val="accent2">
                    <a:lumMod val="50000"/>
                  </a:schemeClr>
                </a:solidFill>
                <a:latin typeface="Calibri" pitchFamily="34" charset="0"/>
                <a:cs typeface="Calibri" pitchFamily="34" charset="0"/>
              </a:rPr>
              <a:t>mô tả dữ liệu </a:t>
            </a:r>
            <a:r>
              <a:rPr lang="en-US" sz="2000">
                <a:solidFill>
                  <a:schemeClr val="accent2">
                    <a:lumMod val="50000"/>
                  </a:schemeClr>
                </a:solidFill>
                <a:latin typeface="Calibri" pitchFamily="34" charset="0"/>
                <a:cs typeface="Calibri" pitchFamily="34" charset="0"/>
              </a:rPr>
              <a:t>của </a:t>
            </a:r>
            <a:r>
              <a:rPr lang="en-US" sz="2000" i="1">
                <a:solidFill>
                  <a:schemeClr val="accent2">
                    <a:lumMod val="50000"/>
                  </a:schemeClr>
                </a:solidFill>
                <a:latin typeface="Calibri" pitchFamily="34" charset="0"/>
                <a:cs typeface="Calibri" pitchFamily="34" charset="0"/>
              </a:rPr>
              <a:t>thế giới thực </a:t>
            </a:r>
            <a:r>
              <a:rPr lang="en-US" sz="2000">
                <a:solidFill>
                  <a:schemeClr val="accent2">
                    <a:lumMod val="50000"/>
                  </a:schemeClr>
                </a:solidFill>
                <a:latin typeface="Calibri" pitchFamily="34" charset="0"/>
                <a:cs typeface="Calibri" pitchFamily="34" charset="0"/>
              </a:rPr>
              <a:t>gắn với các hoạt động nghiệp vụ của nó. </a:t>
            </a:r>
          </a:p>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Là phương tiện để đội ngũ phát triển giao tiếp với người sử dụng để xác định sự </a:t>
            </a:r>
            <a:r>
              <a:rPr lang="en-US" sz="2000" i="1">
                <a:solidFill>
                  <a:schemeClr val="accent2">
                    <a:lumMod val="50000"/>
                  </a:schemeClr>
                </a:solidFill>
                <a:latin typeface="Calibri" pitchFamily="34" charset="0"/>
                <a:cs typeface="Calibri" pitchFamily="34" charset="0"/>
              </a:rPr>
              <a:t>đúng đắn và đầy đủ</a:t>
            </a:r>
            <a:r>
              <a:rPr lang="en-US" sz="2000">
                <a:solidFill>
                  <a:schemeClr val="accent2">
                    <a:lumMod val="50000"/>
                  </a:schemeClr>
                </a:solidFill>
                <a:latin typeface="Calibri" pitchFamily="34" charset="0"/>
                <a:cs typeface="Calibri" pitchFamily="34" charset="0"/>
              </a:rPr>
              <a:t> các </a:t>
            </a:r>
            <a:r>
              <a:rPr lang="en-US" sz="2000" i="1">
                <a:solidFill>
                  <a:schemeClr val="accent2">
                    <a:lumMod val="50000"/>
                  </a:schemeClr>
                </a:solidFill>
                <a:latin typeface="Calibri" pitchFamily="34" charset="0"/>
                <a:cs typeface="Calibri" pitchFamily="34" charset="0"/>
              </a:rPr>
              <a:t>thông tin </a:t>
            </a:r>
            <a:r>
              <a:rPr lang="en-US" sz="2000">
                <a:solidFill>
                  <a:schemeClr val="accent2">
                    <a:lumMod val="50000"/>
                  </a:schemeClr>
                </a:solidFill>
                <a:latin typeface="Calibri" pitchFamily="34" charset="0"/>
                <a:cs typeface="Calibri" pitchFamily="34" charset="0"/>
              </a:rPr>
              <a:t>của hệ thống.</a:t>
            </a:r>
          </a:p>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Mô hình dữ liệu cơ bản là mô hình thực thể liên kết ER</a:t>
            </a:r>
          </a:p>
          <a:p>
            <a:pPr marL="390392" lvl="1" indent="-390392"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5</a:t>
            </a:fld>
            <a:endParaRPr lang="vi-VN"/>
          </a:p>
        </p:txBody>
      </p:sp>
      <p:sp>
        <p:nvSpPr>
          <p:cNvPr id="7" name="Title 1"/>
          <p:cNvSpPr txBox="1">
            <a:spLocks/>
          </p:cNvSpPr>
          <p:nvPr/>
        </p:nvSpPr>
        <p:spPr>
          <a:xfrm>
            <a:off x="691415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ea typeface="+mj-ea"/>
                <a:cs typeface="Arial" pitchFamily="34" charset="0"/>
              </a:rPr>
              <a:t>1. Mô hình dữ liệu quan niệm</a:t>
            </a:r>
          </a:p>
          <a:p>
            <a:pPr marL="0" lvl="1"/>
            <a:r>
              <a:rPr lang="en-US" sz="1600">
                <a:solidFill>
                  <a:schemeClr val="tx2"/>
                </a:solidFill>
                <a:ea typeface="+mj-ea"/>
                <a:cs typeface="Arial" pitchFamily="34" charset="0"/>
              </a:rPr>
              <a:t>2. Mô hình dữ liệu logic</a:t>
            </a:r>
          </a:p>
          <a:p>
            <a:pPr marL="0" lvl="1"/>
            <a:r>
              <a:rPr lang="en-US" sz="1600">
                <a:solidFill>
                  <a:schemeClr val="tx2"/>
                </a:solidFill>
                <a:ea typeface="+mj-ea"/>
                <a:cs typeface="Arial" pitchFamily="34" charset="0"/>
              </a:rPr>
              <a:t>3. Mô hình dữ liệu vật lý</a:t>
            </a:r>
          </a:p>
        </p:txBody>
      </p:sp>
      <p:sp>
        <p:nvSpPr>
          <p:cNvPr id="9" name="Title 1"/>
          <p:cNvSpPr txBox="1">
            <a:spLocks/>
          </p:cNvSpPr>
          <p:nvPr/>
        </p:nvSpPr>
        <p:spPr>
          <a:xfrm>
            <a:off x="4495428" y="0"/>
            <a:ext cx="2443014"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Khái niệm mô hình dữ liệu</a:t>
            </a:r>
          </a:p>
          <a:p>
            <a:pPr marL="0" lvl="1"/>
            <a:r>
              <a:rPr lang="en-US" sz="1300" b="1">
                <a:solidFill>
                  <a:schemeClr val="accent6">
                    <a:lumMod val="75000"/>
                  </a:schemeClr>
                </a:solidFill>
                <a:latin typeface="Calibri (Body)"/>
                <a:ea typeface="+mj-ea"/>
                <a:cs typeface="Arial" pitchFamily="34" charset="0"/>
              </a:rPr>
              <a:t>2. Các loại mô hình dữ liệu</a:t>
            </a:r>
          </a:p>
          <a:p>
            <a:pPr marL="0" lvl="1"/>
            <a:r>
              <a:rPr lang="en-US" sz="1300">
                <a:solidFill>
                  <a:schemeClr val="accent1">
                    <a:lumMod val="75000"/>
                  </a:schemeClr>
                </a:solidFill>
                <a:ea typeface="+mj-ea"/>
                <a:cs typeface="Arial" pitchFamily="34" charset="0"/>
              </a:rPr>
              <a:t>3. Mô hình dữ liệu quan hệ</a:t>
            </a:r>
          </a:p>
          <a:p>
            <a:pPr marL="180975" lvl="1"/>
            <a:endParaRPr lang="en-US" sz="1200">
              <a:solidFill>
                <a:schemeClr val="accent1">
                  <a:lumMod val="75000"/>
                </a:schemeClr>
              </a:solidFill>
              <a:ea typeface="+mj-ea"/>
              <a:cs typeface="Arial" pitchFamily="34" charset="0"/>
            </a:endParaRPr>
          </a:p>
        </p:txBody>
      </p:sp>
      <p:sp>
        <p:nvSpPr>
          <p:cNvPr id="6" name="AutoShape 4" descr="https://voer.edu.vn/file/3916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0" name="AutoShape 6" descr="https://voer.edu.vn/file/39160"/>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3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065" y="3356992"/>
            <a:ext cx="9798084"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86628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Mô hình dữ liệu logic là bước phát triển tiếp theo của mô hình dữ liệu quan niệm, nó mô tả các dữ liệu về dạng gần với mô hình dữ liệu được biểu diễn bởi các hệ quản trị cơ sở dữ liệu trong máy tính</a:t>
            </a:r>
            <a:r>
              <a:rPr lang="vi-VN" sz="2000">
                <a:solidFill>
                  <a:schemeClr val="accent2">
                    <a:lumMod val="50000"/>
                  </a:schemeClr>
                </a:solidFill>
                <a:latin typeface="Calibri" pitchFamily="34" charset="0"/>
                <a:cs typeface="Calibri" pitchFamily="34" charset="0"/>
              </a:rPr>
              <a:t>. </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Trong mô hình này ta phải xét đến các khả năng, giới hạn của hệ thống quản lý cơ sở dữ liệu sao cho phù hợp với sự tính toán và thời gian đáp ứng mà xử lý đòi hỏi . </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 Mọi dữ liệu của hệ thống thông tin đều được xây dựng dựa trên mô hình dữ liệu logic. Có 4 loại mô hình dữ liệu logic gồm:</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Mô hình dữ liệu phân cấp</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Mô hình dữ liệu mạng</a:t>
            </a:r>
          </a:p>
          <a:p>
            <a:pPr lvl="1" algn="just">
              <a:spcAft>
                <a:spcPts val="683"/>
              </a:spcAft>
              <a:buClr>
                <a:srgbClr val="FF0066"/>
              </a:buClr>
            </a:pPr>
            <a:r>
              <a:rPr lang="vi-VN" sz="1800" b="1">
                <a:solidFill>
                  <a:schemeClr val="accent2">
                    <a:lumMod val="50000"/>
                  </a:schemeClr>
                </a:solidFill>
                <a:latin typeface="Calibri" pitchFamily="34" charset="0"/>
                <a:cs typeface="Calibri" pitchFamily="34" charset="0"/>
              </a:rPr>
              <a:t>Mô hình dữ liệu quan hệ</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Mô hình dữ liệu hướng đối tượng: mới ra đời gần đây và có nhiều triển vọng phát triển trong tương lai.</a:t>
            </a:r>
          </a:p>
          <a:p>
            <a:pPr marL="1318879" lvl="3" indent="-342900" algn="just">
              <a:spcAft>
                <a:spcPts val="683"/>
              </a:spcAft>
              <a:buClr>
                <a:srgbClr val="FF0066"/>
              </a:buClr>
            </a:pPr>
            <a:endParaRPr lang="vi-VN" sz="18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6</a:t>
            </a:fld>
            <a:endParaRPr lang="vi-VN"/>
          </a:p>
        </p:txBody>
      </p:sp>
      <p:sp>
        <p:nvSpPr>
          <p:cNvPr id="7" name="Title 1"/>
          <p:cNvSpPr txBox="1">
            <a:spLocks/>
          </p:cNvSpPr>
          <p:nvPr/>
        </p:nvSpPr>
        <p:spPr>
          <a:xfrm>
            <a:off x="691415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Mô hình dữ liệu quan niệm</a:t>
            </a:r>
          </a:p>
          <a:p>
            <a:pPr marL="0" lvl="1"/>
            <a:r>
              <a:rPr lang="en-US" sz="1600" b="1">
                <a:solidFill>
                  <a:schemeClr val="accent6">
                    <a:lumMod val="75000"/>
                  </a:schemeClr>
                </a:solidFill>
                <a:ea typeface="+mj-ea"/>
                <a:cs typeface="Arial" pitchFamily="34" charset="0"/>
              </a:rPr>
              <a:t>2. Mô hình dữ liệu logic</a:t>
            </a:r>
          </a:p>
          <a:p>
            <a:pPr marL="0" lvl="1"/>
            <a:r>
              <a:rPr lang="en-US" sz="1600">
                <a:solidFill>
                  <a:schemeClr val="tx2"/>
                </a:solidFill>
                <a:ea typeface="+mj-ea"/>
                <a:cs typeface="Arial" pitchFamily="34" charset="0"/>
              </a:rPr>
              <a:t>3. Mô hình dữ liệu vật lý</a:t>
            </a:r>
          </a:p>
        </p:txBody>
      </p:sp>
      <p:sp>
        <p:nvSpPr>
          <p:cNvPr id="9" name="Title 1"/>
          <p:cNvSpPr txBox="1">
            <a:spLocks/>
          </p:cNvSpPr>
          <p:nvPr/>
        </p:nvSpPr>
        <p:spPr>
          <a:xfrm>
            <a:off x="4495428" y="0"/>
            <a:ext cx="2443014"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Khái niệm mô hình dữ liệu</a:t>
            </a:r>
          </a:p>
          <a:p>
            <a:pPr marL="0" lvl="1"/>
            <a:r>
              <a:rPr lang="en-US" sz="1300" b="1">
                <a:solidFill>
                  <a:schemeClr val="accent6">
                    <a:lumMod val="75000"/>
                  </a:schemeClr>
                </a:solidFill>
                <a:latin typeface="Calibri (Body)"/>
                <a:ea typeface="+mj-ea"/>
                <a:cs typeface="Arial" pitchFamily="34" charset="0"/>
              </a:rPr>
              <a:t>2. Các loại mô hình dữ liệu</a:t>
            </a:r>
          </a:p>
          <a:p>
            <a:pPr marL="0" lvl="1"/>
            <a:r>
              <a:rPr lang="en-US" sz="1300">
                <a:solidFill>
                  <a:schemeClr val="accent1">
                    <a:lumMod val="75000"/>
                  </a:schemeClr>
                </a:solidFill>
                <a:ea typeface="+mj-ea"/>
                <a:cs typeface="Arial" pitchFamily="34" charset="0"/>
              </a:rPr>
              <a:t>3. Mô hình dữ liệu quan hệ</a:t>
            </a:r>
          </a:p>
          <a:p>
            <a:pPr marL="180975" lvl="1"/>
            <a:endParaRPr lang="en-US" sz="1200">
              <a:solidFill>
                <a:schemeClr val="accent1">
                  <a:lumMod val="75000"/>
                </a:schemeClr>
              </a:solidFill>
              <a:ea typeface="+mj-ea"/>
              <a:cs typeface="Arial" pitchFamily="34" charset="0"/>
            </a:endParaRPr>
          </a:p>
        </p:txBody>
      </p:sp>
      <p:sp>
        <p:nvSpPr>
          <p:cNvPr id="6" name="AutoShape 4" descr="https://voer.edu.vn/file/3916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0" name="AutoShape 6" descr="https://voer.edu.vn/file/39160"/>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344997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Chuyển mô hình dữ liệu logic thành các đặc tả dữ liệu vật lý phù hợp với điều kiện thiết bị và môi trường cụ thể.</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Gồm 2 nội dung:</a:t>
            </a:r>
          </a:p>
          <a:p>
            <a:pPr lvl="1" algn="just">
              <a:spcAft>
                <a:spcPts val="683"/>
              </a:spcAft>
              <a:buClr>
                <a:srgbClr val="FF0066"/>
              </a:buClr>
            </a:pPr>
            <a:r>
              <a:rPr lang="vi-VN" sz="2000">
                <a:solidFill>
                  <a:schemeClr val="accent2">
                    <a:lumMod val="50000"/>
                  </a:schemeClr>
                </a:solidFill>
                <a:latin typeface="Calibri" pitchFamily="34" charset="0"/>
                <a:cs typeface="Calibri" pitchFamily="34" charset="0"/>
              </a:rPr>
              <a:t>Chọn công nghệ lưu trữ và quản lý dữ liệu: hệ điều hành, hệ quản trị cơ sở dữ liệu.</a:t>
            </a:r>
          </a:p>
          <a:p>
            <a:pPr lvl="1" algn="just">
              <a:spcAft>
                <a:spcPts val="683"/>
              </a:spcAft>
              <a:buClr>
                <a:srgbClr val="FF0066"/>
              </a:buClr>
            </a:pPr>
            <a:r>
              <a:rPr lang="vi-VN" sz="2000">
                <a:solidFill>
                  <a:schemeClr val="accent2">
                    <a:lumMod val="50000"/>
                  </a:schemeClr>
                </a:solidFill>
                <a:latin typeface="Calibri" pitchFamily="34" charset="0"/>
                <a:cs typeface="Calibri" pitchFamily="34" charset="0"/>
              </a:rPr>
              <a:t>Chuyển mô hình logic thành thiết kế vật lý và xác định phương án cài đặt.</a:t>
            </a:r>
          </a:p>
          <a:p>
            <a:pPr marL="390392" lvl="1" indent="-390392"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7</a:t>
            </a:fld>
            <a:endParaRPr lang="vi-VN"/>
          </a:p>
        </p:txBody>
      </p:sp>
      <p:sp>
        <p:nvSpPr>
          <p:cNvPr id="7" name="Title 1"/>
          <p:cNvSpPr txBox="1">
            <a:spLocks/>
          </p:cNvSpPr>
          <p:nvPr/>
        </p:nvSpPr>
        <p:spPr>
          <a:xfrm>
            <a:off x="691415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Mô hình dữ liệu quan niệm</a:t>
            </a:r>
          </a:p>
          <a:p>
            <a:pPr marL="0" lvl="1"/>
            <a:r>
              <a:rPr lang="en-US" sz="1600">
                <a:solidFill>
                  <a:schemeClr val="tx2"/>
                </a:solidFill>
                <a:ea typeface="+mj-ea"/>
                <a:cs typeface="Arial" pitchFamily="34" charset="0"/>
              </a:rPr>
              <a:t>2. Mô hình dữ liệu logic</a:t>
            </a:r>
          </a:p>
          <a:p>
            <a:pPr marL="0" lvl="1"/>
            <a:r>
              <a:rPr lang="en-US" sz="1600" b="1">
                <a:solidFill>
                  <a:schemeClr val="accent6">
                    <a:lumMod val="75000"/>
                  </a:schemeClr>
                </a:solidFill>
                <a:ea typeface="+mj-ea"/>
                <a:cs typeface="Arial" pitchFamily="34" charset="0"/>
              </a:rPr>
              <a:t>3. Mô hình dữ liệu vật lý</a:t>
            </a:r>
          </a:p>
        </p:txBody>
      </p:sp>
      <p:sp>
        <p:nvSpPr>
          <p:cNvPr id="9" name="Title 1"/>
          <p:cNvSpPr txBox="1">
            <a:spLocks/>
          </p:cNvSpPr>
          <p:nvPr/>
        </p:nvSpPr>
        <p:spPr>
          <a:xfrm>
            <a:off x="4495428" y="0"/>
            <a:ext cx="2443014"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Khái niệm mô hình dữ liệu</a:t>
            </a:r>
          </a:p>
          <a:p>
            <a:pPr marL="0" lvl="1"/>
            <a:r>
              <a:rPr lang="en-US" sz="1300" b="1">
                <a:solidFill>
                  <a:schemeClr val="accent6">
                    <a:lumMod val="75000"/>
                  </a:schemeClr>
                </a:solidFill>
                <a:latin typeface="Calibri (Body)"/>
                <a:ea typeface="+mj-ea"/>
                <a:cs typeface="Arial" pitchFamily="34" charset="0"/>
              </a:rPr>
              <a:t>2. Các loại mô hình dữ liệu</a:t>
            </a:r>
          </a:p>
          <a:p>
            <a:pPr marL="0" lvl="1"/>
            <a:r>
              <a:rPr lang="en-US" sz="1300">
                <a:solidFill>
                  <a:schemeClr val="accent1">
                    <a:lumMod val="75000"/>
                  </a:schemeClr>
                </a:solidFill>
                <a:ea typeface="+mj-ea"/>
                <a:cs typeface="Arial" pitchFamily="34" charset="0"/>
              </a:rPr>
              <a:t>3. Mô hình dữ liệu quan hệ</a:t>
            </a:r>
          </a:p>
          <a:p>
            <a:pPr marL="180975" lvl="1"/>
            <a:endParaRPr lang="en-US" sz="1200">
              <a:solidFill>
                <a:schemeClr val="accent1">
                  <a:lumMod val="75000"/>
                </a:schemeClr>
              </a:solidFill>
              <a:ea typeface="+mj-ea"/>
              <a:cs typeface="Arial" pitchFamily="34" charset="0"/>
            </a:endParaRPr>
          </a:p>
        </p:txBody>
      </p:sp>
      <p:sp>
        <p:nvSpPr>
          <p:cNvPr id="6" name="AutoShape 4" descr="https://voer.edu.vn/file/3916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10" name="AutoShape 6" descr="https://voer.edu.vn/file/39160"/>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4083248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Mô hình dữ liệu quan hệ là mô hình dữ liệu mà cốt lõi của nó là cơ sở dữ liệu quan hệ. Một cơ sở dữ liệu quan hệ là một tập hợp của một hoặc nhiều quan hệ, trong đó mỗi một quan hệ là một bảng. </a:t>
            </a:r>
          </a:p>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Mô hình dữ liệu quan hệ sử dụng một tập các bảng để biểu diễn dữ liệu và mối liên hệ giữa những dữ liệu này. Bảng có n cột và mỗi cột có một tên duy nhất.</a:t>
            </a:r>
          </a:p>
          <a:p>
            <a:pPr marL="0" lvl="1" indent="0" algn="just">
              <a:spcAft>
                <a:spcPts val="683"/>
              </a:spcAft>
              <a:buClr>
                <a:srgbClr val="FF0066"/>
              </a:buClr>
              <a:buNone/>
            </a:pPr>
            <a:endParaRPr 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Một quan hệ có cấu trúc tốt là quan hệ chứa số dư thừa ít nhất và cho phép người sử dụng thêm, xóa hay sửa đổi những dòng trong bảng mà không gây ra lỗi hoặc sự không nhất quán.</a:t>
            </a:r>
          </a:p>
          <a:p>
            <a:pPr marL="390392" lvl="1" indent="-390392" algn="just">
              <a:spcAft>
                <a:spcPts val="683"/>
              </a:spcAft>
              <a:buClr>
                <a:srgbClr val="FF0066"/>
              </a:buClr>
              <a:buFont typeface="Symbol" pitchFamily="18" charset="2"/>
              <a:buChar char="¨"/>
            </a:pPr>
            <a:endParaRPr lang="en-US"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8</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mô hình dữ liệu</a:t>
            </a:r>
          </a:p>
          <a:p>
            <a:pPr marL="0" lvl="1"/>
            <a:r>
              <a:rPr lang="en-US" sz="1600">
                <a:solidFill>
                  <a:schemeClr val="tx2"/>
                </a:solidFill>
                <a:ea typeface="+mj-ea"/>
                <a:cs typeface="Arial" pitchFamily="34" charset="0"/>
              </a:rPr>
              <a:t>2. Các loại mô hình dữ liệu</a:t>
            </a:r>
          </a:p>
          <a:p>
            <a:pPr marL="0" lvl="1"/>
            <a:r>
              <a:rPr lang="en-US" sz="1600" b="1">
                <a:solidFill>
                  <a:schemeClr val="accent6">
                    <a:lumMod val="75000"/>
                  </a:schemeClr>
                </a:solidFill>
                <a:ea typeface="+mj-ea"/>
                <a:cs typeface="Arial" pitchFamily="34" charset="0"/>
              </a:rPr>
              <a:t>3. Mô hình dữ liệu quan hệ</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997" y="2979536"/>
            <a:ext cx="7486650" cy="227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1354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Dạng chuẩn trong mô hình dữ liệu quan hệ là một tập các tiêu chuẩn cho cơ sở dữ liệu nhằm:</a:t>
            </a:r>
          </a:p>
          <a:p>
            <a:pPr marL="1261729" lvl="3" indent="-285750" algn="just">
              <a:spcAft>
                <a:spcPts val="683"/>
              </a:spcAft>
              <a:buClr>
                <a:srgbClr val="FF0066"/>
              </a:buClr>
            </a:pPr>
            <a:r>
              <a:rPr lang="vi-VN" sz="1800">
                <a:solidFill>
                  <a:schemeClr val="accent2">
                    <a:lumMod val="50000"/>
                  </a:schemeClr>
                </a:solidFill>
                <a:latin typeface="Calibri" pitchFamily="34" charset="0"/>
                <a:cs typeface="Calibri" pitchFamily="34" charset="0"/>
              </a:rPr>
              <a:t>Cho phép lưu trữ những dữ liệu mong muốn.</a:t>
            </a:r>
          </a:p>
          <a:p>
            <a:pPr marL="1261729" lvl="3" indent="-285750" algn="just">
              <a:spcAft>
                <a:spcPts val="683"/>
              </a:spcAft>
              <a:buClr>
                <a:srgbClr val="FF0066"/>
              </a:buClr>
            </a:pPr>
            <a:r>
              <a:rPr lang="vi-VN" sz="1800">
                <a:solidFill>
                  <a:schemeClr val="accent2">
                    <a:lumMod val="50000"/>
                  </a:schemeClr>
                </a:solidFill>
                <a:latin typeface="Calibri" pitchFamily="34" charset="0"/>
                <a:cs typeface="Calibri" pitchFamily="34" charset="0"/>
              </a:rPr>
              <a:t>Loại bỏ các dư thừa dữ liệu.</a:t>
            </a:r>
          </a:p>
          <a:p>
            <a:pPr marL="1261729" lvl="3" indent="-285750" algn="just">
              <a:spcAft>
                <a:spcPts val="683"/>
              </a:spcAft>
              <a:buClr>
                <a:srgbClr val="FF0066"/>
              </a:buClr>
            </a:pPr>
            <a:r>
              <a:rPr lang="vi-VN" sz="1800">
                <a:solidFill>
                  <a:schemeClr val="accent2">
                    <a:lumMod val="50000"/>
                  </a:schemeClr>
                </a:solidFill>
                <a:latin typeface="Calibri" pitchFamily="34" charset="0"/>
                <a:cs typeface="Calibri" pitchFamily="34" charset="0"/>
              </a:rPr>
              <a:t>Cho phép trích xuất thông tin một cách dễ dàng và tránh các lỗi khi thao tác dữ liệu (Insert, Delete, Update).</a:t>
            </a: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9</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ea typeface="+mj-ea"/>
                <a:cs typeface="Arial" pitchFamily="34" charset="0"/>
              </a:rPr>
              <a:t>1. Khái niệm dạng chuẩn</a:t>
            </a:r>
          </a:p>
          <a:p>
            <a:pPr marL="0" lvl="1"/>
            <a:r>
              <a:rPr lang="en-US" sz="1600">
                <a:solidFill>
                  <a:schemeClr val="tx2"/>
                </a:solidFill>
                <a:ea typeface="+mj-ea"/>
                <a:cs typeface="Arial" pitchFamily="34" charset="0"/>
              </a:rPr>
              <a:t>2. Các dạng chuẩn</a:t>
            </a:r>
          </a:p>
          <a:p>
            <a:pPr marL="0" lvl="1"/>
            <a:r>
              <a:rPr lang="en-US" sz="1600">
                <a:solidFill>
                  <a:schemeClr val="tx2"/>
                </a:solidFill>
                <a:ea typeface="+mj-ea"/>
                <a:cs typeface="Arial" pitchFamily="34" charset="0"/>
              </a:rPr>
              <a:t>3. Chuẩn hóa quan hệ</a:t>
            </a:r>
          </a:p>
        </p:txBody>
      </p:sp>
    </p:spTree>
    <p:extLst>
      <p:ext uri="{BB962C8B-B14F-4D97-AF65-F5344CB8AC3E}">
        <p14:creationId xmlns:p14="http://schemas.microsoft.com/office/powerpoint/2010/main" val="2495591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vi-VN" sz="2000">
                <a:solidFill>
                  <a:schemeClr val="accent2">
                    <a:lumMod val="50000"/>
                  </a:schemeClr>
                </a:solidFill>
                <a:latin typeface="Calibri" pitchFamily="34" charset="0"/>
                <a:cs typeface="Calibri" pitchFamily="34" charset="0"/>
              </a:rPr>
              <a:t>Có 3 dạng chuẩn cơ bản:</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Chuẩn 1 (</a:t>
            </a:r>
            <a:r>
              <a:rPr lang="en-US" altLang="en-US" sz="2000">
                <a:solidFill>
                  <a:schemeClr val="accent2">
                    <a:lumMod val="50000"/>
                  </a:schemeClr>
                </a:solidFill>
                <a:latin typeface="Calibri" pitchFamily="34" charset="0"/>
                <a:cs typeface="Calibri" pitchFamily="34" charset="0"/>
              </a:rPr>
              <a:t>First Normal Form - 1NF</a:t>
            </a:r>
            <a:r>
              <a:rPr lang="vi-VN" altLang="en-US" sz="2000">
                <a:solidFill>
                  <a:schemeClr val="accent2">
                    <a:lumMod val="50000"/>
                  </a:schemeClr>
                </a:solidFill>
                <a:latin typeface="Calibri" pitchFamily="34" charset="0"/>
                <a:cs typeface="Calibri" pitchFamily="34" charset="0"/>
              </a:rPr>
              <a:t>): Một quan hệ là chuẩn 1 nếu nó không chứa thuộc tính lặp, nói cách khác là không tồn tại thuộc tính đa trị.</a:t>
            </a:r>
          </a:p>
          <a:p>
            <a:pPr marL="390392" lvl="1" indent="-390392" algn="just">
              <a:spcAft>
                <a:spcPts val="683"/>
              </a:spcAft>
              <a:buClr>
                <a:srgbClr val="FF0066"/>
              </a:buClr>
              <a:buFont typeface="Symbol" pitchFamily="18" charset="2"/>
              <a:buChar char="¨"/>
            </a:pPr>
            <a:endParaRPr lang="vi-VN" alt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altLang="en-US"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r>
              <a:rPr lang="en-US" altLang="en-US" sz="2000">
                <a:solidFill>
                  <a:schemeClr val="accent2">
                    <a:lumMod val="50000"/>
                  </a:schemeClr>
                </a:solidFill>
                <a:latin typeface="Calibri" pitchFamily="34" charset="0"/>
                <a:cs typeface="Calibri" pitchFamily="34" charset="0"/>
              </a:rPr>
              <a:t>                                                                             </a:t>
            </a:r>
            <a:r>
              <a:rPr lang="en-US" altLang="en-US" sz="2000">
                <a:solidFill>
                  <a:schemeClr val="accent2">
                    <a:lumMod val="50000"/>
                  </a:schemeClr>
                </a:solidFill>
                <a:latin typeface="Calibri" pitchFamily="34" charset="0"/>
                <a:cs typeface="Calibri" pitchFamily="34" charset="0"/>
                <a:sym typeface="Wingdings" pitchFamily="2" charset="2"/>
              </a:rPr>
              <a:t></a:t>
            </a:r>
            <a:endParaRPr lang="vi-VN" alt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alt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alt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altLang="en-US"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r>
              <a:rPr lang="vi-VN" altLang="en-US" sz="2000">
                <a:solidFill>
                  <a:schemeClr val="accent2">
                    <a:lumMod val="50000"/>
                  </a:schemeClr>
                </a:solidFill>
                <a:latin typeface="Calibri" pitchFamily="34" charset="0"/>
                <a:cs typeface="Calibri" pitchFamily="34" charset="0"/>
              </a:rPr>
              <a:t>Ta thấy trường Ngoaingu của nhân viên có mã số 5 là thuộc tính đa trị (gồm 3 giá trị Anh, Pháp, Nhật) </a:t>
            </a:r>
            <a:r>
              <a:rPr lang="vi-VN" altLang="en-US" sz="2000">
                <a:solidFill>
                  <a:schemeClr val="accent2">
                    <a:lumMod val="50000"/>
                  </a:schemeClr>
                </a:solidFill>
                <a:latin typeface="Calibri" pitchFamily="34" charset="0"/>
                <a:cs typeface="Calibri" pitchFamily="34" charset="0"/>
                <a:sym typeface="Wingdings" pitchFamily="2" charset="2"/>
              </a:rPr>
              <a:t> Thuộc tính </a:t>
            </a:r>
            <a:r>
              <a:rPr lang="vi-VN" altLang="en-US" sz="2000" i="1">
                <a:solidFill>
                  <a:schemeClr val="accent2">
                    <a:lumMod val="50000"/>
                  </a:schemeClr>
                </a:solidFill>
                <a:latin typeface="Calibri" pitchFamily="34" charset="0"/>
                <a:cs typeface="Calibri" pitchFamily="34" charset="0"/>
                <a:sym typeface="Wingdings" pitchFamily="2" charset="2"/>
              </a:rPr>
              <a:t>MaNV, TenNV </a:t>
            </a:r>
            <a:r>
              <a:rPr lang="vi-VN" altLang="en-US" sz="2000">
                <a:solidFill>
                  <a:schemeClr val="accent2">
                    <a:lumMod val="50000"/>
                  </a:schemeClr>
                </a:solidFill>
                <a:latin typeface="Calibri" pitchFamily="34" charset="0"/>
                <a:cs typeface="Calibri" pitchFamily="34" charset="0"/>
                <a:sym typeface="Wingdings" pitchFamily="2" charset="2"/>
              </a:rPr>
              <a:t>bị lặp 3 lần  Quan hệ không phải dạng chuẩn 1</a:t>
            </a:r>
            <a:endParaRPr lang="vi-VN" alt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alt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altLang="en-US"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altLang="en-US"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10</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dạng chuẩn</a:t>
            </a:r>
          </a:p>
          <a:p>
            <a:pPr marL="0" lvl="1"/>
            <a:r>
              <a:rPr lang="en-US" sz="1600" b="1">
                <a:solidFill>
                  <a:schemeClr val="accent6">
                    <a:lumMod val="75000"/>
                  </a:schemeClr>
                </a:solidFill>
                <a:ea typeface="+mj-ea"/>
                <a:cs typeface="Arial" pitchFamily="34" charset="0"/>
              </a:rPr>
              <a:t>2. Các dạng chuẩn</a:t>
            </a:r>
          </a:p>
          <a:p>
            <a:pPr marL="0" lvl="1"/>
            <a:r>
              <a:rPr lang="en-US" sz="1600">
                <a:solidFill>
                  <a:schemeClr val="tx2"/>
                </a:solidFill>
                <a:ea typeface="+mj-ea"/>
                <a:cs typeface="Arial" pitchFamily="34" charset="0"/>
              </a:rPr>
              <a:t>3. Chuẩn hóa quan hệ</a:t>
            </a:r>
          </a:p>
        </p:txBody>
      </p:sp>
      <p:graphicFrame>
        <p:nvGraphicFramePr>
          <p:cNvPr id="11" name="Table 10"/>
          <p:cNvGraphicFramePr>
            <a:graphicFrameLocks noGrp="1"/>
          </p:cNvGraphicFramePr>
          <p:nvPr>
            <p:extLst>
              <p:ext uri="{D42A27DB-BD31-4B8C-83A1-F6EECF244321}">
                <p14:modId xmlns:p14="http://schemas.microsoft.com/office/powerpoint/2010/main" val="2464178590"/>
              </p:ext>
            </p:extLst>
          </p:nvPr>
        </p:nvGraphicFramePr>
        <p:xfrm>
          <a:off x="416521" y="2924944"/>
          <a:ext cx="4104455" cy="1440160"/>
        </p:xfrm>
        <a:graphic>
          <a:graphicData uri="http://schemas.openxmlformats.org/drawingml/2006/table">
            <a:tbl>
              <a:tblPr firstRow="1" firstCol="1" bandRow="1">
                <a:tableStyleId>{5C22544A-7EE6-4342-B048-85BDC9FD1C3A}</a:tableStyleId>
              </a:tblPr>
              <a:tblGrid>
                <a:gridCol w="846951">
                  <a:extLst>
                    <a:ext uri="{9D8B030D-6E8A-4147-A177-3AD203B41FA5}">
                      <a16:colId xmlns:a16="http://schemas.microsoft.com/office/drawing/2014/main" val="20000"/>
                    </a:ext>
                  </a:extLst>
                </a:gridCol>
                <a:gridCol w="1457304">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tblGrid>
              <a:tr h="360040">
                <a:tc>
                  <a:txBody>
                    <a:bodyPr/>
                    <a:lstStyle/>
                    <a:p>
                      <a:pPr algn="ctr">
                        <a:lnSpc>
                          <a:spcPct val="115000"/>
                        </a:lnSpc>
                        <a:spcAft>
                          <a:spcPts val="600"/>
                        </a:spcAft>
                      </a:pPr>
                      <a:r>
                        <a:rPr lang="en-US" sz="1800" u="sng">
                          <a:effectLst/>
                        </a:rPr>
                        <a:t>MaNV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TenNV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Ngoaingu</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360040">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 Phap, Nhat</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360040">
                <a:tc>
                  <a:txBody>
                    <a:bodyPr/>
                    <a:lstStyle/>
                    <a:p>
                      <a:pPr>
                        <a:lnSpc>
                          <a:spcPct val="115000"/>
                        </a:lnSpc>
                        <a:spcAft>
                          <a:spcPts val="600"/>
                        </a:spcAft>
                      </a:pPr>
                      <a:r>
                        <a:rPr lang="en-US" sz="1800">
                          <a:effectLst/>
                        </a:rPr>
                        <a:t>4</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Tùng Chi</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360040">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Trấn Thành</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79868727"/>
              </p:ext>
            </p:extLst>
          </p:nvPr>
        </p:nvGraphicFramePr>
        <p:xfrm>
          <a:off x="5359524" y="2636912"/>
          <a:ext cx="4320480" cy="2088234"/>
        </p:xfrm>
        <a:graphic>
          <a:graphicData uri="http://schemas.openxmlformats.org/drawingml/2006/table">
            <a:tbl>
              <a:tblPr firstRow="1" firstCol="1" bandRow="1">
                <a:tableStyleId>{5C22544A-7EE6-4342-B048-85BDC9FD1C3A}</a:tableStyleId>
              </a:tblPr>
              <a:tblGrid>
                <a:gridCol w="1251151">
                  <a:extLst>
                    <a:ext uri="{9D8B030D-6E8A-4147-A177-3AD203B41FA5}">
                      <a16:colId xmlns:a16="http://schemas.microsoft.com/office/drawing/2014/main" val="20000"/>
                    </a:ext>
                  </a:extLst>
                </a:gridCol>
                <a:gridCol w="1591207">
                  <a:extLst>
                    <a:ext uri="{9D8B030D-6E8A-4147-A177-3AD203B41FA5}">
                      <a16:colId xmlns:a16="http://schemas.microsoft.com/office/drawing/2014/main" val="20001"/>
                    </a:ext>
                  </a:extLst>
                </a:gridCol>
                <a:gridCol w="1478122">
                  <a:extLst>
                    <a:ext uri="{9D8B030D-6E8A-4147-A177-3AD203B41FA5}">
                      <a16:colId xmlns:a16="http://schemas.microsoft.com/office/drawing/2014/main" val="20002"/>
                    </a:ext>
                  </a:extLst>
                </a:gridCol>
              </a:tblGrid>
              <a:tr h="348039">
                <a:tc>
                  <a:txBody>
                    <a:bodyPr/>
                    <a:lstStyle/>
                    <a:p>
                      <a:pPr algn="ctr">
                        <a:lnSpc>
                          <a:spcPct val="115000"/>
                        </a:lnSpc>
                        <a:spcAft>
                          <a:spcPts val="600"/>
                        </a:spcAft>
                      </a:pPr>
                      <a:r>
                        <a:rPr lang="en-US" sz="1800" u="sng">
                          <a:effectLst/>
                        </a:rPr>
                        <a:t>MaNV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TenNV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Ngoaingu</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348039">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348039">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Phap</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348039">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Nhat</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r h="348039">
                <a:tc>
                  <a:txBody>
                    <a:bodyPr/>
                    <a:lstStyle/>
                    <a:p>
                      <a:pPr>
                        <a:lnSpc>
                          <a:spcPct val="115000"/>
                        </a:lnSpc>
                        <a:spcAft>
                          <a:spcPts val="600"/>
                        </a:spcAft>
                      </a:pPr>
                      <a:r>
                        <a:rPr lang="en-US" sz="1800">
                          <a:effectLst/>
                        </a:rPr>
                        <a:t>4</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Tùng Chi</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4"/>
                  </a:ext>
                </a:extLst>
              </a:tr>
              <a:tr h="348039">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Trấn Thành</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74821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vi-VN" sz="2000">
                <a:solidFill>
                  <a:schemeClr val="bg2">
                    <a:lumMod val="50000"/>
                  </a:schemeClr>
                </a:solidFill>
                <a:latin typeface="Calibri" pitchFamily="34" charset="0"/>
                <a:cs typeface="Calibri" pitchFamily="34" charset="0"/>
              </a:rPr>
              <a:t>Có 3 dạng chuẩn cơ bản:</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Chuẩn 2 (2NF): Một quan hệ là chuẩn 2 nếu nó là chuẩn 1 và không tồn tại các thuộc tính không phải là thuộc tính khóa phụ thuộc vào một phần của khóa.</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Xét quan hệ đào tạo của nhân viên:</a:t>
            </a:r>
          </a:p>
          <a:p>
            <a:pPr marL="390392" lvl="1" indent="-390392" algn="just">
              <a:spcAft>
                <a:spcPts val="683"/>
              </a:spcAft>
              <a:buClr>
                <a:srgbClr val="FF0066"/>
              </a:buClr>
              <a:buFont typeface="Symbol" pitchFamily="18" charset="2"/>
              <a:buChar char="¨"/>
            </a:pPr>
            <a:endParaRPr lang="vi-VN"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vi-VN"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r>
              <a:rPr lang="vi-VN" sz="2000">
                <a:solidFill>
                  <a:schemeClr val="accent2">
                    <a:lumMod val="50000"/>
                  </a:schemeClr>
                </a:solidFill>
                <a:latin typeface="Calibri" pitchFamily="34" charset="0"/>
                <a:cs typeface="Calibri" pitchFamily="34" charset="0"/>
              </a:rPr>
              <a:t>Ta thấy tồn tại thuộc tính </a:t>
            </a:r>
            <a:r>
              <a:rPr lang="vi-VN" sz="2000" i="1">
                <a:solidFill>
                  <a:schemeClr val="accent2">
                    <a:lumMod val="50000"/>
                  </a:schemeClr>
                </a:solidFill>
                <a:latin typeface="Calibri" pitchFamily="34" charset="0"/>
                <a:cs typeface="Calibri" pitchFamily="34" charset="0"/>
              </a:rPr>
              <a:t>TenNV</a:t>
            </a:r>
            <a:r>
              <a:rPr lang="vi-VN" sz="2000">
                <a:solidFill>
                  <a:schemeClr val="accent2">
                    <a:lumMod val="50000"/>
                  </a:schemeClr>
                </a:solidFill>
                <a:latin typeface="Calibri" pitchFamily="34" charset="0"/>
                <a:cs typeface="Calibri" pitchFamily="34" charset="0"/>
              </a:rPr>
              <a:t> không phải là thuộc tính khóa và chỉ phụ thuộc vào một phần của khóa là </a:t>
            </a:r>
            <a:r>
              <a:rPr lang="vi-VN" sz="2000" i="1" u="sng">
                <a:solidFill>
                  <a:schemeClr val="accent2">
                    <a:lumMod val="50000"/>
                  </a:schemeClr>
                </a:solidFill>
                <a:latin typeface="Calibri" pitchFamily="34" charset="0"/>
                <a:cs typeface="Calibri" pitchFamily="34" charset="0"/>
              </a:rPr>
              <a:t>MaNV</a:t>
            </a:r>
            <a:r>
              <a:rPr lang="vi-VN" sz="200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sym typeface="Wingdings" pitchFamily="2" charset="2"/>
              </a:rPr>
              <a:t> Quan hệ này không phải là chuẩn 2.</a:t>
            </a: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11</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dạng chuẩn</a:t>
            </a:r>
          </a:p>
          <a:p>
            <a:pPr marL="0" lvl="1"/>
            <a:r>
              <a:rPr lang="en-US" sz="1600" b="1">
                <a:solidFill>
                  <a:schemeClr val="accent6">
                    <a:lumMod val="75000"/>
                  </a:schemeClr>
                </a:solidFill>
                <a:ea typeface="+mj-ea"/>
                <a:cs typeface="Arial" pitchFamily="34" charset="0"/>
              </a:rPr>
              <a:t>2. Các dạng chuẩn</a:t>
            </a:r>
          </a:p>
          <a:p>
            <a:pPr marL="0" lvl="1"/>
            <a:r>
              <a:rPr lang="en-US" sz="1600">
                <a:solidFill>
                  <a:schemeClr val="tx2"/>
                </a:solidFill>
                <a:ea typeface="+mj-ea"/>
                <a:cs typeface="Arial" pitchFamily="34" charset="0"/>
              </a:rPr>
              <a:t>3. Chuẩn hóa quan hệ</a:t>
            </a:r>
          </a:p>
        </p:txBody>
      </p:sp>
      <p:graphicFrame>
        <p:nvGraphicFramePr>
          <p:cNvPr id="6" name="Table 5"/>
          <p:cNvGraphicFramePr>
            <a:graphicFrameLocks noGrp="1"/>
          </p:cNvGraphicFramePr>
          <p:nvPr>
            <p:extLst>
              <p:ext uri="{D42A27DB-BD31-4B8C-83A1-F6EECF244321}">
                <p14:modId xmlns:p14="http://schemas.microsoft.com/office/powerpoint/2010/main" val="2206257651"/>
              </p:ext>
            </p:extLst>
          </p:nvPr>
        </p:nvGraphicFramePr>
        <p:xfrm>
          <a:off x="1687116" y="2924948"/>
          <a:ext cx="6768752" cy="2448270"/>
        </p:xfrm>
        <a:graphic>
          <a:graphicData uri="http://schemas.openxmlformats.org/drawingml/2006/table">
            <a:tbl>
              <a:tblPr firstRow="1" firstCol="1" bandRow="1">
                <a:tableStyleId>{5C22544A-7EE6-4342-B048-85BDC9FD1C3A}</a:tableStyleId>
              </a:tblPr>
              <a:tblGrid>
                <a:gridCol w="1516877">
                  <a:extLst>
                    <a:ext uri="{9D8B030D-6E8A-4147-A177-3AD203B41FA5}">
                      <a16:colId xmlns:a16="http://schemas.microsoft.com/office/drawing/2014/main" val="20000"/>
                    </a:ext>
                  </a:extLst>
                </a:gridCol>
                <a:gridCol w="1517871">
                  <a:extLst>
                    <a:ext uri="{9D8B030D-6E8A-4147-A177-3AD203B41FA5}">
                      <a16:colId xmlns:a16="http://schemas.microsoft.com/office/drawing/2014/main" val="20001"/>
                    </a:ext>
                  </a:extLst>
                </a:gridCol>
                <a:gridCol w="1922703">
                  <a:extLst>
                    <a:ext uri="{9D8B030D-6E8A-4147-A177-3AD203B41FA5}">
                      <a16:colId xmlns:a16="http://schemas.microsoft.com/office/drawing/2014/main" val="20002"/>
                    </a:ext>
                  </a:extLst>
                </a:gridCol>
                <a:gridCol w="1811301">
                  <a:extLst>
                    <a:ext uri="{9D8B030D-6E8A-4147-A177-3AD203B41FA5}">
                      <a16:colId xmlns:a16="http://schemas.microsoft.com/office/drawing/2014/main" val="20003"/>
                    </a:ext>
                  </a:extLst>
                </a:gridCol>
              </a:tblGrid>
              <a:tr h="489654">
                <a:tc>
                  <a:txBody>
                    <a:bodyPr/>
                    <a:lstStyle/>
                    <a:p>
                      <a:pPr algn="ctr">
                        <a:lnSpc>
                          <a:spcPct val="115000"/>
                        </a:lnSpc>
                        <a:spcAft>
                          <a:spcPts val="600"/>
                        </a:spcAft>
                      </a:pPr>
                      <a:r>
                        <a:rPr lang="en-US" sz="1800" u="sng">
                          <a:effectLst/>
                        </a:rPr>
                        <a:t>MaDT</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u="sng">
                          <a:effectLst/>
                        </a:rPr>
                        <a:t>MaNV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TenNV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ThoigianDT</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489654">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1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489654">
                <a:tc>
                  <a:txBody>
                    <a:bodyPr/>
                    <a:lstStyle/>
                    <a:p>
                      <a:pPr>
                        <a:lnSpc>
                          <a:spcPct val="115000"/>
                        </a:lnSpc>
                        <a:spcAft>
                          <a:spcPts val="600"/>
                        </a:spcAft>
                      </a:pPr>
                      <a:r>
                        <a:rPr lang="en-US" sz="1800">
                          <a:effectLst/>
                        </a:rPr>
                        <a:t>2</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3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489654">
                <a:tc>
                  <a:txBody>
                    <a:bodyPr/>
                    <a:lstStyle/>
                    <a:p>
                      <a:pPr>
                        <a:lnSpc>
                          <a:spcPct val="115000"/>
                        </a:lnSpc>
                        <a:spcAft>
                          <a:spcPts val="600"/>
                        </a:spcAft>
                      </a:pPr>
                      <a:r>
                        <a:rPr lang="en-US" sz="1800">
                          <a:effectLst/>
                        </a:rPr>
                        <a:t>3</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4</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Tùng Chi</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2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r h="489654">
                <a:tc>
                  <a:txBody>
                    <a:bodyPr/>
                    <a:lstStyle/>
                    <a:p>
                      <a:pPr>
                        <a:lnSpc>
                          <a:spcPct val="115000"/>
                        </a:lnSpc>
                        <a:spcAft>
                          <a:spcPts val="600"/>
                        </a:spcAft>
                      </a:pPr>
                      <a:r>
                        <a:rPr lang="en-US" sz="1800">
                          <a:effectLst/>
                        </a:rPr>
                        <a:t>2</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Trấn Thành</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4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0843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vi-VN" sz="2000">
                <a:solidFill>
                  <a:schemeClr val="bg2">
                    <a:lumMod val="50000"/>
                  </a:schemeClr>
                </a:solidFill>
                <a:latin typeface="Calibri" pitchFamily="34" charset="0"/>
                <a:cs typeface="Calibri" pitchFamily="34" charset="0"/>
              </a:rPr>
              <a:t>Có 3 dạng chuẩn cơ bản:</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Chuẩn 3 (3NF): Một quan hệ là chuẩn 3 nếu nó là chuẩn 2 và không tồn tại thuộc tính không khóa phụ thuộc bắc cầu vào khóa (thuộc tính đóng vai trò bắc cầu gọi là thuộc tính cầu).</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Xét quan hệ khen thưởng của nhân viên:</a:t>
            </a:r>
          </a:p>
          <a:p>
            <a:pPr marL="390392" lvl="1" indent="-390392" algn="just">
              <a:spcAft>
                <a:spcPts val="683"/>
              </a:spcAft>
              <a:buClr>
                <a:srgbClr val="FF0066"/>
              </a:buClr>
              <a:buFont typeface="Symbol" pitchFamily="18" charset="2"/>
              <a:buChar char="¨"/>
            </a:pPr>
            <a:endParaRPr lang="vi-VN"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r>
              <a:rPr lang="vi-VN" sz="2000">
                <a:solidFill>
                  <a:schemeClr val="accent2">
                    <a:lumMod val="50000"/>
                  </a:schemeClr>
                </a:solidFill>
                <a:latin typeface="Calibri" pitchFamily="34" charset="0"/>
                <a:cs typeface="Calibri" pitchFamily="34" charset="0"/>
              </a:rPr>
              <a:t>Ta thấy tồn tại thuộc tính </a:t>
            </a:r>
            <a:r>
              <a:rPr lang="vi-VN" sz="2000" i="1">
                <a:solidFill>
                  <a:schemeClr val="accent2">
                    <a:lumMod val="50000"/>
                  </a:schemeClr>
                </a:solidFill>
                <a:latin typeface="Calibri" pitchFamily="34" charset="0"/>
                <a:cs typeface="Calibri" pitchFamily="34" charset="0"/>
              </a:rPr>
              <a:t>TenNV</a:t>
            </a:r>
            <a:r>
              <a:rPr lang="vi-VN" sz="2000">
                <a:solidFill>
                  <a:schemeClr val="accent2">
                    <a:lumMod val="50000"/>
                  </a:schemeClr>
                </a:solidFill>
                <a:latin typeface="Calibri" pitchFamily="34" charset="0"/>
                <a:cs typeface="Calibri" pitchFamily="34" charset="0"/>
              </a:rPr>
              <a:t> không phải là thuộc tính khóa phụ thuộc vào thuộc tính </a:t>
            </a:r>
            <a:r>
              <a:rPr lang="vi-VN" sz="2000" i="1">
                <a:solidFill>
                  <a:schemeClr val="accent2">
                    <a:lumMod val="50000"/>
                  </a:schemeClr>
                </a:solidFill>
                <a:latin typeface="Calibri" pitchFamily="34" charset="0"/>
                <a:cs typeface="Calibri" pitchFamily="34" charset="0"/>
              </a:rPr>
              <a:t>MaNV </a:t>
            </a:r>
            <a:r>
              <a:rPr lang="vi-VN" sz="2000">
                <a:solidFill>
                  <a:schemeClr val="accent2">
                    <a:lumMod val="50000"/>
                  </a:schemeClr>
                </a:solidFill>
                <a:latin typeface="Calibri" pitchFamily="34" charset="0"/>
                <a:cs typeface="Calibri" pitchFamily="34" charset="0"/>
              </a:rPr>
              <a:t>và thuộc tính </a:t>
            </a:r>
            <a:r>
              <a:rPr lang="vi-VN" sz="2000" i="1">
                <a:solidFill>
                  <a:schemeClr val="accent2">
                    <a:lumMod val="50000"/>
                  </a:schemeClr>
                </a:solidFill>
                <a:latin typeface="Calibri" pitchFamily="34" charset="0"/>
                <a:cs typeface="Calibri" pitchFamily="34" charset="0"/>
              </a:rPr>
              <a:t>MaNV</a:t>
            </a:r>
            <a:r>
              <a:rPr lang="vi-VN" sz="2000">
                <a:solidFill>
                  <a:schemeClr val="accent2">
                    <a:lumMod val="50000"/>
                  </a:schemeClr>
                </a:solidFill>
                <a:latin typeface="Calibri" pitchFamily="34" charset="0"/>
                <a:cs typeface="Calibri" pitchFamily="34" charset="0"/>
              </a:rPr>
              <a:t> phụ thuộc vào khóa </a:t>
            </a:r>
            <a:r>
              <a:rPr lang="vi-VN" sz="2000" i="1" u="sng">
                <a:solidFill>
                  <a:schemeClr val="accent2">
                    <a:lumMod val="50000"/>
                  </a:schemeClr>
                </a:solidFill>
                <a:latin typeface="Calibri" pitchFamily="34" charset="0"/>
                <a:cs typeface="Calibri" pitchFamily="34" charset="0"/>
              </a:rPr>
              <a:t>MaKT</a:t>
            </a:r>
            <a:r>
              <a:rPr lang="vi-VN" sz="2000">
                <a:solidFill>
                  <a:schemeClr val="accent2">
                    <a:lumMod val="50000"/>
                  </a:schemeClr>
                </a:solidFill>
                <a:latin typeface="Calibri" pitchFamily="34" charset="0"/>
                <a:cs typeface="Calibri" pitchFamily="34" charset="0"/>
              </a:rPr>
              <a:t> </a:t>
            </a:r>
            <a:r>
              <a:rPr lang="vi-VN" sz="2000">
                <a:solidFill>
                  <a:schemeClr val="accent2">
                    <a:lumMod val="50000"/>
                  </a:schemeClr>
                </a:solidFill>
                <a:latin typeface="Calibri" pitchFamily="34" charset="0"/>
                <a:cs typeface="Calibri" pitchFamily="34" charset="0"/>
                <a:sym typeface="Wingdings" pitchFamily="2" charset="2"/>
              </a:rPr>
              <a:t> TenNV phụ thuộc bắc cầu vào thuộc tính khóa MaKT  Quan hệ này không phải là chuẩn 3.</a:t>
            </a:r>
            <a:endParaRPr lang="vi-VN" sz="20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12</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dạng chuẩn</a:t>
            </a:r>
          </a:p>
          <a:p>
            <a:pPr marL="0" lvl="1"/>
            <a:r>
              <a:rPr lang="en-US" sz="1600" b="1">
                <a:solidFill>
                  <a:schemeClr val="accent6">
                    <a:lumMod val="75000"/>
                  </a:schemeClr>
                </a:solidFill>
                <a:ea typeface="+mj-ea"/>
                <a:cs typeface="Arial" pitchFamily="34" charset="0"/>
              </a:rPr>
              <a:t>2. Các dạng chuẩn</a:t>
            </a:r>
          </a:p>
          <a:p>
            <a:pPr marL="0" lvl="1"/>
            <a:r>
              <a:rPr lang="en-US" sz="1600">
                <a:solidFill>
                  <a:schemeClr val="tx2"/>
                </a:solidFill>
                <a:ea typeface="+mj-ea"/>
                <a:cs typeface="Arial" pitchFamily="34" charset="0"/>
              </a:rPr>
              <a:t>3. Chuẩn hóa quan hệ</a:t>
            </a:r>
          </a:p>
        </p:txBody>
      </p:sp>
      <p:graphicFrame>
        <p:nvGraphicFramePr>
          <p:cNvPr id="6" name="Table 5"/>
          <p:cNvGraphicFramePr>
            <a:graphicFrameLocks noGrp="1"/>
          </p:cNvGraphicFramePr>
          <p:nvPr>
            <p:extLst>
              <p:ext uri="{D42A27DB-BD31-4B8C-83A1-F6EECF244321}">
                <p14:modId xmlns:p14="http://schemas.microsoft.com/office/powerpoint/2010/main" val="1578483168"/>
              </p:ext>
            </p:extLst>
          </p:nvPr>
        </p:nvGraphicFramePr>
        <p:xfrm>
          <a:off x="1471092" y="3284984"/>
          <a:ext cx="6171523" cy="1872208"/>
        </p:xfrm>
        <a:graphic>
          <a:graphicData uri="http://schemas.openxmlformats.org/drawingml/2006/table">
            <a:tbl>
              <a:tblPr firstRow="1" firstCol="1" bandRow="1">
                <a:tableStyleId>{5C22544A-7EE6-4342-B048-85BDC9FD1C3A}</a:tableStyleId>
              </a:tblPr>
              <a:tblGrid>
                <a:gridCol w="1092101">
                  <a:extLst>
                    <a:ext uri="{9D8B030D-6E8A-4147-A177-3AD203B41FA5}">
                      <a16:colId xmlns:a16="http://schemas.microsoft.com/office/drawing/2014/main" val="20000"/>
                    </a:ext>
                  </a:extLst>
                </a:gridCol>
                <a:gridCol w="1093542">
                  <a:extLst>
                    <a:ext uri="{9D8B030D-6E8A-4147-A177-3AD203B41FA5}">
                      <a16:colId xmlns:a16="http://schemas.microsoft.com/office/drawing/2014/main" val="20001"/>
                    </a:ext>
                  </a:extLst>
                </a:gridCol>
                <a:gridCol w="1630781">
                  <a:extLst>
                    <a:ext uri="{9D8B030D-6E8A-4147-A177-3AD203B41FA5}">
                      <a16:colId xmlns:a16="http://schemas.microsoft.com/office/drawing/2014/main" val="20002"/>
                    </a:ext>
                  </a:extLst>
                </a:gridCol>
                <a:gridCol w="1057689">
                  <a:extLst>
                    <a:ext uri="{9D8B030D-6E8A-4147-A177-3AD203B41FA5}">
                      <a16:colId xmlns:a16="http://schemas.microsoft.com/office/drawing/2014/main" val="20003"/>
                    </a:ext>
                  </a:extLst>
                </a:gridCol>
                <a:gridCol w="1297410">
                  <a:extLst>
                    <a:ext uri="{9D8B030D-6E8A-4147-A177-3AD203B41FA5}">
                      <a16:colId xmlns:a16="http://schemas.microsoft.com/office/drawing/2014/main" val="20004"/>
                    </a:ext>
                  </a:extLst>
                </a:gridCol>
              </a:tblGrid>
              <a:tr h="468052">
                <a:tc>
                  <a:txBody>
                    <a:bodyPr/>
                    <a:lstStyle/>
                    <a:p>
                      <a:pPr algn="ctr">
                        <a:lnSpc>
                          <a:spcPct val="115000"/>
                        </a:lnSpc>
                        <a:spcAft>
                          <a:spcPts val="600"/>
                        </a:spcAft>
                      </a:pPr>
                      <a:r>
                        <a:rPr lang="en-US" sz="1800" u="sng">
                          <a:effectLst/>
                        </a:rPr>
                        <a:t>MaKT</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MaNV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TenNV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LydoKT</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ThoigianKT</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468052">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2014</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468052">
                <a:tc>
                  <a:txBody>
                    <a:bodyPr/>
                    <a:lstStyle/>
                    <a:p>
                      <a:pPr>
                        <a:lnSpc>
                          <a:spcPct val="115000"/>
                        </a:lnSpc>
                        <a:spcAft>
                          <a:spcPts val="600"/>
                        </a:spcAft>
                      </a:pPr>
                      <a:r>
                        <a:rPr lang="en-US" sz="1800">
                          <a:effectLst/>
                        </a:rPr>
                        <a:t>2</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Trấn Thành</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C</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2015</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468052">
                <a:tc>
                  <a:txBody>
                    <a:bodyPr/>
                    <a:lstStyle/>
                    <a:p>
                      <a:pPr>
                        <a:lnSpc>
                          <a:spcPct val="115000"/>
                        </a:lnSpc>
                        <a:spcAft>
                          <a:spcPts val="600"/>
                        </a:spcAft>
                      </a:pPr>
                      <a:r>
                        <a:rPr lang="en-US" sz="1800">
                          <a:effectLst/>
                        </a:rPr>
                        <a:t>3</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4</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Tùng Chi</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B</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2015</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81895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Chuẩn hóa quan hệ là quá trình chuyển một quan hệ có cấu trúc dữ liệu phức hợp thành các quan hệ có cấu trúc tốt.</a:t>
            </a:r>
          </a:p>
          <a:p>
            <a:pPr marL="390392" lvl="1" indent="-390392" algn="just">
              <a:spcAft>
                <a:spcPts val="683"/>
              </a:spcAft>
              <a:buClr>
                <a:srgbClr val="FF0066"/>
              </a:buClr>
              <a:buFont typeface="Symbol" pitchFamily="18" charset="2"/>
              <a:buChar char="¨"/>
            </a:pPr>
            <a:r>
              <a:rPr lang="vi-VN" sz="2000" i="1">
                <a:solidFill>
                  <a:schemeClr val="accent2">
                    <a:lumMod val="50000"/>
                  </a:schemeClr>
                </a:solidFill>
                <a:latin typeface="Calibri" pitchFamily="34" charset="0"/>
                <a:cs typeface="Calibri" pitchFamily="34" charset="0"/>
              </a:rPr>
              <a:t>Chuẩn hóa quan hệ không phải là chuẩn 1</a:t>
            </a:r>
            <a:r>
              <a:rPr lang="vi-VN" sz="2000">
                <a:solidFill>
                  <a:schemeClr val="accent2">
                    <a:lumMod val="50000"/>
                  </a:schemeClr>
                </a:solidFill>
                <a:latin typeface="Calibri" pitchFamily="34" charset="0"/>
                <a:cs typeface="Calibri" pitchFamily="34" charset="0"/>
              </a:rPr>
              <a:t>: Khi một quan hệ không phải là chuẩn 1, nghĩa là nó chứa thuộc tính lặp, khi đó ta phân rã thành 2 quan hệ gồm:</a:t>
            </a:r>
          </a:p>
          <a:p>
            <a:pPr marL="1318879" lvl="3" indent="-342900" algn="just">
              <a:spcAft>
                <a:spcPts val="683"/>
              </a:spcAft>
              <a:buClr>
                <a:srgbClr val="FF0066"/>
              </a:buClr>
            </a:pPr>
            <a:r>
              <a:rPr lang="vi-VN" sz="1800">
                <a:solidFill>
                  <a:schemeClr val="accent2">
                    <a:lumMod val="50000"/>
                  </a:schemeClr>
                </a:solidFill>
                <a:latin typeface="Calibri" pitchFamily="34" charset="0"/>
                <a:cs typeface="Calibri" pitchFamily="34" charset="0"/>
              </a:rPr>
              <a:t>Quan hệ 1: Gồm các thuộc tính lặp + phần khóa mà nó phụ thuộc</a:t>
            </a:r>
          </a:p>
          <a:p>
            <a:pPr marL="1318879" lvl="3" indent="-342900" algn="just">
              <a:spcAft>
                <a:spcPts val="683"/>
              </a:spcAft>
              <a:buClr>
                <a:srgbClr val="FF0066"/>
              </a:buClr>
            </a:pPr>
            <a:r>
              <a:rPr lang="vi-VN" sz="1800">
                <a:solidFill>
                  <a:schemeClr val="accent2">
                    <a:lumMod val="50000"/>
                  </a:schemeClr>
                </a:solidFill>
                <a:latin typeface="Calibri" pitchFamily="34" charset="0"/>
                <a:cs typeface="Calibri" pitchFamily="34" charset="0"/>
              </a:rPr>
              <a:t>Quan hệ 2: Các thuộc tính còn lại + toàn bộ khóa.</a:t>
            </a: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13</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dạng chuẩn</a:t>
            </a:r>
          </a:p>
          <a:p>
            <a:pPr marL="0" lvl="1"/>
            <a:r>
              <a:rPr lang="en-US" sz="1600">
                <a:solidFill>
                  <a:schemeClr val="tx2"/>
                </a:solidFill>
                <a:ea typeface="+mj-ea"/>
                <a:cs typeface="Arial" pitchFamily="34" charset="0"/>
              </a:rPr>
              <a:t>2. Các dạng chuẩn</a:t>
            </a:r>
          </a:p>
          <a:p>
            <a:pPr marL="0" lvl="1"/>
            <a:r>
              <a:rPr lang="en-US" sz="1600" b="1">
                <a:solidFill>
                  <a:schemeClr val="accent6">
                    <a:lumMod val="75000"/>
                  </a:schemeClr>
                </a:solidFill>
                <a:ea typeface="+mj-ea"/>
                <a:cs typeface="Arial" pitchFamily="34" charset="0"/>
              </a:rPr>
              <a:t>3. Chuẩn hóa quan hệ</a:t>
            </a:r>
          </a:p>
        </p:txBody>
      </p:sp>
      <p:graphicFrame>
        <p:nvGraphicFramePr>
          <p:cNvPr id="8" name="Table 7"/>
          <p:cNvGraphicFramePr>
            <a:graphicFrameLocks noGrp="1"/>
          </p:cNvGraphicFramePr>
          <p:nvPr>
            <p:extLst>
              <p:ext uri="{D42A27DB-BD31-4B8C-83A1-F6EECF244321}">
                <p14:modId xmlns:p14="http://schemas.microsoft.com/office/powerpoint/2010/main" val="2252116860"/>
              </p:ext>
            </p:extLst>
          </p:nvPr>
        </p:nvGraphicFramePr>
        <p:xfrm>
          <a:off x="390972" y="4653136"/>
          <a:ext cx="4104455" cy="1440160"/>
        </p:xfrm>
        <a:graphic>
          <a:graphicData uri="http://schemas.openxmlformats.org/drawingml/2006/table">
            <a:tbl>
              <a:tblPr firstRow="1" firstCol="1" bandRow="1">
                <a:tableStyleId>{5C22544A-7EE6-4342-B048-85BDC9FD1C3A}</a:tableStyleId>
              </a:tblPr>
              <a:tblGrid>
                <a:gridCol w="846951">
                  <a:extLst>
                    <a:ext uri="{9D8B030D-6E8A-4147-A177-3AD203B41FA5}">
                      <a16:colId xmlns:a16="http://schemas.microsoft.com/office/drawing/2014/main" val="20000"/>
                    </a:ext>
                  </a:extLst>
                </a:gridCol>
                <a:gridCol w="1457304">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tblGrid>
              <a:tr h="360040">
                <a:tc>
                  <a:txBody>
                    <a:bodyPr/>
                    <a:lstStyle/>
                    <a:p>
                      <a:pPr algn="ctr">
                        <a:lnSpc>
                          <a:spcPct val="115000"/>
                        </a:lnSpc>
                        <a:spcAft>
                          <a:spcPts val="600"/>
                        </a:spcAft>
                      </a:pPr>
                      <a:r>
                        <a:rPr lang="en-US" sz="1800" u="sng">
                          <a:effectLst/>
                        </a:rPr>
                        <a:t>MaNV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TenNV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Ngoaingu</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360040">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 Phap, Nhat</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360040">
                <a:tc>
                  <a:txBody>
                    <a:bodyPr/>
                    <a:lstStyle/>
                    <a:p>
                      <a:pPr>
                        <a:lnSpc>
                          <a:spcPct val="115000"/>
                        </a:lnSpc>
                        <a:spcAft>
                          <a:spcPts val="600"/>
                        </a:spcAft>
                      </a:pPr>
                      <a:r>
                        <a:rPr lang="en-US" sz="1800">
                          <a:effectLst/>
                        </a:rPr>
                        <a:t>4</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Tùng Chi</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360040">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Trấn Thành</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Anh</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25198104"/>
              </p:ext>
            </p:extLst>
          </p:nvPr>
        </p:nvGraphicFramePr>
        <p:xfrm>
          <a:off x="5359524" y="3573016"/>
          <a:ext cx="3528392" cy="1146997"/>
        </p:xfrm>
        <a:graphic>
          <a:graphicData uri="http://schemas.openxmlformats.org/drawingml/2006/table">
            <a:tbl>
              <a:tblPr firstRow="1" firstCol="1" bandRow="1">
                <a:tableStyleId>{5C22544A-7EE6-4342-B048-85BDC9FD1C3A}</a:tableStyleId>
              </a:tblPr>
              <a:tblGrid>
                <a:gridCol w="1553129">
                  <a:extLst>
                    <a:ext uri="{9D8B030D-6E8A-4147-A177-3AD203B41FA5}">
                      <a16:colId xmlns:a16="http://schemas.microsoft.com/office/drawing/2014/main" val="20000"/>
                    </a:ext>
                  </a:extLst>
                </a:gridCol>
                <a:gridCol w="1975263">
                  <a:extLst>
                    <a:ext uri="{9D8B030D-6E8A-4147-A177-3AD203B41FA5}">
                      <a16:colId xmlns:a16="http://schemas.microsoft.com/office/drawing/2014/main" val="20001"/>
                    </a:ext>
                  </a:extLst>
                </a:gridCol>
              </a:tblGrid>
              <a:tr h="360040">
                <a:tc>
                  <a:txBody>
                    <a:bodyPr/>
                    <a:lstStyle/>
                    <a:p>
                      <a:pPr algn="ctr">
                        <a:lnSpc>
                          <a:spcPct val="115000"/>
                        </a:lnSpc>
                        <a:spcAft>
                          <a:spcPts val="600"/>
                        </a:spcAft>
                      </a:pPr>
                      <a:r>
                        <a:rPr lang="en-US" sz="1600" u="sng">
                          <a:effectLst/>
                        </a:rPr>
                        <a:t>MaNV</a:t>
                      </a:r>
                      <a:endParaRPr lang="vi-VN" sz="1600">
                        <a:effectLst/>
                        <a:latin typeface="Arial"/>
                        <a:ea typeface="Arial"/>
                        <a:cs typeface="Times New Roman"/>
                      </a:endParaRPr>
                    </a:p>
                  </a:txBody>
                  <a:tcPr marL="68580" marR="68580" marT="0" marB="0"/>
                </a:tc>
                <a:tc>
                  <a:txBody>
                    <a:bodyPr/>
                    <a:lstStyle/>
                    <a:p>
                      <a:pPr algn="ctr">
                        <a:lnSpc>
                          <a:spcPct val="115000"/>
                        </a:lnSpc>
                        <a:spcAft>
                          <a:spcPts val="1200"/>
                        </a:spcAft>
                      </a:pPr>
                      <a:r>
                        <a:rPr lang="en-US" sz="1600">
                          <a:effectLst/>
                        </a:rPr>
                        <a:t>TenNV</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0">
                <a:tc>
                  <a:txBody>
                    <a:bodyPr/>
                    <a:lstStyle/>
                    <a:p>
                      <a:pPr>
                        <a:lnSpc>
                          <a:spcPct val="115000"/>
                        </a:lnSpc>
                        <a:spcAft>
                          <a:spcPts val="600"/>
                        </a:spcAft>
                      </a:pPr>
                      <a:r>
                        <a:rPr lang="en-US" sz="1600">
                          <a:effectLst/>
                        </a:rPr>
                        <a:t>5</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Phương Thúy</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0">
                <a:tc>
                  <a:txBody>
                    <a:bodyPr/>
                    <a:lstStyle/>
                    <a:p>
                      <a:pPr>
                        <a:lnSpc>
                          <a:spcPct val="115000"/>
                        </a:lnSpc>
                        <a:spcAft>
                          <a:spcPts val="600"/>
                        </a:spcAft>
                      </a:pPr>
                      <a:r>
                        <a:rPr lang="en-US" sz="1600">
                          <a:effectLst/>
                        </a:rPr>
                        <a:t>4</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Tùng Chi</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0">
                <a:tc>
                  <a:txBody>
                    <a:bodyPr/>
                    <a:lstStyle/>
                    <a:p>
                      <a:pPr>
                        <a:lnSpc>
                          <a:spcPct val="115000"/>
                        </a:lnSpc>
                        <a:spcAft>
                          <a:spcPts val="600"/>
                        </a:spcAft>
                      </a:pPr>
                      <a:r>
                        <a:rPr lang="en-US" sz="1600">
                          <a:effectLst/>
                        </a:rPr>
                        <a:t>1</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Trấn Thành</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188268842"/>
              </p:ext>
            </p:extLst>
          </p:nvPr>
        </p:nvGraphicFramePr>
        <p:xfrm>
          <a:off x="5359524" y="5085184"/>
          <a:ext cx="3528392" cy="1671635"/>
        </p:xfrm>
        <a:graphic>
          <a:graphicData uri="http://schemas.openxmlformats.org/drawingml/2006/table">
            <a:tbl>
              <a:tblPr firstRow="1" firstCol="1" bandRow="1">
                <a:tableStyleId>{5C22544A-7EE6-4342-B048-85BDC9FD1C3A}</a:tableStyleId>
              </a:tblPr>
              <a:tblGrid>
                <a:gridCol w="1553130">
                  <a:extLst>
                    <a:ext uri="{9D8B030D-6E8A-4147-A177-3AD203B41FA5}">
                      <a16:colId xmlns:a16="http://schemas.microsoft.com/office/drawing/2014/main" val="20000"/>
                    </a:ext>
                  </a:extLst>
                </a:gridCol>
                <a:gridCol w="1975262">
                  <a:extLst>
                    <a:ext uri="{9D8B030D-6E8A-4147-A177-3AD203B41FA5}">
                      <a16:colId xmlns:a16="http://schemas.microsoft.com/office/drawing/2014/main" val="20001"/>
                    </a:ext>
                  </a:extLst>
                </a:gridCol>
              </a:tblGrid>
              <a:tr h="360040">
                <a:tc>
                  <a:txBody>
                    <a:bodyPr/>
                    <a:lstStyle/>
                    <a:p>
                      <a:pPr algn="ctr">
                        <a:lnSpc>
                          <a:spcPct val="115000"/>
                        </a:lnSpc>
                        <a:spcAft>
                          <a:spcPts val="600"/>
                        </a:spcAft>
                      </a:pPr>
                      <a:r>
                        <a:rPr lang="en-US" sz="1600" u="sng">
                          <a:effectLst/>
                        </a:rPr>
                        <a:t>MaNV</a:t>
                      </a:r>
                      <a:endParaRPr lang="vi-VN" sz="16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600" u="sng">
                          <a:effectLst/>
                        </a:rPr>
                        <a:t>Ngoaingu</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0">
                <a:tc>
                  <a:txBody>
                    <a:bodyPr/>
                    <a:lstStyle/>
                    <a:p>
                      <a:pPr>
                        <a:lnSpc>
                          <a:spcPct val="115000"/>
                        </a:lnSpc>
                        <a:spcAft>
                          <a:spcPts val="600"/>
                        </a:spcAft>
                      </a:pPr>
                      <a:r>
                        <a:rPr lang="en-US" sz="1600">
                          <a:effectLst/>
                        </a:rPr>
                        <a:t>5</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Anh</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0">
                <a:tc>
                  <a:txBody>
                    <a:bodyPr/>
                    <a:lstStyle/>
                    <a:p>
                      <a:pPr>
                        <a:lnSpc>
                          <a:spcPct val="115000"/>
                        </a:lnSpc>
                        <a:spcAft>
                          <a:spcPts val="600"/>
                        </a:spcAft>
                      </a:pPr>
                      <a:r>
                        <a:rPr lang="en-US" sz="1600">
                          <a:effectLst/>
                        </a:rPr>
                        <a:t>5</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Phap</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0">
                <a:tc>
                  <a:txBody>
                    <a:bodyPr/>
                    <a:lstStyle/>
                    <a:p>
                      <a:pPr>
                        <a:lnSpc>
                          <a:spcPct val="115000"/>
                        </a:lnSpc>
                        <a:spcAft>
                          <a:spcPts val="600"/>
                        </a:spcAft>
                      </a:pPr>
                      <a:r>
                        <a:rPr lang="en-US" sz="1600">
                          <a:effectLst/>
                        </a:rPr>
                        <a:t>5</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Nhat</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r h="0">
                <a:tc>
                  <a:txBody>
                    <a:bodyPr/>
                    <a:lstStyle/>
                    <a:p>
                      <a:pPr>
                        <a:lnSpc>
                          <a:spcPct val="115000"/>
                        </a:lnSpc>
                        <a:spcAft>
                          <a:spcPts val="600"/>
                        </a:spcAft>
                      </a:pPr>
                      <a:r>
                        <a:rPr lang="en-US" sz="1600">
                          <a:effectLst/>
                        </a:rPr>
                        <a:t>4</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Anh</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4"/>
                  </a:ext>
                </a:extLst>
              </a:tr>
              <a:tr h="0">
                <a:tc>
                  <a:txBody>
                    <a:bodyPr/>
                    <a:lstStyle/>
                    <a:p>
                      <a:pPr>
                        <a:lnSpc>
                          <a:spcPct val="115000"/>
                        </a:lnSpc>
                        <a:spcAft>
                          <a:spcPts val="600"/>
                        </a:spcAft>
                      </a:pPr>
                      <a:r>
                        <a:rPr lang="en-US" sz="1600">
                          <a:effectLst/>
                        </a:rPr>
                        <a:t>1</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Anh</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5"/>
                  </a:ext>
                </a:extLst>
              </a:tr>
            </a:tbl>
          </a:graphicData>
        </a:graphic>
      </p:graphicFrame>
      <p:cxnSp>
        <p:nvCxnSpPr>
          <p:cNvPr id="11" name="Straight Arrow Connector 10"/>
          <p:cNvCxnSpPr>
            <a:endCxn id="6" idx="1"/>
          </p:cNvCxnSpPr>
          <p:nvPr/>
        </p:nvCxnSpPr>
        <p:spPr>
          <a:xfrm flipV="1">
            <a:off x="4495428" y="4146514"/>
            <a:ext cx="864096" cy="12267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495428" y="5373216"/>
            <a:ext cx="864096" cy="72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0574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vi-VN" sz="2000" i="1">
                <a:solidFill>
                  <a:schemeClr val="accent2">
                    <a:lumMod val="50000"/>
                  </a:schemeClr>
                </a:solidFill>
                <a:latin typeface="Calibri" pitchFamily="34" charset="0"/>
                <a:cs typeface="Calibri" pitchFamily="34" charset="0"/>
              </a:rPr>
              <a:t>Chuẩn hóa quan hệ không phải là chuẩn 2</a:t>
            </a:r>
            <a:r>
              <a:rPr lang="vi-VN" sz="2000">
                <a:solidFill>
                  <a:schemeClr val="accent2">
                    <a:lumMod val="50000"/>
                  </a:schemeClr>
                </a:solidFill>
                <a:latin typeface="Calibri" pitchFamily="34" charset="0"/>
                <a:cs typeface="Calibri" pitchFamily="34" charset="0"/>
              </a:rPr>
              <a:t>: Khi một quan hệ không phải là chuẩn 2, nghĩa là nó chứa thuộc tính phụ thuộc một phần vào khóa, khi đó ta phân rã thành 2 quan hệ gồm:</a:t>
            </a:r>
          </a:p>
          <a:p>
            <a:pPr marL="1318879" lvl="3" indent="-342900" algn="just">
              <a:spcAft>
                <a:spcPts val="683"/>
              </a:spcAft>
              <a:buClr>
                <a:srgbClr val="FF0066"/>
              </a:buClr>
            </a:pPr>
            <a:r>
              <a:rPr lang="vi-VN" sz="1800">
                <a:solidFill>
                  <a:schemeClr val="accent2">
                    <a:lumMod val="50000"/>
                  </a:schemeClr>
                </a:solidFill>
                <a:latin typeface="Calibri" pitchFamily="34" charset="0"/>
                <a:cs typeface="Calibri" pitchFamily="34" charset="0"/>
              </a:rPr>
              <a:t>Quan hệ 1: Gồm các thuộc tính phụ thuộc một phần vào khóa + phần khóa mà nó phụ thuộc</a:t>
            </a:r>
          </a:p>
          <a:p>
            <a:pPr marL="1318879" lvl="3" indent="-342900" algn="just">
              <a:spcAft>
                <a:spcPts val="683"/>
              </a:spcAft>
              <a:buClr>
                <a:srgbClr val="FF0066"/>
              </a:buClr>
            </a:pPr>
            <a:r>
              <a:rPr lang="vi-VN" sz="1800">
                <a:solidFill>
                  <a:schemeClr val="accent2">
                    <a:lumMod val="50000"/>
                  </a:schemeClr>
                </a:solidFill>
                <a:latin typeface="Calibri" pitchFamily="34" charset="0"/>
                <a:cs typeface="Calibri" pitchFamily="34" charset="0"/>
              </a:rPr>
              <a:t>Quan hệ 2: Các thuộc tính còn lại + toàn bộ khóa.</a:t>
            </a: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14</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dạng chuẩn</a:t>
            </a:r>
          </a:p>
          <a:p>
            <a:pPr marL="0" lvl="1"/>
            <a:r>
              <a:rPr lang="en-US" sz="1600">
                <a:solidFill>
                  <a:schemeClr val="tx2"/>
                </a:solidFill>
                <a:ea typeface="+mj-ea"/>
                <a:cs typeface="Arial" pitchFamily="34" charset="0"/>
              </a:rPr>
              <a:t>2. Các dạng chuẩn</a:t>
            </a:r>
          </a:p>
          <a:p>
            <a:pPr marL="0" lvl="1"/>
            <a:r>
              <a:rPr lang="en-US" sz="1600" b="1">
                <a:solidFill>
                  <a:schemeClr val="accent6">
                    <a:lumMod val="75000"/>
                  </a:schemeClr>
                </a:solidFill>
                <a:ea typeface="+mj-ea"/>
                <a:cs typeface="Arial" pitchFamily="34" charset="0"/>
              </a:rPr>
              <a:t>3. Chuẩn hóa quan hệ</a:t>
            </a:r>
          </a:p>
        </p:txBody>
      </p:sp>
      <p:graphicFrame>
        <p:nvGraphicFramePr>
          <p:cNvPr id="8" name="Table 7"/>
          <p:cNvGraphicFramePr>
            <a:graphicFrameLocks noGrp="1"/>
          </p:cNvGraphicFramePr>
          <p:nvPr>
            <p:extLst>
              <p:ext uri="{D42A27DB-BD31-4B8C-83A1-F6EECF244321}">
                <p14:modId xmlns:p14="http://schemas.microsoft.com/office/powerpoint/2010/main" val="3122031512"/>
              </p:ext>
            </p:extLst>
          </p:nvPr>
        </p:nvGraphicFramePr>
        <p:xfrm>
          <a:off x="462980" y="3717032"/>
          <a:ext cx="4162963" cy="2626840"/>
        </p:xfrm>
        <a:graphic>
          <a:graphicData uri="http://schemas.openxmlformats.org/drawingml/2006/table">
            <a:tbl>
              <a:tblPr firstRow="1" firstCol="1" bandRow="1">
                <a:tableStyleId>{5C22544A-7EE6-4342-B048-85BDC9FD1C3A}</a:tableStyleId>
              </a:tblPr>
              <a:tblGrid>
                <a:gridCol w="743387">
                  <a:extLst>
                    <a:ext uri="{9D8B030D-6E8A-4147-A177-3AD203B41FA5}">
                      <a16:colId xmlns:a16="http://schemas.microsoft.com/office/drawing/2014/main" val="20000"/>
                    </a:ext>
                  </a:extLst>
                </a:gridCol>
                <a:gridCol w="892064">
                  <a:extLst>
                    <a:ext uri="{9D8B030D-6E8A-4147-A177-3AD203B41FA5}">
                      <a16:colId xmlns:a16="http://schemas.microsoft.com/office/drawing/2014/main" val="20001"/>
                    </a:ext>
                  </a:extLst>
                </a:gridCol>
                <a:gridCol w="1561111">
                  <a:extLst>
                    <a:ext uri="{9D8B030D-6E8A-4147-A177-3AD203B41FA5}">
                      <a16:colId xmlns:a16="http://schemas.microsoft.com/office/drawing/2014/main" val="20002"/>
                    </a:ext>
                  </a:extLst>
                </a:gridCol>
                <a:gridCol w="966401">
                  <a:extLst>
                    <a:ext uri="{9D8B030D-6E8A-4147-A177-3AD203B41FA5}">
                      <a16:colId xmlns:a16="http://schemas.microsoft.com/office/drawing/2014/main" val="20003"/>
                    </a:ext>
                  </a:extLst>
                </a:gridCol>
              </a:tblGrid>
              <a:tr h="504056">
                <a:tc>
                  <a:txBody>
                    <a:bodyPr/>
                    <a:lstStyle/>
                    <a:p>
                      <a:pPr algn="ctr">
                        <a:lnSpc>
                          <a:spcPct val="115000"/>
                        </a:lnSpc>
                        <a:spcAft>
                          <a:spcPts val="600"/>
                        </a:spcAft>
                      </a:pPr>
                      <a:r>
                        <a:rPr lang="en-US" sz="1800" u="sng">
                          <a:effectLst/>
                        </a:rPr>
                        <a:t>MaDT</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u="sng">
                          <a:effectLst/>
                        </a:rPr>
                        <a:t>MaNV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TenNV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ThoigianDT</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504056">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1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504056">
                <a:tc>
                  <a:txBody>
                    <a:bodyPr/>
                    <a:lstStyle/>
                    <a:p>
                      <a:pPr>
                        <a:lnSpc>
                          <a:spcPct val="115000"/>
                        </a:lnSpc>
                        <a:spcAft>
                          <a:spcPts val="600"/>
                        </a:spcAft>
                      </a:pPr>
                      <a:r>
                        <a:rPr lang="en-US" sz="1800">
                          <a:effectLst/>
                        </a:rPr>
                        <a:t>2</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3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504056">
                <a:tc>
                  <a:txBody>
                    <a:bodyPr/>
                    <a:lstStyle/>
                    <a:p>
                      <a:pPr>
                        <a:lnSpc>
                          <a:spcPct val="115000"/>
                        </a:lnSpc>
                        <a:spcAft>
                          <a:spcPts val="600"/>
                        </a:spcAft>
                      </a:pPr>
                      <a:r>
                        <a:rPr lang="en-US" sz="1800">
                          <a:effectLst/>
                        </a:rPr>
                        <a:t>3</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4</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Tùng Chi</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2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r h="504056">
                <a:tc>
                  <a:txBody>
                    <a:bodyPr/>
                    <a:lstStyle/>
                    <a:p>
                      <a:pPr>
                        <a:lnSpc>
                          <a:spcPct val="115000"/>
                        </a:lnSpc>
                        <a:spcAft>
                          <a:spcPts val="600"/>
                        </a:spcAft>
                      </a:pPr>
                      <a:r>
                        <a:rPr lang="en-US" sz="1800">
                          <a:effectLst/>
                        </a:rPr>
                        <a:t>2</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Trấn Thành</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4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4"/>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787585631"/>
              </p:ext>
            </p:extLst>
          </p:nvPr>
        </p:nvGraphicFramePr>
        <p:xfrm>
          <a:off x="5719564" y="3429000"/>
          <a:ext cx="3528392" cy="1146997"/>
        </p:xfrm>
        <a:graphic>
          <a:graphicData uri="http://schemas.openxmlformats.org/drawingml/2006/table">
            <a:tbl>
              <a:tblPr firstRow="1" firstCol="1" bandRow="1">
                <a:tableStyleId>{5C22544A-7EE6-4342-B048-85BDC9FD1C3A}</a:tableStyleId>
              </a:tblPr>
              <a:tblGrid>
                <a:gridCol w="1553129">
                  <a:extLst>
                    <a:ext uri="{9D8B030D-6E8A-4147-A177-3AD203B41FA5}">
                      <a16:colId xmlns:a16="http://schemas.microsoft.com/office/drawing/2014/main" val="20000"/>
                    </a:ext>
                  </a:extLst>
                </a:gridCol>
                <a:gridCol w="1975263">
                  <a:extLst>
                    <a:ext uri="{9D8B030D-6E8A-4147-A177-3AD203B41FA5}">
                      <a16:colId xmlns:a16="http://schemas.microsoft.com/office/drawing/2014/main" val="20001"/>
                    </a:ext>
                  </a:extLst>
                </a:gridCol>
              </a:tblGrid>
              <a:tr h="360040">
                <a:tc>
                  <a:txBody>
                    <a:bodyPr/>
                    <a:lstStyle/>
                    <a:p>
                      <a:pPr algn="ctr">
                        <a:lnSpc>
                          <a:spcPct val="115000"/>
                        </a:lnSpc>
                        <a:spcAft>
                          <a:spcPts val="600"/>
                        </a:spcAft>
                      </a:pPr>
                      <a:r>
                        <a:rPr lang="en-US" sz="1600" u="sng">
                          <a:effectLst/>
                        </a:rPr>
                        <a:t>MaNV</a:t>
                      </a:r>
                      <a:endParaRPr lang="vi-VN" sz="1600">
                        <a:effectLst/>
                        <a:latin typeface="Arial"/>
                        <a:ea typeface="Arial"/>
                        <a:cs typeface="Times New Roman"/>
                      </a:endParaRPr>
                    </a:p>
                  </a:txBody>
                  <a:tcPr marL="68580" marR="68580" marT="0" marB="0"/>
                </a:tc>
                <a:tc>
                  <a:txBody>
                    <a:bodyPr/>
                    <a:lstStyle/>
                    <a:p>
                      <a:pPr algn="ctr">
                        <a:lnSpc>
                          <a:spcPct val="115000"/>
                        </a:lnSpc>
                        <a:spcAft>
                          <a:spcPts val="1200"/>
                        </a:spcAft>
                      </a:pPr>
                      <a:r>
                        <a:rPr lang="en-US" sz="1600">
                          <a:effectLst/>
                        </a:rPr>
                        <a:t>TenNV</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0">
                <a:tc>
                  <a:txBody>
                    <a:bodyPr/>
                    <a:lstStyle/>
                    <a:p>
                      <a:pPr>
                        <a:lnSpc>
                          <a:spcPct val="115000"/>
                        </a:lnSpc>
                        <a:spcAft>
                          <a:spcPts val="600"/>
                        </a:spcAft>
                      </a:pPr>
                      <a:r>
                        <a:rPr lang="en-US" sz="1600">
                          <a:effectLst/>
                        </a:rPr>
                        <a:t>5</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Phương Thúy</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0">
                <a:tc>
                  <a:txBody>
                    <a:bodyPr/>
                    <a:lstStyle/>
                    <a:p>
                      <a:pPr>
                        <a:lnSpc>
                          <a:spcPct val="115000"/>
                        </a:lnSpc>
                        <a:spcAft>
                          <a:spcPts val="600"/>
                        </a:spcAft>
                      </a:pPr>
                      <a:r>
                        <a:rPr lang="en-US" sz="1600">
                          <a:effectLst/>
                        </a:rPr>
                        <a:t>4</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Tùng Chi</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0">
                <a:tc>
                  <a:txBody>
                    <a:bodyPr/>
                    <a:lstStyle/>
                    <a:p>
                      <a:pPr>
                        <a:lnSpc>
                          <a:spcPct val="115000"/>
                        </a:lnSpc>
                        <a:spcAft>
                          <a:spcPts val="600"/>
                        </a:spcAft>
                      </a:pPr>
                      <a:r>
                        <a:rPr lang="en-US" sz="1600">
                          <a:effectLst/>
                        </a:rPr>
                        <a:t>1</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Trấn Thành</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399643412"/>
              </p:ext>
            </p:extLst>
          </p:nvPr>
        </p:nvGraphicFramePr>
        <p:xfrm>
          <a:off x="5719564" y="4869160"/>
          <a:ext cx="3528392" cy="1728192"/>
        </p:xfrm>
        <a:graphic>
          <a:graphicData uri="http://schemas.openxmlformats.org/drawingml/2006/table">
            <a:tbl>
              <a:tblPr firstRow="1" firstCol="1" bandRow="1">
                <a:tableStyleId>{5C22544A-7EE6-4342-B048-85BDC9FD1C3A}</a:tableStyleId>
              </a:tblPr>
              <a:tblGrid>
                <a:gridCol w="1008113">
                  <a:extLst>
                    <a:ext uri="{9D8B030D-6E8A-4147-A177-3AD203B41FA5}">
                      <a16:colId xmlns:a16="http://schemas.microsoft.com/office/drawing/2014/main" val="20000"/>
                    </a:ext>
                  </a:extLst>
                </a:gridCol>
                <a:gridCol w="1209735">
                  <a:extLst>
                    <a:ext uri="{9D8B030D-6E8A-4147-A177-3AD203B41FA5}">
                      <a16:colId xmlns:a16="http://schemas.microsoft.com/office/drawing/2014/main" val="20001"/>
                    </a:ext>
                  </a:extLst>
                </a:gridCol>
                <a:gridCol w="1310544">
                  <a:extLst>
                    <a:ext uri="{9D8B030D-6E8A-4147-A177-3AD203B41FA5}">
                      <a16:colId xmlns:a16="http://schemas.microsoft.com/office/drawing/2014/main" val="20002"/>
                    </a:ext>
                  </a:extLst>
                </a:gridCol>
              </a:tblGrid>
              <a:tr h="504056">
                <a:tc>
                  <a:txBody>
                    <a:bodyPr/>
                    <a:lstStyle/>
                    <a:p>
                      <a:pPr algn="ctr">
                        <a:lnSpc>
                          <a:spcPct val="115000"/>
                        </a:lnSpc>
                        <a:spcAft>
                          <a:spcPts val="600"/>
                        </a:spcAft>
                      </a:pPr>
                      <a:r>
                        <a:rPr lang="en-US" sz="1800" u="sng">
                          <a:effectLst/>
                        </a:rPr>
                        <a:t>MaDT</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u="sng">
                          <a:effectLst/>
                        </a:rPr>
                        <a:t>MaNV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ThoigianDT</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360040">
                <a:tc>
                  <a:txBody>
                    <a:bodyPr/>
                    <a:lstStyle/>
                    <a:p>
                      <a:pPr>
                        <a:lnSpc>
                          <a:spcPct val="100000"/>
                        </a:lnSpc>
                        <a:spcAft>
                          <a:spcPts val="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00000"/>
                        </a:lnSpc>
                        <a:spcAft>
                          <a:spcPts val="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00000"/>
                        </a:lnSpc>
                        <a:spcAft>
                          <a:spcPts val="0"/>
                        </a:spcAft>
                      </a:pPr>
                      <a:r>
                        <a:rPr lang="en-US" sz="1800">
                          <a:effectLst/>
                        </a:rPr>
                        <a:t>1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288032">
                <a:tc>
                  <a:txBody>
                    <a:bodyPr/>
                    <a:lstStyle/>
                    <a:p>
                      <a:pPr>
                        <a:lnSpc>
                          <a:spcPct val="100000"/>
                        </a:lnSpc>
                        <a:spcAft>
                          <a:spcPts val="0"/>
                        </a:spcAft>
                      </a:pPr>
                      <a:r>
                        <a:rPr lang="en-US" sz="1800">
                          <a:effectLst/>
                        </a:rPr>
                        <a:t>2</a:t>
                      </a:r>
                      <a:endParaRPr lang="vi-VN" sz="1800">
                        <a:effectLst/>
                        <a:latin typeface="Arial"/>
                        <a:ea typeface="Arial"/>
                        <a:cs typeface="Times New Roman"/>
                      </a:endParaRPr>
                    </a:p>
                  </a:txBody>
                  <a:tcPr marL="68580" marR="68580" marT="0" marB="0"/>
                </a:tc>
                <a:tc>
                  <a:txBody>
                    <a:bodyPr/>
                    <a:lstStyle/>
                    <a:p>
                      <a:pPr>
                        <a:lnSpc>
                          <a:spcPct val="100000"/>
                        </a:lnSpc>
                        <a:spcAft>
                          <a:spcPts val="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00000"/>
                        </a:lnSpc>
                        <a:spcAft>
                          <a:spcPts val="0"/>
                        </a:spcAft>
                      </a:pPr>
                      <a:r>
                        <a:rPr lang="en-US" sz="1800">
                          <a:effectLst/>
                        </a:rPr>
                        <a:t>3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288032">
                <a:tc>
                  <a:txBody>
                    <a:bodyPr/>
                    <a:lstStyle/>
                    <a:p>
                      <a:pPr>
                        <a:lnSpc>
                          <a:spcPct val="100000"/>
                        </a:lnSpc>
                        <a:spcAft>
                          <a:spcPts val="0"/>
                        </a:spcAft>
                      </a:pPr>
                      <a:r>
                        <a:rPr lang="en-US" sz="1800">
                          <a:effectLst/>
                        </a:rPr>
                        <a:t>3</a:t>
                      </a:r>
                      <a:endParaRPr lang="vi-VN" sz="1800">
                        <a:effectLst/>
                        <a:latin typeface="Arial"/>
                        <a:ea typeface="Arial"/>
                        <a:cs typeface="Times New Roman"/>
                      </a:endParaRPr>
                    </a:p>
                  </a:txBody>
                  <a:tcPr marL="68580" marR="68580" marT="0" marB="0"/>
                </a:tc>
                <a:tc>
                  <a:txBody>
                    <a:bodyPr/>
                    <a:lstStyle/>
                    <a:p>
                      <a:pPr>
                        <a:lnSpc>
                          <a:spcPct val="100000"/>
                        </a:lnSpc>
                        <a:spcAft>
                          <a:spcPts val="0"/>
                        </a:spcAft>
                      </a:pPr>
                      <a:r>
                        <a:rPr lang="en-US" sz="1800">
                          <a:effectLst/>
                        </a:rPr>
                        <a:t>4</a:t>
                      </a:r>
                      <a:endParaRPr lang="vi-VN" sz="1800">
                        <a:effectLst/>
                        <a:latin typeface="Arial"/>
                        <a:ea typeface="Arial"/>
                        <a:cs typeface="Times New Roman"/>
                      </a:endParaRPr>
                    </a:p>
                  </a:txBody>
                  <a:tcPr marL="68580" marR="68580" marT="0" marB="0"/>
                </a:tc>
                <a:tc>
                  <a:txBody>
                    <a:bodyPr/>
                    <a:lstStyle/>
                    <a:p>
                      <a:pPr>
                        <a:lnSpc>
                          <a:spcPct val="100000"/>
                        </a:lnSpc>
                        <a:spcAft>
                          <a:spcPts val="0"/>
                        </a:spcAft>
                      </a:pPr>
                      <a:r>
                        <a:rPr lang="en-US" sz="1800">
                          <a:effectLst/>
                        </a:rPr>
                        <a:t>2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r h="288032">
                <a:tc>
                  <a:txBody>
                    <a:bodyPr/>
                    <a:lstStyle/>
                    <a:p>
                      <a:pPr>
                        <a:lnSpc>
                          <a:spcPct val="100000"/>
                        </a:lnSpc>
                        <a:spcAft>
                          <a:spcPts val="0"/>
                        </a:spcAft>
                      </a:pPr>
                      <a:r>
                        <a:rPr lang="en-US" sz="1800">
                          <a:effectLst/>
                        </a:rPr>
                        <a:t>2</a:t>
                      </a:r>
                      <a:endParaRPr lang="vi-VN" sz="1800">
                        <a:effectLst/>
                        <a:latin typeface="Arial"/>
                        <a:ea typeface="Arial"/>
                        <a:cs typeface="Times New Roman"/>
                      </a:endParaRPr>
                    </a:p>
                  </a:txBody>
                  <a:tcPr marL="68580" marR="68580" marT="0" marB="0"/>
                </a:tc>
                <a:tc>
                  <a:txBody>
                    <a:bodyPr/>
                    <a:lstStyle/>
                    <a:p>
                      <a:pPr>
                        <a:lnSpc>
                          <a:spcPct val="100000"/>
                        </a:lnSpc>
                        <a:spcAft>
                          <a:spcPts val="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00000"/>
                        </a:lnSpc>
                        <a:spcAft>
                          <a:spcPts val="0"/>
                        </a:spcAft>
                      </a:pPr>
                      <a:r>
                        <a:rPr lang="en-US" sz="1800">
                          <a:effectLst/>
                        </a:rPr>
                        <a:t>4 năm</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4"/>
                  </a:ext>
                </a:extLst>
              </a:tr>
            </a:tbl>
          </a:graphicData>
        </a:graphic>
      </p:graphicFrame>
      <p:cxnSp>
        <p:nvCxnSpPr>
          <p:cNvPr id="11" name="Straight Arrow Connector 10"/>
          <p:cNvCxnSpPr/>
          <p:nvPr/>
        </p:nvCxnSpPr>
        <p:spPr>
          <a:xfrm flipV="1">
            <a:off x="4639444" y="4149080"/>
            <a:ext cx="1080120" cy="9361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639444" y="5085184"/>
            <a:ext cx="1080120"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909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vi-VN" sz="2000" i="1">
                <a:solidFill>
                  <a:schemeClr val="accent2">
                    <a:lumMod val="50000"/>
                  </a:schemeClr>
                </a:solidFill>
                <a:latin typeface="Calibri" pitchFamily="34" charset="0"/>
                <a:cs typeface="Calibri" pitchFamily="34" charset="0"/>
              </a:rPr>
              <a:t>Chuẩn hóa quan hệ không phải là chuẩn 3</a:t>
            </a:r>
            <a:r>
              <a:rPr lang="vi-VN" sz="2000">
                <a:solidFill>
                  <a:schemeClr val="accent2">
                    <a:lumMod val="50000"/>
                  </a:schemeClr>
                </a:solidFill>
                <a:latin typeface="Calibri" pitchFamily="34" charset="0"/>
                <a:cs typeface="Calibri" pitchFamily="34" charset="0"/>
              </a:rPr>
              <a:t>: Khi một quan hệ không phải là chuẩn 3, nghĩa là nó chứa thuộc tính phụ thuộc bắc cầu vào khóa, khi đó ta phân rã thành 2 quan hệ gồm:</a:t>
            </a:r>
          </a:p>
          <a:p>
            <a:pPr marL="1318879" lvl="3" indent="-342900" algn="just">
              <a:spcAft>
                <a:spcPts val="683"/>
              </a:spcAft>
              <a:buClr>
                <a:srgbClr val="FF0066"/>
              </a:buClr>
            </a:pPr>
            <a:r>
              <a:rPr lang="vi-VN" sz="1800">
                <a:solidFill>
                  <a:schemeClr val="accent2">
                    <a:lumMod val="50000"/>
                  </a:schemeClr>
                </a:solidFill>
                <a:latin typeface="Calibri" pitchFamily="34" charset="0"/>
                <a:cs typeface="Calibri" pitchFamily="34" charset="0"/>
              </a:rPr>
              <a:t>Quan hệ 1: Gồm các thuộc tính phụ thuộc bắc cầu+ thuộc tính cầu</a:t>
            </a:r>
          </a:p>
          <a:p>
            <a:pPr marL="1318879" lvl="3" indent="-342900" algn="just">
              <a:spcAft>
                <a:spcPts val="683"/>
              </a:spcAft>
              <a:buClr>
                <a:srgbClr val="FF0066"/>
              </a:buClr>
            </a:pPr>
            <a:r>
              <a:rPr lang="vi-VN" sz="1800">
                <a:solidFill>
                  <a:schemeClr val="accent2">
                    <a:lumMod val="50000"/>
                  </a:schemeClr>
                </a:solidFill>
                <a:latin typeface="Calibri" pitchFamily="34" charset="0"/>
                <a:cs typeface="Calibri" pitchFamily="34" charset="0"/>
              </a:rPr>
              <a:t>Quan hệ 2: Các thuộc tính còn lại + thuộc tính cầu.</a:t>
            </a:r>
          </a:p>
          <a:p>
            <a:pPr marL="0" lvl="1" indent="0" algn="just">
              <a:spcAft>
                <a:spcPts val="683"/>
              </a:spcAft>
              <a:buClr>
                <a:srgbClr val="FF0066"/>
              </a:buClr>
              <a:buNone/>
            </a:pPr>
            <a:r>
              <a:rPr lang="en-US" sz="2000">
                <a:solidFill>
                  <a:schemeClr val="accent2">
                    <a:lumMod val="50000"/>
                  </a:schemeClr>
                </a:solidFill>
                <a:latin typeface="Calibri" pitchFamily="34" charset="0"/>
                <a:cs typeface="Calibri" pitchFamily="34" charset="0"/>
              </a:rPr>
              <a:t>					</a:t>
            </a: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15</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dạng chuẩn</a:t>
            </a:r>
          </a:p>
          <a:p>
            <a:pPr marL="0" lvl="1"/>
            <a:r>
              <a:rPr lang="en-US" sz="1600">
                <a:solidFill>
                  <a:schemeClr val="tx2"/>
                </a:solidFill>
                <a:ea typeface="+mj-ea"/>
                <a:cs typeface="Arial" pitchFamily="34" charset="0"/>
              </a:rPr>
              <a:t>2. Các dạng chuẩn</a:t>
            </a:r>
          </a:p>
          <a:p>
            <a:pPr marL="0" lvl="1"/>
            <a:r>
              <a:rPr lang="en-US" sz="1600" b="1">
                <a:solidFill>
                  <a:schemeClr val="accent6">
                    <a:lumMod val="75000"/>
                  </a:schemeClr>
                </a:solidFill>
                <a:ea typeface="+mj-ea"/>
                <a:cs typeface="Arial" pitchFamily="34" charset="0"/>
              </a:rPr>
              <a:t>3. Chuẩn hóa quan hệ</a:t>
            </a:r>
          </a:p>
        </p:txBody>
      </p:sp>
      <p:graphicFrame>
        <p:nvGraphicFramePr>
          <p:cNvPr id="8" name="Table 7"/>
          <p:cNvGraphicFramePr>
            <a:graphicFrameLocks noGrp="1"/>
          </p:cNvGraphicFramePr>
          <p:nvPr>
            <p:extLst>
              <p:ext uri="{D42A27DB-BD31-4B8C-83A1-F6EECF244321}">
                <p14:modId xmlns:p14="http://schemas.microsoft.com/office/powerpoint/2010/main" val="3516829787"/>
              </p:ext>
            </p:extLst>
          </p:nvPr>
        </p:nvGraphicFramePr>
        <p:xfrm>
          <a:off x="174949" y="3429000"/>
          <a:ext cx="4320479" cy="2014772"/>
        </p:xfrm>
        <a:graphic>
          <a:graphicData uri="http://schemas.openxmlformats.org/drawingml/2006/table">
            <a:tbl>
              <a:tblPr firstRow="1" firstCol="1" bandRow="1">
                <a:tableStyleId>{5C22544A-7EE6-4342-B048-85BDC9FD1C3A}</a:tableStyleId>
              </a:tblPr>
              <a:tblGrid>
                <a:gridCol w="708275">
                  <a:extLst>
                    <a:ext uri="{9D8B030D-6E8A-4147-A177-3AD203B41FA5}">
                      <a16:colId xmlns:a16="http://schemas.microsoft.com/office/drawing/2014/main" val="20000"/>
                    </a:ext>
                  </a:extLst>
                </a:gridCol>
                <a:gridCol w="566620">
                  <a:extLst>
                    <a:ext uri="{9D8B030D-6E8A-4147-A177-3AD203B41FA5}">
                      <a16:colId xmlns:a16="http://schemas.microsoft.com/office/drawing/2014/main" val="20001"/>
                    </a:ext>
                  </a:extLst>
                </a:gridCol>
                <a:gridCol w="1416550">
                  <a:extLst>
                    <a:ext uri="{9D8B030D-6E8A-4147-A177-3AD203B41FA5}">
                      <a16:colId xmlns:a16="http://schemas.microsoft.com/office/drawing/2014/main" val="20002"/>
                    </a:ext>
                  </a:extLst>
                </a:gridCol>
                <a:gridCol w="620922">
                  <a:extLst>
                    <a:ext uri="{9D8B030D-6E8A-4147-A177-3AD203B41FA5}">
                      <a16:colId xmlns:a16="http://schemas.microsoft.com/office/drawing/2014/main" val="20003"/>
                    </a:ext>
                  </a:extLst>
                </a:gridCol>
                <a:gridCol w="1008112">
                  <a:extLst>
                    <a:ext uri="{9D8B030D-6E8A-4147-A177-3AD203B41FA5}">
                      <a16:colId xmlns:a16="http://schemas.microsoft.com/office/drawing/2014/main" val="20004"/>
                    </a:ext>
                  </a:extLst>
                </a:gridCol>
              </a:tblGrid>
              <a:tr h="468052">
                <a:tc>
                  <a:txBody>
                    <a:bodyPr/>
                    <a:lstStyle/>
                    <a:p>
                      <a:pPr algn="ctr">
                        <a:lnSpc>
                          <a:spcPct val="115000"/>
                        </a:lnSpc>
                        <a:spcAft>
                          <a:spcPts val="600"/>
                        </a:spcAft>
                      </a:pPr>
                      <a:r>
                        <a:rPr lang="en-US" sz="1800" u="sng">
                          <a:effectLst/>
                        </a:rPr>
                        <a:t>MaKT</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MaNV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TenNV</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LydoKT</a:t>
                      </a:r>
                      <a:endParaRPr lang="vi-VN" sz="18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800">
                          <a:effectLst/>
                        </a:rPr>
                        <a:t>ThoigianKT</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468052">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5</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Phương Thúy</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A</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2014</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468052">
                <a:tc>
                  <a:txBody>
                    <a:bodyPr/>
                    <a:lstStyle/>
                    <a:p>
                      <a:pPr>
                        <a:lnSpc>
                          <a:spcPct val="115000"/>
                        </a:lnSpc>
                        <a:spcAft>
                          <a:spcPts val="600"/>
                        </a:spcAft>
                      </a:pPr>
                      <a:r>
                        <a:rPr lang="en-US" sz="1800">
                          <a:effectLst/>
                        </a:rPr>
                        <a:t>2</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1</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Trấn Thành</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C</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2015</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468052">
                <a:tc>
                  <a:txBody>
                    <a:bodyPr/>
                    <a:lstStyle/>
                    <a:p>
                      <a:pPr>
                        <a:lnSpc>
                          <a:spcPct val="115000"/>
                        </a:lnSpc>
                        <a:spcAft>
                          <a:spcPts val="600"/>
                        </a:spcAft>
                      </a:pPr>
                      <a:r>
                        <a:rPr lang="en-US" sz="1800">
                          <a:effectLst/>
                        </a:rPr>
                        <a:t>3</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4</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Tùng Chi</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B</a:t>
                      </a:r>
                      <a:endParaRPr lang="vi-VN" sz="1800">
                        <a:effectLst/>
                        <a:latin typeface="Arial"/>
                        <a:ea typeface="Arial"/>
                        <a:cs typeface="Times New Roman"/>
                      </a:endParaRPr>
                    </a:p>
                  </a:txBody>
                  <a:tcPr marL="68580" marR="68580" marT="0" marB="0"/>
                </a:tc>
                <a:tc>
                  <a:txBody>
                    <a:bodyPr/>
                    <a:lstStyle/>
                    <a:p>
                      <a:pPr>
                        <a:lnSpc>
                          <a:spcPct val="115000"/>
                        </a:lnSpc>
                        <a:spcAft>
                          <a:spcPts val="600"/>
                        </a:spcAft>
                      </a:pPr>
                      <a:r>
                        <a:rPr lang="en-US" sz="1800">
                          <a:effectLst/>
                        </a:rPr>
                        <a:t>2015</a:t>
                      </a:r>
                      <a:endParaRPr lang="vi-VN" sz="18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066035765"/>
              </p:ext>
            </p:extLst>
          </p:nvPr>
        </p:nvGraphicFramePr>
        <p:xfrm>
          <a:off x="6007596" y="4797152"/>
          <a:ext cx="3744416" cy="1347380"/>
        </p:xfrm>
        <a:graphic>
          <a:graphicData uri="http://schemas.openxmlformats.org/drawingml/2006/table">
            <a:tbl>
              <a:tblPr firstRow="1" firstCol="1" bandRow="1">
                <a:tableStyleId>{5C22544A-7EE6-4342-B048-85BDC9FD1C3A}</a:tableStyleId>
              </a:tblPr>
              <a:tblGrid>
                <a:gridCol w="792088">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tblGrid>
              <a:tr h="468052">
                <a:tc>
                  <a:txBody>
                    <a:bodyPr/>
                    <a:lstStyle/>
                    <a:p>
                      <a:pPr algn="ctr">
                        <a:lnSpc>
                          <a:spcPct val="115000"/>
                        </a:lnSpc>
                        <a:spcAft>
                          <a:spcPts val="600"/>
                        </a:spcAft>
                      </a:pPr>
                      <a:r>
                        <a:rPr lang="en-US" sz="1600" u="sng">
                          <a:effectLst/>
                        </a:rPr>
                        <a:t>MaKT</a:t>
                      </a:r>
                      <a:endParaRPr lang="vi-VN" sz="16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600" u="sng">
                          <a:effectLst/>
                        </a:rPr>
                        <a:t>MaNV</a:t>
                      </a:r>
                      <a:endParaRPr lang="vi-VN" sz="1600" u="sng">
                        <a:effectLst/>
                        <a:latin typeface="Arial"/>
                        <a:ea typeface="Arial"/>
                        <a:cs typeface="Times New Roman"/>
                      </a:endParaRPr>
                    </a:p>
                  </a:txBody>
                  <a:tcPr marL="68580" marR="68580" marT="0" marB="0"/>
                </a:tc>
                <a:tc>
                  <a:txBody>
                    <a:bodyPr/>
                    <a:lstStyle/>
                    <a:p>
                      <a:pPr algn="ctr">
                        <a:lnSpc>
                          <a:spcPct val="115000"/>
                        </a:lnSpc>
                        <a:spcAft>
                          <a:spcPts val="600"/>
                        </a:spcAft>
                      </a:pPr>
                      <a:r>
                        <a:rPr lang="en-US" sz="1600">
                          <a:effectLst/>
                        </a:rPr>
                        <a:t>LydoKT</a:t>
                      </a:r>
                      <a:endParaRPr lang="vi-VN" sz="1600">
                        <a:effectLst/>
                        <a:latin typeface="Arial"/>
                        <a:ea typeface="Arial"/>
                        <a:cs typeface="Times New Roman"/>
                      </a:endParaRPr>
                    </a:p>
                  </a:txBody>
                  <a:tcPr marL="68580" marR="68580" marT="0" marB="0"/>
                </a:tc>
                <a:tc>
                  <a:txBody>
                    <a:bodyPr/>
                    <a:lstStyle/>
                    <a:p>
                      <a:pPr algn="ctr">
                        <a:lnSpc>
                          <a:spcPct val="115000"/>
                        </a:lnSpc>
                        <a:spcAft>
                          <a:spcPts val="600"/>
                        </a:spcAft>
                      </a:pPr>
                      <a:r>
                        <a:rPr lang="en-US" sz="1600">
                          <a:effectLst/>
                        </a:rPr>
                        <a:t>ThoigianKT</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303264">
                <a:tc>
                  <a:txBody>
                    <a:bodyPr/>
                    <a:lstStyle/>
                    <a:p>
                      <a:pPr>
                        <a:lnSpc>
                          <a:spcPct val="115000"/>
                        </a:lnSpc>
                        <a:spcAft>
                          <a:spcPts val="600"/>
                        </a:spcAft>
                      </a:pPr>
                      <a:r>
                        <a:rPr lang="en-US" sz="1600">
                          <a:effectLst/>
                        </a:rPr>
                        <a:t>1</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5</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A</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2014</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288032">
                <a:tc>
                  <a:txBody>
                    <a:bodyPr/>
                    <a:lstStyle/>
                    <a:p>
                      <a:pPr>
                        <a:lnSpc>
                          <a:spcPct val="115000"/>
                        </a:lnSpc>
                        <a:spcAft>
                          <a:spcPts val="600"/>
                        </a:spcAft>
                      </a:pPr>
                      <a:r>
                        <a:rPr lang="en-US" sz="1600">
                          <a:effectLst/>
                        </a:rPr>
                        <a:t>2</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1</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C</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2015</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288032">
                <a:tc>
                  <a:txBody>
                    <a:bodyPr/>
                    <a:lstStyle/>
                    <a:p>
                      <a:pPr>
                        <a:lnSpc>
                          <a:spcPct val="115000"/>
                        </a:lnSpc>
                        <a:spcAft>
                          <a:spcPts val="600"/>
                        </a:spcAft>
                      </a:pPr>
                      <a:r>
                        <a:rPr lang="en-US" sz="1600">
                          <a:effectLst/>
                        </a:rPr>
                        <a:t>3</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4</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B</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2015</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158667620"/>
              </p:ext>
            </p:extLst>
          </p:nvPr>
        </p:nvGraphicFramePr>
        <p:xfrm>
          <a:off x="6007596" y="3140968"/>
          <a:ext cx="2587404" cy="1296144"/>
        </p:xfrm>
        <a:graphic>
          <a:graphicData uri="http://schemas.openxmlformats.org/drawingml/2006/table">
            <a:tbl>
              <a:tblPr firstRow="1" firstCol="1" bandRow="1">
                <a:tableStyleId>{5C22544A-7EE6-4342-B048-85BDC9FD1C3A}</a:tableStyleId>
              </a:tblPr>
              <a:tblGrid>
                <a:gridCol w="739258">
                  <a:extLst>
                    <a:ext uri="{9D8B030D-6E8A-4147-A177-3AD203B41FA5}">
                      <a16:colId xmlns:a16="http://schemas.microsoft.com/office/drawing/2014/main" val="20000"/>
                    </a:ext>
                  </a:extLst>
                </a:gridCol>
                <a:gridCol w="1848146">
                  <a:extLst>
                    <a:ext uri="{9D8B030D-6E8A-4147-A177-3AD203B41FA5}">
                      <a16:colId xmlns:a16="http://schemas.microsoft.com/office/drawing/2014/main" val="20001"/>
                    </a:ext>
                  </a:extLst>
                </a:gridCol>
              </a:tblGrid>
              <a:tr h="396044">
                <a:tc>
                  <a:txBody>
                    <a:bodyPr/>
                    <a:lstStyle/>
                    <a:p>
                      <a:pPr algn="ctr">
                        <a:lnSpc>
                          <a:spcPct val="115000"/>
                        </a:lnSpc>
                        <a:spcAft>
                          <a:spcPts val="600"/>
                        </a:spcAft>
                      </a:pPr>
                      <a:r>
                        <a:rPr lang="en-US" sz="1600" u="sng">
                          <a:effectLst/>
                        </a:rPr>
                        <a:t>MaNV</a:t>
                      </a:r>
                      <a:endParaRPr lang="vi-VN" sz="1600" u="sng">
                        <a:effectLst/>
                        <a:latin typeface="Arial"/>
                        <a:ea typeface="Arial"/>
                        <a:cs typeface="Times New Roman"/>
                      </a:endParaRPr>
                    </a:p>
                  </a:txBody>
                  <a:tcPr marL="68580" marR="68580" marT="0" marB="0"/>
                </a:tc>
                <a:tc>
                  <a:txBody>
                    <a:bodyPr/>
                    <a:lstStyle/>
                    <a:p>
                      <a:pPr algn="ctr">
                        <a:lnSpc>
                          <a:spcPct val="115000"/>
                        </a:lnSpc>
                        <a:spcAft>
                          <a:spcPts val="600"/>
                        </a:spcAft>
                      </a:pPr>
                      <a:r>
                        <a:rPr lang="en-US" sz="1600">
                          <a:effectLst/>
                        </a:rPr>
                        <a:t>TenNV</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0"/>
                  </a:ext>
                </a:extLst>
              </a:tr>
              <a:tr h="324036">
                <a:tc>
                  <a:txBody>
                    <a:bodyPr/>
                    <a:lstStyle/>
                    <a:p>
                      <a:pPr>
                        <a:lnSpc>
                          <a:spcPct val="115000"/>
                        </a:lnSpc>
                        <a:spcAft>
                          <a:spcPts val="600"/>
                        </a:spcAft>
                      </a:pPr>
                      <a:r>
                        <a:rPr lang="en-US" sz="1600">
                          <a:effectLst/>
                        </a:rPr>
                        <a:t>5</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Phương Thúy</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1"/>
                  </a:ext>
                </a:extLst>
              </a:tr>
              <a:tr h="288032">
                <a:tc>
                  <a:txBody>
                    <a:bodyPr/>
                    <a:lstStyle/>
                    <a:p>
                      <a:pPr>
                        <a:lnSpc>
                          <a:spcPct val="115000"/>
                        </a:lnSpc>
                        <a:spcAft>
                          <a:spcPts val="600"/>
                        </a:spcAft>
                      </a:pPr>
                      <a:r>
                        <a:rPr lang="en-US" sz="1600">
                          <a:effectLst/>
                        </a:rPr>
                        <a:t>1</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Trấn Thành</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2"/>
                  </a:ext>
                </a:extLst>
              </a:tr>
              <a:tr h="288032">
                <a:tc>
                  <a:txBody>
                    <a:bodyPr/>
                    <a:lstStyle/>
                    <a:p>
                      <a:pPr>
                        <a:lnSpc>
                          <a:spcPct val="115000"/>
                        </a:lnSpc>
                        <a:spcAft>
                          <a:spcPts val="600"/>
                        </a:spcAft>
                      </a:pPr>
                      <a:r>
                        <a:rPr lang="en-US" sz="1600">
                          <a:effectLst/>
                        </a:rPr>
                        <a:t>4</a:t>
                      </a:r>
                      <a:endParaRPr lang="vi-VN" sz="1600">
                        <a:effectLst/>
                        <a:latin typeface="Arial"/>
                        <a:ea typeface="Arial"/>
                        <a:cs typeface="Times New Roman"/>
                      </a:endParaRPr>
                    </a:p>
                  </a:txBody>
                  <a:tcPr marL="68580" marR="68580" marT="0" marB="0"/>
                </a:tc>
                <a:tc>
                  <a:txBody>
                    <a:bodyPr/>
                    <a:lstStyle/>
                    <a:p>
                      <a:pPr>
                        <a:lnSpc>
                          <a:spcPct val="115000"/>
                        </a:lnSpc>
                        <a:spcAft>
                          <a:spcPts val="600"/>
                        </a:spcAft>
                      </a:pPr>
                      <a:r>
                        <a:rPr lang="en-US" sz="1600">
                          <a:effectLst/>
                        </a:rPr>
                        <a:t>Tùng Chi</a:t>
                      </a:r>
                      <a:endParaRPr lang="vi-VN" sz="1600">
                        <a:effectLst/>
                        <a:latin typeface="Arial"/>
                        <a:ea typeface="Arial"/>
                        <a:cs typeface="Times New Roman"/>
                      </a:endParaRPr>
                    </a:p>
                  </a:txBody>
                  <a:tcPr marL="68580" marR="68580" marT="0" marB="0"/>
                </a:tc>
                <a:extLst>
                  <a:ext uri="{0D108BD9-81ED-4DB2-BD59-A6C34878D82A}">
                    <a16:rowId xmlns:a16="http://schemas.microsoft.com/office/drawing/2014/main" val="10003"/>
                  </a:ext>
                </a:extLst>
              </a:tr>
            </a:tbl>
          </a:graphicData>
        </a:graphic>
      </p:graphicFrame>
      <p:cxnSp>
        <p:nvCxnSpPr>
          <p:cNvPr id="11" name="Straight Arrow Connector 10"/>
          <p:cNvCxnSpPr>
            <a:stCxn id="8" idx="3"/>
            <a:endCxn id="10" idx="1"/>
          </p:cNvCxnSpPr>
          <p:nvPr/>
        </p:nvCxnSpPr>
        <p:spPr>
          <a:xfrm flipV="1">
            <a:off x="4495428" y="3789040"/>
            <a:ext cx="1512168" cy="6473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495428" y="4509120"/>
            <a:ext cx="1512168" cy="11521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9911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lnSpcReduction="10000"/>
          </a:bodyPr>
          <a:lstStyle/>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Bài tập – Chuẩn hóa các quan hệ sau:</a:t>
            </a:r>
          </a:p>
          <a:p>
            <a:pPr marL="0" lvl="1" indent="0" algn="just">
              <a:spcBef>
                <a:spcPts val="0"/>
              </a:spcBef>
              <a:buClr>
                <a:srgbClr val="FF0066"/>
              </a:buClr>
              <a:buNone/>
            </a:pPr>
            <a:r>
              <a:rPr lang="vi-VN" sz="1800">
                <a:solidFill>
                  <a:schemeClr val="accent2">
                    <a:lumMod val="50000"/>
                  </a:schemeClr>
                </a:solidFill>
                <a:latin typeface="Calibri" pitchFamily="34" charset="0"/>
                <a:cs typeface="Calibri" pitchFamily="34" charset="0"/>
              </a:rPr>
              <a:t>Dondathang </a:t>
            </a:r>
            <a:r>
              <a:rPr lang="en-US" sz="1800">
                <a:solidFill>
                  <a:schemeClr val="accent2">
                    <a:lumMod val="50000"/>
                  </a:schemeClr>
                </a:solidFill>
                <a:latin typeface="Calibri" pitchFamily="34" charset="0"/>
                <a:cs typeface="Calibri" pitchFamily="34" charset="0"/>
              </a:rPr>
              <a:t>(</a:t>
            </a:r>
            <a:r>
              <a:rPr lang="en-US" sz="1800" u="sng" err="1">
                <a:solidFill>
                  <a:schemeClr val="accent2">
                    <a:lumMod val="50000"/>
                  </a:schemeClr>
                </a:solidFill>
                <a:latin typeface="Calibri" pitchFamily="34" charset="0"/>
                <a:cs typeface="Calibri" pitchFamily="34" charset="0"/>
              </a:rPr>
              <a:t>SoDDH</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Manguoidat</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Tennguoidat</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Diachinguoidat</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Ngaydat</a:t>
            </a:r>
            <a:r>
              <a:rPr lang="en-US" sz="1800">
                <a:solidFill>
                  <a:schemeClr val="accent2">
                    <a:lumMod val="50000"/>
                  </a:schemeClr>
                </a:solidFill>
                <a:latin typeface="Calibri" pitchFamily="34" charset="0"/>
                <a:cs typeface="Calibri" pitchFamily="34" charset="0"/>
              </a:rPr>
              <a:t>, </a:t>
            </a:r>
            <a:r>
              <a:rPr lang="en-US" sz="1800" u="sng" err="1">
                <a:solidFill>
                  <a:schemeClr val="accent2">
                    <a:lumMod val="50000"/>
                  </a:schemeClr>
                </a:solidFill>
                <a:latin typeface="Calibri" pitchFamily="34" charset="0"/>
                <a:cs typeface="Calibri" pitchFamily="34" charset="0"/>
              </a:rPr>
              <a:t>Mahang</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Tenhang</a:t>
            </a:r>
            <a:r>
              <a:rPr lang="en-US" sz="1800">
                <a:solidFill>
                  <a:schemeClr val="accent2">
                    <a:lumMod val="50000"/>
                  </a:schemeClr>
                </a:solidFill>
                <a:latin typeface="Calibri" pitchFamily="34" charset="0"/>
                <a:cs typeface="Calibri" pitchFamily="34" charset="0"/>
              </a:rPr>
              <a:t>, Mota,</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                        DVT, </a:t>
            </a:r>
            <a:r>
              <a:rPr lang="en-US" sz="1800" err="1">
                <a:solidFill>
                  <a:schemeClr val="accent2">
                    <a:lumMod val="50000"/>
                  </a:schemeClr>
                </a:solidFill>
                <a:latin typeface="Calibri" pitchFamily="34" charset="0"/>
                <a:cs typeface="Calibri" pitchFamily="34" charset="0"/>
              </a:rPr>
              <a:t>Soluong</a:t>
            </a:r>
            <a:r>
              <a:rPr lang="en-US" sz="1800">
                <a:solidFill>
                  <a:schemeClr val="accent2">
                    <a:lumMod val="50000"/>
                  </a:schemeClr>
                </a:solidFill>
                <a:latin typeface="Calibri" pitchFamily="34" charset="0"/>
                <a:cs typeface="Calibri" pitchFamily="34" charset="0"/>
              </a:rPr>
              <a:t>)</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=&gt;  </a:t>
            </a:r>
            <a:r>
              <a:rPr lang="en-US" sz="1800" err="1">
                <a:solidFill>
                  <a:schemeClr val="accent2">
                    <a:lumMod val="50000"/>
                  </a:schemeClr>
                </a:solidFill>
                <a:latin typeface="Calibri" pitchFamily="34" charset="0"/>
                <a:cs typeface="Calibri" pitchFamily="34" charset="0"/>
              </a:rPr>
              <a:t>NguoiDatHang</a:t>
            </a:r>
            <a:r>
              <a:rPr lang="en-US" sz="1800">
                <a:solidFill>
                  <a:schemeClr val="accent2">
                    <a:lumMod val="50000"/>
                  </a:schemeClr>
                </a:solidFill>
                <a:latin typeface="Calibri" pitchFamily="34" charset="0"/>
                <a:cs typeface="Calibri" pitchFamily="34" charset="0"/>
              </a:rPr>
              <a:t> (</a:t>
            </a:r>
            <a:r>
              <a:rPr lang="en-US" sz="1800" u="sng" err="1">
                <a:solidFill>
                  <a:schemeClr val="accent2">
                    <a:lumMod val="50000"/>
                  </a:schemeClr>
                </a:solidFill>
                <a:latin typeface="Calibri" pitchFamily="34" charset="0"/>
                <a:cs typeface="Calibri" pitchFamily="34" charset="0"/>
              </a:rPr>
              <a:t>Manguoidat</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Tennguoidat</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Diachinguoidat</a:t>
            </a:r>
            <a:r>
              <a:rPr lang="en-US" sz="1800">
                <a:solidFill>
                  <a:schemeClr val="accent2">
                    <a:lumMod val="50000"/>
                  </a:schemeClr>
                </a:solidFill>
                <a:latin typeface="Calibri" pitchFamily="34" charset="0"/>
                <a:cs typeface="Calibri" pitchFamily="34" charset="0"/>
              </a:rPr>
              <a:t>)</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Hang (</a:t>
            </a:r>
            <a:r>
              <a:rPr lang="en-US" sz="1800" u="sng" err="1">
                <a:solidFill>
                  <a:schemeClr val="accent2">
                    <a:lumMod val="50000"/>
                  </a:schemeClr>
                </a:solidFill>
                <a:latin typeface="Calibri" pitchFamily="34" charset="0"/>
                <a:cs typeface="Calibri" pitchFamily="34" charset="0"/>
              </a:rPr>
              <a:t>Mahang</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Tenhang</a:t>
            </a:r>
            <a:r>
              <a:rPr lang="en-US" sz="1800">
                <a:solidFill>
                  <a:schemeClr val="accent2">
                    <a:lumMod val="50000"/>
                  </a:schemeClr>
                </a:solidFill>
                <a:latin typeface="Calibri" pitchFamily="34" charset="0"/>
                <a:cs typeface="Calibri" pitchFamily="34" charset="0"/>
              </a:rPr>
              <a:t>, Mota, DVT)</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DonDatHang (</a:t>
            </a:r>
            <a:r>
              <a:rPr lang="en-US" sz="1800" u="sng">
                <a:solidFill>
                  <a:schemeClr val="accent2">
                    <a:lumMod val="50000"/>
                  </a:schemeClr>
                </a:solidFill>
                <a:latin typeface="Calibri" pitchFamily="34" charset="0"/>
                <a:cs typeface="Calibri" pitchFamily="34" charset="0"/>
              </a:rPr>
              <a:t>SoDDH</a:t>
            </a:r>
            <a:r>
              <a:rPr lang="en-US" sz="1800">
                <a:solidFill>
                  <a:schemeClr val="accent2">
                    <a:lumMod val="50000"/>
                  </a:schemeClr>
                </a:solidFill>
                <a:latin typeface="Calibri" pitchFamily="34" charset="0"/>
                <a:cs typeface="Calibri" pitchFamily="34" charset="0"/>
              </a:rPr>
              <a:t>, </a:t>
            </a:r>
            <a:r>
              <a:rPr lang="en-US" sz="1800" u="sng">
                <a:solidFill>
                  <a:schemeClr val="accent2">
                    <a:lumMod val="50000"/>
                  </a:schemeClr>
                </a:solidFill>
                <a:latin typeface="Calibri" pitchFamily="34" charset="0"/>
                <a:cs typeface="Calibri" pitchFamily="34" charset="0"/>
              </a:rPr>
              <a:t>Manguoidat</a:t>
            </a:r>
            <a:r>
              <a:rPr lang="en-US" sz="1800">
                <a:solidFill>
                  <a:schemeClr val="accent2">
                    <a:lumMod val="50000"/>
                  </a:schemeClr>
                </a:solidFill>
                <a:latin typeface="Calibri" pitchFamily="34" charset="0"/>
                <a:cs typeface="Calibri" pitchFamily="34" charset="0"/>
              </a:rPr>
              <a:t>, Ngaydat, GiamGia(cho từng đơn hàng) )</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ThongtinDonHang (</a:t>
            </a:r>
            <a:r>
              <a:rPr lang="en-US" sz="1800" u="sng">
                <a:solidFill>
                  <a:schemeClr val="accent2">
                    <a:lumMod val="50000"/>
                  </a:schemeClr>
                </a:solidFill>
                <a:latin typeface="Calibri" pitchFamily="34" charset="0"/>
                <a:cs typeface="Calibri" pitchFamily="34" charset="0"/>
              </a:rPr>
              <a:t>SoDDH</a:t>
            </a:r>
            <a:r>
              <a:rPr lang="en-US" sz="1800">
                <a:solidFill>
                  <a:schemeClr val="accent2">
                    <a:lumMod val="50000"/>
                  </a:schemeClr>
                </a:solidFill>
                <a:latin typeface="Calibri" pitchFamily="34" charset="0"/>
                <a:cs typeface="Calibri" pitchFamily="34" charset="0"/>
              </a:rPr>
              <a:t>, </a:t>
            </a:r>
            <a:r>
              <a:rPr lang="en-US" sz="1800" u="sng">
                <a:solidFill>
                  <a:schemeClr val="accent2">
                    <a:lumMod val="50000"/>
                  </a:schemeClr>
                </a:solidFill>
                <a:latin typeface="Calibri" pitchFamily="34" charset="0"/>
                <a:cs typeface="Calibri" pitchFamily="34" charset="0"/>
              </a:rPr>
              <a:t>Mahang</a:t>
            </a:r>
            <a:r>
              <a:rPr lang="en-US" sz="1800">
                <a:solidFill>
                  <a:schemeClr val="accent2">
                    <a:lumMod val="50000"/>
                  </a:schemeClr>
                </a:solidFill>
                <a:latin typeface="Calibri" pitchFamily="34" charset="0"/>
                <a:cs typeface="Calibri" pitchFamily="34" charset="0"/>
              </a:rPr>
              <a:t>, Soluong, GiamGia(cho từng mã hàng) )</a:t>
            </a:r>
          </a:p>
          <a:p>
            <a:pPr marL="0" lvl="1" indent="0" algn="just">
              <a:spcBef>
                <a:spcPts val="0"/>
              </a:spcBef>
              <a:buClr>
                <a:srgbClr val="FF0066"/>
              </a:buClr>
              <a:buNone/>
            </a:pPr>
            <a:endParaRPr lang="en-US" sz="1800">
              <a:solidFill>
                <a:schemeClr val="accent2">
                  <a:lumMod val="50000"/>
                </a:schemeClr>
              </a:solidFill>
              <a:latin typeface="Calibri" pitchFamily="34" charset="0"/>
              <a:cs typeface="Calibri" pitchFamily="34" charset="0"/>
            </a:endParaRPr>
          </a:p>
          <a:p>
            <a:pPr marL="0" lvl="1" indent="0" algn="just">
              <a:spcBef>
                <a:spcPts val="0"/>
              </a:spcBef>
              <a:buClr>
                <a:srgbClr val="FF0066"/>
              </a:buClr>
              <a:buNone/>
            </a:pPr>
            <a:r>
              <a:rPr lang="en-US" sz="1800">
                <a:solidFill>
                  <a:schemeClr val="accent2">
                    <a:lumMod val="50000"/>
                  </a:schemeClr>
                </a:solidFill>
                <a:latin typeface="Calibri" pitchFamily="34" charset="0"/>
                <a:cs typeface="Calibri" pitchFamily="34" charset="0"/>
              </a:rPr>
              <a:t>Phieugiaohang(</a:t>
            </a:r>
            <a:r>
              <a:rPr lang="en-US" sz="1800" u="sng" err="1">
                <a:solidFill>
                  <a:schemeClr val="accent2">
                    <a:lumMod val="50000"/>
                  </a:schemeClr>
                </a:solidFill>
                <a:latin typeface="Calibri" pitchFamily="34" charset="0"/>
                <a:cs typeface="Calibri" pitchFamily="34" charset="0"/>
              </a:rPr>
              <a:t>Sophieu</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Makhach</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Tenkhach</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Diachikhach</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SoDDH</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Ngaygiao</a:t>
            </a:r>
            <a:r>
              <a:rPr lang="en-US" sz="1800">
                <a:solidFill>
                  <a:schemeClr val="accent2">
                    <a:lumMod val="50000"/>
                  </a:schemeClr>
                </a:solidFill>
                <a:latin typeface="Calibri" pitchFamily="34" charset="0"/>
                <a:cs typeface="Calibri" pitchFamily="34" charset="0"/>
              </a:rPr>
              <a:t>, </a:t>
            </a:r>
            <a:r>
              <a:rPr lang="en-US" sz="1800" u="sng" err="1">
                <a:solidFill>
                  <a:schemeClr val="accent2">
                    <a:lumMod val="50000"/>
                  </a:schemeClr>
                </a:solidFill>
                <a:latin typeface="Calibri" pitchFamily="34" charset="0"/>
                <a:cs typeface="Calibri" pitchFamily="34" charset="0"/>
              </a:rPr>
              <a:t>Mahang</a:t>
            </a: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Dongia</a:t>
            </a:r>
            <a:r>
              <a:rPr lang="en-US" sz="1800">
                <a:solidFill>
                  <a:schemeClr val="accent2">
                    <a:lumMod val="50000"/>
                  </a:schemeClr>
                </a:solidFill>
                <a:latin typeface="Calibri" pitchFamily="34" charset="0"/>
                <a:cs typeface="Calibri" pitchFamily="34" charset="0"/>
              </a:rPr>
              <a:t>, </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                            </a:t>
            </a:r>
            <a:r>
              <a:rPr lang="en-US" sz="1800" err="1">
                <a:solidFill>
                  <a:schemeClr val="accent2">
                    <a:lumMod val="50000"/>
                  </a:schemeClr>
                </a:solidFill>
                <a:latin typeface="Calibri" pitchFamily="34" charset="0"/>
                <a:cs typeface="Calibri" pitchFamily="34" charset="0"/>
              </a:rPr>
              <a:t>Soluong</a:t>
            </a:r>
            <a:r>
              <a:rPr lang="en-US" sz="1800">
                <a:solidFill>
                  <a:schemeClr val="accent2">
                    <a:lumMod val="50000"/>
                  </a:schemeClr>
                </a:solidFill>
                <a:latin typeface="Calibri" pitchFamily="34" charset="0"/>
                <a:cs typeface="Calibri" pitchFamily="34" charset="0"/>
              </a:rPr>
              <a:t>)</a:t>
            </a:r>
          </a:p>
          <a:p>
            <a:pPr marL="0" lvl="1" indent="0" algn="just">
              <a:spcAft>
                <a:spcPts val="683"/>
              </a:spcAft>
              <a:buClr>
                <a:srgbClr val="FF0066"/>
              </a:buClr>
              <a:buNone/>
            </a:pPr>
            <a:r>
              <a:rPr lang="en-US" sz="2000">
                <a:solidFill>
                  <a:schemeClr val="accent2">
                    <a:lumMod val="50000"/>
                  </a:schemeClr>
                </a:solidFill>
                <a:latin typeface="Calibri" pitchFamily="34" charset="0"/>
                <a:cs typeface="Calibri" pitchFamily="34" charset="0"/>
              </a:rPr>
              <a:t>=&gt;  </a:t>
            </a:r>
            <a:r>
              <a:rPr lang="en-US" sz="1800">
                <a:solidFill>
                  <a:schemeClr val="accent2">
                    <a:lumMod val="50000"/>
                  </a:schemeClr>
                </a:solidFill>
                <a:latin typeface="Calibri" pitchFamily="34" charset="0"/>
                <a:cs typeface="Calibri" pitchFamily="34" charset="0"/>
              </a:rPr>
              <a:t>Khachhang (</a:t>
            </a:r>
            <a:r>
              <a:rPr lang="en-US" sz="1800" u="sng">
                <a:solidFill>
                  <a:schemeClr val="accent2">
                    <a:lumMod val="50000"/>
                  </a:schemeClr>
                </a:solidFill>
                <a:latin typeface="Calibri" pitchFamily="34" charset="0"/>
                <a:cs typeface="Calibri" pitchFamily="34" charset="0"/>
              </a:rPr>
              <a:t>Makhach</a:t>
            </a:r>
            <a:r>
              <a:rPr lang="en-US" sz="1800">
                <a:solidFill>
                  <a:schemeClr val="accent2">
                    <a:lumMod val="50000"/>
                  </a:schemeClr>
                </a:solidFill>
                <a:latin typeface="Calibri" pitchFamily="34" charset="0"/>
                <a:cs typeface="Calibri" pitchFamily="34" charset="0"/>
              </a:rPr>
              <a:t>, Tenkhach, Diachikhach)</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MatHang (</a:t>
            </a:r>
            <a:r>
              <a:rPr lang="en-US" sz="1800" u="sng">
                <a:solidFill>
                  <a:schemeClr val="accent2">
                    <a:lumMod val="50000"/>
                  </a:schemeClr>
                </a:solidFill>
                <a:latin typeface="Calibri" pitchFamily="34" charset="0"/>
                <a:cs typeface="Calibri" pitchFamily="34" charset="0"/>
              </a:rPr>
              <a:t>MaHang</a:t>
            </a:r>
            <a:r>
              <a:rPr lang="en-US" sz="1800">
                <a:solidFill>
                  <a:schemeClr val="accent2">
                    <a:lumMod val="50000"/>
                  </a:schemeClr>
                </a:solidFill>
                <a:latin typeface="Calibri" pitchFamily="34" charset="0"/>
                <a:cs typeface="Calibri" pitchFamily="34" charset="0"/>
              </a:rPr>
              <a:t>, TenHang, Dongia)</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Hoadon (</a:t>
            </a:r>
            <a:r>
              <a:rPr lang="en-US" sz="1800" u="sng">
                <a:solidFill>
                  <a:schemeClr val="accent2">
                    <a:lumMod val="50000"/>
                  </a:schemeClr>
                </a:solidFill>
                <a:latin typeface="Calibri" pitchFamily="34" charset="0"/>
                <a:cs typeface="Calibri" pitchFamily="34" charset="0"/>
              </a:rPr>
              <a:t>SoDDH</a:t>
            </a:r>
            <a:r>
              <a:rPr lang="en-US" sz="1800">
                <a:solidFill>
                  <a:schemeClr val="accent2">
                    <a:lumMod val="50000"/>
                  </a:schemeClr>
                </a:solidFill>
                <a:latin typeface="Calibri" pitchFamily="34" charset="0"/>
                <a:cs typeface="Calibri" pitchFamily="34" charset="0"/>
              </a:rPr>
              <a:t>, </a:t>
            </a:r>
            <a:r>
              <a:rPr lang="en-US" sz="1800" u="dotted">
                <a:solidFill>
                  <a:schemeClr val="accent2">
                    <a:lumMod val="50000"/>
                  </a:schemeClr>
                </a:solidFill>
                <a:latin typeface="Calibri" pitchFamily="34" charset="0"/>
                <a:cs typeface="Calibri" pitchFamily="34" charset="0"/>
              </a:rPr>
              <a:t>Makhach</a:t>
            </a:r>
            <a:r>
              <a:rPr lang="en-US" sz="1800">
                <a:solidFill>
                  <a:schemeClr val="accent2">
                    <a:lumMod val="50000"/>
                  </a:schemeClr>
                </a:solidFill>
                <a:latin typeface="Calibri" pitchFamily="34" charset="0"/>
                <a:cs typeface="Calibri" pitchFamily="34" charset="0"/>
              </a:rPr>
              <a:t>)</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ThongtinHoadon (</a:t>
            </a:r>
            <a:r>
              <a:rPr lang="en-US" sz="1800" u="sng">
                <a:solidFill>
                  <a:schemeClr val="accent2">
                    <a:lumMod val="50000"/>
                  </a:schemeClr>
                </a:solidFill>
                <a:latin typeface="Calibri" pitchFamily="34" charset="0"/>
                <a:cs typeface="Calibri" pitchFamily="34" charset="0"/>
              </a:rPr>
              <a:t>SoDDH</a:t>
            </a:r>
            <a:r>
              <a:rPr lang="en-US" sz="1800">
                <a:solidFill>
                  <a:schemeClr val="accent2">
                    <a:lumMod val="50000"/>
                  </a:schemeClr>
                </a:solidFill>
                <a:latin typeface="Calibri" pitchFamily="34" charset="0"/>
                <a:cs typeface="Calibri" pitchFamily="34" charset="0"/>
              </a:rPr>
              <a:t>, </a:t>
            </a:r>
            <a:r>
              <a:rPr lang="en-US" sz="1800" u="sng">
                <a:solidFill>
                  <a:schemeClr val="accent2">
                    <a:lumMod val="50000"/>
                  </a:schemeClr>
                </a:solidFill>
                <a:latin typeface="Calibri" pitchFamily="34" charset="0"/>
                <a:cs typeface="Calibri" pitchFamily="34" charset="0"/>
              </a:rPr>
              <a:t>Mahang</a:t>
            </a:r>
            <a:r>
              <a:rPr lang="en-US" sz="1800">
                <a:solidFill>
                  <a:schemeClr val="accent2">
                    <a:lumMod val="50000"/>
                  </a:schemeClr>
                </a:solidFill>
                <a:latin typeface="Calibri" pitchFamily="34" charset="0"/>
                <a:cs typeface="Calibri" pitchFamily="34" charset="0"/>
              </a:rPr>
              <a:t>, Soluong)</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ThongtinGiaoHang (</a:t>
            </a:r>
            <a:r>
              <a:rPr lang="en-US" sz="1800" u="sng">
                <a:solidFill>
                  <a:schemeClr val="accent2">
                    <a:lumMod val="50000"/>
                  </a:schemeClr>
                </a:solidFill>
                <a:latin typeface="Calibri" pitchFamily="34" charset="0"/>
                <a:cs typeface="Calibri" pitchFamily="34" charset="0"/>
              </a:rPr>
              <a:t>Sophieu</a:t>
            </a:r>
            <a:r>
              <a:rPr lang="en-US" sz="1800">
                <a:solidFill>
                  <a:schemeClr val="accent2">
                    <a:lumMod val="50000"/>
                  </a:schemeClr>
                </a:solidFill>
                <a:latin typeface="Calibri" pitchFamily="34" charset="0"/>
                <a:cs typeface="Calibri" pitchFamily="34" charset="0"/>
              </a:rPr>
              <a:t>, Ngaygiao, </a:t>
            </a:r>
            <a:r>
              <a:rPr lang="en-US" sz="1800" u="dotted">
                <a:solidFill>
                  <a:schemeClr val="accent2">
                    <a:lumMod val="50000"/>
                  </a:schemeClr>
                </a:solidFill>
                <a:latin typeface="Calibri" pitchFamily="34" charset="0"/>
                <a:cs typeface="Calibri" pitchFamily="34" charset="0"/>
              </a:rPr>
              <a:t>SoDDH)</a:t>
            </a:r>
            <a:r>
              <a:rPr lang="en-US" sz="2000">
                <a:solidFill>
                  <a:schemeClr val="accent2">
                    <a:lumMod val="50000"/>
                  </a:schemeClr>
                </a:solidFill>
                <a:latin typeface="Calibri" pitchFamily="34" charset="0"/>
                <a:cs typeface="Calibri" pitchFamily="34" charset="0"/>
              </a:rPr>
              <a:t>			</a:t>
            </a: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16</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Khái niệm dạng chuẩn</a:t>
            </a:r>
          </a:p>
          <a:p>
            <a:pPr marL="0" lvl="1"/>
            <a:r>
              <a:rPr lang="en-US" sz="1600">
                <a:solidFill>
                  <a:schemeClr val="tx2"/>
                </a:solidFill>
                <a:ea typeface="+mj-ea"/>
                <a:cs typeface="Arial" pitchFamily="34" charset="0"/>
              </a:rPr>
              <a:t>2. Các dạng chuẩn</a:t>
            </a:r>
          </a:p>
          <a:p>
            <a:pPr marL="0" lvl="1"/>
            <a:r>
              <a:rPr lang="en-US" sz="1600" b="1">
                <a:solidFill>
                  <a:schemeClr val="accent6">
                    <a:lumMod val="75000"/>
                  </a:schemeClr>
                </a:solidFill>
                <a:ea typeface="+mj-ea"/>
                <a:cs typeface="Arial" pitchFamily="34" charset="0"/>
              </a:rPr>
              <a:t>3. Chuẩn hóa quan hệ</a:t>
            </a:r>
          </a:p>
        </p:txBody>
      </p:sp>
    </p:spTree>
    <p:extLst>
      <p:ext uri="{BB962C8B-B14F-4D97-AF65-F5344CB8AC3E}">
        <p14:creationId xmlns:p14="http://schemas.microsoft.com/office/powerpoint/2010/main" val="468576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Quy tắc về dạng chuẩn:</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Với mỗi một lớp trong biểu đồ lớp, xem xét kỹ các thuộc tính của lớp đó.</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Chuẩn hóa lớp về dạng chuẩn 3.</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Quy tắc về mối liên kết:     </a:t>
            </a:r>
          </a:p>
          <a:p>
            <a:pPr lvl="1" algn="just">
              <a:spcAft>
                <a:spcPts val="683"/>
              </a:spcAft>
              <a:buClr>
                <a:srgbClr val="FF0066"/>
              </a:buClr>
            </a:pPr>
            <a:r>
              <a:rPr lang="vi-VN" sz="1800" i="1">
                <a:solidFill>
                  <a:schemeClr val="accent2">
                    <a:lumMod val="50000"/>
                  </a:schemeClr>
                </a:solidFill>
                <a:latin typeface="Calibri" pitchFamily="34" charset="0"/>
                <a:cs typeface="Calibri" pitchFamily="34" charset="0"/>
              </a:rPr>
              <a:t>Trong mối quan hệ 1-1</a:t>
            </a:r>
            <a:r>
              <a:rPr lang="vi-VN" sz="1800">
                <a:solidFill>
                  <a:schemeClr val="accent2">
                    <a:lumMod val="50000"/>
                  </a:schemeClr>
                </a:solidFill>
                <a:latin typeface="Calibri" pitchFamily="34" charset="0"/>
                <a:cs typeface="Calibri" pitchFamily="34" charset="0"/>
              </a:rPr>
              <a:t>: Nếu tồn tại thuộc tính riêng thì quan hệ này sẽ nhận khóa của quan hệ kia làm khóa liên kết. Nếu không có thuộc tính riêng thì không được tách thành 2 quan hệ.</a:t>
            </a:r>
          </a:p>
          <a:p>
            <a:pPr lvl="1" algn="just">
              <a:spcAft>
                <a:spcPts val="683"/>
              </a:spcAft>
              <a:buClr>
                <a:srgbClr val="FF0066"/>
              </a:buClr>
            </a:pPr>
            <a:r>
              <a:rPr lang="vi-VN" sz="1800" i="1">
                <a:solidFill>
                  <a:schemeClr val="accent2">
                    <a:lumMod val="50000"/>
                  </a:schemeClr>
                </a:solidFill>
                <a:latin typeface="Calibri" pitchFamily="34" charset="0"/>
                <a:cs typeface="Calibri" pitchFamily="34" charset="0"/>
              </a:rPr>
              <a:t>Trong mối quan hệ 1-n</a:t>
            </a:r>
            <a:r>
              <a:rPr lang="vi-VN" sz="1800">
                <a:solidFill>
                  <a:schemeClr val="accent2">
                    <a:lumMod val="50000"/>
                  </a:schemeClr>
                </a:solidFill>
                <a:latin typeface="Calibri" pitchFamily="34" charset="0"/>
                <a:cs typeface="Calibri" pitchFamily="34" charset="0"/>
              </a:rPr>
              <a:t>: Quan hệ tham gia vào mối liên kết bên n sẽ nhận khóa của quan hệ tham gia vào mối liên kết bên 1 làm khóa liên kết.</a:t>
            </a:r>
          </a:p>
          <a:p>
            <a:pPr lvl="1" algn="just">
              <a:spcAft>
                <a:spcPts val="683"/>
              </a:spcAft>
              <a:buClr>
                <a:srgbClr val="FF0066"/>
              </a:buClr>
            </a:pPr>
            <a:r>
              <a:rPr lang="vi-VN" sz="1800" i="1">
                <a:solidFill>
                  <a:schemeClr val="accent2">
                    <a:lumMod val="50000"/>
                  </a:schemeClr>
                </a:solidFill>
                <a:latin typeface="Calibri" pitchFamily="34" charset="0"/>
                <a:cs typeface="Calibri" pitchFamily="34" charset="0"/>
              </a:rPr>
              <a:t>Trong mối quan hệ n-n</a:t>
            </a:r>
            <a:r>
              <a:rPr lang="vi-VN" sz="1800">
                <a:solidFill>
                  <a:schemeClr val="accent2">
                    <a:lumMod val="50000"/>
                  </a:schemeClr>
                </a:solidFill>
                <a:latin typeface="Calibri" pitchFamily="34" charset="0"/>
                <a:cs typeface="Calibri" pitchFamily="34" charset="0"/>
              </a:rPr>
              <a:t>:  Tách thành một quan hệ trung gian, quan hệ mới này gồm khóa của tất cả các quan hệ trong mối liên kết và các thuộc tính của mối quan hệ mới này (có thể bổ sung thêm các thuộc tính mới nếu cần).</a:t>
            </a: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17</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cs typeface="Arial" pitchFamily="34" charset="0"/>
              </a:rPr>
              <a:t>1. Quy tắc Chuẩn hóa </a:t>
            </a:r>
          </a:p>
          <a:p>
            <a:pPr marL="0" lvl="1"/>
            <a:r>
              <a:rPr lang="en-US" sz="1600">
                <a:solidFill>
                  <a:schemeClr val="tx2"/>
                </a:solidFill>
                <a:ea typeface="+mj-ea"/>
                <a:cs typeface="Arial" pitchFamily="34" charset="0"/>
              </a:rPr>
              <a:t>2. Ví dụ</a:t>
            </a:r>
          </a:p>
        </p:txBody>
      </p:sp>
    </p:spTree>
    <p:extLst>
      <p:ext uri="{BB962C8B-B14F-4D97-AF65-F5344CB8AC3E}">
        <p14:creationId xmlns:p14="http://schemas.microsoft.com/office/powerpoint/2010/main" val="1868593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en-US" sz="2000">
                <a:solidFill>
                  <a:schemeClr val="accent2">
                    <a:lumMod val="50000"/>
                  </a:schemeClr>
                </a:solidFill>
                <a:latin typeface="Calibri" pitchFamily="34" charset="0"/>
                <a:cs typeface="Calibri" pitchFamily="34" charset="0"/>
              </a:rPr>
              <a:t>Chuẩn hóa biểu đồ lớp </a:t>
            </a:r>
            <a:r>
              <a:rPr lang="en-US" sz="2000" b="1" i="1">
                <a:solidFill>
                  <a:schemeClr val="accent2">
                    <a:lumMod val="50000"/>
                  </a:schemeClr>
                </a:solidFill>
                <a:latin typeface="Calibri" pitchFamily="34" charset="0"/>
                <a:cs typeface="Calibri" pitchFamily="34" charset="0"/>
              </a:rPr>
              <a:t>Giấy đề nghị vay vốn</a:t>
            </a:r>
            <a:endParaRPr lang="vi-VN" sz="20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Xét các dạng chuẩn:</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Tất cả các lớp đều đã ở dạng chuẩn 3.</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Xét các quy tắc liên kết:</a:t>
            </a:r>
          </a:p>
          <a:p>
            <a:pPr lvl="1">
              <a:spcAft>
                <a:spcPts val="683"/>
              </a:spcAft>
              <a:buClr>
                <a:srgbClr val="FF0066"/>
              </a:buClr>
            </a:pPr>
            <a:r>
              <a:rPr lang="vi-VN" sz="1800">
                <a:solidFill>
                  <a:schemeClr val="accent2">
                    <a:lumMod val="50000"/>
                  </a:schemeClr>
                </a:solidFill>
                <a:latin typeface="Calibri" pitchFamily="34" charset="0"/>
                <a:cs typeface="Calibri" pitchFamily="34" charset="0"/>
              </a:rPr>
              <a:t>Liên kết 1-n: Tất cả các lớp có mối liên kết 1-n đều thỏa mãn điều kiện </a:t>
            </a:r>
            <a:r>
              <a:rPr lang="vi-VN" sz="1800" i="1">
                <a:solidFill>
                  <a:schemeClr val="accent2">
                    <a:lumMod val="50000"/>
                  </a:schemeClr>
                </a:solidFill>
                <a:latin typeface="Calibri" pitchFamily="34" charset="0"/>
                <a:cs typeface="Calibri" pitchFamily="34" charset="0"/>
              </a:rPr>
              <a:t>Lớp tham gia vào mối liên kết bên n nhận khóa của lớp tham gia vào mối liên kết bên 1 làm khóa liên kết</a:t>
            </a:r>
            <a:r>
              <a:rPr lang="vi-VN" sz="1800">
                <a:solidFill>
                  <a:schemeClr val="accent2">
                    <a:lumMod val="50000"/>
                  </a:schemeClr>
                </a:solidFill>
                <a:latin typeface="Calibri" pitchFamily="34" charset="0"/>
                <a:cs typeface="Calibri" pitchFamily="34" charset="0"/>
              </a:rPr>
              <a:t>.</a:t>
            </a:r>
          </a:p>
          <a:p>
            <a:pPr marL="520523" lvl="1" indent="0" algn="just">
              <a:spcAft>
                <a:spcPts val="683"/>
              </a:spcAft>
              <a:buClr>
                <a:srgbClr val="FF0066"/>
              </a:buClr>
              <a:buNone/>
            </a:pPr>
            <a:r>
              <a:rPr lang="vi-VN" sz="1800">
                <a:solidFill>
                  <a:schemeClr val="accent2">
                    <a:lumMod val="50000"/>
                  </a:schemeClr>
                </a:solidFill>
                <a:latin typeface="Calibri" pitchFamily="34" charset="0"/>
                <a:cs typeface="Calibri" pitchFamily="34" charset="0"/>
              </a:rPr>
              <a:t> </a:t>
            </a:r>
          </a:p>
          <a:p>
            <a:pPr lvl="1" algn="just">
              <a:spcAft>
                <a:spcPts val="683"/>
              </a:spcAft>
              <a:buClr>
                <a:srgbClr val="FF0066"/>
              </a:buClr>
            </a:pPr>
            <a:endParaRPr lang="vi-VN" sz="1800">
              <a:solidFill>
                <a:schemeClr val="accent2">
                  <a:lumMod val="50000"/>
                </a:schemeClr>
              </a:solidFill>
              <a:latin typeface="Calibri" pitchFamily="34" charset="0"/>
              <a:cs typeface="Calibri" pitchFamily="34" charset="0"/>
            </a:endParaRPr>
          </a:p>
          <a:p>
            <a:pPr marL="520523" lvl="1" indent="0" algn="just">
              <a:spcAft>
                <a:spcPts val="683"/>
              </a:spcAft>
              <a:buClr>
                <a:srgbClr val="FF0066"/>
              </a:buClr>
              <a:buNone/>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18</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Quy tắc Chuẩn hóa </a:t>
            </a:r>
          </a:p>
          <a:p>
            <a:pPr marL="0" lvl="1"/>
            <a:r>
              <a:rPr lang="en-US" sz="1600" b="1">
                <a:solidFill>
                  <a:schemeClr val="accent6">
                    <a:lumMod val="75000"/>
                  </a:schemeClr>
                </a:solidFill>
                <a:cs typeface="Arial" pitchFamily="34" charset="0"/>
              </a:rPr>
              <a:t>2. Ví dụ</a:t>
            </a:r>
          </a:p>
        </p:txBody>
      </p:sp>
    </p:spTree>
    <p:extLst>
      <p:ext uri="{BB962C8B-B14F-4D97-AF65-F5344CB8AC3E}">
        <p14:creationId xmlns:p14="http://schemas.microsoft.com/office/powerpoint/2010/main" val="1015707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en-US" sz="2000">
                <a:solidFill>
                  <a:schemeClr val="bg2">
                    <a:lumMod val="50000"/>
                  </a:schemeClr>
                </a:solidFill>
                <a:latin typeface="Calibri" pitchFamily="34" charset="0"/>
                <a:cs typeface="Calibri" pitchFamily="34" charset="0"/>
              </a:rPr>
              <a:t>Chuẩn hóa biểu đồ lớp </a:t>
            </a:r>
            <a:r>
              <a:rPr lang="en-US" sz="2000" b="1" i="1">
                <a:solidFill>
                  <a:schemeClr val="bg2">
                    <a:lumMod val="50000"/>
                  </a:schemeClr>
                </a:solidFill>
                <a:latin typeface="Calibri" pitchFamily="34" charset="0"/>
                <a:cs typeface="Calibri" pitchFamily="34" charset="0"/>
              </a:rPr>
              <a:t>Giấy đề nghị vay vốn</a:t>
            </a:r>
            <a:endParaRPr lang="vi-VN" sz="2000">
              <a:solidFill>
                <a:schemeClr val="bg2">
                  <a:lumMod val="50000"/>
                </a:schemeClr>
              </a:solidFill>
              <a:latin typeface="Calibri" pitchFamily="34" charset="0"/>
              <a:cs typeface="Calibri" pitchFamily="34" charset="0"/>
            </a:endParaRPr>
          </a:p>
          <a:p>
            <a:pPr marL="285750" lvl="3" indent="-285750" algn="just">
              <a:spcBef>
                <a:spcPts val="0"/>
              </a:spcBef>
              <a:buClr>
                <a:srgbClr val="FF0066"/>
              </a:buClr>
            </a:pPr>
            <a:r>
              <a:rPr lang="vi-VN" sz="1800">
                <a:solidFill>
                  <a:schemeClr val="accent2">
                    <a:lumMod val="50000"/>
                  </a:schemeClr>
                </a:solidFill>
                <a:latin typeface="Calibri" pitchFamily="34" charset="0"/>
                <a:cs typeface="Calibri" pitchFamily="34" charset="0"/>
              </a:rPr>
              <a:t>Liên kết 1-1: Lớp </a:t>
            </a:r>
            <a:r>
              <a:rPr lang="vi-VN" sz="1800" i="1">
                <a:solidFill>
                  <a:schemeClr val="accent2">
                    <a:lumMod val="50000"/>
                  </a:schemeClr>
                </a:solidFill>
                <a:latin typeface="Calibri" pitchFamily="34" charset="0"/>
                <a:cs typeface="Calibri" pitchFamily="34" charset="0"/>
              </a:rPr>
              <a:t>TTThu_nhap</a:t>
            </a:r>
            <a:r>
              <a:rPr lang="vi-VN" sz="1800">
                <a:solidFill>
                  <a:schemeClr val="accent2">
                    <a:lumMod val="50000"/>
                  </a:schemeClr>
                </a:solidFill>
                <a:latin typeface="Calibri" pitchFamily="34" charset="0"/>
                <a:cs typeface="Calibri" pitchFamily="34" charset="0"/>
              </a:rPr>
              <a:t> và </a:t>
            </a:r>
            <a:r>
              <a:rPr lang="vi-VN" sz="1800" i="1">
                <a:solidFill>
                  <a:schemeClr val="accent2">
                    <a:lumMod val="50000"/>
                  </a:schemeClr>
                </a:solidFill>
                <a:latin typeface="Calibri" pitchFamily="34" charset="0"/>
                <a:cs typeface="Calibri" pitchFamily="34" charset="0"/>
              </a:rPr>
              <a:t>GiayDeNghiVayVon </a:t>
            </a:r>
          </a:p>
          <a:p>
            <a:pPr marL="0" lvl="3" indent="0" algn="just">
              <a:spcBef>
                <a:spcPts val="0"/>
              </a:spcBef>
              <a:buClr>
                <a:srgbClr val="FF0066"/>
              </a:buClr>
              <a:buNone/>
            </a:pPr>
            <a:r>
              <a:rPr lang="vi-VN" sz="1800">
                <a:solidFill>
                  <a:schemeClr val="accent2">
                    <a:lumMod val="50000"/>
                  </a:schemeClr>
                </a:solidFill>
                <a:latin typeface="Calibri" pitchFamily="34" charset="0"/>
                <a:cs typeface="Calibri" pitchFamily="34" charset="0"/>
              </a:rPr>
              <a:t>không có thuộc tính riêng </a:t>
            </a:r>
            <a:r>
              <a:rPr lang="vi-VN" sz="1800">
                <a:solidFill>
                  <a:schemeClr val="accent2">
                    <a:lumMod val="50000"/>
                  </a:schemeClr>
                </a:solidFill>
                <a:latin typeface="Calibri" pitchFamily="34" charset="0"/>
                <a:cs typeface="Calibri" pitchFamily="34" charset="0"/>
                <a:sym typeface="Wingdings" pitchFamily="2" charset="2"/>
              </a:rPr>
              <a:t> Gộp 2 lớp thành 1</a:t>
            </a:r>
            <a:r>
              <a:rPr lang="vi-VN" sz="1800">
                <a:solidFill>
                  <a:schemeClr val="accent2">
                    <a:lumMod val="50000"/>
                  </a:schemeClr>
                </a:solidFill>
                <a:latin typeface="Calibri" pitchFamily="34" charset="0"/>
                <a:cs typeface="Calibri" pitchFamily="34" charset="0"/>
              </a:rPr>
              <a:t>     </a:t>
            </a: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19</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Quy tắc Chuẩn hóa </a:t>
            </a:r>
          </a:p>
          <a:p>
            <a:pPr marL="0" lvl="1"/>
            <a:r>
              <a:rPr lang="en-US" sz="1600" b="1">
                <a:solidFill>
                  <a:schemeClr val="accent6">
                    <a:lumMod val="75000"/>
                  </a:schemeClr>
                </a:solidFill>
                <a:cs typeface="Arial" pitchFamily="34" charset="0"/>
              </a:rPr>
              <a:t>2. Ví dụ</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6" y="2204864"/>
            <a:ext cx="4955050" cy="4653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ight Arrow 8"/>
          <p:cNvSpPr/>
          <p:nvPr/>
        </p:nvSpPr>
        <p:spPr>
          <a:xfrm>
            <a:off x="4988586" y="4365104"/>
            <a:ext cx="586962" cy="310344"/>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vi-VN"/>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3581" y="1196753"/>
            <a:ext cx="4026752"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9271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en-US" sz="2000">
                <a:solidFill>
                  <a:schemeClr val="bg2">
                    <a:lumMod val="50000"/>
                  </a:schemeClr>
                </a:solidFill>
                <a:latin typeface="Calibri" pitchFamily="34" charset="0"/>
                <a:cs typeface="Calibri" pitchFamily="34" charset="0"/>
              </a:rPr>
              <a:t>Chuẩn hóa biểu đồ lớp </a:t>
            </a:r>
            <a:r>
              <a:rPr lang="en-US" sz="2000" b="1" i="1">
                <a:solidFill>
                  <a:schemeClr val="bg2">
                    <a:lumMod val="50000"/>
                  </a:schemeClr>
                </a:solidFill>
                <a:latin typeface="Calibri" pitchFamily="34" charset="0"/>
                <a:cs typeface="Calibri" pitchFamily="34" charset="0"/>
              </a:rPr>
              <a:t>Giấy đề nghị vay vốn</a:t>
            </a:r>
            <a:endParaRPr lang="vi-VN" sz="2000">
              <a:solidFill>
                <a:schemeClr val="bg2">
                  <a:lumMod val="50000"/>
                </a:schemeClr>
              </a:solidFill>
              <a:latin typeface="Calibri" pitchFamily="34" charset="0"/>
              <a:cs typeface="Calibri" pitchFamily="34" charset="0"/>
            </a:endParaRPr>
          </a:p>
          <a:p>
            <a:pPr marL="285750" lvl="3" indent="-285750" algn="just">
              <a:spcBef>
                <a:spcPts val="0"/>
              </a:spcBef>
              <a:buClr>
                <a:srgbClr val="FF0066"/>
              </a:buClr>
            </a:pPr>
            <a:r>
              <a:rPr lang="vi-VN" sz="1800">
                <a:solidFill>
                  <a:schemeClr val="accent2">
                    <a:lumMod val="50000"/>
                  </a:schemeClr>
                </a:solidFill>
                <a:latin typeface="Calibri" pitchFamily="34" charset="0"/>
                <a:cs typeface="Calibri" pitchFamily="34" charset="0"/>
              </a:rPr>
              <a:t>Liên kết n-n: </a:t>
            </a:r>
            <a:r>
              <a:rPr lang="vi-VN" sz="1500" i="1">
                <a:solidFill>
                  <a:schemeClr val="accent2">
                    <a:lumMod val="50000"/>
                  </a:schemeClr>
                </a:solidFill>
                <a:latin typeface="Calibri" pitchFamily="34" charset="0"/>
                <a:cs typeface="Calibri" pitchFamily="34" charset="0"/>
              </a:rPr>
              <a:t>TTTai_san</a:t>
            </a:r>
            <a:r>
              <a:rPr lang="vi-VN" sz="1500">
                <a:solidFill>
                  <a:schemeClr val="accent2">
                    <a:lumMod val="50000"/>
                  </a:schemeClr>
                </a:solidFill>
                <a:latin typeface="Calibri" pitchFamily="34" charset="0"/>
                <a:cs typeface="Calibri" pitchFamily="34" charset="0"/>
              </a:rPr>
              <a:t> và </a:t>
            </a:r>
            <a:r>
              <a:rPr lang="vi-VN" sz="1500" i="1">
                <a:solidFill>
                  <a:schemeClr val="accent2">
                    <a:lumMod val="50000"/>
                  </a:schemeClr>
                </a:solidFill>
                <a:latin typeface="Calibri" pitchFamily="34" charset="0"/>
                <a:cs typeface="Calibri" pitchFamily="34" charset="0"/>
              </a:rPr>
              <a:t>GiayDeNghiVayVon </a:t>
            </a:r>
          </a:p>
          <a:p>
            <a:pPr marL="0" lvl="3" indent="0" algn="just">
              <a:spcBef>
                <a:spcPts val="0"/>
              </a:spcBef>
              <a:buClr>
                <a:srgbClr val="FF0066"/>
              </a:buClr>
              <a:buNone/>
            </a:pPr>
            <a:r>
              <a:rPr lang="vi-VN" sz="1800">
                <a:solidFill>
                  <a:schemeClr val="accent2">
                    <a:lumMod val="50000"/>
                  </a:schemeClr>
                </a:solidFill>
                <a:latin typeface="Calibri" pitchFamily="34" charset="0"/>
                <a:cs typeface="Calibri" pitchFamily="34" charset="0"/>
                <a:sym typeface="Wingdings" pitchFamily="2" charset="2"/>
              </a:rPr>
              <a:t>     </a:t>
            </a:r>
            <a:r>
              <a:rPr lang="vi-VN" sz="1600">
                <a:solidFill>
                  <a:schemeClr val="accent2">
                    <a:lumMod val="50000"/>
                  </a:schemeClr>
                </a:solidFill>
                <a:latin typeface="Calibri" pitchFamily="34" charset="0"/>
                <a:cs typeface="Calibri" pitchFamily="34" charset="0"/>
                <a:sym typeface="Wingdings" pitchFamily="2" charset="2"/>
              </a:rPr>
              <a:t> Tách thành một quan hệ trung gian</a:t>
            </a:r>
            <a:r>
              <a:rPr lang="vi-VN" sz="1600">
                <a:solidFill>
                  <a:schemeClr val="accent2">
                    <a:lumMod val="50000"/>
                  </a:schemeClr>
                </a:solidFill>
                <a:latin typeface="Calibri" pitchFamily="34" charset="0"/>
                <a:cs typeface="Calibri" pitchFamily="34" charset="0"/>
              </a:rPr>
              <a:t>     </a:t>
            </a: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20</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Quy tắc Chuẩn hóa </a:t>
            </a:r>
          </a:p>
          <a:p>
            <a:pPr marL="0" lvl="1"/>
            <a:r>
              <a:rPr lang="en-US" sz="1600" b="1">
                <a:solidFill>
                  <a:schemeClr val="accent6">
                    <a:lumMod val="75000"/>
                  </a:schemeClr>
                </a:solidFill>
                <a:cs typeface="Arial" pitchFamily="34" charset="0"/>
              </a:rPr>
              <a:t>2. Ví dụ</a:t>
            </a:r>
          </a:p>
        </p:txBody>
      </p:sp>
      <p:sp>
        <p:nvSpPr>
          <p:cNvPr id="9" name="Right Arrow 8"/>
          <p:cNvSpPr/>
          <p:nvPr/>
        </p:nvSpPr>
        <p:spPr>
          <a:xfrm>
            <a:off x="4486722" y="4365104"/>
            <a:ext cx="586962" cy="310344"/>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vi-VN"/>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516" y="1261514"/>
            <a:ext cx="4855468" cy="552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24" y="2204863"/>
            <a:ext cx="4324350" cy="458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3858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a:solidFill>
                  <a:schemeClr val="accent1">
                    <a:lumMod val="75000"/>
                  </a:schemeClr>
                </a:solidFill>
                <a:latin typeface="Calibri" pitchFamily="34" charset="0"/>
                <a:cs typeface="Calibri"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en-US" sz="2000">
                <a:solidFill>
                  <a:schemeClr val="bg2">
                    <a:lumMod val="50000"/>
                  </a:schemeClr>
                </a:solidFill>
                <a:latin typeface="Calibri" pitchFamily="34" charset="0"/>
                <a:cs typeface="Calibri" pitchFamily="34" charset="0"/>
              </a:rPr>
              <a:t>Chuẩn hóa biểu đồ lớp </a:t>
            </a:r>
            <a:r>
              <a:rPr lang="en-US" sz="2000" b="1" i="1">
                <a:solidFill>
                  <a:schemeClr val="bg2">
                    <a:lumMod val="50000"/>
                  </a:schemeClr>
                </a:solidFill>
                <a:latin typeface="Calibri" pitchFamily="34" charset="0"/>
                <a:cs typeface="Calibri" pitchFamily="34" charset="0"/>
              </a:rPr>
              <a:t>Giấy đề nghị vay vốn</a:t>
            </a:r>
            <a:endParaRPr lang="vi-VN" sz="2000">
              <a:solidFill>
                <a:schemeClr val="bg2">
                  <a:lumMod val="50000"/>
                </a:schemeClr>
              </a:solidFill>
              <a:latin typeface="Calibri" pitchFamily="34" charset="0"/>
              <a:cs typeface="Calibri" pitchFamily="34" charset="0"/>
            </a:endParaRPr>
          </a:p>
          <a:p>
            <a:pPr marL="285750" lvl="3" indent="-285750" algn="just">
              <a:spcBef>
                <a:spcPts val="0"/>
              </a:spcBef>
              <a:buClr>
                <a:srgbClr val="FF0066"/>
              </a:buClr>
            </a:pPr>
            <a:r>
              <a:rPr lang="vi-VN" sz="1800">
                <a:solidFill>
                  <a:schemeClr val="accent2">
                    <a:lumMod val="50000"/>
                  </a:schemeClr>
                </a:solidFill>
                <a:latin typeface="Calibri" pitchFamily="34" charset="0"/>
                <a:cs typeface="Calibri" pitchFamily="34" charset="0"/>
              </a:rPr>
              <a:t>Liên kết n-n: </a:t>
            </a:r>
            <a:r>
              <a:rPr lang="vi-VN" sz="1500" i="1">
                <a:solidFill>
                  <a:schemeClr val="accent2">
                    <a:lumMod val="50000"/>
                  </a:schemeClr>
                </a:solidFill>
                <a:latin typeface="Calibri" pitchFamily="34" charset="0"/>
                <a:cs typeface="Calibri" pitchFamily="34" charset="0"/>
              </a:rPr>
              <a:t>TTKhoan_vay_khac</a:t>
            </a:r>
            <a:r>
              <a:rPr lang="vi-VN" sz="1500">
                <a:solidFill>
                  <a:schemeClr val="accent2">
                    <a:lumMod val="50000"/>
                  </a:schemeClr>
                </a:solidFill>
                <a:latin typeface="Calibri" pitchFamily="34" charset="0"/>
                <a:cs typeface="Calibri" pitchFamily="34" charset="0"/>
              </a:rPr>
              <a:t> và </a:t>
            </a:r>
            <a:r>
              <a:rPr lang="vi-VN" sz="1500" i="1">
                <a:solidFill>
                  <a:schemeClr val="accent2">
                    <a:lumMod val="50000"/>
                  </a:schemeClr>
                </a:solidFill>
                <a:latin typeface="Calibri" pitchFamily="34" charset="0"/>
                <a:cs typeface="Calibri" pitchFamily="34" charset="0"/>
              </a:rPr>
              <a:t>GiayDeNghiVayVon </a:t>
            </a:r>
          </a:p>
          <a:p>
            <a:pPr marL="0" lvl="3" indent="0" algn="just">
              <a:spcBef>
                <a:spcPts val="0"/>
              </a:spcBef>
              <a:buClr>
                <a:srgbClr val="FF0066"/>
              </a:buClr>
              <a:buNone/>
            </a:pPr>
            <a:r>
              <a:rPr lang="vi-VN" sz="1800">
                <a:solidFill>
                  <a:schemeClr val="accent2">
                    <a:lumMod val="50000"/>
                  </a:schemeClr>
                </a:solidFill>
                <a:latin typeface="Calibri" pitchFamily="34" charset="0"/>
                <a:cs typeface="Calibri" pitchFamily="34" charset="0"/>
                <a:sym typeface="Wingdings" pitchFamily="2" charset="2"/>
              </a:rPr>
              <a:t>      </a:t>
            </a:r>
            <a:r>
              <a:rPr lang="vi-VN" sz="1600">
                <a:solidFill>
                  <a:schemeClr val="accent2">
                    <a:lumMod val="50000"/>
                  </a:schemeClr>
                </a:solidFill>
                <a:latin typeface="Calibri" pitchFamily="34" charset="0"/>
                <a:cs typeface="Calibri" pitchFamily="34" charset="0"/>
                <a:sym typeface="Wingdings" pitchFamily="2" charset="2"/>
              </a:rPr>
              <a:t> Tách thành một quan hệ trung gian</a:t>
            </a:r>
            <a:r>
              <a:rPr lang="vi-VN" sz="1600">
                <a:solidFill>
                  <a:schemeClr val="accent2">
                    <a:lumMod val="50000"/>
                  </a:schemeClr>
                </a:solidFill>
                <a:latin typeface="Calibri" pitchFamily="34" charset="0"/>
                <a:cs typeface="Calibri" pitchFamily="34" charset="0"/>
              </a:rPr>
              <a:t>     </a:t>
            </a:r>
          </a:p>
          <a:p>
            <a:pPr marL="0" lvl="1" indent="0" algn="just">
              <a:spcAft>
                <a:spcPts val="683"/>
              </a:spcAft>
              <a:buClr>
                <a:srgbClr val="FF0066"/>
              </a:buClr>
              <a:buNone/>
            </a:pPr>
            <a:endParaRPr lang="vi-VN"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21</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Quy tắc Chuẩn hóa </a:t>
            </a:r>
          </a:p>
          <a:p>
            <a:pPr marL="0" lvl="1"/>
            <a:r>
              <a:rPr lang="en-US" sz="1600" b="1">
                <a:solidFill>
                  <a:schemeClr val="accent6">
                    <a:lumMod val="75000"/>
                  </a:schemeClr>
                </a:solidFill>
                <a:cs typeface="Arial" pitchFamily="34" charset="0"/>
              </a:rPr>
              <a:t>2. Ví dụ</a:t>
            </a:r>
          </a:p>
        </p:txBody>
      </p:sp>
      <p:sp>
        <p:nvSpPr>
          <p:cNvPr id="9" name="Right Arrow 8"/>
          <p:cNvSpPr/>
          <p:nvPr/>
        </p:nvSpPr>
        <p:spPr>
          <a:xfrm>
            <a:off x="4486722" y="4365104"/>
            <a:ext cx="586962" cy="310344"/>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vi-V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941" y="2188840"/>
            <a:ext cx="4320480" cy="4598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7516" y="1196752"/>
            <a:ext cx="4855468" cy="55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62055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b="1">
                <a:solidFill>
                  <a:schemeClr val="accent6">
                    <a:lumMod val="75000"/>
                  </a:schemeClr>
                </a:solidFill>
                <a:latin typeface="Calibri (Body)"/>
                <a:cs typeface="Arial"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Thiết kế cơ sở dữ liệu vật lý là bước sử dụng một Hệ quản trị cơ sở dữ liệu (ví dụ SQL Server 2008) để chuyển đổi Mô hình dữ liệu logic thành các bảng dữ liệu lưu trữ được trong máy tính (cụ thể là lưu trữ trong Hệ quản trị cơ sở dữ liệu đó).</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Thiết kế cơ sở dữ liệu vật lý gồm 2 bước:</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Thiết kế các bảng dữ liệu.</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Tạo liên kết và ràng buộc giữa các bảng.</a:t>
            </a:r>
          </a:p>
          <a:p>
            <a:pPr marL="520523" lvl="1" indent="0" algn="just">
              <a:spcAft>
                <a:spcPts val="683"/>
              </a:spcAft>
              <a:buClr>
                <a:srgbClr val="FF0066"/>
              </a:buClr>
              <a:buNone/>
            </a:pPr>
            <a:endParaRPr lang="vi-VN" sz="1800">
              <a:solidFill>
                <a:schemeClr val="accent2">
                  <a:lumMod val="50000"/>
                </a:schemeClr>
              </a:solidFill>
              <a:latin typeface="Calibri" pitchFamily="34" charset="0"/>
              <a:cs typeface="Calibri" pitchFamily="34" charset="0"/>
            </a:endParaRPr>
          </a:p>
          <a:p>
            <a:pPr marL="520523" lvl="1" indent="0" algn="just">
              <a:spcAft>
                <a:spcPts val="683"/>
              </a:spcAft>
              <a:buClr>
                <a:srgbClr val="FF0066"/>
              </a:buClr>
              <a:buNone/>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22</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cs typeface="Arial" pitchFamily="34" charset="0"/>
              </a:rPr>
              <a:t>1. Quy tắc thiết kế</a:t>
            </a:r>
          </a:p>
          <a:p>
            <a:pPr marL="0" lvl="1"/>
            <a:r>
              <a:rPr lang="en-US" sz="1600">
                <a:solidFill>
                  <a:schemeClr val="tx2"/>
                </a:solidFill>
                <a:ea typeface="+mj-ea"/>
                <a:cs typeface="Arial" pitchFamily="34" charset="0"/>
              </a:rPr>
              <a:t>2. Ví dụ</a:t>
            </a:r>
          </a:p>
        </p:txBody>
      </p:sp>
    </p:spTree>
    <p:extLst>
      <p:ext uri="{BB962C8B-B14F-4D97-AF65-F5344CB8AC3E}">
        <p14:creationId xmlns:p14="http://schemas.microsoft.com/office/powerpoint/2010/main" val="1277440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b="1">
                <a:solidFill>
                  <a:schemeClr val="accent6">
                    <a:lumMod val="75000"/>
                  </a:schemeClr>
                </a:solidFill>
                <a:latin typeface="Calibri (Body)"/>
                <a:cs typeface="Arial"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lnSpcReduction="10000"/>
          </a:bodyPr>
          <a:lstStyle/>
          <a:p>
            <a:pPr marL="0" lvl="1" indent="0" algn="just">
              <a:spcAft>
                <a:spcPts val="683"/>
              </a:spcAft>
              <a:buClr>
                <a:srgbClr val="FF0066"/>
              </a:buClr>
              <a:buNone/>
            </a:pPr>
            <a:r>
              <a:rPr lang="vi-VN" sz="2000" i="1">
                <a:solidFill>
                  <a:schemeClr val="accent2">
                    <a:lumMod val="50000"/>
                  </a:schemeClr>
                </a:solidFill>
                <a:latin typeface="Calibri" pitchFamily="34" charset="0"/>
                <a:cs typeface="Calibri" pitchFamily="34" charset="0"/>
              </a:rPr>
              <a:t>Thiết kế các bảng dữ liệu: </a:t>
            </a: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Mỗi một quan hệ (lớp) được chuyển tương ứng thành một bảng dữ liệu vật lý, theo các quy tắc sau:</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Với mỗi bảng cần chỉ rõ: </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Khoá chính (có thể gồm một hay nhiều thuộc tính). </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Mô tả của tất cả các cột (trường). </a:t>
            </a: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Với mỗi cột (trường) cần phải có: </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Tên cột (duy nhất trong bảng chứa nó, cần đủ nghĩa nhưng không nên quá dài). </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Mô tả ngắn gọn. </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Kiểu dữ liệu (ví dụ: integer,  char,  date,  logical,… phụ thuộc vào từng hệ quản trị cơ sở dữ liệu) </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Kích thước (mặc định hay chỉ rõ tuỳ từng kiểu dữ liệu).</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Định dạng hay Giá trị mặc định.</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Allows NULL: gồm 2 trường hợp NULL và NOT NULL, nếu là NOT NULL thì người dùng cần phải cung cấp một giá trị cho cột này.</a:t>
            </a:r>
          </a:p>
          <a:p>
            <a:pPr lvl="2" algn="just">
              <a:spcAft>
                <a:spcPts val="683"/>
              </a:spcAft>
              <a:buClr>
                <a:srgbClr val="FF0066"/>
              </a:buClr>
            </a:pPr>
            <a:r>
              <a:rPr lang="vi-VN" sz="1600">
                <a:solidFill>
                  <a:schemeClr val="accent2">
                    <a:lumMod val="50000"/>
                  </a:schemeClr>
                </a:solidFill>
                <a:latin typeface="Calibri" pitchFamily="34" charset="0"/>
                <a:cs typeface="Calibri" pitchFamily="34" charset="0"/>
              </a:rPr>
              <a:t>Ràng buộc: các điều kiện ràng buộc nếu có.</a:t>
            </a: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23</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cs typeface="Arial" pitchFamily="34" charset="0"/>
              </a:rPr>
              <a:t>1. Quy tắc thiết kế</a:t>
            </a:r>
          </a:p>
          <a:p>
            <a:pPr marL="0" lvl="1"/>
            <a:r>
              <a:rPr lang="en-US" sz="1600">
                <a:solidFill>
                  <a:schemeClr val="tx2"/>
                </a:solidFill>
                <a:ea typeface="+mj-ea"/>
                <a:cs typeface="Arial" pitchFamily="34" charset="0"/>
              </a:rPr>
              <a:t>2. Ví dụ</a:t>
            </a:r>
          </a:p>
        </p:txBody>
      </p:sp>
    </p:spTree>
    <p:extLst>
      <p:ext uri="{BB962C8B-B14F-4D97-AF65-F5344CB8AC3E}">
        <p14:creationId xmlns:p14="http://schemas.microsoft.com/office/powerpoint/2010/main" val="4025891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b="1">
                <a:solidFill>
                  <a:schemeClr val="accent6">
                    <a:lumMod val="75000"/>
                  </a:schemeClr>
                </a:solidFill>
                <a:latin typeface="Calibri (Body)"/>
                <a:cs typeface="Arial"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vi-VN" sz="2000" i="1">
                <a:solidFill>
                  <a:schemeClr val="accent2">
                    <a:lumMod val="50000"/>
                  </a:schemeClr>
                </a:solidFill>
                <a:latin typeface="Calibri" pitchFamily="34" charset="0"/>
                <a:cs typeface="Calibri" pitchFamily="34" charset="0"/>
              </a:rPr>
              <a:t>Thiết kế các bảng dữ liệu biểu đồ lớp Giấy đề nghị vay vốn: </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Bảng chi nhánh:</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24</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Quy tắc thiết kế</a:t>
            </a:r>
          </a:p>
          <a:p>
            <a:pPr marL="0" lvl="1"/>
            <a:r>
              <a:rPr lang="en-US" sz="1600" b="1">
                <a:solidFill>
                  <a:schemeClr val="accent6">
                    <a:lumMod val="75000"/>
                  </a:schemeClr>
                </a:solidFill>
                <a:cs typeface="Arial" pitchFamily="34" charset="0"/>
              </a:rPr>
              <a:t>2. Ví dụ</a:t>
            </a:r>
          </a:p>
        </p:txBody>
      </p:sp>
      <p:graphicFrame>
        <p:nvGraphicFramePr>
          <p:cNvPr id="10" name="Table 9"/>
          <p:cNvGraphicFramePr>
            <a:graphicFrameLocks noGrp="1"/>
          </p:cNvGraphicFramePr>
          <p:nvPr>
            <p:extLst>
              <p:ext uri="{D42A27DB-BD31-4B8C-83A1-F6EECF244321}">
                <p14:modId xmlns:p14="http://schemas.microsoft.com/office/powerpoint/2010/main" val="211924852"/>
              </p:ext>
            </p:extLst>
          </p:nvPr>
        </p:nvGraphicFramePr>
        <p:xfrm>
          <a:off x="318964" y="2204864"/>
          <a:ext cx="9334038" cy="2523744"/>
        </p:xfrm>
        <a:graphic>
          <a:graphicData uri="http://schemas.openxmlformats.org/drawingml/2006/table">
            <a:tbl>
              <a:tblPr firstRow="1" firstCol="1" bandRow="1"/>
              <a:tblGrid>
                <a:gridCol w="2016224">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gridCol w="1368152">
                  <a:extLst>
                    <a:ext uri="{9D8B030D-6E8A-4147-A177-3AD203B41FA5}">
                      <a16:colId xmlns:a16="http://schemas.microsoft.com/office/drawing/2014/main" val="20004"/>
                    </a:ext>
                  </a:extLst>
                </a:gridCol>
                <a:gridCol w="1368152">
                  <a:extLst>
                    <a:ext uri="{9D8B030D-6E8A-4147-A177-3AD203B41FA5}">
                      <a16:colId xmlns:a16="http://schemas.microsoft.com/office/drawing/2014/main" val="20005"/>
                    </a:ext>
                  </a:extLst>
                </a:gridCol>
                <a:gridCol w="1341150">
                  <a:extLst>
                    <a:ext uri="{9D8B030D-6E8A-4147-A177-3AD203B41FA5}">
                      <a16:colId xmlns:a16="http://schemas.microsoft.com/office/drawing/2014/main" val="20006"/>
                    </a:ext>
                  </a:extLst>
                </a:gridCol>
              </a:tblGrid>
              <a:tr h="0">
                <a:tc gridSpan="7">
                  <a:txBody>
                    <a:bodyPr/>
                    <a:lstStyle/>
                    <a:p>
                      <a:pPr algn="just">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Chi_nhanh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0">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Tên cột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Mô tả</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Kiểu dữ liệu</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Kích thước</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Định dạng</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Allows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Ràng buộc</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extLst>
                  <a:ext uri="{0D108BD9-81ED-4DB2-BD59-A6C34878D82A}">
                    <a16:rowId xmlns:a16="http://schemas.microsoft.com/office/drawing/2014/main" val="10001"/>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Ma_chi_nhanh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Mã chi nhánh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nvarchar</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10</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AAAxxxx.xxx</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Khóa chính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Ten_chi_nhanh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Tên chi nhánh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nvarchar</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50</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Dia_chi_chi_nhanh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Địa chỉ</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nvarchar</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100</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Dien_thoai_chi_nhanh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Điện thoại</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nvarchar</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20</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(___)xxx.xx.xx</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Email_chi_nhanh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Email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nvarchar</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50</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Ghi_chu</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Ghi chú</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nvarchar</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100</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824377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Mô hình dữ liệu quan hệ</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2. </a:t>
            </a:r>
            <a:r>
              <a:rPr lang="vi-VN" sz="1600">
                <a:solidFill>
                  <a:schemeClr val="accent1">
                    <a:lumMod val="75000"/>
                  </a:schemeClr>
                </a:solidFill>
                <a:latin typeface="Calibri" pitchFamily="34" charset="0"/>
                <a:cs typeface="Calibri" pitchFamily="34" charset="0"/>
              </a:rPr>
              <a:t>Các dạng chuẩn và chuẩn hóa quan hệ</a:t>
            </a:r>
            <a:br>
              <a:rPr lang="vi-VN" sz="1600">
                <a:solidFill>
                  <a:schemeClr val="accent1">
                    <a:lumMod val="75000"/>
                  </a:schemeClr>
                </a:solidFill>
                <a:latin typeface="Calibri" pitchFamily="34" charset="0"/>
                <a:cs typeface="Calibri" pitchFamily="34" charset="0"/>
              </a:rPr>
            </a:br>
            <a:r>
              <a:rPr lang="en-US" sz="1600">
                <a:solidFill>
                  <a:schemeClr val="accent1">
                    <a:lumMod val="75000"/>
                  </a:schemeClr>
                </a:solidFill>
                <a:latin typeface="Calibri" pitchFamily="34" charset="0"/>
                <a:cs typeface="Calibri" pitchFamily="34" charset="0"/>
              </a:rPr>
              <a:t>3. </a:t>
            </a:r>
            <a:r>
              <a:rPr lang="vi-VN" sz="1600">
                <a:solidFill>
                  <a:schemeClr val="accent1">
                    <a:lumMod val="75000"/>
                  </a:schemeClr>
                </a:solidFill>
                <a:latin typeface="Calibri" pitchFamily="34" charset="0"/>
                <a:cs typeface="Calibri" pitchFamily="34" charset="0"/>
              </a:rPr>
              <a:t>Chuẩn hóa biểu đồ lớp</a:t>
            </a:r>
            <a:br>
              <a:rPr lang="vi-VN" sz="1600">
                <a:solidFill>
                  <a:schemeClr val="accent1">
                    <a:lumMod val="75000"/>
                  </a:schemeClr>
                </a:solidFill>
                <a:latin typeface="Calibri" pitchFamily="34" charset="0"/>
                <a:cs typeface="Calibri" pitchFamily="34" charset="0"/>
              </a:rPr>
            </a:br>
            <a:r>
              <a:rPr lang="vi-VN" sz="1600" b="1">
                <a:solidFill>
                  <a:schemeClr val="accent6">
                    <a:lumMod val="75000"/>
                  </a:schemeClr>
                </a:solidFill>
                <a:latin typeface="Calibri (Body)"/>
                <a:cs typeface="Arial" pitchFamily="34" charset="0"/>
              </a:rPr>
              <a:t>4. Thiết kế cơ sở dữ liệu vật lý</a:t>
            </a:r>
            <a:br>
              <a:rPr lang="vi-VN" sz="1600">
                <a:solidFill>
                  <a:schemeClr val="accent1">
                    <a:lumMod val="75000"/>
                  </a:schemeClr>
                </a:solidFill>
                <a:latin typeface="+mn-lt"/>
                <a:cs typeface="Arial" pitchFamily="34" charset="0"/>
              </a:rPr>
            </a:br>
            <a:br>
              <a:rPr lang="en-US"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br>
              <a:rPr lang="vi-VN" sz="160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r>
              <a:rPr lang="vi-VN" sz="2000" i="1">
                <a:solidFill>
                  <a:schemeClr val="bg2">
                    <a:lumMod val="50000"/>
                  </a:schemeClr>
                </a:solidFill>
                <a:latin typeface="Calibri" pitchFamily="34" charset="0"/>
                <a:cs typeface="Calibri" pitchFamily="34" charset="0"/>
              </a:rPr>
              <a:t>Thiết kế các bảng dữ liệu biểu đồ lớp Giấy đề nghị vay vốn: </a:t>
            </a: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Bảng cam kết:</a:t>
            </a:r>
          </a:p>
          <a:p>
            <a:pPr marL="0" lvl="1" indent="0" algn="just">
              <a:spcAft>
                <a:spcPts val="683"/>
              </a:spcAft>
              <a:buClr>
                <a:srgbClr val="FF0066"/>
              </a:buClr>
              <a:buNone/>
            </a:pPr>
            <a:endParaRPr lang="en-US" sz="18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18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18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18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18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18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18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r>
              <a:rPr lang="en-US" sz="1800">
                <a:solidFill>
                  <a:schemeClr val="accent2">
                    <a:lumMod val="50000"/>
                  </a:schemeClr>
                </a:solidFill>
                <a:latin typeface="Calibri" pitchFamily="34" charset="0"/>
                <a:cs typeface="Calibri" pitchFamily="34" charset="0"/>
              </a:rPr>
              <a:t>Các bảng khác thực hiện tương tự.</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25</a:t>
            </a:fld>
            <a:endParaRPr lang="vi-VN"/>
          </a:p>
        </p:txBody>
      </p:sp>
      <p:sp>
        <p:nvSpPr>
          <p:cNvPr id="7" name="Title 1"/>
          <p:cNvSpPr txBox="1">
            <a:spLocks/>
          </p:cNvSpPr>
          <p:nvPr/>
        </p:nvSpPr>
        <p:spPr>
          <a:xfrm>
            <a:off x="6903000"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Quy tắc thiết kế</a:t>
            </a:r>
          </a:p>
          <a:p>
            <a:pPr marL="0" lvl="1"/>
            <a:r>
              <a:rPr lang="en-US" sz="1600" b="1">
                <a:solidFill>
                  <a:schemeClr val="accent6">
                    <a:lumMod val="75000"/>
                  </a:schemeClr>
                </a:solidFill>
                <a:cs typeface="Arial" pitchFamily="34" charset="0"/>
              </a:rPr>
              <a:t>2. Ví dụ</a:t>
            </a:r>
          </a:p>
        </p:txBody>
      </p:sp>
      <p:graphicFrame>
        <p:nvGraphicFramePr>
          <p:cNvPr id="11" name="Table 10"/>
          <p:cNvGraphicFramePr>
            <a:graphicFrameLocks noGrp="1"/>
          </p:cNvGraphicFramePr>
          <p:nvPr>
            <p:extLst>
              <p:ext uri="{D42A27DB-BD31-4B8C-83A1-F6EECF244321}">
                <p14:modId xmlns:p14="http://schemas.microsoft.com/office/powerpoint/2010/main" val="1239382957"/>
              </p:ext>
            </p:extLst>
          </p:nvPr>
        </p:nvGraphicFramePr>
        <p:xfrm>
          <a:off x="390972" y="2204864"/>
          <a:ext cx="9217025" cy="2604897"/>
        </p:xfrm>
        <a:graphic>
          <a:graphicData uri="http://schemas.openxmlformats.org/drawingml/2006/table">
            <a:tbl>
              <a:tblPr firstRow="1" firstCol="1" bandRow="1"/>
              <a:tblGrid>
                <a:gridCol w="1584176">
                  <a:extLst>
                    <a:ext uri="{9D8B030D-6E8A-4147-A177-3AD203B41FA5}">
                      <a16:colId xmlns:a16="http://schemas.microsoft.com/office/drawing/2014/main" val="20000"/>
                    </a:ext>
                  </a:extLst>
                </a:gridCol>
                <a:gridCol w="1741812">
                  <a:extLst>
                    <a:ext uri="{9D8B030D-6E8A-4147-A177-3AD203B41FA5}">
                      <a16:colId xmlns:a16="http://schemas.microsoft.com/office/drawing/2014/main" val="20001"/>
                    </a:ext>
                  </a:extLst>
                </a:gridCol>
                <a:gridCol w="1208725">
                  <a:extLst>
                    <a:ext uri="{9D8B030D-6E8A-4147-A177-3AD203B41FA5}">
                      <a16:colId xmlns:a16="http://schemas.microsoft.com/office/drawing/2014/main" val="20002"/>
                    </a:ext>
                  </a:extLst>
                </a:gridCol>
                <a:gridCol w="1094035">
                  <a:extLst>
                    <a:ext uri="{9D8B030D-6E8A-4147-A177-3AD203B41FA5}">
                      <a16:colId xmlns:a16="http://schemas.microsoft.com/office/drawing/2014/main" val="20003"/>
                    </a:ext>
                  </a:extLst>
                </a:gridCol>
                <a:gridCol w="1067996">
                  <a:extLst>
                    <a:ext uri="{9D8B030D-6E8A-4147-A177-3AD203B41FA5}">
                      <a16:colId xmlns:a16="http://schemas.microsoft.com/office/drawing/2014/main" val="20004"/>
                    </a:ext>
                  </a:extLst>
                </a:gridCol>
                <a:gridCol w="1008112">
                  <a:extLst>
                    <a:ext uri="{9D8B030D-6E8A-4147-A177-3AD203B41FA5}">
                      <a16:colId xmlns:a16="http://schemas.microsoft.com/office/drawing/2014/main" val="20005"/>
                    </a:ext>
                  </a:extLst>
                </a:gridCol>
                <a:gridCol w="1512169">
                  <a:extLst>
                    <a:ext uri="{9D8B030D-6E8A-4147-A177-3AD203B41FA5}">
                      <a16:colId xmlns:a16="http://schemas.microsoft.com/office/drawing/2014/main" val="20006"/>
                    </a:ext>
                  </a:extLst>
                </a:gridCol>
              </a:tblGrid>
              <a:tr h="0">
                <a:tc gridSpan="7">
                  <a:txBody>
                    <a:bodyPr/>
                    <a:lstStyle/>
                    <a:p>
                      <a:pPr algn="just">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Cam_ket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0">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Tên cột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Mô tả</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Kiểu dữ liệu</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Kích thước</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Định dạng</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Allows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tc>
                  <a:txBody>
                    <a:bodyPr/>
                    <a:lstStyle/>
                    <a:p>
                      <a:pPr algn="ct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Ràng buộc</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DD4"/>
                    </a:solidFill>
                  </a:tcPr>
                </a:tc>
                <a:extLst>
                  <a:ext uri="{0D108BD9-81ED-4DB2-BD59-A6C34878D82A}">
                    <a16:rowId xmlns:a16="http://schemas.microsoft.com/office/drawing/2014/main" val="10001"/>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Ma_cam_ket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Mã cam kết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nvarchar</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10</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Khóa chính</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Ten_cam_ket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Tên cam kết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nvarchar</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50</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ThoigianBatdau</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Thời gian bắt đầu áp dụng cam kết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datetime</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8</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vi-VN" sz="1600" kern="1200">
                          <a:solidFill>
                            <a:schemeClr val="accent2">
                              <a:lumMod val="50000"/>
                            </a:schemeClr>
                          </a:solidFill>
                          <a:latin typeface="Calibri" pitchFamily="34" charset="0"/>
                          <a:ea typeface="+mn-ea"/>
                          <a:cs typeface="Calibri"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1985">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ThoigianKetthuc</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Thời gian kết thúc áp dụng cam kết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datetime</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8</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NOT NULL</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kern="1200">
                          <a:solidFill>
                            <a:schemeClr val="accent2">
                              <a:lumMod val="50000"/>
                            </a:schemeClr>
                          </a:solidFill>
                          <a:latin typeface="Calibri" pitchFamily="34" charset="0"/>
                          <a:ea typeface="+mn-ea"/>
                          <a:cs typeface="Calibri" pitchFamily="34" charset="0"/>
                        </a:rPr>
                        <a:t>Sau thời gian bắt đầu</a:t>
                      </a:r>
                      <a:endParaRPr lang="vi-VN" sz="1600" kern="1200">
                        <a:solidFill>
                          <a:schemeClr val="accent2">
                            <a:lumMod val="50000"/>
                          </a:schemeClr>
                        </a:solidFill>
                        <a:latin typeface="Calibri" pitchFamily="34" charset="0"/>
                        <a:ea typeface="+mn-ea"/>
                        <a:cs typeface="Calibri"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27320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26</a:t>
            </a:fld>
            <a:endParaRPr lang="vi-V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169" y="1836016"/>
            <a:ext cx="5583051" cy="265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8897177"/>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31852</TotalTime>
  <Words>4007</Words>
  <Application>Microsoft Office PowerPoint</Application>
  <PresentationFormat>35mm Slides</PresentationFormat>
  <Paragraphs>547</Paragraphs>
  <Slides>26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(Body)</vt:lpstr>
      <vt:lpstr>Symbol</vt:lpstr>
      <vt:lpstr>Times New Roman</vt:lpstr>
      <vt:lpstr>Office Theme</vt:lpstr>
      <vt:lpstr>PowerPoint Presentation</vt:lpstr>
      <vt:lpstr>Chương 6: Thiết kế cơ sở dữ liệu</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    1. Mô hình dữ liệu quan hệ 2. Các dạng chuẩn và chuẩn hóa quan hệ 3. Chuẩn hóa biểu đồ lớp 4. Thiết kế cơ sở dữ liệu vật lý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KỸ THUẬT KHAI PHÁ MẪU DẪY VÀ MẪU THỨ TỰ BỘ PHẬN TRONG KHAI PHÁ QUY TRÌNH</dc:title>
  <dc:creator>LAMNHUNG</dc:creator>
  <cp:lastModifiedBy>Anh Nguyen Hoang</cp:lastModifiedBy>
  <cp:revision>2165</cp:revision>
  <dcterms:created xsi:type="dcterms:W3CDTF">2014-03-12T02:40:35Z</dcterms:created>
  <dcterms:modified xsi:type="dcterms:W3CDTF">2023-10-20T07:22:59Z</dcterms:modified>
</cp:coreProperties>
</file>