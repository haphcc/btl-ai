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79" r:id="rId2"/>
    <p:sldMasterId id="2147483682" r:id="rId3"/>
  </p:sldMasterIdLst>
  <p:notesMasterIdLst>
    <p:notesMasterId r:id="rId21"/>
  </p:notesMasterIdLst>
  <p:sldIdLst>
    <p:sldId id="424" r:id="rId4"/>
    <p:sldId id="426" r:id="rId5"/>
    <p:sldId id="271" r:id="rId6"/>
    <p:sldId id="427" r:id="rId7"/>
    <p:sldId id="432" r:id="rId8"/>
    <p:sldId id="448" r:id="rId9"/>
    <p:sldId id="425" r:id="rId10"/>
    <p:sldId id="449" r:id="rId11"/>
    <p:sldId id="428" r:id="rId12"/>
    <p:sldId id="450" r:id="rId13"/>
    <p:sldId id="433" r:id="rId14"/>
    <p:sldId id="434" r:id="rId15"/>
    <p:sldId id="451" r:id="rId16"/>
    <p:sldId id="453" r:id="rId17"/>
    <p:sldId id="452" r:id="rId18"/>
    <p:sldId id="454" r:id="rId19"/>
    <p:sldId id="269" r:id="rId20"/>
  </p:sldIdLst>
  <p:sldSz cx="12192000" cy="6858000"/>
  <p:notesSz cx="9866313" cy="6735763"/>
  <p:embeddedFontLst>
    <p:embeddedFont>
      <p:font typeface="Cambria" panose="02040503050406030204" pitchFamily="18" charset="0"/>
      <p:regular r:id="rId22"/>
      <p:bold r:id="rId23"/>
      <p:italic r:id="rId24"/>
      <p:boldItalic r:id="rId25"/>
    </p:embeddedFont>
    <p:embeddedFont>
      <p:font typeface="Montserrat" pitchFamily="2" charset="77"/>
      <p:regular r:id="rId26"/>
      <p:bold r:id="rId27"/>
      <p:italic r:id="rId28"/>
      <p:boldItalic r:id="rId29"/>
    </p:embeddedFont>
    <p:embeddedFont>
      <p:font typeface="Montserrat ExtraBold" pitchFamily="2" charset="77"/>
      <p:bold r:id="rId30"/>
      <p:italic r:id="rId31"/>
      <p:boldItalic r:id="rId32"/>
    </p:embeddedFont>
    <p:embeddedFont>
      <p:font typeface="Tahoma" panose="020B0604030504040204" pitchFamily="3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007" userDrawn="1">
          <p15:clr>
            <a:srgbClr val="A4A3A4"/>
          </p15:clr>
        </p15:guide>
        <p15:guide id="4" pos="100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2122">
          <p15:clr>
            <a:srgbClr val="A4A3A4"/>
          </p15:clr>
        </p15:guide>
        <p15:guide id="4" pos="3108">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7" roundtripDataSignature="AMtx7miiZIM2V1/NZs5S6mKG04YKTCieJ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8E6D63-65F8-485C-9E8A-41E3483CDB1E}">
  <a:tblStyle styleId="{958E6D63-65F8-485C-9E8A-41E3483CDB1E}" styleName="Table_0">
    <a:wholeTbl>
      <a:tcTxStyle b="off" i="off">
        <a:font>
          <a:latin typeface="Cambria"/>
          <a:ea typeface="Cambria"/>
          <a:cs typeface="Cambria"/>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E2F60149-2BC1-4A5F-89BA-D39A3DD5D962}" styleName="Table_1">
    <a:wholeTbl>
      <a:tcTxStyle b="off" i="off">
        <a:font>
          <a:latin typeface="Cambria"/>
          <a:ea typeface="Cambria"/>
          <a:cs typeface="Cambri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EAE6"/>
          </a:solidFill>
        </a:fill>
      </a:tcStyle>
    </a:wholeTbl>
    <a:band1H>
      <a:tcTxStyle b="off" i="off"/>
      <a:tcStyle>
        <a:tcBdr/>
        <a:fill>
          <a:solidFill>
            <a:srgbClr val="FFD2CA"/>
          </a:solidFill>
        </a:fill>
      </a:tcStyle>
    </a:band1H>
    <a:band2H>
      <a:tcTxStyle b="off" i="off"/>
      <a:tcStyle>
        <a:tcBdr/>
      </a:tcStyle>
    </a:band2H>
    <a:band1V>
      <a:tcTxStyle b="off" i="off"/>
      <a:tcStyle>
        <a:tcBdr/>
        <a:fill>
          <a:solidFill>
            <a:srgbClr val="FFD2CA"/>
          </a:solidFill>
        </a:fill>
      </a:tcStyle>
    </a:band1V>
    <a:band2V>
      <a:tcTxStyle b="off" i="off"/>
      <a:tcStyle>
        <a:tcBdr/>
      </a:tcStyle>
    </a:band2V>
    <a:lastCol>
      <a:tcTxStyle b="on" i="off">
        <a:font>
          <a:latin typeface="Cambria"/>
          <a:ea typeface="Cambria"/>
          <a:cs typeface="Cambria"/>
        </a:font>
        <a:schemeClr val="lt1"/>
      </a:tcTxStyle>
      <a:tcStyle>
        <a:tcBdr/>
        <a:fill>
          <a:solidFill>
            <a:schemeClr val="accent1"/>
          </a:solidFill>
        </a:fill>
      </a:tcStyle>
    </a:lastCol>
    <a:firstCol>
      <a:tcTxStyle b="on" i="off">
        <a:font>
          <a:latin typeface="Cambria"/>
          <a:ea typeface="Cambria"/>
          <a:cs typeface="Cambria"/>
        </a:font>
        <a:schemeClr val="lt1"/>
      </a:tcTxStyle>
      <a:tcStyle>
        <a:tcBdr/>
        <a:fill>
          <a:solidFill>
            <a:schemeClr val="accent1"/>
          </a:solidFill>
        </a:fill>
      </a:tcStyle>
    </a:firstCol>
    <a:lastRow>
      <a:tcTxStyle b="on" i="off">
        <a:font>
          <a:latin typeface="Cambria"/>
          <a:ea typeface="Cambria"/>
          <a:cs typeface="Cambri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mbria"/>
          <a:ea typeface="Cambria"/>
          <a:cs typeface="Cambri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78C6A0BA-34FF-486D-95AF-279E8226C26B}" styleName="Table_2">
    <a:wholeTbl>
      <a:tcTxStyle b="off" i="off">
        <a:font>
          <a:latin typeface="Cambria"/>
          <a:ea typeface="Cambria"/>
          <a:cs typeface="Cambri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AE9"/>
          </a:solidFill>
        </a:fill>
      </a:tcStyle>
    </a:wholeTbl>
    <a:band1H>
      <a:tcTxStyle b="off" i="off"/>
      <a:tcStyle>
        <a:tcBdr/>
        <a:fill>
          <a:solidFill>
            <a:srgbClr val="D4D2D0"/>
          </a:solidFill>
        </a:fill>
      </a:tcStyle>
    </a:band1H>
    <a:band2H>
      <a:tcTxStyle b="off" i="off"/>
      <a:tcStyle>
        <a:tcBdr/>
      </a:tcStyle>
    </a:band2H>
    <a:band1V>
      <a:tcTxStyle b="off" i="off"/>
      <a:tcStyle>
        <a:tcBdr/>
        <a:fill>
          <a:solidFill>
            <a:srgbClr val="D4D2D0"/>
          </a:solidFill>
        </a:fill>
      </a:tcStyle>
    </a:band1V>
    <a:band2V>
      <a:tcTxStyle b="off" i="off"/>
      <a:tcStyle>
        <a:tcBdr/>
      </a:tcStyle>
    </a:band2V>
    <a:lastCol>
      <a:tcTxStyle b="on" i="off">
        <a:font>
          <a:latin typeface="Cambria"/>
          <a:ea typeface="Cambria"/>
          <a:cs typeface="Cambria"/>
        </a:font>
        <a:schemeClr val="lt1"/>
      </a:tcTxStyle>
      <a:tcStyle>
        <a:tcBdr/>
        <a:fill>
          <a:solidFill>
            <a:schemeClr val="accent2"/>
          </a:solidFill>
        </a:fill>
      </a:tcStyle>
    </a:lastCol>
    <a:firstCol>
      <a:tcTxStyle b="on" i="off">
        <a:font>
          <a:latin typeface="Cambria"/>
          <a:ea typeface="Cambria"/>
          <a:cs typeface="Cambria"/>
        </a:font>
        <a:schemeClr val="lt1"/>
      </a:tcTxStyle>
      <a:tcStyle>
        <a:tcBdr/>
        <a:fill>
          <a:solidFill>
            <a:schemeClr val="accent2"/>
          </a:solidFill>
        </a:fill>
      </a:tcStyle>
    </a:firstCol>
    <a:lastRow>
      <a:tcTxStyle b="on" i="off">
        <a:font>
          <a:latin typeface="Cambria"/>
          <a:ea typeface="Cambria"/>
          <a:cs typeface="Cambria"/>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b="off" i="off"/>
      <a:tcStyle>
        <a:tcBdr/>
      </a:tcStyle>
    </a:seCell>
    <a:swCell>
      <a:tcTxStyle b="off" i="off"/>
      <a:tcStyle>
        <a:tcBdr/>
      </a:tcStyle>
    </a:swCell>
    <a:firstRow>
      <a:tcTxStyle b="on" i="off">
        <a:font>
          <a:latin typeface="Cambria"/>
          <a:ea typeface="Cambria"/>
          <a:cs typeface="Cambria"/>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72" autoAdjust="0"/>
    <p:restoredTop sz="94658"/>
  </p:normalViewPr>
  <p:slideViewPr>
    <p:cSldViewPr snapToGrid="0">
      <p:cViewPr varScale="1">
        <p:scale>
          <a:sx n="84" d="100"/>
          <a:sy n="84" d="100"/>
        </p:scale>
        <p:origin x="192" y="960"/>
      </p:cViewPr>
      <p:guideLst>
        <p:guide orient="horz" pos="2160"/>
        <p:guide pos="3840"/>
        <p:guide pos="1007"/>
        <p:guide pos="1008"/>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 orient="horz" pos="2122"/>
        <p:guide pos="31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109" Type="http://schemas.openxmlformats.org/officeDocument/2006/relationships/viewProps" Target="viewProps.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33" Type="http://schemas.openxmlformats.org/officeDocument/2006/relationships/font" Target="fonts/font12.fntdata"/><Relationship Id="rId10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8.fntdata"/><Relationship Id="rId107" Type="http://customschemas.google.com/relationships/presentationmetadata" Target="metadata"/><Relationship Id="rId11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3.fntdata"/><Relationship Id="rId32" Type="http://schemas.openxmlformats.org/officeDocument/2006/relationships/font" Target="fonts/font11.fntdata"/><Relationship Id="rId11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0.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4275401" cy="336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588628" y="0"/>
            <a:ext cx="4275401" cy="336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689225" y="504825"/>
            <a:ext cx="4487863" cy="25257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86632" y="3199488"/>
            <a:ext cx="7893050" cy="303109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2"/>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2"/>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2"/>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2"/>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2"/>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6397806"/>
            <a:ext cx="4275401" cy="33678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588628" y="6397806"/>
            <a:ext cx="4275401" cy="33678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b="1" dirty="0">
                <a:latin typeface="Montserrat" panose="00000500000000000000" pitchFamily="2" charset="0"/>
              </a:rPr>
              <a:t>TRANG ĐẦU</a:t>
            </a:r>
          </a:p>
        </p:txBody>
      </p:sp>
      <p:sp>
        <p:nvSpPr>
          <p:cNvPr id="43" name="Google Shape;43;p1: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51" name="Google Shape;51;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4F0D-9C3F-CF68-FF5B-A9F6A45FC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FA81AE-9AE0-B3E6-0EB2-693609437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0E568D-70D3-B357-F902-381BE07C508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2575935-ED91-337B-39B3-05F2D7A37D77}"/>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97254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10810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82C4E-0EBB-6255-1EF5-F04520B2C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56181-B0B9-AF1F-A58B-0751BF8E2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BCE54-C27C-003B-CCD0-159E23455A01}"/>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9E372A31-9985-713D-4834-4B702ECB242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03776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B2F8A-EC15-4BE1-5D2D-7207B0A01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EE281-A6AA-18A8-BBB2-BA9E05BF1F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74A19-235A-3C39-41F9-0173DF1B48E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D83C012-AE24-F322-DEDB-427F0CD84D0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96572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4528-5D8A-6BA1-8EB6-1EBE8D4F2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48EB4-2529-83AC-273A-EFF21A4110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0C7C0-D826-2EC2-31B2-132F1D2BE9E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56E85C4-40CD-7523-71FC-20A94EDC196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36531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FF316-DC90-EF06-043F-B09371CD4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B8732-7193-E6A5-798A-3B7410A770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0528C-2EDD-E9B0-627E-13F758B4A28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BE14659-20AC-E6A9-EF77-E91D7AF30B4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12851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19925-E341-EF4A-389A-19205B146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A2E74D-C67D-1455-7D3D-A36C76FAB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8EE9D5-6198-D3C0-3D9A-6111F2700D9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E87EDF9-6A7B-1209-3743-BA784C786C5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24557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C11C8-380A-0092-652B-0C6BE54DC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BF763-DA20-3D07-EE24-C95E6AF96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FB463B-FD76-A7E8-3B96-B73E44C1119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CCC637D-1F68-B853-F703-3C0AD4B990B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85573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82FA8-29CB-7A51-4EDD-290F52A5B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835B49-06C4-F89B-EE26-2AC6448D4A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D1210-B099-3136-9423-02269BB5FE4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9A1ED38-1D8E-A596-B14C-D2876EFEFA0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92962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FC0C2-B218-A050-961C-A23EEFDB0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FCDDE-3030-473D-39C7-6E2DC0091D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9D8E96-11EB-742E-7EAF-8EE4DC8A502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622284B2-C1BD-5416-93D8-7E8D3867E3C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499572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5E39D-559F-419F-2BD0-A32840697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A25BF-A09D-C436-199A-59F892E5AB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97330-0B5C-8D8D-6F37-42DA05A45EE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1E912FEF-252B-DE13-B3F1-864D58972A3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4099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4:notes"/>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b="1" dirty="0">
                <a:latin typeface="Montserrat" panose="00000500000000000000" pitchFamily="2" charset="0"/>
              </a:rPr>
              <a:t>TRANG CUỐI</a:t>
            </a:r>
          </a:p>
        </p:txBody>
      </p:sp>
      <p:sp>
        <p:nvSpPr>
          <p:cNvPr id="308" name="Google Shape;308;p14: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Table" type="tbl">
  <p:cSld name="TABLE">
    <p:spTree>
      <p:nvGrpSpPr>
        <p:cNvPr id="1" name="Shape 32"/>
        <p:cNvGrpSpPr/>
        <p:nvPr/>
      </p:nvGrpSpPr>
      <p:grpSpPr>
        <a:xfrm>
          <a:off x="0" y="0"/>
          <a:ext cx="0" cy="0"/>
          <a:chOff x="0" y="0"/>
          <a:chExt cx="0" cy="0"/>
        </a:xfrm>
      </p:grpSpPr>
      <p:sp>
        <p:nvSpPr>
          <p:cNvPr id="33" name="Google Shape;33;p87"/>
          <p:cNvSpPr txBox="1">
            <a:spLocks noGrp="1"/>
          </p:cNvSpPr>
          <p:nvPr>
            <p:ph type="title"/>
          </p:nvPr>
        </p:nvSpPr>
        <p:spPr>
          <a:xfrm>
            <a:off x="1871531" y="476673"/>
            <a:ext cx="9855200" cy="48736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4" name="Google Shape;34;p87"/>
          <p:cNvSpPr txBox="1">
            <a:spLocks noGrp="1"/>
          </p:cNvSpPr>
          <p:nvPr>
            <p:ph type="ftr" idx="11"/>
          </p:nvPr>
        </p:nvSpPr>
        <p:spPr>
          <a:xfrm>
            <a:off x="2831637" y="6537328"/>
            <a:ext cx="7200800" cy="32067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2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7"/>
          <p:cNvSpPr txBox="1">
            <a:spLocks noGrp="1"/>
          </p:cNvSpPr>
          <p:nvPr>
            <p:ph type="sldNum" idx="12"/>
          </p:nvPr>
        </p:nvSpPr>
        <p:spPr>
          <a:xfrm>
            <a:off x="10086227" y="6529663"/>
            <a:ext cx="1500651" cy="288032"/>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37"/>
        <p:cNvGrpSpPr/>
        <p:nvPr/>
      </p:nvGrpSpPr>
      <p:grpSpPr>
        <a:xfrm>
          <a:off x="0" y="0"/>
          <a:ext cx="0" cy="0"/>
          <a:chOff x="0" y="0"/>
          <a:chExt cx="0" cy="0"/>
        </a:xfrm>
      </p:grpSpPr>
      <p:sp>
        <p:nvSpPr>
          <p:cNvPr id="38" name="Google Shape;38;p88"/>
          <p:cNvSpPr txBox="1">
            <a:spLocks noGrp="1"/>
          </p:cNvSpPr>
          <p:nvPr>
            <p:ph type="ctrTitle"/>
          </p:nvPr>
        </p:nvSpPr>
        <p:spPr>
          <a:xfrm>
            <a:off x="1532467" y="2132859"/>
            <a:ext cx="9652099" cy="15835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4400" i="0">
                <a:solidFill>
                  <a:srgbClr val="003399"/>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9" name="Google Shape;39;p88"/>
          <p:cNvSpPr txBox="1">
            <a:spLocks noGrp="1"/>
          </p:cNvSpPr>
          <p:nvPr>
            <p:ph type="subTitle" idx="1"/>
          </p:nvPr>
        </p:nvSpPr>
        <p:spPr>
          <a:xfrm>
            <a:off x="1532467" y="4428728"/>
            <a:ext cx="9652099" cy="728464"/>
          </a:xfrm>
          <a:prstGeom prst="rect">
            <a:avLst/>
          </a:prstGeom>
          <a:noFill/>
          <a:ln>
            <a:noFill/>
          </a:ln>
        </p:spPr>
        <p:txBody>
          <a:bodyPr spcFirstLastPara="1" wrap="square" lIns="91425" tIns="45700" rIns="91425" bIns="45700" anchor="t" anchorCtr="0">
            <a:noAutofit/>
          </a:bodyPr>
          <a:lstStyle>
            <a:lvl1pPr lvl="0" algn="ctr">
              <a:lnSpc>
                <a:spcPct val="100000"/>
              </a:lnSpc>
              <a:spcBef>
                <a:spcPts val="440"/>
              </a:spcBef>
              <a:spcAft>
                <a:spcPts val="0"/>
              </a:spcAft>
              <a:buSzPts val="2200"/>
              <a:buFont typeface="Noto Sans Symbols"/>
              <a:buNone/>
              <a:defRPr sz="2200" b="1">
                <a:solidFill>
                  <a:schemeClr val="dk1"/>
                </a:solidFill>
              </a:defRPr>
            </a:lvl1pPr>
            <a:lvl2pPr lvl="1" algn="l">
              <a:lnSpc>
                <a:spcPct val="100000"/>
              </a:lnSpc>
              <a:spcBef>
                <a:spcPts val="360"/>
              </a:spcBef>
              <a:spcAft>
                <a:spcPts val="0"/>
              </a:spcAft>
              <a:buSzPts val="1800"/>
              <a:buChar char="▪"/>
              <a:defRPr/>
            </a:lvl2pPr>
            <a:lvl3pPr lvl="2" algn="l">
              <a:lnSpc>
                <a:spcPct val="100000"/>
              </a:lnSpc>
              <a:spcBef>
                <a:spcPts val="360"/>
              </a:spcBef>
              <a:spcAft>
                <a:spcPts val="0"/>
              </a:spcAft>
              <a:buSzPts val="1800"/>
              <a:buChar char="•"/>
              <a:defRPr/>
            </a:lvl3pPr>
            <a:lvl4pPr lvl="3" algn="l">
              <a:lnSpc>
                <a:spcPct val="100000"/>
              </a:lnSpc>
              <a:spcBef>
                <a:spcPts val="360"/>
              </a:spcBef>
              <a:spcAft>
                <a:spcPts val="0"/>
              </a:spcAft>
              <a:buClr>
                <a:srgbClr val="FF3300"/>
              </a:buClr>
              <a:buSzPts val="1800"/>
              <a:buChar char="–"/>
              <a:defRPr/>
            </a:lvl4pPr>
            <a:lvl5pPr lvl="4" algn="l">
              <a:lnSpc>
                <a:spcPct val="100000"/>
              </a:lnSpc>
              <a:spcBef>
                <a:spcPts val="360"/>
              </a:spcBef>
              <a:spcAft>
                <a:spcPts val="0"/>
              </a:spcAft>
              <a:buClr>
                <a:srgbClr val="FF9900"/>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a:r>
              <a:rPr lang="en-US"/>
              <a:t>Click to edit Master subtitle style</a:t>
            </a:r>
            <a:endParaRPr/>
          </a:p>
        </p:txBody>
      </p:sp>
      <p:sp>
        <p:nvSpPr>
          <p:cNvPr id="40" name="Google Shape;40;p88"/>
          <p:cNvSpPr/>
          <p:nvPr/>
        </p:nvSpPr>
        <p:spPr>
          <a:xfrm>
            <a:off x="1525898" y="4149080"/>
            <a:ext cx="4826049" cy="45719"/>
          </a:xfrm>
          <a:prstGeom prst="rect">
            <a:avLst/>
          </a:prstGeom>
          <a:solidFill>
            <a:srgbClr val="FF66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mbria"/>
              <a:ea typeface="Cambria"/>
              <a:cs typeface="Cambria"/>
              <a:sym typeface="Cambria"/>
            </a:endParaRPr>
          </a:p>
        </p:txBody>
      </p:sp>
      <p:sp>
        <p:nvSpPr>
          <p:cNvPr id="41" name="Google Shape;41;p88"/>
          <p:cNvSpPr/>
          <p:nvPr/>
        </p:nvSpPr>
        <p:spPr>
          <a:xfrm>
            <a:off x="1532467" y="4103363"/>
            <a:ext cx="9652099" cy="45719"/>
          </a:xfrm>
          <a:prstGeom prst="rect">
            <a:avLst/>
          </a:prstGeom>
          <a:solidFill>
            <a:srgbClr val="FF66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3300"/>
              </a:solidFill>
              <a:latin typeface="Cambria"/>
              <a:ea typeface="Cambria"/>
              <a:cs typeface="Cambria"/>
              <a:sym typeface="Cambria"/>
            </a:endParaRPr>
          </a:p>
        </p:txBody>
      </p:sp>
      <p:pic>
        <p:nvPicPr>
          <p:cNvPr id="42" name="Google Shape;42;p88"/>
          <p:cNvPicPr preferRelativeResize="0"/>
          <p:nvPr/>
        </p:nvPicPr>
        <p:blipFill rotWithShape="1">
          <a:blip r:embed="rId2">
            <a:alphaModFix/>
          </a:blip>
          <a:srcRect/>
          <a:stretch/>
        </p:blipFill>
        <p:spPr>
          <a:xfrm>
            <a:off x="63371" y="61288"/>
            <a:ext cx="1808160" cy="1207473"/>
          </a:xfrm>
          <a:prstGeom prst="rect">
            <a:avLst/>
          </a:prstGeom>
          <a:noFill/>
          <a:ln>
            <a:noFill/>
          </a:ln>
        </p:spPr>
      </p:pic>
      <p:sp>
        <p:nvSpPr>
          <p:cNvPr id="43" name="Google Shape;43;p88"/>
          <p:cNvSpPr txBox="1">
            <a:spLocks noGrp="1"/>
          </p:cNvSpPr>
          <p:nvPr>
            <p:ph type="ftr" idx="11"/>
          </p:nvPr>
        </p:nvSpPr>
        <p:spPr>
          <a:xfrm>
            <a:off x="2831637" y="6537328"/>
            <a:ext cx="7200800" cy="32067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2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8"/>
          <p:cNvSpPr txBox="1">
            <a:spLocks noGrp="1"/>
          </p:cNvSpPr>
          <p:nvPr>
            <p:ph type="sldNum" idx="12"/>
          </p:nvPr>
        </p:nvSpPr>
        <p:spPr>
          <a:xfrm>
            <a:off x="10086227" y="6529663"/>
            <a:ext cx="1500651" cy="288032"/>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6"/>
        <p:cNvGrpSpPr/>
        <p:nvPr/>
      </p:nvGrpSpPr>
      <p:grpSpPr>
        <a:xfrm>
          <a:off x="0" y="0"/>
          <a:ext cx="0" cy="0"/>
          <a:chOff x="0" y="0"/>
          <a:chExt cx="0" cy="0"/>
        </a:xfrm>
      </p:grpSpPr>
      <p:sp>
        <p:nvSpPr>
          <p:cNvPr id="48" name="Google Shape;48;p89"/>
          <p:cNvSpPr txBox="1">
            <a:spLocks noGrp="1"/>
          </p:cNvSpPr>
          <p:nvPr>
            <p:ph type="ftr" idx="11"/>
          </p:nvPr>
        </p:nvSpPr>
        <p:spPr>
          <a:xfrm>
            <a:off x="2831637" y="6537328"/>
            <a:ext cx="7200800" cy="32067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9"/>
          <p:cNvSpPr txBox="1">
            <a:spLocks noGrp="1"/>
          </p:cNvSpPr>
          <p:nvPr>
            <p:ph type="sldNum" idx="12"/>
          </p:nvPr>
        </p:nvSpPr>
        <p:spPr>
          <a:xfrm>
            <a:off x="10086227" y="6529663"/>
            <a:ext cx="1500651" cy="288032"/>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
        <p:nvSpPr>
          <p:cNvPr id="50" name="Google Shape;50;p89"/>
          <p:cNvSpPr txBox="1">
            <a:spLocks noGrp="1"/>
          </p:cNvSpPr>
          <p:nvPr>
            <p:ph type="title"/>
          </p:nvPr>
        </p:nvSpPr>
        <p:spPr>
          <a:xfrm>
            <a:off x="1599030" y="1600201"/>
            <a:ext cx="8285429" cy="26540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SzPts val="1400"/>
              <a:buNone/>
              <a:defRPr sz="405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51" name="Google Shape;51;p89"/>
          <p:cNvSpPr txBox="1">
            <a:spLocks noGrp="1"/>
          </p:cNvSpPr>
          <p:nvPr>
            <p:ph type="body" idx="1"/>
          </p:nvPr>
        </p:nvSpPr>
        <p:spPr>
          <a:xfrm>
            <a:off x="1599033" y="4260000"/>
            <a:ext cx="7266515" cy="115020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2401"/>
              <a:buNone/>
              <a:defRPr sz="2401">
                <a:solidFill>
                  <a:schemeClr val="dk1"/>
                </a:solidFill>
              </a:defRPr>
            </a:lvl1pPr>
            <a:lvl2pPr marL="914400" lvl="1" indent="-228600" algn="l">
              <a:lnSpc>
                <a:spcPct val="100000"/>
              </a:lnSpc>
              <a:spcBef>
                <a:spcPts val="270"/>
              </a:spcBef>
              <a:spcAft>
                <a:spcPts val="0"/>
              </a:spcAft>
              <a:buSzPts val="1350"/>
              <a:buNone/>
              <a:defRPr sz="1350">
                <a:solidFill>
                  <a:srgbClr val="888888"/>
                </a:solidFill>
              </a:defRPr>
            </a:lvl2pPr>
            <a:lvl3pPr marL="1371600" lvl="2" indent="-228600" algn="l">
              <a:lnSpc>
                <a:spcPct val="100000"/>
              </a:lnSpc>
              <a:spcBef>
                <a:spcPts val="240"/>
              </a:spcBef>
              <a:spcAft>
                <a:spcPts val="0"/>
              </a:spcAft>
              <a:buSzPts val="1200"/>
              <a:buFont typeface="Times New Roman"/>
              <a:buNone/>
              <a:defRPr sz="1200">
                <a:solidFill>
                  <a:srgbClr val="888888"/>
                </a:solidFill>
              </a:defRPr>
            </a:lvl3pPr>
            <a:lvl4pPr marL="1828800" lvl="3" indent="-228600" algn="l">
              <a:lnSpc>
                <a:spcPct val="100000"/>
              </a:lnSpc>
              <a:spcBef>
                <a:spcPts val="210"/>
              </a:spcBef>
              <a:spcAft>
                <a:spcPts val="0"/>
              </a:spcAft>
              <a:buClr>
                <a:srgbClr val="888888"/>
              </a:buClr>
              <a:buSzPts val="1050"/>
              <a:buFont typeface="Times New Roman"/>
              <a:buNone/>
              <a:defRPr sz="1050">
                <a:solidFill>
                  <a:srgbClr val="888888"/>
                </a:solidFill>
              </a:defRPr>
            </a:lvl4pPr>
            <a:lvl5pPr marL="2286000" lvl="4" indent="-228600" algn="l">
              <a:lnSpc>
                <a:spcPct val="100000"/>
              </a:lnSpc>
              <a:spcBef>
                <a:spcPts val="210"/>
              </a:spcBef>
              <a:spcAft>
                <a:spcPts val="0"/>
              </a:spcAft>
              <a:buClr>
                <a:srgbClr val="888888"/>
              </a:buClr>
              <a:buSzPts val="1050"/>
              <a:buFont typeface="Times New Roman"/>
              <a:buNone/>
              <a:defRPr sz="1050">
                <a:solidFill>
                  <a:srgbClr val="888888"/>
                </a:solidFill>
              </a:defRPr>
            </a:lvl5pPr>
            <a:lvl6pPr marL="2743200" lvl="5" indent="-228600" algn="l">
              <a:lnSpc>
                <a:spcPct val="100000"/>
              </a:lnSpc>
              <a:spcBef>
                <a:spcPts val="210"/>
              </a:spcBef>
              <a:spcAft>
                <a:spcPts val="0"/>
              </a:spcAft>
              <a:buClr>
                <a:srgbClr val="888888"/>
              </a:buClr>
              <a:buSzPts val="1050"/>
              <a:buFont typeface="Cambria"/>
              <a:buNone/>
              <a:defRPr sz="1050">
                <a:solidFill>
                  <a:srgbClr val="888888"/>
                </a:solidFill>
              </a:defRPr>
            </a:lvl6pPr>
            <a:lvl7pPr marL="3200400" lvl="6" indent="-228600" algn="l">
              <a:lnSpc>
                <a:spcPct val="100000"/>
              </a:lnSpc>
              <a:spcBef>
                <a:spcPts val="210"/>
              </a:spcBef>
              <a:spcAft>
                <a:spcPts val="0"/>
              </a:spcAft>
              <a:buClr>
                <a:srgbClr val="888888"/>
              </a:buClr>
              <a:buSzPts val="1050"/>
              <a:buFont typeface="Cambria"/>
              <a:buNone/>
              <a:defRPr sz="1050">
                <a:solidFill>
                  <a:srgbClr val="888888"/>
                </a:solidFill>
              </a:defRPr>
            </a:lvl7pPr>
            <a:lvl8pPr marL="3657600" lvl="7" indent="-228600" algn="l">
              <a:lnSpc>
                <a:spcPct val="100000"/>
              </a:lnSpc>
              <a:spcBef>
                <a:spcPts val="210"/>
              </a:spcBef>
              <a:spcAft>
                <a:spcPts val="0"/>
              </a:spcAft>
              <a:buClr>
                <a:srgbClr val="888888"/>
              </a:buClr>
              <a:buSzPts val="1050"/>
              <a:buFont typeface="Cambria"/>
              <a:buNone/>
              <a:defRPr sz="1050">
                <a:solidFill>
                  <a:srgbClr val="888888"/>
                </a:solidFill>
              </a:defRPr>
            </a:lvl8pPr>
            <a:lvl9pPr marL="4114800" lvl="8" indent="-228600" algn="l">
              <a:lnSpc>
                <a:spcPct val="100000"/>
              </a:lnSpc>
              <a:spcBef>
                <a:spcPts val="210"/>
              </a:spcBef>
              <a:spcAft>
                <a:spcPts val="0"/>
              </a:spcAft>
              <a:buClr>
                <a:srgbClr val="888888"/>
              </a:buClr>
              <a:buSzPts val="1050"/>
              <a:buFont typeface="Cambria"/>
              <a:buNone/>
              <a:defRPr sz="1050">
                <a:solidFill>
                  <a:srgbClr val="888888"/>
                </a:solidFill>
              </a:defRPr>
            </a:lvl9pPr>
          </a:lstStyle>
          <a:p>
            <a:pPr lvl="0"/>
            <a:r>
              <a:rPr lang="en-US"/>
              <a:t>Click to edit Master text styles</a:t>
            </a:r>
          </a:p>
        </p:txBody>
      </p:sp>
      <p:sp>
        <p:nvSpPr>
          <p:cNvPr id="52" name="Google Shape;52;p89"/>
          <p:cNvSpPr txBox="1"/>
          <p:nvPr/>
        </p:nvSpPr>
        <p:spPr>
          <a:xfrm>
            <a:off x="150852" y="6091537"/>
            <a:ext cx="989269" cy="346261"/>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Arial"/>
                <a:ea typeface="Arial"/>
                <a:cs typeface="Arial"/>
                <a:sym typeface="Arial"/>
              </a:rPr>
              <a:t>MIS</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Only" userDrawn="1">
  <p:cSld name="Title Only">
    <p:spTree>
      <p:nvGrpSpPr>
        <p:cNvPr id="1" name="Shape 11"/>
        <p:cNvGrpSpPr/>
        <p:nvPr/>
      </p:nvGrpSpPr>
      <p:grpSpPr>
        <a:xfrm>
          <a:off x="0" y="0"/>
          <a:ext cx="0" cy="0"/>
          <a:chOff x="0" y="0"/>
          <a:chExt cx="0" cy="0"/>
        </a:xfrm>
      </p:grpSpPr>
      <p:sp>
        <p:nvSpPr>
          <p:cNvPr id="3" name="Google Shape;7;p15">
            <a:extLst>
              <a:ext uri="{FF2B5EF4-FFF2-40B4-BE49-F238E27FC236}">
                <a16:creationId xmlns:a16="http://schemas.microsoft.com/office/drawing/2014/main" id="{3A6A0657-C8E6-4E42-745A-DD61416B27DF}"/>
              </a:ext>
            </a:extLst>
          </p:cNvPr>
          <p:cNvSpPr txBox="1">
            <a:spLocks noGrp="1"/>
          </p:cNvSpPr>
          <p:nvPr>
            <p:ph idx="1"/>
          </p:nvPr>
        </p:nvSpPr>
        <p:spPr>
          <a:xfrm>
            <a:off x="681997" y="1348371"/>
            <a:ext cx="11090638" cy="191271"/>
          </a:xfrm>
          <a:prstGeom prst="rect">
            <a:avLst/>
          </a:prstGeom>
          <a:noFill/>
          <a:ln>
            <a:noFill/>
          </a:ln>
        </p:spPr>
        <p:txBody>
          <a:bodyPr spcFirstLastPara="1" wrap="square" lIns="0" tIns="0" rIns="0" bIns="0" anchor="t" anchorCtr="0">
            <a:spAutoFit/>
          </a:bodyPr>
          <a:lstStyle>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2204149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6"/>
        <p:cNvGrpSpPr/>
        <p:nvPr/>
      </p:nvGrpSpPr>
      <p:grpSpPr>
        <a:xfrm>
          <a:off x="0" y="0"/>
          <a:ext cx="0" cy="0"/>
          <a:chOff x="0" y="0"/>
          <a:chExt cx="0" cy="0"/>
        </a:xfrm>
      </p:grpSpPr>
      <p:sp>
        <p:nvSpPr>
          <p:cNvPr id="3" name="Google Shape;7;p15">
            <a:extLst>
              <a:ext uri="{FF2B5EF4-FFF2-40B4-BE49-F238E27FC236}">
                <a16:creationId xmlns:a16="http://schemas.microsoft.com/office/drawing/2014/main" id="{1C1C9FC5-3A89-E7F2-CA83-DB3C4B806A20}"/>
              </a:ext>
            </a:extLst>
          </p:cNvPr>
          <p:cNvSpPr txBox="1">
            <a:spLocks noGrp="1"/>
          </p:cNvSpPr>
          <p:nvPr>
            <p:ph idx="1"/>
          </p:nvPr>
        </p:nvSpPr>
        <p:spPr>
          <a:xfrm>
            <a:off x="681997" y="1348371"/>
            <a:ext cx="11090638" cy="191271"/>
          </a:xfrm>
          <a:prstGeom prst="rect">
            <a:avLst/>
          </a:prstGeom>
          <a:noFill/>
          <a:ln>
            <a:noFill/>
          </a:ln>
        </p:spPr>
        <p:txBody>
          <a:bodyPr spcFirstLastPara="1" wrap="square" lIns="0" tIns="0" rIns="0" bIns="0" anchor="t" anchorCtr="0">
            <a:spAutoFit/>
          </a:bodyPr>
          <a:lstStyle>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508159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3" name="Google Shape;7;p15">
            <a:extLst>
              <a:ext uri="{FF2B5EF4-FFF2-40B4-BE49-F238E27FC236}">
                <a16:creationId xmlns:a16="http://schemas.microsoft.com/office/drawing/2014/main" id="{1C1C9FC5-3A89-E7F2-CA83-DB3C4B806A20}"/>
              </a:ext>
            </a:extLst>
          </p:cNvPr>
          <p:cNvSpPr txBox="1">
            <a:spLocks noGrp="1"/>
          </p:cNvSpPr>
          <p:nvPr>
            <p:ph idx="1"/>
          </p:nvPr>
        </p:nvSpPr>
        <p:spPr>
          <a:xfrm>
            <a:off x="681997" y="1348371"/>
            <a:ext cx="11090638" cy="191271"/>
          </a:xfrm>
          <a:prstGeom prst="rect">
            <a:avLst/>
          </a:prstGeom>
          <a:noFill/>
          <a:ln>
            <a:noFill/>
          </a:ln>
        </p:spPr>
        <p:txBody>
          <a:bodyPr spcFirstLastPara="1" wrap="square" lIns="0" tIns="0" rIns="0" bIns="0" anchor="t" anchorCtr="0">
            <a:spAutoFit/>
          </a:bodyPr>
          <a:lstStyle>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414795108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
        <p:cNvGrpSpPr/>
        <p:nvPr/>
      </p:nvGrpSpPr>
      <p:grpSpPr>
        <a:xfrm>
          <a:off x="0" y="0"/>
          <a:ext cx="0" cy="0"/>
          <a:chOff x="0" y="0"/>
          <a:chExt cx="0" cy="0"/>
        </a:xfrm>
      </p:grpSpPr>
      <p:sp>
        <p:nvSpPr>
          <p:cNvPr id="3" name="Google Shape;7;p15">
            <a:extLst>
              <a:ext uri="{FF2B5EF4-FFF2-40B4-BE49-F238E27FC236}">
                <a16:creationId xmlns:a16="http://schemas.microsoft.com/office/drawing/2014/main" id="{3A6A0657-C8E6-4E42-745A-DD61416B27DF}"/>
              </a:ext>
            </a:extLst>
          </p:cNvPr>
          <p:cNvSpPr txBox="1">
            <a:spLocks noGrp="1"/>
          </p:cNvSpPr>
          <p:nvPr>
            <p:ph idx="1"/>
          </p:nvPr>
        </p:nvSpPr>
        <p:spPr>
          <a:xfrm>
            <a:off x="681997" y="1348371"/>
            <a:ext cx="11090638" cy="191271"/>
          </a:xfrm>
          <a:prstGeom prst="rect">
            <a:avLst/>
          </a:prstGeom>
          <a:noFill/>
          <a:ln>
            <a:noFill/>
          </a:ln>
        </p:spPr>
        <p:txBody>
          <a:bodyPr spcFirstLastPara="1" wrap="square" lIns="0" tIns="0" rIns="0" bIns="0" anchor="t" anchorCtr="0">
            <a:spAutoFit/>
          </a:bodyPr>
          <a:lstStyle>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2860634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
        <p:cNvGrpSpPr/>
        <p:nvPr/>
      </p:nvGrpSpPr>
      <p:grpSpPr>
        <a:xfrm>
          <a:off x="0" y="0"/>
          <a:ext cx="0" cy="0"/>
          <a:chOff x="0" y="0"/>
          <a:chExt cx="0" cy="0"/>
        </a:xfrm>
      </p:grpSpPr>
      <p:sp>
        <p:nvSpPr>
          <p:cNvPr id="3" name="Google Shape;7;p15">
            <a:extLst>
              <a:ext uri="{FF2B5EF4-FFF2-40B4-BE49-F238E27FC236}">
                <a16:creationId xmlns:a16="http://schemas.microsoft.com/office/drawing/2014/main" id="{3A6A0657-C8E6-4E42-745A-DD61416B27DF}"/>
              </a:ext>
            </a:extLst>
          </p:cNvPr>
          <p:cNvSpPr txBox="1">
            <a:spLocks noGrp="1"/>
          </p:cNvSpPr>
          <p:nvPr>
            <p:ph idx="1"/>
          </p:nvPr>
        </p:nvSpPr>
        <p:spPr>
          <a:xfrm>
            <a:off x="681997" y="1348371"/>
            <a:ext cx="11090638" cy="191271"/>
          </a:xfrm>
          <a:prstGeom prst="rect">
            <a:avLst/>
          </a:prstGeom>
          <a:noFill/>
          <a:ln>
            <a:noFill/>
          </a:ln>
        </p:spPr>
        <p:txBody>
          <a:bodyPr spcFirstLastPara="1" wrap="square" lIns="0" tIns="0" rIns="0" bIns="0" anchor="t" anchorCtr="0">
            <a:spAutoFit/>
          </a:bodyPr>
          <a:lstStyle>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19262537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3.jp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4"/>
          <p:cNvSpPr/>
          <p:nvPr/>
        </p:nvSpPr>
        <p:spPr>
          <a:xfrm>
            <a:off x="1679509" y="404665"/>
            <a:ext cx="10512491" cy="620363"/>
          </a:xfrm>
          <a:prstGeom prst="rect">
            <a:avLst/>
          </a:prstGeom>
          <a:solidFill>
            <a:srgbClr val="FF66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mbria"/>
              <a:ea typeface="Cambria"/>
              <a:cs typeface="Cambria"/>
              <a:sym typeface="Cambria"/>
            </a:endParaRPr>
          </a:p>
        </p:txBody>
      </p:sp>
      <p:sp>
        <p:nvSpPr>
          <p:cNvPr id="11" name="Google Shape;11;p84"/>
          <p:cNvSpPr txBox="1">
            <a:spLocks noGrp="1"/>
          </p:cNvSpPr>
          <p:nvPr>
            <p:ph type="body" idx="1"/>
          </p:nvPr>
        </p:nvSpPr>
        <p:spPr>
          <a:xfrm>
            <a:off x="609600" y="1228728"/>
            <a:ext cx="10972800" cy="5248275"/>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hlink"/>
              </a:buClr>
              <a:buSzPts val="2400"/>
              <a:buFont typeface="Noto Sans Symbols"/>
              <a:buChar char="❖"/>
              <a:defRPr sz="2400" b="0" i="0" u="none" strike="noStrike" cap="none">
                <a:solidFill>
                  <a:srgbClr val="0033CC"/>
                </a:solidFill>
                <a:latin typeface="Times New Roman"/>
                <a:ea typeface="Times New Roman"/>
                <a:cs typeface="Times New Roman"/>
                <a:sym typeface="Times New Roman"/>
              </a:defRPr>
            </a:lvl1pPr>
            <a:lvl2pPr marL="914400" marR="0" lvl="1" indent="-368300" algn="l" rtl="0">
              <a:lnSpc>
                <a:spcPct val="100000"/>
              </a:lnSpc>
              <a:spcBef>
                <a:spcPts val="440"/>
              </a:spcBef>
              <a:spcAft>
                <a:spcPts val="0"/>
              </a:spcAft>
              <a:buClr>
                <a:schemeClr val="accent1"/>
              </a:buClr>
              <a:buSzPts val="2200"/>
              <a:buFont typeface="Noto Sans Symbols"/>
              <a:buChar char="▪"/>
              <a:defRPr sz="2200" b="0" i="0" u="none" strike="noStrike" cap="none">
                <a:solidFill>
                  <a:srgbClr val="8F3900"/>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chemeClr val="dk1"/>
              </a:buClr>
              <a:buSzPts val="2000"/>
              <a:buFont typeface="Times New Roman"/>
              <a:buChar char="•"/>
              <a:defRPr sz="2000" b="0" i="0" u="none" strike="noStrike" cap="none">
                <a:solidFill>
                  <a:srgbClr val="003399"/>
                </a:solidFill>
                <a:latin typeface="Times New Roman"/>
                <a:ea typeface="Times New Roman"/>
                <a:cs typeface="Times New Roman"/>
                <a:sym typeface="Times New Roman"/>
              </a:defRPr>
            </a:lvl3pPr>
            <a:lvl4pPr marL="1828800" marR="0" lvl="3" indent="-342900" algn="l" rtl="0">
              <a:lnSpc>
                <a:spcPct val="100000"/>
              </a:lnSpc>
              <a:spcBef>
                <a:spcPts val="360"/>
              </a:spcBef>
              <a:spcAft>
                <a:spcPts val="0"/>
              </a:spcAft>
              <a:buClr>
                <a:srgbClr val="FF3300"/>
              </a:buClr>
              <a:buSzPts val="1800"/>
              <a:buFont typeface="Times New Roman"/>
              <a:buChar char="–"/>
              <a:defRPr sz="1800" b="0" i="0" u="none" strike="noStrike" cap="none">
                <a:solidFill>
                  <a:srgbClr val="FF3300"/>
                </a:solidFill>
                <a:latin typeface="Times New Roman"/>
                <a:ea typeface="Times New Roman"/>
                <a:cs typeface="Times New Roman"/>
                <a:sym typeface="Times New Roman"/>
              </a:defRPr>
            </a:lvl4pPr>
            <a:lvl5pPr marL="2286000" marR="0" lvl="4" indent="-330200" algn="l" rtl="0">
              <a:lnSpc>
                <a:spcPct val="100000"/>
              </a:lnSpc>
              <a:spcBef>
                <a:spcPts val="320"/>
              </a:spcBef>
              <a:spcAft>
                <a:spcPts val="0"/>
              </a:spcAft>
              <a:buClr>
                <a:srgbClr val="FF9900"/>
              </a:buClr>
              <a:buSzPts val="1600"/>
              <a:buFont typeface="Times New Roman"/>
              <a:buChar char="»"/>
              <a:defRPr sz="1600" b="0" i="0" u="none" strike="noStrike" cap="none">
                <a:solidFill>
                  <a:srgbClr val="FF9900"/>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Cambria"/>
              <a:buChar char="»"/>
              <a:defRPr sz="2000" b="0" i="0" u="none" strike="noStrike" cap="none">
                <a:solidFill>
                  <a:schemeClr val="dk1"/>
                </a:solidFill>
                <a:latin typeface="Cambria"/>
                <a:ea typeface="Cambria"/>
                <a:cs typeface="Cambria"/>
                <a:sym typeface="Cambria"/>
              </a:defRPr>
            </a:lvl6pPr>
            <a:lvl7pPr marL="3200400" marR="0" lvl="6" indent="-355600" algn="l" rtl="0">
              <a:lnSpc>
                <a:spcPct val="100000"/>
              </a:lnSpc>
              <a:spcBef>
                <a:spcPts val="400"/>
              </a:spcBef>
              <a:spcAft>
                <a:spcPts val="0"/>
              </a:spcAft>
              <a:buClr>
                <a:schemeClr val="dk1"/>
              </a:buClr>
              <a:buSzPts val="2000"/>
              <a:buFont typeface="Cambria"/>
              <a:buChar char="»"/>
              <a:defRPr sz="2000" b="0" i="0" u="none" strike="noStrike" cap="none">
                <a:solidFill>
                  <a:schemeClr val="dk1"/>
                </a:solidFill>
                <a:latin typeface="Cambria"/>
                <a:ea typeface="Cambria"/>
                <a:cs typeface="Cambria"/>
                <a:sym typeface="Cambria"/>
              </a:defRPr>
            </a:lvl7pPr>
            <a:lvl8pPr marL="3657600" marR="0" lvl="7" indent="-355600" algn="l" rtl="0">
              <a:lnSpc>
                <a:spcPct val="100000"/>
              </a:lnSpc>
              <a:spcBef>
                <a:spcPts val="400"/>
              </a:spcBef>
              <a:spcAft>
                <a:spcPts val="0"/>
              </a:spcAft>
              <a:buClr>
                <a:schemeClr val="dk1"/>
              </a:buClr>
              <a:buSzPts val="2000"/>
              <a:buFont typeface="Cambria"/>
              <a:buChar char="»"/>
              <a:defRPr sz="2000" b="0" i="0" u="none" strike="noStrike" cap="none">
                <a:solidFill>
                  <a:schemeClr val="dk1"/>
                </a:solidFill>
                <a:latin typeface="Cambria"/>
                <a:ea typeface="Cambria"/>
                <a:cs typeface="Cambria"/>
                <a:sym typeface="Cambria"/>
              </a:defRPr>
            </a:lvl8pPr>
            <a:lvl9pPr marL="4114800" marR="0" lvl="8" indent="-355600" algn="l" rtl="0">
              <a:lnSpc>
                <a:spcPct val="100000"/>
              </a:lnSpc>
              <a:spcBef>
                <a:spcPts val="400"/>
              </a:spcBef>
              <a:spcAft>
                <a:spcPts val="0"/>
              </a:spcAft>
              <a:buClr>
                <a:schemeClr val="dk1"/>
              </a:buClr>
              <a:buSzPts val="2000"/>
              <a:buFont typeface="Cambria"/>
              <a:buChar char="»"/>
              <a:defRPr sz="2000" b="0" i="0" u="none" strike="noStrike" cap="none">
                <a:solidFill>
                  <a:schemeClr val="dk1"/>
                </a:solidFill>
                <a:latin typeface="Cambria"/>
                <a:ea typeface="Cambria"/>
                <a:cs typeface="Cambria"/>
                <a:sym typeface="Cambria"/>
              </a:defRPr>
            </a:lvl9pPr>
          </a:lstStyle>
          <a:p>
            <a:endParaRPr/>
          </a:p>
        </p:txBody>
      </p:sp>
      <p:sp>
        <p:nvSpPr>
          <p:cNvPr id="12" name="Google Shape;12;p84"/>
          <p:cNvSpPr txBox="1">
            <a:spLocks noGrp="1"/>
          </p:cNvSpPr>
          <p:nvPr>
            <p:ph type="title"/>
          </p:nvPr>
        </p:nvSpPr>
        <p:spPr>
          <a:xfrm>
            <a:off x="1763179" y="471164"/>
            <a:ext cx="10189471" cy="48736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lt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chemeClr val="lt1"/>
                </a:solidFill>
                <a:latin typeface="Arial"/>
                <a:ea typeface="Arial"/>
                <a:cs typeface="Arial"/>
                <a:sym typeface="Arial"/>
              </a:defRPr>
            </a:lvl9pPr>
          </a:lstStyle>
          <a:p>
            <a:endParaRPr/>
          </a:p>
        </p:txBody>
      </p:sp>
      <p:sp>
        <p:nvSpPr>
          <p:cNvPr id="13" name="Google Shape;13;p84"/>
          <p:cNvSpPr txBox="1">
            <a:spLocks noGrp="1"/>
          </p:cNvSpPr>
          <p:nvPr>
            <p:ph type="ftr" idx="11"/>
          </p:nvPr>
        </p:nvSpPr>
        <p:spPr>
          <a:xfrm>
            <a:off x="2831637" y="6537328"/>
            <a:ext cx="7200800" cy="32067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9pPr>
          </a:lstStyle>
          <a:p>
            <a:endParaRPr/>
          </a:p>
        </p:txBody>
      </p:sp>
      <p:sp>
        <p:nvSpPr>
          <p:cNvPr id="14" name="Google Shape;14;p84"/>
          <p:cNvSpPr txBox="1">
            <a:spLocks noGrp="1"/>
          </p:cNvSpPr>
          <p:nvPr>
            <p:ph type="sldNum" idx="12"/>
          </p:nvPr>
        </p:nvSpPr>
        <p:spPr>
          <a:xfrm>
            <a:off x="10086227" y="6529663"/>
            <a:ext cx="1500651" cy="288032"/>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
        <p:nvSpPr>
          <p:cNvPr id="15" name="Google Shape;15;p84"/>
          <p:cNvSpPr txBox="1">
            <a:spLocks noGrp="1"/>
          </p:cNvSpPr>
          <p:nvPr>
            <p:ph type="dt" idx="10"/>
          </p:nvPr>
        </p:nvSpPr>
        <p:spPr>
          <a:xfrm>
            <a:off x="623392" y="6540784"/>
            <a:ext cx="2208245" cy="317219"/>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mbria"/>
                <a:ea typeface="Cambria"/>
                <a:cs typeface="Cambria"/>
                <a:sym typeface="Cambria"/>
              </a:defRPr>
            </a:lvl9pPr>
          </a:lstStyle>
          <a:p>
            <a:endParaRPr/>
          </a:p>
        </p:txBody>
      </p:sp>
      <p:pic>
        <p:nvPicPr>
          <p:cNvPr id="16" name="Google Shape;16;p84"/>
          <p:cNvPicPr preferRelativeResize="0"/>
          <p:nvPr/>
        </p:nvPicPr>
        <p:blipFill rotWithShape="1">
          <a:blip r:embed="rId7">
            <a:alphaModFix/>
          </a:blip>
          <a:srcRect/>
          <a:stretch/>
        </p:blipFill>
        <p:spPr>
          <a:xfrm>
            <a:off x="1" y="347931"/>
            <a:ext cx="1763180" cy="67709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78" r:id="rId4"/>
    <p:sldLayoutId id="2147483685" r:id="rId5"/>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2" name="Google Shape;116;p5" title="Slide template-05.jpg">
            <a:extLst>
              <a:ext uri="{FF2B5EF4-FFF2-40B4-BE49-F238E27FC236}">
                <a16:creationId xmlns:a16="http://schemas.microsoft.com/office/drawing/2014/main" id="{289CA0F7-EA6F-8BD2-E2B6-9C5E73C8AE2A}"/>
              </a:ext>
            </a:extLst>
          </p:cNvPr>
          <p:cNvPicPr preferRelativeResize="0"/>
          <p:nvPr/>
        </p:nvPicPr>
        <p:blipFill rotWithShape="1">
          <a:blip r:embed="rId4">
            <a:alphaModFix/>
          </a:blip>
          <a:srcRect/>
          <a:stretch/>
        </p:blipFill>
        <p:spPr>
          <a:xfrm>
            <a:off x="0" y="-3199"/>
            <a:ext cx="12192000" cy="1017913"/>
          </a:xfrm>
          <a:prstGeom prst="rect">
            <a:avLst/>
          </a:prstGeom>
          <a:noFill/>
          <a:ln>
            <a:noFill/>
          </a:ln>
        </p:spPr>
      </p:pic>
      <p:sp>
        <p:nvSpPr>
          <p:cNvPr id="7" name="Google Shape;7;p15"/>
          <p:cNvSpPr txBox="1">
            <a:spLocks noGrp="1"/>
          </p:cNvSpPr>
          <p:nvPr>
            <p:ph type="body" idx="1"/>
          </p:nvPr>
        </p:nvSpPr>
        <p:spPr>
          <a:xfrm>
            <a:off x="681997" y="1348370"/>
            <a:ext cx="11090638" cy="315471"/>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50" b="1" i="0" u="none" strike="noStrike" cap="none">
                <a:solidFill>
                  <a:srgbClr val="292A75"/>
                </a:solidFill>
                <a:latin typeface="Tahoma"/>
                <a:ea typeface="Tahoma"/>
                <a:cs typeface="Tahoma"/>
                <a:sym typeface="Tahoma"/>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1842142779"/>
      </p:ext>
    </p:extLst>
  </p:cSld>
  <p:clrMap bg1="lt1" tx1="dk1" bg2="dk2" tx2="lt2" accent1="accent1" accent2="accent2" accent3="accent3" accent4="accent4" accent5="accent5" accent6="accent6" hlink="hlink" folHlink="folHlink"/>
  <p:sldLayoutIdLst>
    <p:sldLayoutId id="2147483680" r:id="rId1"/>
    <p:sldLayoutId id="2147483681" r:id="rId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Montserrat" panose="00000500000000000000" pitchFamily="2" charset="0"/>
          <a:ea typeface="Montserrat" panose="00000500000000000000" pitchFamily="2" charset="0"/>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2" name="Google Shape;116;p5" title="Slide template-05.jpg">
            <a:extLst>
              <a:ext uri="{FF2B5EF4-FFF2-40B4-BE49-F238E27FC236}">
                <a16:creationId xmlns:a16="http://schemas.microsoft.com/office/drawing/2014/main" id="{289CA0F7-EA6F-8BD2-E2B6-9C5E73C8AE2A}"/>
              </a:ext>
            </a:extLst>
          </p:cNvPr>
          <p:cNvPicPr preferRelativeResize="0"/>
          <p:nvPr/>
        </p:nvPicPr>
        <p:blipFill rotWithShape="1">
          <a:blip r:embed="rId3">
            <a:alphaModFix/>
          </a:blip>
          <a:srcRect/>
          <a:stretch/>
        </p:blipFill>
        <p:spPr>
          <a:xfrm>
            <a:off x="0" y="-3199"/>
            <a:ext cx="12192000" cy="1017913"/>
          </a:xfrm>
          <a:prstGeom prst="rect">
            <a:avLst/>
          </a:prstGeom>
          <a:noFill/>
          <a:ln>
            <a:noFill/>
          </a:ln>
        </p:spPr>
      </p:pic>
      <p:sp>
        <p:nvSpPr>
          <p:cNvPr id="7" name="Google Shape;7;p15"/>
          <p:cNvSpPr txBox="1">
            <a:spLocks noGrp="1"/>
          </p:cNvSpPr>
          <p:nvPr>
            <p:ph type="body" idx="1"/>
          </p:nvPr>
        </p:nvSpPr>
        <p:spPr>
          <a:xfrm>
            <a:off x="681997" y="1348370"/>
            <a:ext cx="11090638" cy="315471"/>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50" b="1" i="0" u="none" strike="noStrike" cap="none">
                <a:solidFill>
                  <a:srgbClr val="292A75"/>
                </a:solidFill>
                <a:latin typeface="Tahoma"/>
                <a:ea typeface="Tahoma"/>
                <a:cs typeface="Tahoma"/>
                <a:sym typeface="Tahoma"/>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471270365"/>
      </p:ext>
    </p:extLst>
  </p:cSld>
  <p:clrMap bg1="lt1" tx1="dk1" bg2="dk2" tx2="lt2" accent1="accent1" accent2="accent2" accent3="accent3" accent4="accent4" accent5="accent5" accent6="accent6" hlink="hlink" folHlink="folHlink"/>
  <p:sldLayoutIdLst>
    <p:sldLayoutId id="2147483684" r:id="rId1"/>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Montserrat" panose="00000500000000000000" pitchFamily="2" charset="0"/>
          <a:ea typeface="Montserrat" panose="00000500000000000000" pitchFamily="2" charset="0"/>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hemeOverride" Target="../theme/themeOverride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hyperlink" Target="mailto:truyenthong@hvnh.edu.vn"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hyperlink" Target="http://www.hvnh.edu.vn/"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3" name="Rectangle 2">
            <a:extLst>
              <a:ext uri="{FF2B5EF4-FFF2-40B4-BE49-F238E27FC236}">
                <a16:creationId xmlns:a16="http://schemas.microsoft.com/office/drawing/2014/main" id="{BD7111A6-97CF-EDAA-368A-954B5E3C0FD2}"/>
              </a:ext>
            </a:extLst>
          </p:cNvPr>
          <p:cNvSpPr/>
          <p:nvPr/>
        </p:nvSpPr>
        <p:spPr>
          <a:xfrm>
            <a:off x="428" y="2239502"/>
            <a:ext cx="12191144" cy="3251773"/>
          </a:xfrm>
          <a:prstGeom prst="rect">
            <a:avLst/>
          </a:prstGeom>
          <a:solidFill>
            <a:srgbClr val="282A7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49" dirty="0"/>
          </a:p>
        </p:txBody>
      </p:sp>
      <p:sp>
        <p:nvSpPr>
          <p:cNvPr id="2" name="Content Placeholder 1">
            <a:extLst>
              <a:ext uri="{FF2B5EF4-FFF2-40B4-BE49-F238E27FC236}">
                <a16:creationId xmlns:a16="http://schemas.microsoft.com/office/drawing/2014/main" id="{5FCF7340-300D-1172-F794-D773D77B90A3}"/>
              </a:ext>
            </a:extLst>
          </p:cNvPr>
          <p:cNvSpPr>
            <a:spLocks noGrp="1"/>
          </p:cNvSpPr>
          <p:nvPr>
            <p:ph idx="1"/>
          </p:nvPr>
        </p:nvSpPr>
        <p:spPr/>
        <p:txBody>
          <a:bodyPr/>
          <a:lstStyle/>
          <a:p>
            <a:r>
              <a:rPr lang="en-VN" dirty="0"/>
              <a:t>\</a:t>
            </a:r>
          </a:p>
        </p:txBody>
      </p:sp>
      <p:sp>
        <p:nvSpPr>
          <p:cNvPr id="46" name="Google Shape;46;p1"/>
          <p:cNvSpPr txBox="1">
            <a:spLocks noGrp="1"/>
          </p:cNvSpPr>
          <p:nvPr>
            <p:ph type="title" idx="4294967295"/>
          </p:nvPr>
        </p:nvSpPr>
        <p:spPr>
          <a:xfrm>
            <a:off x="0" y="2528888"/>
            <a:ext cx="11436350" cy="2671762"/>
          </a:xfrm>
          <a:prstGeom prst="rect">
            <a:avLst/>
          </a:prstGeom>
          <a:noFill/>
          <a:ln>
            <a:noFill/>
          </a:ln>
        </p:spPr>
        <p:txBody>
          <a:bodyPr spcFirstLastPara="1" wrap="square" lIns="0" tIns="7307" rIns="0" bIns="0" anchor="t" anchorCtr="0">
            <a:spAutoFit/>
          </a:bodyPr>
          <a:lstStyle/>
          <a:p>
            <a:pPr marL="7701" algn="ctr">
              <a:lnSpc>
                <a:spcPct val="116824"/>
              </a:lnSpc>
            </a:pPr>
            <a:r>
              <a:rPr lang="en-US" sz="7400" b="0" dirty="0">
                <a:solidFill>
                  <a:srgbClr val="FAA61A"/>
                </a:solidFill>
                <a:latin typeface="Montserrat ExtraBold"/>
                <a:ea typeface="Montserrat ExtraBold"/>
                <a:cs typeface="Montserrat ExtraBold"/>
                <a:sym typeface="Montserrat ExtraBold"/>
              </a:rPr>
              <a:t>HỌC PHẦN NÂNG CAO VỚI C++</a:t>
            </a:r>
            <a:endParaRPr sz="7400" b="0" dirty="0">
              <a:solidFill>
                <a:srgbClr val="FAA61A"/>
              </a:solidFill>
              <a:latin typeface="Montserrat ExtraBold"/>
              <a:ea typeface="Montserrat ExtraBold"/>
              <a:cs typeface="Montserrat ExtraBold"/>
              <a:sym typeface="Montserrat ExtraBold"/>
            </a:endParaRPr>
          </a:p>
        </p:txBody>
      </p:sp>
      <p:pic>
        <p:nvPicPr>
          <p:cNvPr id="47" name="Google Shape;47;p1" title="Slide template-15.png"/>
          <p:cNvPicPr preferRelativeResize="0"/>
          <p:nvPr/>
        </p:nvPicPr>
        <p:blipFill rotWithShape="1">
          <a:blip r:embed="rId3">
            <a:alphaModFix/>
          </a:blip>
          <a:srcRect/>
          <a:stretch/>
        </p:blipFill>
        <p:spPr>
          <a:xfrm>
            <a:off x="754671" y="636345"/>
            <a:ext cx="2995659" cy="11486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alpha val="18000"/>
          </a:schemeClr>
        </a:solidFill>
        <a:effectLst/>
      </p:bgPr>
    </p:bg>
    <p:spTree>
      <p:nvGrpSpPr>
        <p:cNvPr id="1" name="Shape 52"/>
        <p:cNvGrpSpPr/>
        <p:nvPr/>
      </p:nvGrpSpPr>
      <p:grpSpPr>
        <a:xfrm>
          <a:off x="0" y="0"/>
          <a:ext cx="0" cy="0"/>
          <a:chOff x="0" y="0"/>
          <a:chExt cx="0" cy="0"/>
        </a:xfrm>
      </p:grpSpPr>
      <p:grpSp>
        <p:nvGrpSpPr>
          <p:cNvPr id="55" name="Google Shape;55;p2"/>
          <p:cNvGrpSpPr/>
          <p:nvPr/>
        </p:nvGrpSpPr>
        <p:grpSpPr>
          <a:xfrm>
            <a:off x="-1" y="3259567"/>
            <a:ext cx="5292763" cy="3598434"/>
            <a:chOff x="0" y="4844365"/>
            <a:chExt cx="10274638" cy="6464444"/>
          </a:xfrm>
        </p:grpSpPr>
        <p:sp>
          <p:nvSpPr>
            <p:cNvPr id="56" name="Google Shape;56;p2"/>
            <p:cNvSpPr/>
            <p:nvPr/>
          </p:nvSpPr>
          <p:spPr>
            <a:xfrm>
              <a:off x="0" y="4844509"/>
              <a:ext cx="10274300" cy="6464300"/>
            </a:xfrm>
            <a:custGeom>
              <a:avLst/>
              <a:gdLst/>
              <a:ahLst/>
              <a:cxnLst/>
              <a:rect l="l" t="t" r="r" b="b"/>
              <a:pathLst>
                <a:path w="10274300" h="6464300" extrusionOk="0">
                  <a:moveTo>
                    <a:pt x="2296401" y="2525522"/>
                  </a:moveTo>
                  <a:lnTo>
                    <a:pt x="2248281" y="2520404"/>
                  </a:lnTo>
                  <a:lnTo>
                    <a:pt x="2200783" y="2513228"/>
                  </a:lnTo>
                  <a:lnTo>
                    <a:pt x="2153958" y="2504033"/>
                  </a:lnTo>
                  <a:lnTo>
                    <a:pt x="2107857" y="2492870"/>
                  </a:lnTo>
                  <a:lnTo>
                    <a:pt x="2062518" y="2479789"/>
                  </a:lnTo>
                  <a:lnTo>
                    <a:pt x="2017991" y="2464828"/>
                  </a:lnTo>
                  <a:lnTo>
                    <a:pt x="1974329" y="2448026"/>
                  </a:lnTo>
                  <a:lnTo>
                    <a:pt x="1931568" y="2429459"/>
                  </a:lnTo>
                  <a:lnTo>
                    <a:pt x="1889747" y="2409139"/>
                  </a:lnTo>
                  <a:lnTo>
                    <a:pt x="1848929" y="2387130"/>
                  </a:lnTo>
                  <a:lnTo>
                    <a:pt x="1809165" y="2363482"/>
                  </a:lnTo>
                  <a:lnTo>
                    <a:pt x="1770481" y="2338235"/>
                  </a:lnTo>
                  <a:lnTo>
                    <a:pt x="1732927" y="2311438"/>
                  </a:lnTo>
                  <a:lnTo>
                    <a:pt x="1696567" y="2283129"/>
                  </a:lnTo>
                  <a:lnTo>
                    <a:pt x="1661426" y="2253361"/>
                  </a:lnTo>
                  <a:lnTo>
                    <a:pt x="1627568" y="2222182"/>
                  </a:lnTo>
                  <a:lnTo>
                    <a:pt x="1595018" y="2189632"/>
                  </a:lnTo>
                  <a:lnTo>
                    <a:pt x="1563852" y="2155761"/>
                  </a:lnTo>
                  <a:lnTo>
                    <a:pt x="1534083" y="2120620"/>
                  </a:lnTo>
                  <a:lnTo>
                    <a:pt x="1505788" y="2084260"/>
                  </a:lnTo>
                  <a:lnTo>
                    <a:pt x="1478991" y="2046706"/>
                  </a:lnTo>
                  <a:lnTo>
                    <a:pt x="1453756" y="2008022"/>
                  </a:lnTo>
                  <a:lnTo>
                    <a:pt x="1430108" y="1968246"/>
                  </a:lnTo>
                  <a:lnTo>
                    <a:pt x="1408112" y="1927428"/>
                  </a:lnTo>
                  <a:lnTo>
                    <a:pt x="1387817" y="1885619"/>
                  </a:lnTo>
                  <a:lnTo>
                    <a:pt x="1369250" y="1842858"/>
                  </a:lnTo>
                  <a:lnTo>
                    <a:pt x="1352461" y="1799183"/>
                  </a:lnTo>
                  <a:lnTo>
                    <a:pt x="1337513" y="1754670"/>
                  </a:lnTo>
                  <a:lnTo>
                    <a:pt x="1324444" y="1709331"/>
                  </a:lnTo>
                  <a:lnTo>
                    <a:pt x="1313294" y="1663242"/>
                  </a:lnTo>
                  <a:lnTo>
                    <a:pt x="1304112" y="1616430"/>
                  </a:lnTo>
                  <a:lnTo>
                    <a:pt x="1296936" y="1568932"/>
                  </a:lnTo>
                  <a:lnTo>
                    <a:pt x="1291831" y="1520825"/>
                  </a:lnTo>
                  <a:lnTo>
                    <a:pt x="1004697" y="1520825"/>
                  </a:lnTo>
                  <a:lnTo>
                    <a:pt x="999578" y="1568932"/>
                  </a:lnTo>
                  <a:lnTo>
                    <a:pt x="992403" y="1616430"/>
                  </a:lnTo>
                  <a:lnTo>
                    <a:pt x="983208" y="1663242"/>
                  </a:lnTo>
                  <a:lnTo>
                    <a:pt x="972045" y="1709331"/>
                  </a:lnTo>
                  <a:lnTo>
                    <a:pt x="958951" y="1754670"/>
                  </a:lnTo>
                  <a:lnTo>
                    <a:pt x="943991" y="1799183"/>
                  </a:lnTo>
                  <a:lnTo>
                    <a:pt x="927201" y="1842858"/>
                  </a:lnTo>
                  <a:lnTo>
                    <a:pt x="908621" y="1885619"/>
                  </a:lnTo>
                  <a:lnTo>
                    <a:pt x="888314" y="1927428"/>
                  </a:lnTo>
                  <a:lnTo>
                    <a:pt x="866305" y="1968246"/>
                  </a:lnTo>
                  <a:lnTo>
                    <a:pt x="842645" y="2008022"/>
                  </a:lnTo>
                  <a:lnTo>
                    <a:pt x="817397" y="2046706"/>
                  </a:lnTo>
                  <a:lnTo>
                    <a:pt x="790600" y="2084260"/>
                  </a:lnTo>
                  <a:lnTo>
                    <a:pt x="762292" y="2120620"/>
                  </a:lnTo>
                  <a:lnTo>
                    <a:pt x="732523" y="2155761"/>
                  </a:lnTo>
                  <a:lnTo>
                    <a:pt x="701344" y="2189632"/>
                  </a:lnTo>
                  <a:lnTo>
                    <a:pt x="668794" y="2222182"/>
                  </a:lnTo>
                  <a:lnTo>
                    <a:pt x="634923" y="2253361"/>
                  </a:lnTo>
                  <a:lnTo>
                    <a:pt x="599782" y="2283129"/>
                  </a:lnTo>
                  <a:lnTo>
                    <a:pt x="563422" y="2311438"/>
                  </a:lnTo>
                  <a:lnTo>
                    <a:pt x="525868" y="2338235"/>
                  </a:lnTo>
                  <a:lnTo>
                    <a:pt x="487184" y="2363482"/>
                  </a:lnTo>
                  <a:lnTo>
                    <a:pt x="447408" y="2387130"/>
                  </a:lnTo>
                  <a:lnTo>
                    <a:pt x="406590" y="2409139"/>
                  </a:lnTo>
                  <a:lnTo>
                    <a:pt x="364782" y="2429459"/>
                  </a:lnTo>
                  <a:lnTo>
                    <a:pt x="322021" y="2448026"/>
                  </a:lnTo>
                  <a:lnTo>
                    <a:pt x="278358" y="2464828"/>
                  </a:lnTo>
                  <a:lnTo>
                    <a:pt x="233832" y="2479789"/>
                  </a:lnTo>
                  <a:lnTo>
                    <a:pt x="188493" y="2492870"/>
                  </a:lnTo>
                  <a:lnTo>
                    <a:pt x="142405" y="2504033"/>
                  </a:lnTo>
                  <a:lnTo>
                    <a:pt x="95592" y="2513228"/>
                  </a:lnTo>
                  <a:lnTo>
                    <a:pt x="48107" y="2520404"/>
                  </a:lnTo>
                  <a:lnTo>
                    <a:pt x="0" y="2525522"/>
                  </a:lnTo>
                  <a:lnTo>
                    <a:pt x="0" y="2812669"/>
                  </a:lnTo>
                  <a:lnTo>
                    <a:pt x="48107" y="2817787"/>
                  </a:lnTo>
                  <a:lnTo>
                    <a:pt x="95592" y="2824962"/>
                  </a:lnTo>
                  <a:lnTo>
                    <a:pt x="142405" y="2834157"/>
                  </a:lnTo>
                  <a:lnTo>
                    <a:pt x="188493" y="2845320"/>
                  </a:lnTo>
                  <a:lnTo>
                    <a:pt x="233832" y="2858414"/>
                  </a:lnTo>
                  <a:lnTo>
                    <a:pt x="278358" y="2873375"/>
                  </a:lnTo>
                  <a:lnTo>
                    <a:pt x="322021" y="2890164"/>
                  </a:lnTo>
                  <a:lnTo>
                    <a:pt x="364782" y="2908744"/>
                  </a:lnTo>
                  <a:lnTo>
                    <a:pt x="406590" y="2929064"/>
                  </a:lnTo>
                  <a:lnTo>
                    <a:pt x="447408" y="2951061"/>
                  </a:lnTo>
                  <a:lnTo>
                    <a:pt x="487184" y="2974721"/>
                  </a:lnTo>
                  <a:lnTo>
                    <a:pt x="525868" y="2999968"/>
                  </a:lnTo>
                  <a:lnTo>
                    <a:pt x="563422" y="3026765"/>
                  </a:lnTo>
                  <a:lnTo>
                    <a:pt x="599782" y="3055074"/>
                  </a:lnTo>
                  <a:lnTo>
                    <a:pt x="634923" y="3084842"/>
                  </a:lnTo>
                  <a:lnTo>
                    <a:pt x="668794" y="3116021"/>
                  </a:lnTo>
                  <a:lnTo>
                    <a:pt x="701344" y="3148571"/>
                  </a:lnTo>
                  <a:lnTo>
                    <a:pt x="732523" y="3182442"/>
                  </a:lnTo>
                  <a:lnTo>
                    <a:pt x="762292" y="3217583"/>
                  </a:lnTo>
                  <a:lnTo>
                    <a:pt x="790600" y="3253943"/>
                  </a:lnTo>
                  <a:lnTo>
                    <a:pt x="817397" y="3291497"/>
                  </a:lnTo>
                  <a:lnTo>
                    <a:pt x="842645" y="3330181"/>
                  </a:lnTo>
                  <a:lnTo>
                    <a:pt x="866305" y="3369957"/>
                  </a:lnTo>
                  <a:lnTo>
                    <a:pt x="888314" y="3410775"/>
                  </a:lnTo>
                  <a:lnTo>
                    <a:pt x="908621" y="3452584"/>
                  </a:lnTo>
                  <a:lnTo>
                    <a:pt x="927201" y="3495344"/>
                  </a:lnTo>
                  <a:lnTo>
                    <a:pt x="943991" y="3539020"/>
                  </a:lnTo>
                  <a:lnTo>
                    <a:pt x="958951" y="3583533"/>
                  </a:lnTo>
                  <a:lnTo>
                    <a:pt x="972045" y="3628872"/>
                  </a:lnTo>
                  <a:lnTo>
                    <a:pt x="983208" y="3674961"/>
                  </a:lnTo>
                  <a:lnTo>
                    <a:pt x="992403" y="3721773"/>
                  </a:lnTo>
                  <a:lnTo>
                    <a:pt x="999578" y="3769271"/>
                  </a:lnTo>
                  <a:lnTo>
                    <a:pt x="1004697" y="3817378"/>
                  </a:lnTo>
                  <a:lnTo>
                    <a:pt x="1291831" y="3817378"/>
                  </a:lnTo>
                  <a:lnTo>
                    <a:pt x="1296936" y="3769271"/>
                  </a:lnTo>
                  <a:lnTo>
                    <a:pt x="1304112" y="3721773"/>
                  </a:lnTo>
                  <a:lnTo>
                    <a:pt x="1313294" y="3674961"/>
                  </a:lnTo>
                  <a:lnTo>
                    <a:pt x="1324444" y="3628872"/>
                  </a:lnTo>
                  <a:lnTo>
                    <a:pt x="1337513" y="3583533"/>
                  </a:lnTo>
                  <a:lnTo>
                    <a:pt x="1352461" y="3539020"/>
                  </a:lnTo>
                  <a:lnTo>
                    <a:pt x="1369250" y="3495344"/>
                  </a:lnTo>
                  <a:lnTo>
                    <a:pt x="1387817" y="3452584"/>
                  </a:lnTo>
                  <a:lnTo>
                    <a:pt x="1408112" y="3410775"/>
                  </a:lnTo>
                  <a:lnTo>
                    <a:pt x="1430108" y="3369957"/>
                  </a:lnTo>
                  <a:lnTo>
                    <a:pt x="1453756" y="3330181"/>
                  </a:lnTo>
                  <a:lnTo>
                    <a:pt x="1478991" y="3291497"/>
                  </a:lnTo>
                  <a:lnTo>
                    <a:pt x="1505788" y="3253943"/>
                  </a:lnTo>
                  <a:lnTo>
                    <a:pt x="1534083" y="3217583"/>
                  </a:lnTo>
                  <a:lnTo>
                    <a:pt x="1563852" y="3182442"/>
                  </a:lnTo>
                  <a:lnTo>
                    <a:pt x="1595018" y="3148571"/>
                  </a:lnTo>
                  <a:lnTo>
                    <a:pt x="1627568" y="3116021"/>
                  </a:lnTo>
                  <a:lnTo>
                    <a:pt x="1661426" y="3084842"/>
                  </a:lnTo>
                  <a:lnTo>
                    <a:pt x="1696567" y="3055074"/>
                  </a:lnTo>
                  <a:lnTo>
                    <a:pt x="1732927" y="3026765"/>
                  </a:lnTo>
                  <a:lnTo>
                    <a:pt x="1770481" y="2999968"/>
                  </a:lnTo>
                  <a:lnTo>
                    <a:pt x="1809165" y="2974721"/>
                  </a:lnTo>
                  <a:lnTo>
                    <a:pt x="1848929" y="2951061"/>
                  </a:lnTo>
                  <a:lnTo>
                    <a:pt x="1889747" y="2929064"/>
                  </a:lnTo>
                  <a:lnTo>
                    <a:pt x="1931568" y="2908744"/>
                  </a:lnTo>
                  <a:lnTo>
                    <a:pt x="1974329" y="2890164"/>
                  </a:lnTo>
                  <a:lnTo>
                    <a:pt x="2017991" y="2873375"/>
                  </a:lnTo>
                  <a:lnTo>
                    <a:pt x="2062518" y="2858414"/>
                  </a:lnTo>
                  <a:lnTo>
                    <a:pt x="2107857" y="2845320"/>
                  </a:lnTo>
                  <a:lnTo>
                    <a:pt x="2153958" y="2834157"/>
                  </a:lnTo>
                  <a:lnTo>
                    <a:pt x="2200783" y="2824962"/>
                  </a:lnTo>
                  <a:lnTo>
                    <a:pt x="2248281" y="2817787"/>
                  </a:lnTo>
                  <a:lnTo>
                    <a:pt x="2296401" y="2812669"/>
                  </a:lnTo>
                  <a:lnTo>
                    <a:pt x="2296401" y="2525522"/>
                  </a:lnTo>
                  <a:close/>
                </a:path>
                <a:path w="10274300" h="6464300" extrusionOk="0">
                  <a:moveTo>
                    <a:pt x="10273894" y="4562703"/>
                  </a:moveTo>
                  <a:lnTo>
                    <a:pt x="5711202" y="4562703"/>
                  </a:lnTo>
                  <a:lnTo>
                    <a:pt x="5660047" y="4563376"/>
                  </a:lnTo>
                  <a:lnTo>
                    <a:pt x="5609209" y="4565396"/>
                  </a:lnTo>
                  <a:lnTo>
                    <a:pt x="5558726" y="4568736"/>
                  </a:lnTo>
                  <a:lnTo>
                    <a:pt x="5508587" y="4573384"/>
                  </a:lnTo>
                  <a:lnTo>
                    <a:pt x="5458828" y="4579328"/>
                  </a:lnTo>
                  <a:lnTo>
                    <a:pt x="5409476" y="4586554"/>
                  </a:lnTo>
                  <a:lnTo>
                    <a:pt x="5360517" y="4595025"/>
                  </a:lnTo>
                  <a:lnTo>
                    <a:pt x="5312003" y="4604753"/>
                  </a:lnTo>
                  <a:lnTo>
                    <a:pt x="5263934" y="4615713"/>
                  </a:lnTo>
                  <a:lnTo>
                    <a:pt x="5216334" y="4627867"/>
                  </a:lnTo>
                  <a:lnTo>
                    <a:pt x="5169217" y="4641227"/>
                  </a:lnTo>
                  <a:lnTo>
                    <a:pt x="5122596" y="4655769"/>
                  </a:lnTo>
                  <a:lnTo>
                    <a:pt x="5076507" y="4671479"/>
                  </a:lnTo>
                  <a:lnTo>
                    <a:pt x="5030940" y="4688319"/>
                  </a:lnTo>
                  <a:lnTo>
                    <a:pt x="4985944" y="4706302"/>
                  </a:lnTo>
                  <a:lnTo>
                    <a:pt x="4941519" y="4725403"/>
                  </a:lnTo>
                  <a:lnTo>
                    <a:pt x="4897691" y="4745596"/>
                  </a:lnTo>
                  <a:lnTo>
                    <a:pt x="4854460" y="4766869"/>
                  </a:lnTo>
                  <a:lnTo>
                    <a:pt x="4811865" y="4789208"/>
                  </a:lnTo>
                  <a:lnTo>
                    <a:pt x="4769929" y="4812601"/>
                  </a:lnTo>
                  <a:lnTo>
                    <a:pt x="4728642" y="4837036"/>
                  </a:lnTo>
                  <a:lnTo>
                    <a:pt x="4688040" y="4862487"/>
                  </a:lnTo>
                  <a:lnTo>
                    <a:pt x="4648149" y="4888928"/>
                  </a:lnTo>
                  <a:lnTo>
                    <a:pt x="4608969" y="4916360"/>
                  </a:lnTo>
                  <a:lnTo>
                    <a:pt x="4570527" y="4944770"/>
                  </a:lnTo>
                  <a:lnTo>
                    <a:pt x="4571530" y="4895202"/>
                  </a:lnTo>
                  <a:lnTo>
                    <a:pt x="4574502" y="4847514"/>
                  </a:lnTo>
                  <a:lnTo>
                    <a:pt x="4579417" y="4800371"/>
                  </a:lnTo>
                  <a:lnTo>
                    <a:pt x="4586224" y="4753826"/>
                  </a:lnTo>
                  <a:lnTo>
                    <a:pt x="4594898" y="4707890"/>
                  </a:lnTo>
                  <a:lnTo>
                    <a:pt x="4605375" y="4662640"/>
                  </a:lnTo>
                  <a:lnTo>
                    <a:pt x="4617644" y="4618075"/>
                  </a:lnTo>
                  <a:lnTo>
                    <a:pt x="4631639" y="4574273"/>
                  </a:lnTo>
                  <a:lnTo>
                    <a:pt x="4647349" y="4531258"/>
                  </a:lnTo>
                  <a:lnTo>
                    <a:pt x="4664697" y="4489056"/>
                  </a:lnTo>
                  <a:lnTo>
                    <a:pt x="4683684" y="4447730"/>
                  </a:lnTo>
                  <a:lnTo>
                    <a:pt x="4704232" y="4407293"/>
                  </a:lnTo>
                  <a:lnTo>
                    <a:pt x="4726330" y="4367809"/>
                  </a:lnTo>
                  <a:lnTo>
                    <a:pt x="4749927" y="4329315"/>
                  </a:lnTo>
                  <a:lnTo>
                    <a:pt x="4774984" y="4291838"/>
                  </a:lnTo>
                  <a:lnTo>
                    <a:pt x="4801463" y="4255427"/>
                  </a:lnTo>
                  <a:lnTo>
                    <a:pt x="4829314" y="4220121"/>
                  </a:lnTo>
                  <a:lnTo>
                    <a:pt x="4858512" y="4185958"/>
                  </a:lnTo>
                  <a:lnTo>
                    <a:pt x="4889017" y="4152963"/>
                  </a:lnTo>
                  <a:lnTo>
                    <a:pt x="4920780" y="4121213"/>
                  </a:lnTo>
                  <a:lnTo>
                    <a:pt x="4953762" y="4090708"/>
                  </a:lnTo>
                  <a:lnTo>
                    <a:pt x="4987925" y="4061510"/>
                  </a:lnTo>
                  <a:lnTo>
                    <a:pt x="5023243" y="4033647"/>
                  </a:lnTo>
                  <a:lnTo>
                    <a:pt x="5059654" y="4007180"/>
                  </a:lnTo>
                  <a:lnTo>
                    <a:pt x="5097132" y="3982123"/>
                  </a:lnTo>
                  <a:lnTo>
                    <a:pt x="5135626" y="3958526"/>
                  </a:lnTo>
                  <a:lnTo>
                    <a:pt x="5175110" y="3936428"/>
                  </a:lnTo>
                  <a:lnTo>
                    <a:pt x="5215534" y="3915867"/>
                  </a:lnTo>
                  <a:lnTo>
                    <a:pt x="5256873" y="3896893"/>
                  </a:lnTo>
                  <a:lnTo>
                    <a:pt x="5299062" y="3879532"/>
                  </a:lnTo>
                  <a:lnTo>
                    <a:pt x="5342090" y="3863835"/>
                  </a:lnTo>
                  <a:lnTo>
                    <a:pt x="5385892" y="3849840"/>
                  </a:lnTo>
                  <a:lnTo>
                    <a:pt x="5430444" y="3837571"/>
                  </a:lnTo>
                  <a:lnTo>
                    <a:pt x="5475706" y="3827081"/>
                  </a:lnTo>
                  <a:lnTo>
                    <a:pt x="5521630" y="3818420"/>
                  </a:lnTo>
                  <a:lnTo>
                    <a:pt x="5568175" y="3811613"/>
                  </a:lnTo>
                  <a:lnTo>
                    <a:pt x="5615317" y="3806698"/>
                  </a:lnTo>
                  <a:lnTo>
                    <a:pt x="5663006" y="3803713"/>
                  </a:lnTo>
                  <a:lnTo>
                    <a:pt x="5711202" y="3802710"/>
                  </a:lnTo>
                  <a:lnTo>
                    <a:pt x="8372538" y="3802710"/>
                  </a:lnTo>
                  <a:lnTo>
                    <a:pt x="8372538" y="3042031"/>
                  </a:lnTo>
                  <a:lnTo>
                    <a:pt x="5711202" y="3042031"/>
                  </a:lnTo>
                  <a:lnTo>
                    <a:pt x="5660047" y="3042704"/>
                  </a:lnTo>
                  <a:lnTo>
                    <a:pt x="5609209" y="3044723"/>
                  </a:lnTo>
                  <a:lnTo>
                    <a:pt x="5558726" y="3048063"/>
                  </a:lnTo>
                  <a:lnTo>
                    <a:pt x="5508587" y="3052711"/>
                  </a:lnTo>
                  <a:lnTo>
                    <a:pt x="5458828" y="3058655"/>
                  </a:lnTo>
                  <a:lnTo>
                    <a:pt x="5409476" y="3065869"/>
                  </a:lnTo>
                  <a:lnTo>
                    <a:pt x="5360517" y="3074339"/>
                  </a:lnTo>
                  <a:lnTo>
                    <a:pt x="5312003" y="3084055"/>
                  </a:lnTo>
                  <a:lnTo>
                    <a:pt x="5263934" y="3095002"/>
                  </a:lnTo>
                  <a:lnTo>
                    <a:pt x="5216334" y="3107156"/>
                  </a:lnTo>
                  <a:lnTo>
                    <a:pt x="5169217" y="3120504"/>
                  </a:lnTo>
                  <a:lnTo>
                    <a:pt x="5122596" y="3135020"/>
                  </a:lnTo>
                  <a:lnTo>
                    <a:pt x="5076507" y="3150705"/>
                  </a:lnTo>
                  <a:lnTo>
                    <a:pt x="5030940" y="3167532"/>
                  </a:lnTo>
                  <a:lnTo>
                    <a:pt x="4985944" y="3185490"/>
                  </a:lnTo>
                  <a:lnTo>
                    <a:pt x="4941519" y="3204553"/>
                  </a:lnTo>
                  <a:lnTo>
                    <a:pt x="4897691" y="3224707"/>
                  </a:lnTo>
                  <a:lnTo>
                    <a:pt x="4854460" y="3245942"/>
                  </a:lnTo>
                  <a:lnTo>
                    <a:pt x="4811865" y="3268243"/>
                  </a:lnTo>
                  <a:lnTo>
                    <a:pt x="4769929" y="3291586"/>
                  </a:lnTo>
                  <a:lnTo>
                    <a:pt x="4728642" y="3315957"/>
                  </a:lnTo>
                  <a:lnTo>
                    <a:pt x="4688040" y="3341344"/>
                  </a:lnTo>
                  <a:lnTo>
                    <a:pt x="4648149" y="3367722"/>
                  </a:lnTo>
                  <a:lnTo>
                    <a:pt x="4608969" y="3395078"/>
                  </a:lnTo>
                  <a:lnTo>
                    <a:pt x="4570527" y="3423412"/>
                  </a:lnTo>
                  <a:lnTo>
                    <a:pt x="4571530" y="3373882"/>
                  </a:lnTo>
                  <a:lnTo>
                    <a:pt x="4574502" y="3326244"/>
                  </a:lnTo>
                  <a:lnTo>
                    <a:pt x="4579417" y="3279152"/>
                  </a:lnTo>
                  <a:lnTo>
                    <a:pt x="4586224" y="3232645"/>
                  </a:lnTo>
                  <a:lnTo>
                    <a:pt x="4594898" y="3186760"/>
                  </a:lnTo>
                  <a:lnTo>
                    <a:pt x="4605375" y="3141548"/>
                  </a:lnTo>
                  <a:lnTo>
                    <a:pt x="4617644" y="3097022"/>
                  </a:lnTo>
                  <a:lnTo>
                    <a:pt x="4631639" y="3053257"/>
                  </a:lnTo>
                  <a:lnTo>
                    <a:pt x="4647349" y="3010268"/>
                  </a:lnTo>
                  <a:lnTo>
                    <a:pt x="4664697" y="2968104"/>
                  </a:lnTo>
                  <a:lnTo>
                    <a:pt x="4683684" y="2926791"/>
                  </a:lnTo>
                  <a:lnTo>
                    <a:pt x="4704232" y="2886392"/>
                  </a:lnTo>
                  <a:lnTo>
                    <a:pt x="4726330" y="2846933"/>
                  </a:lnTo>
                  <a:lnTo>
                    <a:pt x="4749927" y="2808465"/>
                  </a:lnTo>
                  <a:lnTo>
                    <a:pt x="4774984" y="2771013"/>
                  </a:lnTo>
                  <a:lnTo>
                    <a:pt x="4801463" y="2734614"/>
                  </a:lnTo>
                  <a:lnTo>
                    <a:pt x="4829314" y="2699321"/>
                  </a:lnTo>
                  <a:lnTo>
                    <a:pt x="4858512" y="2665171"/>
                  </a:lnTo>
                  <a:lnTo>
                    <a:pt x="4889017" y="2632202"/>
                  </a:lnTo>
                  <a:lnTo>
                    <a:pt x="4920780" y="2600452"/>
                  </a:lnTo>
                  <a:lnTo>
                    <a:pt x="4953762" y="2569972"/>
                  </a:lnTo>
                  <a:lnTo>
                    <a:pt x="4987925" y="2540774"/>
                  </a:lnTo>
                  <a:lnTo>
                    <a:pt x="5023243" y="2512936"/>
                  </a:lnTo>
                  <a:lnTo>
                    <a:pt x="5059654" y="2486456"/>
                  </a:lnTo>
                  <a:lnTo>
                    <a:pt x="5097132" y="2461412"/>
                  </a:lnTo>
                  <a:lnTo>
                    <a:pt x="5135626" y="2437828"/>
                  </a:lnTo>
                  <a:lnTo>
                    <a:pt x="5175110" y="2415730"/>
                  </a:lnTo>
                  <a:lnTo>
                    <a:pt x="5215534" y="2395182"/>
                  </a:lnTo>
                  <a:lnTo>
                    <a:pt x="5256873" y="2376208"/>
                  </a:lnTo>
                  <a:lnTo>
                    <a:pt x="5299062" y="2358847"/>
                  </a:lnTo>
                  <a:lnTo>
                    <a:pt x="5342090" y="2343150"/>
                  </a:lnTo>
                  <a:lnTo>
                    <a:pt x="5385892" y="2329154"/>
                  </a:lnTo>
                  <a:lnTo>
                    <a:pt x="5430444" y="2316899"/>
                  </a:lnTo>
                  <a:lnTo>
                    <a:pt x="5475706" y="2306409"/>
                  </a:lnTo>
                  <a:lnTo>
                    <a:pt x="5521630" y="2297747"/>
                  </a:lnTo>
                  <a:lnTo>
                    <a:pt x="5568175" y="2290927"/>
                  </a:lnTo>
                  <a:lnTo>
                    <a:pt x="5615317" y="2286012"/>
                  </a:lnTo>
                  <a:lnTo>
                    <a:pt x="5663006" y="2283041"/>
                  </a:lnTo>
                  <a:lnTo>
                    <a:pt x="5711202" y="2282037"/>
                  </a:lnTo>
                  <a:lnTo>
                    <a:pt x="7612558" y="2282037"/>
                  </a:lnTo>
                  <a:lnTo>
                    <a:pt x="7612558" y="1520672"/>
                  </a:lnTo>
                  <a:lnTo>
                    <a:pt x="5711202" y="1520672"/>
                  </a:lnTo>
                  <a:lnTo>
                    <a:pt x="5660047" y="1521345"/>
                  </a:lnTo>
                  <a:lnTo>
                    <a:pt x="5609209" y="1523365"/>
                  </a:lnTo>
                  <a:lnTo>
                    <a:pt x="5558726" y="1526705"/>
                  </a:lnTo>
                  <a:lnTo>
                    <a:pt x="5508587" y="1531353"/>
                  </a:lnTo>
                  <a:lnTo>
                    <a:pt x="5458828" y="1537296"/>
                  </a:lnTo>
                  <a:lnTo>
                    <a:pt x="5409476" y="1544523"/>
                  </a:lnTo>
                  <a:lnTo>
                    <a:pt x="5360517" y="1552994"/>
                  </a:lnTo>
                  <a:lnTo>
                    <a:pt x="5312003" y="1562722"/>
                  </a:lnTo>
                  <a:lnTo>
                    <a:pt x="5263934" y="1573669"/>
                  </a:lnTo>
                  <a:lnTo>
                    <a:pt x="5216334" y="1585836"/>
                  </a:lnTo>
                  <a:lnTo>
                    <a:pt x="5169217" y="1599196"/>
                  </a:lnTo>
                  <a:lnTo>
                    <a:pt x="5122596" y="1613738"/>
                  </a:lnTo>
                  <a:lnTo>
                    <a:pt x="5076507" y="1629435"/>
                  </a:lnTo>
                  <a:lnTo>
                    <a:pt x="5030940" y="1646288"/>
                  </a:lnTo>
                  <a:lnTo>
                    <a:pt x="4985944" y="1664271"/>
                  </a:lnTo>
                  <a:lnTo>
                    <a:pt x="4941519" y="1683372"/>
                  </a:lnTo>
                  <a:lnTo>
                    <a:pt x="4897691" y="1703565"/>
                  </a:lnTo>
                  <a:lnTo>
                    <a:pt x="4854460" y="1724837"/>
                  </a:lnTo>
                  <a:lnTo>
                    <a:pt x="4811865" y="1747177"/>
                  </a:lnTo>
                  <a:lnTo>
                    <a:pt x="4769929" y="1770570"/>
                  </a:lnTo>
                  <a:lnTo>
                    <a:pt x="4728642" y="1795005"/>
                  </a:lnTo>
                  <a:lnTo>
                    <a:pt x="4688040" y="1820443"/>
                  </a:lnTo>
                  <a:lnTo>
                    <a:pt x="4648149" y="1846897"/>
                  </a:lnTo>
                  <a:lnTo>
                    <a:pt x="4608969" y="1874329"/>
                  </a:lnTo>
                  <a:lnTo>
                    <a:pt x="4570527" y="1902726"/>
                  </a:lnTo>
                  <a:lnTo>
                    <a:pt x="4571530" y="1853209"/>
                  </a:lnTo>
                  <a:lnTo>
                    <a:pt x="4574502" y="1805571"/>
                  </a:lnTo>
                  <a:lnTo>
                    <a:pt x="4579417" y="1758467"/>
                  </a:lnTo>
                  <a:lnTo>
                    <a:pt x="4586224" y="1711947"/>
                  </a:lnTo>
                  <a:lnTo>
                    <a:pt x="4594898" y="1666062"/>
                  </a:lnTo>
                  <a:lnTo>
                    <a:pt x="4605375" y="1620824"/>
                  </a:lnTo>
                  <a:lnTo>
                    <a:pt x="4617644" y="1576298"/>
                  </a:lnTo>
                  <a:lnTo>
                    <a:pt x="4631639" y="1532509"/>
                  </a:lnTo>
                  <a:lnTo>
                    <a:pt x="4647349" y="1489506"/>
                  </a:lnTo>
                  <a:lnTo>
                    <a:pt x="4664697" y="1447317"/>
                  </a:lnTo>
                  <a:lnTo>
                    <a:pt x="4683684" y="1405991"/>
                  </a:lnTo>
                  <a:lnTo>
                    <a:pt x="4704232" y="1365567"/>
                  </a:lnTo>
                  <a:lnTo>
                    <a:pt x="4726330" y="1326095"/>
                  </a:lnTo>
                  <a:lnTo>
                    <a:pt x="4749927" y="1287589"/>
                  </a:lnTo>
                  <a:lnTo>
                    <a:pt x="4774984" y="1250111"/>
                  </a:lnTo>
                  <a:lnTo>
                    <a:pt x="4801463" y="1213688"/>
                  </a:lnTo>
                  <a:lnTo>
                    <a:pt x="4829314" y="1178382"/>
                  </a:lnTo>
                  <a:lnTo>
                    <a:pt x="4858512" y="1144193"/>
                  </a:lnTo>
                  <a:lnTo>
                    <a:pt x="4889017" y="1111199"/>
                  </a:lnTo>
                  <a:lnTo>
                    <a:pt x="4920780" y="1079423"/>
                  </a:lnTo>
                  <a:lnTo>
                    <a:pt x="4953762" y="1048918"/>
                  </a:lnTo>
                  <a:lnTo>
                    <a:pt x="4987925" y="1019695"/>
                  </a:lnTo>
                  <a:lnTo>
                    <a:pt x="5023243" y="991831"/>
                  </a:lnTo>
                  <a:lnTo>
                    <a:pt x="5059654" y="965327"/>
                  </a:lnTo>
                  <a:lnTo>
                    <a:pt x="5097132" y="940257"/>
                  </a:lnTo>
                  <a:lnTo>
                    <a:pt x="5135626" y="916647"/>
                  </a:lnTo>
                  <a:lnTo>
                    <a:pt x="5175110" y="894537"/>
                  </a:lnTo>
                  <a:lnTo>
                    <a:pt x="5215534" y="873963"/>
                  </a:lnTo>
                  <a:lnTo>
                    <a:pt x="5256873" y="854964"/>
                  </a:lnTo>
                  <a:lnTo>
                    <a:pt x="5299062" y="837590"/>
                  </a:lnTo>
                  <a:lnTo>
                    <a:pt x="5342090" y="821867"/>
                  </a:lnTo>
                  <a:lnTo>
                    <a:pt x="5385892" y="807859"/>
                  </a:lnTo>
                  <a:lnTo>
                    <a:pt x="5430444" y="795578"/>
                  </a:lnTo>
                  <a:lnTo>
                    <a:pt x="5475706" y="785088"/>
                  </a:lnTo>
                  <a:lnTo>
                    <a:pt x="5521630" y="776401"/>
                  </a:lnTo>
                  <a:lnTo>
                    <a:pt x="5568175" y="769581"/>
                  </a:lnTo>
                  <a:lnTo>
                    <a:pt x="5615317" y="764667"/>
                  </a:lnTo>
                  <a:lnTo>
                    <a:pt x="5663006" y="761682"/>
                  </a:lnTo>
                  <a:lnTo>
                    <a:pt x="5711202" y="760679"/>
                  </a:lnTo>
                  <a:lnTo>
                    <a:pt x="8372538" y="760679"/>
                  </a:lnTo>
                  <a:lnTo>
                    <a:pt x="8372538" y="0"/>
                  </a:lnTo>
                  <a:lnTo>
                    <a:pt x="5711202" y="0"/>
                  </a:lnTo>
                  <a:lnTo>
                    <a:pt x="5659577" y="698"/>
                  </a:lnTo>
                  <a:lnTo>
                    <a:pt x="5608294" y="2755"/>
                  </a:lnTo>
                  <a:lnTo>
                    <a:pt x="5557367" y="6159"/>
                  </a:lnTo>
                  <a:lnTo>
                    <a:pt x="5506821" y="10896"/>
                  </a:lnTo>
                  <a:lnTo>
                    <a:pt x="5456644" y="16954"/>
                  </a:lnTo>
                  <a:lnTo>
                    <a:pt x="5406885" y="24307"/>
                  </a:lnTo>
                  <a:lnTo>
                    <a:pt x="5357558" y="32943"/>
                  </a:lnTo>
                  <a:lnTo>
                    <a:pt x="5308663" y="42837"/>
                  </a:lnTo>
                  <a:lnTo>
                    <a:pt x="5260225" y="53975"/>
                  </a:lnTo>
                  <a:lnTo>
                    <a:pt x="5212270" y="66344"/>
                  </a:lnTo>
                  <a:lnTo>
                    <a:pt x="5164798" y="79921"/>
                  </a:lnTo>
                  <a:lnTo>
                    <a:pt x="5117846" y="94691"/>
                  </a:lnTo>
                  <a:lnTo>
                    <a:pt x="5071427" y="110629"/>
                  </a:lnTo>
                  <a:lnTo>
                    <a:pt x="5025542" y="127723"/>
                  </a:lnTo>
                  <a:lnTo>
                    <a:pt x="4980229" y="145961"/>
                  </a:lnTo>
                  <a:lnTo>
                    <a:pt x="4935499" y="165315"/>
                  </a:lnTo>
                  <a:lnTo>
                    <a:pt x="4891367" y="185775"/>
                  </a:lnTo>
                  <a:lnTo>
                    <a:pt x="4847844" y="207327"/>
                  </a:lnTo>
                  <a:lnTo>
                    <a:pt x="4804969" y="229946"/>
                  </a:lnTo>
                  <a:lnTo>
                    <a:pt x="4762728" y="253606"/>
                  </a:lnTo>
                  <a:lnTo>
                    <a:pt x="4721174" y="278307"/>
                  </a:lnTo>
                  <a:lnTo>
                    <a:pt x="4680293" y="304012"/>
                  </a:lnTo>
                  <a:lnTo>
                    <a:pt x="4640123" y="330720"/>
                  </a:lnTo>
                  <a:lnTo>
                    <a:pt x="4600664" y="358406"/>
                  </a:lnTo>
                  <a:lnTo>
                    <a:pt x="4561954" y="387057"/>
                  </a:lnTo>
                  <a:lnTo>
                    <a:pt x="4523994" y="416661"/>
                  </a:lnTo>
                  <a:lnTo>
                    <a:pt x="4486808" y="447179"/>
                  </a:lnTo>
                  <a:lnTo>
                    <a:pt x="4450423" y="478612"/>
                  </a:lnTo>
                  <a:lnTo>
                    <a:pt x="4414837" y="510933"/>
                  </a:lnTo>
                  <a:lnTo>
                    <a:pt x="4380077" y="544131"/>
                  </a:lnTo>
                  <a:lnTo>
                    <a:pt x="4346156" y="578192"/>
                  </a:lnTo>
                  <a:lnTo>
                    <a:pt x="4313098" y="613079"/>
                  </a:lnTo>
                  <a:lnTo>
                    <a:pt x="4280928" y="648792"/>
                  </a:lnTo>
                  <a:lnTo>
                    <a:pt x="4249648" y="685304"/>
                  </a:lnTo>
                  <a:lnTo>
                    <a:pt x="4219283" y="722617"/>
                  </a:lnTo>
                  <a:lnTo>
                    <a:pt x="4189844" y="760679"/>
                  </a:lnTo>
                  <a:lnTo>
                    <a:pt x="4160405" y="722617"/>
                  </a:lnTo>
                  <a:lnTo>
                    <a:pt x="4130040" y="685304"/>
                  </a:lnTo>
                  <a:lnTo>
                    <a:pt x="4098760" y="648792"/>
                  </a:lnTo>
                  <a:lnTo>
                    <a:pt x="4066578" y="613079"/>
                  </a:lnTo>
                  <a:lnTo>
                    <a:pt x="4033532" y="578192"/>
                  </a:lnTo>
                  <a:lnTo>
                    <a:pt x="3999611" y="544131"/>
                  </a:lnTo>
                  <a:lnTo>
                    <a:pt x="3964863" y="510933"/>
                  </a:lnTo>
                  <a:lnTo>
                    <a:pt x="3929278" y="478612"/>
                  </a:lnTo>
                  <a:lnTo>
                    <a:pt x="3892880" y="447179"/>
                  </a:lnTo>
                  <a:lnTo>
                    <a:pt x="3855707" y="416661"/>
                  </a:lnTo>
                  <a:lnTo>
                    <a:pt x="3817747" y="387057"/>
                  </a:lnTo>
                  <a:lnTo>
                    <a:pt x="3779037" y="358406"/>
                  </a:lnTo>
                  <a:lnTo>
                    <a:pt x="3739591" y="330720"/>
                  </a:lnTo>
                  <a:lnTo>
                    <a:pt x="3699433" y="304012"/>
                  </a:lnTo>
                  <a:lnTo>
                    <a:pt x="3658565" y="278307"/>
                  </a:lnTo>
                  <a:lnTo>
                    <a:pt x="3617010" y="253606"/>
                  </a:lnTo>
                  <a:lnTo>
                    <a:pt x="3574783" y="229946"/>
                  </a:lnTo>
                  <a:lnTo>
                    <a:pt x="3531920" y="207327"/>
                  </a:lnTo>
                  <a:lnTo>
                    <a:pt x="3488410" y="185775"/>
                  </a:lnTo>
                  <a:lnTo>
                    <a:pt x="3444303" y="165315"/>
                  </a:lnTo>
                  <a:lnTo>
                    <a:pt x="3399586" y="145961"/>
                  </a:lnTo>
                  <a:lnTo>
                    <a:pt x="3354286" y="127723"/>
                  </a:lnTo>
                  <a:lnTo>
                    <a:pt x="3308439" y="110629"/>
                  </a:lnTo>
                  <a:lnTo>
                    <a:pt x="3262033" y="94691"/>
                  </a:lnTo>
                  <a:lnTo>
                    <a:pt x="3215106" y="79921"/>
                  </a:lnTo>
                  <a:lnTo>
                    <a:pt x="3167672" y="66344"/>
                  </a:lnTo>
                  <a:lnTo>
                    <a:pt x="3119742" y="53975"/>
                  </a:lnTo>
                  <a:lnTo>
                    <a:pt x="3071342" y="42837"/>
                  </a:lnTo>
                  <a:lnTo>
                    <a:pt x="3022485" y="32943"/>
                  </a:lnTo>
                  <a:lnTo>
                    <a:pt x="2973184" y="24307"/>
                  </a:lnTo>
                  <a:lnTo>
                    <a:pt x="2923463" y="16954"/>
                  </a:lnTo>
                  <a:lnTo>
                    <a:pt x="2873349" y="10896"/>
                  </a:lnTo>
                  <a:lnTo>
                    <a:pt x="2822841" y="6159"/>
                  </a:lnTo>
                  <a:lnTo>
                    <a:pt x="2771952" y="2755"/>
                  </a:lnTo>
                  <a:lnTo>
                    <a:pt x="2720733" y="698"/>
                  </a:lnTo>
                  <a:lnTo>
                    <a:pt x="2669171" y="0"/>
                  </a:lnTo>
                  <a:lnTo>
                    <a:pt x="11976" y="0"/>
                  </a:lnTo>
                  <a:lnTo>
                    <a:pt x="11976" y="760679"/>
                  </a:lnTo>
                  <a:lnTo>
                    <a:pt x="2669171" y="760679"/>
                  </a:lnTo>
                  <a:lnTo>
                    <a:pt x="2717304" y="761682"/>
                  </a:lnTo>
                  <a:lnTo>
                    <a:pt x="2764955" y="764667"/>
                  </a:lnTo>
                  <a:lnTo>
                    <a:pt x="2812046" y="769581"/>
                  </a:lnTo>
                  <a:lnTo>
                    <a:pt x="2858566" y="776401"/>
                  </a:lnTo>
                  <a:lnTo>
                    <a:pt x="2904464" y="785088"/>
                  </a:lnTo>
                  <a:lnTo>
                    <a:pt x="2949702" y="795578"/>
                  </a:lnTo>
                  <a:lnTo>
                    <a:pt x="2994228" y="807859"/>
                  </a:lnTo>
                  <a:lnTo>
                    <a:pt x="3038017" y="821867"/>
                  </a:lnTo>
                  <a:lnTo>
                    <a:pt x="3081020" y="837590"/>
                  </a:lnTo>
                  <a:lnTo>
                    <a:pt x="3123209" y="854964"/>
                  </a:lnTo>
                  <a:lnTo>
                    <a:pt x="3164535" y="873963"/>
                  </a:lnTo>
                  <a:lnTo>
                    <a:pt x="3204959" y="894537"/>
                  </a:lnTo>
                  <a:lnTo>
                    <a:pt x="3244443" y="916647"/>
                  </a:lnTo>
                  <a:lnTo>
                    <a:pt x="3282937" y="940257"/>
                  </a:lnTo>
                  <a:lnTo>
                    <a:pt x="3320415" y="965327"/>
                  </a:lnTo>
                  <a:lnTo>
                    <a:pt x="3356838" y="991831"/>
                  </a:lnTo>
                  <a:lnTo>
                    <a:pt x="3392157" y="1019695"/>
                  </a:lnTo>
                  <a:lnTo>
                    <a:pt x="3426333" y="1048918"/>
                  </a:lnTo>
                  <a:lnTo>
                    <a:pt x="3459327" y="1079423"/>
                  </a:lnTo>
                  <a:lnTo>
                    <a:pt x="3491103" y="1111199"/>
                  </a:lnTo>
                  <a:lnTo>
                    <a:pt x="3521608" y="1144193"/>
                  </a:lnTo>
                  <a:lnTo>
                    <a:pt x="3550831" y="1178382"/>
                  </a:lnTo>
                  <a:lnTo>
                    <a:pt x="3578707" y="1213688"/>
                  </a:lnTo>
                  <a:lnTo>
                    <a:pt x="3605199" y="1250111"/>
                  </a:lnTo>
                  <a:lnTo>
                    <a:pt x="3630269" y="1287589"/>
                  </a:lnTo>
                  <a:lnTo>
                    <a:pt x="3653879" y="1326095"/>
                  </a:lnTo>
                  <a:lnTo>
                    <a:pt x="3676002" y="1365567"/>
                  </a:lnTo>
                  <a:lnTo>
                    <a:pt x="3696576" y="1405991"/>
                  </a:lnTo>
                  <a:lnTo>
                    <a:pt x="3715562" y="1447317"/>
                  </a:lnTo>
                  <a:lnTo>
                    <a:pt x="3732936" y="1489506"/>
                  </a:lnTo>
                  <a:lnTo>
                    <a:pt x="3748659" y="1532509"/>
                  </a:lnTo>
                  <a:lnTo>
                    <a:pt x="3762667" y="1576298"/>
                  </a:lnTo>
                  <a:lnTo>
                    <a:pt x="3774948" y="1620824"/>
                  </a:lnTo>
                  <a:lnTo>
                    <a:pt x="3785438" y="1666062"/>
                  </a:lnTo>
                  <a:lnTo>
                    <a:pt x="3794125" y="1711947"/>
                  </a:lnTo>
                  <a:lnTo>
                    <a:pt x="3800945" y="1758467"/>
                  </a:lnTo>
                  <a:lnTo>
                    <a:pt x="3805859" y="1805571"/>
                  </a:lnTo>
                  <a:lnTo>
                    <a:pt x="3808844" y="1853209"/>
                  </a:lnTo>
                  <a:lnTo>
                    <a:pt x="3809847" y="1901355"/>
                  </a:lnTo>
                  <a:lnTo>
                    <a:pt x="3809847" y="4944770"/>
                  </a:lnTo>
                  <a:lnTo>
                    <a:pt x="3771328" y="4916360"/>
                  </a:lnTo>
                  <a:lnTo>
                    <a:pt x="3732085" y="4888928"/>
                  </a:lnTo>
                  <a:lnTo>
                    <a:pt x="3692131" y="4862487"/>
                  </a:lnTo>
                  <a:lnTo>
                    <a:pt x="3651491" y="4837036"/>
                  </a:lnTo>
                  <a:lnTo>
                    <a:pt x="3610178" y="4812601"/>
                  </a:lnTo>
                  <a:lnTo>
                    <a:pt x="3568204" y="4789208"/>
                  </a:lnTo>
                  <a:lnTo>
                    <a:pt x="3525596" y="4766869"/>
                  </a:lnTo>
                  <a:lnTo>
                    <a:pt x="3482378" y="4745596"/>
                  </a:lnTo>
                  <a:lnTo>
                    <a:pt x="3438537" y="4725403"/>
                  </a:lnTo>
                  <a:lnTo>
                    <a:pt x="3394125" y="4706302"/>
                  </a:lnTo>
                  <a:lnTo>
                    <a:pt x="3349129" y="4688319"/>
                  </a:lnTo>
                  <a:lnTo>
                    <a:pt x="3303600" y="4671479"/>
                  </a:lnTo>
                  <a:lnTo>
                    <a:pt x="3257524" y="4655769"/>
                  </a:lnTo>
                  <a:lnTo>
                    <a:pt x="3210928" y="4641227"/>
                  </a:lnTo>
                  <a:lnTo>
                    <a:pt x="3163836" y="4627867"/>
                  </a:lnTo>
                  <a:lnTo>
                    <a:pt x="3116262" y="4615713"/>
                  </a:lnTo>
                  <a:lnTo>
                    <a:pt x="3068218" y="4604753"/>
                  </a:lnTo>
                  <a:lnTo>
                    <a:pt x="3019729" y="4595025"/>
                  </a:lnTo>
                  <a:lnTo>
                    <a:pt x="2970809" y="4586554"/>
                  </a:lnTo>
                  <a:lnTo>
                    <a:pt x="2921470" y="4579328"/>
                  </a:lnTo>
                  <a:lnTo>
                    <a:pt x="2871736" y="4573384"/>
                  </a:lnTo>
                  <a:lnTo>
                    <a:pt x="2821622" y="4568736"/>
                  </a:lnTo>
                  <a:lnTo>
                    <a:pt x="2771140" y="4565396"/>
                  </a:lnTo>
                  <a:lnTo>
                    <a:pt x="2720314" y="4563376"/>
                  </a:lnTo>
                  <a:lnTo>
                    <a:pt x="2669171" y="4562703"/>
                  </a:lnTo>
                  <a:lnTo>
                    <a:pt x="11976" y="4562703"/>
                  </a:lnTo>
                  <a:lnTo>
                    <a:pt x="11976" y="5324068"/>
                  </a:lnTo>
                  <a:lnTo>
                    <a:pt x="2669171" y="5324068"/>
                  </a:lnTo>
                  <a:lnTo>
                    <a:pt x="2717000" y="5325059"/>
                  </a:lnTo>
                  <a:lnTo>
                    <a:pt x="2764332" y="5327993"/>
                  </a:lnTo>
                  <a:lnTo>
                    <a:pt x="2811119" y="5332844"/>
                  </a:lnTo>
                  <a:lnTo>
                    <a:pt x="2857347" y="5339562"/>
                  </a:lnTo>
                  <a:lnTo>
                    <a:pt x="2902953" y="5348122"/>
                  </a:lnTo>
                  <a:lnTo>
                    <a:pt x="2947911" y="5358473"/>
                  </a:lnTo>
                  <a:lnTo>
                    <a:pt x="2992183" y="5370576"/>
                  </a:lnTo>
                  <a:lnTo>
                    <a:pt x="3035719" y="5384393"/>
                  </a:lnTo>
                  <a:lnTo>
                    <a:pt x="3078480" y="5399887"/>
                  </a:lnTo>
                  <a:lnTo>
                    <a:pt x="3120440" y="5417020"/>
                  </a:lnTo>
                  <a:lnTo>
                    <a:pt x="3161550" y="5435752"/>
                  </a:lnTo>
                  <a:lnTo>
                    <a:pt x="3201771" y="5456047"/>
                  </a:lnTo>
                  <a:lnTo>
                    <a:pt x="3241065" y="5477865"/>
                  </a:lnTo>
                  <a:lnTo>
                    <a:pt x="3279394" y="5501157"/>
                  </a:lnTo>
                  <a:lnTo>
                    <a:pt x="3316732" y="5525909"/>
                  </a:lnTo>
                  <a:lnTo>
                    <a:pt x="3353016" y="5552046"/>
                  </a:lnTo>
                  <a:lnTo>
                    <a:pt x="3388207" y="5579567"/>
                  </a:lnTo>
                  <a:lnTo>
                    <a:pt x="3422294" y="5608409"/>
                  </a:lnTo>
                  <a:lnTo>
                    <a:pt x="3455212" y="5638533"/>
                  </a:lnTo>
                  <a:lnTo>
                    <a:pt x="3486937" y="5669915"/>
                  </a:lnTo>
                  <a:lnTo>
                    <a:pt x="3517417" y="5702503"/>
                  </a:lnTo>
                  <a:lnTo>
                    <a:pt x="3546627" y="5736260"/>
                  </a:lnTo>
                  <a:lnTo>
                    <a:pt x="3574516" y="5771146"/>
                  </a:lnTo>
                  <a:lnTo>
                    <a:pt x="3601047" y="5807126"/>
                  </a:lnTo>
                  <a:lnTo>
                    <a:pt x="3626193" y="5844171"/>
                  </a:lnTo>
                  <a:lnTo>
                    <a:pt x="3649891" y="5882221"/>
                  </a:lnTo>
                  <a:lnTo>
                    <a:pt x="3672128" y="5921260"/>
                  </a:lnTo>
                  <a:lnTo>
                    <a:pt x="3692855" y="5961227"/>
                  </a:lnTo>
                  <a:lnTo>
                    <a:pt x="3712019" y="6002096"/>
                  </a:lnTo>
                  <a:lnTo>
                    <a:pt x="3729609" y="6043815"/>
                  </a:lnTo>
                  <a:lnTo>
                    <a:pt x="3745560" y="6086373"/>
                  </a:lnTo>
                  <a:lnTo>
                    <a:pt x="3759835" y="6129693"/>
                  </a:lnTo>
                  <a:lnTo>
                    <a:pt x="3772420" y="6173775"/>
                  </a:lnTo>
                  <a:lnTo>
                    <a:pt x="3783253" y="6218555"/>
                  </a:lnTo>
                  <a:lnTo>
                    <a:pt x="3792296" y="6263995"/>
                  </a:lnTo>
                  <a:lnTo>
                    <a:pt x="3799509" y="6310058"/>
                  </a:lnTo>
                  <a:lnTo>
                    <a:pt x="3804869" y="6356718"/>
                  </a:lnTo>
                  <a:lnTo>
                    <a:pt x="3808323" y="6403924"/>
                  </a:lnTo>
                  <a:lnTo>
                    <a:pt x="3809847" y="6451638"/>
                  </a:lnTo>
                  <a:lnTo>
                    <a:pt x="3809847" y="6464046"/>
                  </a:lnTo>
                  <a:lnTo>
                    <a:pt x="4570527" y="6464046"/>
                  </a:lnTo>
                  <a:lnTo>
                    <a:pt x="4570527" y="6451638"/>
                  </a:lnTo>
                  <a:lnTo>
                    <a:pt x="4572038" y="6403924"/>
                  </a:lnTo>
                  <a:lnTo>
                    <a:pt x="4575492" y="6356718"/>
                  </a:lnTo>
                  <a:lnTo>
                    <a:pt x="4580839" y="6310058"/>
                  </a:lnTo>
                  <a:lnTo>
                    <a:pt x="4588053" y="6263995"/>
                  </a:lnTo>
                  <a:lnTo>
                    <a:pt x="4597095" y="6218555"/>
                  </a:lnTo>
                  <a:lnTo>
                    <a:pt x="4607903" y="6173775"/>
                  </a:lnTo>
                  <a:lnTo>
                    <a:pt x="4620476" y="6129693"/>
                  </a:lnTo>
                  <a:lnTo>
                    <a:pt x="4634738" y="6086373"/>
                  </a:lnTo>
                  <a:lnTo>
                    <a:pt x="4650676" y="6043815"/>
                  </a:lnTo>
                  <a:lnTo>
                    <a:pt x="4668240" y="6002096"/>
                  </a:lnTo>
                  <a:lnTo>
                    <a:pt x="4687392" y="5961227"/>
                  </a:lnTo>
                  <a:lnTo>
                    <a:pt x="4708106" y="5921260"/>
                  </a:lnTo>
                  <a:lnTo>
                    <a:pt x="4730318" y="5882221"/>
                  </a:lnTo>
                  <a:lnTo>
                    <a:pt x="4754003" y="5844171"/>
                  </a:lnTo>
                  <a:lnTo>
                    <a:pt x="4779124" y="5807126"/>
                  </a:lnTo>
                  <a:lnTo>
                    <a:pt x="4805642" y="5771146"/>
                  </a:lnTo>
                  <a:lnTo>
                    <a:pt x="4833518" y="5736260"/>
                  </a:lnTo>
                  <a:lnTo>
                    <a:pt x="4862715" y="5702503"/>
                  </a:lnTo>
                  <a:lnTo>
                    <a:pt x="4893183" y="5669915"/>
                  </a:lnTo>
                  <a:lnTo>
                    <a:pt x="4924895" y="5638533"/>
                  </a:lnTo>
                  <a:lnTo>
                    <a:pt x="4957800" y="5608409"/>
                  </a:lnTo>
                  <a:lnTo>
                    <a:pt x="4991874" y="5579567"/>
                  </a:lnTo>
                  <a:lnTo>
                    <a:pt x="5027066" y="5552046"/>
                  </a:lnTo>
                  <a:lnTo>
                    <a:pt x="5063337" y="5525909"/>
                  </a:lnTo>
                  <a:lnTo>
                    <a:pt x="5100663" y="5501157"/>
                  </a:lnTo>
                  <a:lnTo>
                    <a:pt x="5138991" y="5477865"/>
                  </a:lnTo>
                  <a:lnTo>
                    <a:pt x="5178298" y="5456047"/>
                  </a:lnTo>
                  <a:lnTo>
                    <a:pt x="5218519" y="5435752"/>
                  </a:lnTo>
                  <a:lnTo>
                    <a:pt x="5259641" y="5417020"/>
                  </a:lnTo>
                  <a:lnTo>
                    <a:pt x="5301602" y="5399887"/>
                  </a:lnTo>
                  <a:lnTo>
                    <a:pt x="5344388" y="5384393"/>
                  </a:lnTo>
                  <a:lnTo>
                    <a:pt x="5387937" y="5370576"/>
                  </a:lnTo>
                  <a:lnTo>
                    <a:pt x="5432222" y="5358473"/>
                  </a:lnTo>
                  <a:lnTo>
                    <a:pt x="5477205" y="5348122"/>
                  </a:lnTo>
                  <a:lnTo>
                    <a:pt x="5522849" y="5339562"/>
                  </a:lnTo>
                  <a:lnTo>
                    <a:pt x="5569102" y="5332844"/>
                  </a:lnTo>
                  <a:lnTo>
                    <a:pt x="5615940" y="5327993"/>
                  </a:lnTo>
                  <a:lnTo>
                    <a:pt x="5663323" y="5325059"/>
                  </a:lnTo>
                  <a:lnTo>
                    <a:pt x="5711202" y="5324068"/>
                  </a:lnTo>
                  <a:lnTo>
                    <a:pt x="10273894" y="5324068"/>
                  </a:lnTo>
                  <a:lnTo>
                    <a:pt x="10273894" y="4562703"/>
                  </a:lnTo>
                  <a:close/>
                </a:path>
              </a:pathLst>
            </a:custGeom>
            <a:solidFill>
              <a:srgbClr val="16469D"/>
            </a:solidFill>
            <a:ln>
              <a:noFill/>
            </a:ln>
          </p:spPr>
          <p:txBody>
            <a:bodyPr spcFirstLastPara="1" wrap="square" lIns="0" tIns="0" rIns="0" bIns="0" anchor="t" anchorCtr="0">
              <a:noAutofit/>
            </a:bodyPr>
            <a:lstStyle/>
            <a:p>
              <a:pPr>
                <a:buSzPts val="1400"/>
              </a:pPr>
              <a:endParaRPr sz="849" dirty="0">
                <a:latin typeface="Montserrat" panose="00000500000000000000" pitchFamily="2" charset="0"/>
              </a:endParaRPr>
            </a:p>
          </p:txBody>
        </p:sp>
        <p:sp>
          <p:nvSpPr>
            <p:cNvPr id="57" name="Google Shape;57;p2"/>
            <p:cNvSpPr/>
            <p:nvPr/>
          </p:nvSpPr>
          <p:spPr>
            <a:xfrm>
              <a:off x="9133292" y="4844365"/>
              <a:ext cx="1141095" cy="760730"/>
            </a:xfrm>
            <a:custGeom>
              <a:avLst/>
              <a:gdLst/>
              <a:ahLst/>
              <a:cxnLst/>
              <a:rect l="l" t="t" r="r" b="b"/>
              <a:pathLst>
                <a:path w="1141095" h="760729" extrusionOk="0">
                  <a:moveTo>
                    <a:pt x="1140729" y="0"/>
                  </a:moveTo>
                  <a:lnTo>
                    <a:pt x="0" y="0"/>
                  </a:lnTo>
                  <a:lnTo>
                    <a:pt x="0" y="760479"/>
                  </a:lnTo>
                  <a:lnTo>
                    <a:pt x="1140729" y="760479"/>
                  </a:lnTo>
                  <a:lnTo>
                    <a:pt x="1140729" y="0"/>
                  </a:lnTo>
                  <a:close/>
                </a:path>
              </a:pathLst>
            </a:custGeom>
            <a:solidFill>
              <a:srgbClr val="F8A41A"/>
            </a:solidFill>
            <a:ln>
              <a:noFill/>
            </a:ln>
          </p:spPr>
          <p:txBody>
            <a:bodyPr spcFirstLastPara="1" wrap="square" lIns="0" tIns="0" rIns="0" bIns="0" anchor="t" anchorCtr="0">
              <a:noAutofit/>
            </a:bodyPr>
            <a:lstStyle/>
            <a:p>
              <a:pPr>
                <a:buSzPts val="1400"/>
              </a:pPr>
              <a:endParaRPr sz="849" dirty="0">
                <a:latin typeface="Montserrat" panose="00000500000000000000" pitchFamily="2" charset="0"/>
              </a:endParaRPr>
            </a:p>
          </p:txBody>
        </p:sp>
        <p:sp>
          <p:nvSpPr>
            <p:cNvPr id="58" name="Google Shape;58;p2"/>
            <p:cNvSpPr/>
            <p:nvPr/>
          </p:nvSpPr>
          <p:spPr>
            <a:xfrm>
              <a:off x="8372813" y="6365324"/>
              <a:ext cx="1901825" cy="760730"/>
            </a:xfrm>
            <a:custGeom>
              <a:avLst/>
              <a:gdLst/>
              <a:ahLst/>
              <a:cxnLst/>
              <a:rect l="l" t="t" r="r" b="b"/>
              <a:pathLst>
                <a:path w="1901825" h="760729" extrusionOk="0">
                  <a:moveTo>
                    <a:pt x="1901209" y="0"/>
                  </a:moveTo>
                  <a:lnTo>
                    <a:pt x="0" y="0"/>
                  </a:lnTo>
                  <a:lnTo>
                    <a:pt x="0" y="760489"/>
                  </a:lnTo>
                  <a:lnTo>
                    <a:pt x="1901209" y="760489"/>
                  </a:lnTo>
                  <a:lnTo>
                    <a:pt x="1901209" y="0"/>
                  </a:lnTo>
                  <a:close/>
                </a:path>
              </a:pathLst>
            </a:custGeom>
            <a:solidFill>
              <a:srgbClr val="16469D"/>
            </a:solidFill>
            <a:ln>
              <a:noFill/>
            </a:ln>
          </p:spPr>
          <p:txBody>
            <a:bodyPr spcFirstLastPara="1" wrap="square" lIns="0" tIns="0" rIns="0" bIns="0" anchor="t" anchorCtr="0">
              <a:noAutofit/>
            </a:bodyPr>
            <a:lstStyle/>
            <a:p>
              <a:pPr>
                <a:buSzPts val="1400"/>
              </a:pPr>
              <a:endParaRPr sz="849" dirty="0">
                <a:latin typeface="Montserrat" panose="00000500000000000000" pitchFamily="2" charset="0"/>
              </a:endParaRPr>
            </a:p>
          </p:txBody>
        </p:sp>
        <p:sp>
          <p:nvSpPr>
            <p:cNvPr id="59" name="Google Shape;59;p2"/>
            <p:cNvSpPr/>
            <p:nvPr/>
          </p:nvSpPr>
          <p:spPr>
            <a:xfrm>
              <a:off x="9133292" y="7886293"/>
              <a:ext cx="1141095" cy="760730"/>
            </a:xfrm>
            <a:custGeom>
              <a:avLst/>
              <a:gdLst/>
              <a:ahLst/>
              <a:cxnLst/>
              <a:rect l="l" t="t" r="r" b="b"/>
              <a:pathLst>
                <a:path w="1141095" h="760729" extrusionOk="0">
                  <a:moveTo>
                    <a:pt x="1140729" y="0"/>
                  </a:moveTo>
                  <a:lnTo>
                    <a:pt x="0" y="0"/>
                  </a:lnTo>
                  <a:lnTo>
                    <a:pt x="0" y="760489"/>
                  </a:lnTo>
                  <a:lnTo>
                    <a:pt x="1140729" y="760489"/>
                  </a:lnTo>
                  <a:lnTo>
                    <a:pt x="1140729" y="0"/>
                  </a:lnTo>
                  <a:close/>
                </a:path>
              </a:pathLst>
            </a:custGeom>
            <a:solidFill>
              <a:srgbClr val="F8A41A"/>
            </a:solidFill>
            <a:ln>
              <a:noFill/>
            </a:ln>
          </p:spPr>
          <p:txBody>
            <a:bodyPr spcFirstLastPara="1" wrap="square" lIns="0" tIns="0" rIns="0" bIns="0" anchor="t" anchorCtr="0">
              <a:noAutofit/>
            </a:bodyPr>
            <a:lstStyle/>
            <a:p>
              <a:pPr>
                <a:buSzPts val="1400"/>
              </a:pPr>
              <a:endParaRPr sz="849" dirty="0">
                <a:latin typeface="Montserrat" panose="00000500000000000000" pitchFamily="2" charset="0"/>
              </a:endParaRPr>
            </a:p>
          </p:txBody>
        </p:sp>
      </p:grpSp>
      <p:pic>
        <p:nvPicPr>
          <p:cNvPr id="2" name="Google Shape;116;p5" title="Slide template-05.jpg">
            <a:extLst>
              <a:ext uri="{FF2B5EF4-FFF2-40B4-BE49-F238E27FC236}">
                <a16:creationId xmlns:a16="http://schemas.microsoft.com/office/drawing/2014/main" id="{BEA41FD7-6747-836E-FE3F-072204697D67}"/>
              </a:ext>
            </a:extLst>
          </p:cNvPr>
          <p:cNvPicPr preferRelativeResize="0"/>
          <p:nvPr/>
        </p:nvPicPr>
        <p:blipFill rotWithShape="1">
          <a:blip r:embed="rId3">
            <a:alphaModFix/>
          </a:blip>
          <a:srcRect/>
          <a:stretch/>
        </p:blipFill>
        <p:spPr>
          <a:xfrm>
            <a:off x="428" y="-3199"/>
            <a:ext cx="12191144" cy="1017913"/>
          </a:xfrm>
          <a:prstGeom prst="rect">
            <a:avLst/>
          </a:prstGeom>
          <a:noFill/>
          <a:ln>
            <a:noFill/>
          </a:ln>
        </p:spPr>
      </p:pic>
      <p:sp>
        <p:nvSpPr>
          <p:cNvPr id="5" name="TextBox 4">
            <a:extLst>
              <a:ext uri="{FF2B5EF4-FFF2-40B4-BE49-F238E27FC236}">
                <a16:creationId xmlns:a16="http://schemas.microsoft.com/office/drawing/2014/main" id="{784D06D0-EB2D-8382-1525-D5E1129EB1EA}"/>
              </a:ext>
            </a:extLst>
          </p:cNvPr>
          <p:cNvSpPr txBox="1"/>
          <p:nvPr/>
        </p:nvSpPr>
        <p:spPr>
          <a:xfrm>
            <a:off x="5530944" y="3224965"/>
            <a:ext cx="6660628" cy="2931572"/>
          </a:xfrm>
          <a:prstGeom prst="rect">
            <a:avLst/>
          </a:prstGeom>
          <a:noFill/>
        </p:spPr>
        <p:txBody>
          <a:bodyPr wrap="square">
            <a:spAutoFit/>
          </a:bodyPr>
          <a:lstStyle/>
          <a:p>
            <a:r>
              <a:rPr lang="vi-VN" sz="2050" dirty="0">
                <a:solidFill>
                  <a:srgbClr val="002060"/>
                </a:solidFill>
                <a:latin typeface="Montserrat" pitchFamily="2" charset="77"/>
              </a:rPr>
              <a:t>4.1 Kế thừa đơn </a:t>
            </a:r>
          </a:p>
          <a:p>
            <a:r>
              <a:rPr lang="vi-VN" sz="2050" dirty="0">
                <a:solidFill>
                  <a:srgbClr val="002060"/>
                </a:solidFill>
                <a:latin typeface="Montserrat" pitchFamily="2" charset="77"/>
              </a:rPr>
              <a:t>4.2. Các lớp cơ sở và các lớp dẫn xuất </a:t>
            </a:r>
          </a:p>
          <a:p>
            <a:r>
              <a:rPr lang="vi-VN" sz="2050" dirty="0">
                <a:solidFill>
                  <a:srgbClr val="002060"/>
                </a:solidFill>
                <a:latin typeface="Montserrat" pitchFamily="2" charset="77"/>
              </a:rPr>
              <a:t>4.3. Các thành viên protected </a:t>
            </a:r>
          </a:p>
          <a:p>
            <a:r>
              <a:rPr lang="vi-VN" sz="2050" dirty="0">
                <a:solidFill>
                  <a:srgbClr val="002060"/>
                </a:solidFill>
                <a:latin typeface="Montserrat" pitchFamily="2" charset="77"/>
              </a:rPr>
              <a:t>4.4. Ép kiểu con trỏ tới lớp cơ sở tới con trỏ lớp dẫn xuất </a:t>
            </a:r>
          </a:p>
          <a:p>
            <a:r>
              <a:rPr lang="vi-VN" sz="2050" dirty="0">
                <a:solidFill>
                  <a:srgbClr val="002060"/>
                </a:solidFill>
                <a:latin typeface="Montserrat" pitchFamily="2" charset="77"/>
              </a:rPr>
              <a:t>4.5. Các lớp cơ sở public, protected, private </a:t>
            </a:r>
          </a:p>
          <a:p>
            <a:r>
              <a:rPr lang="vi-VN" sz="2050" dirty="0">
                <a:solidFill>
                  <a:srgbClr val="002060"/>
                </a:solidFill>
                <a:latin typeface="Montserrat" pitchFamily="2" charset="77"/>
              </a:rPr>
              <a:t>4.6. Các constructor và destructor và lớp dẫn xuất 4.7. Đa kế thừa</a:t>
            </a:r>
          </a:p>
          <a:p>
            <a:r>
              <a:rPr lang="vi-VN" sz="2050" dirty="0">
                <a:solidFill>
                  <a:srgbClr val="002060"/>
                </a:solidFill>
                <a:latin typeface="Montserrat" pitchFamily="2" charset="77"/>
              </a:rPr>
              <a:t>4.8 Các lớp cơ sở ảo</a:t>
            </a:r>
            <a:endParaRPr lang="en-GB" sz="2050" dirty="0">
              <a:solidFill>
                <a:srgbClr val="002060"/>
              </a:solidFill>
              <a:latin typeface="Montserrat" pitchFamily="2" charset="77"/>
            </a:endParaRPr>
          </a:p>
        </p:txBody>
      </p:sp>
      <p:sp>
        <p:nvSpPr>
          <p:cNvPr id="7" name="Google Shape;121;p5">
            <a:extLst>
              <a:ext uri="{FF2B5EF4-FFF2-40B4-BE49-F238E27FC236}">
                <a16:creationId xmlns:a16="http://schemas.microsoft.com/office/drawing/2014/main" id="{C5F8A1B2-430D-78DD-BFBA-3C9D8545AF05}"/>
              </a:ext>
            </a:extLst>
          </p:cNvPr>
          <p:cNvSpPr txBox="1"/>
          <p:nvPr/>
        </p:nvSpPr>
        <p:spPr>
          <a:xfrm>
            <a:off x="2327684" y="291468"/>
            <a:ext cx="8093573" cy="512132"/>
          </a:xfrm>
          <a:prstGeom prst="rect">
            <a:avLst/>
          </a:prstGeom>
          <a:noFill/>
          <a:ln>
            <a:noFill/>
          </a:ln>
        </p:spPr>
        <p:txBody>
          <a:bodyPr spcFirstLastPara="1" wrap="square" lIns="0" tIns="7307" rIns="0" bIns="0" anchor="t" anchorCtr="0">
            <a:spAutoFit/>
          </a:bodyPr>
          <a:lstStyle/>
          <a:p>
            <a:pPr marL="7701">
              <a:buSzPts val="3300"/>
            </a:pPr>
            <a:r>
              <a:rPr lang="en-US" sz="3280" b="1" dirty="0">
                <a:solidFill>
                  <a:srgbClr val="F8A41A"/>
                </a:solidFill>
                <a:latin typeface="Montserrat" panose="00000500000000000000" pitchFamily="2" charset="0"/>
                <a:ea typeface="Montserrat"/>
                <a:cs typeface="Montserrat"/>
                <a:sym typeface="Montserrat"/>
              </a:rPr>
              <a:t>CHƯƠNG 4: </a:t>
            </a:r>
            <a:r>
              <a:rPr lang="en-US" sz="3280" b="1" dirty="0">
                <a:solidFill>
                  <a:schemeClr val="accent6"/>
                </a:solidFill>
                <a:latin typeface="Montserrat" pitchFamily="2" charset="77"/>
              </a:rPr>
              <a:t>KẾ THỪA (Inheritance)</a:t>
            </a:r>
            <a:endParaRPr sz="3280" b="1" dirty="0">
              <a:solidFill>
                <a:schemeClr val="accent6"/>
              </a:solidFill>
              <a:latin typeface="Montserrat" pitchFamily="2" charset="77"/>
              <a:ea typeface="Montserrat"/>
              <a:cs typeface="Montserrat"/>
              <a:sym typeface="Montserrat"/>
            </a:endParaRPr>
          </a:p>
        </p:txBody>
      </p:sp>
      <p:sp>
        <p:nvSpPr>
          <p:cNvPr id="9" name="TextBox 8">
            <a:extLst>
              <a:ext uri="{FF2B5EF4-FFF2-40B4-BE49-F238E27FC236}">
                <a16:creationId xmlns:a16="http://schemas.microsoft.com/office/drawing/2014/main" id="{3ADCBE93-3000-8525-E14E-D2CED69D47A3}"/>
              </a:ext>
            </a:extLst>
          </p:cNvPr>
          <p:cNvSpPr txBox="1"/>
          <p:nvPr/>
        </p:nvSpPr>
        <p:spPr>
          <a:xfrm>
            <a:off x="278470" y="1316661"/>
            <a:ext cx="6096000" cy="923330"/>
          </a:xfrm>
          <a:prstGeom prst="rect">
            <a:avLst/>
          </a:prstGeom>
          <a:noFill/>
        </p:spPr>
        <p:txBody>
          <a:bodyPr wrap="square">
            <a:spAutoFit/>
          </a:bodyPr>
          <a:lstStyle/>
          <a:p>
            <a:pPr marL="12700" lvl="0">
              <a:buSzPts val="3300"/>
            </a:pPr>
            <a:r>
              <a:rPr lang="en-US" sz="5400" b="1" dirty="0">
                <a:solidFill>
                  <a:srgbClr val="F8A41A"/>
                </a:solidFill>
                <a:latin typeface="Montserrat" panose="00000500000000000000" pitchFamily="2" charset="0"/>
                <a:ea typeface="Montserrat"/>
                <a:cs typeface="Montserrat"/>
                <a:sym typeface="Montserrat"/>
              </a:rPr>
              <a:t>MỤC LỤC</a:t>
            </a:r>
            <a:endParaRPr lang="en-US" sz="5400" b="1" dirty="0">
              <a:latin typeface="Montserrat" panose="00000500000000000000" pitchFamily="2" charset="0"/>
              <a:ea typeface="Montserrat"/>
              <a:cs typeface="Montserrat"/>
              <a:sym typeface="Montserrat"/>
            </a:endParaRPr>
          </a:p>
        </p:txBody>
      </p:sp>
      <p:sp>
        <p:nvSpPr>
          <p:cNvPr id="17" name="Google Shape;60;p2">
            <a:extLst>
              <a:ext uri="{FF2B5EF4-FFF2-40B4-BE49-F238E27FC236}">
                <a16:creationId xmlns:a16="http://schemas.microsoft.com/office/drawing/2014/main" id="{26B484C2-DDD0-49E5-5254-101EF12D83D9}"/>
              </a:ext>
            </a:extLst>
          </p:cNvPr>
          <p:cNvSpPr txBox="1"/>
          <p:nvPr/>
        </p:nvSpPr>
        <p:spPr>
          <a:xfrm>
            <a:off x="5530944" y="2504541"/>
            <a:ext cx="2854796" cy="455874"/>
          </a:xfrm>
          <a:prstGeom prst="rect">
            <a:avLst/>
          </a:prstGeom>
          <a:noFill/>
          <a:ln>
            <a:noFill/>
          </a:ln>
        </p:spPr>
        <p:txBody>
          <a:bodyPr spcFirstLastPara="1" wrap="square" lIns="0" tIns="17125" rIns="0" bIns="0" anchor="t" anchorCtr="0">
            <a:spAutoFit/>
          </a:bodyPr>
          <a:lstStyle/>
          <a:p>
            <a:pPr marL="12700" marR="0" lvl="0" indent="0" algn="l" rtl="0">
              <a:lnSpc>
                <a:spcPct val="100000"/>
              </a:lnSpc>
              <a:spcBef>
                <a:spcPts val="0"/>
              </a:spcBef>
              <a:spcAft>
                <a:spcPts val="0"/>
              </a:spcAft>
              <a:buClr>
                <a:srgbClr val="000000"/>
              </a:buClr>
              <a:buSzPts val="2850"/>
              <a:buFont typeface="Arial"/>
              <a:buNone/>
            </a:pPr>
            <a:r>
              <a:rPr lang="en-US" sz="2850" b="1" i="0" u="none" strike="noStrike" cap="none" dirty="0" err="1">
                <a:solidFill>
                  <a:srgbClr val="F8A41A"/>
                </a:solidFill>
                <a:latin typeface="Montserrat" panose="00000500000000000000" pitchFamily="2" charset="0"/>
                <a:ea typeface="Montserrat"/>
                <a:cs typeface="Montserrat"/>
                <a:sym typeface="Montserrat"/>
              </a:rPr>
              <a:t>Chương</a:t>
            </a:r>
            <a:r>
              <a:rPr lang="en-US" sz="2850" b="1" dirty="0">
                <a:solidFill>
                  <a:srgbClr val="F8A41A"/>
                </a:solidFill>
                <a:latin typeface="Montserrat" panose="00000500000000000000" pitchFamily="2" charset="0"/>
                <a:ea typeface="Montserrat"/>
                <a:cs typeface="Montserrat"/>
                <a:sym typeface="Montserrat"/>
              </a:rPr>
              <a:t> </a:t>
            </a:r>
            <a:r>
              <a:rPr lang="en-US" sz="2850" b="1" i="0" u="none" strike="noStrike" cap="none" dirty="0">
                <a:solidFill>
                  <a:srgbClr val="F8A41A"/>
                </a:solidFill>
                <a:latin typeface="Montserrat" panose="00000500000000000000" pitchFamily="2" charset="0"/>
                <a:ea typeface="Montserrat"/>
                <a:cs typeface="Montserrat"/>
                <a:sym typeface="Montserrat"/>
              </a:rPr>
              <a:t>4</a:t>
            </a:r>
            <a:endParaRPr sz="2850" b="1" i="0" u="none" strike="noStrike" cap="none" dirty="0">
              <a:solidFill>
                <a:srgbClr val="000000"/>
              </a:solidFill>
              <a:latin typeface="Montserrat" panose="00000500000000000000" pitchFamily="2" charset="0"/>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026" name="Picture 2" descr="Khái niệm kế thừa và đơn kế thừa trong lập trình hướng đối tượng">
            <a:extLst>
              <a:ext uri="{FF2B5EF4-FFF2-40B4-BE49-F238E27FC236}">
                <a16:creationId xmlns:a16="http://schemas.microsoft.com/office/drawing/2014/main" id="{BE8F3B75-33FA-8579-9B88-7209451DC7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4604" y="1243501"/>
            <a:ext cx="4874322" cy="5306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342557"/>
      </p:ext>
    </p:extLst>
  </p:cSld>
  <p:clrMapOvr>
    <a:overrideClrMapping bg1="lt1" tx1="dk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6;p1">
            <a:extLst>
              <a:ext uri="{FF2B5EF4-FFF2-40B4-BE49-F238E27FC236}">
                <a16:creationId xmlns:a16="http://schemas.microsoft.com/office/drawing/2014/main" id="{865A1F58-B308-F148-5680-421A26A2A47A}"/>
              </a:ext>
            </a:extLst>
          </p:cNvPr>
          <p:cNvSpPr txBox="1">
            <a:spLocks/>
          </p:cNvSpPr>
          <p:nvPr/>
        </p:nvSpPr>
        <p:spPr>
          <a:xfrm>
            <a:off x="2310911" y="219209"/>
            <a:ext cx="8115479"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a:solidFill>
                  <a:srgbClr val="FAA61A"/>
                </a:solidFill>
                <a:latin typeface="Montserrat" pitchFamily="2" charset="77"/>
                <a:ea typeface="Montserrat ExtraBold"/>
                <a:cs typeface="Montserrat ExtraBold"/>
                <a:sym typeface="Montserrat ExtraBold"/>
              </a:rPr>
              <a:t>4.1 </a:t>
            </a:r>
            <a:r>
              <a:rPr lang="en-US" sz="3300" b="1" dirty="0" err="1">
                <a:solidFill>
                  <a:srgbClr val="FAA61A"/>
                </a:solidFill>
                <a:latin typeface="Montserrat" pitchFamily="2" charset="77"/>
                <a:ea typeface="Montserrat ExtraBold"/>
                <a:cs typeface="Montserrat ExtraBold"/>
                <a:sym typeface="Montserrat ExtraBold"/>
              </a:rPr>
              <a:t>Kế</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thừa</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đơn</a:t>
            </a:r>
            <a:r>
              <a:rPr lang="en-US" sz="3300" b="1" dirty="0">
                <a:solidFill>
                  <a:srgbClr val="FAA61A"/>
                </a:solidFill>
                <a:latin typeface="Montserrat" pitchFamily="2" charset="77"/>
                <a:ea typeface="Montserrat ExtraBold"/>
                <a:cs typeface="Montserrat ExtraBold"/>
                <a:sym typeface="Montserrat ExtraBold"/>
              </a:rPr>
              <a:t> (Single Inheritance)</a:t>
            </a:r>
          </a:p>
        </p:txBody>
      </p:sp>
      <p:sp>
        <p:nvSpPr>
          <p:cNvPr id="6" name="Content Placeholder 5">
            <a:extLst>
              <a:ext uri="{FF2B5EF4-FFF2-40B4-BE49-F238E27FC236}">
                <a16:creationId xmlns:a16="http://schemas.microsoft.com/office/drawing/2014/main" id="{DCDA2360-F4BC-BBA9-BCC1-16BE0CF4B61F}"/>
              </a:ext>
            </a:extLst>
          </p:cNvPr>
          <p:cNvSpPr>
            <a:spLocks noGrp="1"/>
          </p:cNvSpPr>
          <p:nvPr>
            <p:ph idx="1"/>
          </p:nvPr>
        </p:nvSpPr>
        <p:spPr>
          <a:xfrm>
            <a:off x="550681" y="1133090"/>
            <a:ext cx="11090638" cy="630942"/>
          </a:xfrm>
        </p:spPr>
        <p:txBody>
          <a:bodyPr/>
          <a:lstStyle/>
          <a:p>
            <a:r>
              <a:rPr lang="en-VN" sz="4100" dirty="0">
                <a:latin typeface="Montserrat" pitchFamily="2" charset="77"/>
              </a:rPr>
              <a:t>Khái niệm:</a:t>
            </a:r>
          </a:p>
        </p:txBody>
      </p:sp>
      <p:sp>
        <p:nvSpPr>
          <p:cNvPr id="8" name="TextBox 7">
            <a:extLst>
              <a:ext uri="{FF2B5EF4-FFF2-40B4-BE49-F238E27FC236}">
                <a16:creationId xmlns:a16="http://schemas.microsoft.com/office/drawing/2014/main" id="{33D10B2B-6B8D-9BBF-791F-1470F32E7CA2}"/>
              </a:ext>
            </a:extLst>
          </p:cNvPr>
          <p:cNvSpPr txBox="1"/>
          <p:nvPr/>
        </p:nvSpPr>
        <p:spPr>
          <a:xfrm>
            <a:off x="642258" y="1764032"/>
            <a:ext cx="10999061" cy="4101123"/>
          </a:xfrm>
          <a:prstGeom prst="rect">
            <a:avLst/>
          </a:prstGeom>
          <a:noFill/>
        </p:spPr>
        <p:txBody>
          <a:bodyPr wrap="square">
            <a:spAutoFit/>
          </a:bodyPr>
          <a:lstStyle/>
          <a:p>
            <a:pPr marL="414900" indent="-342900" algn="just">
              <a:buFont typeface="Wingdings" pitchFamily="2" charset="2"/>
              <a:buChar char="v"/>
            </a:pPr>
            <a:r>
              <a:rPr lang="vi-VN" sz="2050" b="1" dirty="0">
                <a:latin typeface="Montserrat" pitchFamily="2" charset="77"/>
              </a:rPr>
              <a:t>Kế thừa: </a:t>
            </a:r>
            <a:r>
              <a:rPr lang="vi-VN" sz="2400" dirty="0">
                <a:latin typeface="Montserrat" pitchFamily="2" charset="77"/>
              </a:rPr>
              <a:t>cơ chế cho phép một lớp mới (Derived class) </a:t>
            </a:r>
            <a:r>
              <a:rPr lang="vi-VN" sz="2400" b="1" dirty="0">
                <a:latin typeface="Montserrat" pitchFamily="2" charset="77"/>
              </a:rPr>
              <a:t>tái sử dụng</a:t>
            </a:r>
            <a:r>
              <a:rPr lang="vi-VN" sz="2400" dirty="0">
                <a:latin typeface="Montserrat" pitchFamily="2" charset="77"/>
              </a:rPr>
              <a:t> thuộc tính &amp; phương thức của lớp khác (Base class).</a:t>
            </a:r>
          </a:p>
          <a:p>
            <a:pPr marL="414900" indent="-342900" algn="just">
              <a:buFont typeface="Wingdings" pitchFamily="2" charset="2"/>
              <a:buChar char="v"/>
            </a:pPr>
            <a:endParaRPr lang="vi-VN" sz="2400" dirty="0">
              <a:latin typeface="Montserrat" pitchFamily="2" charset="77"/>
            </a:endParaRPr>
          </a:p>
          <a:p>
            <a:pPr marL="414900" indent="-342900" algn="just">
              <a:buFont typeface="Wingdings" pitchFamily="2" charset="2"/>
              <a:buChar char="v"/>
            </a:pPr>
            <a:r>
              <a:rPr lang="vi-VN" sz="2400" b="1" dirty="0">
                <a:latin typeface="Montserrat" pitchFamily="2" charset="77"/>
              </a:rPr>
              <a:t>Single inheritance</a:t>
            </a:r>
            <a:r>
              <a:rPr lang="vi-VN" sz="2400" dirty="0">
                <a:latin typeface="Montserrat" pitchFamily="2" charset="77"/>
              </a:rPr>
              <a:t>: Kế thừa đơn là trường hợp một lớp dẫn xuất chỉ kế thừa từ </a:t>
            </a:r>
            <a:r>
              <a:rPr lang="vi-VN" sz="2400" b="1" dirty="0">
                <a:latin typeface="Montserrat" pitchFamily="2" charset="77"/>
              </a:rPr>
              <a:t>một lớp cơ sở duy nhất</a:t>
            </a:r>
            <a:r>
              <a:rPr lang="vi-VN" sz="2400" dirty="0">
                <a:latin typeface="Montserrat" pitchFamily="2" charset="77"/>
              </a:rPr>
              <a:t>. Nhờ đó, lớp con có thể sử dụng lại các phương thức và thuộc tính của lớp cha, đồng thời bổ sung thêm chức năng riêng.</a:t>
            </a:r>
          </a:p>
          <a:p>
            <a:pPr algn="just"/>
            <a:endParaRPr lang="vi-VN" sz="2400" dirty="0">
              <a:latin typeface="Montserrat" pitchFamily="2" charset="77"/>
            </a:endParaRPr>
          </a:p>
          <a:p>
            <a:pPr algn="just"/>
            <a:r>
              <a:rPr lang="vi-VN" sz="2400" dirty="0">
                <a:latin typeface="Montserrat" pitchFamily="2" charset="77"/>
              </a:rPr>
              <a:t>			Ví dụ: Quan hệ </a:t>
            </a:r>
            <a:r>
              <a:rPr lang="vi-VN" sz="2400" b="1" dirty="0">
                <a:latin typeface="Montserrat" pitchFamily="2" charset="77"/>
              </a:rPr>
              <a:t>is-a</a:t>
            </a:r>
            <a:r>
              <a:rPr lang="vi-VN" sz="2400" dirty="0">
                <a:latin typeface="Montserrat" pitchFamily="2" charset="77"/>
              </a:rPr>
              <a:t>: </a:t>
            </a:r>
          </a:p>
          <a:p>
            <a:pPr algn="just"/>
            <a:r>
              <a:rPr lang="vi-VN" sz="2400" dirty="0">
                <a:latin typeface="Montserrat" pitchFamily="2" charset="77"/>
              </a:rPr>
              <a:t>			Dog </a:t>
            </a:r>
            <a:r>
              <a:rPr lang="vi-VN" sz="2400" b="1" dirty="0">
                <a:latin typeface="Montserrat" pitchFamily="2" charset="77"/>
              </a:rPr>
              <a:t>is an </a:t>
            </a:r>
            <a:r>
              <a:rPr lang="vi-VN" sz="2400" dirty="0">
                <a:latin typeface="Montserrat" pitchFamily="2" charset="77"/>
              </a:rPr>
              <a:t>Animal.</a:t>
            </a:r>
          </a:p>
          <a:p>
            <a:pPr marL="342900" indent="-342900" algn="just">
              <a:buFont typeface="Wingdings" pitchFamily="2" charset="2"/>
              <a:buChar char="v"/>
            </a:pPr>
            <a:endParaRPr lang="en-VN" sz="2050" dirty="0">
              <a:latin typeface="Montserrat" pitchFamily="2" charset="77"/>
            </a:endParaRPr>
          </a:p>
        </p:txBody>
      </p:sp>
      <p:pic>
        <p:nvPicPr>
          <p:cNvPr id="5" name="Picture 4">
            <a:extLst>
              <a:ext uri="{FF2B5EF4-FFF2-40B4-BE49-F238E27FC236}">
                <a16:creationId xmlns:a16="http://schemas.microsoft.com/office/drawing/2014/main" id="{11743AEA-18E8-97D8-BF41-58101729CD53}"/>
              </a:ext>
            </a:extLst>
          </p:cNvPr>
          <p:cNvPicPr>
            <a:picLocks noChangeAspect="1"/>
          </p:cNvPicPr>
          <p:nvPr/>
        </p:nvPicPr>
        <p:blipFill>
          <a:blip r:embed="rId2"/>
          <a:stretch>
            <a:fillRect/>
          </a:stretch>
        </p:blipFill>
        <p:spPr>
          <a:xfrm>
            <a:off x="6790963" y="4316729"/>
            <a:ext cx="4941933" cy="1853225"/>
          </a:xfrm>
          <a:prstGeom prst="rect">
            <a:avLst/>
          </a:prstGeom>
        </p:spPr>
      </p:pic>
    </p:spTree>
    <p:extLst>
      <p:ext uri="{BB962C8B-B14F-4D97-AF65-F5344CB8AC3E}">
        <p14:creationId xmlns:p14="http://schemas.microsoft.com/office/powerpoint/2010/main" val="2656493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13038-59DD-E82D-BDA0-C4C32B0B29A3}"/>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46D0C1D4-6533-62D6-71B2-41027D8AB292}"/>
              </a:ext>
            </a:extLst>
          </p:cNvPr>
          <p:cNvSpPr txBox="1">
            <a:spLocks/>
          </p:cNvSpPr>
          <p:nvPr/>
        </p:nvSpPr>
        <p:spPr>
          <a:xfrm>
            <a:off x="2310911" y="219209"/>
            <a:ext cx="7507645"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a:solidFill>
                  <a:srgbClr val="FAA61A"/>
                </a:solidFill>
                <a:latin typeface="Montserrat" pitchFamily="2" charset="77"/>
                <a:ea typeface="Montserrat ExtraBold"/>
                <a:cs typeface="Montserrat ExtraBold"/>
                <a:sym typeface="Montserrat ExtraBold"/>
              </a:rPr>
              <a:t>4.2 Base class &amp; Derived class</a:t>
            </a:r>
          </a:p>
        </p:txBody>
      </p:sp>
      <p:sp>
        <p:nvSpPr>
          <p:cNvPr id="6" name="Content Placeholder 5">
            <a:extLst>
              <a:ext uri="{FF2B5EF4-FFF2-40B4-BE49-F238E27FC236}">
                <a16:creationId xmlns:a16="http://schemas.microsoft.com/office/drawing/2014/main" id="{527F979C-CA89-2C7B-1568-7F0A23CB7490}"/>
              </a:ext>
            </a:extLst>
          </p:cNvPr>
          <p:cNvSpPr>
            <a:spLocks noGrp="1"/>
          </p:cNvSpPr>
          <p:nvPr>
            <p:ph idx="1"/>
          </p:nvPr>
        </p:nvSpPr>
        <p:spPr>
          <a:xfrm>
            <a:off x="367801" y="1309723"/>
            <a:ext cx="11090638" cy="630942"/>
          </a:xfrm>
        </p:spPr>
        <p:txBody>
          <a:bodyPr/>
          <a:lstStyle/>
          <a:p>
            <a:r>
              <a:rPr lang="en-VN" sz="4100" dirty="0">
                <a:latin typeface="Montserrat" pitchFamily="2" charset="77"/>
              </a:rPr>
              <a:t>Khái niệm:</a:t>
            </a:r>
          </a:p>
        </p:txBody>
      </p:sp>
      <p:sp>
        <p:nvSpPr>
          <p:cNvPr id="11" name="TextBox 10">
            <a:extLst>
              <a:ext uri="{FF2B5EF4-FFF2-40B4-BE49-F238E27FC236}">
                <a16:creationId xmlns:a16="http://schemas.microsoft.com/office/drawing/2014/main" id="{E5AC8032-10C0-D0AB-B981-327E76C487C8}"/>
              </a:ext>
            </a:extLst>
          </p:cNvPr>
          <p:cNvSpPr txBox="1"/>
          <p:nvPr/>
        </p:nvSpPr>
        <p:spPr>
          <a:xfrm>
            <a:off x="367801" y="3838986"/>
            <a:ext cx="10646229" cy="2799805"/>
          </a:xfrm>
          <a:prstGeom prst="rect">
            <a:avLst/>
          </a:prstGeom>
          <a:noFill/>
        </p:spPr>
        <p:txBody>
          <a:bodyPr wrap="square">
            <a:spAutoFit/>
          </a:bodyPr>
          <a:lstStyle/>
          <a:p>
            <a:pPr marL="342900" indent="-342900">
              <a:lnSpc>
                <a:spcPct val="150000"/>
              </a:lnSpc>
              <a:buFont typeface="Wingdings" pitchFamily="2" charset="2"/>
              <a:buChar char="v"/>
            </a:pPr>
            <a:r>
              <a:rPr lang="en-US" sz="2400" b="1" dirty="0">
                <a:latin typeface="Montserrat" pitchFamily="2" charset="77"/>
              </a:rPr>
              <a:t>Base class (Animal)</a:t>
            </a:r>
            <a:r>
              <a:rPr lang="en-US" sz="2400" dirty="0">
                <a:latin typeface="Montserrat" pitchFamily="2" charset="77"/>
              </a:rPr>
              <a:t>: </a:t>
            </a:r>
            <a:r>
              <a:rPr lang="en-US" sz="2400" dirty="0" err="1">
                <a:latin typeface="Montserrat" pitchFamily="2" charset="77"/>
              </a:rPr>
              <a:t>lớp</a:t>
            </a:r>
            <a:r>
              <a:rPr lang="en-US" sz="2400" dirty="0">
                <a:latin typeface="Montserrat" pitchFamily="2" charset="77"/>
              </a:rPr>
              <a:t> </a:t>
            </a:r>
            <a:r>
              <a:rPr lang="en-US" sz="2400" dirty="0" err="1">
                <a:latin typeface="Montserrat" pitchFamily="2" charset="77"/>
              </a:rPr>
              <a:t>gốc</a:t>
            </a:r>
            <a:r>
              <a:rPr lang="en-US" sz="2400" dirty="0">
                <a:latin typeface="Montserrat" pitchFamily="2" charset="77"/>
              </a:rPr>
              <a:t>, </a:t>
            </a:r>
            <a:r>
              <a:rPr lang="en-US" sz="2400" dirty="0" err="1">
                <a:latin typeface="Montserrat" pitchFamily="2" charset="77"/>
              </a:rPr>
              <a:t>chứa</a:t>
            </a:r>
            <a:r>
              <a:rPr lang="en-US" sz="2400" dirty="0">
                <a:latin typeface="Montserrat" pitchFamily="2" charset="77"/>
              </a:rPr>
              <a:t> </a:t>
            </a:r>
            <a:r>
              <a:rPr lang="en-US" sz="2400" dirty="0" err="1">
                <a:latin typeface="Montserrat" pitchFamily="2" charset="77"/>
              </a:rPr>
              <a:t>thành</a:t>
            </a:r>
            <a:r>
              <a:rPr lang="en-US" sz="2400" dirty="0">
                <a:latin typeface="Montserrat" pitchFamily="2" charset="77"/>
              </a:rPr>
              <a:t> </a:t>
            </a:r>
            <a:r>
              <a:rPr lang="en-US" sz="2400" dirty="0" err="1">
                <a:latin typeface="Montserrat" pitchFamily="2" charset="77"/>
              </a:rPr>
              <a:t>phần</a:t>
            </a:r>
            <a:r>
              <a:rPr lang="en-US" sz="2400" dirty="0">
                <a:latin typeface="Montserrat" pitchFamily="2" charset="77"/>
              </a:rPr>
              <a:t> </a:t>
            </a:r>
            <a:r>
              <a:rPr lang="en-US" sz="2400" dirty="0" err="1">
                <a:latin typeface="Montserrat" pitchFamily="2" charset="77"/>
              </a:rPr>
              <a:t>chung</a:t>
            </a:r>
            <a:r>
              <a:rPr lang="en-US" sz="2400" dirty="0">
                <a:latin typeface="Montserrat" pitchFamily="2" charset="77"/>
              </a:rPr>
              <a:t>.</a:t>
            </a:r>
            <a:endParaRPr lang="vi-VN" sz="2050" dirty="0">
              <a:latin typeface="Montserrat" pitchFamily="2" charset="77"/>
            </a:endParaRPr>
          </a:p>
          <a:p>
            <a:pPr marL="342900" indent="-342900">
              <a:lnSpc>
                <a:spcPct val="150000"/>
              </a:lnSpc>
              <a:buFont typeface="Wingdings" pitchFamily="2" charset="2"/>
              <a:buChar char="v"/>
            </a:pPr>
            <a:r>
              <a:rPr lang="en-US" sz="2400" b="1" dirty="0">
                <a:latin typeface="Montserrat" pitchFamily="2" charset="77"/>
              </a:rPr>
              <a:t>Derived class (Dog)</a:t>
            </a:r>
            <a:r>
              <a:rPr lang="en-US" sz="2400" dirty="0">
                <a:latin typeface="Montserrat" pitchFamily="2" charset="77"/>
              </a:rPr>
              <a:t>: </a:t>
            </a:r>
            <a:r>
              <a:rPr lang="en-US" sz="2400" dirty="0" err="1">
                <a:latin typeface="Montserrat" pitchFamily="2" charset="77"/>
              </a:rPr>
              <a:t>lớp</a:t>
            </a:r>
            <a:r>
              <a:rPr lang="en-US" sz="2400" dirty="0">
                <a:latin typeface="Montserrat" pitchFamily="2" charset="77"/>
              </a:rPr>
              <a:t> </a:t>
            </a:r>
            <a:r>
              <a:rPr lang="en-US" sz="2400" dirty="0" err="1">
                <a:latin typeface="Montserrat" pitchFamily="2" charset="77"/>
              </a:rPr>
              <a:t>kế</a:t>
            </a:r>
            <a:r>
              <a:rPr lang="en-US" sz="2400" dirty="0">
                <a:latin typeface="Montserrat" pitchFamily="2" charset="77"/>
              </a:rPr>
              <a:t> </a:t>
            </a:r>
            <a:r>
              <a:rPr lang="en-US" sz="2400" dirty="0" err="1">
                <a:latin typeface="Montserrat" pitchFamily="2" charset="77"/>
              </a:rPr>
              <a:t>thừa</a:t>
            </a:r>
            <a:r>
              <a:rPr lang="en-US" sz="2400" dirty="0">
                <a:latin typeface="Montserrat" pitchFamily="2" charset="77"/>
              </a:rPr>
              <a:t>, </a:t>
            </a:r>
            <a:r>
              <a:rPr lang="en-US" sz="2400" dirty="0" err="1">
                <a:latin typeface="Montserrat" pitchFamily="2" charset="77"/>
              </a:rPr>
              <a:t>mở</a:t>
            </a:r>
            <a:r>
              <a:rPr lang="en-US" sz="2400" dirty="0">
                <a:latin typeface="Montserrat" pitchFamily="2" charset="77"/>
              </a:rPr>
              <a:t> </a:t>
            </a:r>
            <a:r>
              <a:rPr lang="en-US" sz="2400" dirty="0" err="1">
                <a:latin typeface="Montserrat" pitchFamily="2" charset="77"/>
              </a:rPr>
              <a:t>rộng</a:t>
            </a:r>
            <a:r>
              <a:rPr lang="en-US" sz="2400" dirty="0">
                <a:latin typeface="Montserrat" pitchFamily="2" charset="77"/>
              </a:rPr>
              <a:t> </a:t>
            </a:r>
            <a:r>
              <a:rPr lang="en-US" sz="2400" dirty="0" err="1">
                <a:latin typeface="Montserrat" pitchFamily="2" charset="77"/>
              </a:rPr>
              <a:t>chức</a:t>
            </a:r>
            <a:r>
              <a:rPr lang="en-US" sz="2400" dirty="0">
                <a:latin typeface="Montserrat" pitchFamily="2" charset="77"/>
              </a:rPr>
              <a:t> </a:t>
            </a:r>
            <a:r>
              <a:rPr lang="en-US" sz="2400" dirty="0" err="1">
                <a:latin typeface="Montserrat" pitchFamily="2" charset="77"/>
              </a:rPr>
              <a:t>năng</a:t>
            </a:r>
            <a:r>
              <a:rPr lang="en-US" sz="2400" dirty="0">
                <a:latin typeface="Montserrat" pitchFamily="2" charset="77"/>
              </a:rPr>
              <a:t>.</a:t>
            </a:r>
            <a:endParaRPr lang="vi-VN" sz="2050" dirty="0">
              <a:latin typeface="Montserrat" pitchFamily="2" charset="77"/>
            </a:endParaRPr>
          </a:p>
          <a:p>
            <a:pPr marL="342900" indent="-342900">
              <a:lnSpc>
                <a:spcPct val="150000"/>
              </a:lnSpc>
              <a:buFont typeface="Wingdings" pitchFamily="2" charset="2"/>
              <a:buChar char="v"/>
            </a:pPr>
            <a:r>
              <a:rPr lang="vi-VN" sz="2400" dirty="0">
                <a:latin typeface="Montserrat" pitchFamily="2" charset="77"/>
              </a:rPr>
              <a:t>Ưu điểm:</a:t>
            </a:r>
          </a:p>
          <a:p>
            <a:pPr>
              <a:lnSpc>
                <a:spcPct val="150000"/>
              </a:lnSpc>
            </a:pPr>
            <a:r>
              <a:rPr lang="vi-VN" sz="2050" b="1" dirty="0">
                <a:latin typeface="Montserrat" pitchFamily="2" charset="77"/>
              </a:rPr>
              <a:t>	- </a:t>
            </a:r>
            <a:r>
              <a:rPr lang="en-US" sz="2400" dirty="0" err="1">
                <a:latin typeface="Montserrat" pitchFamily="2" charset="77"/>
              </a:rPr>
              <a:t>Giảm</a:t>
            </a:r>
            <a:r>
              <a:rPr lang="en-US" sz="2400" dirty="0">
                <a:latin typeface="Montserrat" pitchFamily="2" charset="77"/>
              </a:rPr>
              <a:t> </a:t>
            </a:r>
            <a:r>
              <a:rPr lang="en-US" sz="2400" dirty="0" err="1">
                <a:latin typeface="Montserrat" pitchFamily="2" charset="77"/>
              </a:rPr>
              <a:t>trùng</a:t>
            </a:r>
            <a:r>
              <a:rPr lang="en-US" sz="2400" dirty="0">
                <a:latin typeface="Montserrat" pitchFamily="2" charset="77"/>
              </a:rPr>
              <a:t> </a:t>
            </a:r>
            <a:r>
              <a:rPr lang="en-US" sz="2400" dirty="0" err="1">
                <a:latin typeface="Montserrat" pitchFamily="2" charset="77"/>
              </a:rPr>
              <a:t>lặp</a:t>
            </a:r>
            <a:r>
              <a:rPr lang="en-US" sz="2400" dirty="0">
                <a:latin typeface="Montserrat" pitchFamily="2" charset="77"/>
              </a:rPr>
              <a:t> code</a:t>
            </a:r>
            <a:r>
              <a:rPr lang="vi-VN" sz="2050" dirty="0">
                <a:latin typeface="Montserrat" pitchFamily="2" charset="77"/>
              </a:rPr>
              <a:t>.</a:t>
            </a:r>
          </a:p>
          <a:p>
            <a:pPr>
              <a:lnSpc>
                <a:spcPct val="150000"/>
              </a:lnSpc>
            </a:pPr>
            <a:r>
              <a:rPr lang="vi-VN" sz="2050" b="1" dirty="0">
                <a:latin typeface="Montserrat" pitchFamily="2" charset="77"/>
              </a:rPr>
              <a:t>	- </a:t>
            </a:r>
            <a:r>
              <a:rPr lang="en-US" sz="2400" dirty="0" err="1">
                <a:latin typeface="Montserrat" pitchFamily="2" charset="77"/>
              </a:rPr>
              <a:t>Dễ</a:t>
            </a:r>
            <a:r>
              <a:rPr lang="en-US" sz="2400" dirty="0">
                <a:latin typeface="Montserrat" pitchFamily="2" charset="77"/>
              </a:rPr>
              <a:t> </a:t>
            </a:r>
            <a:r>
              <a:rPr lang="en-US" sz="2400" dirty="0" err="1">
                <a:latin typeface="Montserrat" pitchFamily="2" charset="77"/>
              </a:rPr>
              <a:t>bảo</a:t>
            </a:r>
            <a:r>
              <a:rPr lang="en-US" sz="2400" dirty="0">
                <a:latin typeface="Montserrat" pitchFamily="2" charset="77"/>
              </a:rPr>
              <a:t> </a:t>
            </a:r>
            <a:r>
              <a:rPr lang="en-US" sz="2400" dirty="0" err="1">
                <a:latin typeface="Montserrat" pitchFamily="2" charset="77"/>
              </a:rPr>
              <a:t>trì</a:t>
            </a:r>
            <a:r>
              <a:rPr lang="en-US" sz="2400" dirty="0">
                <a:latin typeface="Montserrat" pitchFamily="2" charset="77"/>
              </a:rPr>
              <a:t>, </a:t>
            </a:r>
            <a:r>
              <a:rPr lang="en-US" sz="2400" dirty="0" err="1">
                <a:latin typeface="Montserrat" pitchFamily="2" charset="77"/>
              </a:rPr>
              <a:t>mở</a:t>
            </a:r>
            <a:r>
              <a:rPr lang="en-US" sz="2400" dirty="0">
                <a:latin typeface="Montserrat" pitchFamily="2" charset="77"/>
              </a:rPr>
              <a:t> </a:t>
            </a:r>
            <a:r>
              <a:rPr lang="en-US" sz="2400" dirty="0" err="1">
                <a:latin typeface="Montserrat" pitchFamily="2" charset="77"/>
              </a:rPr>
              <a:t>rộng</a:t>
            </a:r>
            <a:r>
              <a:rPr lang="en-US" sz="2400" dirty="0">
                <a:latin typeface="Montserrat" pitchFamily="2" charset="77"/>
              </a:rPr>
              <a:t> </a:t>
            </a:r>
            <a:r>
              <a:rPr lang="en-US" sz="2400" dirty="0" err="1">
                <a:latin typeface="Montserrat" pitchFamily="2" charset="77"/>
              </a:rPr>
              <a:t>hệ</a:t>
            </a:r>
            <a:r>
              <a:rPr lang="en-US" sz="2400" dirty="0">
                <a:latin typeface="Montserrat" pitchFamily="2" charset="77"/>
              </a:rPr>
              <a:t> </a:t>
            </a:r>
            <a:r>
              <a:rPr lang="en-US" sz="2400" dirty="0" err="1">
                <a:latin typeface="Montserrat" pitchFamily="2" charset="77"/>
              </a:rPr>
              <a:t>thống</a:t>
            </a:r>
            <a:endParaRPr lang="vi-VN" sz="2050" dirty="0">
              <a:latin typeface="Montserrat" pitchFamily="2" charset="77"/>
            </a:endParaRPr>
          </a:p>
        </p:txBody>
      </p:sp>
      <p:sp>
        <p:nvSpPr>
          <p:cNvPr id="9" name="TextBox 8">
            <a:extLst>
              <a:ext uri="{FF2B5EF4-FFF2-40B4-BE49-F238E27FC236}">
                <a16:creationId xmlns:a16="http://schemas.microsoft.com/office/drawing/2014/main" id="{50AF2BF0-5854-F376-8FDB-9D9B6D86D981}"/>
              </a:ext>
            </a:extLst>
          </p:cNvPr>
          <p:cNvSpPr txBox="1"/>
          <p:nvPr/>
        </p:nvSpPr>
        <p:spPr>
          <a:xfrm>
            <a:off x="427974" y="1930610"/>
            <a:ext cx="11273518" cy="1569660"/>
          </a:xfrm>
          <a:prstGeom prst="rect">
            <a:avLst/>
          </a:prstGeom>
          <a:noFill/>
        </p:spPr>
        <p:txBody>
          <a:bodyPr wrap="square">
            <a:spAutoFit/>
          </a:bodyPr>
          <a:lstStyle/>
          <a:p>
            <a:pPr algn="just"/>
            <a:r>
              <a:rPr lang="vi-VN" sz="2400" dirty="0">
                <a:latin typeface="Montserrat" pitchFamily="2" charset="77"/>
              </a:rPr>
              <a:t>Trong kế thừa, </a:t>
            </a:r>
            <a:r>
              <a:rPr lang="vi-VN" sz="2400" b="1" dirty="0">
                <a:latin typeface="Montserrat" pitchFamily="2" charset="77"/>
              </a:rPr>
              <a:t>lớp cơ sở (Base class)</a:t>
            </a:r>
            <a:r>
              <a:rPr lang="vi-VN" sz="2400" dirty="0">
                <a:latin typeface="Montserrat" pitchFamily="2" charset="77"/>
              </a:rPr>
              <a:t> đóng vai trò như một nền tảng, chứa dữ liệu và hành vi chung. </a:t>
            </a:r>
            <a:r>
              <a:rPr lang="vi-VN" sz="2400" b="1" dirty="0">
                <a:latin typeface="Montserrat" pitchFamily="2" charset="77"/>
              </a:rPr>
              <a:t>Lớp dẫn xuất (Derived class)</a:t>
            </a:r>
            <a:r>
              <a:rPr lang="vi-VN" sz="2400" dirty="0">
                <a:latin typeface="Montserrat" pitchFamily="2" charset="77"/>
              </a:rPr>
              <a:t> được xây dựng dựa trên lớp cơ sở, có thể kế thừa toàn bộ hoặc một phần, và bổ sung thêm các hành vi riêng.</a:t>
            </a:r>
            <a:endParaRPr lang="en-VN" sz="2400" dirty="0">
              <a:latin typeface="Montserrat" pitchFamily="2" charset="77"/>
            </a:endParaRPr>
          </a:p>
        </p:txBody>
      </p:sp>
    </p:spTree>
    <p:extLst>
      <p:ext uri="{BB962C8B-B14F-4D97-AF65-F5344CB8AC3E}">
        <p14:creationId xmlns:p14="http://schemas.microsoft.com/office/powerpoint/2010/main" val="2525255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A1AA2-673D-B875-5C68-C158D803E27E}"/>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FB7CAF4F-A11A-2AF9-61CA-46F42E062963}"/>
              </a:ext>
            </a:extLst>
          </p:cNvPr>
          <p:cNvSpPr txBox="1">
            <a:spLocks/>
          </p:cNvSpPr>
          <p:nvPr/>
        </p:nvSpPr>
        <p:spPr>
          <a:xfrm>
            <a:off x="2365341" y="254186"/>
            <a:ext cx="4729076"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err="1">
                <a:solidFill>
                  <a:srgbClr val="FAA61A"/>
                </a:solidFill>
                <a:latin typeface="Montserrat" pitchFamily="2" charset="77"/>
                <a:ea typeface="Montserrat ExtraBold"/>
                <a:cs typeface="Montserrat ExtraBold"/>
                <a:sym typeface="Montserrat ExtraBold"/>
              </a:rPr>
              <a:t>Ví</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dụ</a:t>
            </a:r>
            <a:r>
              <a:rPr lang="en-US" sz="3300" b="1" dirty="0">
                <a:solidFill>
                  <a:srgbClr val="FAA61A"/>
                </a:solidFill>
                <a:latin typeface="Montserrat" pitchFamily="2" charset="77"/>
                <a:ea typeface="Montserrat ExtraBold"/>
                <a:cs typeface="Montserrat ExtraBold"/>
                <a:sym typeface="Montserrat ExtraBold"/>
              </a:rPr>
              <a:t>:</a:t>
            </a:r>
          </a:p>
        </p:txBody>
      </p:sp>
      <p:pic>
        <p:nvPicPr>
          <p:cNvPr id="9" name="Picture 2" descr="Khái niệm kế thừa và đơn kế thừa trong lập trình hướng đối tượng">
            <a:extLst>
              <a:ext uri="{FF2B5EF4-FFF2-40B4-BE49-F238E27FC236}">
                <a16:creationId xmlns:a16="http://schemas.microsoft.com/office/drawing/2014/main" id="{8ADC60D0-A2B9-60E0-27BE-D2939498C8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1" y="1775984"/>
            <a:ext cx="3036652" cy="330603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close-up of a text&#10;&#10;AI-generated content may be incorrect.">
            <a:extLst>
              <a:ext uri="{FF2B5EF4-FFF2-40B4-BE49-F238E27FC236}">
                <a16:creationId xmlns:a16="http://schemas.microsoft.com/office/drawing/2014/main" id="{0EB90D19-7F07-12C2-8A10-FD5522F01C08}"/>
              </a:ext>
            </a:extLst>
          </p:cNvPr>
          <p:cNvPicPr>
            <a:picLocks noChangeAspect="1"/>
          </p:cNvPicPr>
          <p:nvPr/>
        </p:nvPicPr>
        <p:blipFill>
          <a:blip r:embed="rId4"/>
          <a:stretch>
            <a:fillRect/>
          </a:stretch>
        </p:blipFill>
        <p:spPr>
          <a:xfrm>
            <a:off x="5034351" y="2487685"/>
            <a:ext cx="6410889" cy="2322055"/>
          </a:xfrm>
          <a:prstGeom prst="rect">
            <a:avLst/>
          </a:prstGeom>
        </p:spPr>
      </p:pic>
    </p:spTree>
    <p:extLst>
      <p:ext uri="{BB962C8B-B14F-4D97-AF65-F5344CB8AC3E}">
        <p14:creationId xmlns:p14="http://schemas.microsoft.com/office/powerpoint/2010/main" val="1130144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Google Shape;46;p1">
            <a:extLst>
              <a:ext uri="{FF2B5EF4-FFF2-40B4-BE49-F238E27FC236}">
                <a16:creationId xmlns:a16="http://schemas.microsoft.com/office/drawing/2014/main" id="{865A1F58-B308-F148-5680-421A26A2A47A}"/>
              </a:ext>
            </a:extLst>
          </p:cNvPr>
          <p:cNvSpPr txBox="1">
            <a:spLocks/>
          </p:cNvSpPr>
          <p:nvPr/>
        </p:nvSpPr>
        <p:spPr>
          <a:xfrm>
            <a:off x="2365340" y="254186"/>
            <a:ext cx="8043579"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dirty="0">
                <a:solidFill>
                  <a:srgbClr val="FAA61A"/>
                </a:solidFill>
                <a:latin typeface="Montserrat ExtraBold"/>
                <a:ea typeface="Montserrat ExtraBold"/>
                <a:cs typeface="Montserrat ExtraBold"/>
                <a:sym typeface="Montserrat ExtraBold"/>
              </a:rPr>
              <a:t>4.3 Các </a:t>
            </a:r>
            <a:r>
              <a:rPr lang="en-US" sz="3300" dirty="0" err="1">
                <a:solidFill>
                  <a:srgbClr val="FAA61A"/>
                </a:solidFill>
                <a:latin typeface="Montserrat ExtraBold"/>
                <a:ea typeface="Montserrat ExtraBold"/>
                <a:cs typeface="Montserrat ExtraBold"/>
                <a:sym typeface="Montserrat ExtraBold"/>
              </a:rPr>
              <a:t>thành</a:t>
            </a:r>
            <a:r>
              <a:rPr lang="en-US" sz="3300" dirty="0">
                <a:solidFill>
                  <a:srgbClr val="FAA61A"/>
                </a:solidFill>
                <a:latin typeface="Montserrat ExtraBold"/>
                <a:ea typeface="Montserrat ExtraBold"/>
                <a:cs typeface="Montserrat ExtraBold"/>
                <a:sym typeface="Montserrat ExtraBold"/>
              </a:rPr>
              <a:t> </a:t>
            </a:r>
            <a:r>
              <a:rPr lang="en-US" sz="3300" dirty="0" err="1">
                <a:solidFill>
                  <a:srgbClr val="FAA61A"/>
                </a:solidFill>
                <a:latin typeface="Montserrat ExtraBold"/>
                <a:ea typeface="Montserrat ExtraBold"/>
                <a:cs typeface="Montserrat ExtraBold"/>
                <a:sym typeface="Montserrat ExtraBold"/>
              </a:rPr>
              <a:t>viên</a:t>
            </a:r>
            <a:r>
              <a:rPr lang="en-US" sz="3300" dirty="0">
                <a:solidFill>
                  <a:srgbClr val="FAA61A"/>
                </a:solidFill>
                <a:latin typeface="Montserrat ExtraBold"/>
                <a:ea typeface="Montserrat ExtraBold"/>
                <a:cs typeface="Montserrat ExtraBold"/>
                <a:sym typeface="Montserrat ExtraBold"/>
              </a:rPr>
              <a:t> protected</a:t>
            </a:r>
          </a:p>
        </p:txBody>
      </p:sp>
      <p:sp>
        <p:nvSpPr>
          <p:cNvPr id="9" name="Content Placeholder 5">
            <a:extLst>
              <a:ext uri="{FF2B5EF4-FFF2-40B4-BE49-F238E27FC236}">
                <a16:creationId xmlns:a16="http://schemas.microsoft.com/office/drawing/2014/main" id="{ECD2B6A3-B249-C235-49AA-D6A2FCF94361}"/>
              </a:ext>
            </a:extLst>
          </p:cNvPr>
          <p:cNvSpPr txBox="1">
            <a:spLocks/>
          </p:cNvSpPr>
          <p:nvPr/>
        </p:nvSpPr>
        <p:spPr>
          <a:xfrm>
            <a:off x="108721" y="1597169"/>
            <a:ext cx="11090638" cy="63094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r>
              <a:rPr lang="en-VN" sz="4100" dirty="0">
                <a:latin typeface="Montserrat" pitchFamily="2" charset="77"/>
              </a:rPr>
              <a:t>Khái niệm:</a:t>
            </a:r>
          </a:p>
        </p:txBody>
      </p:sp>
      <p:sp>
        <p:nvSpPr>
          <p:cNvPr id="10" name="TextBox 9">
            <a:extLst>
              <a:ext uri="{FF2B5EF4-FFF2-40B4-BE49-F238E27FC236}">
                <a16:creationId xmlns:a16="http://schemas.microsoft.com/office/drawing/2014/main" id="{DD36716C-4E8A-F3CE-096E-CFD84D7BB0EA}"/>
              </a:ext>
            </a:extLst>
          </p:cNvPr>
          <p:cNvSpPr txBox="1"/>
          <p:nvPr/>
        </p:nvSpPr>
        <p:spPr>
          <a:xfrm>
            <a:off x="398280" y="3056390"/>
            <a:ext cx="6636831" cy="3046988"/>
          </a:xfrm>
          <a:prstGeom prst="rect">
            <a:avLst/>
          </a:prstGeom>
          <a:noFill/>
        </p:spPr>
        <p:txBody>
          <a:bodyPr wrap="square">
            <a:spAutoFit/>
          </a:bodyPr>
          <a:lstStyle/>
          <a:p>
            <a:pPr marL="342900" indent="-342900" algn="just">
              <a:buFont typeface="Wingdings" pitchFamily="2" charset="2"/>
              <a:buChar char="v"/>
            </a:pPr>
            <a:r>
              <a:rPr lang="vi-VN" sz="2400" b="1" dirty="0">
                <a:latin typeface="Montserrat" pitchFamily="2" charset="77"/>
              </a:rPr>
              <a:t>public</a:t>
            </a:r>
            <a:r>
              <a:rPr lang="vi-VN" sz="2400" dirty="0">
                <a:latin typeface="Montserrat" pitchFamily="2" charset="77"/>
              </a:rPr>
              <a:t>: truy cập ở mọi nơi.</a:t>
            </a:r>
            <a:endParaRPr lang="en-US" sz="2050" dirty="0">
              <a:latin typeface="Montserrat" pitchFamily="2" charset="77"/>
            </a:endParaRPr>
          </a:p>
          <a:p>
            <a:pPr marL="342900" indent="-342900" algn="just">
              <a:buFont typeface="Wingdings" pitchFamily="2" charset="2"/>
              <a:buChar char="v"/>
            </a:pPr>
            <a:r>
              <a:rPr lang="en-US" sz="2400" b="1" dirty="0">
                <a:latin typeface="Montserrat" pitchFamily="2" charset="77"/>
              </a:rPr>
              <a:t>private</a:t>
            </a:r>
            <a:r>
              <a:rPr lang="en-US" sz="2400" dirty="0">
                <a:latin typeface="Montserrat" pitchFamily="2" charset="77"/>
              </a:rPr>
              <a:t>: </a:t>
            </a:r>
            <a:r>
              <a:rPr lang="en-US" sz="2400" dirty="0" err="1">
                <a:latin typeface="Montserrat" pitchFamily="2" charset="77"/>
              </a:rPr>
              <a:t>chỉ</a:t>
            </a:r>
            <a:r>
              <a:rPr lang="en-US" sz="2400" dirty="0">
                <a:latin typeface="Montserrat" pitchFamily="2" charset="77"/>
              </a:rPr>
              <a:t> </a:t>
            </a:r>
            <a:r>
              <a:rPr lang="en-US" sz="2400" dirty="0" err="1">
                <a:latin typeface="Montserrat" pitchFamily="2" charset="77"/>
              </a:rPr>
              <a:t>trong</a:t>
            </a:r>
            <a:r>
              <a:rPr lang="en-US" sz="2400" dirty="0">
                <a:latin typeface="Montserrat" pitchFamily="2" charset="77"/>
              </a:rPr>
              <a:t> </a:t>
            </a:r>
            <a:r>
              <a:rPr lang="en-US" sz="2400" dirty="0" err="1">
                <a:latin typeface="Montserrat" pitchFamily="2" charset="77"/>
              </a:rPr>
              <a:t>lớp</a:t>
            </a:r>
            <a:r>
              <a:rPr lang="en-US" sz="2400" dirty="0">
                <a:latin typeface="Montserrat" pitchFamily="2" charset="77"/>
              </a:rPr>
              <a:t> </a:t>
            </a:r>
            <a:r>
              <a:rPr lang="en-US" sz="2400" dirty="0" err="1">
                <a:latin typeface="Montserrat" pitchFamily="2" charset="77"/>
              </a:rPr>
              <a:t>hiện</a:t>
            </a:r>
            <a:r>
              <a:rPr lang="en-US" sz="2400" dirty="0">
                <a:latin typeface="Montserrat" pitchFamily="2" charset="77"/>
              </a:rPr>
              <a:t> </a:t>
            </a:r>
            <a:r>
              <a:rPr lang="en-US" sz="2400" dirty="0" err="1">
                <a:latin typeface="Montserrat" pitchFamily="2" charset="77"/>
              </a:rPr>
              <a:t>tại</a:t>
            </a:r>
            <a:endParaRPr lang="en-US" sz="2050" dirty="0">
              <a:latin typeface="Montserrat" pitchFamily="2" charset="77"/>
            </a:endParaRPr>
          </a:p>
          <a:p>
            <a:pPr marL="342900" indent="-342900" algn="just">
              <a:buFont typeface="Wingdings" pitchFamily="2" charset="2"/>
              <a:buChar char="v"/>
            </a:pPr>
            <a:r>
              <a:rPr lang="vi-VN" sz="2400" b="1" dirty="0">
                <a:latin typeface="Montserrat" pitchFamily="2" charset="77"/>
              </a:rPr>
              <a:t>protected</a:t>
            </a:r>
            <a:r>
              <a:rPr lang="vi-VN" sz="2400" dirty="0">
                <a:latin typeface="Montserrat" pitchFamily="2" charset="77"/>
              </a:rPr>
              <a:t>: dùng được trong </a:t>
            </a:r>
            <a:r>
              <a:rPr lang="vi-VN" sz="2400" b="1" dirty="0">
                <a:latin typeface="Montserrat" pitchFamily="2" charset="77"/>
              </a:rPr>
              <a:t>Base class</a:t>
            </a:r>
            <a:r>
              <a:rPr lang="vi-VN" sz="2400" dirty="0">
                <a:latin typeface="Montserrat" pitchFamily="2" charset="77"/>
              </a:rPr>
              <a:t> </a:t>
            </a:r>
          </a:p>
          <a:p>
            <a:pPr algn="just"/>
            <a:r>
              <a:rPr lang="vi-VN" sz="2400" dirty="0">
                <a:latin typeface="Montserrat" pitchFamily="2" charset="77"/>
              </a:rPr>
              <a:t>và </a:t>
            </a:r>
            <a:r>
              <a:rPr lang="vi-VN" sz="2400" b="1" dirty="0">
                <a:latin typeface="Montserrat" pitchFamily="2" charset="77"/>
              </a:rPr>
              <a:t>Derived class</a:t>
            </a:r>
            <a:r>
              <a:rPr lang="vi-VN" sz="2400" dirty="0">
                <a:latin typeface="Montserrat" pitchFamily="2" charset="77"/>
              </a:rPr>
              <a:t>.</a:t>
            </a:r>
          </a:p>
          <a:p>
            <a:pPr algn="just"/>
            <a:endParaRPr lang="vi-VN" sz="2400" dirty="0">
              <a:latin typeface="Montserrat" pitchFamily="2" charset="77"/>
            </a:endParaRPr>
          </a:p>
          <a:p>
            <a:pPr lvl="1" algn="just"/>
            <a:r>
              <a:rPr lang="vi-VN" sz="2400" dirty="0">
                <a:latin typeface="Montserrat" pitchFamily="2" charset="77"/>
              </a:rPr>
              <a:t>(Protected dùng khi muốn “ẩn” thông tin với bên ngoài nhưng cho phép lớp con kế thừa.)</a:t>
            </a:r>
            <a:endParaRPr lang="en-US" sz="2050" dirty="0">
              <a:latin typeface="Montserrat" pitchFamily="2" charset="77"/>
            </a:endParaRPr>
          </a:p>
        </p:txBody>
      </p:sp>
      <p:sp>
        <p:nvSpPr>
          <p:cNvPr id="16" name="TextBox 15">
            <a:extLst>
              <a:ext uri="{FF2B5EF4-FFF2-40B4-BE49-F238E27FC236}">
                <a16:creationId xmlns:a16="http://schemas.microsoft.com/office/drawing/2014/main" id="{F764D1E0-C692-BB64-0CB9-29FFB5620C5B}"/>
              </a:ext>
            </a:extLst>
          </p:cNvPr>
          <p:cNvSpPr txBox="1"/>
          <p:nvPr/>
        </p:nvSpPr>
        <p:spPr>
          <a:xfrm>
            <a:off x="108720" y="2275328"/>
            <a:ext cx="6636831" cy="769441"/>
          </a:xfrm>
          <a:prstGeom prst="rect">
            <a:avLst/>
          </a:prstGeom>
          <a:noFill/>
        </p:spPr>
        <p:txBody>
          <a:bodyPr wrap="square">
            <a:spAutoFit/>
          </a:bodyPr>
          <a:lstStyle/>
          <a:p>
            <a:pPr algn="just"/>
            <a:r>
              <a:rPr lang="vi-VN" sz="2200" dirty="0">
                <a:latin typeface="Montserrat" pitchFamily="2" charset="77"/>
              </a:rPr>
              <a:t>Trong C++, mỗi thành viên của lớp có thể được khai báo với một trong ba mức truy cập:</a:t>
            </a:r>
            <a:endParaRPr lang="en-VN" sz="2200" dirty="0">
              <a:latin typeface="Montserrat" pitchFamily="2" charset="77"/>
            </a:endParaRPr>
          </a:p>
        </p:txBody>
      </p:sp>
      <p:pic>
        <p:nvPicPr>
          <p:cNvPr id="18" name="Picture 17" descr="A computer screen shot of a code&#10;&#10;AI-generated content may be incorrect.">
            <a:extLst>
              <a:ext uri="{FF2B5EF4-FFF2-40B4-BE49-F238E27FC236}">
                <a16:creationId xmlns:a16="http://schemas.microsoft.com/office/drawing/2014/main" id="{B9FDA6CA-642D-0BD4-15CC-33C6CCD7E207}"/>
              </a:ext>
            </a:extLst>
          </p:cNvPr>
          <p:cNvPicPr>
            <a:picLocks noChangeAspect="1"/>
          </p:cNvPicPr>
          <p:nvPr/>
        </p:nvPicPr>
        <p:blipFill>
          <a:blip r:embed="rId4"/>
          <a:stretch>
            <a:fillRect/>
          </a:stretch>
        </p:blipFill>
        <p:spPr>
          <a:xfrm>
            <a:off x="7111311" y="1451610"/>
            <a:ext cx="5002448" cy="4834922"/>
          </a:xfrm>
          <a:prstGeom prst="rect">
            <a:avLst/>
          </a:prstGeom>
        </p:spPr>
      </p:pic>
    </p:spTree>
    <p:extLst>
      <p:ext uri="{BB962C8B-B14F-4D97-AF65-F5344CB8AC3E}">
        <p14:creationId xmlns:p14="http://schemas.microsoft.com/office/powerpoint/2010/main" val="217099740"/>
      </p:ext>
    </p:extLst>
  </p:cSld>
  <p:clrMapOvr>
    <a:overrideClrMapping bg1="lt1" tx1="dk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4497F-C3EC-D51E-91C6-D839C567B12E}"/>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1DD3FE84-794D-1EEA-2BAB-94A927DCCCFA}"/>
              </a:ext>
            </a:extLst>
          </p:cNvPr>
          <p:cNvSpPr txBox="1">
            <a:spLocks/>
          </p:cNvSpPr>
          <p:nvPr/>
        </p:nvSpPr>
        <p:spPr>
          <a:xfrm>
            <a:off x="2365340" y="254186"/>
            <a:ext cx="8043579"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dirty="0">
                <a:solidFill>
                  <a:srgbClr val="FAA61A"/>
                </a:solidFill>
                <a:latin typeface="Montserrat ExtraBold"/>
                <a:ea typeface="Montserrat ExtraBold"/>
                <a:cs typeface="Montserrat ExtraBold"/>
                <a:sym typeface="Montserrat ExtraBold"/>
              </a:rPr>
              <a:t>4.4 </a:t>
            </a:r>
            <a:r>
              <a:rPr lang="en-US" sz="3300" dirty="0" err="1">
                <a:solidFill>
                  <a:srgbClr val="FAA61A"/>
                </a:solidFill>
                <a:latin typeface="Montserrat ExtraBold"/>
                <a:ea typeface="Montserrat ExtraBold"/>
                <a:cs typeface="Montserrat ExtraBold"/>
                <a:sym typeface="Montserrat ExtraBold"/>
              </a:rPr>
              <a:t>Ép</a:t>
            </a:r>
            <a:r>
              <a:rPr lang="en-US" sz="3300" dirty="0">
                <a:solidFill>
                  <a:srgbClr val="FAA61A"/>
                </a:solidFill>
                <a:latin typeface="Montserrat ExtraBold"/>
                <a:ea typeface="Montserrat ExtraBold"/>
                <a:cs typeface="Montserrat ExtraBold"/>
                <a:sym typeface="Montserrat ExtraBold"/>
              </a:rPr>
              <a:t> </a:t>
            </a:r>
            <a:r>
              <a:rPr lang="en-US" sz="3300" dirty="0" err="1">
                <a:solidFill>
                  <a:srgbClr val="FAA61A"/>
                </a:solidFill>
                <a:latin typeface="Montserrat ExtraBold"/>
                <a:ea typeface="Montserrat ExtraBold"/>
                <a:cs typeface="Montserrat ExtraBold"/>
                <a:sym typeface="Montserrat ExtraBold"/>
              </a:rPr>
              <a:t>kiểu</a:t>
            </a:r>
            <a:r>
              <a:rPr lang="en-US" sz="3300" dirty="0">
                <a:solidFill>
                  <a:srgbClr val="FAA61A"/>
                </a:solidFill>
                <a:latin typeface="Montserrat ExtraBold"/>
                <a:ea typeface="Montserrat ExtraBold"/>
                <a:cs typeface="Montserrat ExtraBold"/>
                <a:sym typeface="Montserrat ExtraBold"/>
              </a:rPr>
              <a:t> con </a:t>
            </a:r>
            <a:r>
              <a:rPr lang="en-US" sz="3300" dirty="0" err="1">
                <a:solidFill>
                  <a:srgbClr val="FAA61A"/>
                </a:solidFill>
                <a:latin typeface="Montserrat ExtraBold"/>
                <a:ea typeface="Montserrat ExtraBold"/>
                <a:cs typeface="Montserrat ExtraBold"/>
                <a:sym typeface="Montserrat ExtraBold"/>
              </a:rPr>
              <a:t>trỏ</a:t>
            </a:r>
            <a:endParaRPr lang="en-US" sz="3300" dirty="0">
              <a:solidFill>
                <a:srgbClr val="FAA61A"/>
              </a:solidFill>
              <a:latin typeface="Montserrat ExtraBold"/>
              <a:ea typeface="Montserrat ExtraBold"/>
              <a:cs typeface="Montserrat ExtraBold"/>
              <a:sym typeface="Montserrat ExtraBold"/>
            </a:endParaRPr>
          </a:p>
        </p:txBody>
      </p:sp>
      <p:sp>
        <p:nvSpPr>
          <p:cNvPr id="9" name="Content Placeholder 5">
            <a:extLst>
              <a:ext uri="{FF2B5EF4-FFF2-40B4-BE49-F238E27FC236}">
                <a16:creationId xmlns:a16="http://schemas.microsoft.com/office/drawing/2014/main" id="{9B20C4B7-39A5-CAD2-55FF-A10A3419B135}"/>
              </a:ext>
            </a:extLst>
          </p:cNvPr>
          <p:cNvSpPr txBox="1">
            <a:spLocks/>
          </p:cNvSpPr>
          <p:nvPr/>
        </p:nvSpPr>
        <p:spPr>
          <a:xfrm>
            <a:off x="841810" y="1705869"/>
            <a:ext cx="11090638" cy="63094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r>
              <a:rPr lang="en-VN" sz="4100" dirty="0">
                <a:latin typeface="Montserrat" pitchFamily="2" charset="77"/>
              </a:rPr>
              <a:t>Khái niệm:</a:t>
            </a:r>
          </a:p>
        </p:txBody>
      </p:sp>
      <p:sp>
        <p:nvSpPr>
          <p:cNvPr id="10" name="TextBox 9">
            <a:extLst>
              <a:ext uri="{FF2B5EF4-FFF2-40B4-BE49-F238E27FC236}">
                <a16:creationId xmlns:a16="http://schemas.microsoft.com/office/drawing/2014/main" id="{6AC8A7CB-55FF-40D0-6F66-C31066268AE8}"/>
              </a:ext>
            </a:extLst>
          </p:cNvPr>
          <p:cNvSpPr txBox="1"/>
          <p:nvPr/>
        </p:nvSpPr>
        <p:spPr>
          <a:xfrm>
            <a:off x="847184" y="2472467"/>
            <a:ext cx="10497631" cy="1146468"/>
          </a:xfrm>
          <a:prstGeom prst="rect">
            <a:avLst/>
          </a:prstGeom>
          <a:noFill/>
        </p:spPr>
        <p:txBody>
          <a:bodyPr wrap="square">
            <a:spAutoFit/>
          </a:bodyPr>
          <a:lstStyle/>
          <a:p>
            <a:r>
              <a:rPr lang="vi-VN" sz="2400" dirty="0"/>
              <a:t>Khi sử dụng con trỏ giữa lớp cơ sở và lớp dẫn xuất, ta có thể thực hiện ép kiểu. Việc này cần cẩn thận để tránh lỗi runtime.</a:t>
            </a:r>
          </a:p>
          <a:p>
            <a:pPr marL="342900" indent="-342900">
              <a:buFont typeface="Wingdings" pitchFamily="2" charset="2"/>
              <a:buChar char="v"/>
            </a:pPr>
            <a:endParaRPr lang="en-US" sz="2050" dirty="0">
              <a:latin typeface="Montserrat" pitchFamily="2" charset="77"/>
            </a:endParaRPr>
          </a:p>
        </p:txBody>
      </p:sp>
      <p:sp>
        <p:nvSpPr>
          <p:cNvPr id="3" name="TextBox 2">
            <a:extLst>
              <a:ext uri="{FF2B5EF4-FFF2-40B4-BE49-F238E27FC236}">
                <a16:creationId xmlns:a16="http://schemas.microsoft.com/office/drawing/2014/main" id="{A1249A85-00D7-E24C-22DA-901550148328}"/>
              </a:ext>
            </a:extLst>
          </p:cNvPr>
          <p:cNvSpPr txBox="1"/>
          <p:nvPr/>
        </p:nvSpPr>
        <p:spPr>
          <a:xfrm>
            <a:off x="841810" y="3754591"/>
            <a:ext cx="4335592" cy="2677656"/>
          </a:xfrm>
          <a:prstGeom prst="rect">
            <a:avLst/>
          </a:prstGeom>
          <a:noFill/>
        </p:spPr>
        <p:txBody>
          <a:bodyPr wrap="square">
            <a:spAutoFit/>
          </a:bodyPr>
          <a:lstStyle/>
          <a:p>
            <a:pPr marL="342900" indent="-342900">
              <a:buFont typeface="Wingdings" pitchFamily="2" charset="2"/>
              <a:buChar char="v"/>
            </a:pPr>
            <a:r>
              <a:rPr lang="en-US" sz="2400" b="1" dirty="0">
                <a:latin typeface="Montserrat" pitchFamily="2" charset="77"/>
              </a:rPr>
              <a:t>Upcasting</a:t>
            </a:r>
            <a:r>
              <a:rPr lang="en-US" sz="2400" dirty="0">
                <a:latin typeface="Montserrat" pitchFamily="2" charset="77"/>
              </a:rPr>
              <a:t>: Derived* → Base* (an </a:t>
            </a:r>
            <a:r>
              <a:rPr lang="en-US" sz="2400" dirty="0" err="1">
                <a:latin typeface="Montserrat" pitchFamily="2" charset="77"/>
              </a:rPr>
              <a:t>toàn</a:t>
            </a:r>
            <a:r>
              <a:rPr lang="en-US" sz="2400" dirty="0">
                <a:latin typeface="Montserrat" pitchFamily="2" charset="77"/>
              </a:rPr>
              <a:t>, </a:t>
            </a:r>
            <a:r>
              <a:rPr lang="en-US" sz="2400" dirty="0" err="1">
                <a:latin typeface="Montserrat" pitchFamily="2" charset="77"/>
              </a:rPr>
              <a:t>tự</a:t>
            </a:r>
            <a:r>
              <a:rPr lang="en-US" sz="2400" dirty="0">
                <a:latin typeface="Montserrat" pitchFamily="2" charset="77"/>
              </a:rPr>
              <a:t> </a:t>
            </a:r>
            <a:r>
              <a:rPr lang="en-US" sz="2400" dirty="0" err="1">
                <a:latin typeface="Montserrat" pitchFamily="2" charset="77"/>
              </a:rPr>
              <a:t>động</a:t>
            </a:r>
            <a:r>
              <a:rPr lang="en-US" sz="2400" dirty="0">
                <a:latin typeface="Montserrat" pitchFamily="2" charset="77"/>
              </a:rPr>
              <a:t>).</a:t>
            </a:r>
          </a:p>
          <a:p>
            <a:pPr marL="342900" indent="-342900">
              <a:buFont typeface="Wingdings" pitchFamily="2" charset="2"/>
              <a:buChar char="v"/>
            </a:pPr>
            <a:endParaRPr lang="en-US" sz="2400" dirty="0">
              <a:latin typeface="Montserrat" pitchFamily="2" charset="77"/>
            </a:endParaRPr>
          </a:p>
          <a:p>
            <a:pPr marL="342900" indent="-342900">
              <a:buFont typeface="Wingdings" pitchFamily="2" charset="2"/>
              <a:buChar char="v"/>
            </a:pPr>
            <a:r>
              <a:rPr lang="en-US" sz="2400" b="1" dirty="0" err="1">
                <a:latin typeface="Montserrat" pitchFamily="2" charset="77"/>
              </a:rPr>
              <a:t>Downcasting</a:t>
            </a:r>
            <a:r>
              <a:rPr lang="en-US" sz="2400" dirty="0">
                <a:latin typeface="Montserrat" pitchFamily="2" charset="77"/>
              </a:rPr>
              <a:t>: Base* → Derived* (</a:t>
            </a:r>
            <a:r>
              <a:rPr lang="en-US" sz="2400" dirty="0" err="1">
                <a:latin typeface="Montserrat" pitchFamily="2" charset="77"/>
              </a:rPr>
              <a:t>cần</a:t>
            </a:r>
            <a:r>
              <a:rPr lang="en-US" sz="2400" dirty="0">
                <a:latin typeface="Montserrat" pitchFamily="2" charset="77"/>
              </a:rPr>
              <a:t> </a:t>
            </a:r>
            <a:r>
              <a:rPr lang="en-US" sz="2400" dirty="0" err="1">
                <a:latin typeface="Montserrat" pitchFamily="2" charset="77"/>
              </a:rPr>
              <a:t>ép</a:t>
            </a:r>
            <a:r>
              <a:rPr lang="en-US" sz="2400" dirty="0">
                <a:latin typeface="Montserrat" pitchFamily="2" charset="77"/>
              </a:rPr>
              <a:t> </a:t>
            </a:r>
            <a:r>
              <a:rPr lang="en-US" sz="2400" dirty="0" err="1">
                <a:latin typeface="Montserrat" pitchFamily="2" charset="77"/>
              </a:rPr>
              <a:t>kiểu</a:t>
            </a:r>
            <a:r>
              <a:rPr lang="en-US" sz="2400" dirty="0">
                <a:latin typeface="Montserrat" pitchFamily="2" charset="77"/>
              </a:rPr>
              <a:t>, </a:t>
            </a:r>
            <a:r>
              <a:rPr lang="en-US" sz="2400" dirty="0" err="1">
                <a:latin typeface="Montserrat" pitchFamily="2" charset="77"/>
              </a:rPr>
              <a:t>nguy</a:t>
            </a:r>
            <a:r>
              <a:rPr lang="en-US" sz="2400" dirty="0">
                <a:latin typeface="Montserrat" pitchFamily="2" charset="77"/>
              </a:rPr>
              <a:t> </a:t>
            </a:r>
            <a:r>
              <a:rPr lang="en-US" sz="2400" dirty="0" err="1">
                <a:latin typeface="Montserrat" pitchFamily="2" charset="77"/>
              </a:rPr>
              <a:t>hiểm</a:t>
            </a:r>
            <a:r>
              <a:rPr lang="en-US" sz="2400" dirty="0">
                <a:latin typeface="Montserrat" pitchFamily="2" charset="77"/>
              </a:rPr>
              <a:t> </a:t>
            </a:r>
            <a:r>
              <a:rPr lang="en-US" sz="2400" dirty="0" err="1">
                <a:latin typeface="Montserrat" pitchFamily="2" charset="77"/>
              </a:rPr>
              <a:t>nếu</a:t>
            </a:r>
            <a:r>
              <a:rPr lang="en-US" sz="2400" dirty="0">
                <a:latin typeface="Montserrat" pitchFamily="2" charset="77"/>
              </a:rPr>
              <a:t> </a:t>
            </a:r>
            <a:r>
              <a:rPr lang="en-US" sz="2400" dirty="0" err="1">
                <a:latin typeface="Montserrat" pitchFamily="2" charset="77"/>
              </a:rPr>
              <a:t>không</a:t>
            </a:r>
            <a:r>
              <a:rPr lang="en-US" sz="2400" dirty="0">
                <a:latin typeface="Montserrat" pitchFamily="2" charset="77"/>
              </a:rPr>
              <a:t> </a:t>
            </a:r>
            <a:r>
              <a:rPr lang="en-US" sz="2400" dirty="0" err="1">
                <a:latin typeface="Montserrat" pitchFamily="2" charset="77"/>
              </a:rPr>
              <a:t>kiểm</a:t>
            </a:r>
            <a:r>
              <a:rPr lang="en-US" sz="2400" dirty="0">
                <a:latin typeface="Montserrat" pitchFamily="2" charset="77"/>
              </a:rPr>
              <a:t> </a:t>
            </a:r>
            <a:r>
              <a:rPr lang="en-US" sz="2400" dirty="0" err="1">
                <a:latin typeface="Montserrat" pitchFamily="2" charset="77"/>
              </a:rPr>
              <a:t>soát</a:t>
            </a:r>
            <a:r>
              <a:rPr lang="en-US" sz="2400" dirty="0">
                <a:latin typeface="Montserrat" pitchFamily="2" charset="77"/>
              </a:rPr>
              <a:t>).</a:t>
            </a:r>
          </a:p>
        </p:txBody>
      </p:sp>
      <p:pic>
        <p:nvPicPr>
          <p:cNvPr id="6" name="Picture 5" descr="A close-up of a computer code&#10;&#10;AI-generated content may be incorrect.">
            <a:extLst>
              <a:ext uri="{FF2B5EF4-FFF2-40B4-BE49-F238E27FC236}">
                <a16:creationId xmlns:a16="http://schemas.microsoft.com/office/drawing/2014/main" id="{DD9B452E-AC91-8493-52C3-491859570EA0}"/>
              </a:ext>
            </a:extLst>
          </p:cNvPr>
          <p:cNvPicPr>
            <a:picLocks noChangeAspect="1"/>
          </p:cNvPicPr>
          <p:nvPr/>
        </p:nvPicPr>
        <p:blipFill>
          <a:blip r:embed="rId3"/>
          <a:stretch>
            <a:fillRect/>
          </a:stretch>
        </p:blipFill>
        <p:spPr>
          <a:xfrm>
            <a:off x="5177402" y="3813303"/>
            <a:ext cx="6618359" cy="2677656"/>
          </a:xfrm>
          <a:prstGeom prst="rect">
            <a:avLst/>
          </a:prstGeom>
        </p:spPr>
      </p:pic>
    </p:spTree>
    <p:extLst>
      <p:ext uri="{BB962C8B-B14F-4D97-AF65-F5344CB8AC3E}">
        <p14:creationId xmlns:p14="http://schemas.microsoft.com/office/powerpoint/2010/main" val="581411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7A7C-B54C-D536-CFBC-AEA6DD5156E2}"/>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F96F9A1F-B05F-892B-5CBC-8A7E17407727}"/>
              </a:ext>
            </a:extLst>
          </p:cNvPr>
          <p:cNvSpPr txBox="1">
            <a:spLocks/>
          </p:cNvSpPr>
          <p:nvPr/>
        </p:nvSpPr>
        <p:spPr>
          <a:xfrm>
            <a:off x="2304380" y="284666"/>
            <a:ext cx="10161940"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a:solidFill>
                  <a:srgbClr val="FAA61A"/>
                </a:solidFill>
                <a:latin typeface="Montserrat" pitchFamily="2" charset="77"/>
                <a:ea typeface="Montserrat ExtraBold"/>
                <a:cs typeface="Montserrat ExtraBold"/>
                <a:sym typeface="Montserrat ExtraBold"/>
              </a:rPr>
              <a:t>4.5 Các </a:t>
            </a:r>
            <a:r>
              <a:rPr lang="en-US" sz="3300" b="1" dirty="0" err="1">
                <a:solidFill>
                  <a:srgbClr val="FAA61A"/>
                </a:solidFill>
                <a:latin typeface="Montserrat" pitchFamily="2" charset="77"/>
                <a:ea typeface="Montserrat ExtraBold"/>
                <a:cs typeface="Montserrat ExtraBold"/>
                <a:sym typeface="Montserrat ExtraBold"/>
              </a:rPr>
              <a:t>lớp</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cơ</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sở</a:t>
            </a:r>
            <a:r>
              <a:rPr lang="en-US" sz="3300" b="1" dirty="0">
                <a:solidFill>
                  <a:srgbClr val="FAA61A"/>
                </a:solidFill>
                <a:latin typeface="Montserrat" pitchFamily="2" charset="77"/>
                <a:ea typeface="Montserrat ExtraBold"/>
                <a:cs typeface="Montserrat ExtraBold"/>
                <a:sym typeface="Montserrat ExtraBold"/>
              </a:rPr>
              <a:t> public, protected, private</a:t>
            </a:r>
          </a:p>
        </p:txBody>
      </p:sp>
      <p:sp>
        <p:nvSpPr>
          <p:cNvPr id="6" name="Content Placeholder 5">
            <a:extLst>
              <a:ext uri="{FF2B5EF4-FFF2-40B4-BE49-F238E27FC236}">
                <a16:creationId xmlns:a16="http://schemas.microsoft.com/office/drawing/2014/main" id="{CF53202A-1965-546F-80E9-EB568ABCF246}"/>
              </a:ext>
            </a:extLst>
          </p:cNvPr>
          <p:cNvSpPr>
            <a:spLocks noGrp="1"/>
          </p:cNvSpPr>
          <p:nvPr>
            <p:ph idx="1"/>
          </p:nvPr>
        </p:nvSpPr>
        <p:spPr>
          <a:xfrm>
            <a:off x="856169" y="1414436"/>
            <a:ext cx="11090638" cy="630942"/>
          </a:xfrm>
        </p:spPr>
        <p:txBody>
          <a:bodyPr/>
          <a:lstStyle/>
          <a:p>
            <a:r>
              <a:rPr lang="en-VN" sz="4100" dirty="0">
                <a:latin typeface="Montserrat" pitchFamily="2" charset="77"/>
              </a:rPr>
              <a:t>Khái niệm:</a:t>
            </a:r>
          </a:p>
        </p:txBody>
      </p:sp>
      <p:sp>
        <p:nvSpPr>
          <p:cNvPr id="3" name="TextBox 2">
            <a:extLst>
              <a:ext uri="{FF2B5EF4-FFF2-40B4-BE49-F238E27FC236}">
                <a16:creationId xmlns:a16="http://schemas.microsoft.com/office/drawing/2014/main" id="{7B7798A9-E0A8-733D-E95A-274BF4876B75}"/>
              </a:ext>
            </a:extLst>
          </p:cNvPr>
          <p:cNvSpPr txBox="1"/>
          <p:nvPr/>
        </p:nvSpPr>
        <p:spPr>
          <a:xfrm>
            <a:off x="933923" y="2045378"/>
            <a:ext cx="10324153" cy="1200329"/>
          </a:xfrm>
          <a:prstGeom prst="rect">
            <a:avLst/>
          </a:prstGeom>
          <a:noFill/>
        </p:spPr>
        <p:txBody>
          <a:bodyPr wrap="square">
            <a:spAutoFit/>
          </a:bodyPr>
          <a:lstStyle/>
          <a:p>
            <a:pPr algn="just"/>
            <a:r>
              <a:rPr lang="vi-VN" sz="2400" dirty="0">
                <a:latin typeface="Montserrat" pitchFamily="2" charset="77"/>
              </a:rPr>
              <a:t>Trong C++, khi một lớp kế thừa từ lớp khác, ta có thể chỉ định </a:t>
            </a:r>
            <a:r>
              <a:rPr lang="vi-VN" sz="2400" b="1" dirty="0">
                <a:latin typeface="Montserrat" pitchFamily="2" charset="77"/>
              </a:rPr>
              <a:t>cách kế thừa (mode)</a:t>
            </a:r>
            <a:r>
              <a:rPr lang="vi-VN" sz="2400" dirty="0">
                <a:latin typeface="Montserrat" pitchFamily="2" charset="77"/>
              </a:rPr>
              <a:t>. Kiểu kế thừa quyết định </a:t>
            </a:r>
            <a:r>
              <a:rPr lang="vi-VN" sz="2400" b="1" dirty="0">
                <a:latin typeface="Montserrat" pitchFamily="2" charset="77"/>
              </a:rPr>
              <a:t>mức độ hiển thị</a:t>
            </a:r>
            <a:r>
              <a:rPr lang="vi-VN" sz="2400" dirty="0">
                <a:latin typeface="Montserrat" pitchFamily="2" charset="77"/>
              </a:rPr>
              <a:t> (visibility) của các thành viên từ lớp cơ sở khi sang lớp dẫn xuất.</a:t>
            </a:r>
            <a:endParaRPr lang="en-US" sz="2050" dirty="0">
              <a:latin typeface="Montserrat" pitchFamily="2" charset="77"/>
            </a:endParaRPr>
          </a:p>
        </p:txBody>
      </p:sp>
      <p:sp>
        <p:nvSpPr>
          <p:cNvPr id="8" name="TextBox 7">
            <a:extLst>
              <a:ext uri="{FF2B5EF4-FFF2-40B4-BE49-F238E27FC236}">
                <a16:creationId xmlns:a16="http://schemas.microsoft.com/office/drawing/2014/main" id="{9B6F6819-543B-9D12-9A99-1E337D2C606E}"/>
              </a:ext>
            </a:extLst>
          </p:cNvPr>
          <p:cNvSpPr txBox="1"/>
          <p:nvPr/>
        </p:nvSpPr>
        <p:spPr>
          <a:xfrm>
            <a:off x="933923" y="3672747"/>
            <a:ext cx="10324153" cy="3046988"/>
          </a:xfrm>
          <a:prstGeom prst="rect">
            <a:avLst/>
          </a:prstGeom>
          <a:noFill/>
        </p:spPr>
        <p:txBody>
          <a:bodyPr wrap="square" rtlCol="0">
            <a:spAutoFit/>
          </a:bodyPr>
          <a:lstStyle/>
          <a:p>
            <a:pPr marL="285750" indent="-285750">
              <a:buFont typeface="Wingdings" pitchFamily="2" charset="2"/>
              <a:buChar char="v"/>
            </a:pPr>
            <a:r>
              <a:rPr lang="vi-VN" sz="2400" b="1" dirty="0">
                <a:latin typeface="Montserrat" pitchFamily="2" charset="77"/>
              </a:rPr>
              <a:t>Public inheritance (thường dùng nhất):</a:t>
            </a:r>
            <a:endParaRPr lang="vi-VN" sz="2400" dirty="0">
              <a:latin typeface="Montserrat" pitchFamily="2" charset="77"/>
            </a:endParaRPr>
          </a:p>
          <a:p>
            <a:pPr lvl="1"/>
            <a:r>
              <a:rPr lang="vi-VN" sz="2400" dirty="0">
                <a:latin typeface="Montserrat" pitchFamily="2" charset="77"/>
              </a:rPr>
              <a:t>     - public trong Base → public trong Derived.</a:t>
            </a:r>
          </a:p>
          <a:p>
            <a:pPr lvl="1"/>
            <a:r>
              <a:rPr lang="vi-VN" sz="2400" dirty="0">
                <a:latin typeface="Montserrat" pitchFamily="2" charset="77"/>
              </a:rPr>
              <a:t>     - protected trong Base → protected trong Derived.</a:t>
            </a:r>
          </a:p>
          <a:p>
            <a:pPr marL="285750" indent="-285750">
              <a:buFont typeface="Wingdings" pitchFamily="2" charset="2"/>
              <a:buChar char="v"/>
            </a:pPr>
            <a:r>
              <a:rPr lang="vi-VN" sz="2400" b="1" dirty="0">
                <a:latin typeface="Montserrat" pitchFamily="2" charset="77"/>
              </a:rPr>
              <a:t>Protected inheritance:</a:t>
            </a:r>
            <a:endParaRPr lang="vi-VN" sz="2400" dirty="0">
              <a:latin typeface="Montserrat" pitchFamily="2" charset="77"/>
            </a:endParaRPr>
          </a:p>
          <a:p>
            <a:pPr lvl="1"/>
            <a:r>
              <a:rPr lang="vi-VN" sz="2400" dirty="0">
                <a:latin typeface="Montserrat" pitchFamily="2" charset="77"/>
              </a:rPr>
              <a:t>    - public và protected trong Base → protected trong Derived.</a:t>
            </a:r>
          </a:p>
          <a:p>
            <a:pPr marL="285750" indent="-285750">
              <a:buFont typeface="Wingdings" pitchFamily="2" charset="2"/>
              <a:buChar char="v"/>
            </a:pPr>
            <a:r>
              <a:rPr lang="vi-VN" sz="2400" b="1" dirty="0">
                <a:latin typeface="Montserrat" pitchFamily="2" charset="77"/>
              </a:rPr>
              <a:t>Private inheritance:</a:t>
            </a:r>
            <a:endParaRPr lang="vi-VN" sz="2400" dirty="0">
              <a:latin typeface="Montserrat" pitchFamily="2" charset="77"/>
            </a:endParaRPr>
          </a:p>
          <a:p>
            <a:pPr lvl="1"/>
            <a:r>
              <a:rPr lang="vi-VN" sz="2400" dirty="0">
                <a:latin typeface="Montserrat" pitchFamily="2" charset="77"/>
              </a:rPr>
              <a:t>    - public và protected trong Base → private trong Derived.</a:t>
            </a:r>
          </a:p>
          <a:p>
            <a:pPr marL="342900" indent="-342900">
              <a:buFont typeface="Wingdings" pitchFamily="2" charset="2"/>
              <a:buChar char="v"/>
            </a:pPr>
            <a:endParaRPr lang="en-VN" sz="2400" dirty="0">
              <a:latin typeface="Montserrat" pitchFamily="2" charset="77"/>
            </a:endParaRPr>
          </a:p>
        </p:txBody>
      </p:sp>
    </p:spTree>
    <p:extLst>
      <p:ext uri="{BB962C8B-B14F-4D97-AF65-F5344CB8AC3E}">
        <p14:creationId xmlns:p14="http://schemas.microsoft.com/office/powerpoint/2010/main" val="3401377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736EF-8872-538A-9CE7-3BA8EC13D040}"/>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46826550-F06C-4363-7869-33DE1A47E0F3}"/>
              </a:ext>
            </a:extLst>
          </p:cNvPr>
          <p:cNvSpPr txBox="1">
            <a:spLocks/>
          </p:cNvSpPr>
          <p:nvPr/>
        </p:nvSpPr>
        <p:spPr>
          <a:xfrm>
            <a:off x="2304380" y="284666"/>
            <a:ext cx="10161940"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err="1">
                <a:solidFill>
                  <a:srgbClr val="FAA61A"/>
                </a:solidFill>
                <a:latin typeface="Montserrat" pitchFamily="2" charset="77"/>
                <a:ea typeface="Montserrat ExtraBold"/>
                <a:cs typeface="Montserrat ExtraBold"/>
                <a:sym typeface="Montserrat ExtraBold"/>
              </a:rPr>
              <a:t>Ví</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dụ</a:t>
            </a:r>
            <a:endParaRPr lang="en-US" sz="3300" b="1" dirty="0">
              <a:solidFill>
                <a:srgbClr val="FAA61A"/>
              </a:solidFill>
              <a:latin typeface="Montserrat" pitchFamily="2" charset="77"/>
              <a:ea typeface="Montserrat ExtraBold"/>
              <a:cs typeface="Montserrat ExtraBold"/>
              <a:sym typeface="Montserrat ExtraBold"/>
            </a:endParaRPr>
          </a:p>
        </p:txBody>
      </p:sp>
      <p:pic>
        <p:nvPicPr>
          <p:cNvPr id="7" name="Picture 6" descr="A screenshot of a computer code&#10;&#10;AI-generated content may be incorrect.">
            <a:extLst>
              <a:ext uri="{FF2B5EF4-FFF2-40B4-BE49-F238E27FC236}">
                <a16:creationId xmlns:a16="http://schemas.microsoft.com/office/drawing/2014/main" id="{DAA32EF4-FECE-EF6D-A52A-43EE95805E2F}"/>
              </a:ext>
            </a:extLst>
          </p:cNvPr>
          <p:cNvPicPr>
            <a:picLocks noChangeAspect="1"/>
          </p:cNvPicPr>
          <p:nvPr/>
        </p:nvPicPr>
        <p:blipFill>
          <a:blip r:embed="rId3"/>
          <a:stretch>
            <a:fillRect/>
          </a:stretch>
        </p:blipFill>
        <p:spPr>
          <a:xfrm>
            <a:off x="2966720" y="1155699"/>
            <a:ext cx="7213600" cy="5464033"/>
          </a:xfrm>
          <a:prstGeom prst="rect">
            <a:avLst/>
          </a:prstGeom>
        </p:spPr>
      </p:pic>
    </p:spTree>
    <p:extLst>
      <p:ext uri="{BB962C8B-B14F-4D97-AF65-F5344CB8AC3E}">
        <p14:creationId xmlns:p14="http://schemas.microsoft.com/office/powerpoint/2010/main" val="3576494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1FFA4-5D11-CC09-5067-A0412F4B5E96}"/>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86116E2A-ECDC-C466-60B8-2BBFDCB8B958}"/>
              </a:ext>
            </a:extLst>
          </p:cNvPr>
          <p:cNvSpPr txBox="1">
            <a:spLocks/>
          </p:cNvSpPr>
          <p:nvPr/>
        </p:nvSpPr>
        <p:spPr>
          <a:xfrm>
            <a:off x="2365341" y="254186"/>
            <a:ext cx="7588128"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a:solidFill>
                  <a:srgbClr val="FAA61A"/>
                </a:solidFill>
                <a:latin typeface="Montserrat" pitchFamily="2" charset="77"/>
                <a:ea typeface="Montserrat ExtraBold"/>
                <a:cs typeface="Montserrat ExtraBold"/>
                <a:sym typeface="Montserrat ExtraBold"/>
              </a:rPr>
              <a:t>4.6 Constructor &amp; Destructor</a:t>
            </a:r>
          </a:p>
        </p:txBody>
      </p:sp>
      <p:sp>
        <p:nvSpPr>
          <p:cNvPr id="7" name="TextBox 6">
            <a:extLst>
              <a:ext uri="{FF2B5EF4-FFF2-40B4-BE49-F238E27FC236}">
                <a16:creationId xmlns:a16="http://schemas.microsoft.com/office/drawing/2014/main" id="{12EB97C9-9845-908A-0DB5-CE9BA256F0A0}"/>
              </a:ext>
            </a:extLst>
          </p:cNvPr>
          <p:cNvSpPr txBox="1"/>
          <p:nvPr/>
        </p:nvSpPr>
        <p:spPr>
          <a:xfrm>
            <a:off x="729778" y="1890633"/>
            <a:ext cx="10062890" cy="1569660"/>
          </a:xfrm>
          <a:prstGeom prst="rect">
            <a:avLst/>
          </a:prstGeom>
          <a:noFill/>
        </p:spPr>
        <p:txBody>
          <a:bodyPr wrap="square">
            <a:spAutoFit/>
          </a:bodyPr>
          <a:lstStyle/>
          <a:p>
            <a:pPr algn="just"/>
            <a:r>
              <a:rPr lang="vi-VN" sz="2400" dirty="0"/>
              <a:t>Khi tạo đối tượng từ lớp dẫn xuất, chương trình sẽ tự động gọi </a:t>
            </a:r>
            <a:r>
              <a:rPr lang="vi-VN" sz="2400" b="1" dirty="0"/>
              <a:t>constructor của lớp cơ sở trước</a:t>
            </a:r>
            <a:r>
              <a:rPr lang="vi-VN" sz="2400" dirty="0"/>
              <a:t> để khởi tạo thành phần chung, sau đó mới gọi constructor của lớp dẫn xuất. Khi hủy đối tượng, thứ tự ngược lại sẽ diễn ra. Trong đó:</a:t>
            </a:r>
            <a:endParaRPr lang="en-US" sz="2050" dirty="0">
              <a:latin typeface="Montserrat" pitchFamily="2" charset="77"/>
            </a:endParaRPr>
          </a:p>
        </p:txBody>
      </p:sp>
      <p:sp>
        <p:nvSpPr>
          <p:cNvPr id="10" name="Content Placeholder 5">
            <a:extLst>
              <a:ext uri="{FF2B5EF4-FFF2-40B4-BE49-F238E27FC236}">
                <a16:creationId xmlns:a16="http://schemas.microsoft.com/office/drawing/2014/main" id="{B9C3F5F9-07C2-AAC6-E60C-3A98993F6421}"/>
              </a:ext>
            </a:extLst>
          </p:cNvPr>
          <p:cNvSpPr txBox="1">
            <a:spLocks/>
          </p:cNvSpPr>
          <p:nvPr/>
        </p:nvSpPr>
        <p:spPr>
          <a:xfrm>
            <a:off x="668818" y="1446246"/>
            <a:ext cx="11090638"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r>
              <a:rPr lang="en-VN" sz="2500" dirty="0">
                <a:latin typeface="Montserrat" pitchFamily="2" charset="77"/>
              </a:rPr>
              <a:t>Khái niệm:</a:t>
            </a:r>
          </a:p>
        </p:txBody>
      </p:sp>
      <p:sp>
        <p:nvSpPr>
          <p:cNvPr id="9" name="TextBox 8">
            <a:extLst>
              <a:ext uri="{FF2B5EF4-FFF2-40B4-BE49-F238E27FC236}">
                <a16:creationId xmlns:a16="http://schemas.microsoft.com/office/drawing/2014/main" id="{BB06781E-D3FB-D6C9-1365-A218DE3B3261}"/>
              </a:ext>
            </a:extLst>
          </p:cNvPr>
          <p:cNvSpPr txBox="1"/>
          <p:nvPr/>
        </p:nvSpPr>
        <p:spPr>
          <a:xfrm>
            <a:off x="729778" y="3874200"/>
            <a:ext cx="6096000" cy="1938992"/>
          </a:xfrm>
          <a:prstGeom prst="rect">
            <a:avLst/>
          </a:prstGeom>
          <a:noFill/>
        </p:spPr>
        <p:txBody>
          <a:bodyPr wrap="square">
            <a:spAutoFit/>
          </a:bodyPr>
          <a:lstStyle/>
          <a:p>
            <a:pPr marL="342900" indent="-342900">
              <a:buFont typeface="Wingdings" pitchFamily="2" charset="2"/>
              <a:buChar char="v"/>
            </a:pPr>
            <a:r>
              <a:rPr lang="en-US" sz="2400" b="1" i="1" dirty="0" err="1">
                <a:latin typeface="Montserrat" pitchFamily="2" charset="77"/>
              </a:rPr>
              <a:t>Thứ</a:t>
            </a:r>
            <a:r>
              <a:rPr lang="en-US" sz="2400" b="1" i="1" dirty="0">
                <a:latin typeface="Montserrat" pitchFamily="2" charset="77"/>
              </a:rPr>
              <a:t> </a:t>
            </a:r>
            <a:r>
              <a:rPr lang="en-US" sz="2400" b="1" i="1" dirty="0" err="1">
                <a:latin typeface="Montserrat" pitchFamily="2" charset="77"/>
              </a:rPr>
              <a:t>tự</a:t>
            </a:r>
            <a:r>
              <a:rPr lang="en-US" sz="2400" b="1" i="1" dirty="0">
                <a:latin typeface="Montserrat" pitchFamily="2" charset="77"/>
              </a:rPr>
              <a:t> </a:t>
            </a:r>
            <a:r>
              <a:rPr lang="en-US" sz="2400" b="1" i="1" dirty="0" err="1">
                <a:latin typeface="Montserrat" pitchFamily="2" charset="77"/>
              </a:rPr>
              <a:t>tạo</a:t>
            </a:r>
            <a:r>
              <a:rPr lang="en-US" sz="2400" b="1" i="1" dirty="0">
                <a:latin typeface="Montserrat" pitchFamily="2" charset="77"/>
              </a:rPr>
              <a:t>: </a:t>
            </a:r>
            <a:r>
              <a:rPr lang="en-US" sz="2400" dirty="0">
                <a:latin typeface="Montserrat" pitchFamily="2" charset="77"/>
              </a:rPr>
              <a:t>Base → Derived.</a:t>
            </a:r>
          </a:p>
          <a:p>
            <a:pPr marL="342900" indent="-342900">
              <a:buFont typeface="Wingdings" pitchFamily="2" charset="2"/>
              <a:buChar char="v"/>
            </a:pPr>
            <a:r>
              <a:rPr lang="en-US" sz="2400" b="1" i="1" dirty="0" err="1">
                <a:latin typeface="Montserrat" pitchFamily="2" charset="77"/>
              </a:rPr>
              <a:t>Thứ</a:t>
            </a:r>
            <a:r>
              <a:rPr lang="en-US" sz="2400" b="1" i="1" dirty="0">
                <a:latin typeface="Montserrat" pitchFamily="2" charset="77"/>
              </a:rPr>
              <a:t> </a:t>
            </a:r>
            <a:r>
              <a:rPr lang="en-US" sz="2400" b="1" i="1" dirty="0" err="1">
                <a:latin typeface="Montserrat" pitchFamily="2" charset="77"/>
              </a:rPr>
              <a:t>tự</a:t>
            </a:r>
            <a:r>
              <a:rPr lang="en-US" sz="2400" b="1" i="1" dirty="0">
                <a:latin typeface="Montserrat" pitchFamily="2" charset="77"/>
              </a:rPr>
              <a:t> </a:t>
            </a:r>
            <a:r>
              <a:rPr lang="en-US" sz="2400" b="1" i="1" dirty="0" err="1">
                <a:latin typeface="Montserrat" pitchFamily="2" charset="77"/>
              </a:rPr>
              <a:t>hủy</a:t>
            </a:r>
            <a:r>
              <a:rPr lang="en-US" sz="2400" b="1" i="1" dirty="0">
                <a:latin typeface="Montserrat" pitchFamily="2" charset="77"/>
              </a:rPr>
              <a:t>:</a:t>
            </a:r>
            <a:r>
              <a:rPr lang="en-US" sz="2400" dirty="0">
                <a:latin typeface="Montserrat" pitchFamily="2" charset="77"/>
              </a:rPr>
              <a:t> Derived → Base.</a:t>
            </a:r>
          </a:p>
          <a:p>
            <a:pPr marL="342900" indent="-342900">
              <a:buFont typeface="Wingdings" pitchFamily="2" charset="2"/>
              <a:buChar char="v"/>
            </a:pPr>
            <a:endParaRPr lang="en-US" sz="2400" dirty="0">
              <a:latin typeface="Montserrat" pitchFamily="2" charset="77"/>
            </a:endParaRPr>
          </a:p>
          <a:p>
            <a:r>
              <a:rPr lang="en-US" sz="2400" dirty="0">
                <a:latin typeface="Montserrat" pitchFamily="2" charset="77"/>
              </a:rPr>
              <a:t>=&gt; </a:t>
            </a:r>
            <a:r>
              <a:rPr lang="en-US" sz="2400" dirty="0" err="1">
                <a:latin typeface="Montserrat" pitchFamily="2" charset="77"/>
              </a:rPr>
              <a:t>Giúp</a:t>
            </a:r>
            <a:r>
              <a:rPr lang="en-US" sz="2400" dirty="0">
                <a:latin typeface="Montserrat" pitchFamily="2" charset="77"/>
              </a:rPr>
              <a:t> </a:t>
            </a:r>
            <a:r>
              <a:rPr lang="en-US" sz="2400" dirty="0" err="1">
                <a:latin typeface="Montserrat" pitchFamily="2" charset="77"/>
              </a:rPr>
              <a:t>đảm</a:t>
            </a:r>
            <a:r>
              <a:rPr lang="en-US" sz="2400" dirty="0">
                <a:latin typeface="Montserrat" pitchFamily="2" charset="77"/>
              </a:rPr>
              <a:t> </a:t>
            </a:r>
            <a:r>
              <a:rPr lang="en-US" sz="2400" dirty="0" err="1">
                <a:latin typeface="Montserrat" pitchFamily="2" charset="77"/>
              </a:rPr>
              <a:t>bảo</a:t>
            </a:r>
            <a:r>
              <a:rPr lang="en-US" sz="2400" dirty="0">
                <a:latin typeface="Montserrat" pitchFamily="2" charset="77"/>
              </a:rPr>
              <a:t> </a:t>
            </a:r>
            <a:r>
              <a:rPr lang="en-US" sz="2400" dirty="0" err="1">
                <a:latin typeface="Montserrat" pitchFamily="2" charset="77"/>
              </a:rPr>
              <a:t>quản</a:t>
            </a:r>
            <a:r>
              <a:rPr lang="en-US" sz="2400" dirty="0">
                <a:latin typeface="Montserrat" pitchFamily="2" charset="77"/>
              </a:rPr>
              <a:t> </a:t>
            </a:r>
            <a:r>
              <a:rPr lang="en-US" sz="2400" dirty="0" err="1">
                <a:latin typeface="Montserrat" pitchFamily="2" charset="77"/>
              </a:rPr>
              <a:t>lý</a:t>
            </a:r>
            <a:r>
              <a:rPr lang="en-US" sz="2400" dirty="0">
                <a:latin typeface="Montserrat" pitchFamily="2" charset="77"/>
              </a:rPr>
              <a:t> </a:t>
            </a:r>
            <a:r>
              <a:rPr lang="en-US" sz="2400" dirty="0" err="1">
                <a:latin typeface="Montserrat" pitchFamily="2" charset="77"/>
              </a:rPr>
              <a:t>tài</a:t>
            </a:r>
            <a:r>
              <a:rPr lang="en-US" sz="2400" dirty="0">
                <a:latin typeface="Montserrat" pitchFamily="2" charset="77"/>
              </a:rPr>
              <a:t> </a:t>
            </a:r>
            <a:r>
              <a:rPr lang="en-US" sz="2400" dirty="0" err="1">
                <a:latin typeface="Montserrat" pitchFamily="2" charset="77"/>
              </a:rPr>
              <a:t>nguyên</a:t>
            </a:r>
            <a:r>
              <a:rPr lang="en-US" sz="2400" dirty="0">
                <a:latin typeface="Montserrat" pitchFamily="2" charset="77"/>
              </a:rPr>
              <a:t> </a:t>
            </a:r>
            <a:r>
              <a:rPr lang="en-US" sz="2400" dirty="0" err="1">
                <a:latin typeface="Montserrat" pitchFamily="2" charset="77"/>
              </a:rPr>
              <a:t>đúng</a:t>
            </a:r>
            <a:r>
              <a:rPr lang="en-US" sz="2400" dirty="0">
                <a:latin typeface="Montserrat" pitchFamily="2" charset="77"/>
              </a:rPr>
              <a:t> </a:t>
            </a:r>
            <a:r>
              <a:rPr lang="en-US" sz="2400" dirty="0" err="1">
                <a:latin typeface="Montserrat" pitchFamily="2" charset="77"/>
              </a:rPr>
              <a:t>cách</a:t>
            </a:r>
            <a:r>
              <a:rPr lang="en-US" sz="2400" dirty="0">
                <a:latin typeface="Montserrat" pitchFamily="2" charset="77"/>
              </a:rPr>
              <a:t>.</a:t>
            </a:r>
          </a:p>
        </p:txBody>
      </p:sp>
      <p:pic>
        <p:nvPicPr>
          <p:cNvPr id="13" name="Picture 12" descr="A screenshot of a computer code&#10;&#10;AI-generated content may be incorrect.">
            <a:extLst>
              <a:ext uri="{FF2B5EF4-FFF2-40B4-BE49-F238E27FC236}">
                <a16:creationId xmlns:a16="http://schemas.microsoft.com/office/drawing/2014/main" id="{0D78E37A-A839-268D-600F-146987B49747}"/>
              </a:ext>
            </a:extLst>
          </p:cNvPr>
          <p:cNvPicPr>
            <a:picLocks noChangeAspect="1"/>
          </p:cNvPicPr>
          <p:nvPr/>
        </p:nvPicPr>
        <p:blipFill>
          <a:blip r:embed="rId3"/>
          <a:stretch>
            <a:fillRect/>
          </a:stretch>
        </p:blipFill>
        <p:spPr>
          <a:xfrm>
            <a:off x="6477000" y="3136647"/>
            <a:ext cx="5623560" cy="3376539"/>
          </a:xfrm>
          <a:prstGeom prst="rect">
            <a:avLst/>
          </a:prstGeom>
        </p:spPr>
      </p:pic>
    </p:spTree>
    <p:extLst>
      <p:ext uri="{BB962C8B-B14F-4D97-AF65-F5344CB8AC3E}">
        <p14:creationId xmlns:p14="http://schemas.microsoft.com/office/powerpoint/2010/main" val="2914470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993D6-F022-5442-34AB-B5C45504A04E}"/>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3301EF64-5371-9F96-D87C-C5D66B5473AF}"/>
              </a:ext>
            </a:extLst>
          </p:cNvPr>
          <p:cNvSpPr txBox="1">
            <a:spLocks/>
          </p:cNvSpPr>
          <p:nvPr/>
        </p:nvSpPr>
        <p:spPr>
          <a:xfrm>
            <a:off x="2365340" y="254186"/>
            <a:ext cx="8836059"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a:solidFill>
                  <a:srgbClr val="FAA61A"/>
                </a:solidFill>
                <a:latin typeface="Montserrat" pitchFamily="2" charset="77"/>
                <a:ea typeface="Montserrat ExtraBold"/>
                <a:cs typeface="Montserrat ExtraBold"/>
                <a:sym typeface="Montserrat ExtraBold"/>
              </a:rPr>
              <a:t>4.7 </a:t>
            </a:r>
            <a:r>
              <a:rPr lang="en-US" sz="3300" b="1" dirty="0" err="1">
                <a:solidFill>
                  <a:srgbClr val="FAA61A"/>
                </a:solidFill>
                <a:latin typeface="Montserrat" pitchFamily="2" charset="77"/>
                <a:ea typeface="Montserrat ExtraBold"/>
                <a:cs typeface="Montserrat ExtraBold"/>
                <a:sym typeface="Montserrat ExtraBold"/>
              </a:rPr>
              <a:t>Đa</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kế</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thừa</a:t>
            </a:r>
            <a:r>
              <a:rPr lang="en-US" sz="3300" b="1" dirty="0">
                <a:solidFill>
                  <a:srgbClr val="FAA61A"/>
                </a:solidFill>
                <a:latin typeface="Montserrat" pitchFamily="2" charset="77"/>
                <a:ea typeface="Montserrat ExtraBold"/>
                <a:cs typeface="Montserrat ExtraBold"/>
                <a:sym typeface="Montserrat ExtraBold"/>
              </a:rPr>
              <a:t> (Multiple Inheritance)</a:t>
            </a:r>
          </a:p>
        </p:txBody>
      </p:sp>
      <p:sp>
        <p:nvSpPr>
          <p:cNvPr id="15" name="Content Placeholder 5">
            <a:extLst>
              <a:ext uri="{FF2B5EF4-FFF2-40B4-BE49-F238E27FC236}">
                <a16:creationId xmlns:a16="http://schemas.microsoft.com/office/drawing/2014/main" id="{B05FE1FB-755E-3C7E-6B7C-22C4F413930B}"/>
              </a:ext>
            </a:extLst>
          </p:cNvPr>
          <p:cNvSpPr txBox="1">
            <a:spLocks/>
          </p:cNvSpPr>
          <p:nvPr/>
        </p:nvSpPr>
        <p:spPr>
          <a:xfrm>
            <a:off x="432843" y="1513320"/>
            <a:ext cx="11090638"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r>
              <a:rPr lang="en-VN" sz="2500" dirty="0">
                <a:latin typeface="Montserrat" pitchFamily="2" charset="77"/>
              </a:rPr>
              <a:t>Khái niệm:</a:t>
            </a:r>
          </a:p>
        </p:txBody>
      </p:sp>
      <p:sp>
        <p:nvSpPr>
          <p:cNvPr id="3" name="TextBox 2">
            <a:extLst>
              <a:ext uri="{FF2B5EF4-FFF2-40B4-BE49-F238E27FC236}">
                <a16:creationId xmlns:a16="http://schemas.microsoft.com/office/drawing/2014/main" id="{8FE84DA6-4AF7-4E45-3C98-61BCEBEB972B}"/>
              </a:ext>
            </a:extLst>
          </p:cNvPr>
          <p:cNvSpPr txBox="1"/>
          <p:nvPr/>
        </p:nvSpPr>
        <p:spPr>
          <a:xfrm>
            <a:off x="444001" y="2013331"/>
            <a:ext cx="9997440" cy="1200329"/>
          </a:xfrm>
          <a:prstGeom prst="rect">
            <a:avLst/>
          </a:prstGeom>
          <a:noFill/>
        </p:spPr>
        <p:txBody>
          <a:bodyPr wrap="square">
            <a:spAutoFit/>
          </a:bodyPr>
          <a:lstStyle/>
          <a:p>
            <a:pPr algn="just"/>
            <a:r>
              <a:rPr lang="vi-VN" sz="2400" dirty="0">
                <a:latin typeface="Montserrat" pitchFamily="2" charset="77"/>
              </a:rPr>
              <a:t>Một lớp có thể kế thừa từ nhiều lớp cơ sở, nhờ đó kết hợp nhiều đặc tính. Tuy nhiên, điều này có thể dẫn tới xung đột (ví dụ diamond problem).</a:t>
            </a:r>
            <a:endParaRPr lang="en-VN" sz="2400" dirty="0">
              <a:latin typeface="Montserrat" pitchFamily="2" charset="77"/>
            </a:endParaRPr>
          </a:p>
        </p:txBody>
      </p:sp>
      <p:sp>
        <p:nvSpPr>
          <p:cNvPr id="6" name="TextBox 5">
            <a:extLst>
              <a:ext uri="{FF2B5EF4-FFF2-40B4-BE49-F238E27FC236}">
                <a16:creationId xmlns:a16="http://schemas.microsoft.com/office/drawing/2014/main" id="{A59CC20E-F9B0-B89A-7A01-A37892ADAAF7}"/>
              </a:ext>
            </a:extLst>
          </p:cNvPr>
          <p:cNvSpPr txBox="1"/>
          <p:nvPr/>
        </p:nvSpPr>
        <p:spPr>
          <a:xfrm>
            <a:off x="457200" y="3429000"/>
            <a:ext cx="6217920" cy="2308324"/>
          </a:xfrm>
          <a:prstGeom prst="rect">
            <a:avLst/>
          </a:prstGeom>
          <a:noFill/>
        </p:spPr>
        <p:txBody>
          <a:bodyPr wrap="square">
            <a:spAutoFit/>
          </a:bodyPr>
          <a:lstStyle/>
          <a:p>
            <a:pPr marL="342900" indent="-342900" algn="just">
              <a:buFont typeface="Wingdings" pitchFamily="2" charset="2"/>
              <a:buChar char="v"/>
            </a:pPr>
            <a:r>
              <a:rPr lang="vi-VN" sz="2400" dirty="0">
                <a:latin typeface="Montserrat" pitchFamily="2" charset="77"/>
              </a:rPr>
              <a:t>Ưu điểm: linh hoạt, kết hợp </a:t>
            </a:r>
          </a:p>
          <a:p>
            <a:pPr algn="just"/>
            <a:r>
              <a:rPr lang="vi-VN" sz="2400" dirty="0">
                <a:latin typeface="Montserrat" pitchFamily="2" charset="77"/>
              </a:rPr>
              <a:t>tính năng.</a:t>
            </a:r>
          </a:p>
          <a:p>
            <a:pPr algn="just"/>
            <a:endParaRPr lang="vi-VN" sz="2400" dirty="0">
              <a:latin typeface="Montserrat" pitchFamily="2" charset="77"/>
            </a:endParaRPr>
          </a:p>
          <a:p>
            <a:pPr marL="342900" indent="-342900" algn="just">
              <a:buFont typeface="Wingdings" pitchFamily="2" charset="2"/>
              <a:buChar char="v"/>
            </a:pPr>
            <a:r>
              <a:rPr lang="vi-VN" sz="2400" dirty="0">
                <a:latin typeface="Montserrat" pitchFamily="2" charset="77"/>
              </a:rPr>
              <a:t>Nhược điểm: phức tạp, dễ trùng lặp.</a:t>
            </a:r>
          </a:p>
          <a:p>
            <a:pPr marL="342900" indent="-342900" algn="just">
              <a:buFont typeface="Wingdings" pitchFamily="2" charset="2"/>
              <a:buChar char="v"/>
            </a:pPr>
            <a:endParaRPr lang="vi-VN" sz="2400" dirty="0">
              <a:latin typeface="Montserrat" pitchFamily="2" charset="77"/>
            </a:endParaRPr>
          </a:p>
          <a:p>
            <a:pPr marL="342900" indent="-342900" algn="just">
              <a:buFont typeface="Wingdings" pitchFamily="2" charset="2"/>
              <a:buChar char="v"/>
            </a:pPr>
            <a:r>
              <a:rPr lang="vi-VN" sz="2400" dirty="0">
                <a:latin typeface="Montserrat" pitchFamily="2" charset="77"/>
              </a:rPr>
              <a:t>Giải pháp: dùng </a:t>
            </a:r>
            <a:r>
              <a:rPr lang="vi-VN" sz="2400" b="1" dirty="0">
                <a:latin typeface="Montserrat" pitchFamily="2" charset="77"/>
              </a:rPr>
              <a:t>virtual inheritance</a:t>
            </a:r>
            <a:r>
              <a:rPr lang="vi-VN" sz="2400" dirty="0">
                <a:latin typeface="Montserrat" pitchFamily="2" charset="77"/>
              </a:rPr>
              <a:t>.</a:t>
            </a:r>
          </a:p>
        </p:txBody>
      </p:sp>
      <p:pic>
        <p:nvPicPr>
          <p:cNvPr id="8" name="Picture 7" descr="A group of text on a white background&#10;&#10;AI-generated content may be incorrect.">
            <a:extLst>
              <a:ext uri="{FF2B5EF4-FFF2-40B4-BE49-F238E27FC236}">
                <a16:creationId xmlns:a16="http://schemas.microsoft.com/office/drawing/2014/main" id="{E2E1B744-8DA5-9CDF-4247-4F2E25A69DE7}"/>
              </a:ext>
            </a:extLst>
          </p:cNvPr>
          <p:cNvPicPr>
            <a:picLocks noChangeAspect="1"/>
          </p:cNvPicPr>
          <p:nvPr/>
        </p:nvPicPr>
        <p:blipFill>
          <a:blip r:embed="rId3"/>
          <a:stretch>
            <a:fillRect/>
          </a:stretch>
        </p:blipFill>
        <p:spPr>
          <a:xfrm>
            <a:off x="6675120" y="3429000"/>
            <a:ext cx="5334000" cy="2886050"/>
          </a:xfrm>
          <a:prstGeom prst="rect">
            <a:avLst/>
          </a:prstGeom>
        </p:spPr>
      </p:pic>
    </p:spTree>
    <p:extLst>
      <p:ext uri="{BB962C8B-B14F-4D97-AF65-F5344CB8AC3E}">
        <p14:creationId xmlns:p14="http://schemas.microsoft.com/office/powerpoint/2010/main" val="3832902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D35F1-061B-D993-7104-B5AD4ED4E1A1}"/>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AE19E8EA-C48C-339D-9F17-CB7B87478FA4}"/>
              </a:ext>
            </a:extLst>
          </p:cNvPr>
          <p:cNvSpPr txBox="1">
            <a:spLocks/>
          </p:cNvSpPr>
          <p:nvPr/>
        </p:nvSpPr>
        <p:spPr>
          <a:xfrm>
            <a:off x="2365340" y="254186"/>
            <a:ext cx="8836059" cy="655569"/>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a:solidFill>
                  <a:srgbClr val="FAA61A"/>
                </a:solidFill>
                <a:latin typeface="Montserrat" pitchFamily="2" charset="77"/>
                <a:ea typeface="Montserrat ExtraBold"/>
                <a:cs typeface="Montserrat ExtraBold"/>
                <a:sym typeface="Montserrat ExtraBold"/>
              </a:rPr>
              <a:t>4.7 </a:t>
            </a:r>
            <a:r>
              <a:rPr lang="en-US" sz="3300" b="1" dirty="0" err="1">
                <a:solidFill>
                  <a:srgbClr val="FAA61A"/>
                </a:solidFill>
                <a:latin typeface="Montserrat" pitchFamily="2" charset="77"/>
                <a:ea typeface="Montserrat ExtraBold"/>
                <a:cs typeface="Montserrat ExtraBold"/>
                <a:sym typeface="Montserrat ExtraBold"/>
              </a:rPr>
              <a:t>Lớp</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cơ</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sở</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ảo</a:t>
            </a:r>
            <a:r>
              <a:rPr lang="en-US" sz="3300" b="1" dirty="0">
                <a:solidFill>
                  <a:srgbClr val="FAA61A"/>
                </a:solidFill>
                <a:latin typeface="Montserrat" pitchFamily="2" charset="77"/>
                <a:ea typeface="Montserrat ExtraBold"/>
                <a:cs typeface="Montserrat ExtraBold"/>
                <a:sym typeface="Montserrat ExtraBold"/>
              </a:rPr>
              <a:t> (</a:t>
            </a:r>
            <a:r>
              <a:rPr lang="en-US" sz="3600" b="1" dirty="0">
                <a:solidFill>
                  <a:schemeClr val="accent6"/>
                </a:solidFill>
                <a:latin typeface="Montserrat" pitchFamily="2" charset="77"/>
              </a:rPr>
              <a:t>Virtual Base Classes</a:t>
            </a:r>
            <a:r>
              <a:rPr lang="en-US" sz="3300" b="1" dirty="0">
                <a:solidFill>
                  <a:srgbClr val="FAA61A"/>
                </a:solidFill>
                <a:latin typeface="Montserrat" pitchFamily="2" charset="77"/>
                <a:ea typeface="Montserrat ExtraBold"/>
                <a:cs typeface="Montserrat ExtraBold"/>
                <a:sym typeface="Montserrat ExtraBold"/>
              </a:rPr>
              <a:t>)</a:t>
            </a:r>
          </a:p>
        </p:txBody>
      </p:sp>
      <p:sp>
        <p:nvSpPr>
          <p:cNvPr id="15" name="Content Placeholder 5">
            <a:extLst>
              <a:ext uri="{FF2B5EF4-FFF2-40B4-BE49-F238E27FC236}">
                <a16:creationId xmlns:a16="http://schemas.microsoft.com/office/drawing/2014/main" id="{C230A9FC-3036-B509-CD47-284A765680BE}"/>
              </a:ext>
            </a:extLst>
          </p:cNvPr>
          <p:cNvSpPr txBox="1">
            <a:spLocks/>
          </p:cNvSpPr>
          <p:nvPr/>
        </p:nvSpPr>
        <p:spPr>
          <a:xfrm>
            <a:off x="432843" y="1513320"/>
            <a:ext cx="11090638"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r>
              <a:rPr lang="en-VN" sz="2500" dirty="0">
                <a:latin typeface="Montserrat" pitchFamily="2" charset="77"/>
              </a:rPr>
              <a:t>Khái niệm:</a:t>
            </a:r>
          </a:p>
        </p:txBody>
      </p:sp>
      <p:sp>
        <p:nvSpPr>
          <p:cNvPr id="3" name="TextBox 2">
            <a:extLst>
              <a:ext uri="{FF2B5EF4-FFF2-40B4-BE49-F238E27FC236}">
                <a16:creationId xmlns:a16="http://schemas.microsoft.com/office/drawing/2014/main" id="{5AD39724-B9A8-55C2-ECA3-3D76FB0E2F82}"/>
              </a:ext>
            </a:extLst>
          </p:cNvPr>
          <p:cNvSpPr txBox="1"/>
          <p:nvPr/>
        </p:nvSpPr>
        <p:spPr>
          <a:xfrm>
            <a:off x="444001" y="2013331"/>
            <a:ext cx="9842999" cy="2308324"/>
          </a:xfrm>
          <a:prstGeom prst="rect">
            <a:avLst/>
          </a:prstGeom>
          <a:noFill/>
        </p:spPr>
        <p:txBody>
          <a:bodyPr wrap="square">
            <a:spAutoFit/>
          </a:bodyPr>
          <a:lstStyle/>
          <a:p>
            <a:pPr algn="just"/>
            <a:r>
              <a:rPr lang="vi-VN" sz="2400" dirty="0">
                <a:latin typeface="Montserrat" pitchFamily="2" charset="77"/>
              </a:rPr>
              <a:t>Trong đa kế thừa, nếu nhiều lớp dẫn xuất cùng kế thừa từ một lớp cơ sở chung, lớp “cháu” sẽ thừa hưởng nhiều bản sao của lớp cơ sở → gây trùng lặp dữ liệu (diamond problem).</a:t>
            </a:r>
            <a:br>
              <a:rPr lang="vi-VN" sz="2400" dirty="0">
                <a:latin typeface="Montserrat" pitchFamily="2" charset="77"/>
              </a:rPr>
            </a:br>
            <a:r>
              <a:rPr lang="vi-VN" sz="2400" dirty="0">
                <a:latin typeface="Montserrat" pitchFamily="2" charset="77"/>
              </a:rPr>
              <a:t>Để tránh điều này, ta khai báo lớp cơ sở với từ khóa </a:t>
            </a:r>
            <a:r>
              <a:rPr lang="vi-VN" sz="2400" b="1" dirty="0">
                <a:latin typeface="Montserrat" pitchFamily="2" charset="77"/>
              </a:rPr>
              <a:t>virtual</a:t>
            </a:r>
            <a:r>
              <a:rPr lang="vi-VN" sz="2400" dirty="0">
                <a:latin typeface="Montserrat" pitchFamily="2" charset="77"/>
              </a:rPr>
              <a:t> khi kế thừa. Nhờ đó, lớp “cháu” chỉ có </a:t>
            </a:r>
            <a:r>
              <a:rPr lang="vi-VN" sz="2400" b="1" dirty="0">
                <a:latin typeface="Montserrat" pitchFamily="2" charset="77"/>
              </a:rPr>
              <a:t>một bản duy nhất</a:t>
            </a:r>
            <a:r>
              <a:rPr lang="vi-VN" sz="2400" dirty="0">
                <a:latin typeface="Montserrat" pitchFamily="2" charset="77"/>
              </a:rPr>
              <a:t> của lớp cơ sở chung.</a:t>
            </a:r>
            <a:endParaRPr lang="en-VN" sz="2400" dirty="0">
              <a:latin typeface="Montserrat" pitchFamily="2" charset="77"/>
            </a:endParaRPr>
          </a:p>
        </p:txBody>
      </p:sp>
      <p:sp>
        <p:nvSpPr>
          <p:cNvPr id="6" name="TextBox 5">
            <a:extLst>
              <a:ext uri="{FF2B5EF4-FFF2-40B4-BE49-F238E27FC236}">
                <a16:creationId xmlns:a16="http://schemas.microsoft.com/office/drawing/2014/main" id="{B8502BEA-E1BA-75AA-E8A7-CB825E055AAF}"/>
              </a:ext>
            </a:extLst>
          </p:cNvPr>
          <p:cNvSpPr txBox="1"/>
          <p:nvPr/>
        </p:nvSpPr>
        <p:spPr>
          <a:xfrm>
            <a:off x="3398520" y="4643077"/>
            <a:ext cx="8275320" cy="1938992"/>
          </a:xfrm>
          <a:prstGeom prst="rect">
            <a:avLst/>
          </a:prstGeom>
          <a:noFill/>
        </p:spPr>
        <p:txBody>
          <a:bodyPr wrap="square">
            <a:spAutoFit/>
          </a:bodyPr>
          <a:lstStyle/>
          <a:p>
            <a:pPr marL="342900" indent="-342900" algn="just">
              <a:buFont typeface="Wingdings" pitchFamily="2" charset="2"/>
              <a:buChar char="v"/>
            </a:pPr>
            <a:r>
              <a:rPr lang="en-US" sz="2400" dirty="0" err="1">
                <a:latin typeface="Montserrat" pitchFamily="2" charset="77"/>
              </a:rPr>
              <a:t>Giải</a:t>
            </a:r>
            <a:r>
              <a:rPr lang="en-US" sz="2400" dirty="0">
                <a:latin typeface="Montserrat" pitchFamily="2" charset="77"/>
              </a:rPr>
              <a:t> </a:t>
            </a:r>
            <a:r>
              <a:rPr lang="en-US" sz="2400" dirty="0" err="1">
                <a:latin typeface="Montserrat" pitchFamily="2" charset="77"/>
              </a:rPr>
              <a:t>quyết</a:t>
            </a:r>
            <a:r>
              <a:rPr lang="en-US" sz="2400" dirty="0">
                <a:latin typeface="Montserrat" pitchFamily="2" charset="77"/>
              </a:rPr>
              <a:t> </a:t>
            </a:r>
            <a:r>
              <a:rPr lang="en-US" sz="2400" b="1" dirty="0">
                <a:latin typeface="Montserrat" pitchFamily="2" charset="77"/>
              </a:rPr>
              <a:t>diamond problem</a:t>
            </a:r>
            <a:r>
              <a:rPr lang="en-US" sz="2400" dirty="0">
                <a:latin typeface="Montserrat" pitchFamily="2" charset="77"/>
              </a:rPr>
              <a:t> </a:t>
            </a:r>
            <a:r>
              <a:rPr lang="en-US" sz="2400" dirty="0" err="1">
                <a:latin typeface="Montserrat" pitchFamily="2" charset="77"/>
              </a:rPr>
              <a:t>trong</a:t>
            </a:r>
            <a:r>
              <a:rPr lang="en-US" sz="2400" dirty="0">
                <a:latin typeface="Montserrat" pitchFamily="2" charset="77"/>
              </a:rPr>
              <a:t> multiple inheritance.</a:t>
            </a:r>
          </a:p>
          <a:p>
            <a:pPr marL="342900" indent="-342900" algn="just">
              <a:buFont typeface="Wingdings" pitchFamily="2" charset="2"/>
              <a:buChar char="v"/>
            </a:pPr>
            <a:r>
              <a:rPr lang="en-US" sz="2400" dirty="0" err="1">
                <a:latin typeface="Montserrat" pitchFamily="2" charset="77"/>
              </a:rPr>
              <a:t>Đảm</a:t>
            </a:r>
            <a:r>
              <a:rPr lang="en-US" sz="2400" dirty="0">
                <a:latin typeface="Montserrat" pitchFamily="2" charset="77"/>
              </a:rPr>
              <a:t> </a:t>
            </a:r>
            <a:r>
              <a:rPr lang="en-US" sz="2400" dirty="0" err="1">
                <a:latin typeface="Montserrat" pitchFamily="2" charset="77"/>
              </a:rPr>
              <a:t>bảo</a:t>
            </a:r>
            <a:r>
              <a:rPr lang="en-US" sz="2400" dirty="0">
                <a:latin typeface="Montserrat" pitchFamily="2" charset="77"/>
              </a:rPr>
              <a:t> </a:t>
            </a:r>
            <a:r>
              <a:rPr lang="en-US" sz="2400" dirty="0" err="1">
                <a:latin typeface="Montserrat" pitchFamily="2" charset="77"/>
              </a:rPr>
              <a:t>chỉ</a:t>
            </a:r>
            <a:r>
              <a:rPr lang="en-US" sz="2400" dirty="0">
                <a:latin typeface="Montserrat" pitchFamily="2" charset="77"/>
              </a:rPr>
              <a:t> </a:t>
            </a:r>
            <a:r>
              <a:rPr lang="en-US" sz="2400" dirty="0" err="1">
                <a:latin typeface="Montserrat" pitchFamily="2" charset="77"/>
              </a:rPr>
              <a:t>tồn</a:t>
            </a:r>
            <a:r>
              <a:rPr lang="en-US" sz="2400" dirty="0">
                <a:latin typeface="Montserrat" pitchFamily="2" charset="77"/>
              </a:rPr>
              <a:t> </a:t>
            </a:r>
            <a:r>
              <a:rPr lang="en-US" sz="2400" dirty="0" err="1">
                <a:latin typeface="Montserrat" pitchFamily="2" charset="77"/>
              </a:rPr>
              <a:t>tại</a:t>
            </a:r>
            <a:r>
              <a:rPr lang="en-US" sz="2400" dirty="0">
                <a:latin typeface="Montserrat" pitchFamily="2" charset="77"/>
              </a:rPr>
              <a:t> </a:t>
            </a:r>
            <a:r>
              <a:rPr lang="en-US" sz="2400" b="1" dirty="0" err="1">
                <a:latin typeface="Montserrat" pitchFamily="2" charset="77"/>
              </a:rPr>
              <a:t>một</a:t>
            </a:r>
            <a:r>
              <a:rPr lang="en-US" sz="2400" b="1" dirty="0">
                <a:latin typeface="Montserrat" pitchFamily="2" charset="77"/>
              </a:rPr>
              <a:t> </a:t>
            </a:r>
            <a:r>
              <a:rPr lang="en-US" sz="2400" b="1" dirty="0" err="1">
                <a:latin typeface="Montserrat" pitchFamily="2" charset="77"/>
              </a:rPr>
              <a:t>bản</a:t>
            </a:r>
            <a:r>
              <a:rPr lang="en-US" sz="2400" b="1" dirty="0">
                <a:latin typeface="Montserrat" pitchFamily="2" charset="77"/>
              </a:rPr>
              <a:t> </a:t>
            </a:r>
            <a:r>
              <a:rPr lang="en-US" sz="2400" b="1" dirty="0" err="1">
                <a:latin typeface="Montserrat" pitchFamily="2" charset="77"/>
              </a:rPr>
              <a:t>sao</a:t>
            </a:r>
            <a:r>
              <a:rPr lang="en-US" sz="2400" b="1" dirty="0">
                <a:latin typeface="Montserrat" pitchFamily="2" charset="77"/>
              </a:rPr>
              <a:t> </a:t>
            </a:r>
            <a:r>
              <a:rPr lang="en-US" sz="2400" b="1" dirty="0" err="1">
                <a:latin typeface="Montserrat" pitchFamily="2" charset="77"/>
              </a:rPr>
              <a:t>duy</a:t>
            </a:r>
            <a:r>
              <a:rPr lang="en-US" sz="2400" b="1" dirty="0">
                <a:latin typeface="Montserrat" pitchFamily="2" charset="77"/>
              </a:rPr>
              <a:t> </a:t>
            </a:r>
            <a:r>
              <a:rPr lang="en-US" sz="2400" b="1" dirty="0" err="1">
                <a:latin typeface="Montserrat" pitchFamily="2" charset="77"/>
              </a:rPr>
              <a:t>nhất</a:t>
            </a:r>
            <a:r>
              <a:rPr lang="en-US" sz="2400" dirty="0">
                <a:latin typeface="Montserrat" pitchFamily="2" charset="77"/>
              </a:rPr>
              <a:t> </a:t>
            </a:r>
            <a:r>
              <a:rPr lang="en-US" sz="2400" dirty="0" err="1">
                <a:latin typeface="Montserrat" pitchFamily="2" charset="77"/>
              </a:rPr>
              <a:t>của</a:t>
            </a:r>
            <a:r>
              <a:rPr lang="en-US" sz="2400" dirty="0">
                <a:latin typeface="Montserrat" pitchFamily="2" charset="77"/>
              </a:rPr>
              <a:t> base class.</a:t>
            </a:r>
          </a:p>
          <a:p>
            <a:pPr marL="342900" indent="-342900" algn="just">
              <a:buFont typeface="Wingdings" pitchFamily="2" charset="2"/>
              <a:buChar char="v"/>
            </a:pPr>
            <a:r>
              <a:rPr lang="en-US" sz="2400" dirty="0">
                <a:latin typeface="Montserrat" pitchFamily="2" charset="77"/>
              </a:rPr>
              <a:t>Cú </a:t>
            </a:r>
            <a:r>
              <a:rPr lang="en-US" sz="2400" dirty="0" err="1">
                <a:latin typeface="Montserrat" pitchFamily="2" charset="77"/>
              </a:rPr>
              <a:t>pháp</a:t>
            </a:r>
            <a:r>
              <a:rPr lang="en-US" sz="2400" dirty="0">
                <a:latin typeface="Montserrat" pitchFamily="2" charset="77"/>
              </a:rPr>
              <a:t>:</a:t>
            </a:r>
          </a:p>
        </p:txBody>
      </p:sp>
      <p:sp>
        <p:nvSpPr>
          <p:cNvPr id="2" name="TextBox 1">
            <a:extLst>
              <a:ext uri="{FF2B5EF4-FFF2-40B4-BE49-F238E27FC236}">
                <a16:creationId xmlns:a16="http://schemas.microsoft.com/office/drawing/2014/main" id="{9154BA73-435B-E3AF-DFD5-16A71DAB2C4B}"/>
              </a:ext>
            </a:extLst>
          </p:cNvPr>
          <p:cNvSpPr txBox="1"/>
          <p:nvPr/>
        </p:nvSpPr>
        <p:spPr>
          <a:xfrm>
            <a:off x="1859280" y="5150908"/>
            <a:ext cx="1407758" cy="461665"/>
          </a:xfrm>
          <a:prstGeom prst="rect">
            <a:avLst/>
          </a:prstGeom>
          <a:noFill/>
        </p:spPr>
        <p:txBody>
          <a:bodyPr wrap="none" rtlCol="0">
            <a:spAutoFit/>
          </a:bodyPr>
          <a:lstStyle/>
          <a:p>
            <a:r>
              <a:rPr lang="en-VN" sz="2400" dirty="0">
                <a:latin typeface="Montserrat" pitchFamily="2" charset="77"/>
              </a:rPr>
              <a:t>Ý chính:</a:t>
            </a:r>
          </a:p>
        </p:txBody>
      </p:sp>
      <p:pic>
        <p:nvPicPr>
          <p:cNvPr id="9" name="Picture 8">
            <a:extLst>
              <a:ext uri="{FF2B5EF4-FFF2-40B4-BE49-F238E27FC236}">
                <a16:creationId xmlns:a16="http://schemas.microsoft.com/office/drawing/2014/main" id="{1123E81E-EE0E-171B-C1E0-210292A31A68}"/>
              </a:ext>
            </a:extLst>
          </p:cNvPr>
          <p:cNvPicPr>
            <a:picLocks noChangeAspect="1"/>
          </p:cNvPicPr>
          <p:nvPr/>
        </p:nvPicPr>
        <p:blipFill>
          <a:blip r:embed="rId3"/>
          <a:stretch>
            <a:fillRect/>
          </a:stretch>
        </p:blipFill>
        <p:spPr>
          <a:xfrm>
            <a:off x="5319780" y="6111240"/>
            <a:ext cx="6015708" cy="501309"/>
          </a:xfrm>
          <a:prstGeom prst="rect">
            <a:avLst/>
          </a:prstGeom>
        </p:spPr>
      </p:pic>
    </p:spTree>
    <p:extLst>
      <p:ext uri="{BB962C8B-B14F-4D97-AF65-F5344CB8AC3E}">
        <p14:creationId xmlns:p14="http://schemas.microsoft.com/office/powerpoint/2010/main" val="4066909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87691-044C-FBE6-205B-8A601201C91E}"/>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D94337DF-4625-FB80-65A8-D35FE7FF56BA}"/>
              </a:ext>
            </a:extLst>
          </p:cNvPr>
          <p:cNvSpPr txBox="1">
            <a:spLocks/>
          </p:cNvSpPr>
          <p:nvPr/>
        </p:nvSpPr>
        <p:spPr>
          <a:xfrm>
            <a:off x="2365340" y="254186"/>
            <a:ext cx="8836059" cy="655569"/>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a:solidFill>
                  <a:srgbClr val="FAA61A"/>
                </a:solidFill>
                <a:latin typeface="Montserrat" pitchFamily="2" charset="77"/>
                <a:ea typeface="Montserrat ExtraBold"/>
                <a:cs typeface="Montserrat ExtraBold"/>
                <a:sym typeface="Montserrat ExtraBold"/>
              </a:rPr>
              <a:t>4.7 </a:t>
            </a:r>
            <a:r>
              <a:rPr lang="en-US" sz="3300" b="1" dirty="0" err="1">
                <a:solidFill>
                  <a:srgbClr val="FAA61A"/>
                </a:solidFill>
                <a:latin typeface="Montserrat" pitchFamily="2" charset="77"/>
                <a:ea typeface="Montserrat ExtraBold"/>
                <a:cs typeface="Montserrat ExtraBold"/>
                <a:sym typeface="Montserrat ExtraBold"/>
              </a:rPr>
              <a:t>Lớp</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cơ</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sở</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ảo</a:t>
            </a:r>
            <a:r>
              <a:rPr lang="en-US" sz="3300" b="1" dirty="0">
                <a:solidFill>
                  <a:srgbClr val="FAA61A"/>
                </a:solidFill>
                <a:latin typeface="Montserrat" pitchFamily="2" charset="77"/>
                <a:ea typeface="Montserrat ExtraBold"/>
                <a:cs typeface="Montserrat ExtraBold"/>
                <a:sym typeface="Montserrat ExtraBold"/>
              </a:rPr>
              <a:t> (</a:t>
            </a:r>
            <a:r>
              <a:rPr lang="en-US" sz="3600" b="1" dirty="0">
                <a:solidFill>
                  <a:schemeClr val="accent6"/>
                </a:solidFill>
                <a:latin typeface="Montserrat" pitchFamily="2" charset="77"/>
              </a:rPr>
              <a:t>Virtual Base Classes</a:t>
            </a:r>
            <a:r>
              <a:rPr lang="en-US" sz="3300" b="1" dirty="0">
                <a:solidFill>
                  <a:srgbClr val="FAA61A"/>
                </a:solidFill>
                <a:latin typeface="Montserrat" pitchFamily="2" charset="77"/>
                <a:ea typeface="Montserrat ExtraBold"/>
                <a:cs typeface="Montserrat ExtraBold"/>
                <a:sym typeface="Montserrat ExtraBold"/>
              </a:rPr>
              <a:t>)</a:t>
            </a:r>
          </a:p>
        </p:txBody>
      </p:sp>
      <p:sp>
        <p:nvSpPr>
          <p:cNvPr id="15" name="Content Placeholder 5">
            <a:extLst>
              <a:ext uri="{FF2B5EF4-FFF2-40B4-BE49-F238E27FC236}">
                <a16:creationId xmlns:a16="http://schemas.microsoft.com/office/drawing/2014/main" id="{8D6DCAFF-97DD-239F-CF1D-812BA286F76C}"/>
              </a:ext>
            </a:extLst>
          </p:cNvPr>
          <p:cNvSpPr txBox="1">
            <a:spLocks/>
          </p:cNvSpPr>
          <p:nvPr/>
        </p:nvSpPr>
        <p:spPr>
          <a:xfrm>
            <a:off x="417603" y="1332492"/>
            <a:ext cx="11090638"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r>
              <a:rPr lang="en-VN" sz="2500" dirty="0">
                <a:latin typeface="Montserrat" pitchFamily="2" charset="77"/>
              </a:rPr>
              <a:t>Diamond Problem?</a:t>
            </a:r>
          </a:p>
        </p:txBody>
      </p:sp>
      <p:pic>
        <p:nvPicPr>
          <p:cNvPr id="7" name="Picture 6" descr="A close-up of a bird&#10;&#10;AI-generated content may be incorrect.">
            <a:extLst>
              <a:ext uri="{FF2B5EF4-FFF2-40B4-BE49-F238E27FC236}">
                <a16:creationId xmlns:a16="http://schemas.microsoft.com/office/drawing/2014/main" id="{6CDBF4C8-A13B-3C6F-1310-8B84CB5B7C8B}"/>
              </a:ext>
            </a:extLst>
          </p:cNvPr>
          <p:cNvPicPr>
            <a:picLocks noChangeAspect="1"/>
          </p:cNvPicPr>
          <p:nvPr/>
        </p:nvPicPr>
        <p:blipFill>
          <a:blip r:embed="rId3"/>
          <a:stretch>
            <a:fillRect/>
          </a:stretch>
        </p:blipFill>
        <p:spPr>
          <a:xfrm>
            <a:off x="417602" y="2899944"/>
            <a:ext cx="2508477" cy="2854426"/>
          </a:xfrm>
          <a:prstGeom prst="rect">
            <a:avLst/>
          </a:prstGeom>
        </p:spPr>
      </p:pic>
      <p:sp>
        <p:nvSpPr>
          <p:cNvPr id="10" name="TextBox 9">
            <a:extLst>
              <a:ext uri="{FF2B5EF4-FFF2-40B4-BE49-F238E27FC236}">
                <a16:creationId xmlns:a16="http://schemas.microsoft.com/office/drawing/2014/main" id="{753682C8-C1A7-4D21-0517-39ABF904C897}"/>
              </a:ext>
            </a:extLst>
          </p:cNvPr>
          <p:cNvSpPr txBox="1"/>
          <p:nvPr/>
        </p:nvSpPr>
        <p:spPr>
          <a:xfrm>
            <a:off x="3202940" y="4355068"/>
            <a:ext cx="8717280" cy="1938992"/>
          </a:xfrm>
          <a:prstGeom prst="rect">
            <a:avLst/>
          </a:prstGeom>
          <a:noFill/>
        </p:spPr>
        <p:txBody>
          <a:bodyPr wrap="square">
            <a:spAutoFit/>
          </a:bodyPr>
          <a:lstStyle/>
          <a:p>
            <a:pPr marL="342900" indent="-342900">
              <a:buFont typeface="Wingdings" pitchFamily="2" charset="2"/>
              <a:buChar char="v"/>
            </a:pPr>
            <a:r>
              <a:rPr lang="en-US" sz="2400" i="1" dirty="0">
                <a:latin typeface="Montserrat" pitchFamily="2" charset="77"/>
              </a:rPr>
              <a:t>Mammal</a:t>
            </a:r>
            <a:r>
              <a:rPr lang="en-US" sz="2400" dirty="0">
                <a:latin typeface="Montserrat" pitchFamily="2" charset="77"/>
              </a:rPr>
              <a:t> </a:t>
            </a:r>
            <a:r>
              <a:rPr lang="en-US" sz="2400" dirty="0" err="1">
                <a:latin typeface="Montserrat" pitchFamily="2" charset="77"/>
              </a:rPr>
              <a:t>kế</a:t>
            </a:r>
            <a:r>
              <a:rPr lang="en-US" sz="2400" dirty="0">
                <a:latin typeface="Montserrat" pitchFamily="2" charset="77"/>
              </a:rPr>
              <a:t> </a:t>
            </a:r>
            <a:r>
              <a:rPr lang="en-US" sz="2400" dirty="0" err="1">
                <a:latin typeface="Montserrat" pitchFamily="2" charset="77"/>
              </a:rPr>
              <a:t>thừa</a:t>
            </a:r>
            <a:r>
              <a:rPr lang="en-US" sz="2400" dirty="0">
                <a:latin typeface="Montserrat" pitchFamily="2" charset="77"/>
              </a:rPr>
              <a:t> </a:t>
            </a:r>
            <a:r>
              <a:rPr lang="en-US" sz="2400" dirty="0" err="1">
                <a:latin typeface="Montserrat" pitchFamily="2" charset="77"/>
              </a:rPr>
              <a:t>từ</a:t>
            </a:r>
            <a:r>
              <a:rPr lang="en-US" sz="2400" dirty="0">
                <a:latin typeface="Montserrat" pitchFamily="2" charset="77"/>
              </a:rPr>
              <a:t> </a:t>
            </a:r>
            <a:r>
              <a:rPr lang="en-US" sz="2400" i="1" dirty="0">
                <a:latin typeface="Montserrat" pitchFamily="2" charset="77"/>
              </a:rPr>
              <a:t>Animal</a:t>
            </a:r>
          </a:p>
          <a:p>
            <a:pPr marL="342900" indent="-342900">
              <a:buFont typeface="Wingdings" pitchFamily="2" charset="2"/>
              <a:buChar char="v"/>
            </a:pPr>
            <a:r>
              <a:rPr lang="en-US" sz="2400" i="1" dirty="0">
                <a:latin typeface="Montserrat" pitchFamily="2" charset="77"/>
              </a:rPr>
              <a:t>Bird</a:t>
            </a:r>
            <a:r>
              <a:rPr lang="en-US" sz="2400" dirty="0">
                <a:latin typeface="Montserrat" pitchFamily="2" charset="77"/>
              </a:rPr>
              <a:t> </a:t>
            </a:r>
            <a:r>
              <a:rPr lang="en-US" sz="2400" dirty="0" err="1">
                <a:latin typeface="Montserrat" pitchFamily="2" charset="77"/>
              </a:rPr>
              <a:t>kế</a:t>
            </a:r>
            <a:r>
              <a:rPr lang="en-US" sz="2400" dirty="0">
                <a:latin typeface="Montserrat" pitchFamily="2" charset="77"/>
              </a:rPr>
              <a:t> </a:t>
            </a:r>
            <a:r>
              <a:rPr lang="en-US" sz="2400" dirty="0" err="1">
                <a:latin typeface="Montserrat" pitchFamily="2" charset="77"/>
              </a:rPr>
              <a:t>thừa</a:t>
            </a:r>
            <a:r>
              <a:rPr lang="en-US" sz="2400" dirty="0">
                <a:latin typeface="Montserrat" pitchFamily="2" charset="77"/>
              </a:rPr>
              <a:t> </a:t>
            </a:r>
            <a:r>
              <a:rPr lang="en-US" sz="2400" dirty="0" err="1">
                <a:latin typeface="Montserrat" pitchFamily="2" charset="77"/>
              </a:rPr>
              <a:t>từ</a:t>
            </a:r>
            <a:r>
              <a:rPr lang="en-US" sz="2400" dirty="0">
                <a:latin typeface="Montserrat" pitchFamily="2" charset="77"/>
              </a:rPr>
              <a:t> </a:t>
            </a:r>
            <a:r>
              <a:rPr lang="en-US" sz="2400" i="1" dirty="0">
                <a:latin typeface="Montserrat" pitchFamily="2" charset="77"/>
              </a:rPr>
              <a:t>Animal</a:t>
            </a:r>
          </a:p>
          <a:p>
            <a:pPr marL="342900" indent="-342900">
              <a:buFont typeface="Wingdings" pitchFamily="2" charset="2"/>
              <a:buChar char="v"/>
            </a:pPr>
            <a:r>
              <a:rPr lang="en-US" sz="2400" i="1" dirty="0">
                <a:latin typeface="Montserrat" pitchFamily="2" charset="77"/>
              </a:rPr>
              <a:t>Bat</a:t>
            </a:r>
            <a:r>
              <a:rPr lang="en-US" sz="2400" dirty="0">
                <a:latin typeface="Montserrat" pitchFamily="2" charset="77"/>
              </a:rPr>
              <a:t> </a:t>
            </a:r>
            <a:r>
              <a:rPr lang="en-US" sz="2400" dirty="0" err="1">
                <a:latin typeface="Montserrat" pitchFamily="2" charset="77"/>
              </a:rPr>
              <a:t>kế</a:t>
            </a:r>
            <a:r>
              <a:rPr lang="en-US" sz="2400" dirty="0">
                <a:latin typeface="Montserrat" pitchFamily="2" charset="77"/>
              </a:rPr>
              <a:t> </a:t>
            </a:r>
            <a:r>
              <a:rPr lang="en-US" sz="2400" dirty="0" err="1">
                <a:latin typeface="Montserrat" pitchFamily="2" charset="77"/>
              </a:rPr>
              <a:t>thừa</a:t>
            </a:r>
            <a:r>
              <a:rPr lang="en-US" sz="2400" dirty="0">
                <a:latin typeface="Montserrat" pitchFamily="2" charset="77"/>
              </a:rPr>
              <a:t> </a:t>
            </a:r>
            <a:r>
              <a:rPr lang="en-US" sz="2400" dirty="0" err="1">
                <a:latin typeface="Montserrat" pitchFamily="2" charset="77"/>
              </a:rPr>
              <a:t>từ</a:t>
            </a:r>
            <a:r>
              <a:rPr lang="en-US" sz="2400" dirty="0">
                <a:latin typeface="Montserrat" pitchFamily="2" charset="77"/>
              </a:rPr>
              <a:t> </a:t>
            </a:r>
            <a:r>
              <a:rPr lang="en-US" sz="2400" dirty="0" err="1">
                <a:latin typeface="Montserrat" pitchFamily="2" charset="77"/>
              </a:rPr>
              <a:t>cả</a:t>
            </a:r>
            <a:r>
              <a:rPr lang="en-US" sz="2400" dirty="0">
                <a:latin typeface="Montserrat" pitchFamily="2" charset="77"/>
              </a:rPr>
              <a:t> </a:t>
            </a:r>
            <a:r>
              <a:rPr lang="en-US" sz="2400" i="1" dirty="0">
                <a:latin typeface="Montserrat" pitchFamily="2" charset="77"/>
              </a:rPr>
              <a:t>Mammal</a:t>
            </a:r>
            <a:r>
              <a:rPr lang="en-US" sz="2400" dirty="0">
                <a:latin typeface="Montserrat" pitchFamily="2" charset="77"/>
              </a:rPr>
              <a:t> </a:t>
            </a:r>
            <a:r>
              <a:rPr lang="en-US" sz="2400" dirty="0" err="1">
                <a:latin typeface="Montserrat" pitchFamily="2" charset="77"/>
              </a:rPr>
              <a:t>và</a:t>
            </a:r>
            <a:r>
              <a:rPr lang="en-US" sz="2400" dirty="0">
                <a:latin typeface="Montserrat" pitchFamily="2" charset="77"/>
              </a:rPr>
              <a:t> </a:t>
            </a:r>
            <a:r>
              <a:rPr lang="en-US" sz="2400" i="1" dirty="0">
                <a:latin typeface="Montserrat" pitchFamily="2" charset="77"/>
              </a:rPr>
              <a:t>Bird</a:t>
            </a:r>
          </a:p>
          <a:p>
            <a:pPr>
              <a:buNone/>
            </a:pPr>
            <a:endParaRPr lang="en-US" sz="2400" dirty="0">
              <a:latin typeface="Montserrat" pitchFamily="2" charset="77"/>
            </a:endParaRPr>
          </a:p>
          <a:p>
            <a:pPr>
              <a:buNone/>
            </a:pPr>
            <a:r>
              <a:rPr lang="vi-VN" sz="2400" dirty="0">
                <a:latin typeface="Montserrat" pitchFamily="2" charset="77"/>
              </a:rPr>
              <a:t>Kết quả: Bat có </a:t>
            </a:r>
            <a:r>
              <a:rPr lang="vi-VN" sz="2400" b="1" dirty="0">
                <a:latin typeface="Montserrat" pitchFamily="2" charset="77"/>
              </a:rPr>
              <a:t>2 bản sao của Animal</a:t>
            </a:r>
            <a:r>
              <a:rPr lang="vi-VN" sz="2400" dirty="0">
                <a:latin typeface="Montserrat" pitchFamily="2" charset="77"/>
              </a:rPr>
              <a:t> → gây mơ hồ.</a:t>
            </a:r>
            <a:endParaRPr lang="en-US" sz="2400" dirty="0">
              <a:latin typeface="Montserrat" pitchFamily="2" charset="77"/>
            </a:endParaRPr>
          </a:p>
        </p:txBody>
      </p:sp>
      <p:sp>
        <p:nvSpPr>
          <p:cNvPr id="12" name="TextBox 11">
            <a:extLst>
              <a:ext uri="{FF2B5EF4-FFF2-40B4-BE49-F238E27FC236}">
                <a16:creationId xmlns:a16="http://schemas.microsoft.com/office/drawing/2014/main" id="{644F2B44-6FD4-2060-4E7F-59CD1394B29C}"/>
              </a:ext>
            </a:extLst>
          </p:cNvPr>
          <p:cNvSpPr txBox="1"/>
          <p:nvPr/>
        </p:nvSpPr>
        <p:spPr>
          <a:xfrm>
            <a:off x="3977640" y="1286772"/>
            <a:ext cx="7942580" cy="2462213"/>
          </a:xfrm>
          <a:prstGeom prst="rect">
            <a:avLst/>
          </a:prstGeom>
          <a:noFill/>
        </p:spPr>
        <p:txBody>
          <a:bodyPr wrap="square">
            <a:spAutoFit/>
          </a:bodyPr>
          <a:lstStyle/>
          <a:p>
            <a:pPr>
              <a:buNone/>
            </a:pPr>
            <a:r>
              <a:rPr lang="vi-VN" sz="2200" dirty="0">
                <a:latin typeface="Montserrat" pitchFamily="2" charset="77"/>
              </a:rPr>
              <a:t>Diamond problem là </a:t>
            </a:r>
            <a:r>
              <a:rPr lang="vi-VN" sz="2200" b="1" dirty="0">
                <a:latin typeface="Montserrat" pitchFamily="2" charset="77"/>
              </a:rPr>
              <a:t>vấn đề mơ hồ (ambiguity)</a:t>
            </a:r>
            <a:r>
              <a:rPr lang="vi-VN" sz="2200" dirty="0">
                <a:latin typeface="Montserrat" pitchFamily="2" charset="77"/>
              </a:rPr>
              <a:t> xuất hiện trong </a:t>
            </a:r>
            <a:r>
              <a:rPr lang="vi-VN" sz="2200" b="1" dirty="0">
                <a:latin typeface="Montserrat" pitchFamily="2" charset="77"/>
              </a:rPr>
              <a:t>đa kế thừa</a:t>
            </a:r>
            <a:r>
              <a:rPr lang="vi-VN" sz="2200" dirty="0">
                <a:latin typeface="Montserrat" pitchFamily="2" charset="77"/>
              </a:rPr>
              <a:t> khi một lớp dẫn xuất kế thừa từ </a:t>
            </a:r>
            <a:r>
              <a:rPr lang="vi-VN" sz="2200" b="1" dirty="0">
                <a:latin typeface="Montserrat" pitchFamily="2" charset="77"/>
              </a:rPr>
              <a:t>hai lớp trung gian</a:t>
            </a:r>
            <a:r>
              <a:rPr lang="vi-VN" sz="2200" dirty="0">
                <a:latin typeface="Montserrat" pitchFamily="2" charset="77"/>
              </a:rPr>
              <a:t>, mà cả hai lớp này lại cùng kế thừa từ </a:t>
            </a:r>
            <a:r>
              <a:rPr lang="vi-VN" sz="2200" b="1" dirty="0">
                <a:latin typeface="Montserrat" pitchFamily="2" charset="77"/>
              </a:rPr>
              <a:t>một lớp cơ sở chung</a:t>
            </a:r>
            <a:r>
              <a:rPr lang="vi-VN" sz="2200" dirty="0">
                <a:latin typeface="Montserrat" pitchFamily="2" charset="77"/>
              </a:rPr>
              <a:t>.</a:t>
            </a:r>
          </a:p>
          <a:p>
            <a:pPr>
              <a:buNone/>
            </a:pPr>
            <a:endParaRPr lang="vi-VN" sz="2200" dirty="0">
              <a:latin typeface="Montserrat" pitchFamily="2" charset="77"/>
            </a:endParaRPr>
          </a:p>
          <a:p>
            <a:pPr>
              <a:buNone/>
            </a:pPr>
            <a:r>
              <a:rPr lang="vi-VN" sz="2200" dirty="0">
                <a:latin typeface="Montserrat" pitchFamily="2" charset="77"/>
              </a:rPr>
              <a:t>Hình dạng sơ đồ kế thừa giống như </a:t>
            </a:r>
            <a:r>
              <a:rPr lang="vi-VN" sz="2200" b="1" dirty="0">
                <a:latin typeface="Montserrat" pitchFamily="2" charset="77"/>
              </a:rPr>
              <a:t>hình kim cương (diamond)</a:t>
            </a:r>
            <a:r>
              <a:rPr lang="vi-VN" sz="2200" dirty="0">
                <a:latin typeface="Montserrat" pitchFamily="2" charset="77"/>
              </a:rPr>
              <a:t>, nên gọi là </a:t>
            </a:r>
            <a:r>
              <a:rPr lang="vi-VN" sz="2200" i="1" dirty="0">
                <a:latin typeface="Montserrat" pitchFamily="2" charset="77"/>
              </a:rPr>
              <a:t>diamond problem</a:t>
            </a:r>
            <a:r>
              <a:rPr lang="vi-VN" sz="2200" dirty="0">
                <a:latin typeface="Montserrat" pitchFamily="2" charset="77"/>
              </a:rPr>
              <a:t>.</a:t>
            </a:r>
          </a:p>
        </p:txBody>
      </p:sp>
    </p:spTree>
    <p:extLst>
      <p:ext uri="{BB962C8B-B14F-4D97-AF65-F5344CB8AC3E}">
        <p14:creationId xmlns:p14="http://schemas.microsoft.com/office/powerpoint/2010/main" val="3964369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64FBC-41B5-E57D-3552-3D6FEFE84C24}"/>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861AC120-327E-0DEE-3CC3-B696DF5B5492}"/>
              </a:ext>
            </a:extLst>
          </p:cNvPr>
          <p:cNvSpPr txBox="1">
            <a:spLocks/>
          </p:cNvSpPr>
          <p:nvPr/>
        </p:nvSpPr>
        <p:spPr>
          <a:xfrm>
            <a:off x="2365340" y="254186"/>
            <a:ext cx="8836059"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err="1">
                <a:solidFill>
                  <a:srgbClr val="FAA61A"/>
                </a:solidFill>
                <a:latin typeface="Montserrat" pitchFamily="2" charset="77"/>
                <a:ea typeface="Montserrat ExtraBold"/>
                <a:cs typeface="Montserrat ExtraBold"/>
                <a:sym typeface="Montserrat ExtraBold"/>
              </a:rPr>
              <a:t>Ví</a:t>
            </a:r>
            <a:r>
              <a:rPr lang="en-US" sz="3300" b="1" dirty="0">
                <a:solidFill>
                  <a:srgbClr val="FAA61A"/>
                </a:solidFill>
                <a:latin typeface="Montserrat" pitchFamily="2" charset="77"/>
                <a:ea typeface="Montserrat ExtraBold"/>
                <a:cs typeface="Montserrat ExtraBold"/>
                <a:sym typeface="Montserrat ExtraBold"/>
              </a:rPr>
              <a:t> </a:t>
            </a:r>
            <a:r>
              <a:rPr lang="en-US" sz="3300" b="1" dirty="0" err="1">
                <a:solidFill>
                  <a:srgbClr val="FAA61A"/>
                </a:solidFill>
                <a:latin typeface="Montserrat" pitchFamily="2" charset="77"/>
                <a:ea typeface="Montserrat ExtraBold"/>
                <a:cs typeface="Montserrat ExtraBold"/>
                <a:sym typeface="Montserrat ExtraBold"/>
              </a:rPr>
              <a:t>dụ</a:t>
            </a:r>
            <a:r>
              <a:rPr lang="en-US" sz="3300" b="1" dirty="0">
                <a:solidFill>
                  <a:srgbClr val="FAA61A"/>
                </a:solidFill>
                <a:latin typeface="Montserrat" pitchFamily="2" charset="77"/>
                <a:ea typeface="Montserrat ExtraBold"/>
                <a:cs typeface="Montserrat ExtraBold"/>
                <a:sym typeface="Montserrat ExtraBold"/>
              </a:rPr>
              <a:t>: So </a:t>
            </a:r>
            <a:r>
              <a:rPr lang="en-US" sz="3300" b="1" dirty="0" err="1">
                <a:solidFill>
                  <a:srgbClr val="FAA61A"/>
                </a:solidFill>
                <a:latin typeface="Montserrat" pitchFamily="2" charset="77"/>
                <a:ea typeface="Montserrat ExtraBold"/>
                <a:cs typeface="Montserrat ExtraBold"/>
                <a:sym typeface="Montserrat ExtraBold"/>
              </a:rPr>
              <a:t>sánh</a:t>
            </a:r>
            <a:endParaRPr lang="en-US" sz="3300" b="1" dirty="0">
              <a:solidFill>
                <a:srgbClr val="FAA61A"/>
              </a:solidFill>
              <a:latin typeface="Montserrat" pitchFamily="2" charset="77"/>
              <a:ea typeface="Montserrat ExtraBold"/>
              <a:cs typeface="Montserrat ExtraBold"/>
              <a:sym typeface="Montserrat ExtraBold"/>
            </a:endParaRPr>
          </a:p>
        </p:txBody>
      </p:sp>
      <p:pic>
        <p:nvPicPr>
          <p:cNvPr id="5" name="Picture 4" descr="A screenshot of a computer code&#10;&#10;AI-generated content may be incorrect.">
            <a:extLst>
              <a:ext uri="{FF2B5EF4-FFF2-40B4-BE49-F238E27FC236}">
                <a16:creationId xmlns:a16="http://schemas.microsoft.com/office/drawing/2014/main" id="{3C2C7693-D654-0A46-0992-8272D28D46C7}"/>
              </a:ext>
            </a:extLst>
          </p:cNvPr>
          <p:cNvPicPr>
            <a:picLocks noChangeAspect="1"/>
          </p:cNvPicPr>
          <p:nvPr/>
        </p:nvPicPr>
        <p:blipFill>
          <a:blip r:embed="rId3"/>
          <a:stretch>
            <a:fillRect/>
          </a:stretch>
        </p:blipFill>
        <p:spPr>
          <a:xfrm>
            <a:off x="469092" y="1440882"/>
            <a:ext cx="4562605" cy="3526642"/>
          </a:xfrm>
          <a:prstGeom prst="rect">
            <a:avLst/>
          </a:prstGeom>
        </p:spPr>
      </p:pic>
      <p:pic>
        <p:nvPicPr>
          <p:cNvPr id="12" name="Picture 11" descr="A screen shot of a computer code&#10;&#10;AI-generated content may be incorrect.">
            <a:extLst>
              <a:ext uri="{FF2B5EF4-FFF2-40B4-BE49-F238E27FC236}">
                <a16:creationId xmlns:a16="http://schemas.microsoft.com/office/drawing/2014/main" id="{1A6DF5B6-82F2-D9A7-0264-1A90B50D6BBF}"/>
              </a:ext>
            </a:extLst>
          </p:cNvPr>
          <p:cNvPicPr>
            <a:picLocks noChangeAspect="1"/>
          </p:cNvPicPr>
          <p:nvPr/>
        </p:nvPicPr>
        <p:blipFill>
          <a:blip r:embed="rId4"/>
          <a:stretch>
            <a:fillRect/>
          </a:stretch>
        </p:blipFill>
        <p:spPr>
          <a:xfrm>
            <a:off x="6096000" y="1124450"/>
            <a:ext cx="4562605" cy="3740197"/>
          </a:xfrm>
          <a:prstGeom prst="rect">
            <a:avLst/>
          </a:prstGeom>
          <a:effectLst>
            <a:outerShdw blurRad="564408" dist="855079" dir="16268736" sx="1000" sy="1000" algn="ctr" rotWithShape="0">
              <a:srgbClr val="000000">
                <a:alpha val="43137"/>
              </a:srgbClr>
            </a:outerShdw>
          </a:effectLst>
          <a:scene3d>
            <a:camera prst="orthographicFront"/>
            <a:lightRig rig="threePt" dir="t"/>
          </a:scene3d>
          <a:sp3d>
            <a:bevelT w="12700" h="88900"/>
            <a:bevelB w="12700"/>
          </a:sp3d>
        </p:spPr>
      </p:pic>
      <p:sp>
        <p:nvSpPr>
          <p:cNvPr id="14" name="TextBox 13">
            <a:extLst>
              <a:ext uri="{FF2B5EF4-FFF2-40B4-BE49-F238E27FC236}">
                <a16:creationId xmlns:a16="http://schemas.microsoft.com/office/drawing/2014/main" id="{798C9724-DC11-4E2B-691F-54B0B3F1E7E2}"/>
              </a:ext>
            </a:extLst>
          </p:cNvPr>
          <p:cNvSpPr txBox="1"/>
          <p:nvPr/>
        </p:nvSpPr>
        <p:spPr>
          <a:xfrm>
            <a:off x="1615440" y="5133396"/>
            <a:ext cx="9433560" cy="1569660"/>
          </a:xfrm>
          <a:prstGeom prst="rect">
            <a:avLst/>
          </a:prstGeom>
          <a:noFill/>
        </p:spPr>
        <p:txBody>
          <a:bodyPr wrap="square">
            <a:spAutoFit/>
          </a:bodyPr>
          <a:lstStyle/>
          <a:p>
            <a:pPr marL="342900" indent="-342900" algn="just">
              <a:buFont typeface="Wingdings" pitchFamily="2" charset="2"/>
              <a:buChar char="v"/>
            </a:pPr>
            <a:r>
              <a:rPr lang="vi-VN" sz="2400" dirty="0">
                <a:latin typeface="Montserrat" pitchFamily="2" charset="77"/>
              </a:rPr>
              <a:t>Nếu </a:t>
            </a:r>
            <a:r>
              <a:rPr lang="vi-VN" sz="2400" b="1" dirty="0">
                <a:latin typeface="Montserrat" pitchFamily="2" charset="77"/>
              </a:rPr>
              <a:t>không dùng virtual</a:t>
            </a:r>
            <a:r>
              <a:rPr lang="vi-VN" sz="2400" dirty="0">
                <a:latin typeface="Montserrat" pitchFamily="2" charset="77"/>
              </a:rPr>
              <a:t> → Bat có </a:t>
            </a:r>
            <a:r>
              <a:rPr lang="vi-VN" sz="2400" b="1" dirty="0">
                <a:latin typeface="Montserrat" pitchFamily="2" charset="77"/>
              </a:rPr>
              <a:t>2 bản sao Animal</a:t>
            </a:r>
            <a:r>
              <a:rPr lang="vi-VN" sz="2400" dirty="0">
                <a:latin typeface="Montserrat" pitchFamily="2" charset="77"/>
              </a:rPr>
              <a:t>, b.Mammal::age và b.Bird::age.</a:t>
            </a:r>
          </a:p>
          <a:p>
            <a:pPr marL="342900" indent="-342900" algn="just">
              <a:buFont typeface="Wingdings" pitchFamily="2" charset="2"/>
              <a:buChar char="v"/>
            </a:pPr>
            <a:r>
              <a:rPr lang="vi-VN" sz="2400" dirty="0">
                <a:latin typeface="Montserrat" pitchFamily="2" charset="77"/>
              </a:rPr>
              <a:t>Nếu </a:t>
            </a:r>
            <a:r>
              <a:rPr lang="vi-VN" sz="2400" b="1" dirty="0">
                <a:latin typeface="Montserrat" pitchFamily="2" charset="77"/>
              </a:rPr>
              <a:t>dùng virtual</a:t>
            </a:r>
            <a:r>
              <a:rPr lang="vi-VN" sz="2400" dirty="0">
                <a:latin typeface="Montserrat" pitchFamily="2" charset="77"/>
              </a:rPr>
              <a:t> → Bat chỉ có </a:t>
            </a:r>
            <a:r>
              <a:rPr lang="vi-VN" sz="2400" b="1" dirty="0">
                <a:latin typeface="Montserrat" pitchFamily="2" charset="77"/>
              </a:rPr>
              <a:t>1 bản sao Animal</a:t>
            </a:r>
            <a:r>
              <a:rPr lang="vi-VN" sz="2400" dirty="0">
                <a:latin typeface="Montserrat" pitchFamily="2" charset="77"/>
              </a:rPr>
              <a:t> → tránh mơ hồ.</a:t>
            </a:r>
          </a:p>
        </p:txBody>
      </p:sp>
    </p:spTree>
    <p:extLst>
      <p:ext uri="{BB962C8B-B14F-4D97-AF65-F5344CB8AC3E}">
        <p14:creationId xmlns:p14="http://schemas.microsoft.com/office/powerpoint/2010/main" val="1401615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81AD7-447D-F604-1070-A7A788315560}"/>
            </a:ext>
          </a:extLst>
        </p:cNvPr>
        <p:cNvGrpSpPr/>
        <p:nvPr/>
      </p:nvGrpSpPr>
      <p:grpSpPr>
        <a:xfrm>
          <a:off x="0" y="0"/>
          <a:ext cx="0" cy="0"/>
          <a:chOff x="0" y="0"/>
          <a:chExt cx="0" cy="0"/>
        </a:xfrm>
      </p:grpSpPr>
      <p:sp>
        <p:nvSpPr>
          <p:cNvPr id="4" name="Google Shape;46;p1">
            <a:extLst>
              <a:ext uri="{FF2B5EF4-FFF2-40B4-BE49-F238E27FC236}">
                <a16:creationId xmlns:a16="http://schemas.microsoft.com/office/drawing/2014/main" id="{58C0562A-2AA2-BEB4-2123-0C60DFC092A1}"/>
              </a:ext>
            </a:extLst>
          </p:cNvPr>
          <p:cNvSpPr txBox="1">
            <a:spLocks/>
          </p:cNvSpPr>
          <p:nvPr/>
        </p:nvSpPr>
        <p:spPr>
          <a:xfrm>
            <a:off x="2365340" y="254186"/>
            <a:ext cx="8836059" cy="601515"/>
          </a:xfrm>
          <a:prstGeom prst="rect">
            <a:avLst/>
          </a:prstGeom>
          <a:noFill/>
          <a:ln>
            <a:noFill/>
          </a:ln>
        </p:spPr>
        <p:txBody>
          <a:bodyPr spcFirstLastPara="1" wrap="square" lIns="0" tIns="7307"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701">
              <a:lnSpc>
                <a:spcPct val="116824"/>
              </a:lnSpc>
              <a:buSzPts val="1400"/>
            </a:pPr>
            <a:r>
              <a:rPr lang="en-US" sz="3300" b="1" dirty="0">
                <a:solidFill>
                  <a:srgbClr val="FAA61A"/>
                </a:solidFill>
                <a:latin typeface="Montserrat" pitchFamily="2" charset="77"/>
                <a:ea typeface="Montserrat ExtraBold"/>
                <a:cs typeface="Montserrat ExtraBold"/>
                <a:sym typeface="Montserrat ExtraBold"/>
              </a:rPr>
              <a:t>TỔNG KẾT</a:t>
            </a:r>
          </a:p>
        </p:txBody>
      </p:sp>
      <p:sp>
        <p:nvSpPr>
          <p:cNvPr id="12" name="TextBox 11">
            <a:extLst>
              <a:ext uri="{FF2B5EF4-FFF2-40B4-BE49-F238E27FC236}">
                <a16:creationId xmlns:a16="http://schemas.microsoft.com/office/drawing/2014/main" id="{C52DC388-D128-98FF-5BEF-6D2285499E94}"/>
              </a:ext>
            </a:extLst>
          </p:cNvPr>
          <p:cNvSpPr txBox="1"/>
          <p:nvPr/>
        </p:nvSpPr>
        <p:spPr>
          <a:xfrm>
            <a:off x="609600" y="1286772"/>
            <a:ext cx="11310620" cy="4154984"/>
          </a:xfrm>
          <a:prstGeom prst="rect">
            <a:avLst/>
          </a:prstGeom>
          <a:noFill/>
        </p:spPr>
        <p:txBody>
          <a:bodyPr wrap="square">
            <a:spAutoFit/>
          </a:bodyPr>
          <a:lstStyle/>
          <a:p>
            <a:pPr algn="just"/>
            <a:r>
              <a:rPr lang="vi-VN" sz="2400" b="1" dirty="0">
                <a:latin typeface="Montserrat" pitchFamily="2" charset="77"/>
              </a:rPr>
              <a:t>Kế thừa</a:t>
            </a:r>
            <a:r>
              <a:rPr lang="vi-VN" sz="2400" dirty="0">
                <a:latin typeface="Montserrat" pitchFamily="2" charset="77"/>
              </a:rPr>
              <a:t> là một kỹ thuật quan trọng trong OOP, giúp xây dựng hệ thống phần mềm rõ ràng, dễ mở rộng, đồng thời giảm trùng lặp mã nguồn. Tuy nhiên, việc sử dụng cần cẩn trọng để tránh phức tạp hóa và lạm dụng đa kế thừa.</a:t>
            </a:r>
          </a:p>
          <a:p>
            <a:pPr algn="just"/>
            <a:endParaRPr lang="vi-VN" sz="2400" dirty="0">
              <a:latin typeface="Montserrat" pitchFamily="2" charset="77"/>
            </a:endParaRPr>
          </a:p>
          <a:p>
            <a:pPr algn="just"/>
            <a:r>
              <a:rPr lang="vi-VN" sz="2400" b="1" dirty="0">
                <a:latin typeface="Montserrat" pitchFamily="2" charset="77"/>
              </a:rPr>
              <a:t>Ý chính:</a:t>
            </a:r>
            <a:endParaRPr lang="vi-VN" sz="2400" dirty="0">
              <a:latin typeface="Montserrat" pitchFamily="2" charset="77"/>
            </a:endParaRPr>
          </a:p>
          <a:p>
            <a:pPr marL="342900" indent="-342900" algn="just">
              <a:buFont typeface="Wingdings" pitchFamily="2" charset="2"/>
              <a:buChar char="v"/>
            </a:pPr>
            <a:r>
              <a:rPr lang="vi-VN" sz="2400" dirty="0">
                <a:latin typeface="Montserrat" pitchFamily="2" charset="77"/>
              </a:rPr>
              <a:t>Kế thừa = tái sử dụng &amp; mở rộng lớp.</a:t>
            </a:r>
          </a:p>
          <a:p>
            <a:pPr marL="342900" indent="-342900" algn="just">
              <a:buFont typeface="Wingdings" pitchFamily="2" charset="2"/>
              <a:buChar char="v"/>
            </a:pPr>
            <a:r>
              <a:rPr lang="vi-VN" sz="2400" dirty="0">
                <a:latin typeface="Montserrat" pitchFamily="2" charset="77"/>
              </a:rPr>
              <a:t>Single inheritance: 1 base – 1 derived.</a:t>
            </a:r>
          </a:p>
          <a:p>
            <a:pPr marL="342900" indent="-342900" algn="just">
              <a:buFont typeface="Wingdings" pitchFamily="2" charset="2"/>
              <a:buChar char="v"/>
            </a:pPr>
            <a:r>
              <a:rPr lang="vi-VN" sz="2400" dirty="0">
                <a:latin typeface="Montserrat" pitchFamily="2" charset="77"/>
              </a:rPr>
              <a:t>Access control: public, private, protected.</a:t>
            </a:r>
          </a:p>
          <a:p>
            <a:pPr marL="342900" indent="-342900" algn="just">
              <a:buFont typeface="Wingdings" pitchFamily="2" charset="2"/>
              <a:buChar char="v"/>
            </a:pPr>
            <a:r>
              <a:rPr lang="vi-VN" sz="2400" dirty="0">
                <a:latin typeface="Montserrat" pitchFamily="2" charset="77"/>
              </a:rPr>
              <a:t>Constructor &amp; Destructor gọi theo thứ tự.</a:t>
            </a:r>
          </a:p>
          <a:p>
            <a:pPr marL="342900" indent="-342900" algn="just">
              <a:buFont typeface="Wingdings" pitchFamily="2" charset="2"/>
              <a:buChar char="v"/>
            </a:pPr>
            <a:r>
              <a:rPr lang="vi-VN" sz="2400" dirty="0">
                <a:latin typeface="Montserrat" pitchFamily="2" charset="77"/>
              </a:rPr>
              <a:t>Multiple inheritance mạnh nhưng cần cẩn thận.</a:t>
            </a:r>
          </a:p>
        </p:txBody>
      </p:sp>
    </p:spTree>
    <p:extLst>
      <p:ext uri="{BB962C8B-B14F-4D97-AF65-F5344CB8AC3E}">
        <p14:creationId xmlns:p14="http://schemas.microsoft.com/office/powerpoint/2010/main" val="2341695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4"/>
          <p:cNvSpPr/>
          <p:nvPr/>
        </p:nvSpPr>
        <p:spPr>
          <a:xfrm>
            <a:off x="428" y="0"/>
            <a:ext cx="12191144" cy="6857615"/>
          </a:xfrm>
          <a:custGeom>
            <a:avLst/>
            <a:gdLst/>
            <a:ahLst/>
            <a:cxnLst/>
            <a:rect l="l" t="t" r="r" b="b"/>
            <a:pathLst>
              <a:path w="20104100" h="11308715" extrusionOk="0">
                <a:moveTo>
                  <a:pt x="20104099" y="0"/>
                </a:moveTo>
                <a:lnTo>
                  <a:pt x="0" y="0"/>
                </a:lnTo>
                <a:lnTo>
                  <a:pt x="0" y="11308556"/>
                </a:lnTo>
                <a:lnTo>
                  <a:pt x="20104099" y="11308556"/>
                </a:lnTo>
                <a:lnTo>
                  <a:pt x="20104099" y="0"/>
                </a:lnTo>
                <a:close/>
              </a:path>
            </a:pathLst>
          </a:custGeom>
          <a:solidFill>
            <a:srgbClr val="292A75"/>
          </a:solidFill>
          <a:ln>
            <a:noFill/>
          </a:ln>
        </p:spPr>
        <p:txBody>
          <a:bodyPr spcFirstLastPara="1" wrap="square" lIns="0" tIns="0" rIns="0" bIns="0" anchor="t" anchorCtr="0">
            <a:noAutofit/>
          </a:bodyPr>
          <a:lstStyle/>
          <a:p>
            <a:pPr>
              <a:buSzPts val="1400"/>
            </a:pPr>
            <a:endParaRPr sz="849">
              <a:latin typeface="Montserrat" panose="00000500000000000000" pitchFamily="2" charset="0"/>
            </a:endParaRPr>
          </a:p>
        </p:txBody>
      </p:sp>
      <p:sp>
        <p:nvSpPr>
          <p:cNvPr id="311" name="Google Shape;311;p14"/>
          <p:cNvSpPr txBox="1">
            <a:spLocks noGrp="1"/>
          </p:cNvSpPr>
          <p:nvPr>
            <p:ph type="title" idx="4294967295"/>
          </p:nvPr>
        </p:nvSpPr>
        <p:spPr>
          <a:xfrm>
            <a:off x="105359" y="762095"/>
            <a:ext cx="7260392" cy="930775"/>
          </a:xfrm>
          <a:prstGeom prst="rect">
            <a:avLst/>
          </a:prstGeom>
          <a:noFill/>
          <a:ln>
            <a:noFill/>
          </a:ln>
        </p:spPr>
        <p:txBody>
          <a:bodyPr spcFirstLastPara="1" wrap="square" lIns="0" tIns="6928" rIns="0" bIns="0" anchor="t" anchorCtr="0">
            <a:spAutoFit/>
          </a:bodyPr>
          <a:lstStyle/>
          <a:p>
            <a:pPr marL="7701" marR="3081"/>
            <a:r>
              <a:rPr lang="en-US" sz="6003" dirty="0">
                <a:solidFill>
                  <a:srgbClr val="FAA61A"/>
                </a:solidFill>
                <a:latin typeface="Montserrat" panose="00000500000000000000" pitchFamily="2" charset="0"/>
                <a:ea typeface="Verdana"/>
                <a:cs typeface="Verdana"/>
                <a:sym typeface="Verdana"/>
              </a:rPr>
              <a:t>THANK YOU</a:t>
            </a:r>
            <a:endParaRPr sz="6003" dirty="0">
              <a:solidFill>
                <a:srgbClr val="FAA61A"/>
              </a:solidFill>
              <a:latin typeface="Montserrat" panose="00000500000000000000" pitchFamily="2" charset="0"/>
              <a:ea typeface="Verdana"/>
              <a:cs typeface="Verdana"/>
              <a:sym typeface="Verdana"/>
            </a:endParaRPr>
          </a:p>
        </p:txBody>
      </p:sp>
      <p:sp>
        <p:nvSpPr>
          <p:cNvPr id="312" name="Google Shape;312;p14"/>
          <p:cNvSpPr txBox="1"/>
          <p:nvPr/>
        </p:nvSpPr>
        <p:spPr>
          <a:xfrm>
            <a:off x="3847541" y="5292015"/>
            <a:ext cx="3242475" cy="461442"/>
          </a:xfrm>
          <a:prstGeom prst="rect">
            <a:avLst/>
          </a:prstGeom>
          <a:noFill/>
          <a:ln>
            <a:noFill/>
          </a:ln>
        </p:spPr>
        <p:txBody>
          <a:bodyPr spcFirstLastPara="1" wrap="square" lIns="0" tIns="40038" rIns="0" bIns="0" anchor="t" anchorCtr="0">
            <a:spAutoFit/>
          </a:bodyPr>
          <a:lstStyle/>
          <a:p>
            <a:pPr marL="7701">
              <a:buSzPts val="2050"/>
            </a:pPr>
            <a:r>
              <a:rPr lang="en-US" sz="1243" b="1" dirty="0">
                <a:solidFill>
                  <a:srgbClr val="F8A41A"/>
                </a:solidFill>
                <a:latin typeface="Montserrat" panose="00000500000000000000" pitchFamily="2" charset="0"/>
                <a:ea typeface="Tahoma"/>
                <a:cs typeface="Tahoma"/>
                <a:sym typeface="Tahoma"/>
              </a:rPr>
              <a:t>Học </a:t>
            </a:r>
            <a:r>
              <a:rPr lang="en-US" sz="1243" b="1" dirty="0" err="1">
                <a:solidFill>
                  <a:srgbClr val="F8A41A"/>
                </a:solidFill>
                <a:latin typeface="Montserrat" panose="00000500000000000000" pitchFamily="2" charset="0"/>
                <a:ea typeface="Tahoma"/>
                <a:cs typeface="Tahoma"/>
                <a:sym typeface="Tahoma"/>
              </a:rPr>
              <a:t>viện</a:t>
            </a:r>
            <a:r>
              <a:rPr lang="en-US" sz="1243" b="1" dirty="0">
                <a:solidFill>
                  <a:srgbClr val="F8A41A"/>
                </a:solidFill>
                <a:latin typeface="Montserrat" panose="00000500000000000000" pitchFamily="2" charset="0"/>
                <a:ea typeface="Tahoma"/>
                <a:cs typeface="Tahoma"/>
                <a:sym typeface="Tahoma"/>
              </a:rPr>
              <a:t> Ngân </a:t>
            </a:r>
            <a:r>
              <a:rPr lang="en-US" sz="1243" b="1" dirty="0" err="1">
                <a:solidFill>
                  <a:srgbClr val="F8A41A"/>
                </a:solidFill>
                <a:latin typeface="Montserrat" panose="00000500000000000000" pitchFamily="2" charset="0"/>
                <a:ea typeface="Tahoma"/>
                <a:cs typeface="Tahoma"/>
                <a:sym typeface="Tahoma"/>
              </a:rPr>
              <a:t>hàng</a:t>
            </a:r>
            <a:endParaRPr sz="1243" dirty="0">
              <a:latin typeface="Montserrat" panose="00000500000000000000" pitchFamily="2" charset="0"/>
              <a:ea typeface="Tahoma"/>
              <a:cs typeface="Tahoma"/>
              <a:sym typeface="Tahoma"/>
            </a:endParaRPr>
          </a:p>
          <a:p>
            <a:pPr marL="7701">
              <a:spcBef>
                <a:spcPts val="261"/>
              </a:spcBef>
              <a:buSzPts val="2050"/>
            </a:pPr>
            <a:r>
              <a:rPr lang="en-US" sz="1243" dirty="0">
                <a:solidFill>
                  <a:srgbClr val="FFFFFF"/>
                </a:solidFill>
                <a:latin typeface="Montserrat" panose="00000500000000000000" pitchFamily="2" charset="0"/>
                <a:ea typeface="Verdana"/>
                <a:cs typeface="Verdana"/>
                <a:sym typeface="Verdana"/>
              </a:rPr>
              <a:t>12 P. </a:t>
            </a:r>
            <a:r>
              <a:rPr lang="en-US" sz="1243" dirty="0" err="1">
                <a:solidFill>
                  <a:srgbClr val="FFFFFF"/>
                </a:solidFill>
                <a:latin typeface="Montserrat" panose="00000500000000000000" pitchFamily="2" charset="0"/>
                <a:ea typeface="Verdana"/>
                <a:cs typeface="Verdana"/>
                <a:sym typeface="Verdana"/>
              </a:rPr>
              <a:t>Chùa</a:t>
            </a:r>
            <a:r>
              <a:rPr lang="en-US" sz="1243" dirty="0">
                <a:solidFill>
                  <a:srgbClr val="FFFFFF"/>
                </a:solidFill>
                <a:latin typeface="Montserrat" panose="00000500000000000000" pitchFamily="2" charset="0"/>
                <a:ea typeface="Verdana"/>
                <a:cs typeface="Verdana"/>
                <a:sym typeface="Verdana"/>
              </a:rPr>
              <a:t> </a:t>
            </a:r>
            <a:r>
              <a:rPr lang="en-US" sz="1243" dirty="0" err="1">
                <a:solidFill>
                  <a:srgbClr val="FFFFFF"/>
                </a:solidFill>
                <a:latin typeface="Montserrat" panose="00000500000000000000" pitchFamily="2" charset="0"/>
                <a:ea typeface="Verdana"/>
                <a:cs typeface="Verdana"/>
                <a:sym typeface="Verdana"/>
              </a:rPr>
              <a:t>Bộc</a:t>
            </a:r>
            <a:r>
              <a:rPr lang="en-US" sz="1243" dirty="0">
                <a:solidFill>
                  <a:srgbClr val="FFFFFF"/>
                </a:solidFill>
                <a:latin typeface="Montserrat" panose="00000500000000000000" pitchFamily="2" charset="0"/>
                <a:ea typeface="Verdana"/>
                <a:cs typeface="Verdana"/>
                <a:sym typeface="Verdana"/>
              </a:rPr>
              <a:t>, P. Kim Liên, TP. Hà </a:t>
            </a:r>
            <a:r>
              <a:rPr lang="en-US" sz="1243" dirty="0" err="1">
                <a:solidFill>
                  <a:srgbClr val="FFFFFF"/>
                </a:solidFill>
                <a:latin typeface="Montserrat" panose="00000500000000000000" pitchFamily="2" charset="0"/>
                <a:ea typeface="Verdana"/>
                <a:cs typeface="Verdana"/>
                <a:sym typeface="Verdana"/>
              </a:rPr>
              <a:t>Nội</a:t>
            </a:r>
            <a:endParaRPr sz="1243" dirty="0">
              <a:latin typeface="Montserrat" panose="00000500000000000000" pitchFamily="2" charset="0"/>
              <a:ea typeface="Verdana"/>
              <a:cs typeface="Verdana"/>
              <a:sym typeface="Verdana"/>
            </a:endParaRPr>
          </a:p>
        </p:txBody>
      </p:sp>
      <p:sp>
        <p:nvSpPr>
          <p:cNvPr id="313" name="Google Shape;313;p14"/>
          <p:cNvSpPr txBox="1"/>
          <p:nvPr/>
        </p:nvSpPr>
        <p:spPr>
          <a:xfrm>
            <a:off x="7195192" y="5292016"/>
            <a:ext cx="2708975" cy="691185"/>
          </a:xfrm>
          <a:prstGeom prst="rect">
            <a:avLst/>
          </a:prstGeom>
          <a:noFill/>
          <a:ln>
            <a:noFill/>
          </a:ln>
        </p:spPr>
        <p:txBody>
          <a:bodyPr spcFirstLastPara="1" wrap="square" lIns="0" tIns="40038" rIns="0" bIns="0" anchor="t" anchorCtr="0">
            <a:spAutoFit/>
          </a:bodyPr>
          <a:lstStyle/>
          <a:p>
            <a:pPr marL="7701">
              <a:buSzPts val="2050"/>
            </a:pPr>
            <a:r>
              <a:rPr lang="en-US" sz="1243" b="1" dirty="0">
                <a:solidFill>
                  <a:srgbClr val="F8A41A"/>
                </a:solidFill>
                <a:latin typeface="Montserrat" panose="00000500000000000000" pitchFamily="2" charset="0"/>
                <a:ea typeface="Tahoma"/>
                <a:cs typeface="Tahoma"/>
                <a:sym typeface="Tahoma"/>
              </a:rPr>
              <a:t>T: </a:t>
            </a:r>
            <a:r>
              <a:rPr lang="en-US" sz="1243" dirty="0">
                <a:solidFill>
                  <a:srgbClr val="FFFFFF"/>
                </a:solidFill>
                <a:latin typeface="Montserrat" panose="00000500000000000000" pitchFamily="2" charset="0"/>
                <a:ea typeface="Verdana"/>
                <a:cs typeface="Verdana"/>
                <a:sym typeface="Verdana"/>
              </a:rPr>
              <a:t>1900 561 595 </a:t>
            </a:r>
            <a:r>
              <a:rPr lang="en-US" sz="1243" b="1" dirty="0">
                <a:solidFill>
                  <a:srgbClr val="F8A41A"/>
                </a:solidFill>
                <a:latin typeface="Montserrat" panose="00000500000000000000" pitchFamily="2" charset="0"/>
                <a:ea typeface="Tahoma"/>
                <a:cs typeface="Tahoma"/>
                <a:sym typeface="Tahoma"/>
              </a:rPr>
              <a:t>F: </a:t>
            </a:r>
            <a:r>
              <a:rPr lang="en-US" sz="1243" dirty="0">
                <a:solidFill>
                  <a:srgbClr val="FFFFFF"/>
                </a:solidFill>
                <a:latin typeface="Montserrat" panose="00000500000000000000" pitchFamily="2" charset="0"/>
                <a:ea typeface="Verdana"/>
                <a:cs typeface="Verdana"/>
                <a:sym typeface="Verdana"/>
              </a:rPr>
              <a:t>1900 561 595</a:t>
            </a:r>
            <a:endParaRPr sz="1243" dirty="0">
              <a:latin typeface="Montserrat" panose="00000500000000000000" pitchFamily="2" charset="0"/>
              <a:ea typeface="Verdana"/>
              <a:cs typeface="Verdana"/>
              <a:sym typeface="Verdana"/>
            </a:endParaRPr>
          </a:p>
          <a:p>
            <a:pPr marL="7701">
              <a:spcBef>
                <a:spcPts val="261"/>
              </a:spcBef>
              <a:buSzPts val="2050"/>
            </a:pPr>
            <a:r>
              <a:rPr lang="en-US" sz="1243" b="1" dirty="0">
                <a:solidFill>
                  <a:srgbClr val="F8A41A"/>
                </a:solidFill>
                <a:latin typeface="Montserrat" panose="00000500000000000000" pitchFamily="2" charset="0"/>
                <a:ea typeface="Tahoma"/>
                <a:cs typeface="Tahoma"/>
                <a:sym typeface="Tahoma"/>
              </a:rPr>
              <a:t>E: </a:t>
            </a:r>
            <a:r>
              <a:rPr lang="en-US" sz="1243" u="sng" dirty="0">
                <a:solidFill>
                  <a:srgbClr val="FFFFFF"/>
                </a:solidFill>
                <a:latin typeface="Montserrat" panose="00000500000000000000" pitchFamily="2" charset="0"/>
                <a:ea typeface="Verdana"/>
                <a:cs typeface="Verdana"/>
                <a:sym typeface="Verdana"/>
                <a:hlinkClick r:id="rId3">
                  <a:extLst>
                    <a:ext uri="{A12FA001-AC4F-418D-AE19-62706E023703}">
                      <ahyp:hlinkClr xmlns:ahyp="http://schemas.microsoft.com/office/drawing/2018/hyperlinkcolor" val="tx"/>
                    </a:ext>
                  </a:extLst>
                </a:hlinkClick>
              </a:rPr>
              <a:t>truyenthong@hvnh.edu.vn</a:t>
            </a:r>
            <a:endParaRPr sz="1243" dirty="0">
              <a:latin typeface="Montserrat" panose="00000500000000000000" pitchFamily="2" charset="0"/>
              <a:ea typeface="Verdana"/>
              <a:cs typeface="Verdana"/>
              <a:sym typeface="Verdana"/>
            </a:endParaRPr>
          </a:p>
          <a:p>
            <a:pPr marL="7701">
              <a:spcBef>
                <a:spcPts val="258"/>
              </a:spcBef>
              <a:buSzPts val="2050"/>
            </a:pPr>
            <a:r>
              <a:rPr lang="en-US" sz="1243" b="1" dirty="0">
                <a:solidFill>
                  <a:srgbClr val="F8A41A"/>
                </a:solidFill>
                <a:latin typeface="Montserrat" panose="00000500000000000000" pitchFamily="2" charset="0"/>
                <a:ea typeface="Tahoma"/>
                <a:cs typeface="Tahoma"/>
                <a:sym typeface="Tahoma"/>
              </a:rPr>
              <a:t>W: </a:t>
            </a:r>
            <a:r>
              <a:rPr lang="en-US" sz="1243" u="sng" dirty="0">
                <a:solidFill>
                  <a:srgbClr val="FFFFFF"/>
                </a:solidFill>
                <a:latin typeface="Montserrat" panose="00000500000000000000" pitchFamily="2" charset="0"/>
                <a:ea typeface="Verdana"/>
                <a:cs typeface="Verdana"/>
                <a:sym typeface="Verdana"/>
                <a:hlinkClick r:id="rId4">
                  <a:extLst>
                    <a:ext uri="{A12FA001-AC4F-418D-AE19-62706E023703}">
                      <ahyp:hlinkClr xmlns:ahyp="http://schemas.microsoft.com/office/drawing/2018/hyperlinkcolor" val="tx"/>
                    </a:ext>
                  </a:extLst>
                </a:hlinkClick>
              </a:rPr>
              <a:t>www.hvnh.edu.vn</a:t>
            </a:r>
            <a:endParaRPr sz="1243" dirty="0">
              <a:latin typeface="Montserrat" panose="00000500000000000000" pitchFamily="2" charset="0"/>
              <a:ea typeface="Verdana"/>
              <a:cs typeface="Verdana"/>
              <a:sym typeface="Verdana"/>
            </a:endParaRPr>
          </a:p>
        </p:txBody>
      </p:sp>
      <p:pic>
        <p:nvPicPr>
          <p:cNvPr id="314" name="Google Shape;314;p14" title="Slide template-16.png"/>
          <p:cNvPicPr preferRelativeResize="0"/>
          <p:nvPr/>
        </p:nvPicPr>
        <p:blipFill rotWithShape="1">
          <a:blip r:embed="rId5">
            <a:alphaModFix/>
          </a:blip>
          <a:srcRect/>
          <a:stretch/>
        </p:blipFill>
        <p:spPr>
          <a:xfrm>
            <a:off x="762370" y="5236438"/>
            <a:ext cx="2170719" cy="859467"/>
          </a:xfrm>
          <a:prstGeom prst="rect">
            <a:avLst/>
          </a:prstGeom>
          <a:noFill/>
          <a:ln>
            <a:noFill/>
          </a:ln>
        </p:spPr>
      </p:pic>
    </p:spTree>
  </p:cSld>
  <p:clrMapOvr>
    <a:masterClrMapping/>
  </p:clrMapOvr>
</p:sld>
</file>

<file path=ppt/theme/theme1.xml><?xml version="1.0" encoding="utf-8"?>
<a:theme xmlns:a="http://schemas.openxmlformats.org/drawingml/2006/main" name="Theme1">
  <a:themeElements>
    <a:clrScheme name="Custom 1">
      <a:dk1>
        <a:srgbClr val="000000"/>
      </a:dk1>
      <a:lt1>
        <a:srgbClr val="FFFFFF"/>
      </a:lt1>
      <a:dk2>
        <a:srgbClr val="3E3D2D"/>
      </a:dk2>
      <a:lt2>
        <a:srgbClr val="FFFFFF"/>
      </a:lt2>
      <a:accent1>
        <a:srgbClr val="FF6600"/>
      </a:accent1>
      <a:accent2>
        <a:srgbClr val="71685A"/>
      </a:accent2>
      <a:accent3>
        <a:srgbClr val="FF6700"/>
      </a:accent3>
      <a:accent4>
        <a:srgbClr val="BF4D00"/>
      </a:accent4>
      <a:accent5>
        <a:srgbClr val="956B43"/>
      </a:accent5>
      <a:accent6>
        <a:srgbClr val="FEA022"/>
      </a:accent6>
      <a:hlink>
        <a:srgbClr val="E68200"/>
      </a:hlink>
      <a:folHlink>
        <a:srgbClr val="FFA36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ẬP TRÌNH NÂNG CAO VỚI C++" id="{E6DD7CB8-F97D-4C1A-B336-F4B5BCA46E31}" vid="{1EBAB98F-BB65-4910-84E3-245BFD4F5B4F}"/>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themeOverride>
</file>

<file path=ppt/theme/themeOverride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LẬP TRÌNH NÂNG CAO VỚI C++</Template>
  <TotalTime>3074</TotalTime>
  <Words>1203</Words>
  <Application>Microsoft Macintosh PowerPoint</Application>
  <PresentationFormat>Widescreen</PresentationFormat>
  <Paragraphs>119</Paragraphs>
  <Slides>17</Slides>
  <Notes>14</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17</vt:i4>
      </vt:variant>
    </vt:vector>
  </HeadingPairs>
  <TitlesOfParts>
    <vt:vector size="29" baseType="lpstr">
      <vt:lpstr>Arial</vt:lpstr>
      <vt:lpstr>Cambria</vt:lpstr>
      <vt:lpstr>Times New Roman</vt:lpstr>
      <vt:lpstr>Noto Sans Symbols</vt:lpstr>
      <vt:lpstr>Montserrat ExtraBold</vt:lpstr>
      <vt:lpstr>Montserrat</vt:lpstr>
      <vt:lpstr>Calibri</vt:lpstr>
      <vt:lpstr>Wingdings</vt:lpstr>
      <vt:lpstr>Tahoma</vt:lpstr>
      <vt:lpstr>Theme1</vt:lpstr>
      <vt:lpstr>Office Theme</vt:lpstr>
      <vt:lpstr>1_Office Theme</vt:lpstr>
      <vt:lpstr>HỌC PHẦN NÂNG CAO VỚI 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Huong Trieu Thu</dc:creator>
  <cp:lastModifiedBy>Văn Lợi Trần</cp:lastModifiedBy>
  <cp:revision>107</cp:revision>
  <dcterms:created xsi:type="dcterms:W3CDTF">2025-08-04T13:21:33Z</dcterms:created>
  <dcterms:modified xsi:type="dcterms:W3CDTF">2025-09-25T15:28:20Z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ies>
</file>